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9" r:id="rId4"/>
    <p:sldId id="270" r:id="rId5"/>
    <p:sldId id="264" r:id="rId6"/>
    <p:sldId id="265" r:id="rId7"/>
    <p:sldId id="266" r:id="rId8"/>
    <p:sldId id="259" r:id="rId9"/>
    <p:sldId id="260" r:id="rId10"/>
    <p:sldId id="271" r:id="rId11"/>
    <p:sldId id="261" r:id="rId12"/>
    <p:sldId id="262" r:id="rId13"/>
    <p:sldId id="272" r:id="rId14"/>
    <p:sldId id="273" r:id="rId15"/>
    <p:sldId id="274" r:id="rId16"/>
    <p:sldId id="275" r:id="rId17"/>
    <p:sldId id="276" r:id="rId18"/>
    <p:sldId id="277" r:id="rId19"/>
    <p:sldId id="278" r:id="rId20"/>
    <p:sldId id="279" r:id="rId21"/>
    <p:sldId id="280" r:id="rId22"/>
    <p:sldId id="281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6A539E9F-ABD8-410A-BF90-024FDFA65836}">
          <p14:sldIdLst>
            <p14:sldId id="256"/>
          </p14:sldIdLst>
        </p14:section>
        <p14:section name="Untitled Section" id="{A698143C-F218-4FD2-AC58-92B86CB31EF4}">
          <p14:sldIdLst>
            <p14:sldId id="257"/>
            <p14:sldId id="269"/>
            <p14:sldId id="270"/>
            <p14:sldId id="264"/>
            <p14:sldId id="265"/>
            <p14:sldId id="266"/>
            <p14:sldId id="259"/>
            <p14:sldId id="260"/>
            <p14:sldId id="271"/>
            <p14:sldId id="261"/>
            <p14:sldId id="262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821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CD57A-F09B-40E7-89D8-1B24F7FA13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BF163D-99D3-4B7D-8D56-22735A0447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736515-DFB7-4208-8379-9216FA0B26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5AC26-8CCA-4556-AC8B-6CC8EBB35F81}" type="datetimeFigureOut">
              <a:rPr lang="en-US" smtClean="0"/>
              <a:t>1/15/2025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D00FFE-ED96-44BE-A969-1DECABAB76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FBA17B-ED38-409D-A6DE-0B73030C0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50318-6817-48B3-8A20-D04621E19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5354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E0563-9F28-4B59-8592-6631544E4E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48DC2-744B-437B-ADBB-C83217147D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213A44-4A7E-4A0E-83AD-72A2DC8282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5AC26-8CCA-4556-AC8B-6CC8EBB35F81}" type="datetimeFigureOut">
              <a:rPr lang="en-US" smtClean="0"/>
              <a:t>1/15/2025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FC9703-A841-4BC1-B04C-E417ABC98B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F15454-C7D7-4515-A503-25AF7CF0E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50318-6817-48B3-8A20-D04621E19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54103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F15DD-9F7C-4486-A56E-B07D57F5F9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4FD094-9534-4833-96D0-0FCAD593C2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31D124-2966-4BFB-BA96-E89E30703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5AC26-8CCA-4556-AC8B-6CC8EBB35F81}" type="datetimeFigureOut">
              <a:rPr lang="en-US" smtClean="0"/>
              <a:t>1/15/2025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CAB27A-5793-4E17-B3AB-FA88805E3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3C12ED-D1E1-4EF8-B87B-684CA68BC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50318-6817-48B3-8A20-D04621E19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66717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952FD1-AE36-4AE0-A96A-ADB7F8E30C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52D4CC-DE84-4440-9A33-5BF9400E1E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4D9F7B-80B3-4E5E-8A16-60C118E206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852B9F-2D46-49D2-9DAD-ECC5629C15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5AC26-8CCA-4556-AC8B-6CC8EBB35F81}" type="datetimeFigureOut">
              <a:rPr lang="en-US" smtClean="0"/>
              <a:t>1/15/2025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8E2CED-9097-4DD3-A8AF-AC8877E346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3E6D0D-5E76-46E5-AC2A-623319E484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50318-6817-48B3-8A20-D04621E19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4084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844C38-0017-4B33-869D-39999A58BC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7A1D3D-285D-4FA4-8865-16D77E6A6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A4CA63-1C7B-4A61-B80E-EEA172CB7C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15CA22-1C60-417B-AD3B-4B42A18D52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15F0B5E-6554-4874-B86F-434A6904ADF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88A3512-0DC6-4C35-9166-494E3FFD5E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5AC26-8CCA-4556-AC8B-6CC8EBB35F81}" type="datetimeFigureOut">
              <a:rPr lang="en-US" smtClean="0"/>
              <a:t>1/15/2025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5DE12BA-C28F-4D3E-9470-2CD839565A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D825E02-8347-4624-A4CD-625CEE443B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50318-6817-48B3-8A20-D04621E19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7551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A2F01-9E92-4872-BCFC-EEA297C803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91DFFC-304A-49D0-B1F4-E7F2E71492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5AC26-8CCA-4556-AC8B-6CC8EBB35F81}" type="datetimeFigureOut">
              <a:rPr lang="en-US" smtClean="0"/>
              <a:t>1/15/2025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F97965-8901-4EDF-BCD3-A581A7106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250E20-816B-4DE7-B35C-B1960C139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50318-6817-48B3-8A20-D04621E19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8264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116326-4A10-4D85-9287-3CF743D778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5AC26-8CCA-4556-AC8B-6CC8EBB35F81}" type="datetimeFigureOut">
              <a:rPr lang="en-US" smtClean="0"/>
              <a:t>1/15/2025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BBE86B6-8521-45D3-A4EE-93103A1E97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9FC323-D342-4A02-9E79-2604ABD6DD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50318-6817-48B3-8A20-D04621E19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96928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970DD-BFC1-42FE-AF67-8DC32DF862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30BCFF-289B-4D50-8EA2-D0E472CC55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8B2206-7E9E-4F40-B368-605C1BBD08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9CD26D-8E18-4E84-8594-DABF251ED9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5AC26-8CCA-4556-AC8B-6CC8EBB35F81}" type="datetimeFigureOut">
              <a:rPr lang="en-US" smtClean="0"/>
              <a:t>1/15/2025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6C6DF3-9F68-4A33-86B2-632603EC1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ADE5AA-EF2D-47DF-A27B-15B6D78A1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50318-6817-48B3-8A20-D04621E19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96847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0A6C0E-7068-4C57-93D6-138373FEFD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0B1DB6-7B91-4374-A55E-F73CC05464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5CA082-8289-4FFC-B4CF-B877CEA6C3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19AFDD-2CC2-4204-ACC6-560311AEC9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5AC26-8CCA-4556-AC8B-6CC8EBB35F81}" type="datetimeFigureOut">
              <a:rPr lang="en-US" smtClean="0"/>
              <a:t>1/15/2025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AFA3DD-5CEA-4458-9334-DC1FD9E084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AAAF73-9540-418D-92BA-0428DA17E8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50318-6817-48B3-8A20-D04621E19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41417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F1FEA-6510-4F63-BEF4-643CA7C64C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C7AE65-5295-43E8-BE52-5D4555CA10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92A91C-A63D-41B3-8B4C-642087F148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5AC26-8CCA-4556-AC8B-6CC8EBB35F81}" type="datetimeFigureOut">
              <a:rPr lang="en-US" smtClean="0"/>
              <a:t>1/15/2025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9B65E0-695B-4194-B78C-FDD33C875B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392175-2910-485A-8A77-9A7509D9E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50318-6817-48B3-8A20-D04621E19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53888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3C47ADB-9892-405D-A0B4-79549C8A83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3CB79E-E9F9-4EB7-9AA2-D90D72991A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5EE26A-0484-4551-9563-1DDB741586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5AC26-8CCA-4556-AC8B-6CC8EBB35F81}" type="datetimeFigureOut">
              <a:rPr lang="en-US" smtClean="0"/>
              <a:t>1/15/2025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31A5DA-D749-4A57-B362-3E1507323B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1380F8-D6A1-4FC6-BFD8-DAC295D9EB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50318-6817-48B3-8A20-D04621E19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63297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C2D2ED-A058-4600-BB0A-1648226F48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39038D-19E6-4203-B455-83F7D2D101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7470C7-CE71-4051-8995-748BFF32D5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35AC26-8CCA-4556-AC8B-6CC8EBB35F81}" type="datetimeFigureOut">
              <a:rPr lang="en-US" smtClean="0"/>
              <a:t>1/15/2025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0B199E-3874-4916-8CE7-ABA79B89BB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F8632B-18E0-41F5-9835-F098554FF8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450318-6817-48B3-8A20-D04621E19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15916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F05E9B-839B-44B6-94A3-06A47B32F27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Interrupts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96EB02-A663-4DAB-80B3-E48CA21C6BB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e-IL" dirty="0"/>
              <a:t>פסיקות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2124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E5929B-CED8-4720-B562-293B8D00FA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Interrupts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50D71E-B30E-4DF4-94FF-5CC89B2CB1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 rtl="1"/>
            <a:r>
              <a:rPr lang="he-IL" dirty="0"/>
              <a:t>פסיקה </a:t>
            </a:r>
            <a:r>
              <a:rPr lang="en-US" dirty="0"/>
              <a:t>(Interrupt)</a:t>
            </a:r>
            <a:r>
              <a:rPr lang="he-IL" dirty="0"/>
              <a:t> היא אות המגיע למעבד מרכיב </a:t>
            </a:r>
            <a:r>
              <a:rPr lang="he-IL" b="1" dirty="0"/>
              <a:t>חומרה</a:t>
            </a:r>
            <a:r>
              <a:rPr lang="he-IL" dirty="0"/>
              <a:t> או </a:t>
            </a:r>
            <a:r>
              <a:rPr lang="he-IL" b="1" dirty="0"/>
              <a:t>תוכנה</a:t>
            </a:r>
            <a:r>
              <a:rPr lang="he-IL" dirty="0"/>
              <a:t> המציינת </a:t>
            </a:r>
            <a:r>
              <a:rPr lang="he-IL" b="1" dirty="0"/>
              <a:t>אירוע</a:t>
            </a:r>
            <a:r>
              <a:rPr lang="he-IL" dirty="0"/>
              <a:t> שצריך התייחסות</a:t>
            </a:r>
          </a:p>
          <a:p>
            <a:pPr algn="r" rtl="1"/>
            <a:r>
              <a:rPr lang="he-IL" dirty="0"/>
              <a:t>הפסיקה מאותת למעבד על מצב בעדיפות גבוהה הדורש הפסקה של הקוד הנוכחי אותו המעבד מבצע</a:t>
            </a:r>
          </a:p>
          <a:p>
            <a:pPr algn="r" rtl="1"/>
            <a:r>
              <a:rPr lang="he-IL" dirty="0"/>
              <a:t>המעבד מפסיק את הפעילות הנוכחית, </a:t>
            </a:r>
            <a:r>
              <a:rPr lang="he-IL" b="1" dirty="0"/>
              <a:t>שומר את המצב</a:t>
            </a:r>
            <a:r>
              <a:rPr lang="he-IL" dirty="0"/>
              <a:t>, ומבצע את פונקציה הפסיקה</a:t>
            </a:r>
          </a:p>
          <a:p>
            <a:pPr algn="r" rtl="1"/>
            <a:r>
              <a:rPr lang="he-IL" dirty="0"/>
              <a:t>הפסיקה הינה זמנית, כשלאחריה המעבד חוזר למצב תפקוד רגיל</a:t>
            </a:r>
          </a:p>
          <a:p>
            <a:pPr algn="just" rtl="1"/>
            <a:r>
              <a:rPr lang="he-IL" dirty="0"/>
              <a:t>ישנן שתי סוגי פסיקות: </a:t>
            </a:r>
            <a:r>
              <a:rPr lang="he-IL" b="1" dirty="0"/>
              <a:t>חומרה ותוכנה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8333992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E5929B-CED8-4720-B562-293B8D00FA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Interrupts</a:t>
            </a:r>
            <a:br>
              <a:rPr lang="he-IL" dirty="0"/>
            </a:br>
            <a:r>
              <a:rPr lang="he-IL" sz="2800" dirty="0"/>
              <a:t>פסיקות חומרה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50D71E-B30E-4DF4-94FF-5CC89B2CB1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r" rtl="1"/>
            <a:r>
              <a:rPr lang="he-IL" b="1" dirty="0"/>
              <a:t>פסיקת חומרה</a:t>
            </a:r>
            <a:r>
              <a:rPr lang="he-IL" dirty="0"/>
              <a:t> משתמשות ע"י התקנים כדי להודיע שהם צריכים התייחסות ממערכת ההפעלה</a:t>
            </a:r>
          </a:p>
          <a:p>
            <a:pPr algn="r" rtl="1"/>
            <a:r>
              <a:rPr lang="he-IL" dirty="0"/>
              <a:t>פסיקות חומרה ממומשות ע"י סיגנלים אלקטרוניים שנשלחים למעבד ע"י התקן חיצוני</a:t>
            </a:r>
          </a:p>
          <a:p>
            <a:pPr algn="r" rtl="1"/>
            <a:r>
              <a:rPr lang="he-IL" dirty="0"/>
              <a:t>למעבד יש חוט שנקרא </a:t>
            </a:r>
            <a:r>
              <a:rPr lang="en-US" dirty="0"/>
              <a:t>Interrupt-request line</a:t>
            </a:r>
            <a:r>
              <a:rPr lang="he-IL" dirty="0"/>
              <a:t> שדרכו מעבירים ההתקנים סיגנלים</a:t>
            </a:r>
          </a:p>
          <a:p>
            <a:pPr algn="r" rtl="1"/>
            <a:r>
              <a:rPr lang="he-IL" dirty="0"/>
              <a:t>כאשר המעבד מזהה סיגנל כזה הוא שומר את המצב הנוכחי שלו וקופץ לבצע את הפרוצדורה לביצוע הפסיקה שנמצאת בכתובת קבועה בזיכרון</a:t>
            </a:r>
          </a:p>
          <a:p>
            <a:pPr algn="r" rtl="1"/>
            <a:r>
              <a:rPr lang="he-IL" dirty="0"/>
              <a:t>הפרוצדורה קובעת את סיבת הפסיקה, מבצעת את הפעולות הנדרשות, מחזירה את המצב הקודם ומבצעת פסיקת חזרה על מנת להחזיר את המעבד למצב הקודם</a:t>
            </a:r>
          </a:p>
          <a:p>
            <a:pPr algn="r" rtl="1"/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3944170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E5929B-CED8-4720-B562-293B8D00FA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prstClr val="black"/>
                </a:solidFill>
              </a:rPr>
              <a:t>Interrupts</a:t>
            </a:r>
            <a:br>
              <a:rPr lang="he-IL" dirty="0">
                <a:solidFill>
                  <a:prstClr val="black"/>
                </a:solidFill>
              </a:rPr>
            </a:br>
            <a:r>
              <a:rPr lang="he-IL" sz="2800" dirty="0">
                <a:solidFill>
                  <a:prstClr val="black"/>
                </a:solidFill>
              </a:rPr>
              <a:t>פסיקות חומרה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50D71E-B30E-4DF4-94FF-5CC89B2CB1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 rtl="1"/>
            <a:r>
              <a:rPr lang="he-IL" dirty="0"/>
              <a:t>במערכות מודרניות, למעבדים יש 2 קווי פסיקה. אחד אינו ניתן לתכנות ששמור לאירועים חריגים</a:t>
            </a:r>
          </a:p>
          <a:p>
            <a:pPr algn="r" rtl="1"/>
            <a:r>
              <a:rPr lang="he-IL" dirty="0"/>
              <a:t>השני, ניתן לתכנות וכיבוי ע"י המעבד לפני ביצוע תהליכים קריטיים כדי לא לאפשר לכל פסיקה להפריע לביצוע</a:t>
            </a:r>
          </a:p>
          <a:p>
            <a:pPr algn="r" rtl="1"/>
            <a:r>
              <a:rPr lang="he-IL" dirty="0"/>
              <a:t>מנגנון הפסיקות מקבל כתובת – מספר שבוחר פרוצדורה אחד מתוך כמה לצורך טיפול בפסיקה</a:t>
            </a:r>
          </a:p>
          <a:p>
            <a:pPr algn="r" rtl="1"/>
            <a:r>
              <a:rPr lang="he-IL" dirty="0"/>
              <a:t>הכתובת היא כניסה בטבלה שנקראת </a:t>
            </a:r>
            <a:r>
              <a:rPr lang="he-IL" b="1" dirty="0"/>
              <a:t>וקטור הפסיקות</a:t>
            </a:r>
            <a:endParaRPr lang="he-IL" dirty="0"/>
          </a:p>
          <a:p>
            <a:pPr algn="r" rtl="1"/>
            <a:r>
              <a:rPr lang="he-IL" dirty="0"/>
              <a:t>הוקטור מכיל כתובות למנהלי פסיקות שונים</a:t>
            </a:r>
          </a:p>
          <a:p>
            <a:pPr algn="r" rtl="1"/>
            <a:r>
              <a:rPr lang="he-IL" dirty="0"/>
              <a:t>המטרה היא להוריד את זמן החיפוש איזה התקן ביצע את הפסיקה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68138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E5929B-CED8-4720-B562-293B8D00FA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prstClr val="black"/>
                </a:solidFill>
              </a:rPr>
              <a:t>Interrupts</a:t>
            </a:r>
            <a:br>
              <a:rPr lang="he-IL" dirty="0">
                <a:solidFill>
                  <a:prstClr val="black"/>
                </a:solidFill>
              </a:rPr>
            </a:br>
            <a:r>
              <a:rPr lang="he-IL" sz="2800" dirty="0">
                <a:solidFill>
                  <a:prstClr val="black"/>
                </a:solidFill>
              </a:rPr>
              <a:t>פסיקות חומרה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50D71E-B30E-4DF4-94FF-5CC89B2CB1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 rtl="1"/>
            <a:r>
              <a:rPr lang="en-US" dirty="0"/>
              <a:t>IRQ (interrupt request)</a:t>
            </a:r>
            <a:r>
              <a:rPr lang="he-IL" dirty="0"/>
              <a:t> הוא סיגנל שנשלח למעבד המפסיק זמנית את התוכנית שרצה כעת ומאפשר לתוכנית מיוחדת לרוץ במקום</a:t>
            </a:r>
          </a:p>
          <a:p>
            <a:pPr algn="r" rtl="1"/>
            <a:r>
              <a:rPr lang="he-IL" dirty="0"/>
              <a:t>במעבדים </a:t>
            </a:r>
            <a:r>
              <a:rPr lang="en-US" dirty="0"/>
              <a:t>x86</a:t>
            </a:r>
            <a:r>
              <a:rPr lang="he-IL" dirty="0"/>
              <a:t> יש 16 </a:t>
            </a:r>
            <a:r>
              <a:rPr lang="en-US" dirty="0"/>
              <a:t>IRQ</a:t>
            </a:r>
            <a:endParaRPr lang="he-IL" dirty="0"/>
          </a:p>
          <a:p>
            <a:pPr algn="r" rtl="1"/>
            <a:r>
              <a:rPr lang="he-IL" dirty="0"/>
              <a:t>במחשבים מתקדמים יותר ישנם 24 </a:t>
            </a:r>
            <a:r>
              <a:rPr lang="en-US" dirty="0"/>
              <a:t>IRQ</a:t>
            </a:r>
            <a:r>
              <a:rPr lang="he-IL" dirty="0"/>
              <a:t> שמאפשרים שימוש עד 255 קווים לפסיקות חומרה</a:t>
            </a:r>
          </a:p>
          <a:p>
            <a:pPr algn="r" rtl="1"/>
            <a:r>
              <a:rPr lang="he-IL" dirty="0"/>
              <a:t>למעבד ישנו בקר פסיקות </a:t>
            </a:r>
            <a:r>
              <a:rPr lang="en-US" dirty="0"/>
              <a:t>PIC (Programmable Interrupt Controller)</a:t>
            </a:r>
            <a:r>
              <a:rPr lang="he-IL" dirty="0"/>
              <a:t> ששולט על הפסיקות. מחולק לשני בקרים </a:t>
            </a:r>
            <a:r>
              <a:rPr lang="en-US" dirty="0"/>
              <a:t>Master</a:t>
            </a:r>
            <a:r>
              <a:rPr lang="he-IL" dirty="0"/>
              <a:t> ו – </a:t>
            </a:r>
            <a:r>
              <a:rPr lang="en-US" dirty="0"/>
              <a:t>Slave</a:t>
            </a:r>
            <a:endParaRPr lang="he-IL" dirty="0"/>
          </a:p>
          <a:p>
            <a:pPr algn="r" rt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08103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E5929B-CED8-4720-B562-293B8D00FA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prstClr val="black"/>
                </a:solidFill>
              </a:rPr>
              <a:t>Interrupts</a:t>
            </a:r>
            <a:br>
              <a:rPr lang="he-IL" dirty="0">
                <a:solidFill>
                  <a:prstClr val="black"/>
                </a:solidFill>
              </a:rPr>
            </a:br>
            <a:r>
              <a:rPr lang="he-IL" sz="2800" dirty="0">
                <a:solidFill>
                  <a:prstClr val="black"/>
                </a:solidFill>
              </a:rPr>
              <a:t>פסיקות חומרה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50D71E-B30E-4DF4-94FF-5CC89B2CB1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algn="r" rtl="1"/>
            <a:r>
              <a:rPr lang="en-US" dirty="0"/>
              <a:t>Master</a:t>
            </a:r>
            <a:r>
              <a:rPr lang="he-IL" dirty="0"/>
              <a:t> הוא הרכיב היחידי שיכול לשלוח פסיקות ישירות למעבד</a:t>
            </a:r>
          </a:p>
          <a:p>
            <a:pPr algn="r" rtl="1"/>
            <a:r>
              <a:rPr lang="he-IL" dirty="0"/>
              <a:t>ה </a:t>
            </a:r>
            <a:r>
              <a:rPr lang="en-US" dirty="0"/>
              <a:t>Slave</a:t>
            </a:r>
            <a:r>
              <a:rPr lang="he-IL" dirty="0"/>
              <a:t> משדר פסיקות ל </a:t>
            </a:r>
            <a:r>
              <a:rPr lang="en-US" dirty="0"/>
              <a:t>Master</a:t>
            </a:r>
            <a:r>
              <a:rPr lang="he-IL" dirty="0"/>
              <a:t> ואז הוא מעביר אותן למעבד</a:t>
            </a:r>
          </a:p>
          <a:p>
            <a:pPr marL="0" indent="0">
              <a:buNone/>
            </a:pPr>
            <a:r>
              <a:rPr lang="en-US" b="1" dirty="0"/>
              <a:t>Master PIC</a:t>
            </a:r>
          </a:p>
          <a:p>
            <a:r>
              <a:rPr lang="en-US" dirty="0"/>
              <a:t>IRQ 0 – system timer (cannot be changed)</a:t>
            </a:r>
          </a:p>
          <a:p>
            <a:r>
              <a:rPr lang="en-US" dirty="0"/>
              <a:t>IRQ 1 – keyboard controller (cannot be changed)</a:t>
            </a:r>
          </a:p>
          <a:p>
            <a:r>
              <a:rPr lang="en-US" dirty="0"/>
              <a:t>IRQ 2 – cascaded signals from IRQs 8–15 (any devices configured to use IRQ 2 will actually be using IRQ 9)</a:t>
            </a:r>
          </a:p>
          <a:p>
            <a:r>
              <a:rPr lang="en-US" dirty="0"/>
              <a:t>IRQ 3 – serial port controller for serial port 2 (shared with serial port 4, if present)</a:t>
            </a:r>
          </a:p>
          <a:p>
            <a:r>
              <a:rPr lang="en-US" dirty="0"/>
              <a:t>IRQ 4 – serial port controller for serial port 1 (shared with serial port 3, if present)</a:t>
            </a:r>
          </a:p>
          <a:p>
            <a:r>
              <a:rPr lang="en-US" dirty="0"/>
              <a:t>IRQ 5 – parallel port 2 and 3  or  sound card</a:t>
            </a:r>
          </a:p>
          <a:p>
            <a:r>
              <a:rPr lang="en-US" dirty="0"/>
              <a:t>IRQ 6 – floppy disk controller</a:t>
            </a:r>
          </a:p>
          <a:p>
            <a:r>
              <a:rPr lang="en-US" dirty="0"/>
              <a:t>IRQ 7 – parallel port 1. It is used for printers or for any parallel port if a printer is not present. It can also be potentially be shared with a secondary sound card with careful management of the port.</a:t>
            </a:r>
          </a:p>
          <a:p>
            <a:pPr algn="r" rt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24587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E5929B-CED8-4720-B562-293B8D00FA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prstClr val="black"/>
                </a:solidFill>
              </a:rPr>
              <a:t>Interrupts</a:t>
            </a:r>
            <a:br>
              <a:rPr lang="he-IL" dirty="0">
                <a:solidFill>
                  <a:prstClr val="black"/>
                </a:solidFill>
              </a:rPr>
            </a:br>
            <a:r>
              <a:rPr lang="he-IL" sz="2800" dirty="0">
                <a:solidFill>
                  <a:prstClr val="black"/>
                </a:solidFill>
              </a:rPr>
              <a:t>פסיקות חומרה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50D71E-B30E-4DF4-94FF-5CC89B2CB1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/>
              <a:t>Slave PIC</a:t>
            </a:r>
          </a:p>
          <a:p>
            <a:r>
              <a:rPr lang="en-US" dirty="0"/>
              <a:t>IRQ 8 – real-time clock (RTC)</a:t>
            </a:r>
          </a:p>
          <a:p>
            <a:r>
              <a:rPr lang="en-US" dirty="0"/>
              <a:t>IRQ 9 – Advanced Configuration and Power Interface (ACPI) system control interrupt on Intel chipsets.</a:t>
            </a:r>
            <a:endParaRPr lang="en-US" baseline="30000" dirty="0"/>
          </a:p>
          <a:p>
            <a:r>
              <a:rPr lang="en-US" dirty="0"/>
              <a:t>IRQ 10 – The Interrupt is left open for the use of peripherals</a:t>
            </a:r>
          </a:p>
          <a:p>
            <a:r>
              <a:rPr lang="en-US" dirty="0"/>
              <a:t>IRQ 11 – The Interrupt is left open for the use of</a:t>
            </a:r>
          </a:p>
          <a:p>
            <a:r>
              <a:rPr lang="en-US" dirty="0"/>
              <a:t>IRQ 12 – mouse on PS/2 connector</a:t>
            </a:r>
          </a:p>
          <a:p>
            <a:r>
              <a:rPr lang="en-US" dirty="0"/>
              <a:t>IRQ 13 – CPU co-processor  or  integrated floating point unit  or  inter-processor interrupt (use depends on OS)</a:t>
            </a:r>
          </a:p>
          <a:p>
            <a:r>
              <a:rPr lang="en-US" dirty="0"/>
              <a:t>IRQ 14 – primary ATA channel (ATA interface usually serves hard disk drives and CD drives)</a:t>
            </a:r>
          </a:p>
          <a:p>
            <a:r>
              <a:rPr lang="en-US" dirty="0"/>
              <a:t>IRQ 15 – secondary ATA channel</a:t>
            </a:r>
          </a:p>
          <a:p>
            <a:pPr algn="r" rt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46336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E5929B-CED8-4720-B562-293B8D00FA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Interrupts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50D71E-B30E-4DF4-94FF-5CC89B2CB1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r" rtl="1"/>
            <a:r>
              <a:rPr lang="he-IL" b="1" dirty="0"/>
              <a:t>פסיקות תוכנה</a:t>
            </a:r>
            <a:r>
              <a:rPr lang="he-IL" dirty="0"/>
              <a:t> נגרמות ע"י אירוע חריג במעבד עצמו או ע"י הוראת פסיקה מיוחדת</a:t>
            </a:r>
          </a:p>
          <a:p>
            <a:pPr algn="r" rtl="1"/>
            <a:r>
              <a:rPr lang="he-IL" dirty="0"/>
              <a:t>פסיקות מהמעבד עצמו נקראות </a:t>
            </a:r>
            <a:r>
              <a:rPr lang="en-US" dirty="0"/>
              <a:t>Trap</a:t>
            </a:r>
            <a:r>
              <a:rPr lang="he-IL" dirty="0"/>
              <a:t> או </a:t>
            </a:r>
            <a:r>
              <a:rPr lang="en-US" dirty="0"/>
              <a:t>Exception</a:t>
            </a:r>
            <a:r>
              <a:rPr lang="he-IL" dirty="0"/>
              <a:t> ומשמשות עבור אירועים המתרחשים במהלך התוכנית שלא ניתנות לטיפול בתוכנית עצמה, כמו חלוקה ב 0</a:t>
            </a:r>
          </a:p>
          <a:p>
            <a:pPr algn="r" rtl="1"/>
            <a:r>
              <a:rPr lang="he-IL" dirty="0"/>
              <a:t>מערכת ההפעלה תתפוס את הפסיקות האלו ויכולה לעצור את ההוראה</a:t>
            </a:r>
          </a:p>
          <a:p>
            <a:pPr algn="r" rtl="1"/>
            <a:r>
              <a:rPr lang="he-IL" dirty="0"/>
              <a:t>פסיקות תוכנה אחרות מתפקדות בדומה לקריאות לפונקציה ומשמשות למגוון פעולות כמו בקשת שירותים מהתקני תוכנה, קריאה/כתיבה לדיסק וכד'</a:t>
            </a:r>
          </a:p>
          <a:p>
            <a:pPr algn="r" rt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1204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E5929B-CED8-4720-B562-293B8D00F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636"/>
            <a:ext cx="10515600" cy="872833"/>
          </a:xfrm>
        </p:spPr>
        <p:txBody>
          <a:bodyPr/>
          <a:lstStyle/>
          <a:p>
            <a:pPr algn="ctr"/>
            <a:r>
              <a:rPr lang="en-US" dirty="0"/>
              <a:t>Interrupts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ADB7FA9-12C3-44D4-A1D7-9E30D2BF2F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09503" y="841719"/>
            <a:ext cx="4972994" cy="6016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97804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E5929B-CED8-4720-B562-293B8D00FA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prstClr val="black"/>
                </a:solidFill>
              </a:rPr>
              <a:t>Interrupts</a:t>
            </a:r>
            <a:br>
              <a:rPr lang="he-IL" dirty="0">
                <a:solidFill>
                  <a:prstClr val="black"/>
                </a:solidFill>
              </a:rPr>
            </a:br>
            <a:r>
              <a:rPr lang="he-IL" sz="2800" dirty="0">
                <a:solidFill>
                  <a:prstClr val="black"/>
                </a:solidFill>
              </a:rPr>
              <a:t>פסיקות חומרה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50D71E-B30E-4DF4-94FF-5CC89B2CB1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r" rtl="1"/>
            <a:r>
              <a:rPr lang="he-IL" dirty="0"/>
              <a:t>ניתן לחלק את הפסיקות למספר סוגים:</a:t>
            </a:r>
          </a:p>
          <a:p>
            <a:pPr algn="r" rtl="1"/>
            <a:r>
              <a:rPr lang="he-IL" dirty="0"/>
              <a:t>פסיקה ניתנת למיסוך – </a:t>
            </a:r>
            <a:r>
              <a:rPr lang="en-US" dirty="0"/>
              <a:t>IRQ</a:t>
            </a:r>
            <a:r>
              <a:rPr lang="he-IL" dirty="0"/>
              <a:t> – ניתן להתעלם או לבטל את הפסיקה</a:t>
            </a:r>
          </a:p>
          <a:p>
            <a:pPr algn="r" rtl="1"/>
            <a:r>
              <a:rPr lang="he-IL" dirty="0"/>
              <a:t>פסיקה שאינה ניתנת למיסוך – פסיקת חומרה שלא ניתן להתעלם ממנה</a:t>
            </a:r>
          </a:p>
          <a:p>
            <a:pPr algn="r" rtl="1"/>
            <a:r>
              <a:rPr lang="he-IL" dirty="0"/>
              <a:t>פסיקה פנימית / פסיקה סינכרונית – פסיקה הנוצרת ע"י תוכנה עקב ביצוע פקודה מסויימת. פסיקה זו היא "צפויה" – ניתן לחזות את התעוררותה</a:t>
            </a:r>
          </a:p>
          <a:p>
            <a:pPr algn="r" rtl="1"/>
            <a:r>
              <a:rPr lang="he-IL" dirty="0"/>
              <a:t>פסיקות תוכנה – פסיקה הנוצרת בתוך המעבד ע"י ביצוע הוראה</a:t>
            </a:r>
          </a:p>
          <a:p>
            <a:pPr algn="r" rtl="1"/>
            <a:r>
              <a:rPr lang="he-IL" dirty="0"/>
              <a:t>פסיקת חומרה שאינה רצויה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15065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E5929B-CED8-4720-B562-293B8D00FA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Interrupts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50D71E-B30E-4DF4-94FF-5CC89B2CB1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 rtl="1"/>
            <a:r>
              <a:rPr lang="he-IL" dirty="0"/>
              <a:t>לכל פסיקה יש את מטפל הפסיקות שלה</a:t>
            </a:r>
          </a:p>
          <a:p>
            <a:pPr algn="r" rtl="1"/>
            <a:r>
              <a:rPr lang="he-IL" dirty="0"/>
              <a:t>בעוד מספר פסיקות החומרה מוגבל במספר שורות ה </a:t>
            </a:r>
            <a:r>
              <a:rPr lang="en-US" dirty="0"/>
              <a:t>IRQ</a:t>
            </a:r>
            <a:r>
              <a:rPr lang="he-IL" dirty="0"/>
              <a:t>, מספר פסיקות התוכנה אינו מוגבל</a:t>
            </a:r>
          </a:p>
          <a:p>
            <a:pPr algn="r" rt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513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E5929B-CED8-4720-B562-293B8D00FA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Signals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50D71E-B30E-4DF4-94FF-5CC89B2CB1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 rtl="1"/>
            <a:r>
              <a:rPr lang="he-IL" dirty="0"/>
              <a:t>מערכות </a:t>
            </a:r>
            <a:r>
              <a:rPr lang="en-US" dirty="0"/>
              <a:t>UNIX</a:t>
            </a:r>
            <a:r>
              <a:rPr lang="he-IL" dirty="0"/>
              <a:t> משתמשות ב </a:t>
            </a:r>
            <a:r>
              <a:rPr lang="en-US" dirty="0"/>
              <a:t>Signal</a:t>
            </a:r>
            <a:r>
              <a:rPr lang="he-IL" dirty="0"/>
              <a:t> כדי להודיע לתהליך או לחוט (</a:t>
            </a:r>
            <a:r>
              <a:rPr lang="en-US" dirty="0"/>
              <a:t>Thread</a:t>
            </a:r>
            <a:r>
              <a:rPr lang="he-IL" dirty="0"/>
              <a:t>) על אירוע</a:t>
            </a:r>
          </a:p>
          <a:p>
            <a:pPr algn="r" rtl="1"/>
            <a:r>
              <a:rPr lang="he-IL" dirty="0"/>
              <a:t>סיגנל נוצר ע"י אירוע מסויים</a:t>
            </a:r>
          </a:p>
          <a:p>
            <a:pPr algn="r" rtl="1"/>
            <a:r>
              <a:rPr lang="he-IL" dirty="0"/>
              <a:t>הסיגנל מעובד ומועבר לתהליך</a:t>
            </a:r>
          </a:p>
          <a:p>
            <a:pPr algn="r" rtl="1"/>
            <a:r>
              <a:rPr lang="he-IL" dirty="0"/>
              <a:t>לאחר שהועבר, הסיגנל חייב להתבצע</a:t>
            </a:r>
          </a:p>
          <a:p>
            <a:pPr algn="r" rtl="1"/>
            <a:endParaRPr lang="he-IL" dirty="0"/>
          </a:p>
          <a:p>
            <a:pPr algn="r" rtl="1"/>
            <a:r>
              <a:rPr lang="he-IL" dirty="0"/>
              <a:t>דוגמא לסיגנלים - גישה שגויה או חריגה לזיכרון או חלוקה ב 0</a:t>
            </a:r>
          </a:p>
          <a:p>
            <a:pPr algn="r" rtl="1"/>
            <a:r>
              <a:rPr lang="he-IL" dirty="0"/>
              <a:t>כאשר תוכנית תבצע אחת מהפעולות הנ"ל ייוצר סיגנל ויועבר אך ורק לתהליך הזה. זהו סיגנל סינכרוני</a:t>
            </a:r>
          </a:p>
          <a:p>
            <a:pPr marL="0" indent="0" algn="r" rtl="1">
              <a:buNone/>
            </a:pP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5987833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E5929B-CED8-4720-B562-293B8D00FA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Signals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50D71E-B30E-4DF4-94FF-5CC89B2CB1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 rtl="1"/>
            <a:r>
              <a:rPr lang="he-IL" dirty="0"/>
              <a:t>כאשר סיגנל יווצר ע"י אירוע </a:t>
            </a:r>
            <a:r>
              <a:rPr lang="he-IL" b="1" dirty="0"/>
              <a:t>חיצוני</a:t>
            </a:r>
            <a:r>
              <a:rPr lang="he-IL" dirty="0"/>
              <a:t> לתהליך, זהו סיגנל אסינכרוני </a:t>
            </a:r>
          </a:p>
          <a:p>
            <a:pPr lvl="1" algn="r" rtl="1"/>
            <a:r>
              <a:rPr lang="he-IL" dirty="0"/>
              <a:t>סיום תהליך</a:t>
            </a:r>
          </a:p>
          <a:p>
            <a:pPr algn="r" rtl="1"/>
            <a:r>
              <a:rPr lang="he-IL" dirty="0"/>
              <a:t>כל סיגנל יכול להיות מטופל באחת משתי דרכים</a:t>
            </a:r>
          </a:p>
          <a:p>
            <a:pPr lvl="1" algn="r" rtl="1"/>
            <a:r>
              <a:rPr lang="en-US" dirty="0"/>
              <a:t>Default signal handler</a:t>
            </a:r>
            <a:r>
              <a:rPr lang="he-IL" dirty="0"/>
              <a:t> – מנהל ברירת מחדל</a:t>
            </a:r>
            <a:endParaRPr lang="en-US" dirty="0"/>
          </a:p>
          <a:p>
            <a:pPr lvl="1" algn="r" rtl="1"/>
            <a:r>
              <a:rPr lang="en-US" dirty="0"/>
              <a:t>User-defined signal handler</a:t>
            </a:r>
            <a:r>
              <a:rPr lang="he-IL" dirty="0"/>
              <a:t> – מנהל שהוגדר ע"י המשתמש</a:t>
            </a:r>
          </a:p>
          <a:p>
            <a:pPr algn="r" rtl="1"/>
            <a:r>
              <a:rPr lang="he-IL" dirty="0"/>
              <a:t>לכל סיגנל ישנו מנהל ברירת מחדל שמנוהל ע"י ה </a:t>
            </a:r>
            <a:r>
              <a:rPr lang="en-US" dirty="0"/>
              <a:t>Kernel</a:t>
            </a:r>
            <a:endParaRPr lang="he-IL" dirty="0"/>
          </a:p>
          <a:p>
            <a:pPr algn="r" rtl="1"/>
            <a:r>
              <a:rPr lang="he-IL" dirty="0"/>
              <a:t>המנהל הזה יכול להידרס ע"י המשתמש</a:t>
            </a:r>
          </a:p>
        </p:txBody>
      </p:sp>
    </p:spTree>
    <p:extLst>
      <p:ext uri="{BB962C8B-B14F-4D97-AF65-F5344CB8AC3E}">
        <p14:creationId xmlns:p14="http://schemas.microsoft.com/office/powerpoint/2010/main" val="26713667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E5929B-CED8-4720-B562-293B8D00FA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Signals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50D71E-B30E-4DF4-94FF-5CC89B2CB1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r" rtl="1"/>
            <a:r>
              <a:rPr lang="he-IL" dirty="0"/>
              <a:t>כאשר התהליך הוא תהליך בודד, הסיגנל עובר לתהליך הזה</a:t>
            </a:r>
          </a:p>
          <a:p>
            <a:pPr algn="r" rtl="1"/>
            <a:r>
              <a:rPr lang="he-IL" dirty="0"/>
              <a:t>כאשר התהליך מחולק למספר תהליכונים ישנם מספר אפשרויות</a:t>
            </a:r>
          </a:p>
          <a:p>
            <a:pPr lvl="1" algn="r" rtl="1"/>
            <a:r>
              <a:rPr lang="he-IL" dirty="0"/>
              <a:t>להעביר את הסיגנל רק לתהליכון שבו הסיגנל התחיל</a:t>
            </a:r>
          </a:p>
          <a:p>
            <a:pPr lvl="1" algn="r" rtl="1"/>
            <a:r>
              <a:rPr lang="he-IL" dirty="0"/>
              <a:t>להעביר את הסיגנל לכל התהליכונים</a:t>
            </a:r>
          </a:p>
          <a:p>
            <a:pPr lvl="1" algn="r" rtl="1"/>
            <a:r>
              <a:rPr lang="he-IL" dirty="0"/>
              <a:t>להעביר את הסיגנל רק לתהליכונים מסויימים</a:t>
            </a:r>
          </a:p>
          <a:p>
            <a:pPr lvl="1" algn="r" rtl="1"/>
            <a:r>
              <a:rPr lang="he-IL" dirty="0"/>
              <a:t>ליצור תהליכון מיוחד שיקבל את הסיגנלים של התוכנית</a:t>
            </a:r>
          </a:p>
          <a:p>
            <a:pPr algn="r" rtl="1"/>
            <a:r>
              <a:rPr lang="he-IL" dirty="0"/>
              <a:t>השיטה תלויה בסוג הסיגנל שנוצר</a:t>
            </a:r>
          </a:p>
          <a:p>
            <a:pPr algn="r" rtl="1"/>
            <a:r>
              <a:rPr lang="he-IL" dirty="0"/>
              <a:t>סיגנלים סינכרוניים צריכים להיות מועברים רק לתהליכון שיצר אותם</a:t>
            </a:r>
          </a:p>
          <a:p>
            <a:pPr algn="r" rtl="1"/>
            <a:r>
              <a:rPr lang="he-IL" dirty="0"/>
              <a:t>עבור סיגנלים אסינכרוניים הדבר תלוי בסוג הסיגנל</a:t>
            </a:r>
          </a:p>
          <a:p>
            <a:pPr lvl="1" algn="r" rtl="1"/>
            <a:r>
              <a:rPr lang="he-IL" dirty="0"/>
              <a:t>סיום תהליך ע"י המשתמש </a:t>
            </a:r>
            <a:r>
              <a:rPr lang="en-US" dirty="0"/>
              <a:t>(ctrl-c)</a:t>
            </a:r>
            <a:r>
              <a:rPr lang="he-IL" dirty="0"/>
              <a:t> צריך להיות מועבר למשל, לכל התהליכונים</a:t>
            </a:r>
          </a:p>
        </p:txBody>
      </p:sp>
    </p:spTree>
    <p:extLst>
      <p:ext uri="{BB962C8B-B14F-4D97-AF65-F5344CB8AC3E}">
        <p14:creationId xmlns:p14="http://schemas.microsoft.com/office/powerpoint/2010/main" val="26226164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E5929B-CED8-4720-B562-293B8D00FA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Signals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50D71E-B30E-4DF4-94FF-5CC89B2CB1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 rtl="1"/>
            <a:r>
              <a:rPr lang="he-IL" dirty="0"/>
              <a:t>במערכת ההפעלה </a:t>
            </a:r>
            <a:r>
              <a:rPr lang="en-US"/>
              <a:t>Linux</a:t>
            </a:r>
            <a:r>
              <a:rPr lang="he-IL"/>
              <a:t> </a:t>
            </a:r>
            <a:r>
              <a:rPr lang="he-IL" dirty="0"/>
              <a:t>ישנם 36 סיגנלים</a:t>
            </a:r>
          </a:p>
          <a:p>
            <a:pPr algn="r" rtl="1"/>
            <a:r>
              <a:rPr lang="he-IL" dirty="0"/>
              <a:t>לכל תהליך יש טבלה עם 36 כניסות, שבכל כניסה יש את כתובת הפונקציה שצריך לבצע כדי לטפל בסיגנל</a:t>
            </a:r>
          </a:p>
          <a:p>
            <a:pPr algn="r" rtl="1"/>
            <a:r>
              <a:rPr lang="he-IL" dirty="0"/>
              <a:t>רוב הפונקציות, הורגות את התהליך אחרי הסיגנל</a:t>
            </a:r>
          </a:p>
          <a:p>
            <a:pPr algn="r" rtl="1"/>
            <a:r>
              <a:rPr lang="he-IL" dirty="0"/>
              <a:t>תהליך יכול לשנות את טבלת הסיגנלים שלו ולכתוב פונקציות אחרות לטפל בסיגנל</a:t>
            </a:r>
          </a:p>
          <a:p>
            <a:pPr algn="r" rtl="1"/>
            <a:endParaRPr lang="he-IL" dirty="0"/>
          </a:p>
          <a:p>
            <a:pPr algn="r" rtl="1"/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505228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E5929B-CED8-4720-B562-293B8D00FA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Signals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50D71E-B30E-4DF4-94FF-5CC89B2CB1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 rtl="1"/>
            <a:r>
              <a:rPr lang="he-IL" dirty="0"/>
              <a:t>פעולת ברירת המחדל כדי לטפל בסיגנל היא אחת מהבאות</a:t>
            </a:r>
          </a:p>
          <a:p>
            <a:pPr marL="514350" indent="-514350" algn="r" rtl="1">
              <a:buFont typeface="+mj-lt"/>
              <a:buAutoNum type="arabicPeriod"/>
            </a:pPr>
            <a:r>
              <a:rPr lang="he-IL" dirty="0"/>
              <a:t>סיום התהליך</a:t>
            </a:r>
          </a:p>
          <a:p>
            <a:pPr marL="514350" indent="-514350" algn="r" rtl="1">
              <a:buFont typeface="+mj-lt"/>
              <a:buAutoNum type="arabicPeriod"/>
            </a:pPr>
            <a:r>
              <a:rPr lang="he-IL" dirty="0"/>
              <a:t>יצירת קובץ </a:t>
            </a:r>
            <a:r>
              <a:rPr lang="en-US" dirty="0"/>
              <a:t>core</a:t>
            </a:r>
            <a:r>
              <a:rPr lang="he-IL" dirty="0"/>
              <a:t> (מכיל מידע על התהליך לפני הסיגנל כמו תמונת הזיכרון ומידע נוסף כדי לנתח את הסיגנל) וסיום התהליך</a:t>
            </a:r>
          </a:p>
          <a:p>
            <a:pPr marL="514350" indent="-514350" algn="r" rtl="1">
              <a:buFont typeface="+mj-lt"/>
              <a:buAutoNum type="arabicPeriod"/>
            </a:pPr>
            <a:r>
              <a:rPr lang="he-IL" dirty="0"/>
              <a:t>עצירת התהליך</a:t>
            </a:r>
          </a:p>
          <a:p>
            <a:pPr marL="514350" indent="-514350" algn="r" rtl="1">
              <a:buFont typeface="+mj-lt"/>
              <a:buAutoNum type="arabicPeriod"/>
            </a:pPr>
            <a:r>
              <a:rPr lang="he-IL" dirty="0"/>
              <a:t>התעלמות מהסיגנל</a:t>
            </a:r>
          </a:p>
        </p:txBody>
      </p:sp>
    </p:spTree>
    <p:extLst>
      <p:ext uri="{BB962C8B-B14F-4D97-AF65-F5344CB8AC3E}">
        <p14:creationId xmlns:p14="http://schemas.microsoft.com/office/powerpoint/2010/main" val="28116820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E5929B-CED8-4720-B562-293B8D00FA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Signals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50D71E-B30E-4DF4-94FF-5CC89B2CB1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SYNOPSIS</a:t>
            </a:r>
          </a:p>
          <a:p>
            <a:pPr marL="0" indent="0">
              <a:buNone/>
            </a:pPr>
            <a:r>
              <a:rPr lang="en-US" dirty="0"/>
              <a:t>#include &lt;signal.h&gt;</a:t>
            </a:r>
          </a:p>
          <a:p>
            <a:pPr marL="0" indent="0">
              <a:buNone/>
            </a:pPr>
            <a:r>
              <a:rPr lang="en-US" i="1" dirty="0"/>
              <a:t>void </a:t>
            </a:r>
            <a:r>
              <a:rPr lang="en-US" dirty="0"/>
              <a:t>*signal(int </a:t>
            </a:r>
            <a:r>
              <a:rPr lang="en-US" i="1" dirty="0"/>
              <a:t>sig_num</a:t>
            </a:r>
            <a:r>
              <a:rPr lang="en-US" dirty="0"/>
              <a:t>, </a:t>
            </a:r>
            <a:r>
              <a:rPr lang="en-US" i="1" dirty="0"/>
              <a:t>func</a:t>
            </a:r>
            <a:r>
              <a:rPr lang="en-US" dirty="0"/>
              <a:t>());</a:t>
            </a:r>
          </a:p>
          <a:p>
            <a:pPr marL="0" indent="0">
              <a:buNone/>
            </a:pPr>
            <a:r>
              <a:rPr lang="en-US" i="1" dirty="0"/>
              <a:t>void </a:t>
            </a:r>
            <a:r>
              <a:rPr lang="en-US" dirty="0"/>
              <a:t>(*func)(</a:t>
            </a:r>
            <a:r>
              <a:rPr lang="en-US" i="1" dirty="0"/>
              <a:t>sig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b="1" dirty="0"/>
              <a:t>DESCRIPTION</a:t>
            </a:r>
          </a:p>
          <a:p>
            <a:pPr marL="0" indent="0">
              <a:buNone/>
            </a:pPr>
            <a:r>
              <a:rPr lang="en-US" dirty="0"/>
              <a:t>Except for the SIGKILL and SIGSTOP signals, the </a:t>
            </a:r>
            <a:r>
              <a:rPr lang="en-US" b="1" dirty="0"/>
              <a:t>signal</a:t>
            </a:r>
            <a:r>
              <a:rPr lang="en-US" dirty="0"/>
              <a:t>() function allows for a signal to be caught, to be ignored, or to generate an interrupt (if you try to do </a:t>
            </a:r>
            <a:r>
              <a:rPr lang="en-US" i="1" dirty="0"/>
              <a:t>signal(SIGKILL, func); </a:t>
            </a:r>
            <a:r>
              <a:rPr lang="en-US" dirty="0"/>
              <a:t>it will execute the default handler for SIGKILL and not func). The signals are defined in the file &lt;</a:t>
            </a:r>
            <a:r>
              <a:rPr lang="en-US" i="1" dirty="0"/>
              <a:t>signal.h</a:t>
            </a:r>
            <a:r>
              <a:rPr lang="en-US" dirty="0"/>
              <a:t>&gt;.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0426267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E5929B-CED8-4720-B562-293B8D00FA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Signals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3A35C70-9B1D-48FE-94E4-A3A75BF238A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8"/>
            <a:ext cx="10515600" cy="4997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0145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E5929B-CED8-4720-B562-293B8D00FA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Signals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50D71E-B30E-4DF4-94FF-5CC89B2CB1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i="1" dirty="0">
                <a:latin typeface="TimesNewRoman,BoldItalic"/>
              </a:rPr>
              <a:t>Blocking Signals:</a:t>
            </a:r>
          </a:p>
          <a:p>
            <a:pPr marL="0" indent="0">
              <a:buNone/>
            </a:pPr>
            <a:r>
              <a:rPr lang="en-US" dirty="0">
                <a:latin typeface="TimesNewRoman"/>
              </a:rPr>
              <a:t>1) </a:t>
            </a:r>
            <a:r>
              <a:rPr lang="en-US" b="1" i="1" dirty="0">
                <a:latin typeface="TimesNewRoman,BoldItalic"/>
              </a:rPr>
              <a:t>SIG_IGN:</a:t>
            </a:r>
          </a:p>
          <a:p>
            <a:pPr marL="0" indent="0">
              <a:buNone/>
            </a:pPr>
            <a:r>
              <a:rPr lang="en-US" dirty="0">
                <a:latin typeface="TimesNewRoman"/>
              </a:rPr>
              <a:t>To ignore the signal </a:t>
            </a:r>
            <a:r>
              <a:rPr lang="en-US" i="1" dirty="0">
                <a:latin typeface="TimesNewRoman,Italic"/>
              </a:rPr>
              <a:t>func </a:t>
            </a:r>
            <a:r>
              <a:rPr lang="en-US" dirty="0">
                <a:latin typeface="TimesNewRoman"/>
              </a:rPr>
              <a:t>should be </a:t>
            </a:r>
            <a:r>
              <a:rPr lang="en-US" b="1" dirty="0">
                <a:latin typeface="TimesNewRoman,Bold"/>
              </a:rPr>
              <a:t>SIG_IGN</a:t>
            </a:r>
            <a:r>
              <a:rPr lang="en-US" dirty="0">
                <a:latin typeface="TimesNewRoman"/>
              </a:rPr>
              <a:t>. This will cause subsequent instances of the signal to be ignored and pending instances to be discarded. If SIG_IGN is not used, further occurrences of the signal are automatically blocked and </a:t>
            </a:r>
            <a:r>
              <a:rPr lang="en-US" i="1" dirty="0">
                <a:latin typeface="TimesNewRoman,Italic"/>
              </a:rPr>
              <a:t>func </a:t>
            </a:r>
            <a:r>
              <a:rPr lang="en-US" dirty="0">
                <a:latin typeface="TimesNewRoman"/>
              </a:rPr>
              <a:t>is called. The handled signal is unblocked with the function returns and the process continues from where it left off when the signal occurred.</a:t>
            </a:r>
          </a:p>
          <a:p>
            <a:r>
              <a:rPr lang="en-US" dirty="0">
                <a:latin typeface="TimesNewRoman"/>
              </a:rPr>
              <a:t>Example:</a:t>
            </a:r>
          </a:p>
          <a:p>
            <a:pPr marL="0" indent="0">
              <a:buNone/>
            </a:pPr>
            <a:r>
              <a:rPr lang="en-US" dirty="0">
                <a:latin typeface="TimesNewRoman"/>
              </a:rPr>
              <a:t>// signal SIGILL is ignored (blocked). The signal remains ignored even after calling it.</a:t>
            </a:r>
          </a:p>
          <a:p>
            <a:pPr marL="0" indent="0">
              <a:buNone/>
            </a:pPr>
            <a:r>
              <a:rPr lang="en-US" dirty="0">
                <a:latin typeface="TimesNewRoman"/>
              </a:rPr>
              <a:t>signal(4, SIG_IGN);</a:t>
            </a:r>
          </a:p>
          <a:p>
            <a:pPr marL="0" indent="0">
              <a:buNone/>
            </a:pPr>
            <a:r>
              <a:rPr lang="en-US" dirty="0">
                <a:latin typeface="TimesNewRoman"/>
              </a:rPr>
              <a:t>// returning to the default handler:</a:t>
            </a:r>
          </a:p>
          <a:p>
            <a:pPr marL="0" indent="0">
              <a:buNone/>
            </a:pPr>
            <a:r>
              <a:rPr lang="en-US" dirty="0">
                <a:latin typeface="TimesNewRoman"/>
              </a:rPr>
              <a:t>signal(4, SIG_DFL);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37681866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E5929B-CED8-4720-B562-293B8D00FA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Signals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50D71E-B30E-4DF4-94FF-5CC89B2CB1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(3_1.c)</a:t>
            </a:r>
          </a:p>
          <a:p>
            <a:pPr marL="0" indent="0">
              <a:buNone/>
            </a:pPr>
            <a:r>
              <a:rPr lang="en-US" dirty="0"/>
              <a:t>#include &lt;sys/</a:t>
            </a:r>
            <a:r>
              <a:rPr lang="en-US" dirty="0" err="1"/>
              <a:t>types.h</a:t>
            </a:r>
            <a:r>
              <a:rPr lang="en-US" dirty="0"/>
              <a:t>&gt;</a:t>
            </a:r>
          </a:p>
          <a:p>
            <a:pPr marL="0" indent="0">
              <a:buNone/>
            </a:pPr>
            <a:r>
              <a:rPr lang="en-US" dirty="0"/>
              <a:t>main() {</a:t>
            </a:r>
          </a:p>
          <a:p>
            <a:pPr marL="0" indent="0">
              <a:buNone/>
            </a:pPr>
            <a:r>
              <a:rPr lang="en-US" dirty="0" err="1"/>
              <a:t>int</a:t>
            </a:r>
            <a:r>
              <a:rPr lang="en-US" dirty="0"/>
              <a:t>* a = NULL;</a:t>
            </a:r>
          </a:p>
          <a:p>
            <a:pPr marL="0" indent="0">
              <a:buNone/>
            </a:pPr>
            <a:r>
              <a:rPr lang="en-US" dirty="0"/>
              <a:t>*a = 5;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r>
              <a:rPr lang="pt-BR" dirty="0"/>
              <a:t>$ &gt; gcc -o sig1 3_1.c</a:t>
            </a:r>
          </a:p>
          <a:p>
            <a:pPr marL="0" indent="0">
              <a:buNone/>
            </a:pPr>
            <a:r>
              <a:rPr lang="en-US" dirty="0"/>
              <a:t>$ &gt; ./sig1</a:t>
            </a:r>
          </a:p>
          <a:p>
            <a:pPr marL="0" indent="0">
              <a:buNone/>
            </a:pPr>
            <a:r>
              <a:rPr lang="en-US" dirty="0"/>
              <a:t>Segmentation fault (core dumped)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18547046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E5929B-CED8-4720-B562-293B8D00F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675503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Signals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50D71E-B30E-4DF4-94FF-5CC89B2CB1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5373" y="675504"/>
            <a:ext cx="11098427" cy="593948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3200" dirty="0"/>
              <a:t>#include &lt;signal.h&gt;</a:t>
            </a:r>
          </a:p>
          <a:p>
            <a:pPr marL="0" indent="0">
              <a:buNone/>
            </a:pPr>
            <a:r>
              <a:rPr lang="en-US" sz="3200" dirty="0"/>
              <a:t>void trap() {</a:t>
            </a:r>
          </a:p>
          <a:p>
            <a:pPr marL="0" indent="0">
              <a:buNone/>
            </a:pPr>
            <a:r>
              <a:rPr lang="en-US" sz="3200" dirty="0"/>
              <a:t>     </a:t>
            </a:r>
            <a:r>
              <a:rPr lang="en-US" sz="3200" dirty="0" err="1"/>
              <a:t>printf</a:t>
            </a:r>
            <a:r>
              <a:rPr lang="en-US" sz="3200" dirty="0"/>
              <a:t>("segmentation fault trapped!\n");</a:t>
            </a:r>
          </a:p>
          <a:p>
            <a:pPr marL="0" indent="0">
              <a:buNone/>
            </a:pPr>
            <a:r>
              <a:rPr lang="en-US" sz="3200" dirty="0"/>
              <a:t>     exit(1); </a:t>
            </a:r>
          </a:p>
          <a:p>
            <a:pPr marL="0" indent="0">
              <a:buNone/>
            </a:pPr>
            <a:r>
              <a:rPr lang="en-US" sz="3200" dirty="0"/>
              <a:t>}</a:t>
            </a:r>
          </a:p>
          <a:p>
            <a:pPr marL="0" indent="0">
              <a:buNone/>
            </a:pPr>
            <a:r>
              <a:rPr lang="en-US" sz="3200" dirty="0"/>
              <a:t>main() {</a:t>
            </a:r>
          </a:p>
          <a:p>
            <a:pPr marL="0" indent="0">
              <a:buNone/>
            </a:pPr>
            <a:r>
              <a:rPr lang="en-US" sz="3200" dirty="0"/>
              <a:t>     </a:t>
            </a:r>
            <a:r>
              <a:rPr lang="en-US" sz="3200" dirty="0" err="1"/>
              <a:t>int</a:t>
            </a:r>
            <a:r>
              <a:rPr lang="en-US" sz="3200" dirty="0"/>
              <a:t> *a = NULL;</a:t>
            </a:r>
          </a:p>
          <a:p>
            <a:pPr marL="0" indent="0">
              <a:buNone/>
            </a:pPr>
            <a:r>
              <a:rPr lang="en-US" sz="3200" dirty="0"/>
              <a:t>     signal(SIGSEGV, &amp;trap);</a:t>
            </a:r>
          </a:p>
          <a:p>
            <a:pPr marL="0" indent="0">
              <a:buNone/>
            </a:pPr>
            <a:r>
              <a:rPr lang="en-US" sz="3200" dirty="0"/>
              <a:t>     *a = 5; }</a:t>
            </a:r>
          </a:p>
          <a:p>
            <a:pPr marL="0" indent="0">
              <a:buNone/>
            </a:pPr>
            <a:r>
              <a:rPr lang="en-US" sz="3200" dirty="0"/>
              <a:t>$ &gt; </a:t>
            </a:r>
            <a:r>
              <a:rPr lang="en-US" sz="3200" dirty="0" err="1"/>
              <a:t>gcc</a:t>
            </a:r>
            <a:r>
              <a:rPr lang="en-US" sz="3200" dirty="0"/>
              <a:t> -o sig2 sig3_2.c</a:t>
            </a:r>
          </a:p>
          <a:p>
            <a:pPr marL="0" indent="0">
              <a:buNone/>
            </a:pPr>
            <a:r>
              <a:rPr lang="en-US" sz="3200" dirty="0"/>
              <a:t>$ &gt;./sig2</a:t>
            </a:r>
          </a:p>
          <a:p>
            <a:pPr marL="0" indent="0">
              <a:buNone/>
            </a:pPr>
            <a:r>
              <a:rPr lang="en-US" sz="3200" dirty="0"/>
              <a:t>$ &gt; segmentation fault trapped!</a:t>
            </a:r>
            <a:endParaRPr lang="he-IL" sz="3200" dirty="0"/>
          </a:p>
        </p:txBody>
      </p:sp>
    </p:spTree>
    <p:extLst>
      <p:ext uri="{BB962C8B-B14F-4D97-AF65-F5344CB8AC3E}">
        <p14:creationId xmlns:p14="http://schemas.microsoft.com/office/powerpoint/2010/main" val="25156424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מציין מיקום תוכן 3">
            <a:extLst>
              <a:ext uri="{FF2B5EF4-FFF2-40B4-BE49-F238E27FC236}">
                <a16:creationId xmlns:a16="http://schemas.microsoft.com/office/drawing/2014/main" id="{061C8906-A5E6-4990-BCD8-BD8212D8A47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611661" y="52184"/>
            <a:ext cx="8968677" cy="6753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17277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463</TotalTime>
  <Words>1347</Words>
  <Application>Microsoft Office PowerPoint</Application>
  <PresentationFormat>מסך רחב</PresentationFormat>
  <Paragraphs>142</Paragraphs>
  <Slides>22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7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22</vt:i4>
      </vt:variant>
    </vt:vector>
  </HeadingPairs>
  <TitlesOfParts>
    <vt:vector size="30" baseType="lpstr">
      <vt:lpstr>Arial</vt:lpstr>
      <vt:lpstr>Calibri</vt:lpstr>
      <vt:lpstr>Calibri Light</vt:lpstr>
      <vt:lpstr>TimesNewRoman</vt:lpstr>
      <vt:lpstr>TimesNewRoman,Bold</vt:lpstr>
      <vt:lpstr>TimesNewRoman,BoldItalic</vt:lpstr>
      <vt:lpstr>TimesNewRoman,Italic</vt:lpstr>
      <vt:lpstr>Office Theme</vt:lpstr>
      <vt:lpstr>Interrupts</vt:lpstr>
      <vt:lpstr>Interrupts</vt:lpstr>
      <vt:lpstr>Interrupts פסיקות חומרה</vt:lpstr>
      <vt:lpstr>Interrupts פסיקות חומרה</vt:lpstr>
      <vt:lpstr>Interrupts פסיקות חומרה</vt:lpstr>
      <vt:lpstr>Interrupts פסיקות חומרה</vt:lpstr>
      <vt:lpstr>Interrupts פסיקות חומרה</vt:lpstr>
      <vt:lpstr>Interrupts</vt:lpstr>
      <vt:lpstr>Interrupts</vt:lpstr>
      <vt:lpstr>Interrupts פסיקות חומרה</vt:lpstr>
      <vt:lpstr>Interrupts</vt:lpstr>
      <vt:lpstr>Signals</vt:lpstr>
      <vt:lpstr>Signals</vt:lpstr>
      <vt:lpstr>Signals</vt:lpstr>
      <vt:lpstr>Signals</vt:lpstr>
      <vt:lpstr>Signals</vt:lpstr>
      <vt:lpstr>Signals</vt:lpstr>
      <vt:lpstr>Signals</vt:lpstr>
      <vt:lpstr>Signals</vt:lpstr>
      <vt:lpstr>Signals</vt:lpstr>
      <vt:lpstr>Signals</vt:lpstr>
      <vt:lpstr>מצגת של PowerPoint‏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Interrupts</dc:title>
  <dc:creator>Yechezkel</dc:creator>
  <cp:lastModifiedBy>גיא יחזקאל</cp:lastModifiedBy>
  <cp:revision>43</cp:revision>
  <dcterms:created xsi:type="dcterms:W3CDTF">2017-12-04T08:17:27Z</dcterms:created>
  <dcterms:modified xsi:type="dcterms:W3CDTF">2025-01-15T07:54:15Z</dcterms:modified>
</cp:coreProperties>
</file>