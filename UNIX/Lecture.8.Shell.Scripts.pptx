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9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69" r:id="rId20"/>
    <p:sldId id="275" r:id="rId21"/>
    <p:sldId id="300" r:id="rId22"/>
    <p:sldId id="288" r:id="rId23"/>
    <p:sldId id="277" r:id="rId24"/>
    <p:sldId id="278" r:id="rId25"/>
    <p:sldId id="280" r:id="rId26"/>
    <p:sldId id="281" r:id="rId27"/>
    <p:sldId id="287" r:id="rId28"/>
    <p:sldId id="279" r:id="rId29"/>
    <p:sldId id="282" r:id="rId30"/>
    <p:sldId id="283" r:id="rId31"/>
    <p:sldId id="301" r:id="rId32"/>
    <p:sldId id="302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37" autoAdjust="0"/>
    <p:restoredTop sz="94660"/>
  </p:normalViewPr>
  <p:slideViewPr>
    <p:cSldViewPr snapToGrid="0">
      <p:cViewPr varScale="1">
        <p:scale>
          <a:sx n="88" d="100"/>
          <a:sy n="88" d="100"/>
        </p:scale>
        <p:origin x="7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8576A81A-9A49-4DC9-BD3C-C1CD8375B67A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FDD5A088-0FF6-4B4B-8F40-6C4E41F017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950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5A088-0FF6-4B4B-8F40-6C4E41F017B3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75382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5A088-0FF6-4B4B-8F40-6C4E41F017B3}" type="slidenum">
              <a:rPr lang="en-IL" smtClean="0"/>
              <a:t>31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1993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A9BC-FF53-4D78-8153-90EF67E44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19906-76A7-45BD-A5AB-28B758041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25060-5602-49FA-8501-BBCE9109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D08D-0D00-4299-9B5B-2443C8D3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E9C49-1047-40FB-9AD8-9C1BC741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92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EF530-4140-48EC-887F-3D8E9BF4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E9BED-CB8B-451A-8B89-ECC858791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F37FF-B8ED-4DAE-A6EA-AFAD3849D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105F6-8C5F-41A8-A2F9-0E133418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81921-678F-47AE-BF6A-ABD732C0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31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4D2DE-F000-4196-890E-A37E4BBE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D4C37-5C2E-4A2D-8AAD-8EC74C016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BF45D-8221-47D4-9EC2-B9063636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AFF43-460E-4185-BD7D-74A6E4F9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8DC82-40F8-4166-89B7-0EE665B5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68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F05A-32FC-41D6-A3C0-AE20578B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8613E-254C-4CBE-BB6D-E884D368F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AD071-DF70-4EDA-8757-929DE0234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971D5-3375-452F-BCC0-00036441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C2E22-4A60-4C5C-AF5D-B4DE6F307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EC8F-FA5C-487C-AAD2-8CFF52BAD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5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0B72-8080-4BB0-BDFC-5C3586BD4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AC036-75D2-4C74-A81F-6B58268F5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5550F-52E7-4207-A043-2BB784337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BD61A-4A11-43FD-96B7-0DF15FA44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B7CB12-698E-45B7-8C29-894C2343F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CEAB7-829F-4845-A388-6D550FF6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9B3FA6-A83A-4F47-9EE5-B325DB10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4974C-9AB6-4353-9CD0-156E14B3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5900F-5A87-46B0-AF9D-111D0402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2415D-40E1-4067-AB25-DA5BFB24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17C1A-0AA4-452E-98B1-D3F24B196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716B8-8265-4ECD-BF0D-3B720223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3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6B7DD-495C-48C9-B3F7-8777F7319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0665A3-7D00-423B-A87A-DE61133A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835B0-758B-4BAF-85CA-0E436A3A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1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A09C-4FD7-4CFD-AD0C-5C9C861A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B0617-7017-41C7-AA35-8AA73A3AE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68C45-3CE8-4194-B650-78EF189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C03F2-41CE-4539-AE3F-DC4CA121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2CDD3-958E-4224-9901-CCE53C79E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0525F-D055-4106-897D-57B9AD58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7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EF32-AD89-44F2-9D61-9B2232735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6A2B2-5F20-4A63-B164-FCA990ABE8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4BC7D-75FD-4A5B-B476-26D3A296B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90FE8-CF84-4D48-995D-18B24F5C3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7FB71-2C4E-4C31-B72D-A511A4F3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5209-9579-4763-8125-179EEAF9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1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F155-FCA0-47F3-91ED-9B8CFA6E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2FFA5-7DB3-4975-90AE-46DB54B9E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1A756-AFDD-40A6-9E0B-62DAFB683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7F3E9-2557-4E11-A2BD-CFB306916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48B74-301E-40DB-A64F-9DFCB855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2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1D95D9-ECDC-41E6-AD5B-E9986DE5FD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A95AC-8FBA-4F9A-80C3-8A0B91A19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29730-4B5D-4E5B-988E-A956C49B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E198E-4C93-4E8E-89B9-B1E8290E2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B2C4E-29C8-4ACB-9883-CEE8390E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9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5F02DF-5888-4843-93F6-241E7580E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AFC2F-D5A5-4529-996F-94A778980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07EA9-5CC9-4A49-BA85-08B776E87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4D07B-0BB3-45A8-868F-CFB039227FC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9794E-0CD5-42FF-8AF7-0356BFA44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74E52-B090-4E27-ACAE-0D892ECF6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EA50C-5E43-4D5D-8094-5832149BA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95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5672-5611-4647-BEED-4E343B7A50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8FC54-EE9E-4C5D-94B0-B72CD457FB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Shell scripts</a:t>
            </a:r>
          </a:p>
        </p:txBody>
      </p:sp>
    </p:spTree>
    <p:extLst>
      <p:ext uri="{BB962C8B-B14F-4D97-AF65-F5344CB8AC3E}">
        <p14:creationId xmlns:p14="http://schemas.microsoft.com/office/powerpoint/2010/main" val="384801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לעיתים נרצה לכתוב תוכניות עם יותר משורה אחד</a:t>
            </a:r>
          </a:p>
          <a:p>
            <a:pPr algn="r" rtl="1"/>
            <a:r>
              <a:rPr lang="he-IL" dirty="0"/>
              <a:t>כמו כן, נרצה לבצע תנאים על נתונים, לולאות וכדומה</a:t>
            </a:r>
          </a:p>
          <a:p>
            <a:pPr algn="r" rtl="1"/>
            <a:r>
              <a:rPr lang="he-IL" dirty="0"/>
              <a:t>לצורך זה נוכל להשתמש ב </a:t>
            </a:r>
            <a:r>
              <a:rPr lang="en-US" dirty="0"/>
              <a:t>shell</a:t>
            </a:r>
            <a:r>
              <a:rPr lang="he-IL" dirty="0"/>
              <a:t> כקובץ ולהריץ את הקובץ</a:t>
            </a:r>
          </a:p>
          <a:p>
            <a:pPr algn="r" rtl="1"/>
            <a:r>
              <a:rPr lang="he-IL" dirty="0"/>
              <a:t>המטרה לכתוב קוד פשוט ויעיל שירוץ בצורה קלה ומהירה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53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gedit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/>
            <a:r>
              <a:rPr lang="he-IL" dirty="0"/>
              <a:t>תוכנית עריכה (כתבן)</a:t>
            </a:r>
          </a:p>
          <a:p>
            <a:pPr algn="r" rtl="1"/>
            <a:r>
              <a:rPr lang="he-IL" dirty="0"/>
              <a:t>אם נכתוב </a:t>
            </a:r>
            <a:r>
              <a:rPr lang="en-US" dirty="0" err="1"/>
              <a:t>gedit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בטרמינל, יפתח את התוכנה (בתנאי שמותקן), והטרמינל יינעל.</a:t>
            </a:r>
          </a:p>
          <a:p>
            <a:pPr lvl="1" algn="r" rtl="1"/>
            <a:r>
              <a:rPr lang="he-IL" dirty="0"/>
              <a:t>במידה ולא מותקן, ניתן לכתוב </a:t>
            </a:r>
            <a:endParaRPr lang="en-US" dirty="0"/>
          </a:p>
          <a:p>
            <a:pPr marL="457200" lvl="1" indent="0" algn="l">
              <a:buNone/>
            </a:pPr>
            <a:r>
              <a:rPr lang="en-US" dirty="0" err="1"/>
              <a:t>sudo</a:t>
            </a:r>
            <a:r>
              <a:rPr lang="en-US" dirty="0"/>
              <a:t> apt-get install </a:t>
            </a:r>
            <a:r>
              <a:rPr lang="en-US" dirty="0" err="1"/>
              <a:t>gedit</a:t>
            </a:r>
            <a:endParaRPr lang="en-US" dirty="0"/>
          </a:p>
          <a:p>
            <a:pPr marL="457200" lvl="1" indent="0" algn="r" rtl="1">
              <a:buNone/>
            </a:pPr>
            <a:endParaRPr lang="he-IL" dirty="0"/>
          </a:p>
          <a:p>
            <a:pPr algn="r" rtl="1"/>
            <a:r>
              <a:rPr lang="he-IL" dirty="0"/>
              <a:t>כדי לפתוח תוכנה ברקע ניתן לכתוב </a:t>
            </a:r>
            <a:r>
              <a:rPr lang="en-US" dirty="0" err="1"/>
              <a:t>gedit</a:t>
            </a:r>
            <a:r>
              <a:rPr lang="en-US" dirty="0"/>
              <a:t> &amp;</a:t>
            </a:r>
            <a:endParaRPr lang="he-IL" dirty="0"/>
          </a:p>
          <a:p>
            <a:pPr algn="r" rtl="1"/>
            <a:r>
              <a:rPr lang="he-IL" dirty="0"/>
              <a:t>אם נרצה לערוך קובץ קיים או ליצור קובץ חדש ריק ולפתוח </a:t>
            </a:r>
            <a:r>
              <a:rPr lang="he-IL" dirty="0" err="1"/>
              <a:t>איתו</a:t>
            </a:r>
            <a:r>
              <a:rPr lang="he-IL" dirty="0"/>
              <a:t> את התוכנה</a:t>
            </a:r>
          </a:p>
          <a:p>
            <a:pPr marL="0" indent="0" algn="l">
              <a:buNone/>
            </a:pPr>
            <a:r>
              <a:rPr lang="en-US" dirty="0" err="1"/>
              <a:t>gedit</a:t>
            </a:r>
            <a:r>
              <a:rPr lang="en-US" dirty="0"/>
              <a:t> &lt;file&gt; &amp;</a:t>
            </a:r>
          </a:p>
          <a:p>
            <a:pPr marL="0" indent="0" algn="r" rtl="1">
              <a:buNone/>
            </a:pPr>
            <a:r>
              <a:rPr lang="he-IL" dirty="0"/>
              <a:t>כאשר </a:t>
            </a:r>
            <a:r>
              <a:rPr lang="en-US" dirty="0"/>
              <a:t>file</a:t>
            </a:r>
            <a:r>
              <a:rPr lang="he-IL" dirty="0"/>
              <a:t> הוא שם הקובץ</a:t>
            </a:r>
          </a:p>
          <a:p>
            <a:pPr marL="0" indent="0" algn="r" rtl="1">
              <a:buNone/>
            </a:pPr>
            <a:r>
              <a:rPr lang="he-IL" dirty="0"/>
              <a:t>דוגמא: </a:t>
            </a:r>
            <a:r>
              <a:rPr lang="en-US" dirty="0" err="1"/>
              <a:t>gedit</a:t>
            </a:r>
            <a:r>
              <a:rPr lang="en-US" dirty="0"/>
              <a:t> f.txt &amp;</a:t>
            </a:r>
            <a:r>
              <a:rPr lang="he-IL" dirty="0"/>
              <a:t> ייצור קובץ חדש בשם </a:t>
            </a:r>
            <a:r>
              <a:rPr lang="en-US" dirty="0"/>
              <a:t>f.txt</a:t>
            </a:r>
            <a:r>
              <a:rPr lang="he-IL" dirty="0"/>
              <a:t> ויפתח אותו ב </a:t>
            </a:r>
            <a:r>
              <a:rPr lang="en-US" dirty="0" err="1"/>
              <a:t>gedit</a:t>
            </a:r>
            <a:r>
              <a:rPr lang="he-IL" dirty="0"/>
              <a:t> בצורה אוטומטית</a:t>
            </a:r>
          </a:p>
          <a:p>
            <a:pPr marL="0" indent="0" algn="r" rtl="1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81859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6C326B-93DE-4E1D-AC95-5CFF43C88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15" y="3244203"/>
            <a:ext cx="11235485" cy="15141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r" rtl="1"/>
            <a:r>
              <a:rPr lang="he-IL" dirty="0"/>
              <a:t>כל קובץ </a:t>
            </a:r>
            <a:r>
              <a:rPr lang="en-US" dirty="0"/>
              <a:t>shell</a:t>
            </a:r>
            <a:r>
              <a:rPr lang="he-IL" dirty="0"/>
              <a:t> שמכיל </a:t>
            </a:r>
            <a:r>
              <a:rPr lang="en-US" dirty="0"/>
              <a:t>script</a:t>
            </a:r>
            <a:r>
              <a:rPr lang="he-IL" dirty="0"/>
              <a:t> יכול להתחיל בשורה </a:t>
            </a:r>
            <a:r>
              <a:rPr lang="en-US" dirty="0"/>
              <a:t>#!/bin/</a:t>
            </a:r>
            <a:r>
              <a:rPr lang="en-US" dirty="0" err="1"/>
              <a:t>sh</a:t>
            </a:r>
            <a:r>
              <a:rPr lang="he-IL" dirty="0"/>
              <a:t> או </a:t>
            </a:r>
            <a:r>
              <a:rPr lang="en-US" dirty="0"/>
              <a:t>#!/bin/bash</a:t>
            </a:r>
            <a:endParaRPr lang="he-IL" dirty="0"/>
          </a:p>
          <a:p>
            <a:pPr lvl="1" algn="r" rtl="1"/>
            <a:r>
              <a:rPr lang="he-IL" dirty="0"/>
              <a:t>זה בעצם מציין למערכת שהקובץ הזה מכיל סקריפט שירוץ בעזרת ה </a:t>
            </a:r>
            <a:r>
              <a:rPr lang="en-US" dirty="0"/>
              <a:t>shell</a:t>
            </a:r>
            <a:r>
              <a:rPr lang="he-IL" dirty="0"/>
              <a:t> שנמצא ב </a:t>
            </a:r>
            <a:r>
              <a:rPr lang="en-US" dirty="0"/>
              <a:t>/bin/</a:t>
            </a:r>
            <a:r>
              <a:rPr lang="en-US" dirty="0" err="1"/>
              <a:t>sh</a:t>
            </a:r>
            <a:endParaRPr lang="he-IL" dirty="0"/>
          </a:p>
          <a:p>
            <a:pPr lvl="1" algn="r" rtl="1"/>
            <a:r>
              <a:rPr lang="he-IL" dirty="0"/>
              <a:t># זה הערה בקובץ</a:t>
            </a:r>
            <a:endParaRPr lang="en-US" dirty="0"/>
          </a:p>
          <a:p>
            <a:pPr lvl="1" algn="r" rtl="1"/>
            <a:r>
              <a:rPr lang="he-IL" dirty="0"/>
              <a:t>!</a:t>
            </a:r>
            <a:r>
              <a:rPr lang="en-US" dirty="0"/>
              <a:t> </a:t>
            </a:r>
            <a:r>
              <a:rPr lang="he-IL" dirty="0"/>
              <a:t> זה סימון מיוחד בסקריפט</a:t>
            </a:r>
          </a:p>
          <a:p>
            <a:pPr algn="r" rtl="1"/>
            <a:r>
              <a:rPr lang="he-IL" dirty="0"/>
              <a:t>במידה ואין ציון לאיזה </a:t>
            </a:r>
            <a:r>
              <a:rPr lang="en-US" dirty="0"/>
              <a:t>shell</a:t>
            </a:r>
            <a:r>
              <a:rPr lang="he-IL" dirty="0"/>
              <a:t> להשתמש, הקובץ ירוץ עם ה </a:t>
            </a:r>
            <a:r>
              <a:rPr lang="en-US" dirty="0"/>
              <a:t>shell</a:t>
            </a:r>
            <a:r>
              <a:rPr lang="he-IL" dirty="0"/>
              <a:t> ברירת המחדל של המשתמש</a:t>
            </a:r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  <a:p>
            <a:pPr lvl="1" algn="r" rtl="1"/>
            <a:endParaRPr lang="he-IL" dirty="0"/>
          </a:p>
          <a:p>
            <a:pPr algn="r" rtl="1"/>
            <a:r>
              <a:rPr lang="he-IL" dirty="0"/>
              <a:t>הפקודה </a:t>
            </a:r>
            <a:r>
              <a:rPr lang="en-US" dirty="0"/>
              <a:t>echo</a:t>
            </a:r>
            <a:r>
              <a:rPr lang="he-IL" dirty="0"/>
              <a:t> מדפיסה למסך את המילים </a:t>
            </a:r>
            <a:r>
              <a:rPr lang="en-US" dirty="0"/>
              <a:t>Hello World</a:t>
            </a:r>
            <a:endParaRPr lang="he-IL" dirty="0"/>
          </a:p>
          <a:p>
            <a:pPr algn="r" rtl="1"/>
            <a:r>
              <a:rPr lang="he-IL" dirty="0"/>
              <a:t>כדי להריץ את הקובץ (כמובן כשיש הרשאות מתאימות) נכתוב את השורה</a:t>
            </a:r>
          </a:p>
          <a:p>
            <a:pPr marL="0" indent="0" algn="l">
              <a:buNone/>
            </a:pPr>
            <a:r>
              <a:rPr lang="en-US" dirty="0"/>
              <a:t>./first.sh</a:t>
            </a:r>
            <a:endParaRPr lang="he-IL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110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55A85D1-CA5E-4308-BC6B-9835AACE4E82}"/>
              </a:ext>
            </a:extLst>
          </p:cNvPr>
          <p:cNvGrpSpPr/>
          <p:nvPr/>
        </p:nvGrpSpPr>
        <p:grpSpPr>
          <a:xfrm>
            <a:off x="792487" y="1690688"/>
            <a:ext cx="10719959" cy="3780722"/>
            <a:chOff x="792487" y="1690688"/>
            <a:chExt cx="10719959" cy="378072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D932A9-D684-4B53-8281-C0B791BE3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2487" y="1690688"/>
              <a:ext cx="10607026" cy="3780722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F12D95B-7D45-4423-87C8-E409E17B1E43}"/>
                </a:ext>
              </a:extLst>
            </p:cNvPr>
            <p:cNvSpPr/>
            <p:nvPr/>
          </p:nvSpPr>
          <p:spPr>
            <a:xfrm>
              <a:off x="792487" y="2908093"/>
              <a:ext cx="10719959" cy="94438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1333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AF4BD-055F-484B-9F82-57198F4EF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9571990" cy="1427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CCB697-D522-44D0-B236-375F54F7F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89985"/>
            <a:ext cx="9470403" cy="1161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B2AC8A-293C-4005-8799-AD9B7A0537C7}"/>
              </a:ext>
            </a:extLst>
          </p:cNvPr>
          <p:cNvSpPr txBox="1"/>
          <p:nvPr/>
        </p:nvSpPr>
        <p:spPr>
          <a:xfrm>
            <a:off x="5396460" y="4389985"/>
            <a:ext cx="447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800" b="1" dirty="0"/>
              <a:t>הפקודה </a:t>
            </a:r>
            <a:r>
              <a:rPr lang="en-US" sz="2800" b="1" dirty="0"/>
              <a:t>ECHO</a:t>
            </a:r>
            <a:r>
              <a:rPr lang="he-IL" sz="2800" b="1" dirty="0"/>
              <a:t> עובדת גם עם מחרוזות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5250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he-IL" dirty="0"/>
              <a:t>תרגיל:</a:t>
            </a:r>
            <a:r>
              <a:rPr lang="en-US" dirty="0"/>
              <a:t> </a:t>
            </a:r>
            <a:r>
              <a:rPr lang="he-IL" dirty="0"/>
              <a:t>כתבו את הסקריפט הבא בתוך קובץ והריצו את הקובץ</a:t>
            </a:r>
          </a:p>
          <a:p>
            <a:pPr marL="0" indent="0" algn="r" rtl="1">
              <a:buNone/>
            </a:pPr>
            <a:r>
              <a:rPr lang="he-IL" dirty="0"/>
              <a:t>התבוננו בתוצאה</a:t>
            </a:r>
          </a:p>
          <a:p>
            <a:pPr marL="0" indent="0" algn="r" rtl="1">
              <a:buNone/>
            </a:pPr>
            <a:r>
              <a:rPr lang="he-IL" dirty="0"/>
              <a:t>(לא לשכוח לתת הרשאות)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E0170B-A879-4079-A18D-CC969A93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15" y="2367756"/>
            <a:ext cx="7025866" cy="394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6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6CD60-C42C-49D0-AF7B-0751FE014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93" y="1690688"/>
            <a:ext cx="7025866" cy="39441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2EAB0D-DBFF-43B6-93B3-8F12D830E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548" y="1986109"/>
            <a:ext cx="8486452" cy="394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79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 -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כמו לכל שפת תכנות, גם בשפת </a:t>
            </a:r>
            <a:r>
              <a:rPr lang="en-US" dirty="0"/>
              <a:t>shell</a:t>
            </a:r>
            <a:r>
              <a:rPr lang="he-IL" dirty="0"/>
              <a:t> קיימים משתנים המתאחסים בזכרון</a:t>
            </a:r>
          </a:p>
          <a:p>
            <a:pPr algn="r" rtl="1"/>
            <a:r>
              <a:rPr lang="he-IL" dirty="0"/>
              <a:t>הגדרת משתנה חדש באמצעות כתיבה:</a:t>
            </a:r>
          </a:p>
          <a:p>
            <a:pPr marL="0" indent="0" algn="l">
              <a:buNone/>
            </a:pPr>
            <a:r>
              <a:rPr lang="he-IL" dirty="0"/>
              <a:t>שם המשתנה</a:t>
            </a:r>
            <a:r>
              <a:rPr lang="en-US" dirty="0"/>
              <a:t>=</a:t>
            </a:r>
            <a:r>
              <a:rPr lang="he-IL" dirty="0"/>
              <a:t>ערך</a:t>
            </a:r>
          </a:p>
          <a:p>
            <a:pPr algn="l"/>
            <a:r>
              <a:rPr lang="en-US" dirty="0"/>
              <a:t>VAR=value</a:t>
            </a:r>
            <a:endParaRPr lang="he-IL" dirty="0"/>
          </a:p>
          <a:p>
            <a:pPr lvl="1" algn="r" rtl="1"/>
            <a:r>
              <a:rPr lang="he-IL" dirty="0"/>
              <a:t>אין טיפוסי נתונים</a:t>
            </a:r>
          </a:p>
          <a:p>
            <a:pPr lvl="1" algn="r" rtl="1"/>
            <a:r>
              <a:rPr lang="he-IL" dirty="0"/>
              <a:t>אסור שיהיה רווח בין ה = למשתנים</a:t>
            </a:r>
          </a:p>
          <a:p>
            <a:pPr lvl="2"/>
            <a:r>
              <a:rPr lang="en-US" dirty="0"/>
              <a:t>VAR= value – </a:t>
            </a:r>
            <a:r>
              <a:rPr lang="he-IL" dirty="0"/>
              <a:t>לא עובד</a:t>
            </a:r>
          </a:p>
          <a:p>
            <a:pPr lvl="2"/>
            <a:r>
              <a:rPr lang="en-US" dirty="0"/>
              <a:t>VAR =value – </a:t>
            </a:r>
            <a:r>
              <a:rPr lang="he-IL" dirty="0"/>
              <a:t>לא עובד</a:t>
            </a:r>
          </a:p>
          <a:p>
            <a:pPr lvl="2"/>
            <a:r>
              <a:rPr lang="en-US" dirty="0"/>
              <a:t>VAR = value – </a:t>
            </a:r>
            <a:r>
              <a:rPr lang="he-IL" dirty="0"/>
              <a:t>לא עובד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703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קריאה למשתנה באמצעות הסימן $</a:t>
            </a:r>
          </a:p>
          <a:p>
            <a:pPr lvl="1" algn="r" rtl="1"/>
            <a:r>
              <a:rPr lang="he-IL" dirty="0"/>
              <a:t>לא יכולנו לבצע </a:t>
            </a:r>
            <a:r>
              <a:rPr lang="en-US" dirty="0"/>
              <a:t>MY_MESSAGE=Hello World</a:t>
            </a:r>
            <a:r>
              <a:rPr lang="he-IL" dirty="0"/>
              <a:t> כמו שעשינו ב </a:t>
            </a:r>
            <a:r>
              <a:rPr lang="en-US" dirty="0"/>
              <a:t>echo</a:t>
            </a:r>
            <a:r>
              <a:rPr lang="he-IL" dirty="0"/>
              <a:t>, כי הפקודה </a:t>
            </a:r>
            <a:r>
              <a:rPr lang="en-US" dirty="0"/>
              <a:t>echo</a:t>
            </a:r>
            <a:r>
              <a:rPr lang="he-IL" dirty="0"/>
              <a:t> יכולה לקבל כמה נתונים, כאשר משתנה יכול להכיל רק ערך אחד</a:t>
            </a:r>
          </a:p>
          <a:p>
            <a:pPr lvl="1" algn="r" rtl="1"/>
            <a:endParaRPr lang="he-IL" dirty="0"/>
          </a:p>
          <a:p>
            <a:pPr marL="914400" lvl="2" indent="0" algn="r" rtl="1">
              <a:buNone/>
            </a:pPr>
            <a:r>
              <a:rPr lang="he-IL" dirty="0"/>
              <a:t>		נתון 2		נתון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E17B8-A6DE-44EC-B9FA-64889D70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1825625"/>
            <a:ext cx="8675889" cy="1438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FF42D9-C67D-4E4E-A5F7-93B5F4C29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573" y="5303446"/>
            <a:ext cx="5631091" cy="59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8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ב </a:t>
            </a:r>
            <a:r>
              <a:rPr lang="en-US" dirty="0"/>
              <a:t>Shell</a:t>
            </a:r>
            <a:r>
              <a:rPr lang="he-IL" dirty="0"/>
              <a:t> אין הקפדה על טיפוסי נתונים. ניתן לשמור כל טיפוס:</a:t>
            </a:r>
            <a:r>
              <a:rPr lang="en-US" dirty="0"/>
              <a:t> </a:t>
            </a:r>
            <a:r>
              <a:rPr lang="he-IL" dirty="0"/>
              <a:t>מחרוזות, מספרים טבעיים, מספרים שלמים וכד'.</a:t>
            </a:r>
          </a:p>
          <a:p>
            <a:pPr algn="r" rt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58244-379F-43EF-9A69-D07329F3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354" y="3106541"/>
            <a:ext cx="6299604" cy="283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48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באמצעות הפקודה </a:t>
            </a:r>
            <a:r>
              <a:rPr lang="en-US" dirty="0"/>
              <a:t>read</a:t>
            </a:r>
            <a:r>
              <a:rPr lang="he-IL" dirty="0"/>
              <a:t> ניתן לקרוא קלט מהמשתמש לתוך משתנה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לאחר מכן ההשתמשות במשתנה היא בעזרת $.</a:t>
            </a:r>
          </a:p>
          <a:p>
            <a:pPr lvl="1" algn="r" rtl="1"/>
            <a:r>
              <a:rPr lang="he-IL" dirty="0"/>
              <a:t>שימו לב, לא הצהרנו על המשתנה, אלא בעת ביצוע הפקודה </a:t>
            </a:r>
            <a:r>
              <a:rPr lang="en-US" dirty="0"/>
              <a:t>read</a:t>
            </a:r>
            <a:r>
              <a:rPr lang="he-IL" dirty="0"/>
              <a:t> הוא נוצר</a:t>
            </a:r>
            <a:endParaRPr lang="en-US" dirty="0"/>
          </a:p>
          <a:p>
            <a:pPr lvl="1" algn="r" rt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C7210-ABE0-4ECD-A952-1DDCD991E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7793"/>
            <a:ext cx="6249809" cy="1592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E18538-63FB-4996-BC51-12B445534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86476"/>
            <a:ext cx="5464126" cy="142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נתבונן בסקריפט הבא: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הודעת שגיאה. אין כזה משתנה </a:t>
            </a:r>
            <a:r>
              <a:rPr lang="en-US" dirty="0"/>
              <a:t>$</a:t>
            </a:r>
            <a:r>
              <a:rPr lang="en-US" dirty="0" err="1"/>
              <a:t>NAME_home_dir</a:t>
            </a:r>
            <a:endParaRPr lang="he-IL" dirty="0"/>
          </a:p>
          <a:p>
            <a:pPr algn="r" rtl="1"/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86F15-B123-4DFF-84D7-986A87950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4"/>
            <a:ext cx="4183421" cy="1307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BC4F4E-18EA-4AD3-9A53-CBDB4D162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420269"/>
            <a:ext cx="7808106" cy="113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0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D45C3C-2BD7-4D26-BCBB-D38390987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4"/>
            <a:ext cx="5890831" cy="1622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שם המשתנה בתוך {</a:t>
            </a:r>
            <a:r>
              <a:rPr lang="en-US" dirty="0"/>
              <a:t> </a:t>
            </a:r>
            <a:r>
              <a:rPr lang="he-IL" dirty="0"/>
              <a:t>} מבדיל אותו</a:t>
            </a:r>
          </a:p>
          <a:p>
            <a:pPr marL="0" indent="0" algn="r" rtl="1">
              <a:buNone/>
            </a:pPr>
            <a:r>
              <a:rPr lang="he-IL" dirty="0"/>
              <a:t>משאר התווים האחרים</a:t>
            </a:r>
          </a:p>
          <a:p>
            <a:pPr algn="r" rt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D61663-B8B8-4E80-BE66-9DF15D3D8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3945574"/>
            <a:ext cx="4093565" cy="20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9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ישנם מספר תווים שמורים בפקודה </a:t>
            </a:r>
            <a:r>
              <a:rPr lang="en-US" dirty="0"/>
              <a:t>echo</a:t>
            </a:r>
            <a:r>
              <a:rPr lang="he-IL" dirty="0"/>
              <a:t> כגון </a:t>
            </a:r>
            <a:r>
              <a:rPr lang="en-US" dirty="0"/>
              <a:t>$,\,”,`</a:t>
            </a:r>
            <a:endParaRPr lang="he-IL" dirty="0"/>
          </a:p>
          <a:p>
            <a:pPr algn="r" rtl="1"/>
            <a:r>
              <a:rPr lang="he-IL" dirty="0"/>
              <a:t>כדי להשתמש בהם באופן רגיל נשתמש בתו </a:t>
            </a:r>
            <a:r>
              <a:rPr lang="en-US" dirty="0"/>
              <a:t>\</a:t>
            </a:r>
            <a:r>
              <a:rPr lang="he-IL" dirty="0"/>
              <a:t> שהוא "תו בריחה" </a:t>
            </a:r>
            <a:r>
              <a:rPr lang="en-US" dirty="0"/>
              <a:t>(escape character)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lvl="1" algn="r" rtl="1"/>
            <a:r>
              <a:rPr lang="en-US" dirty="0"/>
              <a:t>`</a:t>
            </a:r>
            <a:r>
              <a:rPr lang="he-IL" dirty="0"/>
              <a:t> מאפשר לנו  להריץ סקריפט פנימי בתוך ה </a:t>
            </a:r>
            <a:r>
              <a:rPr lang="en-US" dirty="0"/>
              <a:t>shell</a:t>
            </a:r>
            <a:endParaRPr lang="he-IL" dirty="0"/>
          </a:p>
          <a:p>
            <a:pPr algn="r" rt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9AFCD-1C43-418F-AEE1-0E0200398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69" y="3448843"/>
            <a:ext cx="9341534" cy="172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4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לולאת </a:t>
            </a:r>
            <a:r>
              <a:rPr lang="en-US" dirty="0"/>
              <a:t>for</a:t>
            </a:r>
            <a:r>
              <a:rPr lang="he-IL" dirty="0"/>
              <a:t>: לולאה שרצה על קבוצה של ערכים מתחילתה עד סופה</a:t>
            </a:r>
          </a:p>
          <a:p>
            <a:pPr marL="0" indent="0" algn="l">
              <a:buNone/>
            </a:pPr>
            <a:r>
              <a:rPr lang="en-US" dirty="0">
                <a:solidFill>
                  <a:schemeClr val="accent1"/>
                </a:solidFill>
              </a:rPr>
              <a:t>for</a:t>
            </a:r>
            <a:r>
              <a:rPr lang="en-US" dirty="0"/>
              <a:t> &lt;VAR&gt; </a:t>
            </a:r>
            <a:r>
              <a:rPr lang="en-US" dirty="0">
                <a:solidFill>
                  <a:schemeClr val="accent1"/>
                </a:solidFill>
              </a:rPr>
              <a:t>in</a:t>
            </a:r>
            <a:r>
              <a:rPr lang="en-US" dirty="0"/>
              <a:t> &lt;SET&gt;</a:t>
            </a:r>
          </a:p>
          <a:p>
            <a:pPr marL="0" indent="0" algn="l">
              <a:buNone/>
            </a:pPr>
            <a:r>
              <a:rPr lang="en-US" dirty="0">
                <a:solidFill>
                  <a:schemeClr val="accent1"/>
                </a:solidFill>
              </a:rPr>
              <a:t>do</a:t>
            </a:r>
          </a:p>
          <a:p>
            <a:pPr marL="0" indent="0" algn="l">
              <a:buNone/>
            </a:pPr>
            <a:r>
              <a:rPr lang="en-US" dirty="0"/>
              <a:t>	commands</a:t>
            </a:r>
          </a:p>
          <a:p>
            <a:pPr marL="0" indent="0" algn="l">
              <a:buNone/>
            </a:pPr>
            <a:r>
              <a:rPr lang="en-US" dirty="0">
                <a:solidFill>
                  <a:schemeClr val="accent1"/>
                </a:solidFill>
              </a:rPr>
              <a:t>done</a:t>
            </a:r>
            <a:endParaRPr lang="he-IL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D362B-DC05-412A-B481-45B1B2AF3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89073"/>
            <a:ext cx="6920512" cy="2387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279B95-6ACB-4E70-8205-65397F8E5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386" y="4823788"/>
            <a:ext cx="3827918" cy="17878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5118F7-736B-418C-91BF-A1AEAC31D131}"/>
              </a:ext>
            </a:extLst>
          </p:cNvPr>
          <p:cNvSpPr txBox="1"/>
          <p:nvPr/>
        </p:nvSpPr>
        <p:spPr>
          <a:xfrm>
            <a:off x="5801195" y="2244112"/>
            <a:ext cx="53427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800" dirty="0"/>
              <a:t>המילה </a:t>
            </a:r>
            <a:r>
              <a:rPr lang="en-US" sz="2800" dirty="0"/>
              <a:t>do</a:t>
            </a:r>
            <a:r>
              <a:rPr lang="he-IL" sz="2800" dirty="0"/>
              <a:t> צריכה להיות בשורה נפרדת או שאפשר להשתמש ב </a:t>
            </a:r>
            <a:r>
              <a:rPr lang="en-US" sz="2800" dirty="0"/>
              <a:t>;</a:t>
            </a:r>
            <a:r>
              <a:rPr lang="he-IL" sz="2800" dirty="0"/>
              <a:t> אחרי ה </a:t>
            </a:r>
            <a:r>
              <a:rPr lang="en-US" sz="2800" dirty="0"/>
              <a:t>&lt;SET&gt;</a:t>
            </a:r>
            <a:r>
              <a:rPr lang="he-IL" sz="2800" dirty="0"/>
              <a:t> ולכתוב </a:t>
            </a:r>
            <a:r>
              <a:rPr lang="en-US" sz="2800" dirty="0"/>
              <a:t>do</a:t>
            </a:r>
            <a:r>
              <a:rPr lang="he-IL" sz="2800" dirty="0"/>
              <a:t> באותה השורה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3532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47541"/>
            <a:ext cx="5353674" cy="2429422"/>
          </a:xfrm>
        </p:spPr>
        <p:txBody>
          <a:bodyPr>
            <a:normAutofit lnSpcReduction="10000"/>
          </a:bodyPr>
          <a:lstStyle/>
          <a:p>
            <a:pPr marL="457200" lvl="1" indent="0" algn="r" rtl="1">
              <a:buNone/>
            </a:pPr>
            <a:r>
              <a:rPr lang="he-IL" dirty="0"/>
              <a:t>אפשר להכניס כל דבר בתור </a:t>
            </a:r>
            <a:r>
              <a:rPr lang="en-US" dirty="0"/>
              <a:t>SET</a:t>
            </a:r>
            <a:r>
              <a:rPr lang="he-IL" dirty="0"/>
              <a:t> ומשתנה הלולאה יקבל כל ערך לפי הסדר.</a:t>
            </a:r>
          </a:p>
          <a:p>
            <a:pPr marL="457200" lvl="1" indent="0" algn="r" rtl="1">
              <a:buNone/>
            </a:pPr>
            <a:endParaRPr lang="he-IL" dirty="0"/>
          </a:p>
          <a:p>
            <a:pPr marL="457200" lvl="1" indent="0" algn="r" rtl="1">
              <a:buNone/>
            </a:pPr>
            <a:r>
              <a:rPr lang="he-IL" dirty="0"/>
              <a:t>* משמעותו כל הקבצים והתיקיות בתיקיה הנוכחית (התיקיה בה מריצים את הקובץ)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B3205-9DE2-408A-A1A7-C974D795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477460" cy="1921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5EC131-967C-4722-883F-ECC8E44B9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874" y="1825625"/>
            <a:ext cx="50059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4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7DDC961-1692-4C9E-9627-9BA7C33A7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43765"/>
            <a:ext cx="3565427" cy="1639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BC66B-457A-4910-9BAB-33D5C7205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82846"/>
            <a:ext cx="1978701" cy="335279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B7F36E2-F4E0-4A12-AE97-AE5CA5E2C498}"/>
              </a:ext>
            </a:extLst>
          </p:cNvPr>
          <p:cNvSpPr/>
          <p:nvPr/>
        </p:nvSpPr>
        <p:spPr>
          <a:xfrm>
            <a:off x="2620912" y="1714266"/>
            <a:ext cx="1166530" cy="49627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0B0349-99E8-404D-A40E-823B19790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409" y="1339776"/>
            <a:ext cx="3027071" cy="1643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2D0750-E383-4BCE-818D-69612C352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409" y="3282845"/>
            <a:ext cx="1978701" cy="335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11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130" y="1842749"/>
            <a:ext cx="10889105" cy="4650126"/>
          </a:xfrm>
        </p:spPr>
        <p:txBody>
          <a:bodyPr>
            <a:normAutofit lnSpcReduction="10000"/>
          </a:bodyPr>
          <a:lstStyle/>
          <a:p>
            <a:pPr algn="r" rtl="1"/>
            <a:r>
              <a:rPr lang="he-IL" dirty="0"/>
              <a:t>לולאת </a:t>
            </a:r>
            <a:r>
              <a:rPr lang="en-US" dirty="0"/>
              <a:t>while</a:t>
            </a:r>
            <a:r>
              <a:rPr lang="he-IL" dirty="0"/>
              <a:t>: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chemeClr val="accent1"/>
                </a:solidFill>
              </a:rPr>
              <a:t>while</a:t>
            </a:r>
            <a:r>
              <a:rPr lang="en-US" dirty="0"/>
              <a:t> [ </a:t>
            </a:r>
            <a:r>
              <a:rPr lang="en-US" dirty="0" err="1"/>
              <a:t>condtion</a:t>
            </a:r>
            <a:r>
              <a:rPr lang="en-US" dirty="0"/>
              <a:t> ]</a:t>
            </a:r>
          </a:p>
          <a:p>
            <a:pPr marL="0" indent="0" algn="l">
              <a:buNone/>
            </a:pPr>
            <a:r>
              <a:rPr lang="en-US" dirty="0">
                <a:solidFill>
                  <a:schemeClr val="accent1"/>
                </a:solidFill>
              </a:rPr>
              <a:t>do</a:t>
            </a:r>
          </a:p>
          <a:p>
            <a:pPr marL="0" indent="0" algn="l">
              <a:buNone/>
            </a:pPr>
            <a:r>
              <a:rPr lang="en-US" dirty="0"/>
              <a:t>	…</a:t>
            </a:r>
          </a:p>
          <a:p>
            <a:pPr marL="0" indent="0" algn="l">
              <a:buNone/>
            </a:pPr>
            <a:r>
              <a:rPr lang="en-US" dirty="0">
                <a:solidFill>
                  <a:schemeClr val="accent1"/>
                </a:solidFill>
              </a:rPr>
              <a:t>done</a:t>
            </a:r>
          </a:p>
          <a:p>
            <a:pPr marL="0" indent="0" algn="l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 algn="l">
              <a:buNone/>
            </a:pPr>
            <a:endParaRPr lang="he-IL" dirty="0">
              <a:solidFill>
                <a:schemeClr val="accent1"/>
              </a:solidFill>
            </a:endParaRPr>
          </a:p>
          <a:p>
            <a:pPr marL="0" indent="0" algn="r" rtl="1">
              <a:buNone/>
            </a:pPr>
            <a:endParaRPr lang="he-IL" dirty="0">
              <a:solidFill>
                <a:schemeClr val="accent1"/>
              </a:solidFill>
            </a:endParaRPr>
          </a:p>
          <a:p>
            <a:pPr marL="0" indent="0" algn="r" rtl="1">
              <a:buNone/>
            </a:pPr>
            <a:r>
              <a:rPr lang="he-IL" dirty="0">
                <a:solidFill>
                  <a:srgbClr val="FF0000"/>
                </a:solidFill>
              </a:rPr>
              <a:t>כאשר כותבים תנאי חייבים להוסיף רווחים לפני ואחרי 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he-IL" dirty="0">
                <a:solidFill>
                  <a:srgbClr val="FF0000"/>
                </a:solidFill>
              </a:rPr>
              <a:t> או </a:t>
            </a:r>
            <a:r>
              <a:rPr lang="en-US" dirty="0">
                <a:solidFill>
                  <a:srgbClr val="FF0000"/>
                </a:solidFill>
              </a:rPr>
              <a:t>]</a:t>
            </a:r>
            <a:r>
              <a:rPr lang="he-IL" dirty="0">
                <a:solidFill>
                  <a:srgbClr val="FF0000"/>
                </a:solidFill>
              </a:rPr>
              <a:t> וכן לפני בדיקת שיוויון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he-IL" dirty="0">
                <a:solidFill>
                  <a:srgbClr val="FF0000"/>
                </a:solidFill>
              </a:rPr>
              <a:t>!!!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3E206-1DDA-4363-8E4A-64EF0C71F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968" y="2311373"/>
            <a:ext cx="7244219" cy="314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4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גם התנאי הוא אופציונאלי</a:t>
            </a:r>
          </a:p>
          <a:p>
            <a:pPr lvl="1" algn="r" rtl="1"/>
            <a:r>
              <a:rPr lang="he-IL" dirty="0"/>
              <a:t>: כדי לבצע </a:t>
            </a:r>
            <a:r>
              <a:rPr lang="en-US" dirty="0"/>
              <a:t>TRUE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5B1C3-8EA5-43AC-98BD-5A74787B9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05" y="2945955"/>
            <a:ext cx="7447265" cy="290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86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תרגיל: כתבו תוכנית המקבלת מהמשתמש נתיב (</a:t>
            </a:r>
            <a:r>
              <a:rPr lang="en-US" dirty="0"/>
              <a:t>PATH</a:t>
            </a:r>
            <a:r>
              <a:rPr lang="he-IL" dirty="0"/>
              <a:t>) של תיקייה (בעזרת הפקודה </a:t>
            </a:r>
            <a:r>
              <a:rPr lang="en-US" dirty="0"/>
              <a:t>READ</a:t>
            </a:r>
            <a:r>
              <a:rPr lang="he-IL" dirty="0"/>
              <a:t>). שימו לב:</a:t>
            </a:r>
            <a:r>
              <a:rPr lang="en-US" dirty="0"/>
              <a:t> </a:t>
            </a:r>
            <a:r>
              <a:rPr lang="he-IL" dirty="0"/>
              <a:t>לא לקרוא למשתנה בשם </a:t>
            </a:r>
            <a:r>
              <a:rPr lang="en-US" dirty="0"/>
              <a:t>PATH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התוכנית תעבור על כל הקבצים והתיקיות בתיקיה הזו ותוסיף גישת כתיבה עבור כל המשתמשים.</a:t>
            </a:r>
          </a:p>
          <a:p>
            <a:pPr marL="0" indent="0" algn="r" rtl="1">
              <a:buNone/>
            </a:pPr>
            <a:r>
              <a:rPr lang="he-IL" dirty="0"/>
              <a:t>התוכנית</a:t>
            </a:r>
            <a:r>
              <a:rPr lang="en-US" dirty="0"/>
              <a:t> </a:t>
            </a:r>
            <a:r>
              <a:rPr lang="he-IL" dirty="0"/>
              <a:t>תמשיך לקבל </a:t>
            </a:r>
            <a:r>
              <a:rPr lang="en-US" dirty="0"/>
              <a:t>PATH</a:t>
            </a:r>
            <a:r>
              <a:rPr lang="he-IL" dirty="0"/>
              <a:t> של תיקיות עד כאשר יתקבל הערך </a:t>
            </a:r>
            <a:r>
              <a:rPr lang="en-US" dirty="0"/>
              <a:t>0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61473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2F2A73-1B66-15B0-4E4F-16A79E2D7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5445" y="1825625"/>
            <a:ext cx="97611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3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תנאי </a:t>
            </a:r>
            <a:r>
              <a:rPr lang="en-US" dirty="0"/>
              <a:t>IF</a:t>
            </a:r>
            <a:r>
              <a:rPr lang="he-IL" dirty="0"/>
              <a:t>:</a:t>
            </a:r>
            <a:endParaRPr lang="en-US" dirty="0"/>
          </a:p>
          <a:p>
            <a:pPr lvl="1" algn="r" rtl="1"/>
            <a:r>
              <a:rPr lang="he-IL" dirty="0"/>
              <a:t>מסתיים תמיד במשפט </a:t>
            </a:r>
            <a:r>
              <a:rPr lang="en-US" dirty="0"/>
              <a:t>fi</a:t>
            </a:r>
            <a:r>
              <a:rPr lang="he-IL" dirty="0"/>
              <a:t> (שזה </a:t>
            </a:r>
            <a:r>
              <a:rPr lang="en-US" dirty="0"/>
              <a:t>if</a:t>
            </a:r>
            <a:r>
              <a:rPr lang="he-IL" dirty="0"/>
              <a:t> הפוך)</a:t>
            </a:r>
          </a:p>
          <a:p>
            <a:pPr lvl="1" algn="r" rtl="1"/>
            <a:r>
              <a:rPr lang="en-US" dirty="0" err="1"/>
              <a:t>elif</a:t>
            </a:r>
            <a:r>
              <a:rPr lang="he-IL" dirty="0"/>
              <a:t> – קיצור של </a:t>
            </a:r>
            <a:r>
              <a:rPr lang="en-US" dirty="0"/>
              <a:t>else if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C027A-9D84-4E1B-87AC-10AAB575C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2998132" cy="1367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C88E5-1D6E-44C2-8F4B-CADDEC3C7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0919"/>
            <a:ext cx="2232354" cy="25280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3FF1A1-3FE8-46E9-9D71-C92D3CC4E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2" y="3420919"/>
            <a:ext cx="4277222" cy="252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2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323"/>
            <a:ext cx="10515600" cy="4351338"/>
          </a:xfrm>
        </p:spPr>
        <p:txBody>
          <a:bodyPr/>
          <a:lstStyle/>
          <a:p>
            <a:pPr algn="r" rtl="1"/>
            <a:r>
              <a:rPr lang="he-IL" dirty="0"/>
              <a:t>תחביר תנאים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DBA760-6252-45CA-A427-F3883EF44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259158"/>
              </p:ext>
            </p:extLst>
          </p:nvPr>
        </p:nvGraphicFramePr>
        <p:xfrm>
          <a:off x="709637" y="1999826"/>
          <a:ext cx="8041389" cy="4663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78576">
                  <a:extLst>
                    <a:ext uri="{9D8B030D-6E8A-4147-A177-3AD203B41FA5}">
                      <a16:colId xmlns:a16="http://schemas.microsoft.com/office/drawing/2014/main" val="2325861777"/>
                    </a:ext>
                  </a:extLst>
                </a:gridCol>
                <a:gridCol w="1400608">
                  <a:extLst>
                    <a:ext uri="{9D8B030D-6E8A-4147-A177-3AD203B41FA5}">
                      <a16:colId xmlns:a16="http://schemas.microsoft.com/office/drawing/2014/main" val="1621966942"/>
                    </a:ext>
                  </a:extLst>
                </a:gridCol>
                <a:gridCol w="5062205">
                  <a:extLst>
                    <a:ext uri="{9D8B030D-6E8A-4147-A177-3AD203B41FA5}">
                      <a16:colId xmlns:a16="http://schemas.microsoft.com/office/drawing/2014/main" val="3490952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811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-</a:t>
                      </a:r>
                      <a:r>
                        <a:rPr lang="en-US" sz="2800" dirty="0" err="1"/>
                        <a:t>lt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[ “$X” -</a:t>
                      </a:r>
                      <a:r>
                        <a:rPr lang="en-US" sz="2800" dirty="0" err="1"/>
                        <a:t>lt</a:t>
                      </a:r>
                      <a:r>
                        <a:rPr lang="en-US" sz="2800" dirty="0"/>
                        <a:t> “0”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86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-</a:t>
                      </a:r>
                      <a:r>
                        <a:rPr lang="en-US" sz="2800" dirty="0" err="1"/>
                        <a:t>gt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[ “$X” -</a:t>
                      </a:r>
                      <a:r>
                        <a:rPr lang="en-US" sz="2800" dirty="0" err="1"/>
                        <a:t>gt</a:t>
                      </a:r>
                      <a:r>
                        <a:rPr lang="en-US" sz="2800" dirty="0"/>
                        <a:t> “0”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845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-le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</a:rPr>
                        <a:t>[ "$X" -le "0" ]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20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-</a:t>
                      </a:r>
                      <a:r>
                        <a:rPr lang="en-US" sz="2800" dirty="0" err="1"/>
                        <a:t>ge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</a:rPr>
                        <a:t>[ "$X" -</a:t>
                      </a:r>
                      <a:r>
                        <a:rPr lang="en-US" sz="2800" dirty="0" err="1">
                          <a:effectLst/>
                        </a:rPr>
                        <a:t>ge</a:t>
                      </a:r>
                      <a:r>
                        <a:rPr lang="en-US" sz="2800" dirty="0">
                          <a:effectLst/>
                        </a:rPr>
                        <a:t> "0" ]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896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</a:rPr>
                        <a:t>[ "$X" = "0" ]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29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</a:rPr>
                        <a:t>[ "$X" != "hello" ]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109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</a:rPr>
                        <a:t>[ "$X" -le "0" ] &amp;&amp; [ "$Y" -</a:t>
                      </a:r>
                      <a:r>
                        <a:rPr lang="en-US" sz="2800" dirty="0" err="1">
                          <a:effectLst/>
                        </a:rPr>
                        <a:t>ge</a:t>
                      </a:r>
                      <a:r>
                        <a:rPr lang="en-US" sz="2800" dirty="0">
                          <a:effectLst/>
                        </a:rPr>
                        <a:t> "0" ] 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633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</a:rPr>
                        <a:t>[ "$X" -le "0" ] || [ "$Y" -</a:t>
                      </a:r>
                      <a:r>
                        <a:rPr lang="en-US" sz="2800" dirty="0" err="1">
                          <a:effectLst/>
                        </a:rPr>
                        <a:t>ge</a:t>
                      </a:r>
                      <a:r>
                        <a:rPr lang="en-US" sz="2800" dirty="0">
                          <a:effectLst/>
                        </a:rPr>
                        <a:t> "0" ]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529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688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expr</a:t>
            </a:r>
            <a:r>
              <a:rPr lang="he-IL" dirty="0"/>
              <a:t>: חישוב ביטויים מתמטיים</a:t>
            </a:r>
          </a:p>
          <a:p>
            <a:pPr marL="0" indent="0" algn="l">
              <a:buNone/>
            </a:pPr>
            <a:r>
              <a:rPr lang="en-US" dirty="0"/>
              <a:t>expr expression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r" rtl="1">
              <a:buNone/>
            </a:pPr>
            <a:r>
              <a:rPr lang="he-IL" sz="2400" dirty="0"/>
              <a:t>כאשר נרצה להשתמש בכפל נשתמש בתו בריחה \</a:t>
            </a:r>
          </a:p>
          <a:p>
            <a:pPr marL="0" indent="0" algn="r" rtl="1">
              <a:buNone/>
            </a:pPr>
            <a:r>
              <a:rPr lang="he-IL" sz="2400" dirty="0"/>
              <a:t>כמו כן בסוגריים כדי לחשב ביטויים מורכבים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E9D41-7D55-40D1-8006-499E8B25C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988797"/>
            <a:ext cx="3153511" cy="318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20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094FB-8338-4A61-97A2-F80F50961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C9936-AB34-4184-AF03-359EDE97E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4"/>
            <a:ext cx="4317529" cy="18179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E6CBD7-2148-4328-9570-45BCDB148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001294"/>
            <a:ext cx="2460466" cy="141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7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20A49B-1BCA-445F-A68E-E82A9480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FF523AF-4B66-4FCD-8696-9D4EC50F4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דוגמא: הדפסת סכום סדרה חשבונית</a:t>
            </a:r>
          </a:p>
          <a:p>
            <a:pPr algn="r" rtl="1"/>
            <a:endParaRPr lang="he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86BFA5E-1543-4E35-9904-B22B89666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07" y="2462602"/>
            <a:ext cx="5413994" cy="2902213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D000EEB-31B6-4098-ACCB-2A69072AE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880" y="2462602"/>
            <a:ext cx="5560492" cy="272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32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כתוב סקריפט המקבל מהמשתמש מספר שלם ומדפיס את העצרת של המספר</a:t>
            </a:r>
          </a:p>
          <a:p>
            <a:pPr marL="0" indent="0" algn="l">
              <a:buNone/>
            </a:pPr>
            <a:r>
              <a:rPr lang="en-US" dirty="0"/>
              <a:t>5! = 1*2*3*4*5</a:t>
            </a:r>
            <a:endParaRPr lang="he-IL" dirty="0"/>
          </a:p>
          <a:p>
            <a:pPr algn="r" rtl="1"/>
            <a:r>
              <a:rPr lang="he-IL" dirty="0"/>
              <a:t>כתוב סקריפט </a:t>
            </a:r>
            <a:r>
              <a:rPr lang="en-US" dirty="0" err="1"/>
              <a:t>sortUp</a:t>
            </a:r>
            <a:r>
              <a:rPr lang="he-IL" dirty="0"/>
              <a:t> הקולט מהמשתמש שלושה מספרים ומדפיסה את הקטן ביותר (רמז:</a:t>
            </a:r>
            <a:r>
              <a:rPr lang="en-US" dirty="0"/>
              <a:t> </a:t>
            </a:r>
            <a:r>
              <a:rPr lang="he-IL" dirty="0"/>
              <a:t>&amp;&amp;)</a:t>
            </a:r>
          </a:p>
          <a:p>
            <a:pPr algn="r" rtl="1"/>
            <a:r>
              <a:rPr lang="he-IL" dirty="0"/>
              <a:t>כתבו סקריפט המקבל מהמשתמש מספר ומדפיס את סכום הספרות שלו</a:t>
            </a:r>
          </a:p>
          <a:p>
            <a:pPr algn="r" rtl="1"/>
            <a:r>
              <a:rPr lang="he-IL" dirty="0"/>
              <a:t>כתוב סקריפט בשם </a:t>
            </a:r>
            <a:r>
              <a:rPr lang="en-US" dirty="0"/>
              <a:t>perfect</a:t>
            </a:r>
            <a:r>
              <a:rPr lang="he-IL" dirty="0"/>
              <a:t> המקבל מהמשתמש מספר שלם ומדפיס את כל המספרים המושלמים החל מ 2 ועד למספר (כולל). (מספר מושלם הוא מספר ששווה לסכום כל מחלקיו. למשל </a:t>
            </a:r>
            <a:r>
              <a:rPr lang="en-US" dirty="0"/>
              <a:t>6=1+2+3</a:t>
            </a:r>
            <a:r>
              <a:rPr lang="he-IL" dirty="0"/>
              <a:t> הוא מספר מושלם)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49690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העברת פרמטרים: ניתן להעביר פרמטרים לסקריפט מיד עם הרצתו ללא צורך לקרוא קלט מהמשתמש.</a:t>
            </a:r>
          </a:p>
          <a:p>
            <a:pPr algn="r" rtl="1"/>
            <a:r>
              <a:rPr lang="he-IL" dirty="0"/>
              <a:t>למשל הפקודה </a:t>
            </a:r>
            <a:r>
              <a:rPr lang="en-US" dirty="0"/>
              <a:t>./file.sh hello world earth</a:t>
            </a:r>
            <a:r>
              <a:rPr lang="he-IL" dirty="0"/>
              <a:t> תעביר לסקריפט 3 פרמטרים בשם </a:t>
            </a:r>
            <a:r>
              <a:rPr lang="en-US" dirty="0"/>
              <a:t>hello, world, earth</a:t>
            </a:r>
            <a:endParaRPr lang="he-IL" dirty="0"/>
          </a:p>
          <a:p>
            <a:pPr algn="r" rtl="1"/>
            <a:r>
              <a:rPr lang="he-IL" dirty="0"/>
              <a:t>הגישה לפרמטרים היא ע"י הסימן $. למשל </a:t>
            </a:r>
            <a:r>
              <a:rPr lang="en-US" dirty="0"/>
              <a:t>$1</a:t>
            </a:r>
            <a:r>
              <a:rPr lang="he-IL" dirty="0"/>
              <a:t> ייתן את הפרמטר הראשון</a:t>
            </a:r>
            <a:endParaRPr lang="en-US" dirty="0"/>
          </a:p>
          <a:p>
            <a:pPr marL="0" indent="0" algn="r" rtl="1">
              <a:buNone/>
            </a:pPr>
            <a:r>
              <a:rPr lang="en-US" dirty="0"/>
              <a:t>$2</a:t>
            </a:r>
            <a:r>
              <a:rPr lang="he-IL" dirty="0"/>
              <a:t> את הפרמטר השני וכו’.</a:t>
            </a:r>
          </a:p>
          <a:p>
            <a:pPr marL="0" indent="0" algn="r" rtl="1">
              <a:buNone/>
            </a:pPr>
            <a:r>
              <a:rPr lang="en-US" dirty="0"/>
              <a:t>$0</a:t>
            </a:r>
            <a:r>
              <a:rPr lang="he-IL" dirty="0"/>
              <a:t> ייתן לנו את שם הקובץ של הסקריפט</a:t>
            </a:r>
          </a:p>
          <a:p>
            <a:pPr marL="0" indent="0" algn="r" rtl="1">
              <a:buNone/>
            </a:pPr>
            <a:r>
              <a:rPr lang="en-US" dirty="0"/>
              <a:t>$@</a:t>
            </a:r>
            <a:r>
              <a:rPr lang="he-IL" dirty="0"/>
              <a:t> ייתן לנו את רשימת כל הפרמטרים</a:t>
            </a:r>
          </a:p>
          <a:p>
            <a:pPr marL="0" indent="0" algn="r" rtl="1">
              <a:buNone/>
            </a:pPr>
            <a:r>
              <a:rPr lang="en-US" dirty="0"/>
              <a:t>$#</a:t>
            </a:r>
            <a:r>
              <a:rPr lang="he-IL" dirty="0"/>
              <a:t> הוא מספר הפרמטרים שנשלחו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626677-9E12-4F98-8519-C24C258D9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829"/>
            <a:ext cx="65" cy="2769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635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89C589-B517-455C-9D88-50376B475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11" y="1285977"/>
            <a:ext cx="5530161" cy="2611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94053-188E-4263-B6A0-E98A73E81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96" y="1544038"/>
            <a:ext cx="5842183" cy="525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68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9EC86-3553-1489-B951-F6EE216542A9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pic>
        <p:nvPicPr>
          <p:cNvPr id="11" name="מציין מיקום תוכן 7">
            <a:extLst>
              <a:ext uri="{FF2B5EF4-FFF2-40B4-BE49-F238E27FC236}">
                <a16:creationId xmlns:a16="http://schemas.microsoft.com/office/drawing/2014/main" id="{0F9236C7-984A-219E-3DB9-7741BA852D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645"/>
          <a:stretch/>
        </p:blipFill>
        <p:spPr>
          <a:xfrm>
            <a:off x="838200" y="2684462"/>
            <a:ext cx="10515600" cy="1325563"/>
          </a:xfrm>
          <a:prstGeom prst="rect">
            <a:avLst/>
          </a:prstGeom>
        </p:spPr>
      </p:pic>
      <p:sp>
        <p:nvSpPr>
          <p:cNvPr id="13" name="מציין מיקום תוכן 12">
            <a:extLst>
              <a:ext uri="{FF2B5EF4-FFF2-40B4-BE49-F238E27FC236}">
                <a16:creationId xmlns:a16="http://schemas.microsoft.com/office/drawing/2014/main" id="{06FEF2AD-9CB7-8DA0-6B00-8A64267D0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400" dirty="0"/>
              <a:t>הסקריפט מקבל נתיב של תיקיה כפרמטר ב </a:t>
            </a:r>
            <a:r>
              <a:rPr lang="en-US" sz="2400" dirty="0"/>
              <a:t>$1</a:t>
            </a:r>
            <a:r>
              <a:rPr lang="he-IL" sz="2400" dirty="0"/>
              <a:t>, וסיומת קובץ כפרמטר ב </a:t>
            </a:r>
            <a:r>
              <a:rPr lang="en-US" sz="2400" dirty="0"/>
              <a:t>$2</a:t>
            </a:r>
            <a:r>
              <a:rPr lang="he-IL" sz="2400" dirty="0"/>
              <a:t>. הסקריפט מגבה רק קבצים מהתיקייה עם הסיומת המתאימה, שלהם הרשאות כתיבה למשתמש </a:t>
            </a:r>
            <a:r>
              <a:rPr lang="en-US" sz="2400" dirty="0"/>
              <a:t>other</a:t>
            </a:r>
            <a:r>
              <a:rPr lang="he-IL" sz="2400" dirty="0"/>
              <a:t>.</a:t>
            </a:r>
            <a:endParaRPr lang="en-IL" sz="2400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EFC8211D-BDC9-28E6-E1F3-1A2946643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53457"/>
            <a:ext cx="6485313" cy="217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43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9EC86-3553-1489-B951-F6EE216542A9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13" name="מציין מיקום תוכן 12">
            <a:extLst>
              <a:ext uri="{FF2B5EF4-FFF2-40B4-BE49-F238E27FC236}">
                <a16:creationId xmlns:a16="http://schemas.microsoft.com/office/drawing/2014/main" id="{06FEF2AD-9CB7-8DA0-6B00-8A64267D0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400" dirty="0"/>
              <a:t>הסקריפט מקבל מספר שלם כפרמטר ב </a:t>
            </a:r>
            <a:r>
              <a:rPr lang="en-US" sz="2400" dirty="0"/>
              <a:t>$1</a:t>
            </a:r>
            <a:r>
              <a:rPr lang="he-IL" sz="2400" dirty="0"/>
              <a:t>, מחרוזת ב </a:t>
            </a:r>
            <a:r>
              <a:rPr lang="en-US" sz="2400" dirty="0"/>
              <a:t>$2</a:t>
            </a:r>
            <a:r>
              <a:rPr lang="he-IL" sz="2400" dirty="0"/>
              <a:t> ותיקייה ב </a:t>
            </a:r>
            <a:r>
              <a:rPr lang="en-US" sz="2400" dirty="0"/>
              <a:t>$3</a:t>
            </a:r>
            <a:r>
              <a:rPr lang="he-IL" sz="2400" dirty="0"/>
              <a:t>. הסקריפט יוצר קבצים ככמות הפרמטר הראשון, עם הטקסט שהתקבל, בתוך התיקייה שהתקבלה.</a:t>
            </a:r>
            <a:endParaRPr lang="en-IL" sz="2400" dirty="0"/>
          </a:p>
        </p:txBody>
      </p:sp>
      <p:pic>
        <p:nvPicPr>
          <p:cNvPr id="3" name="תמונה 2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2BB99989-338F-9340-F1C7-6F381C473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"/>
          <a:stretch/>
        </p:blipFill>
        <p:spPr>
          <a:xfrm>
            <a:off x="203551" y="3429000"/>
            <a:ext cx="10973626" cy="3311120"/>
          </a:xfrm>
          <a:prstGeom prst="rect">
            <a:avLst/>
          </a:prstGeom>
        </p:spPr>
      </p:pic>
      <p:sp>
        <p:nvSpPr>
          <p:cNvPr id="4" name="מציין מיקום תוכן 12">
            <a:extLst>
              <a:ext uri="{FF2B5EF4-FFF2-40B4-BE49-F238E27FC236}">
                <a16:creationId xmlns:a16="http://schemas.microsoft.com/office/drawing/2014/main" id="{C5B6C94B-EC22-08AA-E48F-187298F7379D}"/>
              </a:ext>
            </a:extLst>
          </p:cNvPr>
          <p:cNvSpPr txBox="1">
            <a:spLocks/>
          </p:cNvSpPr>
          <p:nvPr/>
        </p:nvSpPr>
        <p:spPr>
          <a:xfrm>
            <a:off x="285205" y="18406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dirty="0"/>
              <a:t>./bla.sh 4 “hungry” /home/</a:t>
            </a:r>
            <a:r>
              <a:rPr lang="en-US" sz="2400" dirty="0" err="1"/>
              <a:t>moshe</a:t>
            </a:r>
            <a:r>
              <a:rPr lang="en-US" sz="2400" dirty="0"/>
              <a:t>/Test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3302183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CEB-9A77-4ED2-BCA8-A16D72E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</a:t>
            </a:r>
            <a:br>
              <a:rPr lang="en-US" dirty="0"/>
            </a:br>
            <a:r>
              <a:rPr lang="en-US" sz="2800" dirty="0"/>
              <a:t>shell scripts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3C0-A13D-49AE-82AA-757E57767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b="1" dirty="0"/>
              <a:t>תרגיל</a:t>
            </a:r>
            <a:r>
              <a:rPr lang="he-IL" dirty="0"/>
              <a:t>: כתוב סקריפט שמקבל מהמשתמש רשימה של 3 תיקיות שונות </a:t>
            </a:r>
            <a:r>
              <a:rPr lang="he-IL" b="1" dirty="0"/>
              <a:t>כפרמטרים בשורת ההרצה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הסקריפט מעתיק את עצמו לכל אחת משלושת </a:t>
            </a:r>
            <a:r>
              <a:rPr lang="he-IL" dirty="0" err="1"/>
              <a:t>התקיות</a:t>
            </a:r>
            <a:r>
              <a:rPr lang="he-IL" dirty="0"/>
              <a:t> הללו (רמז </a:t>
            </a:r>
            <a:r>
              <a:rPr lang="en-US" dirty="0"/>
              <a:t>$0</a:t>
            </a:r>
            <a:r>
              <a:rPr lang="he-IL" dirty="0"/>
              <a:t>), לאחר מכן הסקריפט מציג בכל תיקיה את הקבצים והתיקיות שבה.</a:t>
            </a:r>
          </a:p>
          <a:p>
            <a:pPr algn="r" rtl="1"/>
            <a:r>
              <a:rPr lang="he-IL" b="1" dirty="0"/>
              <a:t>תרגיל</a:t>
            </a:r>
            <a:r>
              <a:rPr lang="he-IL" dirty="0"/>
              <a:t>: כתוב סקריפט שמקבל מהמשתמש רשימה של תיקיות. הסקריפט מוחק את כל הקבצים התיקיות הללו ולאחר מכן יוצר את התיקייה ריקה.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34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Pipes</a:t>
            </a:r>
            <a:r>
              <a:rPr lang="he-IL" dirty="0"/>
              <a:t> </a:t>
            </a:r>
            <a:r>
              <a:rPr lang="en-US" dirty="0"/>
              <a:t>&amp; Redirects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4AEE-D989-4457-9BDF-FF61A0159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411" y="1817424"/>
            <a:ext cx="10515600" cy="4351338"/>
          </a:xfrm>
        </p:spPr>
        <p:txBody>
          <a:bodyPr/>
          <a:lstStyle/>
          <a:p>
            <a:pPr algn="r" rtl="1"/>
            <a:r>
              <a:rPr lang="he-IL" b="1" dirty="0"/>
              <a:t>תרגיל</a:t>
            </a:r>
            <a:r>
              <a:rPr lang="he-IL" dirty="0"/>
              <a:t>: כתוב קובץ סקריפט שמקבל ע"י פרמטר עם הקובץ (לא בעזרת </a:t>
            </a:r>
            <a:r>
              <a:rPr lang="en-US" dirty="0"/>
              <a:t>READ</a:t>
            </a:r>
            <a:r>
              <a:rPr lang="he-IL" dirty="0"/>
              <a:t>) נתיב של תיקיה. הסקריפט ידפיס את כל הקבצים והתיקיות בתיקיה הזו ממוינים בסדר הפוך! (לפי שם הקובץ)</a:t>
            </a:r>
          </a:p>
          <a:p>
            <a:pPr marL="0" indent="0" algn="r" rtl="1">
              <a:buNone/>
            </a:pPr>
            <a:r>
              <a:rPr lang="he-IL" dirty="0"/>
              <a:t>לאחר מכן, הסקריפט ידפיס בצורה מפורטת את כל </a:t>
            </a:r>
            <a:r>
              <a:rPr lang="he-IL" b="1" dirty="0"/>
              <a:t>הקבצים </a:t>
            </a:r>
            <a:r>
              <a:rPr lang="he-IL" dirty="0"/>
              <a:t>בלבד, שיש להם הרשאת קריאה לבעל </a:t>
            </a:r>
            <a:r>
              <a:rPr lang="he-IL" dirty="0" err="1"/>
              <a:t>הקובץ,כולל</a:t>
            </a:r>
            <a:r>
              <a:rPr lang="he-IL" dirty="0"/>
              <a:t> המידע </a:t>
            </a:r>
            <a:r>
              <a:rPr lang="he-IL" dirty="0" err="1"/>
              <a:t>עלהים</a:t>
            </a:r>
            <a:r>
              <a:rPr lang="he-IL" dirty="0"/>
              <a:t> הקיימים בתיקיה הזו, </a:t>
            </a:r>
            <a:r>
              <a:rPr lang="he-IL" b="1" dirty="0"/>
              <a:t>ממוינות</a:t>
            </a:r>
            <a:r>
              <a:rPr lang="he-IL" dirty="0"/>
              <a:t> לפי גודל הקובץ (רמז, הפקודה </a:t>
            </a:r>
            <a:r>
              <a:rPr lang="en-US" dirty="0"/>
              <a:t>grep</a:t>
            </a:r>
            <a:r>
              <a:rPr lang="he-IL" dirty="0"/>
              <a:t> יודעת לעבוד עם ביטויים רגולריים, כך שתחילת שורה מסמנים בתו </a:t>
            </a:r>
            <a:r>
              <a:rPr lang="en-US" dirty="0"/>
              <a:t>^</a:t>
            </a:r>
            <a:r>
              <a:rPr lang="he-IL" dirty="0"/>
              <a:t>)</a:t>
            </a:r>
          </a:p>
          <a:p>
            <a:pPr marL="0" indent="0" algn="r" rtl="1">
              <a:buNone/>
            </a:pPr>
            <a:r>
              <a:rPr lang="he-IL" dirty="0"/>
              <a:t>לאחר מכן הסקריפט ידפיס </a:t>
            </a:r>
            <a:r>
              <a:rPr lang="he-IL" b="1" dirty="0"/>
              <a:t>כמה</a:t>
            </a:r>
            <a:r>
              <a:rPr lang="he-IL" dirty="0"/>
              <a:t> קבצים או תיקיות יש בתיקיה שיש להם </a:t>
            </a:r>
            <a:r>
              <a:rPr lang="en-US" dirty="0"/>
              <a:t>ACL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רמז: גם </a:t>
            </a:r>
            <a:r>
              <a:rPr lang="en-US" dirty="0"/>
              <a:t>grep</a:t>
            </a:r>
            <a:r>
              <a:rPr lang="he-IL" dirty="0"/>
              <a:t> , עוד רמז: </a:t>
            </a:r>
            <a:r>
              <a:rPr lang="en-US" dirty="0" err="1"/>
              <a:t>wc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57095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CB9-F76B-4209-B42E-FAEF509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Pipes</a:t>
            </a:r>
            <a:r>
              <a:rPr lang="he-IL" dirty="0"/>
              <a:t> </a:t>
            </a:r>
            <a:r>
              <a:rPr lang="en-US" dirty="0"/>
              <a:t>&amp; Redirects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D4AEE-D989-4457-9BDF-FF61A015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b="1" dirty="0"/>
              <a:t>תרגיל</a:t>
            </a:r>
            <a:r>
              <a:rPr lang="he-IL" dirty="0"/>
              <a:t>: כתוב סקריפט שמקבל מהמשתמש נתיב של תיקייה, הסקריפט ידפיס את כל הקבצים והתיקיות בתיקיה הזו לתוך קובץ, ששמו התקבל כפרמטר שני לסקריפט.</a:t>
            </a:r>
          </a:p>
          <a:p>
            <a:pPr algn="r" rtl="1"/>
            <a:r>
              <a:rPr lang="he-IL" dirty="0"/>
              <a:t>לאחר מכן, הסקריפט ידפיס בעזרת הקובץ, את הקבצים והתיקיות שמכילים את רצף התווים </a:t>
            </a:r>
            <a:r>
              <a:rPr lang="en-US" dirty="0" err="1"/>
              <a:t>abc</a:t>
            </a:r>
            <a:r>
              <a:rPr lang="he-IL" dirty="0"/>
              <a:t>, ממוינים בצורה הפוכה.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568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1352</Words>
  <Application>Microsoft Office PowerPoint</Application>
  <PresentationFormat>מסך רחב</PresentationFormat>
  <Paragraphs>192</Paragraphs>
  <Slides>35</Slides>
  <Notes>2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UNIX</vt:lpstr>
      <vt:lpstr>Unix shell scripts</vt:lpstr>
      <vt:lpstr>gedit</vt:lpstr>
      <vt:lpstr>Unix shell scripts</vt:lpstr>
      <vt:lpstr>Unix shell scripts</vt:lpstr>
      <vt:lpstr>Unix shell scripts</vt:lpstr>
      <vt:lpstr>Unix shell scripts</vt:lpstr>
      <vt:lpstr>Unix shell scripts</vt:lpstr>
      <vt:lpstr>Unix shell scripts - Variables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 shell scripts</vt:lpstr>
      <vt:lpstr>UNIX</vt:lpstr>
      <vt:lpstr>Unix shell scripts</vt:lpstr>
      <vt:lpstr>Unix shell scripts</vt:lpstr>
      <vt:lpstr>Unix shell scripts</vt:lpstr>
      <vt:lpstr>מצגת של PowerPoint‏</vt:lpstr>
      <vt:lpstr>מצגת של PowerPoint‏</vt:lpstr>
      <vt:lpstr>Unix shell scripts</vt:lpstr>
      <vt:lpstr>Pipes &amp; Redirects</vt:lpstr>
      <vt:lpstr>Pipes &amp; Redirects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</dc:title>
  <dc:creator>Yechezkel</dc:creator>
  <cp:lastModifiedBy>גיא יחזקאל</cp:lastModifiedBy>
  <cp:revision>134</cp:revision>
  <dcterms:created xsi:type="dcterms:W3CDTF">2017-09-24T13:50:15Z</dcterms:created>
  <dcterms:modified xsi:type="dcterms:W3CDTF">2025-11-03T09:40:15Z</dcterms:modified>
</cp:coreProperties>
</file>