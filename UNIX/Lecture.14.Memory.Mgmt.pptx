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310" r:id="rId41"/>
    <p:sldId id="295" r:id="rId42"/>
    <p:sldId id="296" r:id="rId43"/>
    <p:sldId id="297" r:id="rId44"/>
    <p:sldId id="298" r:id="rId45"/>
    <p:sldId id="299" r:id="rId46"/>
    <p:sldId id="300" r:id="rId47"/>
    <p:sldId id="302" r:id="rId48"/>
    <p:sldId id="303" r:id="rId49"/>
    <p:sldId id="304" r:id="rId50"/>
    <p:sldId id="308" r:id="rId51"/>
    <p:sldId id="305" r:id="rId52"/>
    <p:sldId id="309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D6BAE-CF6A-4224-8E6D-881A71416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048DE-F8B9-4E0C-9DAD-26FF3D237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D1A85-8E5E-4ACD-A1AA-71DADB82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2B88-561D-4265-B59B-01BB5CFA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5FC25-394D-4F28-9A88-D2343A28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1A28-4DA6-4961-85C4-6E2210DE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6699D-FDCE-4D30-A1C1-0F0232BE0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6A7F3-823D-4D76-A825-2F63BE50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48217-C02D-4AAB-9169-DC8D5B49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AF546-9D2F-45B8-8755-C77EB585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6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73F5-14BE-4DF0-B860-C23BECBA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AC4F9-6FAA-49D1-98F1-4A3061334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00CBD-4E2A-4349-B05D-A66D6737A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FE19-84D4-41B5-A6C6-2713705D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10DD1-958C-497B-8170-45B8AAFF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49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B968-384B-47D7-8147-297AA9C2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07AB-9A53-4435-A814-E83918EC1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7D872-A96F-4E44-B2C7-7D8E37609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8DCD1-610C-47D5-B2EA-6E7B7956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7BCBF-38CB-4A09-8881-E7FD498E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ACAFA-DE38-4485-9F19-CE748AC8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0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D8AE-E625-4993-901E-DD397B1BF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E00AF-EDEB-4727-B16A-51AB39976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C1955-3012-4425-A018-B248D2DBF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77DC0-0F95-4ADE-8FE1-4C13A9FB0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93958-B6C0-49C5-A848-9F7EC0FB1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CDC5E-2CE4-4ADA-AA6A-018D2591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25AF9-704D-4B67-B697-9AAA706E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1A487-3294-45EE-B76F-C0699302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81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F9CC-2EE1-4F55-AF7D-F368C3554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5646B-1C20-44B0-BC54-A81B524E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41994-5AB9-46FE-AF80-22ED610D9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82733-F1DD-4C30-9659-F3F6B8D0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98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C9958-6588-4275-9439-C1C713E67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3F912-30E3-48C5-BD24-C0A26DA0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D17EE-E7DC-4D88-AC94-42DAE789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3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5488-C511-4CF3-91EA-87921003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AA499-7760-4B62-99E9-C226912DA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19D5A-F80C-46CE-992B-60362C512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750CF-EA2C-4C10-BF15-CBA470AF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08FF4-3419-4A33-BAD2-AE306AC6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9930-621F-4553-A326-B6C30A66B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6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6858-8888-465A-BF73-0DD9EE33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A6BA7-C7CA-4FE8-8E4C-9C6DFFB25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89FE4-6B25-4A56-91FF-7440F22C8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9CB87-2EF2-4A1D-9693-3CDA483A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CE397-D312-4732-ABB5-45E3F5BD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95FAF-972F-4412-8E11-1F9E50FA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5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0214-846A-47C2-A5BA-9E2BFEE5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9D171-8724-4AD5-97DD-55408F9DB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8B56-ECE1-4E6A-809F-219B41FA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0AF74-B1EC-423F-8D6C-D80572E7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B61A7-304B-4499-AD7F-554E7A75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2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D7A7F-B66E-4F22-AAFB-3213CA533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C34FB-3D7E-4714-A794-69A30F61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FDF5B-BE95-48A6-8BDC-70BD916A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C4153-721C-44B0-9585-F47FF4AB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E4012-50D6-4397-AC87-6027E3DA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8A7A9D-7FAA-4E63-BD4E-BEAE67B7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63E33-47D6-4A4F-A436-6A935FDAF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9D1F8-A70D-4220-B0F9-F4B771E44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EDC82-56B4-45B7-933A-FD5CB08D463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A617A-9BAB-4D65-9A19-3FDB1E273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E8F41-B276-47B7-9162-BD2DABE8B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32642-F6CB-4CB9-B6A4-F0C179D25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3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3A06A-E0C9-44FE-956D-5E2F870758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53AD9-0FA7-45EB-A7D6-8FF08AAF25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ניהול זיכרון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904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89ED3-E8C9-4820-A577-DCB11B80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Background</a:t>
            </a:r>
          </a:p>
          <a:p>
            <a:pPr algn="l"/>
            <a:r>
              <a:rPr lang="en-US" dirty="0"/>
              <a:t>Swapping</a:t>
            </a:r>
          </a:p>
          <a:p>
            <a:pPr algn="l"/>
            <a:r>
              <a:rPr lang="en-US" dirty="0"/>
              <a:t>Continuous Memory Allocation</a:t>
            </a:r>
          </a:p>
          <a:p>
            <a:pPr algn="l"/>
            <a:r>
              <a:rPr lang="en-US" dirty="0"/>
              <a:t>Segmentation</a:t>
            </a:r>
          </a:p>
          <a:p>
            <a:pPr algn="l"/>
            <a:r>
              <a:rPr lang="en-US" dirty="0"/>
              <a:t>Paging</a:t>
            </a:r>
          </a:p>
        </p:txBody>
      </p:sp>
    </p:spTree>
    <p:extLst>
      <p:ext uri="{BB962C8B-B14F-4D97-AF65-F5344CB8AC3E}">
        <p14:creationId xmlns:p14="http://schemas.microsoft.com/office/powerpoint/2010/main" val="942941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he-IL" sz="2800" dirty="0"/>
              <a:t>מטרות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89ED3-E8C9-4820-A577-DCB11B80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לספק הסבר מפורט על מגוון דרכים לארגון זכרון החומרה</a:t>
            </a:r>
          </a:p>
          <a:p>
            <a:pPr algn="r" rtl="1"/>
            <a:r>
              <a:rPr lang="he-IL" dirty="0"/>
              <a:t>לפרט מגוון טכניקות לניהול הזיכרון כולל דפדוף וסגמנטציה</a:t>
            </a:r>
          </a:p>
          <a:p>
            <a:pPr algn="r" rtl="1"/>
            <a:endParaRPr lang="he-IL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75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he-IL" sz="2800" dirty="0"/>
              <a:t>רקע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89ED3-E8C9-4820-A577-DCB11B80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תוכנית חייבת להיטען מהדיסק לזיכרון ולהיות משוייכת לתהליך על מנת לרוץ</a:t>
            </a:r>
          </a:p>
          <a:p>
            <a:pPr algn="r" rtl="1"/>
            <a:r>
              <a:rPr lang="he-IL" dirty="0"/>
              <a:t>הזכרון הראשי והרגיסטרים הם האחסון היחיד אליו המעבד יכול לגשת בצורה ישירה</a:t>
            </a:r>
            <a:endParaRPr lang="en-US" dirty="0"/>
          </a:p>
          <a:p>
            <a:pPr algn="r" rtl="1"/>
            <a:r>
              <a:rPr lang="he-IL" dirty="0"/>
              <a:t>גישה לרגיסטר היא יחידת שעון אחת (או פחות)</a:t>
            </a:r>
          </a:p>
          <a:p>
            <a:pPr algn="r" rtl="1"/>
            <a:r>
              <a:rPr lang="he-IL" dirty="0"/>
              <a:t>גישה לזיכרון הראשי יכולה לקחת כמה מחזורים</a:t>
            </a:r>
          </a:p>
          <a:p>
            <a:pPr algn="r" rtl="1"/>
            <a:r>
              <a:rPr lang="he-IL" dirty="0"/>
              <a:t>זכרון </a:t>
            </a:r>
            <a:r>
              <a:rPr lang="he-IL" b="1" dirty="0"/>
              <a:t>מטמון</a:t>
            </a:r>
            <a:r>
              <a:rPr lang="he-IL" dirty="0"/>
              <a:t> יושב בין הזכרון הראשי והרגיסטרים של המעבד</a:t>
            </a:r>
          </a:p>
          <a:p>
            <a:pPr algn="r" rtl="1"/>
            <a:r>
              <a:rPr lang="he-IL" b="1" dirty="0"/>
              <a:t>הגנה</a:t>
            </a:r>
            <a:r>
              <a:rPr lang="he-IL" dirty="0"/>
              <a:t> על הזכרון נדרשת כדי להבטיח תפקוד נכון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02760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400" dirty="0"/>
              <a:t>זוג נתונים – </a:t>
            </a:r>
            <a:r>
              <a:rPr lang="en-US" sz="2400" dirty="0"/>
              <a:t>base</a:t>
            </a:r>
            <a:r>
              <a:rPr lang="he-IL" sz="2400" dirty="0"/>
              <a:t> ו </a:t>
            </a:r>
            <a:r>
              <a:rPr lang="en-US" sz="2400" dirty="0"/>
              <a:t>limit</a:t>
            </a:r>
            <a:r>
              <a:rPr lang="he-IL" sz="2400" dirty="0"/>
              <a:t>, מגדירים את מרחב הכתובות הלוגיות</a:t>
            </a:r>
          </a:p>
          <a:p>
            <a:pPr algn="r" rtl="1"/>
            <a:r>
              <a:rPr lang="he-IL" sz="2400" dirty="0"/>
              <a:t>המעבד חייב לבדוק כל גישה לזכרון ב </a:t>
            </a:r>
            <a:r>
              <a:rPr lang="en-US" sz="2400" dirty="0"/>
              <a:t>user mode</a:t>
            </a:r>
            <a:r>
              <a:rPr lang="he-IL" sz="2400" dirty="0"/>
              <a:t> היא בין ה </a:t>
            </a:r>
            <a:r>
              <a:rPr lang="en-US" sz="2400" dirty="0"/>
              <a:t>base</a:t>
            </a:r>
            <a:r>
              <a:rPr lang="he-IL" sz="2400" dirty="0"/>
              <a:t> ו </a:t>
            </a:r>
            <a:r>
              <a:rPr lang="en-US" sz="2400" dirty="0"/>
              <a:t>limit</a:t>
            </a:r>
            <a:r>
              <a:rPr lang="he-IL" sz="2400" dirty="0"/>
              <a:t> של התהליך</a:t>
            </a:r>
            <a:endParaRPr lang="en-US" sz="2400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AB459219-4BE2-4DF0-8A1A-4A1638AB8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462" y="2755421"/>
            <a:ext cx="3685076" cy="40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864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900DA2A-44A6-48CB-854E-B13FEB36B0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781" b="-12781"/>
          <a:stretch>
            <a:fillRect/>
          </a:stretch>
        </p:blipFill>
        <p:spPr bwMode="auto">
          <a:xfrm>
            <a:off x="1583231" y="1690688"/>
            <a:ext cx="9025538" cy="4979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-12781" b="-1278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201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741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Memory Management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834C6A5-90E3-4A34-89E7-F196244606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804" y="949255"/>
            <a:ext cx="3184547" cy="5908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747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he-IL" sz="2800" dirty="0"/>
              <a:t>כתובת לוגית / פיזית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מיפוי כתובת לוגית למספר כתובות פיזיות</a:t>
            </a:r>
          </a:p>
          <a:p>
            <a:pPr lvl="1" algn="r" rtl="1"/>
            <a:r>
              <a:rPr lang="he-IL" dirty="0"/>
              <a:t>כתובת לוגית – מיוצרת על ידי המעבד </a:t>
            </a:r>
            <a:r>
              <a:rPr lang="en-US" dirty="0"/>
              <a:t>(Virtual Address)</a:t>
            </a:r>
          </a:p>
          <a:p>
            <a:pPr lvl="1" algn="r" rtl="1"/>
            <a:r>
              <a:rPr lang="he-IL" dirty="0"/>
              <a:t>כתובת פיזית – הכתובת שנמצאת בזכרון</a:t>
            </a:r>
          </a:p>
          <a:p>
            <a:pPr algn="r" rtl="1"/>
            <a:r>
              <a:rPr lang="he-IL" dirty="0"/>
              <a:t>כתובות פיזיות ולוגיות הן זהות בזמן קומפילציה ובזמן טעינת התוכנית</a:t>
            </a:r>
          </a:p>
          <a:p>
            <a:pPr algn="r" rtl="1"/>
            <a:r>
              <a:rPr lang="he-IL" dirty="0"/>
              <a:t>כתובות פיזיות ולוגיות הן שונות בזמן ההרצה</a:t>
            </a:r>
          </a:p>
          <a:p>
            <a:pPr algn="r" rtl="1"/>
            <a:r>
              <a:rPr lang="he-IL" dirty="0"/>
              <a:t>מרחב כתובות לוגיות הוא אוסף כל הכתובות הלוגיות שמיוצרות ע"י התוכנית</a:t>
            </a:r>
          </a:p>
          <a:p>
            <a:pPr algn="r" rtl="1"/>
            <a:r>
              <a:rPr lang="he-IL" dirty="0"/>
              <a:t>מרחב כתובות פיזיות הוא אוסף כל הכתובות הפיזיות שמיוצרות ע"י התוכנית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48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Memory management unit (MMU)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Memory management unit (MMU)</a:t>
            </a:r>
            <a:r>
              <a:rPr lang="he-IL" dirty="0"/>
              <a:t> – הוא רכיב חומרה שממפה בזמן ריצה כתובות לוגיות לפיזיות</a:t>
            </a:r>
          </a:p>
          <a:p>
            <a:pPr algn="r" rtl="1"/>
            <a:r>
              <a:rPr lang="he-IL" dirty="0"/>
              <a:t>ישנן מספר שיטות, שילמדו בפרק הזה</a:t>
            </a:r>
          </a:p>
          <a:p>
            <a:pPr algn="r" rtl="1"/>
            <a:r>
              <a:rPr lang="he-IL" dirty="0"/>
              <a:t>אחת השיטות, הוספת ערך לכל כתובת המיוצרת על ידי התהליך בזמן הגישה לזכרון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תוכנית המשתמש עובדת רק עם כתובות לוגיות, היא לעולם לא תעבוד עם כתובות פיזיות</a:t>
            </a:r>
          </a:p>
          <a:p>
            <a:pPr lvl="1" algn="r" rtl="1"/>
            <a:r>
              <a:rPr lang="he-IL" dirty="0"/>
              <a:t>מיפוי מתבצע בזמן ריצה כאשר מתבצעת גישה לזכרון</a:t>
            </a:r>
          </a:p>
        </p:txBody>
      </p:sp>
    </p:spTree>
    <p:extLst>
      <p:ext uri="{BB962C8B-B14F-4D97-AF65-F5344CB8AC3E}">
        <p14:creationId xmlns:p14="http://schemas.microsoft.com/office/powerpoint/2010/main" val="25689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D5F2EF4-3235-43F1-87CD-3DE193A656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100" y="1825625"/>
            <a:ext cx="59218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2347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Swapping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dirty="0"/>
              <a:t>תהליך יכול לצאת באופן זמני מהזכרון לאחסון משני, ולחזור שוב לזיכרון להמשך הרצה</a:t>
            </a:r>
          </a:p>
          <a:p>
            <a:pPr algn="r" rtl="1"/>
            <a:r>
              <a:rPr lang="he-IL" dirty="0"/>
              <a:t>סך כל מרחב הכתובות הפיזי של תהליך יכול לעבור את הזכרון הפיזי</a:t>
            </a:r>
          </a:p>
          <a:p>
            <a:pPr algn="r" rtl="1"/>
            <a:r>
              <a:rPr lang="he-IL" b="1" dirty="0"/>
              <a:t>אחסון משני</a:t>
            </a:r>
            <a:r>
              <a:rPr lang="he-IL" dirty="0"/>
              <a:t> – דיסק גדול מספיק כדי להכיל עותקים של הזכרון הראשי עבור המשתמשים, צריך לקבל גישה ישירה לזכרון</a:t>
            </a:r>
          </a:p>
          <a:p>
            <a:pPr algn="r" rtl="1"/>
            <a:r>
              <a:rPr lang="he-IL" dirty="0"/>
              <a:t>תהליך עם עדיפות נמוכה יוצא מהזכרון </a:t>
            </a:r>
            <a:r>
              <a:rPr lang="en-US" dirty="0"/>
              <a:t>(swap out)</a:t>
            </a:r>
            <a:r>
              <a:rPr lang="he-IL" dirty="0"/>
              <a:t> על מנת שתהליך עם עדיפות גבוהה ייכנס לזכרון </a:t>
            </a:r>
            <a:r>
              <a:rPr lang="en-US" dirty="0"/>
              <a:t>(swap in)</a:t>
            </a:r>
            <a:r>
              <a:rPr lang="he-IL" dirty="0"/>
              <a:t> לצורך הרצה</a:t>
            </a:r>
          </a:p>
          <a:p>
            <a:pPr algn="r" rtl="1"/>
            <a:r>
              <a:rPr lang="he-IL" dirty="0"/>
              <a:t>רוב זמן ההחלפה הוא ההעברה מיחידת אחסון אחת לשניה</a:t>
            </a:r>
          </a:p>
          <a:p>
            <a:pPr algn="r" rtl="1"/>
            <a:r>
              <a:rPr lang="he-IL" dirty="0"/>
              <a:t>מערכת ההפעלה מתחזקת </a:t>
            </a:r>
            <a:r>
              <a:rPr lang="en-US" dirty="0"/>
              <a:t>ready queue</a:t>
            </a:r>
            <a:r>
              <a:rPr lang="he-IL" dirty="0"/>
              <a:t> עבור תהליכים המוכנים לרוץ שעבורים קיים זכרון שמור באחסון המשני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96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Swapping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9A21D0-E555-4950-BE5E-6EAD9756E0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481" y="1690688"/>
            <a:ext cx="6417037" cy="4801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8402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Swapping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אם התהליך הבא שצריך לרוץ במעבד לא נמצא בזכרון הראשי, </a:t>
            </a:r>
            <a:r>
              <a:rPr lang="he-IL" dirty="0" err="1"/>
              <a:t>והזכרון</a:t>
            </a:r>
            <a:r>
              <a:rPr lang="he-IL" dirty="0"/>
              <a:t> הראשי מלא, צריך לבצע </a:t>
            </a:r>
            <a:r>
              <a:rPr lang="en-US" dirty="0"/>
              <a:t>swap out</a:t>
            </a:r>
            <a:r>
              <a:rPr lang="he-IL" dirty="0"/>
              <a:t> לתהליך מסויים ואז לבצע </a:t>
            </a:r>
            <a:r>
              <a:rPr lang="en-US" dirty="0"/>
              <a:t>swap in</a:t>
            </a:r>
            <a:r>
              <a:rPr lang="he-IL" dirty="0"/>
              <a:t> לתהליך הרצוי</a:t>
            </a:r>
          </a:p>
          <a:p>
            <a:pPr algn="r" rtl="1"/>
            <a:r>
              <a:rPr lang="he-IL" dirty="0"/>
              <a:t>זמן </a:t>
            </a:r>
            <a:r>
              <a:rPr lang="en-US" dirty="0"/>
              <a:t>context switch</a:t>
            </a:r>
            <a:r>
              <a:rPr lang="he-IL" dirty="0"/>
              <a:t> עולה משמעותית</a:t>
            </a:r>
          </a:p>
          <a:p>
            <a:pPr algn="r" rtl="1"/>
            <a:r>
              <a:rPr lang="he-IL" dirty="0"/>
              <a:t>תהליך </a:t>
            </a:r>
            <a:r>
              <a:rPr lang="en-US" dirty="0"/>
              <a:t>100MB</a:t>
            </a:r>
            <a:r>
              <a:rPr lang="he-IL" dirty="0"/>
              <a:t> שעובר ל </a:t>
            </a:r>
            <a:r>
              <a:rPr lang="en-US" dirty="0"/>
              <a:t>hard disk</a:t>
            </a:r>
            <a:r>
              <a:rPr lang="he-IL" dirty="0"/>
              <a:t> עם קצב של </a:t>
            </a:r>
            <a:r>
              <a:rPr lang="en-US" dirty="0"/>
              <a:t>50MB/sec</a:t>
            </a:r>
            <a:endParaRPr lang="he-IL" dirty="0"/>
          </a:p>
          <a:p>
            <a:pPr algn="r" rtl="1"/>
            <a:r>
              <a:rPr lang="en-US" dirty="0"/>
              <a:t>Swap out = 2000ms</a:t>
            </a:r>
          </a:p>
          <a:p>
            <a:pPr algn="r" rtl="1"/>
            <a:r>
              <a:rPr lang="en-US" dirty="0"/>
              <a:t>Swap in = 2000ms</a:t>
            </a:r>
          </a:p>
          <a:p>
            <a:pPr algn="r" rtl="1"/>
            <a:r>
              <a:rPr lang="en-US" dirty="0"/>
              <a:t>Total context switch  = 4sec</a:t>
            </a:r>
            <a:endParaRPr lang="he-IL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209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Swapping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ישנם אילוצים נוספים אילו תהליכים יכולים לבצע </a:t>
            </a:r>
            <a:r>
              <a:rPr lang="en-US" dirty="0"/>
              <a:t>swap out</a:t>
            </a:r>
            <a:endParaRPr lang="he-IL" dirty="0"/>
          </a:p>
          <a:p>
            <a:pPr algn="r" rtl="1"/>
            <a:r>
              <a:rPr lang="he-IL" dirty="0"/>
              <a:t>תהליך שמחכה ל </a:t>
            </a:r>
            <a:r>
              <a:rPr lang="en-US" dirty="0"/>
              <a:t>I/O</a:t>
            </a:r>
            <a:r>
              <a:rPr lang="he-IL" dirty="0"/>
              <a:t> לא יכול לבצע </a:t>
            </a:r>
            <a:r>
              <a:rPr lang="en-US" dirty="0"/>
              <a:t>swap out</a:t>
            </a:r>
            <a:r>
              <a:rPr lang="he-IL" dirty="0"/>
              <a:t>, כאשר </a:t>
            </a:r>
            <a:r>
              <a:rPr lang="en-US" dirty="0"/>
              <a:t>I/O</a:t>
            </a:r>
            <a:r>
              <a:rPr lang="he-IL" dirty="0"/>
              <a:t> עלול להסתיים בכל רגע נתון לכתובת לא נכונה – לתהליך הלא נכון</a:t>
            </a:r>
          </a:p>
          <a:p>
            <a:pPr lvl="1" algn="r" rtl="1"/>
            <a:r>
              <a:rPr lang="he-IL" dirty="0"/>
              <a:t>ניתן תמיד להעביר </a:t>
            </a:r>
            <a:r>
              <a:rPr lang="en-US" dirty="0"/>
              <a:t>I/O</a:t>
            </a:r>
            <a:r>
              <a:rPr lang="he-IL" dirty="0"/>
              <a:t> למרחב כתובות של ה </a:t>
            </a:r>
            <a:r>
              <a:rPr lang="en-US" dirty="0"/>
              <a:t>kernel</a:t>
            </a:r>
            <a:r>
              <a:rPr lang="he-IL" dirty="0"/>
              <a:t> ואז משם לתהליך המתאים במידה וקיים בזכרון</a:t>
            </a:r>
          </a:p>
          <a:p>
            <a:pPr lvl="1" algn="r" rtl="1"/>
            <a:r>
              <a:rPr lang="he-IL" dirty="0"/>
              <a:t>מוסיף </a:t>
            </a:r>
            <a:r>
              <a:rPr lang="he-IL"/>
              <a:t>זמן ביצוע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13712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Contiguous Allocation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הזכרון הראשי חייב לתמוך בתהליכי ליבה וכן בתהליכי משתמש</a:t>
            </a:r>
          </a:p>
          <a:p>
            <a:pPr algn="r" rtl="1"/>
            <a:r>
              <a:rPr lang="he-IL" dirty="0"/>
              <a:t>הקצאה רציפה היא שיטה קדומה:</a:t>
            </a:r>
          </a:p>
          <a:p>
            <a:pPr lvl="1" algn="r" rtl="1"/>
            <a:r>
              <a:rPr lang="he-IL" dirty="0"/>
              <a:t>הזכרון הראשי מחולק לשתי מחיצות</a:t>
            </a:r>
          </a:p>
          <a:p>
            <a:pPr lvl="1" algn="r" rtl="1"/>
            <a:r>
              <a:rPr lang="he-IL" dirty="0"/>
              <a:t>מערכת ההפעלה – ממוקמת בדרך כלל בכתובות הנמוכות של הזכרון</a:t>
            </a:r>
          </a:p>
          <a:p>
            <a:pPr lvl="1" algn="r" rtl="1"/>
            <a:r>
              <a:rPr lang="he-IL" dirty="0"/>
              <a:t>זכרון משתמש – ממוקם בכתובות הגבוהות</a:t>
            </a:r>
          </a:p>
          <a:p>
            <a:pPr lvl="1" algn="r" rtl="1"/>
            <a:r>
              <a:rPr lang="he-IL" dirty="0"/>
              <a:t>כל תהליך מכיל חלק רציף אחד של הזכרון</a:t>
            </a:r>
          </a:p>
          <a:p>
            <a:pPr lvl="2" algn="r" rtl="1"/>
            <a:endParaRPr lang="he-IL" dirty="0"/>
          </a:p>
          <a:p>
            <a:pPr lvl="1"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66043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/>
              <a:t>Contiguous Allocation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רגיסטרי מיקום משמשים להגן מתהליכי משתמש לגשת אחד לשני וכן לשנות מידע של מערכת ההפעלה</a:t>
            </a:r>
          </a:p>
          <a:p>
            <a:pPr lvl="1" algn="r" rtl="1"/>
            <a:r>
              <a:rPr lang="en-US" dirty="0"/>
              <a:t>Base register</a:t>
            </a:r>
            <a:r>
              <a:rPr lang="he-IL" dirty="0"/>
              <a:t> - מכיל את הערך של הכתובת הפיזית הנמוכה ביותר של התהליך</a:t>
            </a:r>
          </a:p>
          <a:p>
            <a:pPr lvl="1" algn="r" rtl="1"/>
            <a:r>
              <a:rPr lang="en-US" dirty="0"/>
              <a:t>Limit register</a:t>
            </a:r>
            <a:r>
              <a:rPr lang="he-IL" dirty="0"/>
              <a:t> – מכיל את טווח הכתובות הלוגיות – כל כתובת לוגית חייבת להיות נמוכה יותר מה </a:t>
            </a:r>
            <a:r>
              <a:rPr lang="en-US" dirty="0"/>
              <a:t>Limit register</a:t>
            </a:r>
            <a:endParaRPr lang="he-IL" dirty="0"/>
          </a:p>
          <a:p>
            <a:pPr lvl="1" algn="r" rtl="1"/>
            <a:r>
              <a:rPr lang="en-US" dirty="0"/>
              <a:t>MMU</a:t>
            </a:r>
            <a:r>
              <a:rPr lang="he-IL" dirty="0"/>
              <a:t> ממפה את הכתובות הלוגיות</a:t>
            </a:r>
          </a:p>
          <a:p>
            <a:pPr lvl="1"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0439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Contiguous Allocation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A8ABB52-692D-4566-8160-251298DC83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341" y="1837507"/>
            <a:ext cx="8143318" cy="404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6138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Contiguous Allocation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כשתהליך מגיע הוא מקבל הקצאת זכרון ממקום גדול מספיק כדי להכיל אותו</a:t>
            </a:r>
          </a:p>
          <a:p>
            <a:pPr algn="r" rtl="1"/>
            <a:r>
              <a:rPr lang="he-IL" dirty="0"/>
              <a:t>במשך הזמן נוצרים חורים – בלוקים של זכרון פנוי – ש"מסתובבים"</a:t>
            </a:r>
            <a:r>
              <a:rPr lang="en-US" dirty="0"/>
              <a:t> </a:t>
            </a:r>
            <a:r>
              <a:rPr lang="he-IL" dirty="0"/>
              <a:t> בזכרון</a:t>
            </a:r>
          </a:p>
          <a:p>
            <a:pPr algn="r" rtl="1"/>
            <a:r>
              <a:rPr lang="he-IL" dirty="0"/>
              <a:t>תהליך שמסיים מפנה את המחיצה שלו</a:t>
            </a:r>
          </a:p>
          <a:p>
            <a:pPr algn="r" rtl="1"/>
            <a:r>
              <a:rPr lang="he-IL" dirty="0"/>
              <a:t>מערכת ההפעלה שומרת מידע על</a:t>
            </a:r>
          </a:p>
          <a:p>
            <a:pPr lvl="1" algn="r" rtl="1"/>
            <a:r>
              <a:rPr lang="he-IL" dirty="0"/>
              <a:t>מחיצות מוקצות</a:t>
            </a:r>
          </a:p>
          <a:p>
            <a:pPr lvl="1" algn="r" rtl="1"/>
            <a:r>
              <a:rPr lang="he-IL" dirty="0"/>
              <a:t>מחיצות פנויות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8FB06571-6897-437E-AA50-E8FD2A4C2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16412"/>
            <a:ext cx="6675437" cy="217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609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/>
              <a:t>Contiguous Allocation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איך לרצות בקשה בגודל </a:t>
            </a:r>
            <a:r>
              <a:rPr lang="en-US" dirty="0"/>
              <a:t>n</a:t>
            </a:r>
            <a:r>
              <a:rPr lang="he-IL" dirty="0"/>
              <a:t> מרשימה של מחיצות פנויות?</a:t>
            </a:r>
          </a:p>
          <a:p>
            <a:pPr lvl="1" algn="r" rtl="1"/>
            <a:r>
              <a:rPr lang="en-US" dirty="0"/>
              <a:t>First fit</a:t>
            </a:r>
            <a:r>
              <a:rPr lang="he-IL" dirty="0"/>
              <a:t> – הקצאת המחיצה הפנויה הראשונה שנמצאת, גדולה דיה כדי להכיל את התהליך</a:t>
            </a:r>
          </a:p>
          <a:p>
            <a:pPr lvl="1" algn="r" rtl="1"/>
            <a:r>
              <a:rPr lang="en-US" dirty="0"/>
              <a:t>Best fit</a:t>
            </a:r>
            <a:r>
              <a:rPr lang="he-IL" dirty="0"/>
              <a:t> – הקצאת המחיצה הקטנה ביותר שיכולה להכיל את התהליך</a:t>
            </a:r>
          </a:p>
          <a:p>
            <a:pPr lvl="2" algn="r" rtl="1"/>
            <a:r>
              <a:rPr lang="he-IL" dirty="0"/>
              <a:t>מצריך חיפוש בכל הרשימה</a:t>
            </a:r>
          </a:p>
          <a:p>
            <a:pPr lvl="2" algn="r" rtl="1"/>
            <a:r>
              <a:rPr lang="he-IL" dirty="0"/>
              <a:t>משאירה את החור הקטן ביותר</a:t>
            </a:r>
          </a:p>
          <a:p>
            <a:pPr lvl="1" algn="r" rtl="1"/>
            <a:r>
              <a:rPr lang="en-US" dirty="0"/>
              <a:t>Worst fit</a:t>
            </a:r>
            <a:r>
              <a:rPr lang="he-IL" dirty="0"/>
              <a:t> – הקצאת המחיצה הגדולה ביותר</a:t>
            </a:r>
          </a:p>
          <a:p>
            <a:pPr lvl="2" algn="r" rtl="1"/>
            <a:r>
              <a:rPr lang="he-IL" dirty="0"/>
              <a:t>מצריך חיפוש בכל הרשימה</a:t>
            </a:r>
          </a:p>
          <a:p>
            <a:pPr lvl="1" algn="r" rtl="1"/>
            <a:endParaRPr lang="he-IL" dirty="0"/>
          </a:p>
          <a:p>
            <a:pPr lvl="1" algn="r" rtl="1"/>
            <a:r>
              <a:rPr lang="en-US" dirty="0"/>
              <a:t>First fit</a:t>
            </a:r>
            <a:r>
              <a:rPr lang="he-IL" dirty="0"/>
              <a:t> ו </a:t>
            </a:r>
            <a:r>
              <a:rPr lang="en-US" dirty="0"/>
              <a:t>Worst fit</a:t>
            </a:r>
            <a:r>
              <a:rPr lang="he-IL" dirty="0"/>
              <a:t> טובים יותר במונחים של מהירות וניצול זכרון</a:t>
            </a:r>
          </a:p>
          <a:p>
            <a:pPr lvl="1"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27438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Fragmentation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שברור חיצוני – </a:t>
            </a:r>
            <a:r>
              <a:rPr lang="en-US" dirty="0"/>
              <a:t>External Fragmentation</a:t>
            </a:r>
            <a:r>
              <a:rPr lang="he-IL" dirty="0"/>
              <a:t> – סך כל הזכרון הפנוי למלא בקשה, אבל לא רציף (סכום כל המקום הפנוי שיש, לא בהכרח רציף)</a:t>
            </a:r>
          </a:p>
          <a:p>
            <a:pPr algn="r" rtl="1"/>
            <a:r>
              <a:rPr lang="he-IL" dirty="0"/>
              <a:t>שברור פנימי – </a:t>
            </a:r>
            <a:r>
              <a:rPr lang="en-US" dirty="0"/>
              <a:t>Internal Fragmentation</a:t>
            </a:r>
            <a:r>
              <a:rPr lang="he-IL" dirty="0"/>
              <a:t> – הזכרון הפנוי יכול להיות יותר גדול מהזכרון המבוקש, ההפרש הוא הזכרון הפנימי במחיצה, אבל שלא בשימוש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40467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Fragmentation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שברור חיצוני – </a:t>
            </a:r>
            <a:r>
              <a:rPr lang="en-US" dirty="0"/>
              <a:t>External Fragmentation</a:t>
            </a:r>
            <a:r>
              <a:rPr lang="he-IL" dirty="0"/>
              <a:t> – סך כל הזכרון הפנוי למלא בקשה, אבל לא רציף</a:t>
            </a:r>
          </a:p>
          <a:p>
            <a:pPr algn="r" rtl="1"/>
            <a:r>
              <a:rPr lang="he-IL" dirty="0"/>
              <a:t>שברור פנימי – </a:t>
            </a:r>
            <a:r>
              <a:rPr lang="en-US" dirty="0"/>
              <a:t>Internal Fragmentation</a:t>
            </a:r>
            <a:r>
              <a:rPr lang="he-IL" dirty="0"/>
              <a:t> – הזכרון הפנוי יכול להיות יותר גדול מהזכרון המבוקש, ההפרש הוא הזכרון הפנימי במחיצה, אבל שלא בשימוש</a:t>
            </a:r>
          </a:p>
          <a:p>
            <a:pPr algn="r" rtl="1"/>
            <a:r>
              <a:rPr lang="he-IL" dirty="0"/>
              <a:t>הפחתת השברור הפנימי ע"י דחיסה</a:t>
            </a:r>
          </a:p>
          <a:p>
            <a:pPr lvl="1" algn="r" rtl="1"/>
            <a:r>
              <a:rPr lang="he-IL" dirty="0"/>
              <a:t>ערבול תוכן הזכרון כדי למקם את כל הזכרון הפנוי בבלוק אחד גדול</a:t>
            </a:r>
          </a:p>
          <a:p>
            <a:pPr lvl="1" algn="r" rtl="1"/>
            <a:r>
              <a:rPr lang="he-IL" dirty="0"/>
              <a:t>לוקח זמן וצריך להתבצע בזמן ריצה של תהליכים – מסורבל</a:t>
            </a:r>
          </a:p>
          <a:p>
            <a:pPr lvl="1" algn="r" rtl="1"/>
            <a:r>
              <a:rPr lang="he-IL" dirty="0"/>
              <a:t>תהליכים שמחכים ל </a:t>
            </a:r>
            <a:r>
              <a:rPr lang="en-US" dirty="0"/>
              <a:t>I/O</a:t>
            </a:r>
            <a:r>
              <a:rPr lang="he-IL" dirty="0"/>
              <a:t> לא יכולים לבצע מיקום מחדש אלא אם כן נקבל את כל ה </a:t>
            </a:r>
            <a:r>
              <a:rPr lang="en-US" dirty="0"/>
              <a:t>I/O</a:t>
            </a:r>
            <a:r>
              <a:rPr lang="he-IL" dirty="0"/>
              <a:t> לחוצצים של מערכת ההפעלה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45536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Segmentation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r" rtl="1"/>
            <a:r>
              <a:rPr lang="he-IL" dirty="0"/>
              <a:t>סגמנטציה – סכמת ניהול זכרון לפי התבוננות המשתמש</a:t>
            </a:r>
          </a:p>
          <a:p>
            <a:pPr algn="r" rtl="1"/>
            <a:r>
              <a:rPr lang="he-IL" dirty="0"/>
              <a:t>תוכנית מחולקת למספר סגמנטים</a:t>
            </a:r>
          </a:p>
          <a:p>
            <a:pPr algn="r" rtl="1"/>
            <a:r>
              <a:rPr lang="he-IL" dirty="0"/>
              <a:t>סגמנט הוא יחידה לוגית שלא תלויות אחת </a:t>
            </a:r>
            <a:r>
              <a:rPr lang="he-IL" dirty="0" err="1"/>
              <a:t>בשניה</a:t>
            </a:r>
            <a:r>
              <a:rPr lang="he-IL" dirty="0"/>
              <a:t>, כמו: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main program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procedure 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function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method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object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local variables, global variables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common block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stack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symbol table</a:t>
            </a:r>
          </a:p>
          <a:p>
            <a:pPr marL="342900">
              <a:spcBef>
                <a:spcPts val="788"/>
              </a:spcBef>
              <a:buSzPct val="90000"/>
              <a:buNone/>
              <a:defRPr/>
            </a:pPr>
            <a:r>
              <a:rPr lang="en-US" altLang="en-US" dirty="0">
                <a:latin typeface="Arial" charset="0"/>
              </a:rPr>
              <a:t>	arrays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47702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Segmentation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694EF32-2016-4F63-9407-6CF3B6D3B8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466" y="1825625"/>
            <a:ext cx="3323067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7969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Segmentation</a:t>
            </a:r>
            <a:endParaRPr lang="en-US" dirty="0"/>
          </a:p>
        </p:txBody>
      </p:sp>
      <p:sp>
        <p:nvSpPr>
          <p:cNvPr id="26" name="Oval 2">
            <a:extLst>
              <a:ext uri="{FF2B5EF4-FFF2-40B4-BE49-F238E27FC236}">
                <a16:creationId xmlns:a16="http://schemas.microsoft.com/office/drawing/2014/main" id="{BBD05F1B-5BB4-40F2-8506-CE09A1110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640" y="1690688"/>
            <a:ext cx="2895600" cy="3962400"/>
          </a:xfrm>
          <a:prstGeom prst="ellipse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1038522-EA90-43DE-A214-3A7A496BE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040" y="2376488"/>
            <a:ext cx="990600" cy="5334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D95F89CC-B189-4927-9E55-F88503A4C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640" y="3519488"/>
            <a:ext cx="914400" cy="9144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02E3456D-32A4-423F-A805-85A62BEAA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440" y="2986088"/>
            <a:ext cx="914400" cy="3810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DA418EB9-3DA0-4858-84BA-6420DE365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240" y="3976688"/>
            <a:ext cx="914400" cy="53340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grpSp>
        <p:nvGrpSpPr>
          <p:cNvPr id="31" name="Group 7">
            <a:extLst>
              <a:ext uri="{FF2B5EF4-FFF2-40B4-BE49-F238E27FC236}">
                <a16:creationId xmlns:a16="http://schemas.microsoft.com/office/drawing/2014/main" id="{70691C59-6C41-46C2-BBAC-37D05D0AE558}"/>
              </a:ext>
            </a:extLst>
          </p:cNvPr>
          <p:cNvGrpSpPr>
            <a:grpSpLocks/>
          </p:cNvGrpSpPr>
          <p:nvPr/>
        </p:nvGrpSpPr>
        <p:grpSpPr bwMode="auto">
          <a:xfrm>
            <a:off x="7101840" y="1690688"/>
            <a:ext cx="1141413" cy="3960813"/>
            <a:chOff x="3552" y="738"/>
            <a:chExt cx="719" cy="2495"/>
          </a:xfrm>
        </p:grpSpPr>
        <p:grpSp>
          <p:nvGrpSpPr>
            <p:cNvPr id="32" name="Group 8">
              <a:extLst>
                <a:ext uri="{FF2B5EF4-FFF2-40B4-BE49-F238E27FC236}">
                  <a16:creationId xmlns:a16="http://schemas.microsoft.com/office/drawing/2014/main" id="{82430D41-A0DA-47AE-AE2A-43CA608F08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738"/>
              <a:ext cx="719" cy="671"/>
              <a:chOff x="3552" y="738"/>
              <a:chExt cx="719" cy="671"/>
            </a:xfrm>
          </p:grpSpPr>
          <p:sp>
            <p:nvSpPr>
              <p:cNvPr id="43" name="Rectangle 9">
                <a:extLst>
                  <a:ext uri="{FF2B5EF4-FFF2-40B4-BE49-F238E27FC236}">
                    <a16:creationId xmlns:a16="http://schemas.microsoft.com/office/drawing/2014/main" id="{65A7B990-A4AC-4B59-A3FC-9C9FF0823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738"/>
                <a:ext cx="719" cy="671"/>
              </a:xfrm>
              <a:prstGeom prst="rect">
                <a:avLst/>
              </a:prstGeom>
              <a:solidFill>
                <a:srgbClr val="FFFFFF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4" name="Line 10">
                <a:extLst>
                  <a:ext uri="{FF2B5EF4-FFF2-40B4-BE49-F238E27FC236}">
                    <a16:creationId xmlns:a16="http://schemas.microsoft.com/office/drawing/2014/main" id="{AE60A48E-CE82-449E-B3D6-DCBBD172F4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074"/>
                <a:ext cx="719" cy="0"/>
              </a:xfrm>
              <a:prstGeom prst="line">
                <a:avLst/>
              </a:prstGeom>
              <a:noFill/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" name="Group 11">
              <a:extLst>
                <a:ext uri="{FF2B5EF4-FFF2-40B4-BE49-F238E27FC236}">
                  <a16:creationId xmlns:a16="http://schemas.microsoft.com/office/drawing/2014/main" id="{32B32B7D-9C62-45E3-91E9-E512757CF8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1410"/>
              <a:ext cx="719" cy="671"/>
              <a:chOff x="3552" y="1410"/>
              <a:chExt cx="719" cy="671"/>
            </a:xfrm>
          </p:grpSpPr>
          <p:sp>
            <p:nvSpPr>
              <p:cNvPr id="41" name="Rectangle 12">
                <a:extLst>
                  <a:ext uri="{FF2B5EF4-FFF2-40B4-BE49-F238E27FC236}">
                    <a16:creationId xmlns:a16="http://schemas.microsoft.com/office/drawing/2014/main" id="{0E21A8C0-76C9-4677-84E1-D7147FEED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410"/>
                <a:ext cx="719" cy="671"/>
              </a:xfrm>
              <a:prstGeom prst="rect">
                <a:avLst/>
              </a:prstGeom>
              <a:solidFill>
                <a:srgbClr val="DDDDDD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42" name="Line 13">
                <a:extLst>
                  <a:ext uri="{FF2B5EF4-FFF2-40B4-BE49-F238E27FC236}">
                    <a16:creationId xmlns:a16="http://schemas.microsoft.com/office/drawing/2014/main" id="{5B779E69-8AFA-47FB-9254-53A505F12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746"/>
                <a:ext cx="719" cy="0"/>
              </a:xfrm>
              <a:prstGeom prst="line">
                <a:avLst/>
              </a:prstGeom>
              <a:noFill/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" name="Text Box 14">
              <a:extLst>
                <a:ext uri="{FF2B5EF4-FFF2-40B4-BE49-F238E27FC236}">
                  <a16:creationId xmlns:a16="http://schemas.microsoft.com/office/drawing/2014/main" id="{BF530DE2-DC7E-492D-9007-7107ABC9C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81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ts val="1125"/>
                </a:spcBef>
                <a:buClr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5" name="Text Box 15">
              <a:extLst>
                <a:ext uri="{FF2B5EF4-FFF2-40B4-BE49-F238E27FC236}">
                  <a16:creationId xmlns:a16="http://schemas.microsoft.com/office/drawing/2014/main" id="{20F26EE0-42AD-45FE-B369-6A0B6B64A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3" y="1121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ts val="1125"/>
                </a:spcBef>
                <a:buClr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BC014747-9346-4DD0-BBA6-8BC60ABFE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082"/>
              <a:ext cx="719" cy="911"/>
            </a:xfrm>
            <a:prstGeom prst="rect">
              <a:avLst/>
            </a:prstGeom>
            <a:solidFill>
              <a:srgbClr val="FF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F39D7571-D04B-48C7-A7C2-501321DCB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994"/>
              <a:ext cx="719" cy="239"/>
            </a:xfrm>
            <a:prstGeom prst="rect">
              <a:avLst/>
            </a:prstGeom>
            <a:solidFill>
              <a:srgbClr val="DDDDDD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38" name="Line 18">
              <a:extLst>
                <a:ext uri="{FF2B5EF4-FFF2-40B4-BE49-F238E27FC236}">
                  <a16:creationId xmlns:a16="http://schemas.microsoft.com/office/drawing/2014/main" id="{DF960883-D238-49CB-9A13-2217633F3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322"/>
              <a:ext cx="719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B14BA12F-C0D4-461A-8019-1A2C1F626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3" y="2110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ts val="1125"/>
                </a:spcBef>
                <a:buClr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0" name="Text Box 20">
              <a:extLst>
                <a:ext uri="{FF2B5EF4-FFF2-40B4-BE49-F238E27FC236}">
                  <a16:creationId xmlns:a16="http://schemas.microsoft.com/office/drawing/2014/main" id="{51D55D33-E33D-43B1-B7B2-54AC39253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3" y="2570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bg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ts val="1125"/>
                </a:spcBef>
                <a:buClr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45" name="Text Box 21">
            <a:extLst>
              <a:ext uri="{FF2B5EF4-FFF2-40B4-BE49-F238E27FC236}">
                <a16:creationId xmlns:a16="http://schemas.microsoft.com/office/drawing/2014/main" id="{1453B19F-9E51-4B3A-916E-ED0F53B20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5515" y="5775326"/>
            <a:ext cx="1363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user space </a:t>
            </a: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29429391-7796-40CC-B6EE-EC997C3C5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778" y="5775326"/>
            <a:ext cx="25669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physical memory space</a:t>
            </a:r>
          </a:p>
        </p:txBody>
      </p:sp>
    </p:spTree>
    <p:extLst>
      <p:ext uri="{BB962C8B-B14F-4D97-AF65-F5344CB8AC3E}">
        <p14:creationId xmlns:p14="http://schemas.microsoft.com/office/powerpoint/2010/main" val="951987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Segmentation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dirty="0"/>
              <a:t>כתובת לוגית כוללת שני חלקים:  </a:t>
            </a:r>
            <a:r>
              <a:rPr lang="en-US" dirty="0"/>
              <a:t>&lt;segment number, offset&gt;</a:t>
            </a:r>
            <a:endParaRPr lang="he-IL" dirty="0"/>
          </a:p>
          <a:p>
            <a:pPr lvl="1" algn="r" rtl="1"/>
            <a:r>
              <a:rPr lang="en-US" dirty="0"/>
              <a:t>Segment number</a:t>
            </a:r>
            <a:r>
              <a:rPr lang="he-IL" dirty="0"/>
              <a:t> – מספר הסגמנט</a:t>
            </a:r>
          </a:p>
          <a:p>
            <a:pPr lvl="1" algn="r" rtl="1"/>
            <a:r>
              <a:rPr lang="en-US" dirty="0"/>
              <a:t>Offset</a:t>
            </a:r>
            <a:r>
              <a:rPr lang="he-IL" dirty="0"/>
              <a:t> – היסט – כתובת פנימית בתוך הסגמנט</a:t>
            </a:r>
          </a:p>
          <a:p>
            <a:pPr algn="r" rtl="1"/>
            <a:r>
              <a:rPr lang="he-IL" dirty="0"/>
              <a:t>טבלת הסגמנטים – ממפה כתובת פיזית, כל כניסה בטבלה מכילה:</a:t>
            </a:r>
          </a:p>
          <a:p>
            <a:pPr lvl="1" algn="r" rtl="1"/>
            <a:r>
              <a:rPr lang="en-US" dirty="0"/>
              <a:t>Base</a:t>
            </a:r>
            <a:r>
              <a:rPr lang="he-IL" dirty="0"/>
              <a:t> – מכיל את תחילת הכתובת הפיזית בו הסגמנט ממוקם</a:t>
            </a:r>
          </a:p>
          <a:p>
            <a:pPr lvl="1" algn="r" rtl="1"/>
            <a:r>
              <a:rPr lang="en-US" dirty="0"/>
              <a:t>Limit</a:t>
            </a:r>
            <a:r>
              <a:rPr lang="he-IL" dirty="0"/>
              <a:t> – מכילה את אורך הסגמנט</a:t>
            </a:r>
          </a:p>
          <a:p>
            <a:pPr algn="r" rtl="1"/>
            <a:r>
              <a:rPr lang="he-IL" dirty="0"/>
              <a:t>הגנה – לכל כניסה מצורף</a:t>
            </a:r>
          </a:p>
          <a:p>
            <a:pPr lvl="1" algn="r" rtl="1"/>
            <a:r>
              <a:rPr lang="en-US" dirty="0"/>
              <a:t>Validation bit</a:t>
            </a:r>
            <a:r>
              <a:rPr lang="he-IL" dirty="0"/>
              <a:t> = 0 = סגמנט לא חוקי</a:t>
            </a:r>
          </a:p>
          <a:p>
            <a:pPr lvl="1" algn="r" rtl="1"/>
            <a:r>
              <a:rPr lang="he-IL" dirty="0"/>
              <a:t>הרשאות כתיבה/קריאה/ביצוע</a:t>
            </a:r>
          </a:p>
          <a:p>
            <a:pPr algn="r" rtl="1"/>
            <a:r>
              <a:rPr lang="he-IL" dirty="0"/>
              <a:t>הגנה מצורפת לסגמנט מאחר וניתן לבצע שיתוף קוד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84416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Segmentation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7C998A-E19D-4472-8147-2311D01C2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9606" y="1825625"/>
            <a:ext cx="4484194" cy="4351338"/>
          </a:xfrm>
        </p:spPr>
        <p:txBody>
          <a:bodyPr/>
          <a:lstStyle/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המעבד מוציא מספר סגמנט והיסט בתוך הסגמנט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ניגשים לטבלת הסגמנטים ומקבלים לכל סגמנט את ה </a:t>
            </a:r>
            <a:r>
              <a:rPr lang="en-US" dirty="0"/>
              <a:t>base</a:t>
            </a:r>
            <a:r>
              <a:rPr lang="he-IL" dirty="0"/>
              <a:t> ו </a:t>
            </a:r>
            <a:r>
              <a:rPr lang="en-US" dirty="0"/>
              <a:t>limit</a:t>
            </a:r>
            <a:r>
              <a:rPr lang="he-IL" dirty="0"/>
              <a:t> שלו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בודקים האם ההיסט </a:t>
            </a:r>
            <a:r>
              <a:rPr lang="en-US" dirty="0"/>
              <a:t>d &lt; limit</a:t>
            </a:r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במידה וכן, מוסיפים את כתובת ה </a:t>
            </a:r>
            <a:r>
              <a:rPr lang="en-US" dirty="0"/>
              <a:t>base</a:t>
            </a:r>
            <a:r>
              <a:rPr lang="he-IL" dirty="0"/>
              <a:t> ומגיעים לכתובת הפיזית</a:t>
            </a:r>
          </a:p>
          <a:p>
            <a:pPr marL="514350" indent="-514350" algn="r" rtl="1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F8F6AB5-B0AC-4566-A4AF-D0E16D199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6" y="1687171"/>
            <a:ext cx="6495639" cy="4559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5199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dirty="0"/>
              <a:t>מרחב הכתובות הפיזי של התהליך יכול להיות לא רציף, תהליך מקבל מקום בזכרון היכן שיש פנוי</a:t>
            </a:r>
          </a:p>
          <a:p>
            <a:pPr lvl="1" algn="r" rtl="1"/>
            <a:r>
              <a:rPr lang="he-IL" dirty="0"/>
              <a:t>נמנעים משברור חיצוני</a:t>
            </a:r>
          </a:p>
          <a:p>
            <a:pPr lvl="1" algn="r" rtl="1"/>
            <a:r>
              <a:rPr lang="he-IL" dirty="0"/>
              <a:t>נמנעים משברורים קטנים בזכרון בין התהליכים</a:t>
            </a:r>
          </a:p>
          <a:p>
            <a:pPr algn="r" rtl="1"/>
            <a:r>
              <a:rPr lang="he-IL" dirty="0"/>
              <a:t>מחלקים את הזכרון הראשי לבלוקים בגדלים שווים – </a:t>
            </a:r>
            <a:r>
              <a:rPr lang="en-US" b="1" dirty="0"/>
              <a:t>frames</a:t>
            </a:r>
            <a:endParaRPr lang="he-IL" b="1" dirty="0"/>
          </a:p>
          <a:p>
            <a:pPr lvl="1" algn="r" rtl="1"/>
            <a:r>
              <a:rPr lang="he-IL" dirty="0"/>
              <a:t>הגודל הוא בחזקות של 2. בין </a:t>
            </a:r>
            <a:r>
              <a:rPr lang="en-US" dirty="0"/>
              <a:t>512KB</a:t>
            </a:r>
            <a:r>
              <a:rPr lang="he-IL" dirty="0"/>
              <a:t> ל </a:t>
            </a:r>
            <a:r>
              <a:rPr lang="en-US" dirty="0"/>
              <a:t>16MB</a:t>
            </a:r>
            <a:endParaRPr lang="he-IL" dirty="0"/>
          </a:p>
          <a:p>
            <a:pPr algn="r" rtl="1"/>
            <a:r>
              <a:rPr lang="he-IL" dirty="0"/>
              <a:t>מחלקים את הזכרון הלוגי לבלוקים באותו גודל – </a:t>
            </a:r>
            <a:r>
              <a:rPr lang="en-US" b="1" dirty="0"/>
              <a:t>pages</a:t>
            </a:r>
            <a:endParaRPr lang="he-IL" b="1" dirty="0"/>
          </a:p>
          <a:p>
            <a:pPr algn="r" rtl="1"/>
            <a:r>
              <a:rPr lang="he-IL" dirty="0"/>
              <a:t>מערכת ההפעלה שומרת מידע על כל ה </a:t>
            </a:r>
            <a:r>
              <a:rPr lang="en-US" dirty="0"/>
              <a:t>frames</a:t>
            </a:r>
            <a:endParaRPr lang="he-IL" dirty="0"/>
          </a:p>
          <a:p>
            <a:pPr algn="r" rtl="1"/>
            <a:r>
              <a:rPr lang="he-IL" dirty="0"/>
              <a:t>כדי להריץ תוכנית בגודל של </a:t>
            </a:r>
            <a:r>
              <a:rPr lang="en-US" dirty="0"/>
              <a:t>N</a:t>
            </a:r>
            <a:r>
              <a:rPr lang="he-IL" dirty="0"/>
              <a:t> דפים, צריכים למצוא </a:t>
            </a:r>
            <a:r>
              <a:rPr lang="en-US" dirty="0"/>
              <a:t>N</a:t>
            </a:r>
            <a:r>
              <a:rPr lang="he-IL" dirty="0"/>
              <a:t> פריימים בזכרון ולטעון אליהם את התוכנית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75453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טבלת המרה </a:t>
            </a:r>
            <a:r>
              <a:rPr lang="en-US" b="1" dirty="0"/>
              <a:t>page table</a:t>
            </a:r>
            <a:r>
              <a:rPr lang="he-IL" dirty="0"/>
              <a:t> ממירה כתובת לוגית לכתובת פיזית</a:t>
            </a:r>
          </a:p>
          <a:p>
            <a:pPr algn="r" rtl="1"/>
            <a:r>
              <a:rPr lang="he-IL" dirty="0"/>
              <a:t>גם הזכרון המשני מחולק לדפים (לצורך </a:t>
            </a:r>
            <a:r>
              <a:rPr lang="en-US" dirty="0"/>
              <a:t>swap in &lt;-&gt; swap out</a:t>
            </a:r>
            <a:r>
              <a:rPr lang="he-IL" dirty="0"/>
              <a:t>)</a:t>
            </a:r>
          </a:p>
          <a:p>
            <a:pPr algn="r" rtl="1"/>
            <a:r>
              <a:rPr lang="he-IL" dirty="0"/>
              <a:t>עדין יהיה שברור פנימי, אך יותר קטן</a:t>
            </a:r>
          </a:p>
        </p:txBody>
      </p:sp>
    </p:spTree>
    <p:extLst>
      <p:ext uri="{BB962C8B-B14F-4D97-AF65-F5344CB8AC3E}">
        <p14:creationId xmlns:p14="http://schemas.microsoft.com/office/powerpoint/2010/main" val="3286631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המעבד מוציא כתובת שמחולקת ל</a:t>
            </a:r>
          </a:p>
          <a:p>
            <a:pPr lvl="1" algn="r" rtl="1"/>
            <a:r>
              <a:rPr lang="he-IL" dirty="0"/>
              <a:t>מספר דף </a:t>
            </a:r>
            <a:r>
              <a:rPr lang="en-US" dirty="0"/>
              <a:t>(page number)</a:t>
            </a:r>
            <a:r>
              <a:rPr lang="he-IL" dirty="0"/>
              <a:t> – </a:t>
            </a:r>
            <a:r>
              <a:rPr lang="en-US" dirty="0"/>
              <a:t>p</a:t>
            </a:r>
            <a:r>
              <a:rPr lang="he-IL" dirty="0"/>
              <a:t> – משמש כאינדקס בטבלת הדפים שמכילה כתובת </a:t>
            </a:r>
            <a:r>
              <a:rPr lang="en-US" dirty="0"/>
              <a:t>base</a:t>
            </a:r>
            <a:r>
              <a:rPr lang="he-IL" dirty="0"/>
              <a:t> לכל דף בזכרון הפיזי</a:t>
            </a:r>
          </a:p>
          <a:p>
            <a:pPr lvl="1" algn="r" rtl="1"/>
            <a:r>
              <a:rPr lang="he-IL" dirty="0"/>
              <a:t>היסט דף </a:t>
            </a:r>
            <a:r>
              <a:rPr lang="en-US" dirty="0"/>
              <a:t>(page offset)</a:t>
            </a:r>
            <a:r>
              <a:rPr lang="he-IL" dirty="0"/>
              <a:t> – </a:t>
            </a:r>
            <a:r>
              <a:rPr lang="en-US" dirty="0"/>
              <a:t>d</a:t>
            </a:r>
            <a:r>
              <a:rPr lang="he-IL" dirty="0"/>
              <a:t> – משולבת עם כתובת ה </a:t>
            </a:r>
            <a:r>
              <a:rPr lang="en-US" dirty="0"/>
              <a:t>base</a:t>
            </a:r>
            <a:r>
              <a:rPr lang="he-IL" dirty="0"/>
              <a:t> כדי לקבל את כתובת הפיזית הסופית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עבור מרחב כתובות לוגיות </a:t>
            </a:r>
            <a:r>
              <a:rPr lang="en-US" altLang="en-US" dirty="0">
                <a:latin typeface="Arial" charset="0"/>
              </a:rPr>
              <a:t>2</a:t>
            </a:r>
            <a:r>
              <a:rPr lang="en-US" altLang="en-US" i="1" baseline="30000" dirty="0">
                <a:latin typeface="Arial" charset="0"/>
              </a:rPr>
              <a:t>m</a:t>
            </a:r>
            <a:r>
              <a:rPr lang="he-IL" dirty="0"/>
              <a:t> וגודל דף </a:t>
            </a:r>
            <a:r>
              <a:rPr lang="en-US" altLang="en-US" i="1" dirty="0">
                <a:latin typeface="Arial" charset="0"/>
              </a:rPr>
              <a:t>2</a:t>
            </a:r>
            <a:r>
              <a:rPr lang="en-US" altLang="en-US" baseline="30000" dirty="0">
                <a:latin typeface="Arial" charset="0"/>
              </a:rPr>
              <a:t>n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BD33C-8273-4DE3-80A1-D557B5A24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2" y="3656623"/>
            <a:ext cx="3343275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2920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077B2DA-1943-43EF-B382-1C0221DE7F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313" y="1690688"/>
            <a:ext cx="7531374" cy="4492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9726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F4E0489-8667-4856-A396-A30D23A1CB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095" y="1690688"/>
            <a:ext cx="5447810" cy="508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1208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E6DAD3-A8B4-4A6B-96FC-4E81B4070F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216" y="0"/>
            <a:ext cx="5506864" cy="6862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0BBE829-78D3-4C46-AAF4-AA20E2A0F332}"/>
              </a:ext>
            </a:extLst>
          </p:cNvPr>
          <p:cNvSpPr/>
          <p:nvPr/>
        </p:nvSpPr>
        <p:spPr>
          <a:xfrm>
            <a:off x="838199" y="4637036"/>
            <a:ext cx="5250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=2 and </a:t>
            </a: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=4   32-byte memory and 4-byte pages</a:t>
            </a:r>
          </a:p>
        </p:txBody>
      </p:sp>
    </p:spTree>
    <p:extLst>
      <p:ext uri="{BB962C8B-B14F-4D97-AF65-F5344CB8AC3E}">
        <p14:creationId xmlns:p14="http://schemas.microsoft.com/office/powerpoint/2010/main" val="1969892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Memory Management</a:t>
            </a:r>
            <a:br>
              <a:rPr lang="he-IL"/>
            </a:br>
            <a:r>
              <a:rPr lang="en-US" sz="2800"/>
              <a:t>Paging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A9D1234-3869-4BEF-87A2-884E49C84B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155" y="2109885"/>
            <a:ext cx="606569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96B580-5BE1-413A-BE55-B0ACC3FB5B98}"/>
              </a:ext>
            </a:extLst>
          </p:cNvPr>
          <p:cNvSpPr/>
          <p:nvPr/>
        </p:nvSpPr>
        <p:spPr>
          <a:xfrm>
            <a:off x="3622274" y="1690688"/>
            <a:ext cx="1317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he-IL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לפני הקצאה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815FCA-5602-4423-A3BC-AB81D7B588D7}"/>
              </a:ext>
            </a:extLst>
          </p:cNvPr>
          <p:cNvSpPr/>
          <p:nvPr/>
        </p:nvSpPr>
        <p:spPr>
          <a:xfrm>
            <a:off x="7126710" y="1715620"/>
            <a:ext cx="1375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125"/>
              </a:spcBef>
              <a:buClrTx/>
              <a:buFontTx/>
              <a:buNone/>
            </a:pPr>
            <a:r>
              <a:rPr lang="he-IL" altLang="en-US" b="1">
                <a:solidFill>
                  <a:srgbClr val="000000"/>
                </a:solidFill>
                <a:latin typeface="Arial" panose="020B0604020202020204" pitchFamily="34" charset="0"/>
              </a:rPr>
              <a:t>אחרי הקצאה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01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dirty="0"/>
              <a:t>טבלת הדפים שמורה בזכרון הראשי</a:t>
            </a:r>
          </a:p>
          <a:p>
            <a:pPr algn="r" rtl="1"/>
            <a:r>
              <a:rPr lang="en-US" dirty="0"/>
              <a:t>Page table base register</a:t>
            </a:r>
            <a:r>
              <a:rPr lang="he-IL" dirty="0"/>
              <a:t> שמור לכל תהליך ובו מצביע להתחלת טבלת הדפים של התהליך המסויים</a:t>
            </a:r>
          </a:p>
          <a:p>
            <a:pPr algn="r" rtl="1"/>
            <a:r>
              <a:rPr lang="en-US" dirty="0"/>
              <a:t>Page table length register</a:t>
            </a:r>
            <a:r>
              <a:rPr lang="he-IL" dirty="0"/>
              <a:t> שומר את הגודל של טבלת הדפים שלו</a:t>
            </a:r>
          </a:p>
          <a:p>
            <a:pPr algn="r" rtl="1"/>
            <a:r>
              <a:rPr lang="he-IL" dirty="0"/>
              <a:t>בשיטה זו, כל גישה לזכרון דורשת שתי גישות</a:t>
            </a:r>
          </a:p>
          <a:p>
            <a:pPr lvl="1" algn="r" rtl="1"/>
            <a:r>
              <a:rPr lang="he-IL" dirty="0"/>
              <a:t>גישה לטבלת הדפים לקבל את הכתובת הפיזית</a:t>
            </a:r>
          </a:p>
          <a:p>
            <a:pPr lvl="1" algn="r" rtl="1"/>
            <a:r>
              <a:rPr lang="he-IL" dirty="0"/>
              <a:t>גישה לכתובת הפיזית עצמה</a:t>
            </a:r>
          </a:p>
          <a:p>
            <a:pPr algn="r" rtl="1"/>
            <a:r>
              <a:rPr lang="he-IL" dirty="0"/>
              <a:t>ניתן לשפר גישה זו ע"י שימוש בזכרון </a:t>
            </a:r>
            <a:r>
              <a:rPr lang="en-US" dirty="0"/>
              <a:t>cache</a:t>
            </a:r>
            <a:r>
              <a:rPr lang="he-IL" dirty="0"/>
              <a:t> חומרה מיוחד שנקרא </a:t>
            </a:r>
            <a:r>
              <a:rPr lang="en-US" altLang="en-US" b="1" dirty="0">
                <a:solidFill>
                  <a:srgbClr val="3366FF"/>
                </a:solidFill>
                <a:latin typeface="Arial" panose="020B0604020202020204" pitchFamily="34" charset="0"/>
              </a:rPr>
              <a:t>associative memory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or </a:t>
            </a:r>
            <a:r>
              <a:rPr lang="en-US" altLang="en-US" b="1" dirty="0">
                <a:solidFill>
                  <a:srgbClr val="3366FF"/>
                </a:solidFill>
                <a:latin typeface="Arial" panose="020B0604020202020204" pitchFamily="34" charset="0"/>
              </a:rPr>
              <a:t>translation look-aside buffers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en-US" b="1" dirty="0">
                <a:solidFill>
                  <a:srgbClr val="3366FF"/>
                </a:solidFill>
                <a:latin typeface="Arial" panose="020B0604020202020204" pitchFamily="34" charset="0"/>
              </a:rPr>
              <a:t>TLBs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he-IL" dirty="0"/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00329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גודל ה </a:t>
            </a:r>
            <a:r>
              <a:rPr lang="en-US" dirty="0"/>
              <a:t>TLB</a:t>
            </a:r>
            <a:r>
              <a:rPr lang="he-IL" dirty="0"/>
              <a:t> בדרך כלל קטן (64 עד 1024 כניסות)</a:t>
            </a:r>
          </a:p>
          <a:p>
            <a:pPr algn="r" rtl="1"/>
            <a:r>
              <a:rPr lang="he-IL" dirty="0"/>
              <a:t>רק חלק מהדפים נשמרים ב </a:t>
            </a:r>
            <a:r>
              <a:rPr lang="en-US" dirty="0"/>
              <a:t>TLB</a:t>
            </a:r>
            <a:endParaRPr lang="he-IL" dirty="0"/>
          </a:p>
          <a:p>
            <a:pPr algn="r" rtl="1"/>
            <a:r>
              <a:rPr lang="he-IL" dirty="0"/>
              <a:t>כאשר יש </a:t>
            </a:r>
            <a:r>
              <a:rPr lang="en-US" dirty="0"/>
              <a:t>TLB Miss</a:t>
            </a:r>
            <a:r>
              <a:rPr lang="he-IL" dirty="0"/>
              <a:t> – הדף המבוקש לא נמצא, הערך נטען ל </a:t>
            </a:r>
            <a:r>
              <a:rPr lang="en-US" dirty="0"/>
              <a:t>TLB</a:t>
            </a:r>
            <a:r>
              <a:rPr lang="he-IL" dirty="0"/>
              <a:t> בשביל גישה מהירה יותר בפעם הבאה</a:t>
            </a:r>
          </a:p>
          <a:p>
            <a:pPr lvl="1" algn="r" rtl="1"/>
            <a:r>
              <a:rPr lang="he-IL" dirty="0"/>
              <a:t>יש להגדיר מדיניות החלפה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73776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15456DA-730C-4459-BCAF-07AB48FDFC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790" y="1690688"/>
            <a:ext cx="6834419" cy="516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4201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defRPr/>
            </a:pPr>
            <a:r>
              <a:rPr lang="en-US" altLang="en-US" dirty="0">
                <a:latin typeface="Arial" charset="0"/>
              </a:rPr>
              <a:t>Associative Lookup (TLB search time) = </a:t>
            </a:r>
            <a:r>
              <a:rPr lang="en-US" altLang="en-US" dirty="0">
                <a:latin typeface="Symbol" pitchFamily="16" charset="2"/>
              </a:rPr>
              <a:t></a:t>
            </a:r>
            <a:r>
              <a:rPr lang="en-US" altLang="en-US" dirty="0">
                <a:latin typeface="Arial" charset="0"/>
              </a:rPr>
              <a:t> time unit</a:t>
            </a:r>
          </a:p>
          <a:p>
            <a:pPr lvl="1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defRPr/>
            </a:pPr>
            <a:r>
              <a:rPr lang="en-US" altLang="en-US" dirty="0">
                <a:latin typeface="Arial" charset="0"/>
              </a:rPr>
              <a:t>Can be &lt; 10% of memory access time</a:t>
            </a:r>
          </a:p>
          <a:p>
            <a:pPr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defRPr/>
            </a:pPr>
            <a:r>
              <a:rPr lang="en-US" altLang="en-US" dirty="0">
                <a:latin typeface="Arial" charset="0"/>
              </a:rPr>
              <a:t>Hit ratio = </a:t>
            </a:r>
            <a:r>
              <a:rPr lang="en-US" altLang="en-US" dirty="0">
                <a:latin typeface="Symbol" pitchFamily="16" charset="2"/>
              </a:rPr>
              <a:t></a:t>
            </a:r>
          </a:p>
          <a:p>
            <a:pPr lvl="1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defRPr/>
            </a:pPr>
            <a:r>
              <a:rPr lang="en-US" altLang="en-US" dirty="0">
                <a:latin typeface="Arial" charset="0"/>
              </a:rPr>
              <a:t>Hit ratio – percentage of times that a page number is found in the associative registers; ratio related to number of associative registers</a:t>
            </a:r>
          </a:p>
          <a:p>
            <a:pPr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defRPr/>
            </a:pPr>
            <a:r>
              <a:rPr lang="en-US" altLang="en-US" dirty="0">
                <a:latin typeface="Arial" charset="0"/>
              </a:rPr>
              <a:t>Consider </a:t>
            </a:r>
            <a:r>
              <a:rPr lang="en-US" altLang="en-US" dirty="0">
                <a:latin typeface="Symbol" pitchFamily="16" charset="2"/>
              </a:rPr>
              <a:t></a:t>
            </a:r>
            <a:r>
              <a:rPr lang="en-US" altLang="en-US" dirty="0">
                <a:latin typeface="Arial" charset="0"/>
              </a:rPr>
              <a:t> = 80%, </a:t>
            </a:r>
            <a:r>
              <a:rPr lang="en-US" altLang="en-US" dirty="0">
                <a:latin typeface="Symbol" pitchFamily="16" charset="2"/>
              </a:rPr>
              <a:t></a:t>
            </a:r>
            <a:r>
              <a:rPr lang="en-US" altLang="en-US" dirty="0">
                <a:latin typeface="Arial" charset="0"/>
              </a:rPr>
              <a:t> = 20ns for TLB search, 100ns for memory access</a:t>
            </a:r>
          </a:p>
          <a:p>
            <a:pPr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defRPr/>
            </a:pPr>
            <a:r>
              <a:rPr lang="en-US" altLang="en-US" b="1" dirty="0">
                <a:solidFill>
                  <a:srgbClr val="3366FF"/>
                </a:solidFill>
                <a:latin typeface="Arial" charset="0"/>
              </a:rPr>
              <a:t>Effective Access Time</a:t>
            </a:r>
            <a:r>
              <a:rPr lang="en-US" altLang="en-US" dirty="0">
                <a:solidFill>
                  <a:srgbClr val="3366FF"/>
                </a:solidFill>
                <a:latin typeface="Arial" charset="0"/>
              </a:rPr>
              <a:t> </a:t>
            </a:r>
            <a:r>
              <a:rPr lang="en-US" altLang="en-US" dirty="0">
                <a:latin typeface="Arial" charset="0"/>
              </a:rPr>
              <a:t>(</a:t>
            </a:r>
            <a:r>
              <a:rPr lang="en-US" altLang="en-US" b="1" dirty="0">
                <a:solidFill>
                  <a:srgbClr val="3366FF"/>
                </a:solidFill>
                <a:latin typeface="Arial" charset="0"/>
              </a:rPr>
              <a:t>EAT</a:t>
            </a:r>
            <a:r>
              <a:rPr lang="en-US" altLang="en-US" dirty="0">
                <a:latin typeface="Arial" charset="0"/>
              </a:rPr>
              <a:t>)</a:t>
            </a:r>
          </a:p>
          <a:p>
            <a:pPr marL="342900">
              <a:spcBef>
                <a:spcPts val="788"/>
              </a:spcBef>
              <a:buSzPct val="90000"/>
              <a:defRPr/>
            </a:pPr>
            <a:r>
              <a:rPr lang="en-US" altLang="en-US" dirty="0">
                <a:latin typeface="Arial" charset="0"/>
              </a:rPr>
              <a:t>		EAT = (100 + </a:t>
            </a:r>
            <a:r>
              <a:rPr lang="en-US" altLang="en-US" dirty="0">
                <a:latin typeface="Symbol" pitchFamily="16" charset="2"/>
              </a:rPr>
              <a:t></a:t>
            </a:r>
            <a:r>
              <a:rPr lang="en-US" altLang="en-US" dirty="0">
                <a:latin typeface="Arial" charset="0"/>
              </a:rPr>
              <a:t>) </a:t>
            </a:r>
            <a:r>
              <a:rPr lang="en-US" altLang="en-US" dirty="0">
                <a:latin typeface="Symbol" pitchFamily="16" charset="2"/>
              </a:rPr>
              <a:t></a:t>
            </a:r>
            <a:r>
              <a:rPr lang="en-US" altLang="en-US" dirty="0">
                <a:latin typeface="Arial" charset="0"/>
              </a:rPr>
              <a:t> + (200 + </a:t>
            </a:r>
            <a:r>
              <a:rPr lang="en-US" altLang="en-US" dirty="0">
                <a:latin typeface="Symbol" pitchFamily="16" charset="2"/>
              </a:rPr>
              <a:t></a:t>
            </a:r>
            <a:r>
              <a:rPr lang="en-US" altLang="en-US" dirty="0">
                <a:latin typeface="Arial" charset="0"/>
              </a:rPr>
              <a:t>)(1 – </a:t>
            </a:r>
            <a:r>
              <a:rPr lang="en-US" altLang="en-US" dirty="0">
                <a:latin typeface="Symbol" pitchFamily="16" charset="2"/>
              </a:rPr>
              <a:t></a:t>
            </a:r>
            <a:r>
              <a:rPr lang="en-US" altLang="en-US" dirty="0">
                <a:latin typeface="Arial" charset="0"/>
              </a:rPr>
              <a:t>)			</a:t>
            </a:r>
          </a:p>
          <a:p>
            <a:pPr marL="342900">
              <a:spcBef>
                <a:spcPts val="788"/>
              </a:spcBef>
              <a:buSzPct val="90000"/>
              <a:defRPr/>
            </a:pPr>
            <a:r>
              <a:rPr lang="en-US" altLang="en-US" dirty="0">
                <a:latin typeface="Arial" charset="0"/>
              </a:rPr>
              <a:t>Consider </a:t>
            </a:r>
            <a:r>
              <a:rPr lang="en-US" altLang="en-US" dirty="0">
                <a:latin typeface="Symbol" pitchFamily="16" charset="2"/>
              </a:rPr>
              <a:t></a:t>
            </a:r>
            <a:r>
              <a:rPr lang="en-US" altLang="en-US" dirty="0">
                <a:latin typeface="Arial" charset="0"/>
              </a:rPr>
              <a:t> = 80%, </a:t>
            </a:r>
            <a:r>
              <a:rPr lang="en-US" altLang="en-US" dirty="0">
                <a:latin typeface="Symbol" pitchFamily="16" charset="2"/>
              </a:rPr>
              <a:t></a:t>
            </a:r>
            <a:r>
              <a:rPr lang="en-US" altLang="en-US" dirty="0">
                <a:latin typeface="Arial" charset="0"/>
              </a:rPr>
              <a:t> = 20ns for TLB search, 100ns for memory access</a:t>
            </a:r>
          </a:p>
          <a:p>
            <a:pPr lvl="1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defRPr/>
            </a:pPr>
            <a:r>
              <a:rPr lang="en-US" altLang="en-US" dirty="0">
                <a:latin typeface="Arial" charset="0"/>
              </a:rPr>
              <a:t>EAT = 0.80 x 120 + 0.20 x 220 = 140ns</a:t>
            </a:r>
          </a:p>
          <a:p>
            <a:pPr>
              <a:spcBef>
                <a:spcPts val="788"/>
              </a:spcBef>
              <a:buClr>
                <a:srgbClr val="993300"/>
              </a:buClr>
              <a:buSzPct val="90000"/>
              <a:buFont typeface="Monotype Sorts" charset="2"/>
              <a:buChar char=""/>
              <a:defRPr/>
            </a:pPr>
            <a:r>
              <a:rPr lang="en-US" altLang="en-US" dirty="0">
                <a:latin typeface="Arial" charset="0"/>
              </a:rPr>
              <a:t>Consider more realistic hit ratio -&gt;  </a:t>
            </a:r>
            <a:r>
              <a:rPr lang="en-US" altLang="en-US" dirty="0">
                <a:latin typeface="Symbol" pitchFamily="16" charset="2"/>
              </a:rPr>
              <a:t></a:t>
            </a:r>
            <a:r>
              <a:rPr lang="en-US" altLang="en-US" dirty="0">
                <a:latin typeface="Arial" charset="0"/>
              </a:rPr>
              <a:t> = 99%, </a:t>
            </a:r>
            <a:r>
              <a:rPr lang="en-US" altLang="en-US" dirty="0">
                <a:latin typeface="Symbol" pitchFamily="16" charset="2"/>
              </a:rPr>
              <a:t></a:t>
            </a:r>
            <a:r>
              <a:rPr lang="en-US" altLang="en-US" dirty="0">
                <a:latin typeface="Arial" charset="0"/>
              </a:rPr>
              <a:t> = 20ns for TLB search, 100ns for memory access</a:t>
            </a:r>
          </a:p>
          <a:p>
            <a:pPr lvl="1">
              <a:spcBef>
                <a:spcPts val="788"/>
              </a:spcBef>
              <a:buClr>
                <a:srgbClr val="CC6600"/>
              </a:buClr>
              <a:buSzPct val="80000"/>
              <a:buFont typeface="Monotype Sorts" charset="2"/>
              <a:buChar char=""/>
              <a:defRPr/>
            </a:pPr>
            <a:r>
              <a:rPr lang="en-US" altLang="en-US" dirty="0">
                <a:latin typeface="Arial" charset="0"/>
              </a:rPr>
              <a:t>EAT = 0.99 x 120 + 0.01 x 220 = 121ns</a:t>
            </a:r>
          </a:p>
          <a:p>
            <a:pPr lvl="1">
              <a:spcBef>
                <a:spcPts val="788"/>
              </a:spcBef>
              <a:buClr>
                <a:srgbClr val="CC6600"/>
              </a:buClr>
              <a:buSzPct val="80000"/>
              <a:buNone/>
              <a:defRPr/>
            </a:pPr>
            <a:endParaRPr lang="en-US" altLang="en-US" dirty="0">
              <a:latin typeface="Arial" charset="0"/>
            </a:endParaRPr>
          </a:p>
          <a:p>
            <a:pPr marL="342900">
              <a:spcBef>
                <a:spcPts val="788"/>
              </a:spcBef>
              <a:buSzPct val="90000"/>
              <a:defRPr/>
            </a:pPr>
            <a:endParaRPr lang="en-US" altLang="en-US" dirty="0">
              <a:latin typeface="Arial" charset="0"/>
            </a:endParaRP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29294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ייתכן מצב בו חלק מהדפים לא נמצאים בזכרון</a:t>
            </a:r>
          </a:p>
          <a:p>
            <a:pPr algn="r" rtl="1"/>
            <a:r>
              <a:rPr lang="he-IL" dirty="0"/>
              <a:t>ייתכן מצב בו חלק מהדפים לקריאה בלבד</a:t>
            </a:r>
          </a:p>
          <a:p>
            <a:pPr algn="r" rtl="1"/>
            <a:r>
              <a:rPr lang="he-IL" dirty="0"/>
              <a:t>הגנה על זכרון מתבצעת על ידי </a:t>
            </a:r>
            <a:r>
              <a:rPr lang="en-US" dirty="0"/>
              <a:t>protection bit</a:t>
            </a:r>
            <a:r>
              <a:rPr lang="he-IL" dirty="0"/>
              <a:t> לכל </a:t>
            </a:r>
            <a:r>
              <a:rPr lang="en-US" dirty="0"/>
              <a:t>frame</a:t>
            </a:r>
            <a:r>
              <a:rPr lang="he-IL" dirty="0"/>
              <a:t> </a:t>
            </a:r>
          </a:p>
          <a:p>
            <a:pPr lvl="1" algn="r" rtl="1"/>
            <a:r>
              <a:rPr lang="en-US" dirty="0"/>
              <a:t>Valid</a:t>
            </a:r>
            <a:r>
              <a:rPr lang="he-IL" dirty="0"/>
              <a:t> – הדף הוא חלק ממרחב הכתובות של התהליך, והוא דף חוקי</a:t>
            </a:r>
          </a:p>
          <a:p>
            <a:pPr lvl="1" algn="r" rtl="1"/>
            <a:r>
              <a:rPr lang="en-US" dirty="0"/>
              <a:t>Invalid</a:t>
            </a:r>
            <a:r>
              <a:rPr lang="he-IL" dirty="0"/>
              <a:t> – הדף המשוייך אינו חלק ממרחב הכתובות של התהליך</a:t>
            </a:r>
          </a:p>
          <a:p>
            <a:pPr algn="r" rtl="1"/>
            <a:r>
              <a:rPr lang="he-IL" dirty="0"/>
              <a:t>כל הפרה תגרור אחריה פסיקה</a:t>
            </a:r>
          </a:p>
        </p:txBody>
      </p:sp>
    </p:spTree>
    <p:extLst>
      <p:ext uri="{BB962C8B-B14F-4D97-AF65-F5344CB8AC3E}">
        <p14:creationId xmlns:p14="http://schemas.microsoft.com/office/powerpoint/2010/main" val="15780466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545C3A5-8536-466E-8C0A-87626E0741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094" y="1690688"/>
            <a:ext cx="5951812" cy="516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904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Swapping</a:t>
            </a:r>
            <a:endParaRPr lang="en-US" dirty="0"/>
          </a:p>
        </p:txBody>
      </p:sp>
      <p:pic>
        <p:nvPicPr>
          <p:cNvPr id="1026" name="Picture 2" descr="WHAT HAPPENS WHEN NO FREE&#10;FRAME EXISTS?&#10;When no free frame exists in the main&#10;memory we find one, using certain&#10;algorithm,...">
            <a:extLst>
              <a:ext uri="{FF2B5EF4-FFF2-40B4-BE49-F238E27FC236}">
                <a16:creationId xmlns:a16="http://schemas.microsoft.com/office/drawing/2014/main" id="{4C2EF3E0-8ADD-49E9-BDA6-C66DE91125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023" y="1325563"/>
            <a:ext cx="7507377" cy="553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709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Shared pages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תוכנית מחולקת בדרך כלל לשני חלקי קוד – קוד משותף וקוד פרטי</a:t>
            </a:r>
          </a:p>
          <a:p>
            <a:pPr algn="r" rtl="1"/>
            <a:r>
              <a:rPr lang="he-IL" dirty="0"/>
              <a:t>קוד משותף:</a:t>
            </a:r>
          </a:p>
          <a:p>
            <a:pPr lvl="1" algn="r" rtl="1"/>
            <a:r>
              <a:rPr lang="he-IL" dirty="0"/>
              <a:t>עותק אחד לקריאה בלבד של קוד משותף בין תהליכים – </a:t>
            </a:r>
            <a:r>
              <a:rPr lang="en-US" dirty="0"/>
              <a:t>text editor, compilers, browsers, pdf viewer</a:t>
            </a:r>
            <a:endParaRPr lang="he-IL" dirty="0"/>
          </a:p>
          <a:p>
            <a:pPr lvl="1" algn="r" rtl="1"/>
            <a:r>
              <a:rPr lang="he-IL" dirty="0"/>
              <a:t>הקוד המשותף חייב להימצא באותו מקום במרחב הכתובות הלוגי של כל התהליכים</a:t>
            </a:r>
          </a:p>
          <a:p>
            <a:pPr algn="r" rtl="1"/>
            <a:r>
              <a:rPr lang="he-IL" dirty="0"/>
              <a:t>קוד פרטי:</a:t>
            </a:r>
          </a:p>
          <a:p>
            <a:pPr lvl="1" algn="r" rtl="1"/>
            <a:r>
              <a:rPr lang="he-IL" dirty="0"/>
              <a:t>כל תהליך שומר את עותק של הקוד והמידע בעצמו</a:t>
            </a:r>
          </a:p>
          <a:p>
            <a:pPr lvl="1" algn="r" rtl="1"/>
            <a:r>
              <a:rPr lang="he-IL" dirty="0"/>
              <a:t>הדפים של הקוד המשותף והמידע יכולים להמצא בכל מרחב הכתובות הלוגי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32805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Shared pages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F142FDC-C400-4416-A08B-01390076B1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341" y="1690688"/>
            <a:ext cx="5133317" cy="516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94658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Hierarchal 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אם נשתמש בשיטה ישירה של דפדוף, ניתן להגיע לטבלת דפים גדולה מאוד</a:t>
            </a:r>
          </a:p>
          <a:p>
            <a:pPr lvl="1" algn="r" rtl="1"/>
            <a:r>
              <a:rPr lang="he-IL" dirty="0"/>
              <a:t>כתובת לוגית של 32 סיביות</a:t>
            </a:r>
          </a:p>
          <a:p>
            <a:pPr lvl="1" algn="r" rtl="1"/>
            <a:r>
              <a:rPr lang="he-IL" dirty="0"/>
              <a:t>גודל דף </a:t>
            </a:r>
            <a:r>
              <a:rPr lang="en-US" dirty="0"/>
              <a:t>4KB (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he-IL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algn="r" rtl="1"/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גודל טבלת הדפים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32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/ 2</a:t>
            </a:r>
            <a:r>
              <a:rPr lang="en-US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 – מיליון כניסות</a:t>
            </a:r>
          </a:p>
          <a:p>
            <a:pPr algn="r" rtl="1"/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היררכית דפים</a:t>
            </a:r>
          </a:p>
          <a:p>
            <a:pPr lvl="1" algn="r" rtl="1"/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שוברים את מרחב כתובות הלוגיות לכמה טבלאות דפים</a:t>
            </a:r>
          </a:p>
          <a:p>
            <a:pPr lvl="1" algn="r" rtl="1"/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שיטה פשוטה היא 2 רמות בטבלת הדפים</a:t>
            </a:r>
          </a:p>
          <a:p>
            <a:pPr lvl="1" algn="r" rtl="1"/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כל טבלת דפים היא דף בפני עצמה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2625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Hierarchal paging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27FFF01-9D8D-483A-AF7D-1B645FE298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89" y="1704756"/>
            <a:ext cx="4889221" cy="5167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9A3AA-58E8-4997-AB25-A1C41EC26E61}"/>
              </a:ext>
            </a:extLst>
          </p:cNvPr>
          <p:cNvSpPr txBox="1"/>
          <p:nvPr/>
        </p:nvSpPr>
        <p:spPr>
          <a:xfrm>
            <a:off x="1443732" y="2039815"/>
            <a:ext cx="220765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dirty="0"/>
              <a:t>מספר המסגרת בזכרון</a:t>
            </a:r>
          </a:p>
        </p:txBody>
      </p:sp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03D327B1-BD87-466D-A71E-96E1511119E7}"/>
              </a:ext>
            </a:extLst>
          </p:cNvPr>
          <p:cNvCxnSpPr>
            <a:stCxn id="3" idx="2"/>
          </p:cNvCxnSpPr>
          <p:nvPr/>
        </p:nvCxnSpPr>
        <p:spPr>
          <a:xfrm>
            <a:off x="2547561" y="2409147"/>
            <a:ext cx="3548438" cy="727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81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Hierarchal paging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400" dirty="0"/>
              <a:t>דפדוף בשתי רמות: במחשב </a:t>
            </a:r>
            <a:r>
              <a:rPr lang="en-US" sz="2400" dirty="0"/>
              <a:t>32-bit</a:t>
            </a:r>
            <a:r>
              <a:rPr lang="he-IL" sz="2400" dirty="0"/>
              <a:t> כשגודל דף הוא </a:t>
            </a:r>
            <a:r>
              <a:rPr lang="en-US" sz="2400" dirty="0"/>
              <a:t>1KB</a:t>
            </a:r>
            <a:r>
              <a:rPr lang="he-IL" sz="2400" dirty="0"/>
              <a:t>, כתובת לוגית מחולקת ל:</a:t>
            </a:r>
          </a:p>
          <a:p>
            <a:pPr lvl="1" algn="r" rtl="1"/>
            <a:r>
              <a:rPr lang="he-IL" sz="2000" dirty="0"/>
              <a:t>מספר דף – </a:t>
            </a:r>
            <a:r>
              <a:rPr lang="en-US" sz="2000" dirty="0"/>
              <a:t>22 bits</a:t>
            </a:r>
            <a:endParaRPr lang="he-IL" sz="2000" dirty="0"/>
          </a:p>
          <a:p>
            <a:pPr lvl="1" algn="r" rtl="1"/>
            <a:r>
              <a:rPr lang="he-IL" sz="2000" dirty="0"/>
              <a:t>היסט בדף – </a:t>
            </a:r>
            <a:r>
              <a:rPr lang="en-US" sz="2000" dirty="0"/>
              <a:t>10 bits</a:t>
            </a:r>
            <a:endParaRPr lang="he-IL" sz="2000" dirty="0"/>
          </a:p>
          <a:p>
            <a:pPr algn="r" rtl="1"/>
            <a:endParaRPr lang="he-IL" sz="2400" dirty="0"/>
          </a:p>
          <a:p>
            <a:pPr algn="r" rtl="1"/>
            <a:r>
              <a:rPr lang="he-IL" sz="2400" dirty="0"/>
              <a:t>מאחר וטבלת הדפים היא דף בפני עצמו, מספר הדף מחולק יותר:</a:t>
            </a:r>
          </a:p>
          <a:p>
            <a:pPr lvl="1" algn="r" rtl="1"/>
            <a:r>
              <a:rPr lang="en-US" sz="2000" dirty="0"/>
              <a:t>12 bit</a:t>
            </a:r>
            <a:r>
              <a:rPr lang="he-IL" sz="2000" dirty="0"/>
              <a:t> – מספר דף</a:t>
            </a:r>
          </a:p>
          <a:p>
            <a:pPr lvl="1" algn="r" rtl="1"/>
            <a:r>
              <a:rPr lang="en-US" sz="2000" dirty="0"/>
              <a:t>10 bit</a:t>
            </a:r>
            <a:r>
              <a:rPr lang="he-IL" sz="2000" dirty="0"/>
              <a:t> – היסט בדף</a:t>
            </a:r>
          </a:p>
          <a:p>
            <a:pPr algn="r" rtl="1"/>
            <a:endParaRPr lang="he-IL" sz="2400" dirty="0"/>
          </a:p>
          <a:p>
            <a:pPr algn="r" rtl="1"/>
            <a:r>
              <a:rPr lang="he-IL" sz="2400" dirty="0"/>
              <a:t>כאשר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 </a:t>
            </a:r>
            <a:r>
              <a:rPr lang="he-IL" altLang="en-US" sz="2400" dirty="0"/>
              <a:t> </a:t>
            </a:r>
            <a:r>
              <a:rPr lang="he-IL" sz="2400" dirty="0"/>
              <a:t>הוא אינדקס בטבלת הדפים החיצונית, ו –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2</a:t>
            </a:r>
            <a:r>
              <a:rPr lang="he-IL" altLang="en-US" sz="2400" i="1" baseline="-25000" dirty="0"/>
              <a:t> </a:t>
            </a:r>
            <a:r>
              <a:rPr lang="he-IL" sz="2400" dirty="0"/>
              <a:t>הוא אינדקס בטבלת הדפים הפנימית</a:t>
            </a:r>
          </a:p>
          <a:p>
            <a:pPr marL="0" indent="0" algn="r" rtl="1">
              <a:buNone/>
            </a:pPr>
            <a:endParaRPr lang="he-IL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6CA07-BDB9-4AD5-B85F-CF5EC2A92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437" y="4001294"/>
            <a:ext cx="3159125" cy="1055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02264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Paging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4E69EA-1218-4DE8-86F5-8145AA2CD3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333" y="1948370"/>
            <a:ext cx="9733333" cy="4105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9261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Hierarchal paging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7F399BD-FF08-46EA-AC62-F5D549227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dirty="0"/>
                  <a:t>בשיטת דפדוף עם רמות, כל רמה היא טבלה נפרדת בזכרון</a:t>
                </a:r>
              </a:p>
              <a:p>
                <a:pPr lvl="1" algn="r" rtl="1"/>
                <a:r>
                  <a:rPr lang="he-IL" dirty="0"/>
                  <a:t>המרת כתובת לוגית לכתובת פיזית יכולה להיות </a:t>
                </a:r>
                <a:r>
                  <a:rPr lang="en-US" dirty="0"/>
                  <a:t>5</a:t>
                </a:r>
                <a:r>
                  <a:rPr lang="he-IL" dirty="0"/>
                  <a:t> גישות זכרון (אם יש לנו </a:t>
                </a:r>
                <a:r>
                  <a:rPr lang="en-US" dirty="0"/>
                  <a:t>4</a:t>
                </a:r>
                <a:r>
                  <a:rPr lang="he-IL" dirty="0"/>
                  <a:t> רמות)</a:t>
                </a:r>
                <a:endParaRPr lang="en-US" dirty="0"/>
              </a:p>
              <a:p>
                <a:pPr algn="r" rtl="1"/>
                <a:r>
                  <a:rPr lang="he-IL" dirty="0"/>
                  <a:t>למשל, בשיטת דפדוף של 4 רמות כאשר יש </a:t>
                </a:r>
                <a:r>
                  <a:rPr lang="en-US" dirty="0"/>
                  <a:t>TLB</a:t>
                </a:r>
                <a:r>
                  <a:rPr lang="he-IL" dirty="0"/>
                  <a:t> עם סיכוי </a:t>
                </a:r>
                <a:r>
                  <a:rPr lang="en-US" dirty="0"/>
                  <a:t>hit=98%</a:t>
                </a:r>
                <a:r>
                  <a:rPr lang="he-IL" dirty="0"/>
                  <a:t>, גישה לזכרון היא </a:t>
                </a:r>
                <a:r>
                  <a:rPr lang="en-US" dirty="0"/>
                  <a:t>100ns</a:t>
                </a:r>
                <a:r>
                  <a:rPr lang="he-IL" dirty="0"/>
                  <a:t> בעוד גישה ל </a:t>
                </a:r>
                <a:r>
                  <a:rPr lang="en-US" dirty="0"/>
                  <a:t>TLB</a:t>
                </a:r>
                <a:r>
                  <a:rPr lang="he-IL" dirty="0"/>
                  <a:t> היא </a:t>
                </a:r>
                <a:r>
                  <a:rPr lang="en-US" dirty="0"/>
                  <a:t>20ns</a:t>
                </a:r>
                <a:endParaRPr lang="he-I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𝐸𝐴𝑇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120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98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520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02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128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𝑛𝑠</m:t>
                      </m:r>
                    </m:oMath>
                  </m:oMathPara>
                </a14:m>
                <a:endParaRPr lang="en-US" altLang="en-US" dirty="0">
                  <a:latin typeface="Arial" charset="0"/>
                </a:endParaRPr>
              </a:p>
              <a:p>
                <a:pPr marL="0" indent="0" algn="r" rtl="1">
                  <a:buNone/>
                </a:pPr>
                <a:endParaRPr lang="he-IL" dirty="0"/>
              </a:p>
              <a:p>
                <a:pPr algn="r" rtl="1"/>
                <a:endParaRPr lang="he-I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7F399BD-FF08-46EA-AC62-F5D549227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 r="-104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46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Segmented Paged Memory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כניסה בטבלת הסגמנטים מכילה לא את כתובת הבסיס הפיזית של הסגמנט, אלא את כתובת טבלת הדפים של הסגמנט</a:t>
            </a:r>
          </a:p>
          <a:p>
            <a:pPr algn="r" rtl="1"/>
            <a:r>
              <a:rPr lang="he-IL" dirty="0"/>
              <a:t>שימוש בסגמנטציה מצריך זכרון רציף, דבר בגורם לשברור. בשיטה הזו פותרים את הבעיה כי מחלקים את הסגמנטים לדפים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905335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11" y="11491"/>
            <a:ext cx="10515600" cy="1106109"/>
          </a:xfrm>
        </p:spPr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Hierarchal paging</a:t>
            </a:r>
            <a:endParaRPr lang="en-US" dirty="0"/>
          </a:p>
        </p:txBody>
      </p:sp>
      <p:sp>
        <p:nvSpPr>
          <p:cNvPr id="17" name="מציין מיקום תוכן 3">
            <a:extLst>
              <a:ext uri="{FF2B5EF4-FFF2-40B4-BE49-F238E27FC236}">
                <a16:creationId xmlns:a16="http://schemas.microsoft.com/office/drawing/2014/main" id="{DF96AF33-C115-4E43-B8F8-B29D375FF600}"/>
              </a:ext>
            </a:extLst>
          </p:cNvPr>
          <p:cNvSpPr txBox="1">
            <a:spLocks noChangeArrowheads="1"/>
          </p:cNvSpPr>
          <p:nvPr/>
        </p:nvSpPr>
        <p:spPr>
          <a:xfrm>
            <a:off x="1681090" y="14478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S – </a:t>
            </a:r>
            <a:r>
              <a:rPr lang="he-IL" altLang="en-US" dirty="0"/>
              <a:t>מספר סגמנט</a:t>
            </a:r>
            <a:endParaRPr lang="en-US" altLang="en-US" dirty="0"/>
          </a:p>
          <a:p>
            <a:r>
              <a:rPr lang="en-US" altLang="en-US" dirty="0"/>
              <a:t>P – </a:t>
            </a:r>
            <a:r>
              <a:rPr lang="he-IL" altLang="en-US" dirty="0"/>
              <a:t>מספר הדף בסגמנט</a:t>
            </a:r>
            <a:endParaRPr lang="en-US" altLang="en-US" dirty="0"/>
          </a:p>
          <a:p>
            <a:r>
              <a:rPr lang="en-US" altLang="en-US" dirty="0"/>
              <a:t>d – </a:t>
            </a:r>
            <a:r>
              <a:rPr lang="he-IL" altLang="en-US" dirty="0"/>
              <a:t>ההיסט בתוך הדף</a:t>
            </a:r>
          </a:p>
        </p:txBody>
      </p:sp>
      <p:graphicFrame>
        <p:nvGraphicFramePr>
          <p:cNvPr id="18" name="טבלה 2">
            <a:extLst>
              <a:ext uri="{FF2B5EF4-FFF2-40B4-BE49-F238E27FC236}">
                <a16:creationId xmlns:a16="http://schemas.microsoft.com/office/drawing/2014/main" id="{77A1B7B1-8729-4BD8-9D19-336F43DF7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955"/>
              </p:ext>
            </p:extLst>
          </p:nvPr>
        </p:nvGraphicFramePr>
        <p:xfrm>
          <a:off x="7767711" y="1173162"/>
          <a:ext cx="2743200" cy="39687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/>
                        <a:t>P</a:t>
                      </a:r>
                      <a:endParaRPr lang="he-IL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/>
                        <a:t>S</a:t>
                      </a:r>
                      <a:endParaRPr lang="he-IL" sz="1800" dirty="0"/>
                    </a:p>
                  </a:txBody>
                  <a:tcPr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טבלה 5">
            <a:extLst>
              <a:ext uri="{FF2B5EF4-FFF2-40B4-BE49-F238E27FC236}">
                <a16:creationId xmlns:a16="http://schemas.microsoft.com/office/drawing/2014/main" id="{5724564B-4041-4500-B96A-E5F2124AF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731145"/>
              </p:ext>
            </p:extLst>
          </p:nvPr>
        </p:nvGraphicFramePr>
        <p:xfrm>
          <a:off x="2357511" y="3911600"/>
          <a:ext cx="762000" cy="20320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טבלה 7">
            <a:extLst>
              <a:ext uri="{FF2B5EF4-FFF2-40B4-BE49-F238E27FC236}">
                <a16:creationId xmlns:a16="http://schemas.microsoft.com/office/drawing/2014/main" id="{334734B4-41E4-414B-AEBA-16E7654D9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747490"/>
              </p:ext>
            </p:extLst>
          </p:nvPr>
        </p:nvGraphicFramePr>
        <p:xfrm>
          <a:off x="4110111" y="2971800"/>
          <a:ext cx="685800" cy="1219200"/>
        </p:xfrm>
        <a:graphic>
          <a:graphicData uri="http://schemas.openxmlformats.org/drawingml/2006/table">
            <a:tbl>
              <a:tblPr rtl="1"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0</a:t>
                      </a: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1</a:t>
                      </a: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2</a:t>
                      </a: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24</a:t>
                      </a:r>
                      <a:endParaRPr kumimoji="0" lang="he-IL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3</a:t>
                      </a:r>
                      <a:endParaRPr kumimoji="0" lang="he-IL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טבלה 8">
            <a:extLst>
              <a:ext uri="{FF2B5EF4-FFF2-40B4-BE49-F238E27FC236}">
                <a16:creationId xmlns:a16="http://schemas.microsoft.com/office/drawing/2014/main" id="{B4BC0A1D-F51A-4EDE-835F-EA4A05C38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509787"/>
              </p:ext>
            </p:extLst>
          </p:nvPr>
        </p:nvGraphicFramePr>
        <p:xfrm>
          <a:off x="4110111" y="5029200"/>
          <a:ext cx="685800" cy="9144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rtl="1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he-IL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9</a:t>
                      </a:r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2" name="מחבר מעוקל 35">
            <a:extLst>
              <a:ext uri="{FF2B5EF4-FFF2-40B4-BE49-F238E27FC236}">
                <a16:creationId xmlns:a16="http://schemas.microsoft.com/office/drawing/2014/main" id="{E1CFF9CD-EE78-4C4C-8C61-DE946945F893}"/>
              </a:ext>
            </a:extLst>
          </p:cNvPr>
          <p:cNvCxnSpPr/>
          <p:nvPr/>
        </p:nvCxnSpPr>
        <p:spPr>
          <a:xfrm flipV="1">
            <a:off x="2738511" y="2971800"/>
            <a:ext cx="1371600" cy="914400"/>
          </a:xfrm>
          <a:prstGeom prst="curvedConnector3">
            <a:avLst>
              <a:gd name="adj1" fmla="val -79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טבלה 37">
            <a:extLst>
              <a:ext uri="{FF2B5EF4-FFF2-40B4-BE49-F238E27FC236}">
                <a16:creationId xmlns:a16="http://schemas.microsoft.com/office/drawing/2014/main" id="{F0C6E890-A2F1-4F16-AB9E-D388170AD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73420"/>
              </p:ext>
            </p:extLst>
          </p:nvPr>
        </p:nvGraphicFramePr>
        <p:xfrm>
          <a:off x="6396111" y="2514600"/>
          <a:ext cx="457200" cy="3352800"/>
        </p:xfrm>
        <a:graphic>
          <a:graphicData uri="http://schemas.openxmlformats.org/drawingml/2006/table">
            <a:tbl>
              <a:tblPr rtl="1"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MS PGothic" pitchFamily="34" charset="-128"/>
                        </a:rPr>
                        <a:t>A</a:t>
                      </a: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" name="טבלה 38">
            <a:extLst>
              <a:ext uri="{FF2B5EF4-FFF2-40B4-BE49-F238E27FC236}">
                <a16:creationId xmlns:a16="http://schemas.microsoft.com/office/drawing/2014/main" id="{983497F3-08FE-42C5-969A-96D89627A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44382"/>
              </p:ext>
            </p:extLst>
          </p:nvPr>
        </p:nvGraphicFramePr>
        <p:xfrm>
          <a:off x="7691511" y="2514600"/>
          <a:ext cx="2895600" cy="533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" name="מחבר ישר 43">
            <a:extLst>
              <a:ext uri="{FF2B5EF4-FFF2-40B4-BE49-F238E27FC236}">
                <a16:creationId xmlns:a16="http://schemas.microsoft.com/office/drawing/2014/main" id="{B92530C2-833C-4529-B941-EC76B773B4C9}"/>
              </a:ext>
            </a:extLst>
          </p:cNvPr>
          <p:cNvCxnSpPr/>
          <p:nvPr/>
        </p:nvCxnSpPr>
        <p:spPr>
          <a:xfrm flipV="1">
            <a:off x="4795911" y="2590800"/>
            <a:ext cx="1371600" cy="144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מרפקי 51">
            <a:extLst>
              <a:ext uri="{FF2B5EF4-FFF2-40B4-BE49-F238E27FC236}">
                <a16:creationId xmlns:a16="http://schemas.microsoft.com/office/drawing/2014/main" id="{9E2221B2-E547-44F4-BE91-EA9C067DBBEF}"/>
              </a:ext>
            </a:extLst>
          </p:cNvPr>
          <p:cNvCxnSpPr/>
          <p:nvPr/>
        </p:nvCxnSpPr>
        <p:spPr>
          <a:xfrm flipV="1">
            <a:off x="6167511" y="2514600"/>
            <a:ext cx="304800" cy="76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טבלה 54">
            <a:extLst>
              <a:ext uri="{FF2B5EF4-FFF2-40B4-BE49-F238E27FC236}">
                <a16:creationId xmlns:a16="http://schemas.microsoft.com/office/drawing/2014/main" id="{3328A0E8-7979-4054-983A-5B03B969D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520839"/>
              </p:ext>
            </p:extLst>
          </p:nvPr>
        </p:nvGraphicFramePr>
        <p:xfrm>
          <a:off x="6396111" y="5943600"/>
          <a:ext cx="457200" cy="9144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rtl="1"/>
                      <a:endParaRPr lang="he-IL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טבלה 55">
            <a:extLst>
              <a:ext uri="{FF2B5EF4-FFF2-40B4-BE49-F238E27FC236}">
                <a16:creationId xmlns:a16="http://schemas.microsoft.com/office/drawing/2014/main" id="{D2E9B639-8A66-4846-8E6A-2C2248D45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070697"/>
              </p:ext>
            </p:extLst>
          </p:nvPr>
        </p:nvGraphicFramePr>
        <p:xfrm>
          <a:off x="6396111" y="1524000"/>
          <a:ext cx="457200" cy="9144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rtl="1"/>
                      <a:endParaRPr lang="he-IL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A33A01-C665-428A-A88E-BFA7465678B3}"/>
              </a:ext>
            </a:extLst>
          </p:cNvPr>
          <p:cNvSpPr txBox="1"/>
          <p:nvPr/>
        </p:nvSpPr>
        <p:spPr>
          <a:xfrm>
            <a:off x="1725638" y="596900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טבלת סגמנטים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5BC149-1444-4380-8E29-BD9F7B9E282C}"/>
              </a:ext>
            </a:extLst>
          </p:cNvPr>
          <p:cNvSpPr txBox="1"/>
          <p:nvPr/>
        </p:nvSpPr>
        <p:spPr>
          <a:xfrm>
            <a:off x="3681005" y="6011203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טבלת דפים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3611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11" y="11491"/>
            <a:ext cx="10515600" cy="1106109"/>
          </a:xfrm>
        </p:spPr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Hierarchal paging</a:t>
            </a:r>
            <a:endParaRPr lang="en-US" dirty="0"/>
          </a:p>
        </p:txBody>
      </p:sp>
      <p:sp>
        <p:nvSpPr>
          <p:cNvPr id="17" name="מציין מיקום תוכן 3">
            <a:extLst>
              <a:ext uri="{FF2B5EF4-FFF2-40B4-BE49-F238E27FC236}">
                <a16:creationId xmlns:a16="http://schemas.microsoft.com/office/drawing/2014/main" id="{DF96AF33-C115-4E43-B8F8-B29D375FF600}"/>
              </a:ext>
            </a:extLst>
          </p:cNvPr>
          <p:cNvSpPr txBox="1">
            <a:spLocks noChangeArrowheads="1"/>
          </p:cNvSpPr>
          <p:nvPr/>
        </p:nvSpPr>
        <p:spPr>
          <a:xfrm>
            <a:off x="182735" y="827181"/>
            <a:ext cx="3271911" cy="1192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S – </a:t>
            </a:r>
            <a:r>
              <a:rPr lang="he-IL" altLang="en-US" sz="2000" dirty="0"/>
              <a:t>מספר סגמנט</a:t>
            </a:r>
            <a:endParaRPr lang="en-US" altLang="en-US" sz="2000" dirty="0"/>
          </a:p>
          <a:p>
            <a:r>
              <a:rPr lang="en-US" altLang="en-US" sz="2000" dirty="0"/>
              <a:t>P – </a:t>
            </a:r>
            <a:r>
              <a:rPr lang="he-IL" altLang="en-US" sz="2000" dirty="0"/>
              <a:t>מספר הדף בסגמנט</a:t>
            </a:r>
            <a:endParaRPr lang="en-US" altLang="en-US" sz="2000" dirty="0"/>
          </a:p>
          <a:p>
            <a:r>
              <a:rPr lang="en-US" altLang="en-US" sz="2000" dirty="0"/>
              <a:t>d – </a:t>
            </a:r>
            <a:r>
              <a:rPr lang="he-IL" altLang="en-US" sz="2000" dirty="0"/>
              <a:t>ההיסט בתוך הדף</a:t>
            </a:r>
          </a:p>
        </p:txBody>
      </p:sp>
      <p:graphicFrame>
        <p:nvGraphicFramePr>
          <p:cNvPr id="19" name="טבלה 5">
            <a:extLst>
              <a:ext uri="{FF2B5EF4-FFF2-40B4-BE49-F238E27FC236}">
                <a16:creationId xmlns:a16="http://schemas.microsoft.com/office/drawing/2014/main" id="{5724564B-4041-4500-B96A-E5F2124AF22B}"/>
              </a:ext>
            </a:extLst>
          </p:cNvPr>
          <p:cNvGraphicFramePr>
            <a:graphicFrameLocks noGrp="1"/>
          </p:cNvGraphicFramePr>
          <p:nvPr/>
        </p:nvGraphicFramePr>
        <p:xfrm>
          <a:off x="2357511" y="3911600"/>
          <a:ext cx="762000" cy="20320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טבלה 7">
            <a:extLst>
              <a:ext uri="{FF2B5EF4-FFF2-40B4-BE49-F238E27FC236}">
                <a16:creationId xmlns:a16="http://schemas.microsoft.com/office/drawing/2014/main" id="{334734B4-41E4-414B-AEBA-16E7654D9902}"/>
              </a:ext>
            </a:extLst>
          </p:cNvPr>
          <p:cNvGraphicFramePr>
            <a:graphicFrameLocks noGrp="1"/>
          </p:cNvGraphicFramePr>
          <p:nvPr/>
        </p:nvGraphicFramePr>
        <p:xfrm>
          <a:off x="4110111" y="2971800"/>
          <a:ext cx="685800" cy="1219200"/>
        </p:xfrm>
        <a:graphic>
          <a:graphicData uri="http://schemas.openxmlformats.org/drawingml/2006/table">
            <a:tbl>
              <a:tblPr rtl="1"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0</a:t>
                      </a: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1</a:t>
                      </a: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2</a:t>
                      </a: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24</a:t>
                      </a:r>
                      <a:endParaRPr kumimoji="0" lang="he-IL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</a:rPr>
                        <a:t>3</a:t>
                      </a:r>
                      <a:endParaRPr kumimoji="0" lang="he-IL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marL="36000" marR="36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טבלה 8">
            <a:extLst>
              <a:ext uri="{FF2B5EF4-FFF2-40B4-BE49-F238E27FC236}">
                <a16:creationId xmlns:a16="http://schemas.microsoft.com/office/drawing/2014/main" id="{B4BC0A1D-F51A-4EDE-835F-EA4A05C385B4}"/>
              </a:ext>
            </a:extLst>
          </p:cNvPr>
          <p:cNvGraphicFramePr>
            <a:graphicFrameLocks noGrp="1"/>
          </p:cNvGraphicFramePr>
          <p:nvPr/>
        </p:nvGraphicFramePr>
        <p:xfrm>
          <a:off x="4110111" y="5029200"/>
          <a:ext cx="685800" cy="9144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rtl="1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he-IL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9</a:t>
                      </a:r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2" name="מחבר מעוקל 35">
            <a:extLst>
              <a:ext uri="{FF2B5EF4-FFF2-40B4-BE49-F238E27FC236}">
                <a16:creationId xmlns:a16="http://schemas.microsoft.com/office/drawing/2014/main" id="{E1CFF9CD-EE78-4C4C-8C61-DE946945F893}"/>
              </a:ext>
            </a:extLst>
          </p:cNvPr>
          <p:cNvCxnSpPr/>
          <p:nvPr/>
        </p:nvCxnSpPr>
        <p:spPr>
          <a:xfrm flipV="1">
            <a:off x="2738511" y="2971800"/>
            <a:ext cx="1371600" cy="914400"/>
          </a:xfrm>
          <a:prstGeom prst="curvedConnector3">
            <a:avLst>
              <a:gd name="adj1" fmla="val -79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טבלה 37">
            <a:extLst>
              <a:ext uri="{FF2B5EF4-FFF2-40B4-BE49-F238E27FC236}">
                <a16:creationId xmlns:a16="http://schemas.microsoft.com/office/drawing/2014/main" id="{F0C6E890-A2F1-4F16-AB9E-D388170AD5A0}"/>
              </a:ext>
            </a:extLst>
          </p:cNvPr>
          <p:cNvGraphicFramePr>
            <a:graphicFrameLocks noGrp="1"/>
          </p:cNvGraphicFramePr>
          <p:nvPr/>
        </p:nvGraphicFramePr>
        <p:xfrm>
          <a:off x="6396111" y="2514600"/>
          <a:ext cx="457200" cy="3352800"/>
        </p:xfrm>
        <a:graphic>
          <a:graphicData uri="http://schemas.openxmlformats.org/drawingml/2006/table">
            <a:tbl>
              <a:tblPr rtl="1"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MS PGothic" pitchFamily="34" charset="-128"/>
                        </a:rPr>
                        <a:t>A</a:t>
                      </a: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4572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e-IL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" name="טבלה 38">
            <a:extLst>
              <a:ext uri="{FF2B5EF4-FFF2-40B4-BE49-F238E27FC236}">
                <a16:creationId xmlns:a16="http://schemas.microsoft.com/office/drawing/2014/main" id="{983497F3-08FE-42C5-969A-96D89627A908}"/>
              </a:ext>
            </a:extLst>
          </p:cNvPr>
          <p:cNvGraphicFramePr>
            <a:graphicFrameLocks noGrp="1"/>
          </p:cNvGraphicFramePr>
          <p:nvPr/>
        </p:nvGraphicFramePr>
        <p:xfrm>
          <a:off x="7691511" y="2514600"/>
          <a:ext cx="2895600" cy="533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" name="מחבר ישר 43">
            <a:extLst>
              <a:ext uri="{FF2B5EF4-FFF2-40B4-BE49-F238E27FC236}">
                <a16:creationId xmlns:a16="http://schemas.microsoft.com/office/drawing/2014/main" id="{B92530C2-833C-4529-B941-EC76B773B4C9}"/>
              </a:ext>
            </a:extLst>
          </p:cNvPr>
          <p:cNvCxnSpPr/>
          <p:nvPr/>
        </p:nvCxnSpPr>
        <p:spPr>
          <a:xfrm flipV="1">
            <a:off x="4795911" y="2590800"/>
            <a:ext cx="1371600" cy="144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מרפקי 51">
            <a:extLst>
              <a:ext uri="{FF2B5EF4-FFF2-40B4-BE49-F238E27FC236}">
                <a16:creationId xmlns:a16="http://schemas.microsoft.com/office/drawing/2014/main" id="{9E2221B2-E547-44F4-BE91-EA9C067DBBEF}"/>
              </a:ext>
            </a:extLst>
          </p:cNvPr>
          <p:cNvCxnSpPr/>
          <p:nvPr/>
        </p:nvCxnSpPr>
        <p:spPr>
          <a:xfrm flipV="1">
            <a:off x="6167511" y="2514600"/>
            <a:ext cx="304800" cy="76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טבלה 54">
            <a:extLst>
              <a:ext uri="{FF2B5EF4-FFF2-40B4-BE49-F238E27FC236}">
                <a16:creationId xmlns:a16="http://schemas.microsoft.com/office/drawing/2014/main" id="{3328A0E8-7979-4054-983A-5B03B969D195}"/>
              </a:ext>
            </a:extLst>
          </p:cNvPr>
          <p:cNvGraphicFramePr>
            <a:graphicFrameLocks noGrp="1"/>
          </p:cNvGraphicFramePr>
          <p:nvPr/>
        </p:nvGraphicFramePr>
        <p:xfrm>
          <a:off x="6396111" y="5943600"/>
          <a:ext cx="457200" cy="9144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rtl="1"/>
                      <a:endParaRPr lang="he-IL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טבלה 55">
            <a:extLst>
              <a:ext uri="{FF2B5EF4-FFF2-40B4-BE49-F238E27FC236}">
                <a16:creationId xmlns:a16="http://schemas.microsoft.com/office/drawing/2014/main" id="{D2E9B639-8A66-4846-8E6A-2C2248D457E3}"/>
              </a:ext>
            </a:extLst>
          </p:cNvPr>
          <p:cNvGraphicFramePr>
            <a:graphicFrameLocks noGrp="1"/>
          </p:cNvGraphicFramePr>
          <p:nvPr/>
        </p:nvGraphicFramePr>
        <p:xfrm>
          <a:off x="6396111" y="1524000"/>
          <a:ext cx="457200" cy="914400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rtl="1"/>
                      <a:endParaRPr lang="he-IL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Line 106">
            <a:extLst>
              <a:ext uri="{FF2B5EF4-FFF2-40B4-BE49-F238E27FC236}">
                <a16:creationId xmlns:a16="http://schemas.microsoft.com/office/drawing/2014/main" id="{E314CC58-C870-4D52-A4F1-F8A6FD9CAF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5089" y="3009900"/>
            <a:ext cx="4495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107">
            <a:extLst>
              <a:ext uri="{FF2B5EF4-FFF2-40B4-BE49-F238E27FC236}">
                <a16:creationId xmlns:a16="http://schemas.microsoft.com/office/drawing/2014/main" id="{02950FC1-8445-41FB-AC72-EC1FFC933E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1489" y="3009900"/>
            <a:ext cx="3962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108">
            <a:extLst>
              <a:ext uri="{FF2B5EF4-FFF2-40B4-BE49-F238E27FC236}">
                <a16:creationId xmlns:a16="http://schemas.microsoft.com/office/drawing/2014/main" id="{52FF137A-B0C1-4C29-8AFE-BF2BDA8CC9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8889" y="3009900"/>
            <a:ext cx="31242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כותרת 1">
            <a:extLst>
              <a:ext uri="{FF2B5EF4-FFF2-40B4-BE49-F238E27FC236}">
                <a16:creationId xmlns:a16="http://schemas.microsoft.com/office/drawing/2014/main" id="{2557CAB8-A61F-4AA2-AC06-F0AE5B107378}"/>
              </a:ext>
            </a:extLst>
          </p:cNvPr>
          <p:cNvSpPr>
            <a:spLocks/>
          </p:cNvSpPr>
          <p:nvPr/>
        </p:nvSpPr>
        <p:spPr bwMode="auto">
          <a:xfrm>
            <a:off x="9453489" y="20193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rtl="1">
              <a:spcBef>
                <a:spcPct val="0"/>
              </a:spcBef>
            </a:pPr>
            <a:r>
              <a:rPr lang="he-IL" altLang="en-US" sz="140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תא מספר 5 בדף/במסגרת</a:t>
            </a:r>
          </a:p>
        </p:txBody>
      </p:sp>
      <p:sp>
        <p:nvSpPr>
          <p:cNvPr id="41" name="כותרת 1">
            <a:extLst>
              <a:ext uri="{FF2B5EF4-FFF2-40B4-BE49-F238E27FC236}">
                <a16:creationId xmlns:a16="http://schemas.microsoft.com/office/drawing/2014/main" id="{F391C299-9A2C-4161-A246-16209A1B4D67}"/>
              </a:ext>
            </a:extLst>
          </p:cNvPr>
          <p:cNvSpPr>
            <a:spLocks/>
          </p:cNvSpPr>
          <p:nvPr/>
        </p:nvSpPr>
        <p:spPr bwMode="auto">
          <a:xfrm>
            <a:off x="8500989" y="1447800"/>
            <a:ext cx="99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rtl="1">
              <a:spcBef>
                <a:spcPct val="0"/>
              </a:spcBef>
            </a:pPr>
            <a:r>
              <a:rPr lang="he-IL" altLang="en-US" sz="1400" dirty="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הדף נמצא בתא מספר 3 בטבלת הדפים של הסגמנט </a:t>
            </a:r>
          </a:p>
        </p:txBody>
      </p:sp>
      <p:sp>
        <p:nvSpPr>
          <p:cNvPr id="42" name="כותרת 1">
            <a:extLst>
              <a:ext uri="{FF2B5EF4-FFF2-40B4-BE49-F238E27FC236}">
                <a16:creationId xmlns:a16="http://schemas.microsoft.com/office/drawing/2014/main" id="{28185B0A-62EA-4757-AF24-70D70B911C02}"/>
              </a:ext>
            </a:extLst>
          </p:cNvPr>
          <p:cNvSpPr>
            <a:spLocks/>
          </p:cNvSpPr>
          <p:nvPr/>
        </p:nvSpPr>
        <p:spPr bwMode="auto">
          <a:xfrm>
            <a:off x="7610329" y="1828800"/>
            <a:ext cx="990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spcBef>
                <a:spcPts val="7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rtl="1">
              <a:spcBef>
                <a:spcPct val="0"/>
              </a:spcBef>
            </a:pPr>
            <a:r>
              <a:rPr lang="he-IL" altLang="en-US" sz="1400" dirty="0">
                <a:solidFill>
                  <a:schemeClr val="tx2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תא מספר 0 בטבלת הסגמנטים</a:t>
            </a:r>
          </a:p>
        </p:txBody>
      </p:sp>
      <p:graphicFrame>
        <p:nvGraphicFramePr>
          <p:cNvPr id="43" name="טבלה 2">
            <a:extLst>
              <a:ext uri="{FF2B5EF4-FFF2-40B4-BE49-F238E27FC236}">
                <a16:creationId xmlns:a16="http://schemas.microsoft.com/office/drawing/2014/main" id="{5BA87FC3-E22F-4204-B5B1-F22C11009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929688"/>
              </p:ext>
            </p:extLst>
          </p:nvPr>
        </p:nvGraphicFramePr>
        <p:xfrm>
          <a:off x="7767711" y="1004346"/>
          <a:ext cx="2743200" cy="39687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/>
                        <a:t>d</a:t>
                      </a:r>
                      <a:endParaRPr lang="he-IL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/>
                        <a:t>P</a:t>
                      </a:r>
                      <a:endParaRPr lang="he-IL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dirty="0"/>
                        <a:t>S</a:t>
                      </a:r>
                      <a:endParaRPr lang="he-IL" sz="1800" dirty="0"/>
                    </a:p>
                  </a:txBody>
                  <a:tcPr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EDF9A3-1537-4593-9529-C7733DA3E700}"/>
              </a:ext>
            </a:extLst>
          </p:cNvPr>
          <p:cNvSpPr txBox="1"/>
          <p:nvPr/>
        </p:nvSpPr>
        <p:spPr>
          <a:xfrm>
            <a:off x="623668" y="4319172"/>
            <a:ext cx="1486486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טבלת הסגמנטים – כל כניסה = מיקום טבלת הדפים של סגמנט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FE4DAB-76F0-4167-AFD4-7F2F08EA6256}"/>
              </a:ext>
            </a:extLst>
          </p:cNvPr>
          <p:cNvSpPr txBox="1"/>
          <p:nvPr/>
        </p:nvSpPr>
        <p:spPr>
          <a:xfrm>
            <a:off x="3757540" y="1506195"/>
            <a:ext cx="1486486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טבלת הדפים של סגמנט: כל כניסה – מיקום המסגרת </a:t>
            </a:r>
            <a:r>
              <a:rPr lang="he-IL" dirty="0" err="1"/>
              <a:t>בזכרון</a:t>
            </a:r>
            <a:endParaRPr lang="he-I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459995-EE65-4A60-BACD-75C3EB41462A}"/>
              </a:ext>
            </a:extLst>
          </p:cNvPr>
          <p:cNvSpPr txBox="1"/>
          <p:nvPr/>
        </p:nvSpPr>
        <p:spPr>
          <a:xfrm>
            <a:off x="7067551" y="5163234"/>
            <a:ext cx="108555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המסגרת </a:t>
            </a:r>
            <a:r>
              <a:rPr lang="he-IL" dirty="0" err="1"/>
              <a:t>בזכרון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1065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6492-7768-4763-952E-EBCC2962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Memory Management</a:t>
            </a:r>
            <a:br>
              <a:rPr lang="he-IL" dirty="0"/>
            </a:br>
            <a:r>
              <a:rPr lang="en-US" sz="2800" dirty="0"/>
              <a:t>Hierarchal paging</a:t>
            </a:r>
            <a:endParaRPr lang="en-US" dirty="0"/>
          </a:p>
        </p:txBody>
      </p:sp>
      <p:pic>
        <p:nvPicPr>
          <p:cNvPr id="4" name="Content Placeholder 3" descr="F:\extralink\classes\cs323uiuc\Lectures\8\8.Segment\talk\img8.gif">
            <a:extLst>
              <a:ext uri="{FF2B5EF4-FFF2-40B4-BE49-F238E27FC236}">
                <a16:creationId xmlns:a16="http://schemas.microsoft.com/office/drawing/2014/main" id="{2F27BD0E-A091-48CB-B896-6F5A818429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849" y="1314961"/>
            <a:ext cx="5338302" cy="5543039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31102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399BD-FF08-46EA-AC62-F5D549227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4351338"/>
          </a:xfrm>
        </p:spPr>
        <p:txBody>
          <a:bodyPr>
            <a:normAutofit/>
          </a:bodyPr>
          <a:lstStyle/>
          <a:p>
            <a:pPr algn="r" rtl="1"/>
            <a:r>
              <a:rPr lang="he-IL" sz="2400" b="1" dirty="0"/>
              <a:t>שאלה: </a:t>
            </a:r>
            <a:r>
              <a:rPr lang="he-IL" sz="2400" dirty="0"/>
              <a:t>נתונה מערכת הפעלה שהוצע לעשות בה </a:t>
            </a:r>
            <a:r>
              <a:rPr lang="en-US" sz="2400" dirty="0"/>
              <a:t>Contiguous Allocation </a:t>
            </a:r>
            <a:r>
              <a:rPr lang="he-IL" sz="2400" dirty="0"/>
              <a:t> </a:t>
            </a:r>
            <a:r>
              <a:rPr lang="en-US" sz="2400" dirty="0"/>
              <a:t>)</a:t>
            </a:r>
            <a:r>
              <a:rPr lang="he-IL" sz="2400" dirty="0"/>
              <a:t>הקצאה רציפה</a:t>
            </a:r>
            <a:r>
              <a:rPr lang="en-US" sz="2400" dirty="0"/>
              <a:t>(</a:t>
            </a:r>
            <a:r>
              <a:rPr lang="he-IL" sz="2400" dirty="0"/>
              <a:t> של</a:t>
            </a:r>
            <a:r>
              <a:rPr lang="en-US" sz="2400" dirty="0"/>
              <a:t> </a:t>
            </a:r>
            <a:r>
              <a:rPr lang="he-IL" sz="2400" dirty="0"/>
              <a:t>סגמנטים אולם הוחלט כי ההקצאות יהיו תמיד בכפולות של </a:t>
            </a:r>
            <a:r>
              <a:rPr lang="en-US" sz="2400" dirty="0"/>
              <a:t>2KB</a:t>
            </a:r>
          </a:p>
          <a:p>
            <a:pPr algn="r" rtl="1"/>
            <a:r>
              <a:rPr lang="he-IL" sz="2400" dirty="0"/>
              <a:t>נתון כי גודל הזיכרון הפנימי על המערכת המוצעת בסעיף א' הוא </a:t>
            </a:r>
            <a:r>
              <a:rPr lang="en-US" sz="2400" dirty="0"/>
              <a:t>128KB</a:t>
            </a:r>
            <a:r>
              <a:rPr lang="he-IL" sz="2400" dirty="0"/>
              <a:t> ציירו את "תמונת"</a:t>
            </a:r>
            <a:r>
              <a:rPr lang="en-US" sz="2400" dirty="0"/>
              <a:t> </a:t>
            </a:r>
            <a:r>
              <a:rPr lang="he-IL" sz="2400" dirty="0"/>
              <a:t>הזיכרון בזמן 114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6D0EB-C168-47B3-A801-513DB3902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94" y="1179512"/>
            <a:ext cx="6112806" cy="2493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841F37-275D-4999-A351-35C70876D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63" y="3673230"/>
            <a:ext cx="7053775" cy="30584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8C03F7-DAFD-4264-A59A-6C2D07A6B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814" y="3863020"/>
            <a:ext cx="2616444" cy="269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6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2138</Words>
  <Application>Microsoft Office PowerPoint</Application>
  <PresentationFormat>Widescreen</PresentationFormat>
  <Paragraphs>299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Calibri</vt:lpstr>
      <vt:lpstr>Calibri Light</vt:lpstr>
      <vt:lpstr>Cambria Math</vt:lpstr>
      <vt:lpstr>Garamond</vt:lpstr>
      <vt:lpstr>Monotype Sorts</vt:lpstr>
      <vt:lpstr>Symbol</vt:lpstr>
      <vt:lpstr>Office Theme</vt:lpstr>
      <vt:lpstr>Memory Management</vt:lpstr>
      <vt:lpstr>Memory Management</vt:lpstr>
      <vt:lpstr>Memory Management מטרות</vt:lpstr>
      <vt:lpstr>Memory Management רקע</vt:lpstr>
      <vt:lpstr>Memory Management</vt:lpstr>
      <vt:lpstr>Memory Management</vt:lpstr>
      <vt:lpstr>Memory Management</vt:lpstr>
      <vt:lpstr>Memory Management כתובת לוגית / פיזית</vt:lpstr>
      <vt:lpstr>Memory Management Memory management unit (MMU)</vt:lpstr>
      <vt:lpstr>Memory Management</vt:lpstr>
      <vt:lpstr>Memory Management Swapping</vt:lpstr>
      <vt:lpstr>Memory Management Swapping</vt:lpstr>
      <vt:lpstr>Memory Management Swapping</vt:lpstr>
      <vt:lpstr>Memory Management Swapping</vt:lpstr>
      <vt:lpstr>Memory Management Contiguous Allocation</vt:lpstr>
      <vt:lpstr>Memory Management Contiguous Allocation</vt:lpstr>
      <vt:lpstr>Memory Management Contiguous Allocation</vt:lpstr>
      <vt:lpstr>Memory Management Contiguous Allocation</vt:lpstr>
      <vt:lpstr>Memory Management Contiguous Allocation</vt:lpstr>
      <vt:lpstr>Memory Management Fragmentation</vt:lpstr>
      <vt:lpstr>Memory Management Fragmentation</vt:lpstr>
      <vt:lpstr>Memory Management Segmentation</vt:lpstr>
      <vt:lpstr>Memory Management Segmentation</vt:lpstr>
      <vt:lpstr>Memory Management Segmentation</vt:lpstr>
      <vt:lpstr>Memory Management Segmentation</vt:lpstr>
      <vt:lpstr>Memory Management Segmentation</vt:lpstr>
      <vt:lpstr>Memory Management Paging</vt:lpstr>
      <vt:lpstr>Memory Management Paging</vt:lpstr>
      <vt:lpstr>Memory Management Paging</vt:lpstr>
      <vt:lpstr>Memory Management Paging</vt:lpstr>
      <vt:lpstr>Memory Management Paging</vt:lpstr>
      <vt:lpstr>PowerPoint Presentation</vt:lpstr>
      <vt:lpstr>Memory Management Paging</vt:lpstr>
      <vt:lpstr>Memory Management Paging</vt:lpstr>
      <vt:lpstr>Memory Management Paging</vt:lpstr>
      <vt:lpstr>Memory Management Paging</vt:lpstr>
      <vt:lpstr>Memory Management Paging</vt:lpstr>
      <vt:lpstr>Memory Management Paging</vt:lpstr>
      <vt:lpstr>Memory Management Paging</vt:lpstr>
      <vt:lpstr>Memory Management Swapping</vt:lpstr>
      <vt:lpstr>Memory Management Shared pages</vt:lpstr>
      <vt:lpstr>Memory Management Shared pages</vt:lpstr>
      <vt:lpstr>Memory Management Hierarchal paging</vt:lpstr>
      <vt:lpstr>Memory Management Hierarchal paging</vt:lpstr>
      <vt:lpstr>Memory Management Hierarchal paging</vt:lpstr>
      <vt:lpstr>Memory Management Paging</vt:lpstr>
      <vt:lpstr>Memory Management Hierarchal paging</vt:lpstr>
      <vt:lpstr>Memory Management Segmented Paged Memory</vt:lpstr>
      <vt:lpstr>Memory Management Hierarchal paging</vt:lpstr>
      <vt:lpstr>Memory Management Hierarchal paging</vt:lpstr>
      <vt:lpstr>Memory Management Hierarchal paging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</dc:title>
  <dc:creator>Yechezkel</dc:creator>
  <cp:lastModifiedBy>גיא יחזקאל</cp:lastModifiedBy>
  <cp:revision>77</cp:revision>
  <dcterms:created xsi:type="dcterms:W3CDTF">2017-12-04T19:59:39Z</dcterms:created>
  <dcterms:modified xsi:type="dcterms:W3CDTF">2026-01-19T09:41:13Z</dcterms:modified>
</cp:coreProperties>
</file>