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8" r:id="rId3"/>
    <p:sldId id="265" r:id="rId4"/>
    <p:sldId id="266" r:id="rId5"/>
    <p:sldId id="259" r:id="rId6"/>
    <p:sldId id="260" r:id="rId7"/>
    <p:sldId id="261" r:id="rId8"/>
    <p:sldId id="262" r:id="rId9"/>
    <p:sldId id="263" r:id="rId10"/>
    <p:sldId id="268" r:id="rId11"/>
    <p:sldId id="269" r:id="rId12"/>
    <p:sldId id="267" r:id="rId13"/>
    <p:sldId id="270" r:id="rId14"/>
    <p:sldId id="271" r:id="rId15"/>
    <p:sldId id="272" r:id="rId16"/>
    <p:sldId id="273" r:id="rId17"/>
    <p:sldId id="257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60"/>
  </p:normalViewPr>
  <p:slideViewPr>
    <p:cSldViewPr snapToGrid="0">
      <p:cViewPr varScale="1">
        <p:scale>
          <a:sx n="93" d="100"/>
          <a:sy n="93" d="100"/>
        </p:scale>
        <p:origin x="377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5B165607-FB3F-4D43-9D66-9604782EE721}" type="datetimeFigureOut">
              <a:rPr lang="en-IL" smtClean="0"/>
              <a:t>22/11/2022</a:t>
            </a:fld>
            <a:endParaRPr lang="en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66F6F87F-2E97-4E01-B90B-CFE2C780D69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1214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58DAB-13B3-4FE1-92C7-965F2662921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75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BE731-4BBB-48AA-A2E9-481F565F33F1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D9385-773A-469A-99C6-D20F56AD3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266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BE731-4BBB-48AA-A2E9-481F565F33F1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D9385-773A-469A-99C6-D20F56AD3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51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BE731-4BBB-48AA-A2E9-481F565F33F1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D9385-773A-469A-99C6-D20F56AD3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93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BE731-4BBB-48AA-A2E9-481F565F33F1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D9385-773A-469A-99C6-D20F56AD3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59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BE731-4BBB-48AA-A2E9-481F565F33F1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D9385-773A-469A-99C6-D20F56AD3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861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BE731-4BBB-48AA-A2E9-481F565F33F1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D9385-773A-469A-99C6-D20F56AD3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22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BE731-4BBB-48AA-A2E9-481F565F33F1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D9385-773A-469A-99C6-D20F56AD3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09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BE731-4BBB-48AA-A2E9-481F565F33F1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D9385-773A-469A-99C6-D20F56AD3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07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BE731-4BBB-48AA-A2E9-481F565F33F1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D9385-773A-469A-99C6-D20F56AD3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73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BE731-4BBB-48AA-A2E9-481F565F33F1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D9385-773A-469A-99C6-D20F56AD3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70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BE731-4BBB-48AA-A2E9-481F565F33F1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D9385-773A-469A-99C6-D20F56AD3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4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BE731-4BBB-48AA-A2E9-481F565F33F1}" type="datetimeFigureOut">
              <a:rPr lang="en-US" smtClean="0"/>
              <a:t>11/22/2022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D9385-773A-469A-99C6-D20F56AD3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21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פקודות בסיסיות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723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>
                <a:solidFill>
                  <a:prstClr val="black"/>
                </a:solidFill>
              </a:rPr>
              <a:t>UNIX</a:t>
            </a:r>
            <a:br>
              <a:rPr lang="he-IL" dirty="0">
                <a:solidFill>
                  <a:prstClr val="black"/>
                </a:solidFill>
              </a:rPr>
            </a:br>
            <a:r>
              <a:rPr lang="he-IL" sz="2800" dirty="0">
                <a:solidFill>
                  <a:prstClr val="black"/>
                </a:solidFill>
              </a:rPr>
              <a:t>פקודות בסיסיות – </a:t>
            </a:r>
            <a:r>
              <a:rPr lang="en-US" sz="2800" dirty="0">
                <a:solidFill>
                  <a:prstClr val="black"/>
                </a:solidFill>
              </a:rPr>
              <a:t>shell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כאשר מופיע הסימן $ או #, ישנה האפשרות לכתוב פקודה. אחרי לחיצת </a:t>
            </a:r>
            <a:r>
              <a:rPr lang="en-US" dirty="0"/>
              <a:t>Enter</a:t>
            </a:r>
            <a:r>
              <a:rPr lang="he-IL" dirty="0"/>
              <a:t> תתבצע הפקודה והפלט יוצג על המסך</a:t>
            </a:r>
            <a:endParaRPr lang="en-US" dirty="0"/>
          </a:p>
          <a:p>
            <a:pPr algn="r" rtl="1"/>
            <a:endParaRPr lang="en-US" dirty="0"/>
          </a:p>
          <a:p>
            <a:pPr algn="r" rtl="1"/>
            <a:endParaRPr lang="en-US" dirty="0"/>
          </a:p>
          <a:p>
            <a:pPr algn="r" rtl="1"/>
            <a:r>
              <a:rPr lang="he-IL" dirty="0"/>
              <a:t>על מנת לכתוב פקודות </a:t>
            </a:r>
            <a:r>
              <a:rPr lang="en-US" dirty="0"/>
              <a:t>shell</a:t>
            </a:r>
            <a:r>
              <a:rPr lang="he-IL" dirty="0"/>
              <a:t> בסיסיות ניתן להשתמש ב </a:t>
            </a:r>
            <a:r>
              <a:rPr lang="en-US" dirty="0"/>
              <a:t>Terminal</a:t>
            </a:r>
            <a:endParaRPr lang="he-IL" dirty="0"/>
          </a:p>
          <a:p>
            <a:pPr algn="r" rtl="1"/>
            <a:r>
              <a:rPr lang="he-IL" dirty="0"/>
              <a:t>עבור תוכניות </a:t>
            </a:r>
            <a:r>
              <a:rPr lang="en-US" dirty="0"/>
              <a:t>shell</a:t>
            </a:r>
            <a:r>
              <a:rPr lang="he-IL" dirty="0"/>
              <a:t> מורכבות יותר (</a:t>
            </a:r>
            <a:r>
              <a:rPr lang="en-US" dirty="0"/>
              <a:t>Script</a:t>
            </a:r>
            <a:r>
              <a:rPr lang="he-IL" dirty="0"/>
              <a:t>) יש לכתוב קובץ</a:t>
            </a:r>
          </a:p>
          <a:p>
            <a:pPr marL="0" indent="0" algn="r" rtl="1">
              <a:buNone/>
            </a:pPr>
            <a:r>
              <a:rPr lang="he-IL" dirty="0"/>
              <a:t>בתחילת הקובץ נציין את הנתיב של ה </a:t>
            </a:r>
            <a:r>
              <a:rPr lang="en-US" dirty="0"/>
              <a:t>shell</a:t>
            </a:r>
            <a:r>
              <a:rPr lang="he-IL" dirty="0"/>
              <a:t> ולאחר מכן נכתוב את הפקודות</a:t>
            </a:r>
          </a:p>
          <a:p>
            <a:pPr marL="0" indent="0" algn="r" rtl="1">
              <a:buNone/>
            </a:pPr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903" y="2581860"/>
            <a:ext cx="3990839" cy="7943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294" y="5211201"/>
            <a:ext cx="2568298" cy="110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01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תמונה 11">
            <a:extLst>
              <a:ext uri="{FF2B5EF4-FFF2-40B4-BE49-F238E27FC236}">
                <a16:creationId xmlns:a16="http://schemas.microsoft.com/office/drawing/2014/main" id="{F76C9071-6310-4368-976B-A32AEB106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4" y="5086766"/>
            <a:ext cx="11629747" cy="8707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>
                <a:solidFill>
                  <a:prstClr val="black"/>
                </a:solidFill>
              </a:rPr>
              <a:t>UNIX</a:t>
            </a:r>
            <a:br>
              <a:rPr lang="he-IL" dirty="0">
                <a:solidFill>
                  <a:prstClr val="black"/>
                </a:solidFill>
              </a:rPr>
            </a:br>
            <a:r>
              <a:rPr lang="he-IL" sz="2800" dirty="0">
                <a:solidFill>
                  <a:prstClr val="black"/>
                </a:solidFill>
              </a:rPr>
              <a:t>פקודות בסיסיות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הפקודה </a:t>
            </a:r>
            <a:r>
              <a:rPr lang="en-US" dirty="0"/>
              <a:t>date</a:t>
            </a:r>
            <a:endParaRPr lang="he-IL" dirty="0"/>
          </a:p>
          <a:p>
            <a:pPr lvl="1" algn="r" rtl="1"/>
            <a:r>
              <a:rPr lang="he-IL" dirty="0"/>
              <a:t>מספקת מידע על התאריך והשעה הנוכחיים במחשב</a:t>
            </a:r>
          </a:p>
          <a:p>
            <a:pPr lvl="1" algn="r" rtl="1"/>
            <a:r>
              <a:rPr lang="he-IL" dirty="0"/>
              <a:t>מאפשרת לשנות את התאריך והשעה הנוכחיים במחשב</a:t>
            </a:r>
          </a:p>
          <a:p>
            <a:pPr algn="r" rtl="1"/>
            <a:r>
              <a:rPr lang="he-IL" dirty="0"/>
              <a:t>לקבל את הזמן הנוכחי נרשום </a:t>
            </a:r>
            <a:r>
              <a:rPr lang="en-US" dirty="0"/>
              <a:t>date</a:t>
            </a:r>
          </a:p>
          <a:p>
            <a:pPr algn="r" rtl="1"/>
            <a:endParaRPr lang="en-US" dirty="0"/>
          </a:p>
          <a:p>
            <a:pPr algn="r" rtl="1"/>
            <a:r>
              <a:rPr lang="he-IL" dirty="0"/>
              <a:t>לקבל את הזמן הנוכחי בפורמט אחר נרשום </a:t>
            </a:r>
            <a:r>
              <a:rPr lang="en-US" dirty="0"/>
              <a:t>date “+</a:t>
            </a:r>
            <a:r>
              <a:rPr lang="en-US" dirty="0">
                <a:solidFill>
                  <a:srgbClr val="FF0000"/>
                </a:solidFill>
              </a:rPr>
              <a:t>FORMAT</a:t>
            </a:r>
            <a:r>
              <a:rPr lang="en-US" dirty="0"/>
              <a:t>”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24261"/>
            <a:ext cx="4774879" cy="68808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26098" y="5086766"/>
            <a:ext cx="6001304" cy="2694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927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>
                <a:solidFill>
                  <a:prstClr val="black"/>
                </a:solidFill>
              </a:rPr>
              <a:t>UNIX</a:t>
            </a:r>
            <a:br>
              <a:rPr lang="he-IL" dirty="0">
                <a:solidFill>
                  <a:prstClr val="black"/>
                </a:solidFill>
              </a:rPr>
            </a:br>
            <a:r>
              <a:rPr lang="he-IL" sz="2800" dirty="0">
                <a:solidFill>
                  <a:prstClr val="black"/>
                </a:solidFill>
              </a:rPr>
              <a:t>פקודות בסיסיות – </a:t>
            </a:r>
            <a:r>
              <a:rPr lang="en-US" sz="2800" dirty="0">
                <a:solidFill>
                  <a:prstClr val="black"/>
                </a:solidFill>
              </a:rPr>
              <a:t>shell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86190"/>
          </a:xfrm>
        </p:spPr>
        <p:txBody>
          <a:bodyPr>
            <a:normAutofit fontScale="92500" lnSpcReduction="10000"/>
          </a:bodyPr>
          <a:lstStyle/>
          <a:p>
            <a:pPr algn="r" rtl="1"/>
            <a:r>
              <a:rPr lang="he-IL" dirty="0"/>
              <a:t>כדי לעדכן את התאריך והשעה</a:t>
            </a:r>
          </a:p>
          <a:p>
            <a:pPr marL="0" indent="0" algn="l">
              <a:buNone/>
            </a:pPr>
            <a:r>
              <a:rPr lang="he-IL" dirty="0"/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date</a:t>
            </a:r>
            <a:r>
              <a:rPr lang="en-US" altLang="en-US" dirty="0">
                <a:solidFill>
                  <a:srgbClr val="555555"/>
                </a:solidFill>
                <a:latin typeface="Monaco"/>
              </a:rPr>
              <a:t> [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Monaco"/>
              </a:rPr>
              <a:t>-u</a:t>
            </a:r>
            <a:r>
              <a:rPr lang="en-US" altLang="en-US" dirty="0">
                <a:solidFill>
                  <a:srgbClr val="555555"/>
                </a:solidFill>
                <a:latin typeface="Monaco"/>
              </a:rPr>
              <a:t>] </a:t>
            </a:r>
            <a:r>
              <a:rPr lang="en-US" altLang="en-US" dirty="0">
                <a:solidFill>
                  <a:srgbClr val="FF0000"/>
                </a:solidFill>
                <a:latin typeface="Monaco"/>
              </a:rPr>
              <a:t>[</a:t>
            </a:r>
            <a:r>
              <a:rPr lang="en-US" altLang="en-US" i="1" dirty="0" err="1">
                <a:solidFill>
                  <a:srgbClr val="555555"/>
                </a:solidFill>
                <a:latin typeface="Monaco"/>
              </a:rPr>
              <a:t>MMDDhhmm</a:t>
            </a:r>
            <a:r>
              <a:rPr lang="en-US" altLang="en-US" dirty="0">
                <a:solidFill>
                  <a:schemeClr val="accent6"/>
                </a:solidFill>
                <a:latin typeface="Monaco"/>
              </a:rPr>
              <a:t>[</a:t>
            </a:r>
            <a:r>
              <a:rPr lang="en-US" altLang="en-US" i="1" dirty="0">
                <a:solidFill>
                  <a:srgbClr val="555555"/>
                </a:solidFill>
                <a:latin typeface="Monaco"/>
              </a:rPr>
              <a:t>cc</a:t>
            </a:r>
            <a:r>
              <a:rPr lang="en-US" altLang="en-US" dirty="0">
                <a:solidFill>
                  <a:schemeClr val="accent6"/>
                </a:solidFill>
                <a:latin typeface="Monaco"/>
              </a:rPr>
              <a:t>]</a:t>
            </a:r>
            <a:r>
              <a:rPr lang="en-US" altLang="en-US" i="1" dirty="0" err="1">
                <a:solidFill>
                  <a:srgbClr val="555555"/>
                </a:solidFill>
                <a:latin typeface="Monaco"/>
              </a:rPr>
              <a:t>yy</a:t>
            </a:r>
            <a:r>
              <a:rPr lang="en-US" altLang="en-US" dirty="0">
                <a:solidFill>
                  <a:srgbClr val="FF0000"/>
                </a:solidFill>
                <a:latin typeface="Monaco"/>
              </a:rPr>
              <a:t>]</a:t>
            </a:r>
            <a:r>
              <a:rPr lang="en-US" altLang="en-US" dirty="0">
                <a:solidFill>
                  <a:srgbClr val="555555"/>
                </a:solidFill>
                <a:latin typeface="Monaco"/>
              </a:rPr>
              <a:t> [</a:t>
            </a:r>
            <a:r>
              <a:rPr lang="en-US" altLang="en-US" i="1" dirty="0">
                <a:solidFill>
                  <a:srgbClr val="555555"/>
                </a:solidFill>
                <a:latin typeface="Monaco"/>
              </a:rPr>
              <a:t>.SS</a:t>
            </a:r>
            <a:r>
              <a:rPr lang="en-US" altLang="en-US" dirty="0">
                <a:solidFill>
                  <a:srgbClr val="555555"/>
                </a:solidFill>
                <a:latin typeface="Monaco"/>
              </a:rPr>
              <a:t>]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dirty="0"/>
              <a:t>MM – month</a:t>
            </a:r>
          </a:p>
          <a:p>
            <a:pPr algn="l"/>
            <a:r>
              <a:rPr lang="en-US" dirty="0"/>
              <a:t>DD – day </a:t>
            </a:r>
          </a:p>
          <a:p>
            <a:pPr algn="l"/>
            <a:r>
              <a:rPr lang="en-US" dirty="0" err="1"/>
              <a:t>hh</a:t>
            </a:r>
            <a:r>
              <a:rPr lang="en-US" dirty="0"/>
              <a:t> – hours</a:t>
            </a:r>
          </a:p>
          <a:p>
            <a:pPr algn="l"/>
            <a:r>
              <a:rPr lang="en-US" dirty="0"/>
              <a:t>mm – minutes</a:t>
            </a:r>
          </a:p>
          <a:p>
            <a:pPr algn="l"/>
            <a:r>
              <a:rPr lang="en-US" dirty="0"/>
              <a:t>SS – seconds</a:t>
            </a:r>
          </a:p>
          <a:p>
            <a:pPr algn="l"/>
            <a:r>
              <a:rPr lang="en-US" dirty="0"/>
              <a:t>cc – century – 19 </a:t>
            </a:r>
            <a:r>
              <a:rPr lang="en-US" dirty="0">
                <a:sym typeface="Wingdings" panose="05000000000000000000" pitchFamily="2" charset="2"/>
              </a:rPr>
              <a:t> 19XX, 20  20XX</a:t>
            </a:r>
            <a:endParaRPr lang="en-US" dirty="0"/>
          </a:p>
          <a:p>
            <a:pPr algn="l"/>
            <a:r>
              <a:rPr lang="en-US" dirty="0" err="1"/>
              <a:t>yy</a:t>
            </a:r>
            <a:r>
              <a:rPr lang="en-US" dirty="0"/>
              <a:t> – year – last tow digits of year – 69-99 </a:t>
            </a:r>
            <a:r>
              <a:rPr lang="en-US" dirty="0">
                <a:sym typeface="Wingdings" panose="05000000000000000000" pitchFamily="2" charset="2"/>
              </a:rPr>
              <a:t> 1969-1999. 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		00-68  2000-2068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972907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בסיסיות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 </a:t>
            </a:r>
            <a:r>
              <a:rPr lang="en-US" altLang="en-US" sz="3200" dirty="0">
                <a:solidFill>
                  <a:srgbClr val="555555"/>
                </a:solidFill>
                <a:latin typeface="Monaco"/>
              </a:rPr>
              <a:t>date</a:t>
            </a:r>
            <a:r>
              <a:rPr lang="en-US" altLang="en-US" dirty="0">
                <a:solidFill>
                  <a:srgbClr val="555555"/>
                </a:solidFill>
                <a:latin typeface="Monaco"/>
              </a:rPr>
              <a:t> [</a:t>
            </a:r>
            <a:r>
              <a:rPr lang="en-US" altLang="en-US" sz="3200" dirty="0">
                <a:solidFill>
                  <a:srgbClr val="555555"/>
                </a:solidFill>
                <a:latin typeface="Monaco"/>
              </a:rPr>
              <a:t>-u</a:t>
            </a:r>
            <a:r>
              <a:rPr lang="en-US" altLang="en-US" dirty="0">
                <a:solidFill>
                  <a:srgbClr val="555555"/>
                </a:solidFill>
                <a:latin typeface="Monaco"/>
              </a:rPr>
              <a:t>] [ [</a:t>
            </a:r>
            <a:r>
              <a:rPr lang="en-US" altLang="en-US" i="1" dirty="0" err="1">
                <a:solidFill>
                  <a:srgbClr val="555555"/>
                </a:solidFill>
                <a:latin typeface="Monaco"/>
              </a:rPr>
              <a:t>mmdd</a:t>
            </a:r>
            <a:r>
              <a:rPr lang="en-US" altLang="en-US" dirty="0">
                <a:solidFill>
                  <a:srgbClr val="555555"/>
                </a:solidFill>
                <a:latin typeface="Monaco"/>
              </a:rPr>
              <a:t>] </a:t>
            </a:r>
            <a:r>
              <a:rPr lang="en-US" altLang="en-US" i="1" dirty="0">
                <a:solidFill>
                  <a:srgbClr val="555555"/>
                </a:solidFill>
                <a:latin typeface="Monaco"/>
              </a:rPr>
              <a:t>HHMM</a:t>
            </a:r>
            <a:r>
              <a:rPr lang="en-US" altLang="en-US" dirty="0">
                <a:solidFill>
                  <a:srgbClr val="555555"/>
                </a:solidFill>
                <a:latin typeface="Monaco"/>
              </a:rPr>
              <a:t> | </a:t>
            </a:r>
            <a:r>
              <a:rPr lang="en-US" altLang="en-US" i="1" dirty="0" err="1">
                <a:solidFill>
                  <a:srgbClr val="555555"/>
                </a:solidFill>
                <a:latin typeface="Monaco"/>
              </a:rPr>
              <a:t>mmddHHMM</a:t>
            </a:r>
            <a:r>
              <a:rPr lang="en-US" altLang="en-US" dirty="0">
                <a:solidFill>
                  <a:srgbClr val="555555"/>
                </a:solidFill>
                <a:latin typeface="Monaco"/>
              </a:rPr>
              <a:t>[</a:t>
            </a:r>
            <a:r>
              <a:rPr lang="en-US" altLang="en-US" i="1" dirty="0">
                <a:solidFill>
                  <a:srgbClr val="555555"/>
                </a:solidFill>
                <a:latin typeface="Monaco"/>
              </a:rPr>
              <a:t>cc</a:t>
            </a:r>
            <a:r>
              <a:rPr lang="en-US" altLang="en-US" dirty="0">
                <a:solidFill>
                  <a:srgbClr val="555555"/>
                </a:solidFill>
                <a:latin typeface="Monaco"/>
              </a:rPr>
              <a:t>]</a:t>
            </a:r>
            <a:r>
              <a:rPr lang="en-US" altLang="en-US" i="1" dirty="0" err="1">
                <a:solidFill>
                  <a:srgbClr val="555555"/>
                </a:solidFill>
                <a:latin typeface="Monaco"/>
              </a:rPr>
              <a:t>yy</a:t>
            </a:r>
            <a:r>
              <a:rPr lang="en-US" altLang="en-US" dirty="0">
                <a:solidFill>
                  <a:srgbClr val="555555"/>
                </a:solidFill>
                <a:latin typeface="Monaco"/>
              </a:rPr>
              <a:t>] [</a:t>
            </a:r>
            <a:r>
              <a:rPr lang="en-US" altLang="en-US" i="1" dirty="0">
                <a:solidFill>
                  <a:srgbClr val="555555"/>
                </a:solidFill>
                <a:latin typeface="Monaco"/>
              </a:rPr>
              <a:t>.SS</a:t>
            </a:r>
            <a:r>
              <a:rPr lang="en-US" altLang="en-US" dirty="0">
                <a:solidFill>
                  <a:srgbClr val="555555"/>
                </a:solidFill>
                <a:latin typeface="Monaco"/>
              </a:rPr>
              <a:t>]</a:t>
            </a:r>
            <a:r>
              <a:rPr lang="en-US" altLang="en-US" sz="4000" dirty="0"/>
              <a:t> </a:t>
            </a:r>
            <a:endParaRPr lang="en-US" altLang="en-US" sz="6000" dirty="0">
              <a:latin typeface="Arial" panose="020B0604020202020204" pitchFamily="34" charset="0"/>
            </a:endParaRPr>
          </a:p>
          <a:p>
            <a:pPr algn="l"/>
            <a:endParaRPr lang="en-US" dirty="0"/>
          </a:p>
          <a:p>
            <a:pPr marL="0" indent="0" algn="l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810" y="2761065"/>
            <a:ext cx="6069206" cy="12402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89982" y="3044915"/>
            <a:ext cx="26587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mm </a:t>
            </a:r>
            <a:r>
              <a:rPr lang="en-US" sz="2000" dirty="0" err="1"/>
              <a:t>dd</a:t>
            </a:r>
            <a:r>
              <a:rPr lang="en-US" sz="2000" dirty="0"/>
              <a:t>  HH MM  cc   </a:t>
            </a:r>
            <a:r>
              <a:rPr lang="en-US" sz="2000" dirty="0" err="1"/>
              <a:t>yy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810" y="4416496"/>
            <a:ext cx="6142100" cy="11965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89982" y="4736679"/>
            <a:ext cx="26587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mm </a:t>
            </a:r>
            <a:r>
              <a:rPr lang="en-US" sz="2000" dirty="0" err="1"/>
              <a:t>dd</a:t>
            </a:r>
            <a:r>
              <a:rPr lang="en-US" sz="2000" dirty="0"/>
              <a:t>  HH MM </a:t>
            </a:r>
            <a:r>
              <a:rPr lang="en-US" sz="2000" dirty="0" err="1"/>
              <a:t>yy</a:t>
            </a:r>
            <a:endParaRPr lang="en-US" sz="20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203852" y="5613009"/>
            <a:ext cx="76903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308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בסיסיות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הפקודה </a:t>
            </a:r>
            <a:r>
              <a:rPr lang="en-US" dirty="0" err="1"/>
              <a:t>cal</a:t>
            </a:r>
            <a:endParaRPr lang="he-IL" dirty="0"/>
          </a:p>
          <a:p>
            <a:pPr lvl="1" algn="r" rtl="1"/>
            <a:r>
              <a:rPr lang="he-IL" dirty="0"/>
              <a:t>מספקת מידע על לוח שנה</a:t>
            </a:r>
            <a:endParaRPr lang="en-US" dirty="0"/>
          </a:p>
          <a:p>
            <a:r>
              <a:rPr lang="en-US" dirty="0" err="1"/>
              <a:t>cal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[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[</a:t>
            </a:r>
            <a:r>
              <a:rPr lang="en-US" dirty="0"/>
              <a:t> month </a:t>
            </a:r>
            <a:r>
              <a:rPr lang="en-US" dirty="0">
                <a:solidFill>
                  <a:srgbClr val="FF0000"/>
                </a:solidFill>
              </a:rPr>
              <a:t>]</a:t>
            </a:r>
            <a:r>
              <a:rPr lang="en-US" dirty="0"/>
              <a:t> year </a:t>
            </a:r>
            <a:r>
              <a:rPr lang="en-US" dirty="0">
                <a:solidFill>
                  <a:schemeClr val="accent6"/>
                </a:solidFill>
              </a:rPr>
              <a:t>]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525" y="3312489"/>
            <a:ext cx="3308985" cy="235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38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926" y="1690688"/>
            <a:ext cx="5965874" cy="50291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בסיסיות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cal</a:t>
            </a:r>
            <a:r>
              <a:rPr lang="en-US" dirty="0"/>
              <a:t> year – </a:t>
            </a:r>
            <a:r>
              <a:rPr lang="he-IL" dirty="0"/>
              <a:t>מציגה את כל השנה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61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בסיסיות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cal</a:t>
            </a:r>
            <a:r>
              <a:rPr lang="en-US" dirty="0"/>
              <a:t> month year – </a:t>
            </a:r>
            <a:r>
              <a:rPr lang="he-IL" dirty="0"/>
              <a:t>מציגה חודש בשנה מסויימת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377" y="2800130"/>
            <a:ext cx="3740321" cy="298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468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בסיסיות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הפקודה </a:t>
            </a:r>
            <a:r>
              <a:rPr lang="en-US" dirty="0"/>
              <a:t>who</a:t>
            </a:r>
            <a:endParaRPr lang="he-IL" dirty="0"/>
          </a:p>
          <a:p>
            <a:pPr lvl="1" algn="r" rtl="1"/>
            <a:r>
              <a:rPr lang="he-IL" dirty="0"/>
              <a:t>מספקת מידע על המשתמשים, התהליכים והשינויים במערכת</a:t>
            </a:r>
          </a:p>
          <a:p>
            <a:pPr lvl="1" algn="l"/>
            <a:r>
              <a:rPr lang="en-US" dirty="0"/>
              <a:t>who [-</a:t>
            </a:r>
            <a:r>
              <a:rPr lang="en-US" dirty="0" err="1"/>
              <a:t>abdHlmpqrstTu</a:t>
            </a:r>
            <a:r>
              <a:rPr lang="en-US" dirty="0"/>
              <a:t>]</a:t>
            </a:r>
          </a:p>
          <a:p>
            <a:pPr lvl="1" algn="l"/>
            <a:r>
              <a:rPr lang="en-US" dirty="0"/>
              <a:t>who -q [-n –x] [</a:t>
            </a:r>
            <a:r>
              <a:rPr lang="en-US" dirty="0" err="1"/>
              <a:t>utmpx_like_file</a:t>
            </a:r>
            <a:r>
              <a:rPr lang="en-US" dirty="0"/>
              <a:t>]</a:t>
            </a:r>
          </a:p>
          <a:p>
            <a:pPr lvl="1" algn="l"/>
            <a:r>
              <a:rPr lang="en-US" dirty="0"/>
              <a:t>who [am 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pPr lvl="1" algn="l"/>
            <a:r>
              <a:rPr lang="en-US" dirty="0"/>
              <a:t>who [am I]</a:t>
            </a:r>
          </a:p>
          <a:p>
            <a:pPr lvl="1"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673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בסיסיות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686822" cy="486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666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בסיסיות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8"/>
            <a:ext cx="7376855" cy="20513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403188"/>
            <a:ext cx="7376855" cy="80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870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בסיסיות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en-US" dirty="0"/>
              <a:t>who am I / who am </a:t>
            </a:r>
            <a:r>
              <a:rPr lang="en-US" dirty="0" err="1"/>
              <a:t>i</a:t>
            </a:r>
            <a:r>
              <a:rPr lang="he-IL" dirty="0"/>
              <a:t> – מיהו המשתמש הנוכחי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326" y="2352894"/>
            <a:ext cx="5588385" cy="5872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326" y="2940148"/>
            <a:ext cx="4319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		Console		Date</a:t>
            </a:r>
          </a:p>
        </p:txBody>
      </p:sp>
    </p:spTree>
    <p:extLst>
      <p:ext uri="{BB962C8B-B14F-4D97-AF65-F5344CB8AC3E}">
        <p14:creationId xmlns:p14="http://schemas.microsoft.com/office/powerpoint/2010/main" val="2897388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בסיסיות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הפקודה </a:t>
            </a:r>
            <a:r>
              <a:rPr lang="en-US" dirty="0"/>
              <a:t>echo</a:t>
            </a:r>
            <a:endParaRPr lang="he-IL" dirty="0"/>
          </a:p>
          <a:p>
            <a:pPr lvl="1" algn="r" rtl="1"/>
            <a:r>
              <a:rPr lang="he-IL" dirty="0"/>
              <a:t>מציגה שורת טקסט</a:t>
            </a:r>
          </a:p>
          <a:p>
            <a:pPr lvl="1" algn="r" rtl="1"/>
            <a:endParaRPr lang="he-IL" dirty="0"/>
          </a:p>
          <a:p>
            <a:pPr lvl="1" algn="r" rtl="1"/>
            <a:r>
              <a:rPr lang="he-IL" dirty="0"/>
              <a:t>ניתן להעביר גם </a:t>
            </a:r>
            <a:r>
              <a:rPr lang="en-US" dirty="0"/>
              <a:t>Escape characters</a:t>
            </a:r>
          </a:p>
          <a:p>
            <a:pPr lvl="1" algn="r" rtl="1"/>
            <a:endParaRPr lang="en-US" dirty="0"/>
          </a:p>
          <a:p>
            <a:pPr lvl="1" algn="r" rtl="1"/>
            <a:r>
              <a:rPr lang="he-IL" dirty="0"/>
              <a:t>השמת משתנים</a:t>
            </a:r>
          </a:p>
          <a:p>
            <a:pPr algn="l"/>
            <a:endParaRPr lang="he-IL" dirty="0"/>
          </a:p>
          <a:p>
            <a:pPr algn="r" rt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769" y="2010508"/>
            <a:ext cx="3346093" cy="7186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45217"/>
            <a:ext cx="5171411" cy="7387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4100075"/>
            <a:ext cx="2144151" cy="96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627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70671"/>
          </a:xfrm>
        </p:spPr>
        <p:txBody>
          <a:bodyPr>
            <a:normAutofit fontScale="90000"/>
          </a:bodyPr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קבצים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70671"/>
            <a:ext cx="10515600" cy="5669280"/>
          </a:xfrm>
        </p:spPr>
        <p:txBody>
          <a:bodyPr>
            <a:normAutofit fontScale="92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rgbClr val="000000"/>
                </a:solidFill>
                <a:latin typeface="menlo"/>
              </a:rPr>
              <a:t>ls [-</a:t>
            </a:r>
            <a:r>
              <a:rPr lang="en-US" altLang="en-US" sz="2400" dirty="0" err="1">
                <a:solidFill>
                  <a:srgbClr val="000000"/>
                </a:solidFill>
                <a:latin typeface="menlo"/>
              </a:rPr>
              <a:t>lRaAdCxmnlhogrtuvVcpFbqisfHLeE</a:t>
            </a:r>
            <a:r>
              <a:rPr lang="en-US" altLang="en-US" sz="2400" dirty="0">
                <a:solidFill>
                  <a:srgbClr val="000000"/>
                </a:solidFill>
                <a:latin typeface="menlo"/>
              </a:rPr>
              <a:t>@] [files]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he-IL" sz="2400" dirty="0"/>
              <a:t>מציגה את הקבצים והתיקיות בתיקיה מסויימת</a:t>
            </a:r>
            <a:endParaRPr lang="en-US" sz="2400" dirty="0"/>
          </a:p>
          <a:p>
            <a:r>
              <a:rPr lang="en-US" dirty="0">
                <a:solidFill>
                  <a:srgbClr val="1D5AAB"/>
                </a:solidFill>
                <a:latin typeface="Helvetica Neue"/>
              </a:rPr>
              <a:t>-1 </a:t>
            </a:r>
            <a:r>
              <a:rPr lang="en-US" dirty="0">
                <a:latin typeface="Helvetica Neue"/>
              </a:rPr>
              <a:t>– </a:t>
            </a:r>
            <a:r>
              <a:rPr lang="he-IL" dirty="0">
                <a:latin typeface="Helvetica Neue"/>
              </a:rPr>
              <a:t>מציג כל רשומה בשורה בודדת</a:t>
            </a:r>
          </a:p>
          <a:p>
            <a:r>
              <a:rPr lang="en-US" dirty="0">
                <a:solidFill>
                  <a:srgbClr val="1D5AAB"/>
                </a:solidFill>
                <a:latin typeface="Helvetica Neue"/>
              </a:rPr>
              <a:t>-R </a:t>
            </a:r>
            <a:r>
              <a:rPr lang="en-US" dirty="0">
                <a:latin typeface="Helvetica Neue"/>
              </a:rPr>
              <a:t>– </a:t>
            </a:r>
            <a:r>
              <a:rPr lang="he-IL" dirty="0">
                <a:latin typeface="Helvetica Neue"/>
              </a:rPr>
              <a:t>מציגה קבצים ותיקיות בצורה רקורסיבית – גם תת תיקיות</a:t>
            </a:r>
          </a:p>
          <a:p>
            <a:r>
              <a:rPr lang="en-US" dirty="0">
                <a:solidFill>
                  <a:srgbClr val="1D5AAB"/>
                </a:solidFill>
                <a:latin typeface="Helvetica Neue"/>
              </a:rPr>
              <a:t>-a/-A </a:t>
            </a:r>
            <a:r>
              <a:rPr lang="en-US" dirty="0">
                <a:latin typeface="Helvetica Neue"/>
              </a:rPr>
              <a:t>– </a:t>
            </a:r>
            <a:r>
              <a:rPr lang="he-IL" dirty="0">
                <a:latin typeface="Helvetica Neue"/>
              </a:rPr>
              <a:t>מציג את הקבצים ותיקיות מוסתרים (שם הקובץ מתחיל ב .)</a:t>
            </a:r>
          </a:p>
          <a:p>
            <a:r>
              <a:rPr lang="en-US" dirty="0">
                <a:solidFill>
                  <a:srgbClr val="1D5AAB"/>
                </a:solidFill>
                <a:latin typeface="Helvetica Neue"/>
              </a:rPr>
              <a:t>-m </a:t>
            </a:r>
            <a:r>
              <a:rPr lang="en-US" dirty="0">
                <a:latin typeface="Helvetica Neue"/>
              </a:rPr>
              <a:t>– </a:t>
            </a:r>
            <a:r>
              <a:rPr lang="he-IL" dirty="0">
                <a:latin typeface="Helvetica Neue"/>
              </a:rPr>
              <a:t>פורמט עם פסיקים</a:t>
            </a:r>
          </a:p>
          <a:p>
            <a:r>
              <a:rPr lang="en-US" dirty="0">
                <a:solidFill>
                  <a:srgbClr val="1D5AAB"/>
                </a:solidFill>
                <a:latin typeface="Helvetica Neue"/>
              </a:rPr>
              <a:t>-n</a:t>
            </a:r>
            <a:r>
              <a:rPr lang="en-US" dirty="0">
                <a:latin typeface="Helvetica Neue"/>
              </a:rPr>
              <a:t> – </a:t>
            </a:r>
            <a:r>
              <a:rPr lang="he-IL" dirty="0">
                <a:latin typeface="Helvetica Neue"/>
              </a:rPr>
              <a:t>מציג את המידע בצורה מפורטת, עם </a:t>
            </a:r>
            <a:r>
              <a:rPr lang="he-IL" u="sng" dirty="0">
                <a:latin typeface="Helvetica Neue"/>
              </a:rPr>
              <a:t>מספרי</a:t>
            </a:r>
            <a:r>
              <a:rPr lang="he-IL" dirty="0">
                <a:latin typeface="Helvetica Neue"/>
              </a:rPr>
              <a:t> קבוצות ומשתמשים</a:t>
            </a:r>
            <a:endParaRPr lang="en-US" dirty="0">
              <a:latin typeface="Helvetica Neue"/>
            </a:endParaRPr>
          </a:p>
          <a:p>
            <a:r>
              <a:rPr lang="en-US" dirty="0">
                <a:solidFill>
                  <a:srgbClr val="1D5AAB"/>
                </a:solidFill>
                <a:latin typeface="Helvetica Neue"/>
              </a:rPr>
              <a:t>-k </a:t>
            </a:r>
            <a:r>
              <a:rPr lang="en-US" dirty="0">
                <a:latin typeface="Helvetica Neue"/>
              </a:rPr>
              <a:t>– </a:t>
            </a:r>
            <a:r>
              <a:rPr lang="he-IL" dirty="0">
                <a:latin typeface="Helvetica Neue"/>
              </a:rPr>
              <a:t>מציג מידע על התיקייה הנוכחית</a:t>
            </a:r>
            <a:endParaRPr lang="en-US" dirty="0">
              <a:latin typeface="Helvetica Neue"/>
            </a:endParaRPr>
          </a:p>
          <a:p>
            <a:r>
              <a:rPr lang="en-US" dirty="0">
                <a:solidFill>
                  <a:srgbClr val="1D5AAB"/>
                </a:solidFill>
                <a:latin typeface="Helvetica Neue"/>
              </a:rPr>
              <a:t>-l </a:t>
            </a:r>
            <a:r>
              <a:rPr lang="en-US" dirty="0">
                <a:latin typeface="Helvetica Neue"/>
              </a:rPr>
              <a:t>– </a:t>
            </a:r>
            <a:r>
              <a:rPr lang="he-IL" dirty="0">
                <a:latin typeface="Helvetica Neue"/>
              </a:rPr>
              <a:t>מציגה את המידע בצורה מפורטת, עם </a:t>
            </a:r>
            <a:r>
              <a:rPr lang="he-IL" u="sng" dirty="0">
                <a:latin typeface="Helvetica Neue"/>
              </a:rPr>
              <a:t>שם</a:t>
            </a:r>
            <a:r>
              <a:rPr lang="he-IL" dirty="0">
                <a:latin typeface="Helvetica Neue"/>
              </a:rPr>
              <a:t> קבוצה ומשתמש</a:t>
            </a:r>
          </a:p>
          <a:p>
            <a:r>
              <a:rPr lang="en-US" dirty="0">
                <a:solidFill>
                  <a:srgbClr val="1D5AAB"/>
                </a:solidFill>
                <a:latin typeface="Helvetica Neue"/>
              </a:rPr>
              <a:t>-h</a:t>
            </a:r>
            <a:r>
              <a:rPr lang="en-US" dirty="0">
                <a:latin typeface="Helvetica Neue"/>
              </a:rPr>
              <a:t> – </a:t>
            </a:r>
            <a:r>
              <a:rPr lang="he-IL" dirty="0">
                <a:latin typeface="Helvetica Neue"/>
              </a:rPr>
              <a:t>מציג את המידע על גדלי הקבצים בצורה מפורטת</a:t>
            </a:r>
          </a:p>
          <a:p>
            <a:r>
              <a:rPr lang="en-US" dirty="0">
                <a:solidFill>
                  <a:srgbClr val="1D5AAB"/>
                </a:solidFill>
                <a:latin typeface="Helvetica Neue"/>
              </a:rPr>
              <a:t>-o,-g </a:t>
            </a:r>
            <a:r>
              <a:rPr lang="en-US" dirty="0">
                <a:latin typeface="Helvetica Neue"/>
              </a:rPr>
              <a:t>– </a:t>
            </a:r>
            <a:r>
              <a:rPr lang="he-IL" dirty="0">
                <a:latin typeface="Helvetica Neue"/>
              </a:rPr>
              <a:t>לא מציג את פרטי הבעלים או הקבוצה</a:t>
            </a:r>
          </a:p>
          <a:p>
            <a:r>
              <a:rPr lang="en-US" dirty="0">
                <a:solidFill>
                  <a:srgbClr val="1D5AAB"/>
                </a:solidFill>
                <a:latin typeface="Helvetica Neue"/>
              </a:rPr>
              <a:t>-r </a:t>
            </a:r>
            <a:r>
              <a:rPr lang="en-US" dirty="0">
                <a:latin typeface="Helvetica Neue"/>
              </a:rPr>
              <a:t>– </a:t>
            </a:r>
            <a:r>
              <a:rPr lang="he-IL" dirty="0">
                <a:latin typeface="Helvetica Neue"/>
              </a:rPr>
              <a:t>הופך את סדר תצוגת הקבצים</a:t>
            </a:r>
            <a:endParaRPr lang="en-US" dirty="0">
              <a:latin typeface="Helvetica Neue"/>
            </a:endParaRPr>
          </a:p>
          <a:p>
            <a:r>
              <a:rPr lang="en-US" dirty="0">
                <a:solidFill>
                  <a:srgbClr val="1D5AAB"/>
                </a:solidFill>
                <a:latin typeface="Helvetica Neue"/>
              </a:rPr>
              <a:t>-F</a:t>
            </a:r>
            <a:r>
              <a:rPr lang="en-US" dirty="0">
                <a:latin typeface="Helvetica Neue"/>
              </a:rPr>
              <a:t> – </a:t>
            </a:r>
            <a:r>
              <a:rPr lang="he-IL" dirty="0">
                <a:latin typeface="Helvetica Neue"/>
              </a:rPr>
              <a:t>מוסיף לתיקיות / בסוף</a:t>
            </a:r>
          </a:p>
          <a:p>
            <a:endParaRPr lang="en-US" dirty="0">
              <a:solidFill>
                <a:srgbClr val="1D5AAB"/>
              </a:solidFill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201634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קבצים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rgbClr val="000000"/>
                </a:solidFill>
                <a:latin typeface="menlo"/>
              </a:rPr>
              <a:t>ls [-</a:t>
            </a:r>
            <a:r>
              <a:rPr lang="en-US" altLang="en-US" sz="2400" dirty="0" err="1">
                <a:solidFill>
                  <a:srgbClr val="000000"/>
                </a:solidFill>
                <a:latin typeface="menlo"/>
              </a:rPr>
              <a:t>lRaAdCxmnlhogrtuvVcpFbqisfHLeE</a:t>
            </a:r>
            <a:r>
              <a:rPr lang="en-US" altLang="en-US" sz="2400" dirty="0">
                <a:solidFill>
                  <a:srgbClr val="000000"/>
                </a:solidFill>
                <a:latin typeface="menlo"/>
              </a:rPr>
              <a:t>@] [files]</a:t>
            </a:r>
          </a:p>
          <a:p>
            <a:pPr algn="r" rtl="1"/>
            <a:r>
              <a:rPr lang="en-US" dirty="0"/>
              <a:t>ls d*</a:t>
            </a:r>
            <a:r>
              <a:rPr lang="he-IL" dirty="0"/>
              <a:t> - מציגה קבצים ותיקיות שמתחילים באות </a:t>
            </a:r>
            <a:r>
              <a:rPr lang="en-US" dirty="0"/>
              <a:t>d</a:t>
            </a:r>
            <a:endParaRPr lang="he-IL" dirty="0"/>
          </a:p>
          <a:p>
            <a:pPr lvl="1" algn="r" rtl="1"/>
            <a:r>
              <a:rPr lang="he-IL" dirty="0"/>
              <a:t>אם זו תיקייה – מציגה את הקבצים בתיקייה</a:t>
            </a:r>
          </a:p>
          <a:p>
            <a:pPr lvl="1" algn="r" rtl="1"/>
            <a:r>
              <a:rPr lang="he-IL" dirty="0"/>
              <a:t>אם זה קובץ – מציגה את הקובץ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07D54F-AED7-4C49-9D62-799789F00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944" y="3501231"/>
            <a:ext cx="6314728" cy="198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23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קבצים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400" dirty="0" err="1"/>
              <a:t>pwd</a:t>
            </a:r>
            <a:endParaRPr lang="en-US" sz="2400" dirty="0"/>
          </a:p>
          <a:p>
            <a:pPr algn="r" rtl="1"/>
            <a:r>
              <a:rPr lang="he-IL" sz="2400" dirty="0"/>
              <a:t>מראה את התיקייה הנוכחית</a:t>
            </a:r>
          </a:p>
          <a:p>
            <a:pPr algn="r" rtl="1"/>
            <a:endParaRPr lang="he-IL" dirty="0"/>
          </a:p>
          <a:p>
            <a:pPr marL="0" indent="0" algn="r" rtl="1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A02148-3356-4F1A-BDC3-626F52FDD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97285"/>
            <a:ext cx="8399563" cy="294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395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קבצים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400" dirty="0"/>
              <a:t>cd &lt;</a:t>
            </a:r>
            <a:r>
              <a:rPr lang="en-US" sz="2400" dirty="0" err="1"/>
              <a:t>dir</a:t>
            </a:r>
            <a:r>
              <a:rPr lang="en-US" sz="2400" dirty="0"/>
              <a:t>&gt;</a:t>
            </a:r>
            <a:endParaRPr lang="he-IL" sz="2400" dirty="0"/>
          </a:p>
          <a:p>
            <a:pPr algn="r" rtl="1"/>
            <a:r>
              <a:rPr lang="he-IL" sz="2400" dirty="0"/>
              <a:t>משנה את תיקיית העבודה הנוכחית של ה </a:t>
            </a:r>
            <a:r>
              <a:rPr lang="en-US" sz="2400" dirty="0"/>
              <a:t>shell</a:t>
            </a:r>
            <a:r>
              <a:rPr lang="he-IL" sz="2400" dirty="0"/>
              <a:t> לתיקייה אחרת (</a:t>
            </a:r>
            <a:r>
              <a:rPr lang="en-US" sz="2400" dirty="0"/>
              <a:t>directory</a:t>
            </a:r>
            <a:r>
              <a:rPr lang="he-IL" sz="2400" dirty="0"/>
              <a:t>)</a:t>
            </a:r>
          </a:p>
          <a:p>
            <a:pPr algn="r" rtl="1"/>
            <a:endParaRPr lang="he-IL" dirty="0"/>
          </a:p>
          <a:p>
            <a:pPr marL="0" indent="0" algn="r" rtl="1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EC7527-2D85-4432-9C07-702BCC707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63044"/>
            <a:ext cx="7711937" cy="354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497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קבצים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en-US" sz="2400" dirty="0"/>
              <a:t>cd .. </a:t>
            </a:r>
            <a:r>
              <a:rPr lang="he-IL" sz="2400" dirty="0"/>
              <a:t> - חוזר </a:t>
            </a:r>
            <a:r>
              <a:rPr lang="he-IL" sz="2400"/>
              <a:t>תיקייה אחת אחורה</a:t>
            </a:r>
            <a:endParaRPr lang="he-IL" sz="2400" dirty="0"/>
          </a:p>
          <a:p>
            <a:pPr algn="r" rtl="1"/>
            <a:r>
              <a:rPr lang="en-US" sz="2400" dirty="0"/>
              <a:t>cd /</a:t>
            </a:r>
            <a:r>
              <a:rPr lang="he-IL" sz="2400" dirty="0"/>
              <a:t> - חוזר אחורה עד תיקיית הבסיס</a:t>
            </a:r>
            <a:endParaRPr lang="en-US" sz="2400" dirty="0"/>
          </a:p>
          <a:p>
            <a:pPr algn="r" rtl="1"/>
            <a:r>
              <a:rPr lang="en-US" sz="2400" dirty="0"/>
              <a:t>cd ~</a:t>
            </a:r>
            <a:r>
              <a:rPr lang="he-IL" sz="2400" dirty="0"/>
              <a:t> או </a:t>
            </a:r>
            <a:r>
              <a:rPr lang="en-US" sz="2400" dirty="0"/>
              <a:t>cd</a:t>
            </a:r>
            <a:r>
              <a:rPr lang="he-IL" sz="2400" dirty="0"/>
              <a:t> חוזר לתיקיית בית</a:t>
            </a:r>
            <a:endParaRPr lang="en-US" sz="2400" dirty="0"/>
          </a:p>
          <a:p>
            <a:pPr algn="r" rtl="1"/>
            <a:endParaRPr lang="he-IL" dirty="0"/>
          </a:p>
          <a:p>
            <a:pPr marL="0" indent="0" algn="r" rtl="1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F8B1D1-5833-46C1-8A5C-1FD9ACDB3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32953"/>
            <a:ext cx="6521437" cy="296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271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קבצים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dirty="0"/>
              <a:t>mv</a:t>
            </a:r>
          </a:p>
          <a:p>
            <a:pPr algn="r" rtl="1"/>
            <a:r>
              <a:rPr lang="he-IL" dirty="0"/>
              <a:t>מעבירה קבצים או תיקיות</a:t>
            </a:r>
          </a:p>
          <a:p>
            <a:pPr algn="r" rtl="1"/>
            <a:r>
              <a:rPr lang="he-IL" dirty="0"/>
              <a:t>במידה ומעבירים לאותה התיקייה – משנה את שם הקובץ</a:t>
            </a:r>
          </a:p>
          <a:p>
            <a:pPr algn="r" rt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DBAD01-4315-442F-9A91-5AA15F4BA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82400"/>
            <a:ext cx="9154592" cy="20602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DF334C3-8576-489E-AE24-13C25FC4A82F}"/>
              </a:ext>
            </a:extLst>
          </p:cNvPr>
          <p:cNvSpPr/>
          <p:nvPr/>
        </p:nvSpPr>
        <p:spPr>
          <a:xfrm>
            <a:off x="675249" y="3727939"/>
            <a:ext cx="1181685" cy="30949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B6A101-CA80-4E4F-8B53-25B618B3F60F}"/>
              </a:ext>
            </a:extLst>
          </p:cNvPr>
          <p:cNvSpPr/>
          <p:nvPr/>
        </p:nvSpPr>
        <p:spPr>
          <a:xfrm>
            <a:off x="2996418" y="4895557"/>
            <a:ext cx="1181685" cy="30949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06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קבצים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dirty="0"/>
              <a:t>mv</a:t>
            </a:r>
            <a:endParaRPr lang="he-IL" dirty="0"/>
          </a:p>
          <a:p>
            <a:pPr marL="0" indent="0" algn="r" rtl="1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5FAF18-B67F-41C8-A3AA-C7C337B6B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20206"/>
            <a:ext cx="8446477" cy="338157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63A924-1494-4B23-B97B-DFACE956BDCB}"/>
              </a:ext>
            </a:extLst>
          </p:cNvPr>
          <p:cNvSpPr/>
          <p:nvPr/>
        </p:nvSpPr>
        <p:spPr>
          <a:xfrm>
            <a:off x="838200" y="4456246"/>
            <a:ext cx="1181685" cy="30949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268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קבצים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1AE45A-9226-4E07-AB88-A5AB61AB2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675" y="2403306"/>
            <a:ext cx="6082628" cy="109955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dirty="0"/>
              <a:t>mv</a:t>
            </a:r>
          </a:p>
          <a:p>
            <a:pPr marL="0" indent="0" algn="r" rtl="1">
              <a:buNone/>
            </a:pPr>
            <a:r>
              <a:rPr lang="he-IL" sz="2200" dirty="0"/>
              <a:t>העברת קובץ אחד </a:t>
            </a:r>
            <a:r>
              <a:rPr lang="en-US" sz="2200" dirty="0"/>
              <a:t>f1 </a:t>
            </a:r>
            <a:r>
              <a:rPr lang="en-US" sz="2200" dirty="0">
                <a:sym typeface="Wingdings" panose="05000000000000000000" pitchFamily="2" charset="2"/>
              </a:rPr>
              <a:t> f2</a:t>
            </a:r>
            <a:endParaRPr lang="he-IL" sz="2200" dirty="0">
              <a:sym typeface="Wingdings" panose="05000000000000000000" pitchFamily="2" charset="2"/>
            </a:endParaRPr>
          </a:p>
          <a:p>
            <a:pPr marL="0" indent="0" algn="r" rtl="1">
              <a:buNone/>
            </a:pPr>
            <a:r>
              <a:rPr lang="he-IL" sz="2200" dirty="0">
                <a:sym typeface="Wingdings" panose="05000000000000000000" pitchFamily="2" charset="2"/>
              </a:rPr>
              <a:t>העברת קובץ אחד או יותר לתיקיה </a:t>
            </a:r>
            <a:r>
              <a:rPr lang="en-US" sz="2200" dirty="0">
                <a:sym typeface="Wingdings" panose="05000000000000000000" pitchFamily="2" charset="2"/>
              </a:rPr>
              <a:t>d1</a:t>
            </a:r>
            <a:endParaRPr lang="he-IL" sz="2200" dirty="0">
              <a:sym typeface="Wingdings" panose="05000000000000000000" pitchFamily="2" charset="2"/>
            </a:endParaRPr>
          </a:p>
          <a:p>
            <a:pPr marL="0" indent="0" algn="r" rtl="1">
              <a:buNone/>
            </a:pPr>
            <a:r>
              <a:rPr lang="he-IL" sz="2200" dirty="0">
                <a:sym typeface="Wingdings" panose="05000000000000000000" pitchFamily="2" charset="2"/>
              </a:rPr>
              <a:t>העברת תיקיה אחת </a:t>
            </a:r>
            <a:r>
              <a:rPr lang="en-US" sz="2200" dirty="0">
                <a:sym typeface="Wingdings" panose="05000000000000000000" pitchFamily="2" charset="2"/>
              </a:rPr>
              <a:t>d1d2</a:t>
            </a:r>
            <a:endParaRPr lang="en-US" sz="2200" dirty="0"/>
          </a:p>
          <a:p>
            <a:pPr lvl="1"/>
            <a:endParaRPr lang="en-US" dirty="0"/>
          </a:p>
          <a:p>
            <a:pPr lvl="1"/>
            <a:r>
              <a:rPr lang="en-US" dirty="0"/>
              <a:t>-f – force overwrite – </a:t>
            </a:r>
            <a:r>
              <a:rPr lang="he-IL" dirty="0"/>
              <a:t>במידה והקובץ כבר קיים, הקובץ החדש ידרוס אותו</a:t>
            </a:r>
          </a:p>
          <a:p>
            <a:pPr lvl="1"/>
            <a:r>
              <a:rPr lang="en-US" dirty="0"/>
              <a:t>-</a:t>
            </a:r>
            <a:r>
              <a:rPr lang="en-US" dirty="0" err="1"/>
              <a:t>i</a:t>
            </a:r>
            <a:r>
              <a:rPr lang="en-US" dirty="0"/>
              <a:t> – interactive prompt – </a:t>
            </a:r>
            <a:r>
              <a:rPr lang="he-IL" dirty="0"/>
              <a:t>במידה והקובץ כבר קיים, מבקש אישור מהמשתמש לדרוס</a:t>
            </a:r>
            <a:endParaRPr lang="en-US" dirty="0"/>
          </a:p>
          <a:p>
            <a:pPr lvl="1"/>
            <a:endParaRPr lang="he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240152-CBED-4959-9FEF-A2A6712BB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052" y="5113888"/>
            <a:ext cx="5477874" cy="61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691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קבצים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4D686D-903F-4FC8-BB3D-8273F21AF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37794"/>
            <a:ext cx="9504349" cy="26741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76CDC7-C93C-437A-9013-842CE0580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51564"/>
            <a:ext cx="9522246" cy="218623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9F08B84-5777-424A-99E7-545506C3100E}"/>
              </a:ext>
            </a:extLst>
          </p:cNvPr>
          <p:cNvGrpSpPr/>
          <p:nvPr/>
        </p:nvGrpSpPr>
        <p:grpSpPr>
          <a:xfrm>
            <a:off x="2363372" y="4790180"/>
            <a:ext cx="6871445" cy="369332"/>
            <a:chOff x="2363372" y="4790180"/>
            <a:chExt cx="6871445" cy="36933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D53C04C-F811-4B84-AFBE-184E32AA5F86}"/>
                </a:ext>
              </a:extLst>
            </p:cNvPr>
            <p:cNvSpPr txBox="1"/>
            <p:nvPr/>
          </p:nvSpPr>
          <p:spPr>
            <a:xfrm>
              <a:off x="4244348" y="4790180"/>
              <a:ext cx="49904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 rtl="1"/>
              <a:r>
                <a:rPr lang="he-IL" dirty="0"/>
                <a:t>העברת כל הקבצים שמתחילים ב </a:t>
              </a:r>
              <a:r>
                <a:rPr lang="en-US" dirty="0"/>
                <a:t>f</a:t>
              </a:r>
              <a:r>
                <a:rPr lang="he-IL" dirty="0"/>
                <a:t> תיקייה אחת אחורה</a:t>
              </a:r>
              <a:endParaRPr lang="en-US" dirty="0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6F9D792C-AE60-41D2-9CC4-F1A0CC3E3B62}"/>
                </a:ext>
              </a:extLst>
            </p:cNvPr>
            <p:cNvCxnSpPr>
              <a:stCxn id="3" idx="1"/>
            </p:cNvCxnSpPr>
            <p:nvPr/>
          </p:nvCxnSpPr>
          <p:spPr>
            <a:xfrm flipH="1">
              <a:off x="2363372" y="4974846"/>
              <a:ext cx="18809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3478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קבצים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dirty="0" err="1"/>
              <a:t>cp</a:t>
            </a:r>
            <a:endParaRPr lang="en-US" dirty="0"/>
          </a:p>
          <a:p>
            <a:pPr algn="r" rtl="1"/>
            <a:r>
              <a:rPr lang="he-IL" dirty="0"/>
              <a:t>העתקת קובץ או תיקיות ממקום למקום. במידה וקובץ קיים – דורס</a:t>
            </a:r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l"/>
            <a:r>
              <a:rPr lang="en-US" sz="2400" dirty="0"/>
              <a:t>-f – force overwrite</a:t>
            </a:r>
          </a:p>
          <a:p>
            <a:r>
              <a:rPr lang="en-US" sz="2400" dirty="0"/>
              <a:t>-</a:t>
            </a:r>
            <a:r>
              <a:rPr lang="en-US" sz="2400" dirty="0" err="1"/>
              <a:t>i</a:t>
            </a:r>
            <a:r>
              <a:rPr lang="en-US" sz="2400" dirty="0"/>
              <a:t> – interactive prompt </a:t>
            </a:r>
          </a:p>
          <a:p>
            <a:r>
              <a:rPr lang="en-US" sz="2400" dirty="0"/>
              <a:t>-p – preserve – copies includes owner id, group id, permissions…</a:t>
            </a:r>
          </a:p>
          <a:p>
            <a:pPr algn="l"/>
            <a:r>
              <a:rPr lang="en-US" sz="2400" dirty="0"/>
              <a:t>-r – recursive – copies the directory and all its files, include subdirectories</a:t>
            </a:r>
          </a:p>
          <a:p>
            <a:pPr algn="l"/>
            <a:endParaRPr lang="he-IL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3DA258-E195-4696-8294-1FD2E3B52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836" y="2844164"/>
            <a:ext cx="9713813" cy="91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394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קבצים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l"/>
            <a:r>
              <a:rPr lang="en-US" dirty="0" err="1"/>
              <a:t>rm</a:t>
            </a:r>
            <a:r>
              <a:rPr lang="en-US" dirty="0"/>
              <a:t> - 	</a:t>
            </a:r>
            <a:r>
              <a:rPr lang="he-IL" dirty="0"/>
              <a:t>מחיקת קובץ (ללא תיקיות)</a:t>
            </a:r>
            <a:endParaRPr lang="en-US" dirty="0"/>
          </a:p>
          <a:p>
            <a:pPr algn="r" rtl="1"/>
            <a:endParaRPr lang="he-IL" dirty="0"/>
          </a:p>
          <a:p>
            <a:pPr algn="l"/>
            <a:r>
              <a:rPr lang="en-US" sz="2400" dirty="0"/>
              <a:t>-r / -R – recursive – </a:t>
            </a:r>
            <a:r>
              <a:rPr lang="he-IL" sz="2400" dirty="0"/>
              <a:t>מחיקת קבצים בצורה רקורסיבית – תת תיקיות</a:t>
            </a:r>
          </a:p>
          <a:p>
            <a:pPr marL="457200" lvl="1" indent="0">
              <a:buNone/>
            </a:pPr>
            <a:r>
              <a:rPr lang="he-IL" sz="2000" dirty="0"/>
              <a:t>במידה ואחרי מחיקת קובץ התיקייה ריקה, אז התיקייה תימחק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B5BCCD-513B-4610-9282-716B8C52F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13" y="2391434"/>
            <a:ext cx="4692895" cy="3799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2E0F2E-F8E8-4239-847A-3B50E9268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13" y="4161032"/>
            <a:ext cx="3661808" cy="215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202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קבצים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l"/>
            <a:r>
              <a:rPr lang="en-US" dirty="0" err="1"/>
              <a:t>rm</a:t>
            </a:r>
            <a:r>
              <a:rPr lang="en-US" dirty="0"/>
              <a:t> - 	</a:t>
            </a:r>
            <a:r>
              <a:rPr lang="he-IL" dirty="0"/>
              <a:t>מחיקת קובץ (ללא תיקיות)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B5BCCD-513B-4610-9282-716B8C52F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013" y="2391434"/>
            <a:ext cx="4692895" cy="37990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2C7690A-4EED-443F-AA1A-CC13E5EE354E}"/>
              </a:ext>
            </a:extLst>
          </p:cNvPr>
          <p:cNvGrpSpPr/>
          <p:nvPr/>
        </p:nvGrpSpPr>
        <p:grpSpPr>
          <a:xfrm>
            <a:off x="1007013" y="3235568"/>
            <a:ext cx="7351053" cy="3119573"/>
            <a:chOff x="1007013" y="3235568"/>
            <a:chExt cx="7351053" cy="311957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46452E2-BC11-4AE5-940C-E30B9EFEA7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3379"/>
            <a:stretch/>
          </p:blipFill>
          <p:spPr>
            <a:xfrm>
              <a:off x="1007013" y="3235568"/>
              <a:ext cx="7351053" cy="3042969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5938037-2FE0-4A4B-BD6C-C68C5422FC3C}"/>
                </a:ext>
              </a:extLst>
            </p:cNvPr>
            <p:cNvSpPr/>
            <p:nvPr/>
          </p:nvSpPr>
          <p:spPr>
            <a:xfrm>
              <a:off x="6479343" y="4152142"/>
              <a:ext cx="1181685" cy="309490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3E7D964-2F77-4284-9E99-41B2911D0EC5}"/>
                </a:ext>
              </a:extLst>
            </p:cNvPr>
            <p:cNvSpPr/>
            <p:nvPr/>
          </p:nvSpPr>
          <p:spPr>
            <a:xfrm>
              <a:off x="6479343" y="6045651"/>
              <a:ext cx="1181685" cy="309490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01582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קבצים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l"/>
            <a:r>
              <a:rPr lang="en-US" dirty="0" err="1"/>
              <a:t>mkdir</a:t>
            </a:r>
            <a:r>
              <a:rPr lang="en-US" dirty="0"/>
              <a:t> – </a:t>
            </a:r>
            <a:r>
              <a:rPr lang="he-IL" dirty="0"/>
              <a:t>יצירת תיקייה חדשה</a:t>
            </a:r>
            <a:endParaRPr lang="en-US" dirty="0"/>
          </a:p>
          <a:p>
            <a:pPr algn="l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096CF2-DBE5-45A5-A553-5510E14CA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58756"/>
            <a:ext cx="7577505" cy="3563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6DF7B9-63B3-4586-A107-AD83A1FB5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61360"/>
            <a:ext cx="10356687" cy="108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0111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קבצים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l"/>
            <a:r>
              <a:rPr lang="en-US" dirty="0" err="1"/>
              <a:t>mkdir</a:t>
            </a:r>
            <a:r>
              <a:rPr lang="en-US" dirty="0"/>
              <a:t> – </a:t>
            </a:r>
            <a:r>
              <a:rPr lang="he-IL" dirty="0"/>
              <a:t>יצירת תיקייה חדשה</a:t>
            </a:r>
            <a:endParaRPr lang="en-US" dirty="0"/>
          </a:p>
          <a:p>
            <a:pPr algn="l"/>
            <a:endParaRPr lang="en-US" dirty="0"/>
          </a:p>
          <a:p>
            <a:pPr lvl="1"/>
            <a:r>
              <a:rPr lang="en-US" dirty="0"/>
              <a:t>-p – </a:t>
            </a:r>
            <a:r>
              <a:rPr lang="he-IL" dirty="0"/>
              <a:t>יצירת שרשרת תיקיות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096CF2-DBE5-45A5-A553-5510E14CA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58756"/>
            <a:ext cx="7577505" cy="3563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9887B7-7017-49D3-BD5D-1CDE07756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48196"/>
            <a:ext cx="6834783" cy="233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0218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קבצים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l"/>
            <a:r>
              <a:rPr lang="en-US" dirty="0" err="1"/>
              <a:t>rmdir</a:t>
            </a:r>
            <a:r>
              <a:rPr lang="en-US" dirty="0"/>
              <a:t> – </a:t>
            </a:r>
            <a:r>
              <a:rPr lang="he-IL" dirty="0"/>
              <a:t>מחיקת תיקייה</a:t>
            </a:r>
            <a:endParaRPr lang="en-US" dirty="0"/>
          </a:p>
          <a:p>
            <a:pPr algn="l"/>
            <a:r>
              <a:rPr lang="he-IL" dirty="0"/>
              <a:t>מוחקת תיקיות ריקות בלבד</a:t>
            </a:r>
            <a:endParaRPr lang="en-US" dirty="0"/>
          </a:p>
          <a:p>
            <a:pPr algn="l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2AC8C8-80DD-4094-A696-D491F07BF4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442"/>
          <a:stretch/>
        </p:blipFill>
        <p:spPr>
          <a:xfrm>
            <a:off x="1046504" y="2981175"/>
            <a:ext cx="7299732" cy="4080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6A2739-8721-4650-9AD4-7DDA39B19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504" y="3660700"/>
            <a:ext cx="8817832" cy="228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7266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dirty="0"/>
              <a:t>UNIX</a:t>
            </a:r>
            <a:br>
              <a:rPr lang="he-IL" dirty="0"/>
            </a:br>
            <a:r>
              <a:rPr lang="he-IL" sz="2800" dirty="0"/>
              <a:t>פקודות קבצים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l"/>
            <a:r>
              <a:rPr lang="en-US" dirty="0" err="1"/>
              <a:t>rmdir</a:t>
            </a:r>
            <a:r>
              <a:rPr lang="en-US" dirty="0"/>
              <a:t> – </a:t>
            </a:r>
            <a:r>
              <a:rPr lang="he-IL" dirty="0"/>
              <a:t>מחיקת תיקייה</a:t>
            </a:r>
            <a:endParaRPr lang="en-US" dirty="0"/>
          </a:p>
          <a:p>
            <a:pPr algn="l"/>
            <a:endParaRPr lang="en-US" dirty="0"/>
          </a:p>
          <a:p>
            <a:pPr lvl="1"/>
            <a:r>
              <a:rPr lang="en-US" dirty="0"/>
              <a:t>-p – </a:t>
            </a:r>
            <a:r>
              <a:rPr lang="he-IL" dirty="0"/>
              <a:t>מחיקת תיקיות אב במידה והן ריקות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2AC8C8-80DD-4094-A696-D491F07BF4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9442"/>
          <a:stretch/>
        </p:blipFill>
        <p:spPr>
          <a:xfrm>
            <a:off x="1046504" y="2349230"/>
            <a:ext cx="7299732" cy="4080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6A2804-8619-4B33-9787-A761D5059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503" y="3280873"/>
            <a:ext cx="9046923" cy="303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692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811</Words>
  <Application>Microsoft Office PowerPoint</Application>
  <PresentationFormat>מסך רחב</PresentationFormat>
  <Paragraphs>137</Paragraphs>
  <Slides>29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Helvetica Neue</vt:lpstr>
      <vt:lpstr>menlo</vt:lpstr>
      <vt:lpstr>Monaco</vt:lpstr>
      <vt:lpstr>Office Theme</vt:lpstr>
      <vt:lpstr>UNIX</vt:lpstr>
      <vt:lpstr>UNIX פקודות בסיסיות – shell</vt:lpstr>
      <vt:lpstr>UNIX פקודות בסיסיות</vt:lpstr>
      <vt:lpstr>UNIX פקודות בסיסיות – shell</vt:lpstr>
      <vt:lpstr>UNIX פקודות בסיסיות</vt:lpstr>
      <vt:lpstr>UNIX פקודות בסיסיות</vt:lpstr>
      <vt:lpstr>UNIX פקודות בסיסיות</vt:lpstr>
      <vt:lpstr>UNIX פקודות בסיסיות</vt:lpstr>
      <vt:lpstr>UNIX פקודות בסיסיות</vt:lpstr>
      <vt:lpstr>UNIX פקודות בסיסיות</vt:lpstr>
      <vt:lpstr>UNIX פקודות בסיסיות</vt:lpstr>
      <vt:lpstr>UNIX פקודות בסיסיות</vt:lpstr>
      <vt:lpstr>UNIX פקודות בסיסיות</vt:lpstr>
      <vt:lpstr>UNIX פקודות קבצים</vt:lpstr>
      <vt:lpstr>UNIX פקודות קבצים</vt:lpstr>
      <vt:lpstr>UNIX פקודות קבצים</vt:lpstr>
      <vt:lpstr>UNIX פקודות קבצים</vt:lpstr>
      <vt:lpstr>UNIX פקודות קבצים</vt:lpstr>
      <vt:lpstr>UNIX פקודות קבצים</vt:lpstr>
      <vt:lpstr>UNIX פקודות קבצים</vt:lpstr>
      <vt:lpstr>UNIX פקודות קבצים</vt:lpstr>
      <vt:lpstr>UNIX פקודות קבצים</vt:lpstr>
      <vt:lpstr>UNIX פקודות קבצים</vt:lpstr>
      <vt:lpstr>UNIX פקודות קבצים</vt:lpstr>
      <vt:lpstr>UNIX פקודות קבצים</vt:lpstr>
      <vt:lpstr>UNIX פקודות קבצים</vt:lpstr>
      <vt:lpstr>UNIX פקודות קבצים</vt:lpstr>
      <vt:lpstr>UNIX פקודות קבצים</vt:lpstr>
      <vt:lpstr>UNIX פקודות קבצים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</dc:title>
  <dc:creator>Yechezkel</dc:creator>
  <cp:lastModifiedBy>גיא יחזקאל</cp:lastModifiedBy>
  <cp:revision>40</cp:revision>
  <dcterms:created xsi:type="dcterms:W3CDTF">2017-05-21T13:37:07Z</dcterms:created>
  <dcterms:modified xsi:type="dcterms:W3CDTF">2022-11-22T20:25:37Z</dcterms:modified>
</cp:coreProperties>
</file>