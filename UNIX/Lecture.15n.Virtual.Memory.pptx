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49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50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23.xml.rels" ContentType="application/vnd.openxmlformats-package.relationships+xml"/>
  <Override PartName="/ppt/slides/_rels/slide30.xml.rels" ContentType="application/vnd.openxmlformats-package.relationships+xml"/>
  <Override PartName="/ppt/slides/_rels/slide32.xml.rels" ContentType="application/vnd.openxmlformats-package.relationships+xml"/>
  <Override PartName="/ppt/slides/_rels/slide25.xml.rels" ContentType="application/vnd.openxmlformats-package.relationships+xml"/>
  <Override PartName="/ppt/slides/_rels/slide13.xml.rels" ContentType="application/vnd.openxmlformats-package.relationships+xml"/>
  <Override PartName="/ppt/slides/_rels/slide45.xml.rels" ContentType="application/vnd.openxmlformats-package.relationships+xml"/>
  <Override PartName="/ppt/slides/_rels/slide29.xml.rels" ContentType="application/vnd.openxmlformats-package.relationships+xml"/>
  <Override PartName="/ppt/slides/_rels/slide2.xml.rels" ContentType="application/vnd.openxmlformats-package.relationships+xml"/>
  <Override PartName="/ppt/slides/_rels/slide26.xml.rels" ContentType="application/vnd.openxmlformats-package.relationships+xml"/>
  <Override PartName="/ppt/slides/_rels/slide46.xml.rels" ContentType="application/vnd.openxmlformats-package.relationships+xml"/>
  <Override PartName="/ppt/slides/_rels/slide15.xml.rels" ContentType="application/vnd.openxmlformats-package.relationships+xml"/>
  <Override PartName="/ppt/slides/_rels/slide22.xml.rels" ContentType="application/vnd.openxmlformats-package.relationships+xml"/>
  <Override PartName="/ppt/slides/_rels/slide28.xml.rels" ContentType="application/vnd.openxmlformats-package.relationships+xml"/>
  <Override PartName="/ppt/slides/_rels/slide1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7.xml.rels" ContentType="application/vnd.openxmlformats-package.relationships+xml"/>
  <Override PartName="/ppt/slides/_rels/slide14.xml.rels" ContentType="application/vnd.openxmlformats-package.relationships+xml"/>
  <Override PartName="/ppt/slides/_rels/slide9.xml.rels" ContentType="application/vnd.openxmlformats-package.relationships+xml"/>
  <Override PartName="/ppt/slides/_rels/slide48.xml.rels" ContentType="application/vnd.openxmlformats-package.relationships+xml"/>
  <Override PartName="/ppt/slides/_rels/slide27.xml.rels" ContentType="application/vnd.openxmlformats-package.relationships+xml"/>
  <Override PartName="/ppt/slides/_rels/slide38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34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10.xml.rels" ContentType="application/vnd.openxmlformats-package.relationships+xml"/>
  <Override PartName="/ppt/slides/_rels/slide37.xml.rels" ContentType="application/vnd.openxmlformats-package.relationships+xml"/>
  <Override PartName="/ppt/slides/_rels/slide33.xml.rels" ContentType="application/vnd.openxmlformats-package.relationships+xml"/>
  <Override PartName="/ppt/slides/_rels/slide40.xml.rels" ContentType="application/vnd.openxmlformats-package.relationships+xml"/>
  <Override PartName="/ppt/slides/_rels/slide7.xml.rels" ContentType="application/vnd.openxmlformats-package.relationships+xml"/>
  <Override PartName="/ppt/slides/_rels/slide31.xml.rels" ContentType="application/vnd.openxmlformats-package.relationships+xml"/>
  <Override PartName="/ppt/slides/_rels/slide42.xml.rels" ContentType="application/vnd.openxmlformats-package.relationships+xml"/>
  <Override PartName="/ppt/slides/_rels/slide41.xml.rels" ContentType="application/vnd.openxmlformats-package.relationships+xml"/>
  <Override PartName="/ppt/slides/_rels/slide43.xml.rels" ContentType="application/vnd.openxmlformats-package.relationships+xml"/>
  <Override PartName="/ppt/slides/_rels/slide50.xml.rels" ContentType="application/vnd.openxmlformats-package.relationships+xml"/>
  <Override PartName="/ppt/slides/_rels/slide44.xml.rels" ContentType="application/vnd.openxmlformats-package.relationships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media/image19.png" ContentType="image/png"/>
  <Override PartName="/ppt/media/image17.wmf" ContentType="image/x-wmf"/>
  <Override PartName="/ppt/media/image29.png" ContentType="image/png"/>
  <Override PartName="/ppt/media/image16.wmf" ContentType="image/x-wmf"/>
  <Override PartName="/ppt/media/image23.png" ContentType="image/png"/>
  <Override PartName="/ppt/media/image18.jpeg" ContentType="image/jpeg"/>
  <Override PartName="/ppt/media/image2.png" ContentType="image/png"/>
  <Override PartName="/ppt/media/image39.png" ContentType="image/png"/>
  <Override PartName="/ppt/media/image25.png" ContentType="image/png"/>
  <Override PartName="/ppt/media/image3.png" ContentType="image/png"/>
  <Override PartName="/ppt/media/image22.png" ContentType="image/png"/>
  <Override PartName="/ppt/media/image1.jpeg" ContentType="image/jpeg"/>
  <Override PartName="/ppt/media/image34.png" ContentType="image/png"/>
  <Override PartName="/ppt/media/image33.png" ContentType="image/png"/>
  <Override PartName="/ppt/media/image13.png" ContentType="image/png"/>
  <Override PartName="/ppt/media/image38.png" ContentType="image/png"/>
  <Override PartName="/ppt/media/image20.png" ContentType="image/png"/>
  <Override PartName="/ppt/media/image21.png" ContentType="image/png"/>
  <Override PartName="/ppt/media/image30.png" ContentType="image/png"/>
  <Override PartName="/ppt/media/image7.jpeg" ContentType="image/jpeg"/>
  <Override PartName="/ppt/media/image31.png" ContentType="image/png"/>
  <Override PartName="/ppt/media/image32.png" ContentType="image/png"/>
  <Override PartName="/ppt/media/image24.png" ContentType="image/png"/>
  <Override PartName="/ppt/media/image8.jpeg" ContentType="image/jpeg"/>
  <Override PartName="/ppt/media/image28.png" ContentType="image/png"/>
  <Override PartName="/ppt/media/image5.jpeg" ContentType="image/jpeg"/>
  <Override PartName="/ppt/media/image37.png" ContentType="image/png"/>
  <Override PartName="/ppt/media/image12.wmf" ContentType="image/x-wmf"/>
  <Override PartName="/ppt/media/image27.png" ContentType="image/png"/>
  <Override PartName="/ppt/media/image4.jpeg" ContentType="image/jpeg"/>
  <Override PartName="/ppt/media/image26.png" ContentType="image/png"/>
  <Override PartName="/ppt/media/image6.jpeg" ContentType="image/jpeg"/>
  <Override PartName="/ppt/media/image11.png" ContentType="image/png"/>
  <Override PartName="/ppt/media/image9.jpeg" ContentType="image/jpeg"/>
  <Override PartName="/ppt/media/image35.png" ContentType="image/png"/>
  <Override PartName="/ppt/media/image36.png" ContentType="image/png"/>
  <Override PartName="/ppt/media/image10.png" ContentType="image/png"/>
  <Override PartName="/ppt/media/image15.wmf" ContentType="image/x-wmf"/>
  <Override PartName="/ppt/media/image14.jpeg" ContentType="image/jpeg"/>
  <Override PartName="/ppt/presentation.xml" ContentType="application/vnd.openxmlformats-officedocument.presentationml.presentation.main+xml"/>
  <Override PartName="/ppt/embeddings/oleObject1.bin" ContentType="application/vnd.openxmlformats-officedocument.oleObject"/>
  <Override PartName="/ppt/embeddings/oleObject2.bin" ContentType="application/vnd.openxmlformats-officedocument.oleObject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219C9F-1AAF-41A1-BBFF-E8750C0ACF4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4C294D-F6B5-47F0-BA0A-080D7E27BB7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39FDD2-1B0D-4CF7-AEE7-6C37EDD5747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D3B08D-06E8-4EDF-9609-8A07A0CADE8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5CA2FE-B85B-4D12-AE72-46FCCF7FEAC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150AD8-7840-4FB8-A27E-7B840B15040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CBF5C6-FF17-4805-A372-7EFC57949C0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226D04-1BDD-45AD-9C60-FBB643A825F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5B6B26-80B4-4739-A6FC-1E8D04A17B4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0A9526-F9BA-497F-8B8E-BA50A079566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FA2B45-7EA7-465D-869E-90E9FF2EE03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2.wmf"/><Relationship Id="rId2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5.wmf"/><Relationship Id="rId2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6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17.wmf"/><Relationship Id="rId5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4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4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4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4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4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Layout" Target="../slideLayouts/slideLayout4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4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4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4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Virtual Memory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זיכרון וירטואלי</a:t>
            </a:r>
            <a:endParaRPr b="0" lang="en-I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he-IL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he-IL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גיא יחזקאל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Virtual Memory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מטרות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להסביר את היתרונות של זכרון וירטואלי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להסביר את העקרונות של דפדוף, החלפת דפים, דפים לפי דרישה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להציג אלגוריתמים לבחירת דפים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להסביר את העקרונות של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working set model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Virtual Memory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רקע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קוד צריך להימצא בזכרון בשביל הרצה, אבל שימוש בכל התוכנית יחד הוא נדיר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קוד לטיפול בשגיאות, מערכים ושאר משתנים שמקבלים הקצאה גדולה של זכרון שלא תמיד בשימוש, פונקציות שלא בשימוש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כל הקוד של התוכנית לא נצרך באותו הזמן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אפשרות להריץ תוכנית שרק חלק ממנה טעונה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תוכנית פחות מוגבלת בכמות הזכרון הפנוי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כל תוכנית צורכת פחות זכרון בזמן ריצה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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יותר תוכניות נמצאות בזכרון ורצות ביחד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יותר ניצול מעבד ויותר תפוקה מבלי לפגוע בזמן תגובה או ביצוע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פחות שימוש בקלט/פלט כדי לטעון ולהחליף תוכניות בזכרון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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כל תוכנית רצה יותר מהר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Virtual Memory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רקע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זכרון וירטואלי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הפרדה של הזכרון הלוגי של המשתמש מהזכרון הפיזי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רק חלק מהתוכנית צריך להיות בזכרון בשביל הרצה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תוכנית לא צריכה להיות מוגבלת יותר ע"י כמות הזכרון הפיזי שבמחשב. ניתן לכתוב תוכניות בגודל הרבה יותר גדול מהזכרון הפיזי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זמן יצירת תהליך יותר יעיל – לא צריך להקצות זכרון עבור כל הזכרון שהתהליך דורש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מרחב כתובות וירטואלי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מבחינה לוגית, איך תהליך מאוחסן בזכרון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מתחיל בדרך כלל בכתובת לוגית מסויימת (למשל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 וממשיך עד סוף המרחב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הזכרון הפיזי מאורגן בצורת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&lt;-&gt; frame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מיפוי של הזכרון הלוגי לפיזי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Virtual Memory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0" name="Picture 2" descr=""/>
          <p:cNvPicPr/>
          <p:nvPr/>
        </p:nvPicPr>
        <p:blipFill>
          <a:blip r:embed="rId1"/>
          <a:stretch/>
        </p:blipFill>
        <p:spPr>
          <a:xfrm>
            <a:off x="3083040" y="1690560"/>
            <a:ext cx="6025680" cy="477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PlaceHolder 2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he-IL" sz="18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he-IL" sz="18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גיא יחזקאל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Virtual Memory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592440" y="1825560"/>
            <a:ext cx="776088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מרחב הכתובות של תהליך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stack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שמשמש לפונקציות וה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heap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שמשמש לזכרון דינאמי יכולים להתכווץ ולהתרחב בהתאם לדרישה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stack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ו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heap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הם חלק ממרחב הזכרון הוירטואלי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בפועל, בזכרון הפיזי נתפוס רק את מה שבאמת בשימוש מתוך 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stack &lt;-&gt; heap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2" descr=""/>
          <p:cNvPicPr/>
          <p:nvPr/>
        </p:nvPicPr>
        <p:blipFill>
          <a:blip r:embed="rId1"/>
          <a:stretch/>
        </p:blipFill>
        <p:spPr>
          <a:xfrm>
            <a:off x="838080" y="1825560"/>
            <a:ext cx="2754000" cy="435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Virtual Memory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684400" y="1825560"/>
            <a:ext cx="56689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ניתן גם להשתמש ב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sharing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קבצים וזכרון משותפים ע"י שני תהליכים או יותר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ספריות מערכת משותפות למספר תהליכים ע"י מיפוי הכתובת הפיזית לכתובת וירטואלית (לוגית) של כמות גדולה של תהליכים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7" name="Picture 2" descr=""/>
          <p:cNvPicPr/>
          <p:nvPr/>
        </p:nvPicPr>
        <p:blipFill>
          <a:blip r:embed="rId1"/>
          <a:stretch/>
        </p:blipFill>
        <p:spPr>
          <a:xfrm>
            <a:off x="0" y="1831680"/>
            <a:ext cx="5614200" cy="376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Virtual Memory</a:t>
            </a:r>
            <a:br>
              <a:rPr sz="44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Demand Paging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ישנן שתי אפשרויות לטעינת תוכנית מהדיסק לזכרון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טעינת כל התוכנית לזכרון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טעינת תוכנית בתחילתה מאפשרת למשתמש לבחור ממספר אפשרויות ולאחר מכן מריצה אפשרות מסויימת – טעינת כל האפשרויות בתחילת התוכנית היא מיותרת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טעינת דפים רק כאשר הם נצרכים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Demand paging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דפדוף לפי דרישה – טעינת דפים לזכרון רק כאשר הם נדרשים בזמן ביצוע התוכנית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דפים שלא היו בשימוש לא ייטענו לזכרון במהלך ריצת התוכנית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Demand Paging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הזכרון הלוגי של התוכנית נמצא באחסון משני – דיסק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כאשר רוצים להריץ את התוכנית מבצעים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swap in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רק הדפים הנדרשים של התוכנית ייטענו לזכרון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פחות שימוש 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I/O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פחות ניצול זכרון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תגובה מהירה יותר – אין צורך לחכות עד שכל התהליך ייטען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יותר תהליכים ומשתמשים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בדומה לשימוש ב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swapper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רק הפעם השימוש הוא ב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lazy swapper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Lazy swapper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לעולם לא תטען דף לזכרון אלא אם כן הוא נדרש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Swapper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שמטפל בדפים ולא בכל התוכנית נקרא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pager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Demand Paging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Content Placeholder 3" descr=""/>
          <p:cNvPicPr/>
          <p:nvPr/>
        </p:nvPicPr>
        <p:blipFill>
          <a:blip r:embed="rId1"/>
          <a:stretch/>
        </p:blipFill>
        <p:spPr>
          <a:xfrm>
            <a:off x="3354840" y="1690560"/>
            <a:ext cx="5482080" cy="502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Demand Paging</a:t>
            </a:r>
            <a:br>
              <a:rPr sz="44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Basic concepts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כשתהליך חוזר חזרה למצב ריצה, דרוש להביא את הדפים שלו לזכרון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במהלך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swapping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pager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"מנחש" איזה דפים יהיו בשימוש עד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swap-out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של תהליך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במקום להכניס את כל התהליך,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pager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מביא רק את הדפים האלה לזכרון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דרושים אלגוריתמים שיקבעו אילו דפים ייבחרו מסך כל הדפים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אם הדפים הנדרשים הם לא בזכרון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צריך לאתר ולטעון את הדפים לזכרון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בלי לפגוע בהתנהגות התוכנית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בלי לגרום למשתמש לשנות את הקוד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Demand Paging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3666960" y="1825560"/>
            <a:ext cx="76863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עם כל טבלת דפים, ישנה עמודה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valid-invalid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הדף המסויים נמצא בזכרון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הדף המסויים אינו נמצא בזכרון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בהתחלה כל הדפים מסומנים כ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במהלך תרגום הכתובת על ידי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MMU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סימון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בטבלה יגרום ל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fault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אין משמעות לסימון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אם התהליך לעולם לא ידרוש את הדף במהלך הריצה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8" name="Picture 3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2828520" cy="32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Demand Paging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0" name="Picture 2" descr=""/>
          <p:cNvPicPr/>
          <p:nvPr/>
        </p:nvPicPr>
        <p:blipFill>
          <a:blip r:embed="rId1"/>
          <a:stretch/>
        </p:blipFill>
        <p:spPr>
          <a:xfrm>
            <a:off x="3469320" y="1690560"/>
            <a:ext cx="5253120" cy="509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Box 4"/>
          <p:cNvSpPr/>
          <p:nvPr/>
        </p:nvSpPr>
        <p:spPr>
          <a:xfrm>
            <a:off x="8066520" y="1690560"/>
            <a:ext cx="197136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 – in memory</a:t>
            </a:r>
            <a:endParaRPr b="0" lang="en-I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 – in disk</a:t>
            </a:r>
            <a:endParaRPr b="0" lang="en-I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Demand Paging</a:t>
            </a:r>
            <a:br>
              <a:rPr sz="44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Page Fault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פסיקת מערכת הפעלה בכשלון להביא דף מבוקש לתוך הזכרון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הטיפול בפסיקה: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מערכת ההפעלה בודקת בטבלה פנימית (בדרך כלל שמורה ב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PCB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 אם הגישה של התהליך לדף היא גישה חוקית או לא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גישה אינה חוקית מסיימת את התהליך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במידה והגישה חוקית, עלינו להביא את הדף הזה מהאחסון המשני לזכרון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מחפשים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frame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פנוי [אם לא קיים, מפנים אחד מה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RAM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]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מבצעים קריאה של הדף מהדיסק לתוך הזכרון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כשהקריאה הסתיימה, מעדכנים בטבלה הפנימית ובטבלת הדפים על הדף כ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valid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מפעילים שוב את ההוראה במעבד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התהליך כעת יכול לגשת לדף שנמצא בזכרון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Demand Paging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5" name="Picture 2" descr=""/>
          <p:cNvPicPr/>
          <p:nvPr/>
        </p:nvPicPr>
        <p:blipFill>
          <a:blip r:embed="rId1"/>
          <a:stretch/>
        </p:blipFill>
        <p:spPr>
          <a:xfrm>
            <a:off x="2936880" y="1690560"/>
            <a:ext cx="6192720" cy="516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Demand Paging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בתרחיש קיצוני – ניתן להתחיל תהליך עם אף דף בזכרון הפיזי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כאשר התהליך מבקש לבצע פעולה שהדף שלה לא נמצא בזכרון מתבצעת פסיקה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fault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התהליך ממשיך לרוץ ומבצע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fault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עבור כל דף שהוא צריך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עד שהתהליך יכול לרוץ בלי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faults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Pure demand paging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לעולם לא להביא דף לזכרון עד שהוא נדרש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הוראת ביצוע אחת יכולה לגרום למספר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faults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שימוש בהוראה ובמידע הנדרש לבצע אותה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שימוש בפונקציה ובפרמטרים שלה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ביצועי מערכת נמוכים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Demand Paging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פקודה אחת יכולה לדרוש גישה למספר דפים -&gt; מספר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faults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פקודת חיבור של שני איברים בזכרון לאיבר שלישי בזכרון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החומרה הדרושה לטיפול ב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Demand Paging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היא אותה חומרה כמו לטיפול ב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paging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או ב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swapping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table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טבלת דפים עם אפשרות לסימון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valid-invalid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אחסון משני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– זכרון גדול דיו להחזיק את הדפים שלא נדרשים בזכרון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1260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Virtual Memory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451520"/>
            <a:ext cx="10515240" cy="528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שלבים בדפדוף לפי דרישה (מקרה הגרוע)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פסיקה למערכת ההפעלה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שמירת הרגיסטרים ומצב המעבד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קביעה שהפסיקה הינה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fault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בדיקה שהגישה לדף היא חוקית וקביעת מיקום הדף בדיסק (אחסון משני)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ביצוע </a:t>
            </a: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קריאה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מהדיסק לפריים פנוי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71640" indent="-51444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המתן בתור ההתקן עד שהבקשה מתקבלת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71640" indent="-51444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המתנה להתקן להתמקם על הדף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71640" indent="-51444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התחלת ההעברה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בזמן המתנה, להקצות את המעבד לתהליך אחר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קבלת פסיקה מהדיסק על סיום הקריאה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שמירת הרגיסטרים ומצב המעבד של התהליך הנוכחי (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קביעת שהפסיקה הייתה מהדיסק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תיקון טבלת הדפים להציג את הדף כ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valid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להמתין לתהליך שייכנס למעבד שוב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אחזור הרגיסטרים ושאר המצב של המעבד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Virtual Memory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במידה ואין לנו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frame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פנוי, דרוש אלגוריתם לבחירת איזה דף להוציא מהזכרון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דרוש להעתיק חזרה את הדף לדיסק – רק דף ששונה מהפעם האחרונה צריך להעתיק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Modify (dirty) bit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- מסמן האם הדף שונה או לא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Virtual Memory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5" name="Picture 2" descr=""/>
          <p:cNvPicPr/>
          <p:nvPr/>
        </p:nvPicPr>
        <p:blipFill>
          <a:blip r:embed="rId1"/>
          <a:stretch/>
        </p:blipFill>
        <p:spPr>
          <a:xfrm>
            <a:off x="2561040" y="1468440"/>
            <a:ext cx="7069680" cy="514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Virtual Memory</a:t>
            </a:r>
            <a:br>
              <a:rPr sz="44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Basic page replacement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מצא את מיקום הדף המבוקש בדיסק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מצא מסגרת פנויה בזכרון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אם יש מסגרת פנויה, בחר אותה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אם אין מסגרת פנויה, השתמש באלגוריתם כדי לבחור מסגרת קורבן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victim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כתוב את מסגרת הקורבן לדיסק (במידה ושונתה) ועדכן בטבלת הדפים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invalid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הבא את הדף המבוקש למסגרת הפנויה הנבחרת, עדכן את טבלת הדפים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המשך את התהליך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Virtual Memory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9" name="Picture 2" descr=""/>
          <p:cNvPicPr/>
          <p:nvPr/>
        </p:nvPicPr>
        <p:blipFill>
          <a:blip r:embed="rId1"/>
          <a:stretch/>
        </p:blipFill>
        <p:spPr>
          <a:xfrm>
            <a:off x="2640960" y="1766520"/>
            <a:ext cx="6909840" cy="50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Virtual Memory</a:t>
            </a:r>
            <a:br>
              <a:rPr sz="44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Page Replacement Algorithms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המטרה: כמות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faults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הכי נמוכה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הערכת אלגוריתם ע"י הרצה על רצף מסויים של הפניות לדפים וחישוב כמות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faults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על הרצף הזה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רצף הדפים מייצג את מספרי הדפים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גישה נוספת מיידית לדף לא מייצרת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fault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בדוגמה שלנו, רצף הדפים יהיה (משמאל לימין)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              </a:t>
            </a:r>
            <a:r>
              <a:rPr b="1" lang="en-US" sz="2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7,0,1,2,0,3,0,4,2,3,0,3,0,3,2,1,2,0,1,7,0,1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Global vs. Local Allocation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החלפה גלובלית – מערכת ההפעלה בוחרת מסגרת החלפה לתהליך מבין כל המסגרות. תהליך יכול לקחת מסגרת של תהליך אחר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זמן ריצה של כל תהליך גדל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תפוקה גדולה יותר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החלפה מקומית – כל תהליך בוחר מסגרות להחלפה רק מהמסגרות המוקצות בשבילו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Virtual Memory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5" name="Picture 2" descr=""/>
          <p:cNvPicPr/>
          <p:nvPr/>
        </p:nvPicPr>
        <p:blipFill>
          <a:blip r:embed="rId1"/>
          <a:stretch/>
        </p:blipFill>
        <p:spPr>
          <a:xfrm>
            <a:off x="2107800" y="2289960"/>
            <a:ext cx="7395120" cy="435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מלבן 4"/>
          <p:cNvSpPr/>
          <p:nvPr/>
        </p:nvSpPr>
        <p:spPr>
          <a:xfrm>
            <a:off x="3013200" y="1633320"/>
            <a:ext cx="5904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Graph of Page Faults Versus The Number of Frames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4" descr=""/>
          <p:cNvPicPr/>
          <p:nvPr/>
        </p:nvPicPr>
        <p:blipFill>
          <a:blip r:embed="rId1"/>
          <a:stretch/>
        </p:blipFill>
        <p:spPr>
          <a:xfrm>
            <a:off x="3063240" y="2676600"/>
            <a:ext cx="6573960" cy="20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First in First out (FIFO)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רצף הדפים: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7,0,1,2,0,3,0,4,2,3,0,3,0,3,2,1,2,0,1,7,0,1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מסגרות (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דפים יכולים להיות בזיכרון בזמן נתון לכל תהליך)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15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faults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הוספת יותר מסגרות יכולה לעיתים לגרום ליותר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faults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אנומליית בלדי (</a:t>
            </a:r>
            <a:r>
              <a:rPr b="1" lang="en-US" sz="2400" strike="noStrike" u="none">
                <a:solidFill>
                  <a:srgbClr val="3366ff"/>
                </a:solidFill>
                <a:effectLst/>
                <a:uFillTx/>
                <a:latin typeface="Arial"/>
              </a:rPr>
              <a:t>Belady</a:t>
            </a:r>
            <a:r>
              <a:rPr b="1" lang="en-US" sz="2400" strike="noStrike" u="none">
                <a:solidFill>
                  <a:srgbClr val="3366ff"/>
                </a:solidFill>
                <a:effectLst/>
                <a:uFillTx/>
                <a:latin typeface="Arial"/>
              </a:rPr>
              <a:t>’s Anomaly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First in First out (FIFO)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1" name="Picture 2" descr=""/>
          <p:cNvPicPr/>
          <p:nvPr/>
        </p:nvPicPr>
        <p:blipFill>
          <a:blip r:embed="rId1"/>
          <a:stretch/>
        </p:blipFill>
        <p:spPr>
          <a:xfrm>
            <a:off x="2790000" y="1958400"/>
            <a:ext cx="6716520" cy="427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Oval 2"/>
          <p:cNvSpPr/>
          <p:nvPr/>
        </p:nvSpPr>
        <p:spPr>
          <a:xfrm>
            <a:off x="5627160" y="3165120"/>
            <a:ext cx="1715760" cy="1125000"/>
          </a:xfrm>
          <a:prstGeom prst="ellipse">
            <a:avLst/>
          </a:prstGeom>
          <a:noFill/>
          <a:ln w="57150"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Optimal Algoritm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האלגוריתם האופטמלי: החלפת הדף שלא יהיה בשימוש בפרק זמן הגדול ביותר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לא ניתן לחזות את העתיד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משמש למדידה ביחס לאלגוריתמים שלנו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5" name="Picture 3" descr=""/>
          <p:cNvPicPr/>
          <p:nvPr/>
        </p:nvPicPr>
        <p:blipFill>
          <a:blip r:embed="rId1"/>
          <a:stretch/>
        </p:blipFill>
        <p:spPr>
          <a:xfrm>
            <a:off x="1289520" y="4206960"/>
            <a:ext cx="6259320" cy="21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3" descr=""/>
          <p:cNvPicPr/>
          <p:nvPr/>
        </p:nvPicPr>
        <p:blipFill>
          <a:blip r:embed="rId1"/>
          <a:srcRect l="0" t="34739" r="0" b="0"/>
          <a:stretch/>
        </p:blipFill>
        <p:spPr>
          <a:xfrm>
            <a:off x="1622880" y="3787200"/>
            <a:ext cx="8138880" cy="144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Picture 3" descr=""/>
          <p:cNvPicPr/>
          <p:nvPr/>
        </p:nvPicPr>
        <p:blipFill>
          <a:blip r:embed="rId2"/>
          <a:srcRect l="0" t="0" r="0" b="69065"/>
          <a:stretch/>
        </p:blipFill>
        <p:spPr>
          <a:xfrm>
            <a:off x="1041120" y="3008520"/>
            <a:ext cx="9068040" cy="76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Least Recently Used (LRU)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שימוש במידע העבר – החלפת הדף שלא היה בשימוש לפרק הזמן הגדול ביותר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דורש שמירת מידע על הדף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12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faults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אלגוריתם טוב ובשימוש נפוץ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Least Recently Used (LRU)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שימוש במונה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לכל דף בטבלת הדפים יש מונה, בכל פעם שניגשים לדף שומרים את השעון לתוך המונה הזה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כשנדרש להחליף דף, מחפשים בטבלה את המונה הנמוך ביותר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שימוש במחסנית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שומרים בראש המחסנית את הדף עם השימוש האחרון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דורש שמירת מצביע לסוף המחסנית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לא דורש חיפוש עבור הדף שצריך להוציא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האלגוריתמים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LRU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והאופטימלי לא מקיימים את אנומליית בלדי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Least Recently Used (LRU)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שימוש במחסנית לעבור אחרי הדף הכי בשימוש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4" name="Picture 2" descr=""/>
          <p:cNvPicPr/>
          <p:nvPr/>
        </p:nvPicPr>
        <p:blipFill>
          <a:blip r:embed="rId1"/>
          <a:stretch/>
        </p:blipFill>
        <p:spPr>
          <a:xfrm>
            <a:off x="3456720" y="2503440"/>
            <a:ext cx="4701960" cy="367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Counting Algorithm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אלגוריתם מנייה: שמירת מונה המציין את מספר הגישות שהתבצעו לכל דף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לא נפוץ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Least Frequently Used (LFU)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מחליף את הדף עם המונה הנמוך ביותר (הדף שניגשו אליו הכי פחות)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Most Frequently Used (MFU)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מחליף את הדף עם המונה הגבוה ביותר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הדפים שהובאו לאחרונה בדרך כלל עם מונה נמוך לכן לא נחליף אותם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Allocating Frames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כל תהליך דורש כמות מינימאלית של מסגרות על מנת שיוכל לעבוד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הכמות המקסימאלית היא כמובן כגודל התהליך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שיטות להקצות מסגרות לתהליך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הקצאה קבועה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הקצאה יחסית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Allocating Frames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145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הקצאה קבועה – הקצאה שווה – אם ישנן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100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מסגרות (אחרי ההקצאה למערכת ההפעלה) ו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תהליכים, כל תהליך יקבל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20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מסגרות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הקצאה יחסית – הקצאה בהתאם לגודל של התהליך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41" name="Object 3"/>
          <p:cNvGraphicFramePr/>
          <p:nvPr/>
        </p:nvGraphicFramePr>
        <p:xfrm>
          <a:off x="336600" y="3580200"/>
          <a:ext cx="4422240" cy="24937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42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36600" y="3580200"/>
                    <a:ext cx="4422240" cy="24937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43" name="Object 8"/>
          <p:cNvGraphicFramePr/>
          <p:nvPr/>
        </p:nvGraphicFramePr>
        <p:xfrm>
          <a:off x="7273080" y="3201480"/>
          <a:ext cx="2534400" cy="3291120"/>
        </p:xfrm>
        <a:graphic>
          <a:graphicData uri="http://schemas.openxmlformats.org/presentationml/2006/ole">
            <p:oleObj progId="Equation.3" r:id="rId3" spid="">
              <p:embed/>
              <p:pic>
                <p:nvPicPr>
                  <p:cNvPr id="144" name="Object 8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7273080" y="3201480"/>
                    <a:ext cx="2534400" cy="32911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Thrashing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אם לתהליך אין מספיק מסגרות, כמות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faults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גדלה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fault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כדי להחליף דף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החלפת המסגרת הקיימת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מהר מאוד כבר צריך להחליף שוב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מוביל ל: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ניצול מעבד נמוך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מערכת ההפעלה חושבת שצריך להגדיל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degree of multiprogramming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(מקסימום תהליכים שיכולים לרוץ על מעבד אחד)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תהליך נוסף מתווסף למערכת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Thrashing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דשדוש – המעבד עסוק בהחלפת דפים (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swap in – swap out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Thrashing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8" name="Picture 2" descr=""/>
          <p:cNvPicPr/>
          <p:nvPr/>
        </p:nvPicPr>
        <p:blipFill>
          <a:blip r:embed="rId1"/>
          <a:stretch/>
        </p:blipFill>
        <p:spPr>
          <a:xfrm>
            <a:off x="2482920" y="1690560"/>
            <a:ext cx="7225560" cy="417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Working Set Model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Symbol"/>
              </a:rPr>
              <a:t>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Symbol"/>
              </a:rPr>
              <a:t> - חלון העבודה - מספר קבוע של גישות לדפים (לדוגמה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Symbol"/>
              </a:rPr>
              <a:t>10,000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Symbol"/>
              </a:rPr>
              <a:t> הוראות מעבד)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WSS</a:t>
            </a:r>
            <a:r>
              <a:rPr b="0" lang="en-US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Working set of process P</a:t>
            </a:r>
            <a:r>
              <a:rPr b="0" lang="en-US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חלון עבודה של תהליך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b="0" lang="en-US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כמות הדפים אליו ביקש לגשת בחלון העבודה האחרון (גם הדפים שאינם בזכרון)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 =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Symbol"/>
              </a:rPr>
              <a:t>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WSS</a:t>
            </a:r>
            <a:r>
              <a:rPr b="0" i="1" lang="en-US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- סך כל המסגרות המבוקשות (של כל התהליכים, בזמן נתון)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מספר המסגרות הזמינות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אם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 &gt; m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מצב של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Thrashing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מדיניות: אם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D&gt;m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השהה את אחד התהליכים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Working Set Model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Symbol"/>
              </a:rPr>
              <a:t>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Symbol"/>
              </a:rPr>
              <a:t> - חלון העבודה - מספר קבוע של גישות לדפים (לדוגמה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Symbol"/>
              </a:rPr>
              <a:t>10,000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Symbol"/>
              </a:rPr>
              <a:t> הוראות מעבד)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WSS</a:t>
            </a:r>
            <a:r>
              <a:rPr b="0" lang="en-US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Working set of process P</a:t>
            </a:r>
            <a:r>
              <a:rPr b="0" lang="en-US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חלון עבודה של תהליך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b="0" lang="en-US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כמות הדפים אליו ביקש לגשת בחלון העבודה האחרון (גם הדפים שאינם בזכרון)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3" name="תמונה 4" descr=""/>
          <p:cNvPicPr/>
          <p:nvPr/>
        </p:nvPicPr>
        <p:blipFill>
          <a:blip r:embed="rId1"/>
          <a:stretch/>
        </p:blipFill>
        <p:spPr>
          <a:xfrm>
            <a:off x="1869120" y="3646440"/>
            <a:ext cx="8453160" cy="208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6" descr=""/>
          <p:cNvPicPr/>
          <p:nvPr/>
        </p:nvPicPr>
        <p:blipFill>
          <a:blip r:embed="rId1"/>
          <a:stretch/>
        </p:blipFill>
        <p:spPr>
          <a:xfrm>
            <a:off x="228960" y="671760"/>
            <a:ext cx="7941600" cy="5126400"/>
          </a:xfrm>
          <a:prstGeom prst="rect">
            <a:avLst/>
          </a:prstGeom>
          <a:noFill/>
          <a:ln w="28575">
            <a:noFill/>
          </a:ln>
        </p:spPr>
      </p:pic>
      <p:pic>
        <p:nvPicPr>
          <p:cNvPr id="155" name="Picture 15" descr=""/>
          <p:cNvPicPr/>
          <p:nvPr/>
        </p:nvPicPr>
        <p:blipFill>
          <a:blip r:embed="rId2"/>
          <a:stretch/>
        </p:blipFill>
        <p:spPr>
          <a:xfrm>
            <a:off x="9173160" y="682200"/>
            <a:ext cx="1886400" cy="194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Rectangle 16"/>
          <p:cNvSpPr/>
          <p:nvPr/>
        </p:nvSpPr>
        <p:spPr>
          <a:xfrm>
            <a:off x="1123200" y="6014520"/>
            <a:ext cx="993600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 rtl="1">
              <a:lnSpc>
                <a:spcPct val="100000"/>
              </a:lnSpc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עבור כל התהליכים, חשב את ה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working set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ו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working set size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לשעה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18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עם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working set window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של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12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מילישניות (כולל השעה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). האם המערכת נמצאת במצב של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thrasing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?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17"/>
          <p:cNvSpPr/>
          <p:nvPr/>
        </p:nvSpPr>
        <p:spPr>
          <a:xfrm>
            <a:off x="0" y="0"/>
            <a:ext cx="1218276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 rtl="1">
              <a:lnSpc>
                <a:spcPct val="100000"/>
              </a:lnSpc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ישנם </a:t>
            </a:r>
            <a:r>
              <a:rPr b="0" lang="en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b="0" lang="en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תהליכים שרצים: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P0 -&gt; P5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 מערכת ההפעלה עובדת בעיקרון של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Local Replacement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(החלפה מקומית) והוקצו לכל התלהיכים מספר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frames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כדלהלן: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</a:pPr>
            <a:endParaRPr b="0" lang="en-I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Virtual Memory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הפקודה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vmstat (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irtual 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emory 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stat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istics)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– מאפשרת לנטר אחרי הזיכרון, תהליכים, פסיקות, דפדוף וקלט/פלט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המידע ניתן החל מאתחול המערכת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vmstat [interval] [count]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interval 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כל כמה שניות לעדכן את המידע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count 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כמה פעמים להציג את המידע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vmstat 5 - 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תציג מידע ללא הגבלה מעודכן כל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שניות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vmstat 5 2 –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תציג מידע מעודכן כל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שניות, למשך פעמיים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838080" y="18360"/>
            <a:ext cx="10515240" cy="67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Virtual Memory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0" y="2545200"/>
            <a:ext cx="11353320" cy="3981240"/>
          </a:xfrm>
          <a:prstGeom prst="rect">
            <a:avLst/>
          </a:prstGeom>
          <a:noFill/>
          <a:ln w="0">
            <a:noFill/>
          </a:ln>
        </p:spPr>
        <p:txBody>
          <a:bodyPr numCol="3" spcCol="0"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kthr: kernel threads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– number of kernel threads in the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run queue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 – number of kernel threads that are waiting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 – number of swapped out lightweight process (LWPs) that are waiting for processing resource to finish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Memory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swap – available swap space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free – size of the free list (actual memory)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Page – information about  page faults and paging activity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 – page reclaims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mf – minor faults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 – kilobytes paged in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 – kilobytes paged out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 – kilobytes freed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Disk – Number of disk operations per second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Faults – traps/interrupts per second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 – interrupts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sy – system calls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cs – CPU context switches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CPU – CPU use time (in percentages)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 – user time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sy – system time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id – idle time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2" name="Picture 5" descr=""/>
          <p:cNvPicPr/>
          <p:nvPr/>
        </p:nvPicPr>
        <p:blipFill>
          <a:blip r:embed="rId1"/>
          <a:stretch/>
        </p:blipFill>
        <p:spPr>
          <a:xfrm>
            <a:off x="7560" y="689400"/>
            <a:ext cx="9120960" cy="185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Box 6"/>
          <p:cNvSpPr/>
          <p:nvPr/>
        </p:nvSpPr>
        <p:spPr>
          <a:xfrm>
            <a:off x="9128880" y="898560"/>
            <a:ext cx="305532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 rtl="1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Vmstat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מביאה לנו שורה אחת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</a:pPr>
            <a:r>
              <a:rPr b="1" lang="he-I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כל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שניות נוספת עוד שורה בודדת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9" descr=""/>
          <p:cNvPicPr/>
          <p:nvPr/>
        </p:nvPicPr>
        <p:blipFill>
          <a:blip r:embed="rId1"/>
          <a:stretch/>
        </p:blipFill>
        <p:spPr>
          <a:xfrm>
            <a:off x="3790800" y="0"/>
            <a:ext cx="8400600" cy="29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Picture 10" descr=""/>
          <p:cNvPicPr/>
          <p:nvPr/>
        </p:nvPicPr>
        <p:blipFill>
          <a:blip r:embed="rId2"/>
          <a:stretch/>
        </p:blipFill>
        <p:spPr>
          <a:xfrm>
            <a:off x="4529880" y="2968200"/>
            <a:ext cx="7661880" cy="389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icture 3" descr=""/>
          <p:cNvPicPr/>
          <p:nvPr/>
        </p:nvPicPr>
        <p:blipFill>
          <a:blip r:embed="rId1"/>
          <a:stretch/>
        </p:blipFill>
        <p:spPr>
          <a:xfrm>
            <a:off x="3656880" y="0"/>
            <a:ext cx="8534520" cy="39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Picture 4" descr=""/>
          <p:cNvPicPr/>
          <p:nvPr/>
        </p:nvPicPr>
        <p:blipFill>
          <a:blip r:embed="rId2"/>
          <a:stretch/>
        </p:blipFill>
        <p:spPr>
          <a:xfrm>
            <a:off x="-24120" y="3758760"/>
            <a:ext cx="9206280" cy="309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5" descr=""/>
          <p:cNvPicPr/>
          <p:nvPr/>
        </p:nvPicPr>
        <p:blipFill>
          <a:blip r:embed="rId1"/>
          <a:stretch/>
        </p:blipFill>
        <p:spPr>
          <a:xfrm>
            <a:off x="3433320" y="0"/>
            <a:ext cx="8758080" cy="39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Picture 4" descr=""/>
          <p:cNvPicPr/>
          <p:nvPr/>
        </p:nvPicPr>
        <p:blipFill>
          <a:blip r:embed="rId2"/>
          <a:stretch/>
        </p:blipFill>
        <p:spPr>
          <a:xfrm>
            <a:off x="1225800" y="2761200"/>
            <a:ext cx="8098560" cy="243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Picture 6" descr=""/>
          <p:cNvPicPr/>
          <p:nvPr/>
        </p:nvPicPr>
        <p:blipFill>
          <a:blip r:embed="rId3"/>
          <a:stretch/>
        </p:blipFill>
        <p:spPr>
          <a:xfrm>
            <a:off x="104040" y="4302360"/>
            <a:ext cx="6968880" cy="24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Picture 1" descr=""/>
          <p:cNvPicPr/>
          <p:nvPr/>
        </p:nvPicPr>
        <p:blipFill>
          <a:blip r:embed="rId1"/>
          <a:stretch/>
        </p:blipFill>
        <p:spPr>
          <a:xfrm>
            <a:off x="2789640" y="0"/>
            <a:ext cx="9402120" cy="412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Picture 2" descr=""/>
          <p:cNvPicPr/>
          <p:nvPr/>
        </p:nvPicPr>
        <p:blipFill>
          <a:blip r:embed="rId2"/>
          <a:stretch/>
        </p:blipFill>
        <p:spPr>
          <a:xfrm>
            <a:off x="4370040" y="4122000"/>
            <a:ext cx="7821720" cy="261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Box 7"/>
          <p:cNvSpPr/>
          <p:nvPr/>
        </p:nvSpPr>
        <p:spPr>
          <a:xfrm>
            <a:off x="11305080" y="0"/>
            <a:ext cx="886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 rtl="1">
              <a:lnSpc>
                <a:spcPct val="100000"/>
              </a:lnSpc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סעיף א: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8"/>
          <p:cNvSpPr/>
          <p:nvPr/>
        </p:nvSpPr>
        <p:spPr>
          <a:xfrm>
            <a:off x="4046400" y="3464280"/>
            <a:ext cx="886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 rtl="1">
              <a:lnSpc>
                <a:spcPct val="100000"/>
              </a:lnSpc>
            </a:pPr>
            <a:r>
              <a:rPr b="0" lang="he-I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סעיף ב:</a:t>
            </a: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5" name="קבוצה 13"/>
          <p:cNvGrpSpPr/>
          <p:nvPr/>
        </p:nvGrpSpPr>
        <p:grpSpPr>
          <a:xfrm>
            <a:off x="5713920" y="375120"/>
            <a:ext cx="6477840" cy="4907880"/>
            <a:chOff x="5713920" y="375120"/>
            <a:chExt cx="6477840" cy="4907880"/>
          </a:xfrm>
        </p:grpSpPr>
        <p:grpSp>
          <p:nvGrpSpPr>
            <p:cNvPr id="176" name="Group 6"/>
            <p:cNvGrpSpPr/>
            <p:nvPr/>
          </p:nvGrpSpPr>
          <p:grpSpPr>
            <a:xfrm>
              <a:off x="5713920" y="375120"/>
              <a:ext cx="6477840" cy="4907880"/>
              <a:chOff x="5713920" y="375120"/>
              <a:chExt cx="6477840" cy="4907880"/>
            </a:xfrm>
          </p:grpSpPr>
          <p:pic>
            <p:nvPicPr>
              <p:cNvPr id="177" name="Picture 3" descr=""/>
              <p:cNvPicPr/>
              <p:nvPr/>
            </p:nvPicPr>
            <p:blipFill>
              <a:blip r:embed="rId1"/>
              <a:stretch/>
            </p:blipFill>
            <p:spPr>
              <a:xfrm>
                <a:off x="5713920" y="375120"/>
                <a:ext cx="6477840" cy="2910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78" name="Picture 4" descr=""/>
              <p:cNvPicPr/>
              <p:nvPr/>
            </p:nvPicPr>
            <p:blipFill>
              <a:blip r:embed="rId2"/>
              <a:stretch/>
            </p:blipFill>
            <p:spPr>
              <a:xfrm>
                <a:off x="5713920" y="3286440"/>
                <a:ext cx="6477840" cy="19965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179" name="Picture 5" descr=""/>
            <p:cNvPicPr/>
            <p:nvPr/>
          </p:nvPicPr>
          <p:blipFill>
            <a:blip r:embed="rId3"/>
            <a:srcRect l="0" t="41968" r="0" b="0"/>
            <a:stretch/>
          </p:blipFill>
          <p:spPr>
            <a:xfrm>
              <a:off x="5713920" y="3315600"/>
              <a:ext cx="6477840" cy="1914840"/>
            </a:xfrm>
            <a:prstGeom prst="rect">
              <a:avLst/>
            </a:prstGeom>
            <a:noFill/>
            <a:ln w="76200">
              <a:noFill/>
            </a:ln>
          </p:spPr>
        </p:pic>
      </p:grpSp>
      <p:grpSp>
        <p:nvGrpSpPr>
          <p:cNvPr id="180" name="קבוצה 2"/>
          <p:cNvGrpSpPr/>
          <p:nvPr/>
        </p:nvGrpSpPr>
        <p:grpSpPr>
          <a:xfrm>
            <a:off x="117720" y="3819240"/>
            <a:ext cx="5977800" cy="3038400"/>
            <a:chOff x="117720" y="3819240"/>
            <a:chExt cx="5977800" cy="3038400"/>
          </a:xfrm>
        </p:grpSpPr>
        <p:pic>
          <p:nvPicPr>
            <p:cNvPr id="181" name="Picture 5" descr=""/>
            <p:cNvPicPr/>
            <p:nvPr/>
          </p:nvPicPr>
          <p:blipFill>
            <a:blip r:embed="rId4"/>
            <a:stretch/>
          </p:blipFill>
          <p:spPr>
            <a:xfrm>
              <a:off x="132120" y="3819240"/>
              <a:ext cx="5963400" cy="3038400"/>
            </a:xfrm>
            <a:prstGeom prst="rect">
              <a:avLst/>
            </a:prstGeom>
            <a:noFill/>
            <a:ln w="76200">
              <a:solidFill>
                <a:srgbClr val="44546a"/>
              </a:solidFill>
              <a:round/>
            </a:ln>
          </p:spPr>
        </p:pic>
        <p:grpSp>
          <p:nvGrpSpPr>
            <p:cNvPr id="182" name="Group 6"/>
            <p:cNvGrpSpPr/>
            <p:nvPr/>
          </p:nvGrpSpPr>
          <p:grpSpPr>
            <a:xfrm>
              <a:off x="117720" y="5070960"/>
              <a:ext cx="5968440" cy="1786680"/>
              <a:chOff x="117720" y="5070960"/>
              <a:chExt cx="5968440" cy="1786680"/>
            </a:xfrm>
          </p:grpSpPr>
          <p:pic>
            <p:nvPicPr>
              <p:cNvPr id="183" name="Picture 3" descr=""/>
              <p:cNvPicPr/>
              <p:nvPr/>
            </p:nvPicPr>
            <p:blipFill>
              <a:blip r:embed="rId5"/>
              <a:srcRect l="0" t="100000" r="0" b="-1558"/>
              <a:stretch/>
            </p:blipFill>
            <p:spPr>
              <a:xfrm>
                <a:off x="117720" y="5070960"/>
                <a:ext cx="5968440" cy="406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84" name="Picture 4" descr=""/>
              <p:cNvPicPr/>
              <p:nvPr/>
            </p:nvPicPr>
            <p:blipFill>
              <a:blip r:embed="rId6"/>
              <a:stretch/>
            </p:blipFill>
            <p:spPr>
              <a:xfrm>
                <a:off x="117720" y="5070960"/>
                <a:ext cx="5968440" cy="17866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185" name="PlaceHolder 1"/>
          <p:cNvSpPr>
            <a:spLocks noGrp="1"/>
          </p:cNvSpPr>
          <p:nvPr>
            <p:ph type="ftr" idx="36"/>
          </p:nvPr>
        </p:nvSpPr>
        <p:spPr>
          <a:xfrm>
            <a:off x="46483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he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he-IL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גיא יחזקאל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Picture 1" descr=""/>
          <p:cNvPicPr/>
          <p:nvPr/>
        </p:nvPicPr>
        <p:blipFill>
          <a:blip r:embed="rId1"/>
          <a:stretch/>
        </p:blipFill>
        <p:spPr>
          <a:xfrm>
            <a:off x="2232000" y="0"/>
            <a:ext cx="9959400" cy="497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Picture 2" descr=""/>
          <p:cNvPicPr/>
          <p:nvPr/>
        </p:nvPicPr>
        <p:blipFill>
          <a:blip r:embed="rId2"/>
          <a:stretch/>
        </p:blipFill>
        <p:spPr>
          <a:xfrm>
            <a:off x="0" y="3931920"/>
            <a:ext cx="8391240" cy="2679480"/>
          </a:xfrm>
          <a:prstGeom prst="rect">
            <a:avLst/>
          </a:prstGeom>
          <a:noFill/>
          <a:ln w="38100">
            <a:solidFill>
              <a:srgbClr val="000000"/>
            </a:solidFill>
            <a:round/>
          </a:ln>
        </p:spPr>
      </p:pic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" descr=""/>
          <p:cNvPicPr/>
          <p:nvPr/>
        </p:nvPicPr>
        <p:blipFill>
          <a:blip r:embed="rId1"/>
          <a:stretch/>
        </p:blipFill>
        <p:spPr>
          <a:xfrm>
            <a:off x="1252080" y="129240"/>
            <a:ext cx="10278360" cy="672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Picture 1" descr=""/>
          <p:cNvPicPr/>
          <p:nvPr/>
        </p:nvPicPr>
        <p:blipFill>
          <a:blip r:embed="rId1"/>
          <a:stretch/>
        </p:blipFill>
        <p:spPr>
          <a:xfrm>
            <a:off x="1578240" y="1613520"/>
            <a:ext cx="9412920" cy="326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Picture 1" descr=""/>
          <p:cNvPicPr/>
          <p:nvPr/>
        </p:nvPicPr>
        <p:blipFill>
          <a:blip r:embed="rId1"/>
          <a:stretch/>
        </p:blipFill>
        <p:spPr>
          <a:xfrm>
            <a:off x="1758600" y="0"/>
            <a:ext cx="86745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גיא יחזקאל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1895</TotalTime>
  <Application>LibreOffice/25.8.1.1$Linux_X86_64 LibreOffice_project/580$Build-1</Application>
  <AppVersion>15.0000</AppVersion>
  <Words>2083</Words>
  <Paragraphs>310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2017-12-10T20:48:49Z</dcterms:created>
  <dc:creator>Yechezkel</dc:creator>
  <dc:description/>
  <dc:language>en-IL</dc:language>
  <cp:lastModifiedBy>גיא יחזקאל</cp:lastModifiedBy>
  <dcterms:modified xsi:type="dcterms:W3CDTF">2025-01-22T08:31:40Z</dcterms:modified>
  <cp:revision>105</cp:revision>
  <dc:subject/>
  <dc:title>Virtual Memory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מסך רחב</vt:lpwstr>
  </property>
  <property fmtid="{D5CDD505-2E9C-101B-9397-08002B2CF9AE}" pid="3" name="Slides">
    <vt:i4>50</vt:i4>
  </property>
</Properties>
</file>