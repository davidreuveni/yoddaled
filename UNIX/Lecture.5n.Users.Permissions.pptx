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8.png" ContentType="image/png"/>
  <Override PartName="/ppt/media/image13.gif" ContentType="image/gif"/>
  <Override PartName="/ppt/media/image11.png" ContentType="image/png"/>
  <Override PartName="/ppt/media/image26.png" ContentType="image/png"/>
  <Override PartName="/ppt/media/image12.png" ContentType="image/png"/>
  <Override PartName="/ppt/media/image21.png" ContentType="image/png"/>
  <Override PartName="/ppt/media/hdphoto1.wdp" ContentType="image/vnd.ms-photo"/>
  <Override PartName="/ppt/media/image2.png" ContentType="image/png"/>
  <Override PartName="/ppt/media/image23.png" ContentType="image/png"/>
  <Override PartName="/ppt/media/image3.png" ContentType="image/png"/>
  <Override PartName="/ppt/media/image25.png" ContentType="image/png"/>
  <Override PartName="/ppt/media/image8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1.png" ContentType="image/png"/>
  <Override PartName="/ppt/media/image6.png" ContentType="image/png"/>
  <Override PartName="/ppt/media/image16.png" ContentType="image/png"/>
  <Override PartName="/ppt/media/image17.png" ContentType="image/png"/>
  <Override PartName="/ppt/media/image29.png" ContentType="image/png"/>
  <Override PartName="/ppt/media/image7.png" ContentType="image/png"/>
  <Override PartName="/ppt/media/image10.png" ContentType="image/png"/>
  <Override PartName="/ppt/media/image5.png" ContentType="image/png"/>
  <Override PartName="/ppt/media/image15.png" ContentType="image/png"/>
  <Override PartName="/ppt/media/image14.png" ContentType="image/png"/>
  <Override PartName="/ppt/media/image4.png" ContentType="image/png"/>
  <Override PartName="/ppt/media/image19.png" ContentType="image/png"/>
  <Override PartName="/ppt/media/image22.png" ContentType="image/png"/>
  <Override PartName="/ppt/media/image24.png" ContentType="image/png"/>
  <Override PartName="/ppt/media/image27.png" ContentType="image/png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21.xml.rels" ContentType="application/vnd.openxmlformats-package.relationships+xml"/>
  <Override PartName="/ppt/slides/_rels/slide32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6.xml.rels" ContentType="application/vnd.openxmlformats-package.relationships+xml"/>
  <Override PartName="/ppt/slides/_rels/slide11.xml.rels" ContentType="application/vnd.openxmlformats-package.relationships+xml"/>
  <Override PartName="/ppt/slides/_rels/slide29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7.xml.rels" ContentType="application/vnd.openxmlformats-package.relationships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_rels/notesSlide3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5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F0A011-E6FF-468A-8EC2-8D43056DC32E}" type="slidenum"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L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DAAC3-A3A2-491F-9A8D-BEBAABD845FD}" type="slidenum">
              <a:rPr b="0" lang="en-IL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F07957-33D6-4E43-ADDC-B6293009C6C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496A30-EF56-4427-B761-1ECB355EAF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906E28-0115-409E-A158-1781DE5CF8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5EED9-28BC-4C84-974D-8292C50542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A61EB-3FEF-45A4-90B4-A2FBFF2B3C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BC7ABE-C34B-4D34-A838-AFC16AD056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74E9C-C526-427C-82C5-D2E85A72B8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8247DD-85A7-425C-8046-7C634B42A8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6821BA-3D3C-4D44-8889-9D23301BF6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89C8D-4B88-4691-B12F-ADBFBDAE34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B567A-8E1A-4A1E-9EB4-E7B4432696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A276B-689E-40EB-A921-06392DC7CC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4AFC20-E3A0-45C5-8059-FEDD6A6FCD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gif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microsoft.com/office/2007/relationships/hdphoto" Target="../media/hdphoto1.wdp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משתמשים והרשאות גישה</a:t>
            </a:r>
            <a:endParaRPr b="0" lang="en-I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ישנם שלושה סוגי משתמשים במערכת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root account – superuser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שליטה מוחלטת ולא מוגבלת על המערכת. יכול להריץ כל פקודה שהיא ללא הגבלה. זהו מנהל המערכת. ישנו משתמש אחד ויחיד כזה.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accounts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משתמשים הצריכים פעולה על רכיבים מוגדרים של המערכת. למשל חשבונות דואר. יכולים לקבל גישה חלקית לפקודות המערכת.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 accounts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חשבונות עבור משתמשים רגילים וקבוצות משתמשים. בעלי גישה מוגבלת לרכיבי המערכת (לפי הרשאות).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UNIX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מנהלת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 Accounts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קבוצה של מספר משתמשים, כל משתמש יכול להיות חבר בכמה קבוצות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ניתן לתת הרשאות לקבוצות משתמשים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ישנם ארבעה קבצי ניהול עיקריים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etc/passwd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שומר את חשבונות המשתמשים ומידע על החשבונות.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etc/shadow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שומר את הסיסמא המוצפנת עבור המשתמש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שומר מידע על הקבוצות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etc/gshadow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שומר מידע מאובטח על חשבונות הקבוצות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 /etc/passwd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Adding Users in Linux 3"/>
          <p:cNvPicPr/>
          <p:nvPr/>
        </p:nvPicPr>
        <p:blipFill>
          <a:blip r:embed="rId1"/>
          <a:stretch/>
        </p:blipFill>
        <p:spPr>
          <a:xfrm>
            <a:off x="795600" y="2385720"/>
            <a:ext cx="10064520" cy="369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 /etc/passwd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5" descr="Adding Users in Linux 2"/>
          <p:cNvPicPr/>
          <p:nvPr/>
        </p:nvPicPr>
        <p:blipFill>
          <a:blip r:embed="rId1"/>
          <a:srcRect l="0" t="12477" r="27878" b="5046"/>
          <a:stretch/>
        </p:blipFill>
        <p:spPr>
          <a:xfrm>
            <a:off x="0" y="1523880"/>
            <a:ext cx="6518880" cy="527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 /etc/shadow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" name="Picture 2" descr=""/>
          <p:cNvPicPr/>
          <p:nvPr/>
        </p:nvPicPr>
        <p:blipFill>
          <a:blip r:embed="rId1"/>
          <a:srcRect l="0" t="4224" r="0" b="0"/>
          <a:stretch/>
        </p:blipFill>
        <p:spPr>
          <a:xfrm>
            <a:off x="132120" y="1814400"/>
            <a:ext cx="8429760" cy="50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2" descr="Adding Users in Linux 6"/>
          <p:cNvPicPr/>
          <p:nvPr/>
        </p:nvPicPr>
        <p:blipFill>
          <a:blip r:embed="rId1"/>
          <a:stretch/>
        </p:blipFill>
        <p:spPr>
          <a:xfrm>
            <a:off x="671760" y="2945160"/>
            <a:ext cx="10605600" cy="263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2" descr="Adding Users in Linux 5"/>
          <p:cNvPicPr/>
          <p:nvPr/>
        </p:nvPicPr>
        <p:blipFill>
          <a:blip r:embed="rId1"/>
          <a:srcRect l="0" t="10947" r="3309" b="0"/>
          <a:stretch/>
        </p:blipFill>
        <p:spPr>
          <a:xfrm>
            <a:off x="341280" y="1598760"/>
            <a:ext cx="8076600" cy="525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פקודות ניהול חשבונות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9" name="Table 3"/>
          <p:cNvGraphicFramePr/>
          <p:nvPr/>
        </p:nvGraphicFramePr>
        <p:xfrm>
          <a:off x="2097360" y="2266560"/>
          <a:ext cx="8062560" cy="3202920"/>
        </p:xfrm>
        <a:graphic>
          <a:graphicData uri="http://schemas.openxmlformats.org/drawingml/2006/table">
            <a:tbl>
              <a:tblPr/>
              <a:tblGrid>
                <a:gridCol w="3951360"/>
                <a:gridCol w="4110840"/>
              </a:tblGrid>
              <a:tr h="43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useradd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הוספת משתמש למערכת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usermod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עריכת נתונים על המשתמש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userdel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מחיקת משתמש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groupadd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הוספת קבוצה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groupmod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עריכת קבוצה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groupdel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</a:rPr>
                        <a:t>מחיקת קבוצה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passwd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he-IL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שינוי סיסמא למשתמש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2325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558080"/>
            <a:ext cx="10515240" cy="49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groupadd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יצירת קבוצה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groupadd [-g gid [-o]] [-r] [-f] groupname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groupmod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שינוי קבוצה (אותם פרמטרים)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2" name="Table 6"/>
          <p:cNvGraphicFramePr/>
          <p:nvPr/>
        </p:nvGraphicFramePr>
        <p:xfrm>
          <a:off x="823680" y="2544840"/>
          <a:ext cx="6307920" cy="3179880"/>
        </p:xfrm>
        <a:graphic>
          <a:graphicData uri="http://schemas.openxmlformats.org/drawingml/2006/table">
            <a:tbl>
              <a:tblPr/>
              <a:tblGrid>
                <a:gridCol w="3153960"/>
                <a:gridCol w="3153960"/>
              </a:tblGrid>
              <a:tr h="592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-g GID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מספר הקבוצה</a:t>
                      </a:r>
                      <a:endParaRPr b="0" lang="en-IL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-o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מאפשרת להוסיף קבוצה ללא מספר קבוצה</a:t>
                      </a:r>
                      <a:endParaRPr b="0" lang="en-IL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-r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הוספת חשבון מערכת</a:t>
                      </a:r>
                      <a:endParaRPr b="0" lang="en-IL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-f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במידה וקבוצה כבר קיימת, לא לבצע דבר</a:t>
                      </a:r>
                      <a:endParaRPr b="0" lang="en-IL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groupname</a:t>
                      </a:r>
                      <a:endParaRPr b="0" lang="en-IL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שם הקבוצה</a:t>
                      </a:r>
                      <a:endParaRPr b="0" lang="en-IL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2325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558080"/>
            <a:ext cx="10515240" cy="492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groupadd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יצירת קבוצה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הוספת קבוצה עם שם קבוצה בלבד (מספר הקבוצה נוצר אוטומטית)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groupadd tikshuv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הוספת קבוצה עם מספר קבוצה ושם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groupadd –g 7777 tochna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בדיקת התוצאה בקובץ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*שימו לב: בכל הפקודות המילה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איננה חלק מהפקודה אלא ביצוע הפקודה כמנהל.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תמונה 4" descr=""/>
          <p:cNvPicPr/>
          <p:nvPr/>
        </p:nvPicPr>
        <p:blipFill>
          <a:blip r:embed="rId1"/>
          <a:stretch/>
        </p:blipFill>
        <p:spPr>
          <a:xfrm>
            <a:off x="838080" y="4537800"/>
            <a:ext cx="5439240" cy="76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8680" y="1690560"/>
            <a:ext cx="12133080" cy="44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useradd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הוספת משתמש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useradd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 -d 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homedir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 -m -g 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groupname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 -G [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group1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,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group2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,…] -s 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shell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 -u 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userid</a:t>
            </a:r>
            <a:r>
              <a:rPr b="0" lang="en-US" sz="2400" strike="noStrike" u="none">
                <a:solidFill>
                  <a:srgbClr val="313131"/>
                </a:solidFill>
                <a:effectLst/>
                <a:uFillTx/>
                <a:latin typeface="Menlo"/>
              </a:rPr>
              <a:t> </a:t>
            </a:r>
            <a:r>
              <a:rPr b="0" lang="en-US" sz="2400" strike="noStrike" u="sng">
                <a:solidFill>
                  <a:srgbClr val="313131"/>
                </a:solidFill>
                <a:effectLst/>
                <a:uFillTx/>
                <a:latin typeface="Menlo"/>
              </a:rPr>
              <a:t>accountname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usermod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שינוי הגדרות משתמש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עם אותם פרמטרים כמו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useradd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1"/>
          <p:cNvSpPr/>
          <p:nvPr/>
        </p:nvSpPr>
        <p:spPr>
          <a:xfrm>
            <a:off x="0" y="90000"/>
            <a:ext cx="360" cy="276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4"/>
          <p:cNvGraphicFramePr/>
          <p:nvPr/>
        </p:nvGraphicFramePr>
        <p:xfrm>
          <a:off x="640440" y="2966040"/>
          <a:ext cx="6432840" cy="3734640"/>
        </p:xfrm>
        <a:graphic>
          <a:graphicData uri="http://schemas.openxmlformats.org/drawingml/2006/table">
            <a:tbl>
              <a:tblPr/>
              <a:tblGrid>
                <a:gridCol w="1857240"/>
                <a:gridCol w="4575960"/>
              </a:tblGrid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-d homedir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נתיב של תייקית הבית של המשתמש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-m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במידה ותיקיית הבית לא קיימת, ייצור תיקיה חדשה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-g groupname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מגדיר את הקבוצה </a:t>
                      </a:r>
                      <a:r>
                        <a:rPr b="1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העיקרית</a:t>
                      </a:r>
                      <a:r>
                        <a:rPr b="0" lang="en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של המשתמש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-G groupname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מגדיר את הקבוצות </a:t>
                      </a:r>
                      <a:r>
                        <a:rPr b="1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המשניות</a:t>
                      </a:r>
                      <a:r>
                        <a:rPr b="0" lang="en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של המשתמש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-s shell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לציין את ה </a:t>
                      </a: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shell</a:t>
                      </a: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של החשבון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-u userid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ניתן להגדיר </a:t>
                      </a: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userid</a:t>
                      </a: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עבור החשבון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3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accountname</a:t>
                      </a:r>
                      <a:endParaRPr b="0" lang="en-I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שם החשבון</a:t>
                      </a:r>
                      <a:endParaRPr b="0" lang="en-IL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8680" y="1690560"/>
            <a:ext cx="12133080" cy="44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useradd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הוספת 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הוספת משתמש ללא נתונים: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useradd moshe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בדיקה בקובץ המשתמשים:  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etc/passwd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למשתמש נוצרה קבוצה ברירת מחדל על שמו (בדיקה ב 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קביעת סיסמא למשתמש 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passwd moshe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לאחר מכן להכניס את הסיסמא פעמיים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"/>
          <p:cNvSpPr/>
          <p:nvPr/>
        </p:nvSpPr>
        <p:spPr>
          <a:xfrm>
            <a:off x="0" y="90000"/>
            <a:ext cx="360" cy="276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תמונה 6" descr=""/>
          <p:cNvPicPr/>
          <p:nvPr/>
        </p:nvPicPr>
        <p:blipFill>
          <a:blip r:embed="rId1"/>
          <a:srcRect l="0" t="0" r="0" b="50358"/>
          <a:stretch/>
        </p:blipFill>
        <p:spPr>
          <a:xfrm>
            <a:off x="58680" y="3409200"/>
            <a:ext cx="9287640" cy="34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תמונה 5" descr=""/>
          <p:cNvPicPr/>
          <p:nvPr/>
        </p:nvPicPr>
        <p:blipFill>
          <a:blip r:embed="rId2"/>
          <a:stretch/>
        </p:blipFill>
        <p:spPr>
          <a:xfrm>
            <a:off x="58680" y="4369680"/>
            <a:ext cx="3419640" cy="39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משתמשים וסיסמאות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8680" y="1690560"/>
            <a:ext cx="12133080" cy="44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useradd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הוספת 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הוספת משתמש עם נתונים: (עם כל הפרמטרים בפקודה. כמובן שניתן לספק רק חלק מהפרמטרים והשאר יושלם כברירת מחדל)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useradd –d /home/moshe –m –g tochna –G tikshuv –u 5858 –s /bin/bash david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בדיקה בקובץ המשתמשים:  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etc/passwd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 צורך לבדוק גם בקובץ 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etc/group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(עבור הקבוצה המשנית) וכן בתיקייה 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home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שנוצרה תיקייה עבור המשתמש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"/>
          <p:cNvSpPr/>
          <p:nvPr/>
        </p:nvSpPr>
        <p:spPr>
          <a:xfrm>
            <a:off x="0" y="90000"/>
            <a:ext cx="360" cy="276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8" name="תמונה 6" descr=""/>
          <p:cNvPicPr/>
          <p:nvPr/>
        </p:nvPicPr>
        <p:blipFill>
          <a:blip r:embed="rId1"/>
          <a:srcRect l="0" t="54852" r="0" b="0"/>
          <a:stretch/>
        </p:blipFill>
        <p:spPr>
          <a:xfrm>
            <a:off x="0" y="3774600"/>
            <a:ext cx="9287640" cy="31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תמונה 8" descr=""/>
          <p:cNvPicPr/>
          <p:nvPr/>
        </p:nvPicPr>
        <p:blipFill>
          <a:blip r:embed="rId2"/>
          <a:stretch/>
        </p:blipFill>
        <p:spPr>
          <a:xfrm>
            <a:off x="228960" y="5212440"/>
            <a:ext cx="497232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תמונה 10" descr=""/>
          <p:cNvPicPr/>
          <p:nvPr/>
        </p:nvPicPr>
        <p:blipFill>
          <a:blip r:embed="rId3"/>
          <a:stretch/>
        </p:blipFill>
        <p:spPr>
          <a:xfrm>
            <a:off x="228960" y="5990760"/>
            <a:ext cx="6944400" cy="73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תמונה 12" descr=""/>
          <p:cNvPicPr/>
          <p:nvPr/>
        </p:nvPicPr>
        <p:blipFill>
          <a:blip r:embed="rId4"/>
          <a:stretch/>
        </p:blipFill>
        <p:spPr>
          <a:xfrm>
            <a:off x="228960" y="4822200"/>
            <a:ext cx="8411400" cy="36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הפעלה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מערכות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– כניסה ויציאה מהמערכת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החלפת משתמש מתבצעת בעזרת הפקודה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דוגמה: 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יחליף את המשתמש הנוכחי למשתמש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root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 david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יחליף את המשתמש הנוכחי למשתמש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david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 –l david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יחליף את המשתמש הנוכחי למשתמש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david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באמצעות מסך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login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תרגיל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קבוצה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tikshuv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עם מספר 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משתמש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david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שלכם עם תיקיית בית מתאימה, וכן קבעו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כ: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bin/bash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שייכו אותו 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כקבוצה עיקרית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קבעו למשתמש את הסיסמה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123456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קבוצה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Cyber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משתמש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kuku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עם תיקיית בית מתאימה, וכן קבעו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shell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כ: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bin/sh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שייכו אותו 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כקבוצה עיקרית ולקבוצה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Cyber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כקבוצה נוספת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קבעו למשתמש את הסיסמא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111111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לצורך בדיקה: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כל הקבצים והתיקיות בתיקייה מסויימת.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ls /home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מראה את התיקיות בתיקיית בית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הדפסת תוכן של קובץ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 /etc/passwd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מדפיס את התוכן של הקובץ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passwd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בתיקייה 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etc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cat /etc/group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מדפיס את תוכן הקובץ של פרטי הקבוצות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הרשאות גישה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Content Placeholder 3" descr=""/>
          <p:cNvPicPr/>
          <p:nvPr/>
        </p:nvPicPr>
        <p:blipFill>
          <a:blip r:embed="rId1"/>
          <a:srcRect l="0" t="481" r="0" b="0"/>
          <a:stretch/>
        </p:blipFill>
        <p:spPr>
          <a:xfrm>
            <a:off x="126720" y="1887840"/>
            <a:ext cx="8207280" cy="16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2" descr="permissions diagram"/>
          <p:cNvPicPr/>
          <p:nvPr/>
        </p:nvPicPr>
        <p:blipFill>
          <a:blip r:embed="rId2"/>
          <a:srcRect l="4637" t="6158" r="4216" b="15807"/>
          <a:stretch/>
        </p:blipFill>
        <p:spPr>
          <a:xfrm>
            <a:off x="2480400" y="3341160"/>
            <a:ext cx="6181200" cy="34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10"/>
          <p:cNvSpPr/>
          <p:nvPr/>
        </p:nvSpPr>
        <p:spPr>
          <a:xfrm>
            <a:off x="126720" y="4286520"/>
            <a:ext cx="223632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= read</a:t>
            </a:r>
            <a:endParaRPr b="0" lang="en-I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 = write</a:t>
            </a:r>
            <a:endParaRPr b="0" lang="en-I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 = execute</a:t>
            </a:r>
            <a:endParaRPr b="0" lang="en-I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קובץ או תיקייה יש הרשאות בסיסיות לשלוש קבוצות עיקריות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הרשאות גישה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chmod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מאפשר לשנות לשנות את ההרשאות עבור הבעלים של הקובץ, הקבוצה ושאר המשתמשים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נרצה לתת הרשאות למשתמש נוסף בצורה ספציפית יותר נשתמש ב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ugoa : u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user (owner), g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group, o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other, a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all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+ - = : +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add permission, -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remove permission, =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set permission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3" descr=""/>
          <p:cNvPicPr/>
          <p:nvPr/>
        </p:nvPicPr>
        <p:blipFill>
          <a:blip r:embed="rId1"/>
          <a:stretch/>
        </p:blipFill>
        <p:spPr>
          <a:xfrm>
            <a:off x="838080" y="3029760"/>
            <a:ext cx="9347760" cy="15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angle 5"/>
          <p:cNvSpPr/>
          <p:nvPr/>
        </p:nvSpPr>
        <p:spPr>
          <a:xfrm>
            <a:off x="2166480" y="3902040"/>
            <a:ext cx="8019360" cy="641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5"/>
          <p:cNvSpPr/>
          <p:nvPr/>
        </p:nvSpPr>
        <p:spPr>
          <a:xfrm>
            <a:off x="4067640" y="3608280"/>
            <a:ext cx="3310560" cy="29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הרשאות גישה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רואים שעבור הקובץ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f1.txt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יש הרשאות רק לקרוא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נניח ורוצים להוסיף 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group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הרשאות גם לכתיבה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Picture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9347760" cy="151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4" descr=""/>
          <p:cNvPicPr/>
          <p:nvPr/>
        </p:nvPicPr>
        <p:blipFill>
          <a:blip r:embed="rId2"/>
          <a:stretch/>
        </p:blipFill>
        <p:spPr>
          <a:xfrm>
            <a:off x="838080" y="3492360"/>
            <a:ext cx="9368640" cy="600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0" name="Straight Connector 6"/>
          <p:cNvCxnSpPr/>
          <p:nvPr/>
        </p:nvCxnSpPr>
        <p:spPr>
          <a:xfrm>
            <a:off x="1477080" y="4093560"/>
            <a:ext cx="408240" cy="360"/>
          </a:xfrm>
          <a:prstGeom prst="straightConnector1">
            <a:avLst/>
          </a:prstGeom>
          <a:ln w="28575">
            <a:solidFill>
              <a:srgbClr val="ed7d31"/>
            </a:solidFill>
          </a:ln>
        </p:spPr>
      </p:cxnSp>
      <p:pic>
        <p:nvPicPr>
          <p:cNvPr id="131" name="Picture 8" descr=""/>
          <p:cNvPicPr/>
          <p:nvPr/>
        </p:nvPicPr>
        <p:blipFill>
          <a:blip r:embed="rId3"/>
          <a:stretch/>
        </p:blipFill>
        <p:spPr>
          <a:xfrm>
            <a:off x="838080" y="4618800"/>
            <a:ext cx="3317760" cy="360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2" name="Group 19"/>
          <p:cNvGrpSpPr/>
          <p:nvPr/>
        </p:nvGrpSpPr>
        <p:grpSpPr>
          <a:xfrm>
            <a:off x="1224000" y="4871520"/>
            <a:ext cx="2518920" cy="730800"/>
            <a:chOff x="1224000" y="4871520"/>
            <a:chExt cx="2518920" cy="730800"/>
          </a:xfrm>
        </p:grpSpPr>
        <p:sp>
          <p:nvSpPr>
            <p:cNvPr id="133" name="TextBox 9"/>
            <p:cNvSpPr/>
            <p:nvPr/>
          </p:nvSpPr>
          <p:spPr>
            <a:xfrm>
              <a:off x="1224000" y="5233320"/>
              <a:ext cx="25189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group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	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add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	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write</a:t>
              </a:r>
              <a:endParaRPr b="0" lang="en-IL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4" name="Straight Arrow Connector 11"/>
            <p:cNvCxnSpPr/>
            <p:nvPr/>
          </p:nvCxnSpPr>
          <p:spPr>
            <a:xfrm flipV="1">
              <a:off x="1716120" y="4979880"/>
              <a:ext cx="591120" cy="38016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35" name="Straight Arrow Connector 13"/>
            <p:cNvCxnSpPr>
              <a:stCxn id="133" idx="0"/>
            </p:cNvCxnSpPr>
            <p:nvPr/>
          </p:nvCxnSpPr>
          <p:spPr>
            <a:xfrm flipV="1">
              <a:off x="2483640" y="4871520"/>
              <a:ext cx="105120" cy="36216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36" name="Straight Arrow Connector 16"/>
            <p:cNvCxnSpPr/>
            <p:nvPr/>
          </p:nvCxnSpPr>
          <p:spPr>
            <a:xfrm flipH="1" flipV="1">
              <a:off x="2813400" y="4979880"/>
              <a:ext cx="619200" cy="36144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</p:grpSp>
      <p:pic>
        <p:nvPicPr>
          <p:cNvPr id="137" name="Picture 17" descr=""/>
          <p:cNvPicPr/>
          <p:nvPr/>
        </p:nvPicPr>
        <p:blipFill>
          <a:blip r:embed="rId4"/>
          <a:stretch/>
        </p:blipFill>
        <p:spPr>
          <a:xfrm>
            <a:off x="838080" y="5702400"/>
            <a:ext cx="9855720" cy="609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8" name="Straight Connector 18"/>
          <p:cNvCxnSpPr/>
          <p:nvPr/>
        </p:nvCxnSpPr>
        <p:spPr>
          <a:xfrm>
            <a:off x="1533240" y="6311880"/>
            <a:ext cx="408240" cy="360"/>
          </a:xfrm>
          <a:prstGeom prst="straightConnector1">
            <a:avLst/>
          </a:prstGeom>
          <a:ln w="28575">
            <a:solidFill>
              <a:srgbClr val="ed7d31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הרשאות גישה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נרצה לתת למשתמשים האחרים הרשאות קריאה כתיבה והרצה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3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9855720" cy="609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2" name="Group 12"/>
          <p:cNvGrpSpPr/>
          <p:nvPr/>
        </p:nvGrpSpPr>
        <p:grpSpPr>
          <a:xfrm>
            <a:off x="838080" y="3256560"/>
            <a:ext cx="9764280" cy="1672560"/>
            <a:chOff x="838080" y="3256560"/>
            <a:chExt cx="9764280" cy="1672560"/>
          </a:xfrm>
        </p:grpSpPr>
        <p:pic>
          <p:nvPicPr>
            <p:cNvPr id="143" name="Picture 4" descr=""/>
            <p:cNvPicPr/>
            <p:nvPr/>
          </p:nvPicPr>
          <p:blipFill>
            <a:blip r:embed="rId2"/>
            <a:stretch/>
          </p:blipFill>
          <p:spPr>
            <a:xfrm>
              <a:off x="838080" y="4001400"/>
              <a:ext cx="9764280" cy="927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4" name="TextBox 5"/>
            <p:cNvSpPr/>
            <p:nvPr/>
          </p:nvSpPr>
          <p:spPr>
            <a:xfrm>
              <a:off x="1322280" y="3256560"/>
              <a:ext cx="378936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other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	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set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	</a:t>
              </a: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</a:rPr>
                <a:t>read,write,execute</a:t>
              </a:r>
              <a:endParaRPr b="0" lang="en-IL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5" name="Straight Arrow Connector 7"/>
            <p:cNvCxnSpPr/>
            <p:nvPr/>
          </p:nvCxnSpPr>
          <p:spPr>
            <a:xfrm>
              <a:off x="1716120" y="3625920"/>
              <a:ext cx="408240" cy="37548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46" name="Straight Arrow Connector 9"/>
            <p:cNvCxnSpPr/>
            <p:nvPr/>
          </p:nvCxnSpPr>
          <p:spPr>
            <a:xfrm>
              <a:off x="2419560" y="3625920"/>
              <a:ext cx="360" cy="49284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  <p:cxnSp>
          <p:nvCxnSpPr>
            <p:cNvPr id="147" name="Straight Arrow Connector 11"/>
            <p:cNvCxnSpPr/>
            <p:nvPr/>
          </p:nvCxnSpPr>
          <p:spPr>
            <a:xfrm flipH="1">
              <a:off x="2771280" y="3625920"/>
              <a:ext cx="1139760" cy="375480"/>
            </a:xfrm>
            <a:prstGeom prst="straightConnector1">
              <a:avLst/>
            </a:prstGeom>
            <a:ln>
              <a:solidFill>
                <a:srgbClr val="4472c4"/>
              </a:solidFill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הרשאות גישה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תחביר נוסף של 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chmod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הוא באמצעות ספרות בינאריות.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שלשה יכולה לקבל ערכים בבינארי החל מ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000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ועד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111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כלומר ספרות עשרוניות מ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ועד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לדוגמא: אם נרצה לתת הרשאות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rw-r-xr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-- בעצם ההתאמה היא: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ובעשרוני: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לכן, 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chmod 654 f.txt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היא בעצם הרשאות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rw-r-wr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--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0" name="Picture 6" descr="A screenshot of a computer&#10;&#10;Description automatically generated"/>
          <p:cNvPicPr/>
          <p:nvPr/>
        </p:nvPicPr>
        <p:blipFill>
          <a:blip r:embed="rId1"/>
          <a:srcRect l="0" t="13710" r="68791" b="42023"/>
          <a:stretch/>
        </p:blipFill>
        <p:spPr>
          <a:xfrm>
            <a:off x="838080" y="3094560"/>
            <a:ext cx="4721760" cy="360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קובץ יש בעלים / קבוצה, ורשימת הרשאות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קובץ הוא רשימה של משתמשים/קבוצות וההרשאות שלהם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בעזרת 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ls –l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ניתן לדעת אם לקובץ יש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מצורף או לא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הסימן + ליד ההרשאות הרגילות של הקובץ מציין שיש לקובץ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3" name="Picture 3" descr=""/>
          <p:cNvPicPr/>
          <p:nvPr/>
        </p:nvPicPr>
        <p:blipFill>
          <a:blip r:embed="rId1"/>
          <a:stretch/>
        </p:blipFill>
        <p:spPr>
          <a:xfrm>
            <a:off x="2582640" y="3191400"/>
            <a:ext cx="7197840" cy="78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Oval 4"/>
          <p:cNvSpPr/>
          <p:nvPr/>
        </p:nvSpPr>
        <p:spPr>
          <a:xfrm>
            <a:off x="3846960" y="3519000"/>
            <a:ext cx="224640" cy="39456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898000" y="1825560"/>
            <a:ext cx="8455320" cy="471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כדי להציג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קובץ נשתמש בפקודה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getfacl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(קיצור של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get file 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שורות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שונות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הראשונה היא הרשאות של הבעלים של הקובץ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השנייה היא עבור המשתמש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john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השלישית עבור המשתמש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mask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מציין את מקסימום ההרשאות שניתן לתת עבור קבוצה או משתמש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רצוי להשאיר את ה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mask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תמיד על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rwx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אלא אם כן יש דרישה מיוחדת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7" name="Picture 5" descr=""/>
          <p:cNvPicPr/>
          <p:nvPr/>
        </p:nvPicPr>
        <p:blipFill>
          <a:blip r:embed="rId1"/>
          <a:stretch/>
        </p:blipFill>
        <p:spPr>
          <a:xfrm>
            <a:off x="139680" y="2327400"/>
            <a:ext cx="3120840" cy="4409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8" name="מחבר חץ ישר 6"/>
          <p:cNvCxnSpPr/>
          <p:nvPr/>
        </p:nvCxnSpPr>
        <p:spPr>
          <a:xfrm flipH="1">
            <a:off x="1791360" y="3179160"/>
            <a:ext cx="4304880" cy="1100520"/>
          </a:xfrm>
          <a:prstGeom prst="straightConnector1">
            <a:avLst/>
          </a:prstGeom>
          <a:ln w="28575">
            <a:solidFill>
              <a:srgbClr val="4472c4"/>
            </a:solidFill>
            <a:tailEnd len="med" type="triangle" w="med"/>
          </a:ln>
        </p:spPr>
      </p:cxnSp>
      <p:cxnSp>
        <p:nvCxnSpPr>
          <p:cNvPr id="159" name="מחבר חץ ישר 7"/>
          <p:cNvCxnSpPr/>
          <p:nvPr/>
        </p:nvCxnSpPr>
        <p:spPr>
          <a:xfrm flipH="1">
            <a:off x="2385720" y="3529080"/>
            <a:ext cx="4816800" cy="1132920"/>
          </a:xfrm>
          <a:prstGeom prst="straightConnector1">
            <a:avLst/>
          </a:prstGeom>
          <a:ln w="28575">
            <a:solidFill>
              <a:srgbClr val="4472c4"/>
            </a:solidFill>
            <a:tailEnd len="med" type="triangle" w="med"/>
          </a:ln>
        </p:spPr>
      </p:cxnSp>
      <p:cxnSp>
        <p:nvCxnSpPr>
          <p:cNvPr id="160" name="מחבר חץ ישר 9"/>
          <p:cNvCxnSpPr/>
          <p:nvPr/>
        </p:nvCxnSpPr>
        <p:spPr>
          <a:xfrm flipH="1">
            <a:off x="2385720" y="3884760"/>
            <a:ext cx="5124600" cy="1231200"/>
          </a:xfrm>
          <a:prstGeom prst="straightConnector1">
            <a:avLst/>
          </a:prstGeom>
          <a:ln w="28575"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ונבצע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getfacl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על קובץ ללא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נקבל: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3" name="Picture 3" descr=""/>
          <p:cNvPicPr/>
          <p:nvPr/>
        </p:nvPicPr>
        <p:blipFill>
          <a:blip r:embed="rId1"/>
          <a:stretch/>
        </p:blipFill>
        <p:spPr>
          <a:xfrm>
            <a:off x="3583440" y="1825560"/>
            <a:ext cx="1863360" cy="238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כדי ליצור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לקובץ נשתמש בפקודה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setfacl - (set file acl)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-x – remove an entry from the ACL file (entries for file owner and group owner cannot be deleted)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-m – add one or more new entries to the ACL, replaces existing entries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-M – modify the acl to be acl_file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6" name="תמונה 4" descr=""/>
          <p:cNvPicPr/>
          <p:nvPr/>
        </p:nvPicPr>
        <p:blipFill>
          <a:blip r:embed="rId1"/>
          <a:stretch/>
        </p:blipFill>
        <p:spPr>
          <a:xfrm>
            <a:off x="676440" y="2561760"/>
            <a:ext cx="11284560" cy="57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0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9" name="Picture 5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401480" y="1006200"/>
            <a:ext cx="93888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3"/>
          <p:cNvSpPr/>
          <p:nvPr/>
        </p:nvSpPr>
        <p:spPr>
          <a:xfrm>
            <a:off x="6657480" y="860760"/>
            <a:ext cx="33181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he-IL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עבור קבצים</a:t>
            </a:r>
            <a:endParaRPr b="0" lang="en-IL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46000" y="357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3" descr=""/>
          <p:cNvPicPr/>
          <p:nvPr/>
        </p:nvPicPr>
        <p:blipFill>
          <a:blip r:embed="rId1"/>
          <a:stretch/>
        </p:blipFill>
        <p:spPr>
          <a:xfrm>
            <a:off x="838080" y="2036520"/>
            <a:ext cx="6501600" cy="350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ניתן ליצור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עבור </a:t>
            </a:r>
            <a:r>
              <a:rPr b="1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תיקייה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קובץ או תיקייה שייווצרו בתיקיה הזו יקבל אוטומטית את 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התיקיה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בהרשאות של התיקיה נוספת האפשרות לשתמש במילה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default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כעת, לכל קובץ שיווצר בתיקייה הזו תהיה כניסה 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עבור המשתמש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john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6" name="Picture 4" descr=""/>
          <p:cNvPicPr/>
          <p:nvPr/>
        </p:nvPicPr>
        <p:blipFill>
          <a:blip r:embed="rId1"/>
          <a:stretch/>
        </p:blipFill>
        <p:spPr>
          <a:xfrm>
            <a:off x="2654640" y="3197880"/>
            <a:ext cx="7318440" cy="44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8" name="Picture 3" descr=""/>
          <p:cNvPicPr/>
          <p:nvPr/>
        </p:nvPicPr>
        <p:blipFill>
          <a:blip r:embed="rId1"/>
          <a:stretch/>
        </p:blipFill>
        <p:spPr>
          <a:xfrm>
            <a:off x="838080" y="2112840"/>
            <a:ext cx="2622240" cy="403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5" descr=""/>
          <p:cNvPicPr/>
          <p:nvPr/>
        </p:nvPicPr>
        <p:blipFill>
          <a:blip r:embed="rId2"/>
          <a:srcRect l="0" t="9342" r="0" b="0"/>
          <a:stretch/>
        </p:blipFill>
        <p:spPr>
          <a:xfrm>
            <a:off x="4339440" y="2112840"/>
            <a:ext cx="6723720" cy="36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angle 2"/>
          <p:cNvSpPr/>
          <p:nvPr/>
        </p:nvSpPr>
        <p:spPr>
          <a:xfrm>
            <a:off x="838080" y="4811040"/>
            <a:ext cx="2622240" cy="32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95960" y="0"/>
            <a:ext cx="10515240" cy="101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Unix</a:t>
            </a:r>
            <a:br>
              <a:rPr sz="4400"/>
            </a:b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Access Control Lists - ACLs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3" descr=""/>
          <p:cNvPicPr/>
          <p:nvPr/>
        </p:nvPicPr>
        <p:blipFill>
          <a:blip r:embed="rId1"/>
          <a:stretch/>
        </p:blipFill>
        <p:spPr>
          <a:xfrm>
            <a:off x="897480" y="1008360"/>
            <a:ext cx="10312200" cy="584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Rectangle 5"/>
          <p:cNvSpPr/>
          <p:nvPr/>
        </p:nvSpPr>
        <p:spPr>
          <a:xfrm>
            <a:off x="6601680" y="860760"/>
            <a:ext cx="3430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he-IL" sz="5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עבור תיקיות</a:t>
            </a:r>
            <a:endParaRPr b="0" lang="en-IL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1018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תרגיל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413000"/>
            <a:ext cx="10515240" cy="512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התחברו בעזרת המשתמש האדמין שלכם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קבוצה חדשה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משתמש חדש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ושייכו אותו 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בתיקיית הבית שלכם תיקייה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לתיקייה והוסיפו 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הרשאות קריאה וכתיבה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קובץ טקסט חדש בתיקייה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וכתבו בתוכו “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Welcome to linux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- בעזרת הפקודה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echo “welcome to linux” &gt; t.txt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לקובץ טקסט הזה ותנו לקבוצה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הרשאות קריאה בלבד ולמשתמש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הרשאות קריאה וכתיבה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תיקייה חדשה בתיקיית הבית שלכם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העתיקו את הקובץ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שבסעיף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לתיקייה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ושנו לו את השם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f.txt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האם הועתקו הרשאות הגישה לקובץ?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שנו את הרשאות הגישה של הקובץ הזה ל: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rw-r--r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בעזרת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chmod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צרו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לקובץ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עם הרשאות גישה למשתמש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prog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קריאה וכתיבה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indent="-51444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העתיק את הקובץ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עם הרשאות הגישה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לתוך התיקייה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tochna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gedit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תוכנית עריכה (כתבן)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נכתוב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gedit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בטרמינל, יפתח את התוכנה (בתנאי שמותקן), והטרמינל יינעל.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במידה ולא מותקן, ניתן לכתוב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sudo apt-get install gedit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r" defTabSz="914400" rtl="1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כדי לפתוח תוכנה ברקע ניתן לכתוב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gedit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&amp;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אם נרצה לערוך קובץ קיים או ליצור קובץ חדש ריק ולפתוח איתו את התוכנה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gedit &lt;file&gt; &amp;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כאשר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file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הוא שם הקובץ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דוגמא: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gedit f.txt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&amp; ייצור קובץ חדש בשם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f.txt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ויפתח אותו ב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gedit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בצורה אוטומטית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</TotalTime>
  <Application>LibreOffice/25.8.1.1$Linux_X86_64 LibreOffice_project/580$Build-1</Application>
  <AppVersion>15.0000</AppVersion>
  <Words>1568</Words>
  <Paragraphs>276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2017-05-21T13:37:07Z</dcterms:created>
  <dc:creator>Yechezkel</dc:creator>
  <dc:description/>
  <dc:language>en-IL</dc:language>
  <cp:lastModifiedBy>Guy Yechezkel</cp:lastModifiedBy>
  <dcterms:modified xsi:type="dcterms:W3CDTF">2025-05-27T11:23:22Z</dcterms:modified>
  <cp:revision>216</cp:revision>
  <dc:subject/>
  <dc:title>UNIX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3</vt:i4>
  </property>
  <property fmtid="{D5CDD505-2E9C-101B-9397-08002B2CF9AE}" pid="4" name="PresentationFormat">
    <vt:lpwstr>מסך רחב</vt:lpwstr>
  </property>
  <property fmtid="{D5CDD505-2E9C-101B-9397-08002B2CF9AE}" pid="5" name="Slides">
    <vt:i4>32</vt:i4>
  </property>
</Properties>
</file>