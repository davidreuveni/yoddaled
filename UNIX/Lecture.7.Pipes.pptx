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8" r:id="rId7"/>
    <p:sldId id="269" r:id="rId8"/>
    <p:sldId id="270" r:id="rId9"/>
    <p:sldId id="260" r:id="rId10"/>
    <p:sldId id="261" r:id="rId11"/>
    <p:sldId id="264" r:id="rId12"/>
    <p:sldId id="265" r:id="rId13"/>
    <p:sldId id="266" r:id="rId14"/>
    <p:sldId id="267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8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8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DF32A-4982-49C2-ABA0-C4BC78D73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D0D8F6-04D5-421E-AD8B-1C01C5D5EA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A4F2C-837E-4F56-9827-175A4DB7F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80D17-FA56-46E6-B997-4C0343EE6786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53998-318F-47B8-84D7-621EB2059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923BA-7045-4F6B-9389-93BB9D75D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BC68A-3728-446B-96DE-EEB9D44D5A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114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6A674-5690-44C9-A255-AF2263B62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B8133-F7B4-4D76-ABAE-BC06AB079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3A2EA-4E40-4E40-A59E-891DF856B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80D17-FA56-46E6-B997-4C0343EE6786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CDA86-C590-4972-9A5C-46BB8D466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E7E05-17C5-4891-B397-AB0959B83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BC68A-3728-446B-96DE-EEB9D44D5A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682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B5980-3D9A-45CE-9CFC-6C7211949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4D3BF-0B5D-4645-AD29-58F6789DEB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692CB-C981-4F3B-951B-214CCE202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80D17-FA56-46E6-B997-4C0343EE6786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AA1AD-CEE2-4D7C-8C33-E1C9B2189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2FFF6-B09F-48F5-82D3-B8085753A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BC68A-3728-446B-96DE-EEB9D44D5A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7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0A051-59F2-4275-B9E1-62DE15AE6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9C652-9280-41EB-AEF9-6D5F494138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999282-B9DF-461D-88FA-AA2C25DCA5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5B3D7-4DCE-468D-BC2E-142A13422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80D17-FA56-46E6-B997-4C0343EE6786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22F4B1-B549-42D4-9842-B081CF81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B5203C-AB4D-4BD3-91E4-3E67284BF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BC68A-3728-446B-96DE-EEB9D44D5A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20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64CD6-6278-441A-81BF-C84925324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349B6-76DD-401D-91DE-6C6EDBBAD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E8D7C6-6EFC-4248-BE31-E372C49B7F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42BFB1-74B0-4216-A70B-AEF2234DB6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0992CF-3D97-4DEC-BD2C-169132AD9C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AB41E7-4A35-49AC-9444-44141BB6B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80D17-FA56-46E6-B997-4C0343EE6786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929BA1-6C65-40AB-B6C1-3DC02A3B6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F95A5F-4F26-431B-8B61-661CE2C06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BC68A-3728-446B-96DE-EEB9D44D5A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448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38340-DE15-4B51-8F71-3829C2BB7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01852C-38EF-4547-AD0F-C32CA7D54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80D17-FA56-46E6-B997-4C0343EE6786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D8A8F4-7C0C-4BE0-9067-59BD5A94B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3D0854-8DA9-4C19-81B6-666B3AD35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BC68A-3728-446B-96DE-EEB9D44D5A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211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BC2C97-EA35-45CD-A9F9-92DF5F9C1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80D17-FA56-46E6-B997-4C0343EE6786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23C1F3-19B2-4C09-8A5F-48F297217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AD369C-F0CD-486E-BFC9-4388C96B0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BC68A-3728-446B-96DE-EEB9D44D5A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63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38DA4-B1FC-4663-930E-FC7F1EBB4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6A6C2-4C49-448F-A8B0-9207FE307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81DD9C-2680-4C75-A9A9-D3CA01F7A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041B9E-6333-4ED4-9B48-064225BAF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80D17-FA56-46E6-B997-4C0343EE6786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C8BFB7-1A1E-4F2A-B82B-8D3B83B42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A34CD5-5E20-4EE1-B072-D7560DA57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BC68A-3728-446B-96DE-EEB9D44D5A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203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44B3F-6B7C-490C-953A-0E889B489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C4E214-7084-458E-8FFE-ED5F43F25B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B58526-BC6A-4A4F-A7E8-8D71391D21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5AEDC6-53EF-4271-A729-79CAD4773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80D17-FA56-46E6-B997-4C0343EE6786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E9B3D7-2354-4A68-BD02-3EDDF8449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07D6FC-9CA0-4711-B163-3E8E64ED0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BC68A-3728-446B-96DE-EEB9D44D5A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85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5DD54-0FDF-4E02-9C64-87FB0A8B5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417FE8-26E7-4FD8-8193-5249FC1BB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C4C02-CFCD-4EBB-8B75-ECD0C0C85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80D17-FA56-46E6-B997-4C0343EE6786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F92D9-9F52-4660-B7A5-FCFA26103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44A37-F3A9-4E82-AD22-1AD00CE91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BC68A-3728-446B-96DE-EEB9D44D5A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406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4339E3-E71C-4685-A801-260ECB7E88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741F8B-02F6-4D0F-8728-522A6A8C28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4A650-DC08-4B2A-8917-D27FB004D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80D17-FA56-46E6-B997-4C0343EE6786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9630D-5070-46F8-BE84-5AAC33208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2DEA9-5033-480E-BCF2-6E22A6FAF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BC68A-3728-446B-96DE-EEB9D44D5A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083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3205D7-87A3-451A-BC4A-D93A0F555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737BD-F3A1-4E99-85D7-9D61D0ED4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6EE02-28F1-4EBB-AE76-7A25FA4FDA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80D17-FA56-46E6-B997-4C0343EE6786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27505-F5D7-4E09-BF93-61F597C087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76AD1-AE5E-46E0-B706-3B0886D221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3BC68A-3728-446B-96DE-EEB9D44D5A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87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5DBBA-3F9C-47B7-B06D-8135359458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Pipes</a:t>
            </a:r>
            <a:r>
              <a:rPr lang="he-IL" dirty="0"/>
              <a:t> </a:t>
            </a:r>
            <a:r>
              <a:rPr lang="en-US" dirty="0"/>
              <a:t>&amp; Redirections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8DEA8E-D641-45C3-852C-1932EB1855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 dirty="0"/>
              <a:t>צינורות והפניות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131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C0CB9-F76B-4209-B42E-FAEF509B4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Pipes</a:t>
            </a:r>
            <a:br>
              <a:rPr lang="he-IL" dirty="0"/>
            </a:br>
            <a:r>
              <a:rPr lang="he-IL" sz="2800" dirty="0"/>
              <a:t>תזכורת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D4AEE-D989-4457-9BDF-FF61A0159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 rtl="1">
              <a:buNone/>
            </a:pPr>
            <a:r>
              <a:rPr lang="he-IL" dirty="0"/>
              <a:t>הפילוספיה של </a:t>
            </a:r>
            <a:r>
              <a:rPr lang="en-US" dirty="0"/>
              <a:t>UNIX</a:t>
            </a:r>
            <a:r>
              <a:rPr lang="he-IL" dirty="0"/>
              <a:t>: </a:t>
            </a:r>
          </a:p>
          <a:p>
            <a:pPr algn="r" rtl="1"/>
            <a:r>
              <a:rPr lang="he-IL" dirty="0"/>
              <a:t>תוכניות שעושות דבר אחד, ועושות אותו היטב</a:t>
            </a:r>
          </a:p>
          <a:p>
            <a:pPr algn="r" rtl="1"/>
            <a:r>
              <a:rPr lang="he-IL" u="sng" dirty="0"/>
              <a:t>תוכניות שיכולות לעבוד אחת עם השניה</a:t>
            </a:r>
          </a:p>
          <a:p>
            <a:pPr algn="r" rtl="1"/>
            <a:r>
              <a:rPr lang="he-IL" u="sng" dirty="0"/>
              <a:t>תוכניות שיודעות לעבד זרם של טקסט, כי זה מהווה ממשק אוניברסלי</a:t>
            </a:r>
          </a:p>
          <a:p>
            <a:pPr algn="r" rtl="1"/>
            <a:r>
              <a:rPr lang="he-IL" dirty="0"/>
              <a:t>ארגז הכלים: יש אוסף רב של כלים, ניתן להשתמש בהם בעת הצורך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780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C0CB9-F76B-4209-B42E-FAEF509B4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Pipes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D4AEE-D989-4457-9BDF-FF61A0159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צינורות (</a:t>
            </a:r>
            <a:r>
              <a:rPr lang="en-US" dirty="0"/>
              <a:t>pipes</a:t>
            </a:r>
            <a:r>
              <a:rPr lang="he-IL" dirty="0"/>
              <a:t>) ב </a:t>
            </a:r>
            <a:r>
              <a:rPr lang="en-US" dirty="0"/>
              <a:t>UNIX</a:t>
            </a:r>
            <a:r>
              <a:rPr lang="he-IL" dirty="0"/>
              <a:t> מאפשרים לנו "לחבר" שתי פקודות או יותר ביחד, כלומר, להעביר מידע מפקודה אחת לשניה</a:t>
            </a:r>
          </a:p>
          <a:p>
            <a:pPr algn="r" rtl="1"/>
            <a:r>
              <a:rPr lang="he-IL" dirty="0"/>
              <a:t>כדי ליצור </a:t>
            </a:r>
            <a:r>
              <a:rPr lang="en-US" dirty="0"/>
              <a:t>pipe</a:t>
            </a:r>
            <a:r>
              <a:rPr lang="he-IL" dirty="0"/>
              <a:t> נשתמש בתו | בין פקודה אחת לשניה</a:t>
            </a:r>
          </a:p>
          <a:p>
            <a:pPr algn="r" rtl="1"/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process1 | process2 | process3</a:t>
            </a:r>
            <a:r>
              <a:rPr lang="en-US" altLang="en-US" sz="3600" dirty="0"/>
              <a:t> </a:t>
            </a:r>
            <a:endParaRPr lang="en-US" altLang="en-US" sz="5400" dirty="0">
              <a:latin typeface="Arial" panose="020B0604020202020204" pitchFamily="34" charset="0"/>
            </a:endParaRPr>
          </a:p>
          <a:p>
            <a:pPr algn="r" rtl="1"/>
            <a:r>
              <a:rPr lang="en-US" dirty="0"/>
              <a:t>Process1 </a:t>
            </a:r>
            <a:r>
              <a:rPr lang="en-US" dirty="0">
                <a:sym typeface="Wingdings" panose="05000000000000000000" pitchFamily="2" charset="2"/>
              </a:rPr>
              <a:t> process2  process3</a:t>
            </a:r>
          </a:p>
          <a:p>
            <a:pPr algn="r" rtl="1"/>
            <a:r>
              <a:rPr lang="he-IL" dirty="0">
                <a:sym typeface="Wingdings" panose="05000000000000000000" pitchFamily="2" charset="2"/>
              </a:rPr>
              <a:t>הפלט מ </a:t>
            </a:r>
            <a:r>
              <a:rPr lang="en-US" dirty="0">
                <a:sym typeface="Wingdings" panose="05000000000000000000" pitchFamily="2" charset="2"/>
              </a:rPr>
              <a:t>process1</a:t>
            </a:r>
            <a:r>
              <a:rPr lang="he-IL" dirty="0">
                <a:sym typeface="Wingdings" panose="05000000000000000000" pitchFamily="2" charset="2"/>
              </a:rPr>
              <a:t> יהיה הקלט ל </a:t>
            </a:r>
            <a:r>
              <a:rPr lang="en-US" dirty="0">
                <a:sym typeface="Wingdings" panose="05000000000000000000" pitchFamily="2" charset="2"/>
              </a:rPr>
              <a:t>process2</a:t>
            </a:r>
            <a:endParaRPr lang="he-IL" dirty="0">
              <a:sym typeface="Wingdings" panose="05000000000000000000" pitchFamily="2" charset="2"/>
            </a:endParaRPr>
          </a:p>
          <a:p>
            <a:pPr algn="r" rtl="1"/>
            <a:r>
              <a:rPr lang="he-IL" dirty="0">
                <a:sym typeface="Wingdings" panose="05000000000000000000" pitchFamily="2" charset="2"/>
              </a:rPr>
              <a:t>לאחר מכן, הפלט מ </a:t>
            </a:r>
            <a:r>
              <a:rPr lang="en-US" dirty="0">
                <a:sym typeface="Wingdings" panose="05000000000000000000" pitchFamily="2" charset="2"/>
              </a:rPr>
              <a:t>process2</a:t>
            </a:r>
            <a:r>
              <a:rPr lang="he-IL" dirty="0">
                <a:sym typeface="Wingdings" panose="05000000000000000000" pitchFamily="2" charset="2"/>
              </a:rPr>
              <a:t> יהיה הקלט ל </a:t>
            </a:r>
            <a:r>
              <a:rPr lang="en-US" dirty="0">
                <a:sym typeface="Wingdings" panose="05000000000000000000" pitchFamily="2" charset="2"/>
              </a:rPr>
              <a:t>process3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197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C0CB9-F76B-4209-B42E-FAEF509B4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Pipes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D4AEE-D989-4457-9BDF-FF61A0159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הפקודה </a:t>
            </a:r>
            <a:r>
              <a:rPr lang="en-US" dirty="0"/>
              <a:t>grep</a:t>
            </a:r>
            <a:r>
              <a:rPr lang="he-IL" dirty="0"/>
              <a:t> מחפש בקובץ או קבצים שורות המכילות תבנית מסויימת</a:t>
            </a:r>
          </a:p>
          <a:p>
            <a:r>
              <a:rPr lang="en-US" altLang="en-US" dirty="0">
                <a:solidFill>
                  <a:srgbClr val="454545"/>
                </a:solidFill>
                <a:latin typeface="Fixed"/>
              </a:rPr>
              <a:t>grep [</a:t>
            </a:r>
            <a:r>
              <a:rPr lang="en-US" altLang="en-US" i="1" dirty="0">
                <a:solidFill>
                  <a:srgbClr val="454545"/>
                </a:solidFill>
                <a:latin typeface="Fixed"/>
              </a:rPr>
              <a:t>OPTIONS</a:t>
            </a:r>
            <a:r>
              <a:rPr lang="en-US" altLang="en-US" dirty="0">
                <a:solidFill>
                  <a:srgbClr val="454545"/>
                </a:solidFill>
                <a:latin typeface="Fixed"/>
              </a:rPr>
              <a:t>] </a:t>
            </a:r>
            <a:r>
              <a:rPr lang="en-US" altLang="en-US" i="1" dirty="0">
                <a:solidFill>
                  <a:srgbClr val="454545"/>
                </a:solidFill>
                <a:latin typeface="Fixed"/>
              </a:rPr>
              <a:t>PATTERN</a:t>
            </a:r>
            <a:r>
              <a:rPr lang="en-US" altLang="en-US" dirty="0">
                <a:solidFill>
                  <a:srgbClr val="454545"/>
                </a:solidFill>
                <a:latin typeface="Fixed"/>
              </a:rPr>
              <a:t> [</a:t>
            </a:r>
            <a:r>
              <a:rPr lang="en-US" altLang="en-US" i="1" dirty="0">
                <a:solidFill>
                  <a:srgbClr val="454545"/>
                </a:solidFill>
                <a:latin typeface="Fixed"/>
              </a:rPr>
              <a:t>FILE</a:t>
            </a:r>
            <a:r>
              <a:rPr lang="en-US" altLang="en-US" dirty="0">
                <a:solidFill>
                  <a:srgbClr val="454545"/>
                </a:solidFill>
                <a:latin typeface="Fixed"/>
              </a:rPr>
              <a:t>...]</a:t>
            </a:r>
            <a:r>
              <a:rPr lang="en-US" altLang="en-US" sz="2400" dirty="0"/>
              <a:t> </a:t>
            </a:r>
            <a:endParaRPr lang="he-IL" altLang="en-US" sz="2400" dirty="0"/>
          </a:p>
          <a:p>
            <a:pPr algn="r" rtl="1"/>
            <a:endParaRPr lang="en-US" altLang="en-US" sz="4000" dirty="0">
              <a:latin typeface="Arial" panose="020B0604020202020204" pitchFamily="34" charset="0"/>
            </a:endParaRPr>
          </a:p>
          <a:p>
            <a:pPr algn="l"/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DEE248-E326-4FFA-8D6C-7245B5A867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862977"/>
              </p:ext>
            </p:extLst>
          </p:nvPr>
        </p:nvGraphicFramePr>
        <p:xfrm>
          <a:off x="827690" y="3022713"/>
          <a:ext cx="4877931" cy="3550620"/>
        </p:xfrm>
        <a:graphic>
          <a:graphicData uri="http://schemas.openxmlformats.org/drawingml/2006/table">
            <a:tbl>
              <a:tblPr/>
              <a:tblGrid>
                <a:gridCol w="4877931">
                  <a:extLst>
                    <a:ext uri="{9D8B030D-6E8A-4147-A177-3AD203B41FA5}">
                      <a16:colId xmlns:a16="http://schemas.microsoft.com/office/drawing/2014/main" val="599496269"/>
                    </a:ext>
                  </a:extLst>
                </a:gridCol>
              </a:tblGrid>
              <a:tr h="33064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dirty="0">
                          <a:effectLst/>
                        </a:rPr>
                        <a:t>Option &amp; Description</a:t>
                      </a:r>
                    </a:p>
                  </a:txBody>
                  <a:tcPr marL="59445" marR="59445" marT="59445" marB="59445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128767"/>
                  </a:ext>
                </a:extLst>
              </a:tr>
              <a:tr h="697880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</a:rPr>
                        <a:t>-E</a:t>
                      </a:r>
                    </a:p>
                    <a:p>
                      <a:pPr algn="just" fontAlgn="t"/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</a:rPr>
                        <a:t>Regular expression</a:t>
                      </a:r>
                    </a:p>
                    <a:p>
                      <a:pPr algn="just" fontAlgn="t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</a:rPr>
                        <a:t>-v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</a:rPr>
                        <a:t>Prints all lines that do not match pattern.</a:t>
                      </a:r>
                    </a:p>
                  </a:txBody>
                  <a:tcPr marL="59445" marR="59445" marT="59445" marB="59445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6490156"/>
                  </a:ext>
                </a:extLst>
              </a:tr>
              <a:tr h="697880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</a:rPr>
                        <a:t>-n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</a:rPr>
                        <a:t>Prints the matched line and its line number.</a:t>
                      </a:r>
                    </a:p>
                  </a:txBody>
                  <a:tcPr marL="59445" marR="59445" marT="59445" marB="59445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0431011"/>
                  </a:ext>
                </a:extLst>
              </a:tr>
              <a:tr h="697880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</a:rPr>
                        <a:t>-c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</a:rPr>
                        <a:t>Prints only the count of matching lines.</a:t>
                      </a:r>
                    </a:p>
                  </a:txBody>
                  <a:tcPr marL="59445" marR="59445" marT="59445" marB="59445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5332993"/>
                  </a:ext>
                </a:extLst>
              </a:tr>
              <a:tr h="697880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</a:rPr>
                        <a:t>i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</a:rPr>
                        <a:t>Matches either upper or lowercase.</a:t>
                      </a:r>
                    </a:p>
                  </a:txBody>
                  <a:tcPr marL="59445" marR="59445" marT="59445" marB="59445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29481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2752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C0CB9-F76B-4209-B42E-FAEF509B4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Pipes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1C9FF7-F3B2-4F00-B97E-0A275C9C7E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7123"/>
          <a:stretch/>
        </p:blipFill>
        <p:spPr>
          <a:xfrm>
            <a:off x="1685094" y="1690688"/>
            <a:ext cx="8821812" cy="34440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B8A9E4-9BEF-4E3E-A4CD-010FDDA05A59}"/>
              </a:ext>
            </a:extLst>
          </p:cNvPr>
          <p:cNvSpPr txBox="1"/>
          <p:nvPr/>
        </p:nvSpPr>
        <p:spPr>
          <a:xfrm>
            <a:off x="77373" y="5134708"/>
            <a:ext cx="1114228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sz="2400" dirty="0"/>
              <a:t>הפקודה </a:t>
            </a:r>
            <a:r>
              <a:rPr lang="en-US" sz="2400" dirty="0"/>
              <a:t>grep</a:t>
            </a:r>
            <a:r>
              <a:rPr lang="he-IL" sz="2400" dirty="0"/>
              <a:t> מחפשת שורות שמכילות את המחרוזת </a:t>
            </a:r>
            <a:r>
              <a:rPr lang="en-US" sz="2400" dirty="0"/>
              <a:t>“Aug”</a:t>
            </a:r>
            <a:r>
              <a:rPr lang="he-IL" sz="2400" dirty="0"/>
              <a:t> בקלט שהגיע מהפקודה </a:t>
            </a:r>
            <a:r>
              <a:rPr lang="en-US" sz="2400" dirty="0"/>
              <a:t>ls –l</a:t>
            </a:r>
            <a:endParaRPr lang="he-IL" sz="2400" dirty="0"/>
          </a:p>
          <a:p>
            <a:pPr algn="r" rtl="1"/>
            <a:r>
              <a:rPr lang="he-IL" sz="2400" dirty="0"/>
              <a:t>התוצאה היא כל השורות של הפקודה </a:t>
            </a:r>
            <a:r>
              <a:rPr lang="en-US" sz="2400" dirty="0"/>
              <a:t>ls –l</a:t>
            </a:r>
            <a:r>
              <a:rPr lang="he-IL" sz="2400" dirty="0"/>
              <a:t> שמכילות את המחרוזת </a:t>
            </a:r>
            <a:r>
              <a:rPr lang="en-US" sz="2400" dirty="0"/>
              <a:t>“Aug”</a:t>
            </a:r>
            <a:r>
              <a:rPr lang="he-IL" sz="2400" dirty="0"/>
              <a:t>, </a:t>
            </a:r>
          </a:p>
          <a:p>
            <a:pPr algn="r" rtl="1"/>
            <a:r>
              <a:rPr lang="he-IL" sz="2400" dirty="0"/>
              <a:t>כלומר, כל הקבצים או תיקיות שנוצרו בחודש אוגוסט או קבצים ותיקיות שיש להם </a:t>
            </a:r>
            <a:r>
              <a:rPr lang="en-US" sz="2400" dirty="0"/>
              <a:t>“Aug”</a:t>
            </a:r>
            <a:r>
              <a:rPr lang="he-IL" sz="2400" dirty="0"/>
              <a:t> בשמם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63271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Regular Expressions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ניתן לשלב ביטויים רגולריים בחיפושים או בפקודות</a:t>
            </a:r>
          </a:p>
          <a:p>
            <a:pPr marL="0" indent="0" algn="l">
              <a:buNone/>
            </a:pPr>
            <a:endParaRPr lang="he-IL" dirty="0"/>
          </a:p>
        </p:txBody>
      </p:sp>
      <p:sp>
        <p:nvSpPr>
          <p:cNvPr id="4" name="TextBox 3"/>
          <p:cNvSpPr txBox="1"/>
          <p:nvPr/>
        </p:nvSpPr>
        <p:spPr>
          <a:xfrm>
            <a:off x="5340627" y="4417451"/>
            <a:ext cx="4297198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2400" b="1" dirty="0"/>
              <a:t>כל שורה שמסתיים ב </a:t>
            </a:r>
            <a:r>
              <a:rPr lang="en-US" sz="2400" b="1" dirty="0"/>
              <a:t>.</a:t>
            </a:r>
            <a:r>
              <a:rPr lang="en-US" sz="2400" b="1" dirty="0" err="1"/>
              <a:t>py</a:t>
            </a:r>
            <a:r>
              <a:rPr lang="he-IL" sz="2400" b="1" dirty="0"/>
              <a:t> בלבד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BB2FEBD2-CE5A-4ADC-88DE-072420806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82" y="2446270"/>
            <a:ext cx="10344150" cy="1457325"/>
          </a:xfrm>
          <a:prstGeom prst="rect">
            <a:avLst/>
          </a:prstGeom>
        </p:spPr>
      </p:pic>
      <p:cxnSp>
        <p:nvCxnSpPr>
          <p:cNvPr id="6" name="מחבר חץ ישר 5"/>
          <p:cNvCxnSpPr>
            <a:cxnSpLocks/>
          </p:cNvCxnSpPr>
          <p:nvPr/>
        </p:nvCxnSpPr>
        <p:spPr>
          <a:xfrm flipV="1">
            <a:off x="9764894" y="2756263"/>
            <a:ext cx="685392" cy="1661188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820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Regular Expressions</a:t>
            </a:r>
            <a:endParaRPr lang="he-IL" dirty="0"/>
          </a:p>
        </p:txBody>
      </p:sp>
      <p:pic>
        <p:nvPicPr>
          <p:cNvPr id="2050" name="Picture 2" descr="../_images/regex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795" y="1538838"/>
            <a:ext cx="7572669" cy="4900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מלבן 2">
            <a:extLst>
              <a:ext uri="{FF2B5EF4-FFF2-40B4-BE49-F238E27FC236}">
                <a16:creationId xmlns:a16="http://schemas.microsoft.com/office/drawing/2014/main" id="{8F9122ED-62A5-AC8F-1AA0-753E7E3D298C}"/>
              </a:ext>
            </a:extLst>
          </p:cNvPr>
          <p:cNvSpPr/>
          <p:nvPr/>
        </p:nvSpPr>
        <p:spPr>
          <a:xfrm>
            <a:off x="536795" y="4336956"/>
            <a:ext cx="7618539" cy="132556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43993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Regular Expressions</a:t>
            </a:r>
            <a:endParaRPr lang="he-IL" dirty="0"/>
          </a:p>
        </p:txBody>
      </p:sp>
      <p:pic>
        <p:nvPicPr>
          <p:cNvPr id="3074" name="Picture 2" descr="../_images/regex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595" y="1469162"/>
            <a:ext cx="9471689" cy="4789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4348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C0CB9-F76B-4209-B42E-FAEF509B4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Pipes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D4AEE-D989-4457-9BDF-FF61A0159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הפקודה </a:t>
            </a:r>
            <a:r>
              <a:rPr lang="en-US" dirty="0"/>
              <a:t>sort</a:t>
            </a:r>
            <a:r>
              <a:rPr lang="he-IL" dirty="0"/>
              <a:t> מסדרת שורות ממוינות בסדר לקסיקוגרפי או מספרי. </a:t>
            </a:r>
            <a:endParaRPr lang="en-US" dirty="0"/>
          </a:p>
          <a:p>
            <a:r>
              <a:rPr lang="en-US" altLang="en-US" dirty="0">
                <a:solidFill>
                  <a:srgbClr val="454545"/>
                </a:solidFill>
                <a:latin typeface="Fixed"/>
              </a:rPr>
              <a:t>sort [</a:t>
            </a:r>
            <a:r>
              <a:rPr lang="en-US" altLang="en-US" i="1" dirty="0">
                <a:solidFill>
                  <a:srgbClr val="454545"/>
                </a:solidFill>
                <a:latin typeface="Fixed"/>
              </a:rPr>
              <a:t>OPTION</a:t>
            </a:r>
            <a:r>
              <a:rPr lang="en-US" altLang="en-US" dirty="0">
                <a:solidFill>
                  <a:srgbClr val="454545"/>
                </a:solidFill>
                <a:latin typeface="Fixed"/>
              </a:rPr>
              <a:t>]... [</a:t>
            </a:r>
            <a:r>
              <a:rPr lang="en-US" altLang="en-US" i="1" dirty="0">
                <a:solidFill>
                  <a:srgbClr val="454545"/>
                </a:solidFill>
                <a:latin typeface="Fixed"/>
              </a:rPr>
              <a:t>FILE</a:t>
            </a:r>
            <a:r>
              <a:rPr lang="en-US" altLang="en-US" dirty="0">
                <a:solidFill>
                  <a:srgbClr val="454545"/>
                </a:solidFill>
                <a:latin typeface="Fixed"/>
              </a:rPr>
              <a:t>]...</a:t>
            </a:r>
            <a:r>
              <a:rPr lang="en-US" altLang="en-US" sz="2400" dirty="0"/>
              <a:t> </a:t>
            </a:r>
            <a:endParaRPr lang="en-US" altLang="en-US" sz="4000" dirty="0">
              <a:latin typeface="Arial" panose="020B0604020202020204" pitchFamily="34" charset="0"/>
            </a:endParaRPr>
          </a:p>
          <a:p>
            <a:pPr algn="l"/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5F5B187-82D9-4145-90F5-525FFF46BA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497076"/>
              </p:ext>
            </p:extLst>
          </p:nvPr>
        </p:nvGraphicFramePr>
        <p:xfrm>
          <a:off x="838200" y="2809670"/>
          <a:ext cx="8712200" cy="3003070"/>
        </p:xfrm>
        <a:graphic>
          <a:graphicData uri="http://schemas.openxmlformats.org/drawingml/2006/table">
            <a:tbl>
              <a:tblPr/>
              <a:tblGrid>
                <a:gridCol w="8712200">
                  <a:extLst>
                    <a:ext uri="{9D8B030D-6E8A-4147-A177-3AD203B41FA5}">
                      <a16:colId xmlns:a16="http://schemas.microsoft.com/office/drawing/2014/main" val="2422993961"/>
                    </a:ext>
                  </a:extLst>
                </a:gridCol>
              </a:tblGrid>
              <a:tr h="4858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effectLst/>
                        </a:rPr>
                        <a:t>Description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663818"/>
                  </a:ext>
                </a:extLst>
              </a:tr>
              <a:tr h="870130"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</a:rPr>
                        <a:t>-n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</a:rPr>
                        <a:t>Sorts numerically (example: 10 will sort after 2), ignores blanks and tabs.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9904306"/>
                  </a:ext>
                </a:extLst>
              </a:tr>
              <a:tr h="837474"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</a:rPr>
                        <a:t>-r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</a:rPr>
                        <a:t>Reverses the order of sort.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822823"/>
                  </a:ext>
                </a:extLst>
              </a:tr>
              <a:tr h="809666"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</a:rPr>
                        <a:t>+x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</a:rPr>
                        <a:t>Ignores first 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</a:rPr>
                        <a:t> fields when sorting.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6205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4552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A07893-7F27-45CA-BAB1-5693F3DCB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70" y="356933"/>
            <a:ext cx="7962720" cy="28888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7C0CB9-F76B-4209-B42E-FAEF509B4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0"/>
            <a:ext cx="10515600" cy="713867"/>
          </a:xfrm>
        </p:spPr>
        <p:txBody>
          <a:bodyPr/>
          <a:lstStyle/>
          <a:p>
            <a:pPr algn="ctr"/>
            <a:r>
              <a:rPr lang="en-US" dirty="0"/>
              <a:t>Pipes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ACD3CC-7E5D-47C6-93FB-DBA2CECB1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70" y="3602735"/>
            <a:ext cx="8439531" cy="30618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2CE368-A1F4-447B-B7C2-1650149D9798}"/>
              </a:ext>
            </a:extLst>
          </p:cNvPr>
          <p:cNvSpPr txBox="1"/>
          <p:nvPr/>
        </p:nvSpPr>
        <p:spPr>
          <a:xfrm>
            <a:off x="502927" y="3245802"/>
            <a:ext cx="11357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sz="2400" dirty="0"/>
              <a:t>בפקודה </a:t>
            </a:r>
            <a:r>
              <a:rPr lang="en-US" sz="2400" dirty="0"/>
              <a:t>sort +3</a:t>
            </a:r>
            <a:r>
              <a:rPr lang="he-IL" sz="2400" dirty="0"/>
              <a:t> אנחנו ממינים את הקלט מ </a:t>
            </a:r>
            <a:r>
              <a:rPr lang="en-US" sz="2400" dirty="0"/>
              <a:t>ls –l</a:t>
            </a:r>
            <a:r>
              <a:rPr lang="he-IL" sz="2400" dirty="0"/>
              <a:t> לפי השדה השלישי – כל רווח מפריד בין השדות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8E25C1-3349-47BE-80E7-4B19E0FE970A}"/>
              </a:ext>
            </a:extLst>
          </p:cNvPr>
          <p:cNvSpPr txBox="1"/>
          <p:nvPr/>
        </p:nvSpPr>
        <p:spPr>
          <a:xfrm>
            <a:off x="164270" y="6427059"/>
            <a:ext cx="4942379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dirty="0"/>
              <a:t>+0	            +1    </a:t>
            </a:r>
            <a:r>
              <a:rPr lang="en-US" sz="1600" dirty="0">
                <a:solidFill>
                  <a:schemeClr val="tx1"/>
                </a:solidFill>
              </a:rPr>
              <a:t>+2</a:t>
            </a:r>
            <a:r>
              <a:rPr lang="en-US" sz="1600" dirty="0"/>
              <a:t>	     </a:t>
            </a:r>
            <a:r>
              <a:rPr lang="en-US" sz="1600" b="1" dirty="0">
                <a:solidFill>
                  <a:srgbClr val="FF0000"/>
                </a:solidFill>
              </a:rPr>
              <a:t>+3</a:t>
            </a:r>
            <a:r>
              <a:rPr lang="en-US" sz="1600" dirty="0"/>
              <a:t>		…</a:t>
            </a:r>
          </a:p>
        </p:txBody>
      </p:sp>
    </p:spTree>
    <p:extLst>
      <p:ext uri="{BB962C8B-B14F-4D97-AF65-F5344CB8AC3E}">
        <p14:creationId xmlns:p14="http://schemas.microsoft.com/office/powerpoint/2010/main" val="56052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C0CB9-F76B-4209-B42E-FAEF509B4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Redirects</a:t>
            </a:r>
            <a:br>
              <a:rPr lang="he-IL" dirty="0"/>
            </a:br>
            <a:r>
              <a:rPr lang="he-IL" sz="2800" dirty="0"/>
              <a:t>הפניות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D4AEE-D989-4457-9BDF-FF61A0159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המטרה ב </a:t>
            </a:r>
            <a:r>
              <a:rPr lang="en-US" dirty="0"/>
              <a:t>UNIX</a:t>
            </a:r>
            <a:r>
              <a:rPr lang="he-IL" dirty="0"/>
              <a:t> היא לעבוד ולתקשר גם דרך קבצים. לכן, ניתן להפנות פלט של פקודות לתוך קובץ</a:t>
            </a:r>
          </a:p>
          <a:p>
            <a:pPr algn="r" rtl="1"/>
            <a:r>
              <a:rPr lang="he-IL" dirty="0"/>
              <a:t>הפניה של פלט לתוך קובץ מתבצעת בעזרת התו &lt; או &lt;&lt;.</a:t>
            </a:r>
          </a:p>
          <a:p>
            <a:pPr lvl="1" algn="r" rtl="1"/>
            <a:r>
              <a:rPr lang="en-US" dirty="0"/>
              <a:t>command &gt; file1</a:t>
            </a:r>
            <a:r>
              <a:rPr lang="he-IL" dirty="0"/>
              <a:t> – הפנייה של הפלט של הפקודה </a:t>
            </a:r>
            <a:r>
              <a:rPr lang="en-US" dirty="0"/>
              <a:t>command</a:t>
            </a:r>
            <a:r>
              <a:rPr lang="he-IL" dirty="0"/>
              <a:t> אל הקובץ </a:t>
            </a:r>
            <a:r>
              <a:rPr lang="en-US" dirty="0"/>
              <a:t>file1</a:t>
            </a:r>
            <a:r>
              <a:rPr lang="he-IL" dirty="0"/>
              <a:t>. אם הקובץ לא קיים, יווצר קובץ חדש. אם הקובץ קיים, </a:t>
            </a:r>
            <a:r>
              <a:rPr lang="he-IL" b="1" dirty="0"/>
              <a:t>המידע שהיה עד עתה בקובץ יידרס כולו</a:t>
            </a:r>
            <a:endParaRPr lang="he-IL" dirty="0"/>
          </a:p>
          <a:p>
            <a:pPr lvl="1" algn="r" rtl="1"/>
            <a:r>
              <a:rPr lang="en-US" dirty="0"/>
              <a:t>command &gt;&gt; file1</a:t>
            </a:r>
            <a:r>
              <a:rPr lang="he-IL" dirty="0"/>
              <a:t> – </a:t>
            </a:r>
            <a:r>
              <a:rPr lang="he-IL" b="1" dirty="0"/>
              <a:t>שרשור</a:t>
            </a:r>
            <a:r>
              <a:rPr lang="he-IL" dirty="0"/>
              <a:t> הפלט של הפקודה </a:t>
            </a:r>
            <a:r>
              <a:rPr lang="en-US" dirty="0"/>
              <a:t>command</a:t>
            </a:r>
            <a:r>
              <a:rPr lang="he-IL" dirty="0"/>
              <a:t> לתוך הקובץ </a:t>
            </a:r>
            <a:r>
              <a:rPr lang="en-US" dirty="0"/>
              <a:t>file1</a:t>
            </a:r>
            <a:r>
              <a:rPr lang="he-IL" dirty="0"/>
              <a:t>. אם הקובץ לא קיים, יווצר קובץ חדש.</a:t>
            </a:r>
          </a:p>
          <a:p>
            <a:pPr algn="r" rtl="1"/>
            <a:endParaRPr lang="he-IL" dirty="0"/>
          </a:p>
          <a:p>
            <a:pPr algn="r" rt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257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C0CB9-F76B-4209-B42E-FAEF509B4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Redirects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C21FD2-1007-455E-A94F-677865891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1690688"/>
            <a:ext cx="8884430" cy="395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0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C0CB9-F76B-4209-B42E-FAEF509B4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Redirects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D4AEE-D989-4457-9BDF-FF61A0159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ניתן להפנות מקובץ גם בכיוון הפוך בעזרת התו &gt;</a:t>
            </a:r>
          </a:p>
          <a:p>
            <a:pPr algn="r" rtl="1"/>
            <a:r>
              <a:rPr lang="he-IL" dirty="0"/>
              <a:t>ה</a:t>
            </a:r>
            <a:r>
              <a:rPr lang="he-IL" b="1" dirty="0"/>
              <a:t>פלט</a:t>
            </a:r>
            <a:r>
              <a:rPr lang="he-IL" dirty="0"/>
              <a:t> מהקובץ הזה יועבר לפקודה אחרת לעיבוד</a:t>
            </a:r>
          </a:p>
          <a:p>
            <a:pPr algn="r" rt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EC4167-21B1-41F6-BD7B-8130BD056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71" y="1027906"/>
            <a:ext cx="2597540" cy="573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889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AE70A-0ED7-4B85-8674-B3EF76C97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E30E3-2F56-4A74-874E-8FA7C5005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r" rtl="1"/>
            <a:r>
              <a:rPr lang="he-IL" dirty="0"/>
              <a:t>לכל שאלה יש להציג בקובץ את הפקודה ואת הפלט שלה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he-IL" dirty="0"/>
              <a:t>הראה את רשימת כל המשתמשים שה </a:t>
            </a:r>
            <a:r>
              <a:rPr lang="en-US" dirty="0"/>
              <a:t>shell</a:t>
            </a:r>
            <a:r>
              <a:rPr lang="he-IL" dirty="0"/>
              <a:t> שלהם הוא </a:t>
            </a:r>
            <a:r>
              <a:rPr lang="en-US" dirty="0"/>
              <a:t>/bin/bash</a:t>
            </a:r>
            <a:r>
              <a:rPr lang="he-IL" dirty="0"/>
              <a:t> [רמז: </a:t>
            </a:r>
            <a:r>
              <a:rPr lang="en-US" dirty="0"/>
              <a:t>grep</a:t>
            </a:r>
            <a:r>
              <a:rPr lang="he-IL" dirty="0"/>
              <a:t>]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he-IL" dirty="0"/>
              <a:t>הראה את כל הקבצים בתיקייה </a:t>
            </a:r>
            <a:r>
              <a:rPr lang="en-US" dirty="0"/>
              <a:t>/</a:t>
            </a:r>
            <a:r>
              <a:rPr lang="en-US" dirty="0" err="1"/>
              <a:t>etc</a:t>
            </a:r>
            <a:r>
              <a:rPr lang="he-IL" dirty="0"/>
              <a:t> המסתיימים ב </a:t>
            </a:r>
            <a:r>
              <a:rPr lang="en-US" dirty="0"/>
              <a:t>.conf</a:t>
            </a:r>
            <a:r>
              <a:rPr lang="he-IL" dirty="0"/>
              <a:t> [רמז: | ]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he-IL" dirty="0"/>
              <a:t>הראה את רשימת כל הקבוצות במערכת ההפעלה ממויינות לפי שם קבוצה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he-IL" dirty="0"/>
              <a:t>הראה את רשימת כל הקבצים בתיקייה </a:t>
            </a:r>
            <a:r>
              <a:rPr lang="en-US" dirty="0"/>
              <a:t>/bin</a:t>
            </a:r>
            <a:r>
              <a:rPr lang="he-IL" dirty="0"/>
              <a:t> ממויינות לפי גודל הקובץ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he-IL" dirty="0"/>
              <a:t>הראה כמה קבצים </a:t>
            </a:r>
            <a:r>
              <a:rPr lang="he-IL" b="1" dirty="0"/>
              <a:t>(מספר בלבד)</a:t>
            </a:r>
            <a:r>
              <a:rPr lang="he-IL" dirty="0"/>
              <a:t> נמצאים בתיקייה </a:t>
            </a:r>
            <a:r>
              <a:rPr lang="en-US" dirty="0"/>
              <a:t>/</a:t>
            </a:r>
            <a:r>
              <a:rPr lang="en-US" dirty="0" err="1"/>
              <a:t>etc</a:t>
            </a:r>
            <a:r>
              <a:rPr lang="he-IL" dirty="0"/>
              <a:t> (ללא תיקיות, קבצים בלבד)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he-IL" dirty="0"/>
              <a:t>הראה את כל הקבצים והתיקיות בתיקייה </a:t>
            </a:r>
            <a:r>
              <a:rPr lang="en-US" dirty="0"/>
              <a:t>/bin</a:t>
            </a:r>
            <a:r>
              <a:rPr lang="he-IL" dirty="0"/>
              <a:t> המתחילים ב </a:t>
            </a:r>
            <a:r>
              <a:rPr lang="en-US" dirty="0" err="1"/>
              <a:t>rm</a:t>
            </a:r>
            <a:endParaRPr lang="en-US" dirty="0"/>
          </a:p>
          <a:p>
            <a:pPr marL="514350" indent="-514350" algn="r" rtl="1">
              <a:buFont typeface="+mj-lt"/>
              <a:buAutoNum type="arabicPeriod"/>
            </a:pPr>
            <a:r>
              <a:rPr lang="he-IL" dirty="0"/>
              <a:t>הראה את כל הקבצים והתיקיות בתיקייה </a:t>
            </a:r>
            <a:r>
              <a:rPr lang="en-US" dirty="0"/>
              <a:t>/</a:t>
            </a:r>
            <a:r>
              <a:rPr lang="en-US" dirty="0" err="1"/>
              <a:t>etc</a:t>
            </a:r>
            <a:r>
              <a:rPr lang="he-IL" dirty="0"/>
              <a:t> שלהם יש אפשרות </a:t>
            </a:r>
            <a:r>
              <a:rPr lang="en-US" dirty="0"/>
              <a:t>r-x</a:t>
            </a:r>
            <a:r>
              <a:rPr lang="he-IL" dirty="0"/>
              <a:t> בשדה </a:t>
            </a:r>
            <a:r>
              <a:rPr lang="en-US" dirty="0"/>
              <a:t>group</a:t>
            </a:r>
            <a:endParaRPr lang="he-IL" dirty="0"/>
          </a:p>
          <a:p>
            <a:pPr marL="514350" indent="-514350" algn="r" rtl="1">
              <a:buFont typeface="+mj-lt"/>
              <a:buAutoNum type="arabicPeriod"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297452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AE70A-0ED7-4B85-8674-B3EF76C97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Exercise2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E30E3-2F56-4A74-874E-8FA7C5005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r" rtl="1"/>
            <a:r>
              <a:rPr lang="he-IL" dirty="0"/>
              <a:t>יש להגיש קובץ טקסט ובו לכל שאלה את הפקודה והפלט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he-IL" dirty="0"/>
              <a:t>הראה כמה מילים יש ב 5 השורות האחרונות של הקובץ </a:t>
            </a:r>
            <a:r>
              <a:rPr lang="en-US" dirty="0"/>
              <a:t>/etc/</a:t>
            </a:r>
            <a:r>
              <a:rPr lang="en-US" dirty="0" err="1"/>
              <a:t>apg.conf</a:t>
            </a:r>
            <a:endParaRPr lang="en-US" dirty="0"/>
          </a:p>
          <a:p>
            <a:pPr marL="514350" indent="-514350" algn="r" rtl="1">
              <a:buFont typeface="+mj-lt"/>
              <a:buAutoNum type="arabicPeriod"/>
            </a:pPr>
            <a:r>
              <a:rPr lang="he-IL" dirty="0"/>
              <a:t>הראה את שורות מספר 7-10 בקובץ </a:t>
            </a:r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/group</a:t>
            </a:r>
            <a:endParaRPr lang="he-IL" dirty="0"/>
          </a:p>
          <a:p>
            <a:pPr marL="514350" indent="-514350" algn="r" rtl="1">
              <a:buFont typeface="+mj-lt"/>
              <a:buAutoNum type="arabicPeriod"/>
            </a:pPr>
            <a:r>
              <a:rPr lang="he-IL" dirty="0"/>
              <a:t>מה מציגה הפקודה </a:t>
            </a:r>
            <a:r>
              <a:rPr lang="en-US" dirty="0" err="1"/>
              <a:t>wc</a:t>
            </a:r>
            <a:r>
              <a:rPr lang="en-US" dirty="0"/>
              <a:t> –l /</a:t>
            </a:r>
            <a:r>
              <a:rPr lang="en-US" dirty="0" err="1"/>
              <a:t>etc</a:t>
            </a:r>
            <a:r>
              <a:rPr lang="en-US" dirty="0"/>
              <a:t>/*.conf</a:t>
            </a:r>
            <a:r>
              <a:rPr lang="he-IL" dirty="0"/>
              <a:t>? 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he-IL" dirty="0"/>
              <a:t>הראה </a:t>
            </a:r>
            <a:r>
              <a:rPr lang="he-IL" b="1" dirty="0"/>
              <a:t>כמה</a:t>
            </a:r>
            <a:r>
              <a:rPr lang="he-IL" dirty="0"/>
              <a:t> קבצים בלבד יש בתיקייה </a:t>
            </a:r>
            <a:r>
              <a:rPr lang="en-US" dirty="0"/>
              <a:t>/</a:t>
            </a:r>
            <a:r>
              <a:rPr lang="en-US" dirty="0" err="1"/>
              <a:t>etc</a:t>
            </a:r>
            <a:endParaRPr lang="he-IL" dirty="0"/>
          </a:p>
          <a:p>
            <a:pPr marL="514350" indent="-514350" algn="r" rtl="1">
              <a:buFont typeface="+mj-lt"/>
              <a:buAutoNum type="arabicPeriod"/>
            </a:pPr>
            <a:r>
              <a:rPr lang="he-IL" dirty="0"/>
              <a:t>הראה </a:t>
            </a:r>
            <a:r>
              <a:rPr lang="he-IL" b="1" dirty="0"/>
              <a:t>כמה</a:t>
            </a:r>
            <a:r>
              <a:rPr lang="he-IL" dirty="0"/>
              <a:t> קבצים בלבד יש </a:t>
            </a:r>
            <a:r>
              <a:rPr lang="he-IL" dirty="0" err="1"/>
              <a:t>בתקייה</a:t>
            </a:r>
            <a:r>
              <a:rPr lang="he-IL" dirty="0"/>
              <a:t> </a:t>
            </a:r>
            <a:r>
              <a:rPr lang="en-US" dirty="0"/>
              <a:t>/</a:t>
            </a:r>
            <a:r>
              <a:rPr lang="en-US" dirty="0" err="1"/>
              <a:t>etc</a:t>
            </a:r>
            <a:r>
              <a:rPr lang="he-IL" dirty="0"/>
              <a:t> שמכילים את הסיומת </a:t>
            </a:r>
            <a:r>
              <a:rPr lang="en-US" dirty="0"/>
              <a:t>.conf</a:t>
            </a:r>
            <a:endParaRPr lang="he-IL" dirty="0"/>
          </a:p>
          <a:p>
            <a:pPr marL="514350" indent="-514350" algn="r" rtl="1">
              <a:buFont typeface="+mj-lt"/>
              <a:buAutoNum type="arabicPeriod"/>
            </a:pPr>
            <a:r>
              <a:rPr lang="he-IL" dirty="0"/>
              <a:t>הראה רשימה של כל הקבצים בתיקייה </a:t>
            </a:r>
            <a:r>
              <a:rPr lang="en-US" dirty="0"/>
              <a:t>/</a:t>
            </a:r>
            <a:r>
              <a:rPr lang="en-US" dirty="0" err="1"/>
              <a:t>etc</a:t>
            </a:r>
            <a:r>
              <a:rPr lang="he-IL" dirty="0"/>
              <a:t> המסתיימים ב </a:t>
            </a:r>
            <a:r>
              <a:rPr lang="en-US" dirty="0"/>
              <a:t>.conf</a:t>
            </a:r>
            <a:r>
              <a:rPr lang="he-IL" dirty="0"/>
              <a:t> </a:t>
            </a:r>
            <a:r>
              <a:rPr lang="he-IL" dirty="0" err="1"/>
              <a:t>ממויינים</a:t>
            </a:r>
            <a:r>
              <a:rPr lang="he-IL" dirty="0"/>
              <a:t> לפי כמות השורות שלהם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he-IL" dirty="0"/>
              <a:t>הראה רק את שלושת הקבצים הראשונים ברשימת הקבצים מתרגיל 6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he-IL" dirty="0"/>
              <a:t>הראה </a:t>
            </a:r>
            <a:r>
              <a:rPr lang="he-IL" b="1" dirty="0"/>
              <a:t>בכמה (מספר בלבד)</a:t>
            </a:r>
            <a:r>
              <a:rPr lang="he-IL" dirty="0"/>
              <a:t> קבוצות שייך המשתמש העיקרי שלך (ללא הקבוצה העיקרית)</a:t>
            </a:r>
          </a:p>
          <a:p>
            <a:pPr marL="514350" indent="-514350" algn="r" rtl="1">
              <a:buFont typeface="+mj-lt"/>
              <a:buAutoNum type="arabicPeriod"/>
            </a:pPr>
            <a:endParaRPr lang="he-IL" dirty="0"/>
          </a:p>
          <a:p>
            <a:pPr marL="514350" indent="-514350" algn="r" rtl="1">
              <a:buFont typeface="+mj-lt"/>
              <a:buAutoNum type="arabicPeriod"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145476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1032</TotalTime>
  <Words>672</Words>
  <Application>Microsoft Office PowerPoint</Application>
  <PresentationFormat>מסך רחב</PresentationFormat>
  <Paragraphs>79</Paragraphs>
  <Slides>15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Courier New</vt:lpstr>
      <vt:lpstr>Fixed</vt:lpstr>
      <vt:lpstr>Wingdings</vt:lpstr>
      <vt:lpstr>Office Theme</vt:lpstr>
      <vt:lpstr>Pipes &amp; Redirections</vt:lpstr>
      <vt:lpstr>Pipes תזכורת</vt:lpstr>
      <vt:lpstr>Pipes</vt:lpstr>
      <vt:lpstr>Pipes</vt:lpstr>
      <vt:lpstr>Pipes</vt:lpstr>
      <vt:lpstr>Regular Expressions</vt:lpstr>
      <vt:lpstr>Regular Expressions</vt:lpstr>
      <vt:lpstr>Regular Expressions</vt:lpstr>
      <vt:lpstr>Pipes</vt:lpstr>
      <vt:lpstr>Pipes</vt:lpstr>
      <vt:lpstr>Redirects הפניות</vt:lpstr>
      <vt:lpstr>Redirects</vt:lpstr>
      <vt:lpstr>Redirects</vt:lpstr>
      <vt:lpstr>Exercise</vt:lpstr>
      <vt:lpstr>Exercise2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Pipes</dc:title>
  <dc:creator>Yechezkel</dc:creator>
  <cp:lastModifiedBy>Guy Yechezkel</cp:lastModifiedBy>
  <cp:revision>71</cp:revision>
  <dcterms:created xsi:type="dcterms:W3CDTF">2017-10-29T18:10:07Z</dcterms:created>
  <dcterms:modified xsi:type="dcterms:W3CDTF">2025-05-28T08:42:08Z</dcterms:modified>
</cp:coreProperties>
</file>