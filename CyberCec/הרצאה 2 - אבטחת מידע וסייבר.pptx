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660" r:id="rId1"/>
  </p:sldMasterIdLst>
  <p:sldIdLst>
    <p:sldId id="272"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3" r:id="rId18"/>
    <p:sldId id="274" r:id="rId19"/>
    <p:sldId id="275" r:id="rId20"/>
    <p:sldId id="276" r:id="rId21"/>
    <p:sldId id="277" r:id="rId22"/>
    <p:sldId id="278" r:id="rId23"/>
    <p:sldId id="279" r:id="rId24"/>
    <p:sldId id="280" r:id="rId25"/>
    <p:sldId id="281" r:id="rId26"/>
    <p:sldId id="282" r:id="rId2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79987" autoAdjust="0"/>
    <p:restoredTop sz="94660"/>
  </p:normalViewPr>
  <p:slideViewPr>
    <p:cSldViewPr snapToGrid="0">
      <p:cViewPr varScale="1">
        <p:scale>
          <a:sx n="96" d="100"/>
          <a:sy n="96" d="100"/>
        </p:scale>
        <p:origin x="96" y="77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שקופית כותרת">
    <p:bg>
      <p:bgRef idx="1002">
        <a:schemeClr val="bg2"/>
      </p:bgRef>
    </p:bg>
    <p:spTree>
      <p:nvGrpSpPr>
        <p:cNvPr id="1" name=""/>
        <p:cNvGrpSpPr/>
        <p:nvPr/>
      </p:nvGrpSpPr>
      <p:grpSpPr>
        <a:xfrm>
          <a:off x="0" y="0"/>
          <a:ext cx="0" cy="0"/>
          <a:chOff x="0" y="0"/>
          <a:chExt cx="0" cy="0"/>
        </a:xfrm>
      </p:grpSpPr>
      <p:sp>
        <p:nvSpPr>
          <p:cNvPr id="16" name="Rectangle 15"/>
          <p:cNvSpPr/>
          <p:nvPr/>
        </p:nvSpPr>
        <p:spPr>
          <a:xfrm>
            <a:off x="0" y="0"/>
            <a:ext cx="12192000" cy="6858000"/>
          </a:xfrm>
          <a:prstGeom prst="rect">
            <a:avLst/>
          </a:prstGeom>
          <a:blipFill dpi="0" rotWithShape="1">
            <a:blip r:embed="rId2">
              <a:alphaModFix amt="45000"/>
              <a:duotone>
                <a:schemeClr val="accent1">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307870" y="1267730"/>
            <a:ext cx="9576262"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11" name="Rectangle 10"/>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15" name="Rectangle 14"/>
          <p:cNvSpPr/>
          <p:nvPr/>
        </p:nvSpPr>
        <p:spPr>
          <a:xfrm>
            <a:off x="5135880" y="1267730"/>
            <a:ext cx="1920240" cy="73152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4" name="Group 3"/>
          <p:cNvGrpSpPr/>
          <p:nvPr/>
        </p:nvGrpSpPr>
        <p:grpSpPr>
          <a:xfrm>
            <a:off x="5250180" y="1267730"/>
            <a:ext cx="1691640" cy="645295"/>
            <a:chOff x="5318306" y="1386268"/>
            <a:chExt cx="1567331" cy="645295"/>
          </a:xfrm>
        </p:grpSpPr>
        <p:cxnSp>
          <p:nvCxnSpPr>
            <p:cNvPr id="17" name="Straight Connector 16"/>
            <p:cNvCxnSpPr/>
            <p:nvPr/>
          </p:nvCxnSpPr>
          <p:spPr>
            <a:xfrm>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561708" y="2091263"/>
            <a:ext cx="9068586" cy="2590800"/>
          </a:xfrm>
        </p:spPr>
        <p:txBody>
          <a:bodyPr tIns="45720" bIns="45720" anchor="ctr">
            <a:noAutofit/>
          </a:bodyPr>
          <a:lstStyle>
            <a:lvl1pPr algn="ctr">
              <a:lnSpc>
                <a:spcPct val="83000"/>
              </a:lnSpc>
              <a:defRPr lang="en-US" sz="7200" b="0" kern="1200" cap="all" spc="-100" baseline="0" dirty="0">
                <a:solidFill>
                  <a:schemeClr val="tx1">
                    <a:lumMod val="85000"/>
                    <a:lumOff val="15000"/>
                  </a:schemeClr>
                </a:solidFill>
                <a:effectLst/>
                <a:latin typeface="+mj-lt"/>
                <a:ea typeface="+mn-ea"/>
                <a:cs typeface="+mn-cs"/>
              </a:defRPr>
            </a:lvl1pPr>
          </a:lstStyle>
          <a:p>
            <a:r>
              <a:rPr lang="he-IL"/>
              <a:t>לחץ כדי לערוך סגנון כותרת של תבנית בסיס</a:t>
            </a:r>
            <a:endParaRPr lang="en-US" dirty="0"/>
          </a:p>
        </p:txBody>
      </p:sp>
      <p:sp>
        <p:nvSpPr>
          <p:cNvPr id="3" name="Subtitle 2"/>
          <p:cNvSpPr>
            <a:spLocks noGrp="1"/>
          </p:cNvSpPr>
          <p:nvPr>
            <p:ph type="subTitle" idx="1"/>
          </p:nvPr>
        </p:nvSpPr>
        <p:spPr>
          <a:xfrm>
            <a:off x="1562100" y="4682062"/>
            <a:ext cx="9070848" cy="457201"/>
          </a:xfrm>
        </p:spPr>
        <p:txBody>
          <a:bodyPr>
            <a:normAutofit/>
          </a:bodyPr>
          <a:lstStyle>
            <a:lvl1pPr marL="0" indent="0" algn="ctr">
              <a:spcBef>
                <a:spcPts val="0"/>
              </a:spcBef>
              <a:buNone/>
              <a:defRPr sz="1600" spc="80" baseline="0">
                <a:solidFill>
                  <a:schemeClr val="tx1"/>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e-IL"/>
              <a:t>לחץ כדי לערוך סגנון כותרת משנה של תבנית בסיס</a:t>
            </a:r>
            <a:endParaRPr lang="en-US" dirty="0"/>
          </a:p>
        </p:txBody>
      </p:sp>
      <p:sp>
        <p:nvSpPr>
          <p:cNvPr id="20" name="Date Placeholder 19"/>
          <p:cNvSpPr>
            <a:spLocks noGrp="1"/>
          </p:cNvSpPr>
          <p:nvPr>
            <p:ph type="dt" sz="half" idx="10"/>
          </p:nvPr>
        </p:nvSpPr>
        <p:spPr>
          <a:xfrm>
            <a:off x="5318760" y="1341255"/>
            <a:ext cx="1554480" cy="527213"/>
          </a:xfrm>
        </p:spPr>
        <p:txBody>
          <a:bodyPr/>
          <a:lstStyle>
            <a:lvl1pPr algn="ctr">
              <a:defRPr sz="1300" spc="0" baseline="0">
                <a:solidFill>
                  <a:schemeClr val="tx1"/>
                </a:solidFill>
                <a:latin typeface="+mn-lt"/>
              </a:defRPr>
            </a:lvl1pPr>
          </a:lstStyle>
          <a:p>
            <a:fld id="{E3BBDE69-909D-431E-8610-EB0068C6E9FD}" type="datetimeFigureOut">
              <a:rPr lang="he-IL" smtClean="0"/>
              <a:t>ט"ז/תמוז/תשפ"ד</a:t>
            </a:fld>
            <a:endParaRPr lang="he-IL"/>
          </a:p>
        </p:txBody>
      </p:sp>
      <p:sp>
        <p:nvSpPr>
          <p:cNvPr id="21" name="Footer Placeholder 20"/>
          <p:cNvSpPr>
            <a:spLocks noGrp="1"/>
          </p:cNvSpPr>
          <p:nvPr>
            <p:ph type="ftr" sz="quarter" idx="11"/>
          </p:nvPr>
        </p:nvSpPr>
        <p:spPr>
          <a:xfrm>
            <a:off x="1453896" y="5211060"/>
            <a:ext cx="5905500" cy="228600"/>
          </a:xfrm>
        </p:spPr>
        <p:txBody>
          <a:bodyPr/>
          <a:lstStyle>
            <a:lvl1pPr algn="l">
              <a:defRPr>
                <a:solidFill>
                  <a:schemeClr val="tx1">
                    <a:lumMod val="75000"/>
                    <a:lumOff val="25000"/>
                  </a:schemeClr>
                </a:solidFill>
              </a:defRPr>
            </a:lvl1pPr>
          </a:lstStyle>
          <a:p>
            <a:endParaRPr lang="he-IL"/>
          </a:p>
        </p:txBody>
      </p:sp>
      <p:sp>
        <p:nvSpPr>
          <p:cNvPr id="22" name="Slide Number Placeholder 21"/>
          <p:cNvSpPr>
            <a:spLocks noGrp="1"/>
          </p:cNvSpPr>
          <p:nvPr>
            <p:ph type="sldNum" sz="quarter" idx="12"/>
          </p:nvPr>
        </p:nvSpPr>
        <p:spPr>
          <a:xfrm>
            <a:off x="8606919" y="5212080"/>
            <a:ext cx="2111881" cy="228600"/>
          </a:xfrm>
        </p:spPr>
        <p:txBody>
          <a:bodyPr/>
          <a:lstStyle>
            <a:lvl1pPr>
              <a:defRPr>
                <a:solidFill>
                  <a:schemeClr val="tx1">
                    <a:lumMod val="75000"/>
                    <a:lumOff val="25000"/>
                  </a:schemeClr>
                </a:solidFill>
              </a:defRPr>
            </a:lvl1pPr>
          </a:lstStyle>
          <a:p>
            <a:fld id="{8AD18CE8-36D6-40D7-B14C-EED1C05D864F}" type="slidenum">
              <a:rPr lang="he-IL" smtClean="0"/>
              <a:t>‹#›</a:t>
            </a:fld>
            <a:endParaRPr lang="he-IL"/>
          </a:p>
        </p:txBody>
      </p:sp>
    </p:spTree>
    <p:extLst>
      <p:ext uri="{BB962C8B-B14F-4D97-AF65-F5344CB8AC3E}">
        <p14:creationId xmlns:p14="http://schemas.microsoft.com/office/powerpoint/2010/main" val="3895214975"/>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כותרת ותוכן">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a:t>לחץ כדי לערוך סגנון כותרת של תבנית בסיס</a:t>
            </a:r>
            <a:endParaRPr lang="en-US" dirty="0"/>
          </a:p>
        </p:txBody>
      </p:sp>
      <p:sp>
        <p:nvSpPr>
          <p:cNvPr id="3" name="Content Placeholder 2"/>
          <p:cNvSpPr>
            <a:spLocks noGrp="1"/>
          </p:cNvSpPr>
          <p:nvPr>
            <p:ph idx="1"/>
          </p:nvPr>
        </p:nvSpPr>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endParaRPr lang="en-US" dirty="0"/>
          </a:p>
        </p:txBody>
      </p:sp>
      <p:sp>
        <p:nvSpPr>
          <p:cNvPr id="7" name="Date Placeholder 6"/>
          <p:cNvSpPr>
            <a:spLocks noGrp="1"/>
          </p:cNvSpPr>
          <p:nvPr>
            <p:ph type="dt" sz="half" idx="10"/>
          </p:nvPr>
        </p:nvSpPr>
        <p:spPr/>
        <p:txBody>
          <a:bodyPr/>
          <a:lstStyle/>
          <a:p>
            <a:fld id="{E3BBDE69-909D-431E-8610-EB0068C6E9FD}" type="datetimeFigureOut">
              <a:rPr lang="he-IL" smtClean="0"/>
              <a:t>ט"ז/תמוז/תשפ"ד</a:t>
            </a:fld>
            <a:endParaRPr lang="he-IL"/>
          </a:p>
        </p:txBody>
      </p:sp>
      <p:sp>
        <p:nvSpPr>
          <p:cNvPr id="8" name="Footer Placeholder 7"/>
          <p:cNvSpPr>
            <a:spLocks noGrp="1"/>
          </p:cNvSpPr>
          <p:nvPr>
            <p:ph type="ftr" sz="quarter" idx="11"/>
          </p:nvPr>
        </p:nvSpPr>
        <p:spPr/>
        <p:txBody>
          <a:bodyPr/>
          <a:lstStyle/>
          <a:p>
            <a:endParaRPr lang="he-IL"/>
          </a:p>
        </p:txBody>
      </p:sp>
      <p:sp>
        <p:nvSpPr>
          <p:cNvPr id="9" name="Slide Number Placeholder 8"/>
          <p:cNvSpPr>
            <a:spLocks noGrp="1"/>
          </p:cNvSpPr>
          <p:nvPr>
            <p:ph type="sldNum" sz="quarter" idx="12"/>
          </p:nvPr>
        </p:nvSpPr>
        <p:spPr/>
        <p:txBody>
          <a:bodyPr/>
          <a:lstStyle/>
          <a:p>
            <a:fld id="{8AD18CE8-36D6-40D7-B14C-EED1C05D864F}" type="slidenum">
              <a:rPr lang="he-IL" smtClean="0"/>
              <a:t>‹#›</a:t>
            </a:fld>
            <a:endParaRPr lang="he-IL"/>
          </a:p>
        </p:txBody>
      </p:sp>
    </p:spTree>
    <p:extLst>
      <p:ext uri="{BB962C8B-B14F-4D97-AF65-F5344CB8AC3E}">
        <p14:creationId xmlns:p14="http://schemas.microsoft.com/office/powerpoint/2010/main" val="1778856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כותרת מקטע עליונה">
    <p:bg>
      <p:bgRef idx="1002">
        <a:schemeClr val="bg2"/>
      </p:bgRef>
    </p:bg>
    <p:spTree>
      <p:nvGrpSpPr>
        <p:cNvPr id="1" name=""/>
        <p:cNvGrpSpPr/>
        <p:nvPr/>
      </p:nvGrpSpPr>
      <p:grpSpPr>
        <a:xfrm>
          <a:off x="0" y="0"/>
          <a:ext cx="0" cy="0"/>
          <a:chOff x="0" y="0"/>
          <a:chExt cx="0" cy="0"/>
        </a:xfrm>
      </p:grpSpPr>
      <p:sp>
        <p:nvSpPr>
          <p:cNvPr id="22" name="Rectangle 21"/>
          <p:cNvSpPr/>
          <p:nvPr/>
        </p:nvSpPr>
        <p:spPr>
          <a:xfrm>
            <a:off x="0" y="0"/>
            <a:ext cx="12192000" cy="6858000"/>
          </a:xfrm>
          <a:prstGeom prst="rect">
            <a:avLst/>
          </a:prstGeom>
          <a:blipFill dpi="0" rotWithShape="1">
            <a:blip r:embed="rId2">
              <a:alphaModFix amt="45000"/>
              <a:duotone>
                <a:schemeClr val="accent2">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3" name="Rectangle 22"/>
          <p:cNvSpPr/>
          <p:nvPr/>
        </p:nvSpPr>
        <p:spPr>
          <a:xfrm>
            <a:off x="1307870" y="1267730"/>
            <a:ext cx="9576262"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24" name="Rectangle 23"/>
          <p:cNvSpPr/>
          <p:nvPr/>
        </p:nvSpPr>
        <p:spPr>
          <a:xfrm>
            <a:off x="1447800"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30" name="Rectangle 29"/>
          <p:cNvSpPr/>
          <p:nvPr/>
        </p:nvSpPr>
        <p:spPr>
          <a:xfrm>
            <a:off x="5135880" y="1267730"/>
            <a:ext cx="1920240" cy="73152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31" name="Group 30"/>
          <p:cNvGrpSpPr/>
          <p:nvPr/>
        </p:nvGrpSpPr>
        <p:grpSpPr>
          <a:xfrm>
            <a:off x="5250180" y="1267730"/>
            <a:ext cx="1691640" cy="645295"/>
            <a:chOff x="5318306" y="1386268"/>
            <a:chExt cx="1567331" cy="645295"/>
          </a:xfrm>
        </p:grpSpPr>
        <p:cxnSp>
          <p:nvCxnSpPr>
            <p:cNvPr id="32" name="Straight Connector 31"/>
            <p:cNvCxnSpPr/>
            <p:nvPr/>
          </p:nvCxnSpPr>
          <p:spPr>
            <a:xfrm>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a:xfrm>
            <a:off x="1563623" y="2094309"/>
            <a:ext cx="9070848" cy="2587752"/>
          </a:xfrm>
        </p:spPr>
        <p:txBody>
          <a:bodyPr anchor="ctr">
            <a:noAutofit/>
          </a:bodyPr>
          <a:lstStyle>
            <a:lvl1pPr algn="ctr">
              <a:lnSpc>
                <a:spcPct val="83000"/>
              </a:lnSpc>
              <a:defRPr lang="en-US" sz="7200" kern="1200" cap="all" spc="-100" baseline="0" dirty="0">
                <a:solidFill>
                  <a:schemeClr val="tx1">
                    <a:lumMod val="85000"/>
                    <a:lumOff val="15000"/>
                  </a:schemeClr>
                </a:solidFill>
                <a:effectLst/>
                <a:latin typeface="+mj-lt"/>
                <a:ea typeface="+mn-ea"/>
                <a:cs typeface="+mn-cs"/>
              </a:defRPr>
            </a:lvl1pPr>
          </a:lstStyle>
          <a:p>
            <a:r>
              <a:rPr lang="he-IL"/>
              <a:t>לחץ כדי לערוך סגנון כותרת של תבנית בסיס</a:t>
            </a:r>
            <a:endParaRPr lang="en-US" dirty="0"/>
          </a:p>
        </p:txBody>
      </p:sp>
      <p:sp>
        <p:nvSpPr>
          <p:cNvPr id="3" name="Text Placeholder 2"/>
          <p:cNvSpPr>
            <a:spLocks noGrp="1"/>
          </p:cNvSpPr>
          <p:nvPr>
            <p:ph type="body" idx="1"/>
          </p:nvPr>
        </p:nvSpPr>
        <p:spPr>
          <a:xfrm>
            <a:off x="1563624" y="4682062"/>
            <a:ext cx="9070848" cy="457200"/>
          </a:xfrm>
        </p:spPr>
        <p:txBody>
          <a:bodyPr anchor="t">
            <a:normAutofit/>
          </a:bodyPr>
          <a:lstStyle>
            <a:lvl1pPr marL="0" indent="0" algn="ctr">
              <a:buNone/>
              <a:defRPr sz="1600">
                <a:solidFill>
                  <a:schemeClr val="tx1"/>
                </a:solidFill>
                <a:effectLst/>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he-IL"/>
              <a:t>ערוך סגנונות טקסט של תבנית בסיס</a:t>
            </a:r>
          </a:p>
        </p:txBody>
      </p:sp>
      <p:sp>
        <p:nvSpPr>
          <p:cNvPr id="4" name="Date Placeholder 3"/>
          <p:cNvSpPr>
            <a:spLocks noGrp="1"/>
          </p:cNvSpPr>
          <p:nvPr>
            <p:ph type="dt" sz="half" idx="10"/>
          </p:nvPr>
        </p:nvSpPr>
        <p:spPr>
          <a:xfrm>
            <a:off x="5321808" y="1344502"/>
            <a:ext cx="1554480" cy="530352"/>
          </a:xfrm>
        </p:spPr>
        <p:txBody>
          <a:bodyPr/>
          <a:lstStyle>
            <a:lvl1pPr algn="ctr">
              <a:defRPr lang="en-US" sz="1300" kern="1200" spc="0" baseline="0">
                <a:solidFill>
                  <a:schemeClr val="tx1"/>
                </a:solidFill>
                <a:latin typeface="+mn-lt"/>
                <a:ea typeface="+mn-ea"/>
                <a:cs typeface="+mn-cs"/>
              </a:defRPr>
            </a:lvl1pPr>
          </a:lstStyle>
          <a:p>
            <a:fld id="{E3BBDE69-909D-431E-8610-EB0068C6E9FD}" type="datetimeFigureOut">
              <a:rPr lang="he-IL" smtClean="0"/>
              <a:t>ט"ז/תמוז/תשפ"ד</a:t>
            </a:fld>
            <a:endParaRPr lang="he-IL"/>
          </a:p>
        </p:txBody>
      </p:sp>
      <p:sp>
        <p:nvSpPr>
          <p:cNvPr id="5" name="Footer Placeholder 4"/>
          <p:cNvSpPr>
            <a:spLocks noGrp="1"/>
          </p:cNvSpPr>
          <p:nvPr>
            <p:ph type="ftr" sz="quarter" idx="11"/>
          </p:nvPr>
        </p:nvSpPr>
        <p:spPr>
          <a:xfrm>
            <a:off x="1453553" y="5211060"/>
            <a:ext cx="5907024" cy="228600"/>
          </a:xfrm>
        </p:spPr>
        <p:txBody>
          <a:bodyPr/>
          <a:lstStyle>
            <a:lvl1pPr algn="l">
              <a:defRPr/>
            </a:lvl1pPr>
          </a:lstStyle>
          <a:p>
            <a:endParaRPr lang="he-IL"/>
          </a:p>
        </p:txBody>
      </p:sp>
      <p:sp>
        <p:nvSpPr>
          <p:cNvPr id="6" name="Slide Number Placeholder 5"/>
          <p:cNvSpPr>
            <a:spLocks noGrp="1"/>
          </p:cNvSpPr>
          <p:nvPr>
            <p:ph type="sldNum" sz="quarter" idx="12"/>
          </p:nvPr>
        </p:nvSpPr>
        <p:spPr>
          <a:xfrm>
            <a:off x="8604504" y="5211060"/>
            <a:ext cx="2112264" cy="228600"/>
          </a:xfrm>
        </p:spPr>
        <p:txBody>
          <a:bodyPr/>
          <a:lstStyle/>
          <a:p>
            <a:fld id="{8AD18CE8-36D6-40D7-B14C-EED1C05D864F}" type="slidenum">
              <a:rPr lang="he-IL" smtClean="0"/>
              <a:t>‹#›</a:t>
            </a:fld>
            <a:endParaRPr lang="he-IL"/>
          </a:p>
        </p:txBody>
      </p:sp>
    </p:spTree>
    <p:extLst>
      <p:ext uri="{BB962C8B-B14F-4D97-AF65-F5344CB8AC3E}">
        <p14:creationId xmlns:p14="http://schemas.microsoft.com/office/powerpoint/2010/main" val="3203920676"/>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שני תכנים">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he-IL"/>
              <a:t>לחץ כדי לערוך סגנון כותרת של תבנית בסיס</a:t>
            </a:r>
            <a:endParaRPr lang="en-US" dirty="0"/>
          </a:p>
        </p:txBody>
      </p:sp>
      <p:sp>
        <p:nvSpPr>
          <p:cNvPr id="3" name="Content Placeholder 2"/>
          <p:cNvSpPr>
            <a:spLocks noGrp="1"/>
          </p:cNvSpPr>
          <p:nvPr>
            <p:ph sz="half" idx="1"/>
          </p:nvPr>
        </p:nvSpPr>
        <p:spPr>
          <a:xfrm>
            <a:off x="106680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endParaRPr lang="en-US" dirty="0"/>
          </a:p>
        </p:txBody>
      </p:sp>
      <p:sp>
        <p:nvSpPr>
          <p:cNvPr id="4" name="Content Placeholder 3"/>
          <p:cNvSpPr>
            <a:spLocks noGrp="1"/>
          </p:cNvSpPr>
          <p:nvPr>
            <p:ph sz="half" idx="2"/>
          </p:nvPr>
        </p:nvSpPr>
        <p:spPr>
          <a:xfrm>
            <a:off x="637032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endParaRPr lang="en-US" dirty="0"/>
          </a:p>
        </p:txBody>
      </p:sp>
      <p:sp>
        <p:nvSpPr>
          <p:cNvPr id="5" name="Date Placeholder 4"/>
          <p:cNvSpPr>
            <a:spLocks noGrp="1"/>
          </p:cNvSpPr>
          <p:nvPr>
            <p:ph type="dt" sz="half" idx="10"/>
          </p:nvPr>
        </p:nvSpPr>
        <p:spPr/>
        <p:txBody>
          <a:bodyPr/>
          <a:lstStyle/>
          <a:p>
            <a:fld id="{E3BBDE69-909D-431E-8610-EB0068C6E9FD}" type="datetimeFigureOut">
              <a:rPr lang="he-IL" smtClean="0"/>
              <a:t>ט"ז/תמוז/תשפ"ד</a:t>
            </a:fld>
            <a:endParaRPr lang="he-IL"/>
          </a:p>
        </p:txBody>
      </p:sp>
      <p:sp>
        <p:nvSpPr>
          <p:cNvPr id="6" name="Footer Placeholder 5"/>
          <p:cNvSpPr>
            <a:spLocks noGrp="1"/>
          </p:cNvSpPr>
          <p:nvPr>
            <p:ph type="ftr" sz="quarter" idx="11"/>
          </p:nvPr>
        </p:nvSpPr>
        <p:spPr/>
        <p:txBody>
          <a:bodyPr/>
          <a:lstStyle/>
          <a:p>
            <a:endParaRPr lang="he-IL"/>
          </a:p>
        </p:txBody>
      </p:sp>
      <p:sp>
        <p:nvSpPr>
          <p:cNvPr id="7" name="Slide Number Placeholder 6"/>
          <p:cNvSpPr>
            <a:spLocks noGrp="1"/>
          </p:cNvSpPr>
          <p:nvPr>
            <p:ph type="sldNum" sz="quarter" idx="12"/>
          </p:nvPr>
        </p:nvSpPr>
        <p:spPr/>
        <p:txBody>
          <a:bodyPr/>
          <a:lstStyle/>
          <a:p>
            <a:fld id="{8AD18CE8-36D6-40D7-B14C-EED1C05D864F}" type="slidenum">
              <a:rPr lang="he-IL" smtClean="0"/>
              <a:t>‹#›</a:t>
            </a:fld>
            <a:endParaRPr lang="he-IL"/>
          </a:p>
        </p:txBody>
      </p:sp>
    </p:spTree>
    <p:extLst>
      <p:ext uri="{BB962C8B-B14F-4D97-AF65-F5344CB8AC3E}">
        <p14:creationId xmlns:p14="http://schemas.microsoft.com/office/powerpoint/2010/main" val="34009404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השוואה">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a:t>לחץ כדי לערוך סגנון כותרת של תבנית בסיס</a:t>
            </a:r>
            <a:endParaRPr lang="en-US" dirty="0"/>
          </a:p>
        </p:txBody>
      </p:sp>
      <p:sp>
        <p:nvSpPr>
          <p:cNvPr id="3" name="Text Placeholder 2"/>
          <p:cNvSpPr>
            <a:spLocks noGrp="1"/>
          </p:cNvSpPr>
          <p:nvPr>
            <p:ph type="body" idx="1"/>
          </p:nvPr>
        </p:nvSpPr>
        <p:spPr>
          <a:xfrm>
            <a:off x="1069848" y="2074334"/>
            <a:ext cx="4754880" cy="640080"/>
          </a:xfrm>
        </p:spPr>
        <p:txBody>
          <a:bodyPr anchor="ctr">
            <a:normAutofit/>
          </a:bodyPr>
          <a:lstStyle>
            <a:lvl1pPr marL="0" indent="0" algn="ctr">
              <a:spcBef>
                <a:spcPts val="0"/>
              </a:spcBef>
              <a:buNone/>
              <a:defRPr sz="1900" b="0">
                <a:solidFill>
                  <a:schemeClr val="tx2"/>
                </a:solidFill>
                <a:latin typeface="+mn-lt"/>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ערוך סגנונות טקסט של תבנית בסיס</a:t>
            </a:r>
          </a:p>
        </p:txBody>
      </p:sp>
      <p:sp>
        <p:nvSpPr>
          <p:cNvPr id="4" name="Content Placeholder 3"/>
          <p:cNvSpPr>
            <a:spLocks noGrp="1"/>
          </p:cNvSpPr>
          <p:nvPr>
            <p:ph sz="half" idx="2"/>
          </p:nvPr>
        </p:nvSpPr>
        <p:spPr>
          <a:xfrm>
            <a:off x="1069848" y="2755898"/>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endParaRPr lang="en-US" dirty="0"/>
          </a:p>
        </p:txBody>
      </p:sp>
      <p:sp>
        <p:nvSpPr>
          <p:cNvPr id="5" name="Text Placeholder 4"/>
          <p:cNvSpPr>
            <a:spLocks noGrp="1"/>
          </p:cNvSpPr>
          <p:nvPr>
            <p:ph type="body" sz="quarter" idx="3"/>
          </p:nvPr>
        </p:nvSpPr>
        <p:spPr>
          <a:xfrm>
            <a:off x="6373368" y="2074334"/>
            <a:ext cx="4754880" cy="640080"/>
          </a:xfrm>
        </p:spPr>
        <p:txBody>
          <a:bodyPr anchor="ctr">
            <a:normAutofit/>
          </a:bodyPr>
          <a:lstStyle>
            <a:lvl1pPr marL="0" indent="0" algn="ctr">
              <a:spcBef>
                <a:spcPts val="0"/>
              </a:spcBef>
              <a:buNone/>
              <a:defRPr sz="1900" b="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ערוך סגנונות טקסט של תבנית בסיס</a:t>
            </a:r>
          </a:p>
        </p:txBody>
      </p:sp>
      <p:sp>
        <p:nvSpPr>
          <p:cNvPr id="6" name="Content Placeholder 5"/>
          <p:cNvSpPr>
            <a:spLocks noGrp="1"/>
          </p:cNvSpPr>
          <p:nvPr>
            <p:ph sz="quarter" idx="4"/>
          </p:nvPr>
        </p:nvSpPr>
        <p:spPr>
          <a:xfrm>
            <a:off x="6373368" y="2756581"/>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endParaRPr lang="en-US" dirty="0"/>
          </a:p>
        </p:txBody>
      </p:sp>
      <p:sp>
        <p:nvSpPr>
          <p:cNvPr id="7" name="Date Placeholder 6"/>
          <p:cNvSpPr>
            <a:spLocks noGrp="1"/>
          </p:cNvSpPr>
          <p:nvPr>
            <p:ph type="dt" sz="half" idx="10"/>
          </p:nvPr>
        </p:nvSpPr>
        <p:spPr/>
        <p:txBody>
          <a:bodyPr/>
          <a:lstStyle/>
          <a:p>
            <a:fld id="{E3BBDE69-909D-431E-8610-EB0068C6E9FD}" type="datetimeFigureOut">
              <a:rPr lang="he-IL" smtClean="0"/>
              <a:t>ט"ז/תמוז/תשפ"ד</a:t>
            </a:fld>
            <a:endParaRPr lang="he-IL"/>
          </a:p>
        </p:txBody>
      </p:sp>
      <p:sp>
        <p:nvSpPr>
          <p:cNvPr id="8" name="Footer Placeholder 7"/>
          <p:cNvSpPr>
            <a:spLocks noGrp="1"/>
          </p:cNvSpPr>
          <p:nvPr>
            <p:ph type="ftr" sz="quarter" idx="11"/>
          </p:nvPr>
        </p:nvSpPr>
        <p:spPr/>
        <p:txBody>
          <a:bodyPr/>
          <a:lstStyle/>
          <a:p>
            <a:endParaRPr lang="he-IL"/>
          </a:p>
        </p:txBody>
      </p:sp>
      <p:sp>
        <p:nvSpPr>
          <p:cNvPr id="9" name="Slide Number Placeholder 8"/>
          <p:cNvSpPr>
            <a:spLocks noGrp="1"/>
          </p:cNvSpPr>
          <p:nvPr>
            <p:ph type="sldNum" sz="quarter" idx="12"/>
          </p:nvPr>
        </p:nvSpPr>
        <p:spPr/>
        <p:txBody>
          <a:bodyPr/>
          <a:lstStyle/>
          <a:p>
            <a:fld id="{8AD18CE8-36D6-40D7-B14C-EED1C05D864F}" type="slidenum">
              <a:rPr lang="he-IL" smtClean="0"/>
              <a:t>‹#›</a:t>
            </a:fld>
            <a:endParaRPr lang="he-IL"/>
          </a:p>
        </p:txBody>
      </p:sp>
    </p:spTree>
    <p:extLst>
      <p:ext uri="{BB962C8B-B14F-4D97-AF65-F5344CB8AC3E}">
        <p14:creationId xmlns:p14="http://schemas.microsoft.com/office/powerpoint/2010/main" val="3923614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כותרת בלבד">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a:t>לחץ כדי לערוך סגנון כותרת של תבנית בסיס</a:t>
            </a:r>
            <a:endParaRPr lang="en-US" dirty="0"/>
          </a:p>
        </p:txBody>
      </p:sp>
      <p:sp>
        <p:nvSpPr>
          <p:cNvPr id="3" name="Date Placeholder 2"/>
          <p:cNvSpPr>
            <a:spLocks noGrp="1"/>
          </p:cNvSpPr>
          <p:nvPr>
            <p:ph type="dt" sz="half" idx="10"/>
          </p:nvPr>
        </p:nvSpPr>
        <p:spPr/>
        <p:txBody>
          <a:bodyPr/>
          <a:lstStyle/>
          <a:p>
            <a:fld id="{E3BBDE69-909D-431E-8610-EB0068C6E9FD}" type="datetimeFigureOut">
              <a:rPr lang="he-IL" smtClean="0"/>
              <a:t>ט"ז/תמוז/תשפ"ד</a:t>
            </a:fld>
            <a:endParaRPr lang="he-IL"/>
          </a:p>
        </p:txBody>
      </p:sp>
      <p:sp>
        <p:nvSpPr>
          <p:cNvPr id="4" name="Footer Placeholder 3"/>
          <p:cNvSpPr>
            <a:spLocks noGrp="1"/>
          </p:cNvSpPr>
          <p:nvPr>
            <p:ph type="ftr" sz="quarter" idx="11"/>
          </p:nvPr>
        </p:nvSpPr>
        <p:spPr/>
        <p:txBody>
          <a:bodyPr/>
          <a:lstStyle/>
          <a:p>
            <a:endParaRPr lang="he-IL"/>
          </a:p>
        </p:txBody>
      </p:sp>
      <p:sp>
        <p:nvSpPr>
          <p:cNvPr id="5" name="Slide Number Placeholder 4"/>
          <p:cNvSpPr>
            <a:spLocks noGrp="1"/>
          </p:cNvSpPr>
          <p:nvPr>
            <p:ph type="sldNum" sz="quarter" idx="12"/>
          </p:nvPr>
        </p:nvSpPr>
        <p:spPr/>
        <p:txBody>
          <a:bodyPr/>
          <a:lstStyle/>
          <a:p>
            <a:fld id="{8AD18CE8-36D6-40D7-B14C-EED1C05D864F}" type="slidenum">
              <a:rPr lang="he-IL" smtClean="0"/>
              <a:t>‹#›</a:t>
            </a:fld>
            <a:endParaRPr lang="he-IL"/>
          </a:p>
        </p:txBody>
      </p:sp>
    </p:spTree>
    <p:extLst>
      <p:ext uri="{BB962C8B-B14F-4D97-AF65-F5344CB8AC3E}">
        <p14:creationId xmlns:p14="http://schemas.microsoft.com/office/powerpoint/2010/main" val="18401997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ריק">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3BBDE69-909D-431E-8610-EB0068C6E9FD}" type="datetimeFigureOut">
              <a:rPr lang="he-IL" smtClean="0"/>
              <a:t>ט"ז/תמוז/תשפ"ד</a:t>
            </a:fld>
            <a:endParaRPr lang="he-IL"/>
          </a:p>
        </p:txBody>
      </p:sp>
      <p:sp>
        <p:nvSpPr>
          <p:cNvPr id="3" name="Footer Placeholder 2"/>
          <p:cNvSpPr>
            <a:spLocks noGrp="1"/>
          </p:cNvSpPr>
          <p:nvPr>
            <p:ph type="ftr" sz="quarter" idx="11"/>
          </p:nvPr>
        </p:nvSpPr>
        <p:spPr/>
        <p:txBody>
          <a:bodyPr/>
          <a:lstStyle/>
          <a:p>
            <a:endParaRPr lang="he-IL"/>
          </a:p>
        </p:txBody>
      </p:sp>
      <p:sp>
        <p:nvSpPr>
          <p:cNvPr id="4" name="Slide Number Placeholder 3"/>
          <p:cNvSpPr>
            <a:spLocks noGrp="1"/>
          </p:cNvSpPr>
          <p:nvPr>
            <p:ph type="sldNum" sz="quarter" idx="12"/>
          </p:nvPr>
        </p:nvSpPr>
        <p:spPr/>
        <p:txBody>
          <a:bodyPr/>
          <a:lstStyle/>
          <a:p>
            <a:fld id="{8AD18CE8-36D6-40D7-B14C-EED1C05D864F}" type="slidenum">
              <a:rPr lang="he-IL" smtClean="0"/>
              <a:t>‹#›</a:t>
            </a:fld>
            <a:endParaRPr lang="he-IL"/>
          </a:p>
        </p:txBody>
      </p:sp>
    </p:spTree>
    <p:extLst>
      <p:ext uri="{BB962C8B-B14F-4D97-AF65-F5344CB8AC3E}">
        <p14:creationId xmlns:p14="http://schemas.microsoft.com/office/powerpoint/2010/main" val="21130280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תוכן עם כיתוב">
    <p:spTree>
      <p:nvGrpSpPr>
        <p:cNvPr id="1" name=""/>
        <p:cNvGrpSpPr/>
        <p:nvPr/>
      </p:nvGrpSpPr>
      <p:grpSpPr>
        <a:xfrm>
          <a:off x="0" y="0"/>
          <a:ext cx="0" cy="0"/>
          <a:chOff x="0" y="0"/>
          <a:chExt cx="0" cy="0"/>
        </a:xfrm>
      </p:grpSpPr>
      <p:sp>
        <p:nvSpPr>
          <p:cNvPr id="16" name="Rectangle 15"/>
          <p:cNvSpPr/>
          <p:nvPr/>
        </p:nvSpPr>
        <p:spPr>
          <a:xfrm>
            <a:off x="245529" y="237744"/>
            <a:ext cx="8531352" cy="638251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9020386" y="237744"/>
            <a:ext cx="2926080" cy="63825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7392"/>
            <a:ext cx="2430780" cy="1645920"/>
          </a:xfrm>
        </p:spPr>
        <p:txBody>
          <a:bodyPr anchor="b">
            <a:normAutofit/>
          </a:bodyPr>
          <a:lstStyle>
            <a:lvl1pPr algn="l" defTabSz="914400" rtl="0" eaLnBrk="1" latinLnBrk="0" hangingPunct="1">
              <a:lnSpc>
                <a:spcPct val="90000"/>
              </a:lnSpc>
              <a:spcBef>
                <a:spcPct val="0"/>
              </a:spcBef>
              <a:buNone/>
              <a:defRPr lang="en-US" sz="2800" b="0" kern="1200" cap="none" spc="0" baseline="0" dirty="0">
                <a:solidFill>
                  <a:srgbClr val="FFFFFF"/>
                </a:solidFill>
                <a:effectLst/>
                <a:latin typeface="+mj-lt"/>
                <a:ea typeface="+mn-ea"/>
                <a:cs typeface="+mn-cs"/>
              </a:defRPr>
            </a:lvl1pPr>
          </a:lstStyle>
          <a:p>
            <a:r>
              <a:rPr lang="he-IL"/>
              <a:t>לחץ כדי לערוך סגנון כותרת של תבנית בסיס</a:t>
            </a:r>
            <a:endParaRPr lang="en-US" dirty="0"/>
          </a:p>
        </p:txBody>
      </p:sp>
      <p:sp>
        <p:nvSpPr>
          <p:cNvPr id="3" name="Content Placeholder 2"/>
          <p:cNvSpPr>
            <a:spLocks noGrp="1"/>
          </p:cNvSpPr>
          <p:nvPr>
            <p:ph idx="1"/>
          </p:nvPr>
        </p:nvSpPr>
        <p:spPr>
          <a:xfrm>
            <a:off x="685800" y="609600"/>
            <a:ext cx="7772400" cy="53340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endParaRPr lang="en-US" dirty="0"/>
          </a:p>
        </p:txBody>
      </p:sp>
      <p:sp>
        <p:nvSpPr>
          <p:cNvPr id="4" name="Text Placeholder 3"/>
          <p:cNvSpPr>
            <a:spLocks noGrp="1"/>
          </p:cNvSpPr>
          <p:nvPr>
            <p:ph type="body" sz="half" idx="2"/>
          </p:nvPr>
        </p:nvSpPr>
        <p:spPr>
          <a:xfrm>
            <a:off x="9296400" y="2286000"/>
            <a:ext cx="2430780" cy="3505200"/>
          </a:xfrm>
        </p:spPr>
        <p:txBody>
          <a:bodyPr>
            <a:normAutofit/>
          </a:bodyPr>
          <a:lstStyle>
            <a:lvl1pPr marL="0" indent="0">
              <a:lnSpc>
                <a:spcPct val="110000"/>
              </a:lnSpc>
              <a:spcBef>
                <a:spcPts val="800"/>
              </a:spcBef>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e-IL"/>
              <a:t>ערוך סגנונות טקסט של תבנית בסיס</a:t>
            </a:r>
          </a:p>
        </p:txBody>
      </p:sp>
      <p:sp>
        <p:nvSpPr>
          <p:cNvPr id="8" name="Date Placeholder 7"/>
          <p:cNvSpPr>
            <a:spLocks noGrp="1"/>
          </p:cNvSpPr>
          <p:nvPr>
            <p:ph type="dt" sz="half" idx="10"/>
          </p:nvPr>
        </p:nvSpPr>
        <p:spPr/>
        <p:txBody>
          <a:bodyPr/>
          <a:lstStyle/>
          <a:p>
            <a:fld id="{E3BBDE69-909D-431E-8610-EB0068C6E9FD}" type="datetimeFigureOut">
              <a:rPr lang="he-IL" smtClean="0"/>
              <a:t>ט"ז/תמוז/תשפ"ד</a:t>
            </a:fld>
            <a:endParaRPr lang="he-IL"/>
          </a:p>
        </p:txBody>
      </p:sp>
      <p:sp>
        <p:nvSpPr>
          <p:cNvPr id="9" name="Footer Placeholder 8"/>
          <p:cNvSpPr>
            <a:spLocks noGrp="1"/>
          </p:cNvSpPr>
          <p:nvPr>
            <p:ph type="ftr" sz="quarter" idx="11"/>
          </p:nvPr>
        </p:nvSpPr>
        <p:spPr/>
        <p:txBody>
          <a:bodyPr/>
          <a:lstStyle>
            <a:lvl1pPr algn="r">
              <a:defRPr/>
            </a:lvl1pPr>
          </a:lstStyle>
          <a:p>
            <a:endParaRPr lang="he-IL"/>
          </a:p>
        </p:txBody>
      </p:sp>
      <p:sp>
        <p:nvSpPr>
          <p:cNvPr id="11" name="Slide Number Placeholder 10"/>
          <p:cNvSpPr>
            <a:spLocks noGrp="1"/>
          </p:cNvSpPr>
          <p:nvPr>
            <p:ph type="sldNum" sz="quarter" idx="12"/>
          </p:nvPr>
        </p:nvSpPr>
        <p:spPr>
          <a:xfrm>
            <a:off x="10393677" y="6223002"/>
            <a:ext cx="1463040" cy="274320"/>
          </a:xfrm>
        </p:spPr>
        <p:txBody>
          <a:bodyPr/>
          <a:lstStyle>
            <a:lvl1pPr>
              <a:defRPr>
                <a:solidFill>
                  <a:srgbClr val="FFFFFF"/>
                </a:solidFill>
              </a:defRPr>
            </a:lvl1pPr>
          </a:lstStyle>
          <a:p>
            <a:fld id="{8AD18CE8-36D6-40D7-B14C-EED1C05D864F}" type="slidenum">
              <a:rPr lang="he-IL" smtClean="0"/>
              <a:t>‹#›</a:t>
            </a:fld>
            <a:endParaRPr lang="he-IL"/>
          </a:p>
        </p:txBody>
      </p:sp>
      <p:sp>
        <p:nvSpPr>
          <p:cNvPr id="12" name="Rectangle 11"/>
          <p:cNvSpPr/>
          <p:nvPr/>
        </p:nvSpPr>
        <p:spPr>
          <a:xfrm>
            <a:off x="9157546" y="374904"/>
            <a:ext cx="2651760" cy="6108192"/>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2941657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תמונה עם כיתוב">
    <p:spTree>
      <p:nvGrpSpPr>
        <p:cNvPr id="1" name=""/>
        <p:cNvGrpSpPr/>
        <p:nvPr/>
      </p:nvGrpSpPr>
      <p:grpSpPr>
        <a:xfrm>
          <a:off x="0" y="0"/>
          <a:ext cx="0" cy="0"/>
          <a:chOff x="0" y="0"/>
          <a:chExt cx="0" cy="0"/>
        </a:xfrm>
      </p:grpSpPr>
      <p:sp>
        <p:nvSpPr>
          <p:cNvPr id="14" name="Rectangle 13"/>
          <p:cNvSpPr/>
          <p:nvPr/>
        </p:nvSpPr>
        <p:spPr>
          <a:xfrm>
            <a:off x="9020386" y="237744"/>
            <a:ext cx="2926080" cy="63825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3504"/>
            <a:ext cx="2432304" cy="1645920"/>
          </a:xfrm>
        </p:spPr>
        <p:txBody>
          <a:bodyPr anchor="b">
            <a:noAutofit/>
          </a:bodyPr>
          <a:lstStyle>
            <a:lvl1pPr algn="l">
              <a:defRPr sz="2800" b="0">
                <a:solidFill>
                  <a:srgbClr val="FFFFFF"/>
                </a:solidFill>
                <a:latin typeface="+mj-lt"/>
              </a:defRPr>
            </a:lvl1pPr>
          </a:lstStyle>
          <a:p>
            <a:r>
              <a:rPr lang="he-IL"/>
              <a:t>לחץ כדי לערוך סגנון כותרת של תבנית בסיס</a:t>
            </a:r>
            <a:endParaRPr lang="en-US" dirty="0"/>
          </a:p>
        </p:txBody>
      </p:sp>
      <p:sp>
        <p:nvSpPr>
          <p:cNvPr id="3" name="Picture Placeholder 2"/>
          <p:cNvSpPr>
            <a:spLocks noGrp="1" noChangeAspect="1"/>
          </p:cNvSpPr>
          <p:nvPr>
            <p:ph type="pic" idx="1"/>
          </p:nvPr>
        </p:nvSpPr>
        <p:spPr>
          <a:xfrm>
            <a:off x="228599" y="237744"/>
            <a:ext cx="8531352" cy="6382512"/>
          </a:xfrm>
          <a:solidFill>
            <a:schemeClr val="accent1">
              <a:lumMod val="60000"/>
              <a:lumOff val="40000"/>
            </a:schemeClr>
          </a:solidFill>
          <a:ln>
            <a:noFill/>
          </a:ln>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he-IL"/>
              <a:t>לחץ על הסמל כדי להוסיף תמונה</a:t>
            </a:r>
            <a:endParaRPr lang="en-US" dirty="0"/>
          </a:p>
        </p:txBody>
      </p:sp>
      <p:sp>
        <p:nvSpPr>
          <p:cNvPr id="4" name="Text Placeholder 3"/>
          <p:cNvSpPr>
            <a:spLocks noGrp="1"/>
          </p:cNvSpPr>
          <p:nvPr>
            <p:ph type="body" sz="half" idx="2"/>
          </p:nvPr>
        </p:nvSpPr>
        <p:spPr>
          <a:xfrm>
            <a:off x="9296400" y="2286000"/>
            <a:ext cx="2432304" cy="3502152"/>
          </a:xfrm>
        </p:spPr>
        <p:txBody>
          <a:bodyPr>
            <a:normAutofit/>
          </a:bodyPr>
          <a:lstStyle>
            <a:lvl1pPr marL="0" indent="0" algn="l">
              <a:lnSpc>
                <a:spcPct val="110000"/>
              </a:lnSpc>
              <a:spcBef>
                <a:spcPts val="800"/>
              </a:spcBef>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e-IL"/>
              <a:t>ערוך סגנונות טקסט של תבנית בסיס</a:t>
            </a:r>
          </a:p>
        </p:txBody>
      </p:sp>
      <p:sp>
        <p:nvSpPr>
          <p:cNvPr id="5" name="Date Placeholder 4"/>
          <p:cNvSpPr>
            <a:spLocks noGrp="1"/>
          </p:cNvSpPr>
          <p:nvPr>
            <p:ph type="dt" sz="half" idx="10"/>
          </p:nvPr>
        </p:nvSpPr>
        <p:spPr/>
        <p:txBody>
          <a:bodyPr/>
          <a:lstStyle>
            <a:lvl1pPr>
              <a:defRPr>
                <a:solidFill>
                  <a:srgbClr val="FFFFFF"/>
                </a:solidFill>
                <a:effectLst>
                  <a:outerShdw blurRad="12700" dist="6350" dir="2700000" algn="tl" rotWithShape="0">
                    <a:prstClr val="black">
                      <a:alpha val="40000"/>
                    </a:prstClr>
                  </a:outerShdw>
                </a:effectLst>
              </a:defRPr>
            </a:lvl1pPr>
          </a:lstStyle>
          <a:p>
            <a:fld id="{E3BBDE69-909D-431E-8610-EB0068C6E9FD}" type="datetimeFigureOut">
              <a:rPr lang="he-IL" smtClean="0"/>
              <a:t>ט"ז/תמוז/תשפ"ד</a:t>
            </a:fld>
            <a:endParaRPr lang="he-IL"/>
          </a:p>
        </p:txBody>
      </p:sp>
      <p:sp>
        <p:nvSpPr>
          <p:cNvPr id="6" name="Footer Placeholder 5"/>
          <p:cNvSpPr>
            <a:spLocks noGrp="1"/>
          </p:cNvSpPr>
          <p:nvPr>
            <p:ph type="ftr" sz="quarter" idx="11"/>
          </p:nvPr>
        </p:nvSpPr>
        <p:spPr/>
        <p:txBody>
          <a:bodyPr/>
          <a:lstStyle>
            <a:lvl1pPr marL="0" algn="r" defTabSz="914400" rtl="0" eaLnBrk="1" latinLnBrk="0" hangingPunct="1">
              <a:defRPr lang="en-US" sz="1000" kern="1200" dirty="0">
                <a:solidFill>
                  <a:srgbClr val="FFFFFF"/>
                </a:solidFill>
                <a:effectLst>
                  <a:outerShdw blurRad="12700" dist="6350" dir="2700000" algn="tl" rotWithShape="0">
                    <a:prstClr val="black">
                      <a:alpha val="40000"/>
                    </a:prstClr>
                  </a:outerShdw>
                </a:effectLst>
                <a:latin typeface="+mn-lt"/>
                <a:ea typeface="+mn-ea"/>
                <a:cs typeface="+mn-cs"/>
              </a:defRPr>
            </a:lvl1pPr>
          </a:lstStyle>
          <a:p>
            <a:endParaRPr lang="he-IL"/>
          </a:p>
        </p:txBody>
      </p:sp>
      <p:sp>
        <p:nvSpPr>
          <p:cNvPr id="7" name="Slide Number Placeholder 6"/>
          <p:cNvSpPr>
            <a:spLocks noGrp="1"/>
          </p:cNvSpPr>
          <p:nvPr>
            <p:ph type="sldNum" sz="quarter" idx="12"/>
          </p:nvPr>
        </p:nvSpPr>
        <p:spPr>
          <a:xfrm>
            <a:off x="10396728" y="6227064"/>
            <a:ext cx="1463040" cy="274320"/>
          </a:xfrm>
        </p:spPr>
        <p:txBody>
          <a:bodyPr/>
          <a:lstStyle>
            <a:lvl1pPr>
              <a:defRPr>
                <a:solidFill>
                  <a:srgbClr val="FFFFFF"/>
                </a:solidFill>
              </a:defRPr>
            </a:lvl1pPr>
          </a:lstStyle>
          <a:p>
            <a:fld id="{8AD18CE8-36D6-40D7-B14C-EED1C05D864F}" type="slidenum">
              <a:rPr lang="he-IL" smtClean="0"/>
              <a:t>‹#›</a:t>
            </a:fld>
            <a:endParaRPr lang="he-IL"/>
          </a:p>
        </p:txBody>
      </p:sp>
      <p:sp>
        <p:nvSpPr>
          <p:cNvPr id="10" name="Rectangle 9"/>
          <p:cNvSpPr/>
          <p:nvPr/>
        </p:nvSpPr>
        <p:spPr>
          <a:xfrm>
            <a:off x="9157546" y="374904"/>
            <a:ext cx="2651760" cy="6108192"/>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7815179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כותרת וטקסט אנכי">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a:t>לחץ כדי לערוך סגנון כותרת של תבנית בסיס</a:t>
            </a:r>
            <a:endParaRPr lang="en-US" dirty="0"/>
          </a:p>
        </p:txBody>
      </p:sp>
      <p:sp>
        <p:nvSpPr>
          <p:cNvPr id="3" name="Vertical Text Placeholder 2"/>
          <p:cNvSpPr>
            <a:spLocks noGrp="1"/>
          </p:cNvSpPr>
          <p:nvPr>
            <p:ph type="body" orient="vert" idx="1"/>
          </p:nvPr>
        </p:nvSpPr>
        <p:spPr/>
        <p:txBody>
          <a:bodyPr vert="eaVert"/>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endParaRPr lang="en-US" dirty="0"/>
          </a:p>
        </p:txBody>
      </p:sp>
      <p:sp>
        <p:nvSpPr>
          <p:cNvPr id="4" name="Date Placeholder 3"/>
          <p:cNvSpPr>
            <a:spLocks noGrp="1"/>
          </p:cNvSpPr>
          <p:nvPr>
            <p:ph type="dt" sz="half" idx="10"/>
          </p:nvPr>
        </p:nvSpPr>
        <p:spPr/>
        <p:txBody>
          <a:bodyPr/>
          <a:lstStyle/>
          <a:p>
            <a:fld id="{E3BBDE69-909D-431E-8610-EB0068C6E9FD}" type="datetimeFigureOut">
              <a:rPr lang="he-IL" smtClean="0"/>
              <a:t>ט"ז/תמוז/תשפ"ד</a:t>
            </a:fld>
            <a:endParaRPr lang="he-IL"/>
          </a:p>
        </p:txBody>
      </p:sp>
      <p:sp>
        <p:nvSpPr>
          <p:cNvPr id="5" name="Footer Placeholder 4"/>
          <p:cNvSpPr>
            <a:spLocks noGrp="1"/>
          </p:cNvSpPr>
          <p:nvPr>
            <p:ph type="ftr" sz="quarter" idx="11"/>
          </p:nvPr>
        </p:nvSpPr>
        <p:spPr/>
        <p:txBody>
          <a:bodyPr/>
          <a:lstStyle/>
          <a:p>
            <a:endParaRPr lang="he-IL"/>
          </a:p>
        </p:txBody>
      </p:sp>
      <p:sp>
        <p:nvSpPr>
          <p:cNvPr id="6" name="Slide Number Placeholder 5"/>
          <p:cNvSpPr>
            <a:spLocks noGrp="1"/>
          </p:cNvSpPr>
          <p:nvPr>
            <p:ph type="sldNum" sz="quarter" idx="12"/>
          </p:nvPr>
        </p:nvSpPr>
        <p:spPr/>
        <p:txBody>
          <a:bodyPr/>
          <a:lstStyle/>
          <a:p>
            <a:fld id="{8AD18CE8-36D6-40D7-B14C-EED1C05D864F}" type="slidenum">
              <a:rPr lang="he-IL" smtClean="0"/>
              <a:t>‹#›</a:t>
            </a:fld>
            <a:endParaRPr lang="he-IL"/>
          </a:p>
        </p:txBody>
      </p:sp>
    </p:spTree>
    <p:extLst>
      <p:ext uri="{BB962C8B-B14F-4D97-AF65-F5344CB8AC3E}">
        <p14:creationId xmlns:p14="http://schemas.microsoft.com/office/powerpoint/2010/main" val="34457776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כותרת אנכית וטקסט">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1600" y="762000"/>
            <a:ext cx="2362200" cy="5257800"/>
          </a:xfrm>
        </p:spPr>
        <p:txBody>
          <a:bodyPr vert="eaVert"/>
          <a:lstStyle/>
          <a:p>
            <a:r>
              <a:rPr lang="he-IL"/>
              <a:t>לחץ כדי לערוך סגנון כותרת של תבנית בסיס</a:t>
            </a:r>
            <a:endParaRPr lang="en-US" dirty="0"/>
          </a:p>
        </p:txBody>
      </p:sp>
      <p:sp>
        <p:nvSpPr>
          <p:cNvPr id="3" name="Vertical Text Placeholder 2"/>
          <p:cNvSpPr>
            <a:spLocks noGrp="1"/>
          </p:cNvSpPr>
          <p:nvPr>
            <p:ph type="body" orient="vert" idx="1"/>
          </p:nvPr>
        </p:nvSpPr>
        <p:spPr>
          <a:xfrm>
            <a:off x="838200" y="762000"/>
            <a:ext cx="8077200" cy="5257800"/>
          </a:xfrm>
        </p:spPr>
        <p:txBody>
          <a:bodyPr vert="eaVert"/>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endParaRPr lang="en-US" dirty="0"/>
          </a:p>
        </p:txBody>
      </p:sp>
      <p:sp>
        <p:nvSpPr>
          <p:cNvPr id="4" name="Date Placeholder 3"/>
          <p:cNvSpPr>
            <a:spLocks noGrp="1"/>
          </p:cNvSpPr>
          <p:nvPr>
            <p:ph type="dt" sz="half" idx="10"/>
          </p:nvPr>
        </p:nvSpPr>
        <p:spPr/>
        <p:txBody>
          <a:bodyPr/>
          <a:lstStyle/>
          <a:p>
            <a:fld id="{E3BBDE69-909D-431E-8610-EB0068C6E9FD}" type="datetimeFigureOut">
              <a:rPr lang="he-IL" smtClean="0"/>
              <a:t>ט"ז/תמוז/תשפ"ד</a:t>
            </a:fld>
            <a:endParaRPr lang="he-IL"/>
          </a:p>
        </p:txBody>
      </p:sp>
      <p:sp>
        <p:nvSpPr>
          <p:cNvPr id="5" name="Footer Placeholder 4"/>
          <p:cNvSpPr>
            <a:spLocks noGrp="1"/>
          </p:cNvSpPr>
          <p:nvPr>
            <p:ph type="ftr" sz="quarter" idx="11"/>
          </p:nvPr>
        </p:nvSpPr>
        <p:spPr/>
        <p:txBody>
          <a:bodyPr/>
          <a:lstStyle/>
          <a:p>
            <a:endParaRPr lang="he-IL"/>
          </a:p>
        </p:txBody>
      </p:sp>
      <p:sp>
        <p:nvSpPr>
          <p:cNvPr id="6" name="Slide Number Placeholder 5"/>
          <p:cNvSpPr>
            <a:spLocks noGrp="1"/>
          </p:cNvSpPr>
          <p:nvPr>
            <p:ph type="sldNum" sz="quarter" idx="12"/>
          </p:nvPr>
        </p:nvSpPr>
        <p:spPr/>
        <p:txBody>
          <a:bodyPr/>
          <a:lstStyle/>
          <a:p>
            <a:fld id="{8AD18CE8-36D6-40D7-B14C-EED1C05D864F}" type="slidenum">
              <a:rPr lang="he-IL" smtClean="0"/>
              <a:t>‹#›</a:t>
            </a:fld>
            <a:endParaRPr lang="he-IL"/>
          </a:p>
        </p:txBody>
      </p:sp>
    </p:spTree>
    <p:extLst>
      <p:ext uri="{BB962C8B-B14F-4D97-AF65-F5344CB8AC3E}">
        <p14:creationId xmlns:p14="http://schemas.microsoft.com/office/powerpoint/2010/main" val="2529267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4696" y="237744"/>
            <a:ext cx="11722608" cy="6382512"/>
          </a:xfrm>
          <a:prstGeom prst="rect">
            <a:avLst/>
          </a:prstGeom>
          <a:solidFill>
            <a:schemeClr val="bg2"/>
          </a:solidFill>
          <a:ln w="6350" cap="flat" cmpd="sng" algn="ctr">
            <a:noFill/>
            <a:prstDash val="solid"/>
          </a:ln>
          <a:effectLst>
            <a:softEdge rad="0"/>
          </a:effectLst>
        </p:spPr>
      </p:sp>
      <p:sp>
        <p:nvSpPr>
          <p:cNvPr id="2" name="Title Placeholder 1"/>
          <p:cNvSpPr>
            <a:spLocks noGrp="1"/>
          </p:cNvSpPr>
          <p:nvPr>
            <p:ph type="title"/>
          </p:nvPr>
        </p:nvSpPr>
        <p:spPr>
          <a:xfrm>
            <a:off x="1066800" y="642594"/>
            <a:ext cx="10058400" cy="1371600"/>
          </a:xfrm>
          <a:prstGeom prst="rect">
            <a:avLst/>
          </a:prstGeom>
        </p:spPr>
        <p:txBody>
          <a:bodyPr vert="horz" lIns="91440" tIns="45720" rIns="91440" bIns="45720" rtlCol="0" anchor="ctr">
            <a:normAutofit/>
          </a:bodyPr>
          <a:lstStyle/>
          <a:p>
            <a:r>
              <a:rPr lang="he-IL"/>
              <a:t>לחץ כדי לערוך סגנון כותרת של תבנית בסיס</a:t>
            </a:r>
            <a:endParaRPr lang="en-US" dirty="0"/>
          </a:p>
        </p:txBody>
      </p:sp>
      <p:sp>
        <p:nvSpPr>
          <p:cNvPr id="3" name="Text Placeholder 2"/>
          <p:cNvSpPr>
            <a:spLocks noGrp="1"/>
          </p:cNvSpPr>
          <p:nvPr>
            <p:ph type="body" idx="1"/>
          </p:nvPr>
        </p:nvSpPr>
        <p:spPr>
          <a:xfrm>
            <a:off x="1066800" y="2103120"/>
            <a:ext cx="10058400" cy="3931920"/>
          </a:xfrm>
          <a:prstGeom prst="rect">
            <a:avLst/>
          </a:prstGeom>
        </p:spPr>
        <p:txBody>
          <a:bodyPr vert="horz" lIns="91440" tIns="45720" rIns="91440" bIns="45720" rtlCol="0">
            <a:normAutofit/>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endParaRPr lang="en-US" dirty="0"/>
          </a:p>
        </p:txBody>
      </p:sp>
      <p:sp>
        <p:nvSpPr>
          <p:cNvPr id="4" name="Date Placeholder 3"/>
          <p:cNvSpPr>
            <a:spLocks noGrp="1"/>
          </p:cNvSpPr>
          <p:nvPr>
            <p:ph type="dt" sz="half" idx="2"/>
          </p:nvPr>
        </p:nvSpPr>
        <p:spPr>
          <a:xfrm>
            <a:off x="274320" y="6307672"/>
            <a:ext cx="2743200" cy="274320"/>
          </a:xfrm>
          <a:prstGeom prst="rect">
            <a:avLst/>
          </a:prstGeom>
        </p:spPr>
        <p:txBody>
          <a:bodyPr vert="horz" lIns="91440" tIns="45720" rIns="91440" bIns="45720" rtlCol="0" anchor="b"/>
          <a:lstStyle>
            <a:lvl1pPr algn="l">
              <a:defRPr sz="1000">
                <a:solidFill>
                  <a:schemeClr val="tx1">
                    <a:lumMod val="75000"/>
                    <a:lumOff val="25000"/>
                  </a:schemeClr>
                </a:solidFill>
              </a:defRPr>
            </a:lvl1pPr>
          </a:lstStyle>
          <a:p>
            <a:fld id="{E3BBDE69-909D-431E-8610-EB0068C6E9FD}" type="datetimeFigureOut">
              <a:rPr lang="he-IL" smtClean="0"/>
              <a:t>ט"ז/תמוז/תשפ"ד</a:t>
            </a:fld>
            <a:endParaRPr lang="he-IL"/>
          </a:p>
        </p:txBody>
      </p:sp>
      <p:sp>
        <p:nvSpPr>
          <p:cNvPr id="5" name="Footer Placeholder 4"/>
          <p:cNvSpPr>
            <a:spLocks noGrp="1"/>
          </p:cNvSpPr>
          <p:nvPr>
            <p:ph type="ftr" sz="quarter" idx="3"/>
          </p:nvPr>
        </p:nvSpPr>
        <p:spPr>
          <a:xfrm>
            <a:off x="3489960" y="6307672"/>
            <a:ext cx="5212080" cy="274320"/>
          </a:xfrm>
          <a:prstGeom prst="rect">
            <a:avLst/>
          </a:prstGeom>
        </p:spPr>
        <p:txBody>
          <a:bodyPr vert="horz" lIns="91440" tIns="45720" rIns="91440" bIns="45720" rtlCol="0" anchor="b"/>
          <a:lstStyle>
            <a:lvl1pPr algn="ctr">
              <a:defRPr sz="1000">
                <a:solidFill>
                  <a:schemeClr val="tx1">
                    <a:lumMod val="75000"/>
                    <a:lumOff val="25000"/>
                  </a:schemeClr>
                </a:solidFill>
              </a:defRPr>
            </a:lvl1pPr>
          </a:lstStyle>
          <a:p>
            <a:endParaRPr lang="he-IL"/>
          </a:p>
        </p:txBody>
      </p:sp>
      <p:sp>
        <p:nvSpPr>
          <p:cNvPr id="6" name="Slide Number Placeholder 5"/>
          <p:cNvSpPr>
            <a:spLocks noGrp="1"/>
          </p:cNvSpPr>
          <p:nvPr>
            <p:ph type="sldNum" sz="quarter" idx="4"/>
          </p:nvPr>
        </p:nvSpPr>
        <p:spPr>
          <a:xfrm>
            <a:off x="10469880" y="6307672"/>
            <a:ext cx="1463040" cy="274320"/>
          </a:xfrm>
          <a:prstGeom prst="rect">
            <a:avLst/>
          </a:prstGeom>
        </p:spPr>
        <p:txBody>
          <a:bodyPr vert="horz" lIns="91440" tIns="45720" rIns="91440" bIns="45720" rtlCol="0" anchor="b"/>
          <a:lstStyle>
            <a:lvl1pPr algn="r">
              <a:defRPr sz="1000">
                <a:solidFill>
                  <a:schemeClr val="tx1">
                    <a:lumMod val="75000"/>
                    <a:lumOff val="25000"/>
                  </a:schemeClr>
                </a:solidFill>
              </a:defRPr>
            </a:lvl1pPr>
          </a:lstStyle>
          <a:p>
            <a:fld id="{8AD18CE8-36D6-40D7-B14C-EED1C05D864F}" type="slidenum">
              <a:rPr lang="he-IL" smtClean="0"/>
              <a:t>‹#›</a:t>
            </a:fld>
            <a:endParaRPr lang="he-IL"/>
          </a:p>
        </p:txBody>
      </p:sp>
    </p:spTree>
    <p:extLst>
      <p:ext uri="{BB962C8B-B14F-4D97-AF65-F5344CB8AC3E}">
        <p14:creationId xmlns:p14="http://schemas.microsoft.com/office/powerpoint/2010/main" val="136233045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1" eaLnBrk="1" latinLnBrk="0" hangingPunct="1">
        <a:lnSpc>
          <a:spcPct val="90000"/>
        </a:lnSpc>
        <a:spcBef>
          <a:spcPct val="0"/>
        </a:spcBef>
        <a:buNone/>
        <a:defRPr lang="en-US" sz="4800" kern="1200" cap="none" spc="0" baseline="0" dirty="0">
          <a:solidFill>
            <a:schemeClr val="tx1">
              <a:lumMod val="85000"/>
              <a:lumOff val="15000"/>
            </a:schemeClr>
          </a:solidFill>
          <a:effectLst/>
          <a:latin typeface="+mj-lt"/>
          <a:ea typeface="+mn-ea"/>
          <a:cs typeface="+mn-cs"/>
        </a:defRPr>
      </a:lvl1pPr>
    </p:titleStyle>
    <p:bodyStyle>
      <a:lvl1pPr marL="182880" indent="-182880" algn="r" defTabSz="914400" rtl="1" eaLnBrk="1" latinLnBrk="0" hangingPunct="1">
        <a:lnSpc>
          <a:spcPct val="100000"/>
        </a:lnSpc>
        <a:spcBef>
          <a:spcPts val="900"/>
        </a:spcBef>
        <a:spcAft>
          <a:spcPts val="0"/>
        </a:spcAft>
        <a:buClr>
          <a:schemeClr val="tx1">
            <a:lumMod val="85000"/>
            <a:lumOff val="15000"/>
          </a:schemeClr>
        </a:buClr>
        <a:buFont typeface="Garamond" pitchFamily="18" charset="0"/>
        <a:buChar char="◦"/>
        <a:defRPr sz="1800" kern="1200">
          <a:solidFill>
            <a:schemeClr val="tx1"/>
          </a:solidFill>
          <a:latin typeface="+mn-lt"/>
          <a:ea typeface="+mn-ea"/>
          <a:cs typeface="+mn-cs"/>
        </a:defRPr>
      </a:lvl1pPr>
      <a:lvl2pPr marL="457200" indent="-182880" algn="r" defTabSz="914400" rtl="1" eaLnBrk="1" latinLnBrk="0" hangingPunct="1">
        <a:lnSpc>
          <a:spcPct val="100000"/>
        </a:lnSpc>
        <a:spcBef>
          <a:spcPts val="500"/>
        </a:spcBef>
        <a:buClr>
          <a:schemeClr val="tx1">
            <a:lumMod val="85000"/>
            <a:lumOff val="15000"/>
          </a:schemeClr>
        </a:buClr>
        <a:buFont typeface="Garamond" pitchFamily="18" charset="0"/>
        <a:buChar char="◦"/>
        <a:defRPr sz="1600" kern="1200">
          <a:solidFill>
            <a:schemeClr val="tx1"/>
          </a:solidFill>
          <a:latin typeface="+mn-lt"/>
          <a:ea typeface="+mn-ea"/>
          <a:cs typeface="+mn-cs"/>
        </a:defRPr>
      </a:lvl2pPr>
      <a:lvl3pPr marL="731520" indent="-182880" algn="r" defTabSz="914400" rtl="1"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3pPr>
      <a:lvl4pPr marL="1005840" indent="-182880" algn="r" defTabSz="914400" rtl="1"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4pPr>
      <a:lvl5pPr marL="1280160" indent="-182880" algn="r" defTabSz="914400" rtl="1"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5pPr>
      <a:lvl6pPr marL="1600000" indent="-228600" algn="r" defTabSz="914400" rtl="1"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r" defTabSz="914400" rtl="1"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r" defTabSz="914400" rtl="1"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r" defTabSz="914400" rtl="1"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00E3ADA1-373F-43B1-8834-F4A8C011664F}"/>
              </a:ext>
            </a:extLst>
          </p:cNvPr>
          <p:cNvSpPr>
            <a:spLocks noGrp="1"/>
          </p:cNvSpPr>
          <p:nvPr>
            <p:ph type="title"/>
          </p:nvPr>
        </p:nvSpPr>
        <p:spPr>
          <a:xfrm>
            <a:off x="4293703" y="2194561"/>
            <a:ext cx="4502427" cy="1371600"/>
          </a:xfrm>
        </p:spPr>
        <p:txBody>
          <a:bodyPr>
            <a:normAutofit/>
          </a:bodyPr>
          <a:lstStyle/>
          <a:p>
            <a:r>
              <a:rPr lang="he-IL" sz="8000" dirty="0"/>
              <a:t>הרצאה 2</a:t>
            </a:r>
          </a:p>
        </p:txBody>
      </p:sp>
      <p:sp>
        <p:nvSpPr>
          <p:cNvPr id="3" name="מציין מיקום תוכן 2">
            <a:extLst>
              <a:ext uri="{FF2B5EF4-FFF2-40B4-BE49-F238E27FC236}">
                <a16:creationId xmlns:a16="http://schemas.microsoft.com/office/drawing/2014/main" id="{C7F58D85-589B-4BD8-9C97-A8E73A96D1C4}"/>
              </a:ext>
            </a:extLst>
          </p:cNvPr>
          <p:cNvSpPr>
            <a:spLocks noGrp="1"/>
          </p:cNvSpPr>
          <p:nvPr>
            <p:ph idx="1"/>
          </p:nvPr>
        </p:nvSpPr>
        <p:spPr>
          <a:xfrm>
            <a:off x="5188225" y="4663439"/>
            <a:ext cx="2325758" cy="524788"/>
          </a:xfrm>
        </p:spPr>
        <p:txBody>
          <a:bodyPr/>
          <a:lstStyle/>
          <a:p>
            <a:r>
              <a:rPr lang="he-IL" dirty="0"/>
              <a:t>מרצה: יניב </a:t>
            </a:r>
            <a:r>
              <a:rPr lang="he-IL" dirty="0" err="1"/>
              <a:t>מורדוב</a:t>
            </a:r>
            <a:endParaRPr lang="he-IL" dirty="0"/>
          </a:p>
        </p:txBody>
      </p:sp>
    </p:spTree>
    <p:extLst>
      <p:ext uri="{BB962C8B-B14F-4D97-AF65-F5344CB8AC3E}">
        <p14:creationId xmlns:p14="http://schemas.microsoft.com/office/powerpoint/2010/main" val="13531986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70A087E3-B53D-42BB-8C80-EF772BC5C5C5}"/>
              </a:ext>
            </a:extLst>
          </p:cNvPr>
          <p:cNvSpPr>
            <a:spLocks noGrp="1"/>
          </p:cNvSpPr>
          <p:nvPr>
            <p:ph type="title"/>
          </p:nvPr>
        </p:nvSpPr>
        <p:spPr>
          <a:xfrm>
            <a:off x="3916016" y="642594"/>
            <a:ext cx="7209183" cy="1371600"/>
          </a:xfrm>
        </p:spPr>
        <p:txBody>
          <a:bodyPr>
            <a:normAutofit fontScale="90000"/>
          </a:bodyPr>
          <a:lstStyle/>
          <a:p>
            <a:r>
              <a:rPr lang="he-IL" dirty="0"/>
              <a:t>מודל הכוכב – </a:t>
            </a:r>
            <a:r>
              <a:rPr lang="en-US" dirty="0"/>
              <a:t>STAR MODEL</a:t>
            </a:r>
            <a:endParaRPr lang="he-IL" dirty="0"/>
          </a:p>
        </p:txBody>
      </p:sp>
      <p:sp>
        <p:nvSpPr>
          <p:cNvPr id="3" name="מציין מיקום תוכן 2">
            <a:extLst>
              <a:ext uri="{FF2B5EF4-FFF2-40B4-BE49-F238E27FC236}">
                <a16:creationId xmlns:a16="http://schemas.microsoft.com/office/drawing/2014/main" id="{39E7C829-F94C-4AB8-87E9-A35EEDF129D9}"/>
              </a:ext>
            </a:extLst>
          </p:cNvPr>
          <p:cNvSpPr>
            <a:spLocks noGrp="1"/>
          </p:cNvSpPr>
          <p:nvPr>
            <p:ph idx="1"/>
          </p:nvPr>
        </p:nvSpPr>
        <p:spPr/>
        <p:txBody>
          <a:bodyPr/>
          <a:lstStyle/>
          <a:p>
            <a:r>
              <a:rPr lang="he-IL" dirty="0"/>
              <a:t>טוב, אז תלמידיי היקרים מהו מודל הכוכב – לא, זה לא טופולוגית כוכב של תקשוב (תשאלו את </a:t>
            </a:r>
            <a:r>
              <a:rPr lang="he-IL" dirty="0" err="1"/>
              <a:t>מרגי</a:t>
            </a:r>
            <a:r>
              <a:rPr lang="he-IL" dirty="0"/>
              <a:t>).</a:t>
            </a:r>
          </a:p>
          <a:p>
            <a:r>
              <a:rPr lang="he-IL" b="1" u="sng" dirty="0"/>
              <a:t>מהו מודל הכוכב? </a:t>
            </a:r>
            <a:r>
              <a:rPr lang="he-IL" dirty="0"/>
              <a:t>מודל הכוכב הוא מודל לניהול סיכוני אבטחת מידע בחברות שונות. המודל </a:t>
            </a:r>
            <a:r>
              <a:rPr lang="he-IL" b="1" dirty="0"/>
              <a:t>תפקידו להציג בצורה פשוטה ומובנית את המרכיבים השונים של אבטחת המידע בחברה שלנו, ולהראות כיצד הם קשורים זה לזה.</a:t>
            </a:r>
            <a:r>
              <a:rPr lang="he-IL" dirty="0"/>
              <a:t> המודל מבוסס על כך שבמרכז הכוכב נמצא הליבה שהוא בעצם המידע החשוב ביותר שמוגן על ידי מספר שכבות הגנה – כמובן בהמשך תהיה דוגמא מעשית בכדי שנוכל לשכך את האוזן.</a:t>
            </a:r>
          </a:p>
          <a:p>
            <a:endParaRPr lang="he-IL" dirty="0"/>
          </a:p>
        </p:txBody>
      </p:sp>
    </p:spTree>
    <p:extLst>
      <p:ext uri="{BB962C8B-B14F-4D97-AF65-F5344CB8AC3E}">
        <p14:creationId xmlns:p14="http://schemas.microsoft.com/office/powerpoint/2010/main" val="19428308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696D3891-95CE-4380-94BD-74DD89A7DE8E}"/>
              </a:ext>
            </a:extLst>
          </p:cNvPr>
          <p:cNvSpPr>
            <a:spLocks noGrp="1"/>
          </p:cNvSpPr>
          <p:nvPr>
            <p:ph type="title"/>
          </p:nvPr>
        </p:nvSpPr>
        <p:spPr>
          <a:xfrm>
            <a:off x="4562060" y="642594"/>
            <a:ext cx="6563139" cy="1371600"/>
          </a:xfrm>
        </p:spPr>
        <p:txBody>
          <a:bodyPr/>
          <a:lstStyle/>
          <a:p>
            <a:r>
              <a:rPr lang="he-IL" dirty="0"/>
              <a:t>ממה מורכב מודל הכוכב?</a:t>
            </a:r>
          </a:p>
        </p:txBody>
      </p:sp>
      <p:sp>
        <p:nvSpPr>
          <p:cNvPr id="3" name="מציין מיקום תוכן 2">
            <a:extLst>
              <a:ext uri="{FF2B5EF4-FFF2-40B4-BE49-F238E27FC236}">
                <a16:creationId xmlns:a16="http://schemas.microsoft.com/office/drawing/2014/main" id="{76E8F36D-1388-4B9E-A809-D6BCD383C8D5}"/>
              </a:ext>
            </a:extLst>
          </p:cNvPr>
          <p:cNvSpPr>
            <a:spLocks noGrp="1"/>
          </p:cNvSpPr>
          <p:nvPr>
            <p:ph idx="1"/>
          </p:nvPr>
        </p:nvSpPr>
        <p:spPr/>
        <p:txBody>
          <a:bodyPr/>
          <a:lstStyle/>
          <a:p>
            <a:r>
              <a:rPr lang="he-IL" dirty="0"/>
              <a:t>במודל הכוכב, יש חמישה מרכיבים מרכזיים המיוצגים ע"י </a:t>
            </a:r>
            <a:r>
              <a:rPr lang="he-IL" dirty="0" err="1"/>
              <a:t>קודקודים</a:t>
            </a:r>
            <a:r>
              <a:rPr lang="he-IL" dirty="0"/>
              <a:t> של כוכב, וכל אחד מהם מייצג תחום חשוב באבטחת מידע, ואלו הן:</a:t>
            </a:r>
          </a:p>
          <a:p>
            <a:r>
              <a:rPr lang="he-IL" dirty="0"/>
              <a:t>1. אנשים </a:t>
            </a:r>
            <a:r>
              <a:rPr lang="en-US" dirty="0"/>
              <a:t>People</a:t>
            </a:r>
            <a:endParaRPr lang="he-IL" dirty="0"/>
          </a:p>
          <a:p>
            <a:r>
              <a:rPr lang="he-IL" dirty="0"/>
              <a:t>2. תהליכים </a:t>
            </a:r>
            <a:r>
              <a:rPr lang="en-US" dirty="0"/>
              <a:t>Processes</a:t>
            </a:r>
            <a:endParaRPr lang="he-IL" dirty="0"/>
          </a:p>
          <a:p>
            <a:r>
              <a:rPr lang="he-IL" dirty="0"/>
              <a:t>3. טכנולוגיה </a:t>
            </a:r>
            <a:r>
              <a:rPr lang="en-US" dirty="0"/>
              <a:t>Technology</a:t>
            </a:r>
            <a:endParaRPr lang="he-IL" dirty="0"/>
          </a:p>
          <a:p>
            <a:r>
              <a:rPr lang="he-IL" dirty="0"/>
              <a:t>4. סביבה </a:t>
            </a:r>
            <a:r>
              <a:rPr lang="en-US" dirty="0"/>
              <a:t>Environment</a:t>
            </a:r>
            <a:endParaRPr lang="he-IL" dirty="0"/>
          </a:p>
          <a:p>
            <a:r>
              <a:rPr lang="he-IL" dirty="0"/>
              <a:t>5. ניהול סיכונים </a:t>
            </a:r>
            <a:r>
              <a:rPr lang="en-US" dirty="0"/>
              <a:t>Risk Management</a:t>
            </a:r>
            <a:endParaRPr lang="he-IL" dirty="0"/>
          </a:p>
          <a:p>
            <a:r>
              <a:rPr lang="he-IL" dirty="0"/>
              <a:t>ועכשיו ב-5 מצגות הבאות אנו נפתח ונסביר כל אחד ואחד מהם.</a:t>
            </a:r>
          </a:p>
          <a:p>
            <a:endParaRPr lang="he-IL" dirty="0"/>
          </a:p>
        </p:txBody>
      </p:sp>
    </p:spTree>
    <p:extLst>
      <p:ext uri="{BB962C8B-B14F-4D97-AF65-F5344CB8AC3E}">
        <p14:creationId xmlns:p14="http://schemas.microsoft.com/office/powerpoint/2010/main" val="38967804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F26F2973-EAE0-41B9-BD32-AE660EF4B601}"/>
              </a:ext>
            </a:extLst>
          </p:cNvPr>
          <p:cNvSpPr>
            <a:spLocks noGrp="1"/>
          </p:cNvSpPr>
          <p:nvPr>
            <p:ph type="title"/>
          </p:nvPr>
        </p:nvSpPr>
        <p:spPr>
          <a:xfrm>
            <a:off x="4104860" y="642594"/>
            <a:ext cx="7020339" cy="1371600"/>
          </a:xfrm>
        </p:spPr>
        <p:txBody>
          <a:bodyPr/>
          <a:lstStyle/>
          <a:p>
            <a:r>
              <a:rPr lang="he-IL" dirty="0"/>
              <a:t>מרכיב מודל הכוכב - אנשים </a:t>
            </a:r>
          </a:p>
        </p:txBody>
      </p:sp>
      <p:sp>
        <p:nvSpPr>
          <p:cNvPr id="3" name="מציין מיקום תוכן 2">
            <a:extLst>
              <a:ext uri="{FF2B5EF4-FFF2-40B4-BE49-F238E27FC236}">
                <a16:creationId xmlns:a16="http://schemas.microsoft.com/office/drawing/2014/main" id="{D9304A41-B0E3-4183-8C0C-9F04973B006F}"/>
              </a:ext>
            </a:extLst>
          </p:cNvPr>
          <p:cNvSpPr>
            <a:spLocks noGrp="1"/>
          </p:cNvSpPr>
          <p:nvPr>
            <p:ph idx="1"/>
          </p:nvPr>
        </p:nvSpPr>
        <p:spPr/>
        <p:txBody>
          <a:bodyPr/>
          <a:lstStyle/>
          <a:p>
            <a:r>
              <a:rPr lang="he-IL" b="1" dirty="0"/>
              <a:t>מרכיב: </a:t>
            </a:r>
            <a:r>
              <a:rPr lang="he-IL" dirty="0"/>
              <a:t>אנשים </a:t>
            </a:r>
            <a:r>
              <a:rPr lang="en-US" dirty="0"/>
              <a:t>People</a:t>
            </a:r>
          </a:p>
          <a:p>
            <a:r>
              <a:rPr lang="he-IL" b="1" dirty="0"/>
              <a:t>ביאור </a:t>
            </a:r>
            <a:r>
              <a:rPr lang="he-IL" b="1" dirty="0" err="1"/>
              <a:t>העיניין</a:t>
            </a:r>
            <a:r>
              <a:rPr lang="he-IL" b="1" dirty="0"/>
              <a:t>:</a:t>
            </a:r>
            <a:r>
              <a:rPr lang="he-IL" dirty="0"/>
              <a:t> האנשים בארגון הם אחד המרכיבים החשובים ביותר באבטחת מידע. הם כוללים את כל העובדים, מנהלים, ספקים ושותפים (כל מיני סוגי שותפים, והמבין יבין).</a:t>
            </a:r>
          </a:p>
          <a:p>
            <a:r>
              <a:rPr lang="he-IL" b="1" dirty="0"/>
              <a:t>אפשרויות שיכולות לסייע בדבר:</a:t>
            </a:r>
            <a:r>
              <a:rPr lang="he-IL" dirty="0"/>
              <a:t> הדרכה, מודעות, ניהול זהויות והרשאות.</a:t>
            </a:r>
          </a:p>
          <a:p>
            <a:r>
              <a:rPr lang="he-IL" b="1" dirty="0" err="1"/>
              <a:t>לדומא</a:t>
            </a:r>
            <a:r>
              <a:rPr lang="he-IL" b="1" dirty="0"/>
              <a:t>:</a:t>
            </a:r>
            <a:r>
              <a:rPr lang="he-IL" dirty="0"/>
              <a:t> קיום הדרכות באבטחת מידע וסייבר לעובדים יכול לעזור למנוע התקפות של </a:t>
            </a:r>
            <a:r>
              <a:rPr lang="he-IL" dirty="0" err="1"/>
              <a:t>פישינג</a:t>
            </a:r>
            <a:r>
              <a:rPr lang="he-IL" dirty="0"/>
              <a:t>.</a:t>
            </a:r>
          </a:p>
          <a:p>
            <a:endParaRPr lang="he-IL" dirty="0"/>
          </a:p>
        </p:txBody>
      </p:sp>
    </p:spTree>
    <p:extLst>
      <p:ext uri="{BB962C8B-B14F-4D97-AF65-F5344CB8AC3E}">
        <p14:creationId xmlns:p14="http://schemas.microsoft.com/office/powerpoint/2010/main" val="16264920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C995AE81-661A-4CDD-A6AF-2FAF7E8A9523}"/>
              </a:ext>
            </a:extLst>
          </p:cNvPr>
          <p:cNvSpPr>
            <a:spLocks noGrp="1"/>
          </p:cNvSpPr>
          <p:nvPr>
            <p:ph type="title"/>
          </p:nvPr>
        </p:nvSpPr>
        <p:spPr>
          <a:xfrm>
            <a:off x="3508512" y="642594"/>
            <a:ext cx="7616687" cy="1371600"/>
          </a:xfrm>
        </p:spPr>
        <p:txBody>
          <a:bodyPr/>
          <a:lstStyle/>
          <a:p>
            <a:r>
              <a:rPr lang="he-IL" dirty="0"/>
              <a:t>מרכיב מודל הכוכב - תהליכים </a:t>
            </a:r>
          </a:p>
        </p:txBody>
      </p:sp>
      <p:sp>
        <p:nvSpPr>
          <p:cNvPr id="3" name="מציין מיקום תוכן 2">
            <a:extLst>
              <a:ext uri="{FF2B5EF4-FFF2-40B4-BE49-F238E27FC236}">
                <a16:creationId xmlns:a16="http://schemas.microsoft.com/office/drawing/2014/main" id="{5A469CC5-B910-492B-97BE-CDFBD40616B2}"/>
              </a:ext>
            </a:extLst>
          </p:cNvPr>
          <p:cNvSpPr>
            <a:spLocks noGrp="1"/>
          </p:cNvSpPr>
          <p:nvPr>
            <p:ph idx="1"/>
          </p:nvPr>
        </p:nvSpPr>
        <p:spPr/>
        <p:txBody>
          <a:bodyPr/>
          <a:lstStyle/>
          <a:p>
            <a:r>
              <a:rPr lang="he-IL" b="1" dirty="0"/>
              <a:t>מרכיב: </a:t>
            </a:r>
            <a:r>
              <a:rPr lang="he-IL" dirty="0"/>
              <a:t>תהליכים </a:t>
            </a:r>
            <a:r>
              <a:rPr lang="en-US" dirty="0"/>
              <a:t>Processes</a:t>
            </a:r>
          </a:p>
          <a:p>
            <a:r>
              <a:rPr lang="he-IL" b="1" dirty="0"/>
              <a:t>ביאור </a:t>
            </a:r>
            <a:r>
              <a:rPr lang="he-IL" b="1" dirty="0" err="1"/>
              <a:t>העיניין</a:t>
            </a:r>
            <a:r>
              <a:rPr lang="he-IL" b="1" dirty="0"/>
              <a:t>:</a:t>
            </a:r>
            <a:r>
              <a:rPr lang="he-IL" dirty="0"/>
              <a:t> תהליכים הם הנהלים והמדיניות שמנהלים את אופן העבודה של החברה בתחום אבטחת מידע.</a:t>
            </a:r>
          </a:p>
          <a:p>
            <a:r>
              <a:rPr lang="he-IL" b="1" dirty="0"/>
              <a:t>אפשרויות שיכולות לסייע בדבר: </a:t>
            </a:r>
            <a:r>
              <a:rPr lang="he-IL" dirty="0"/>
              <a:t>מדיניות אבטחת מידע, נהלי גיבוי ושחזור, בקרת גישה.</a:t>
            </a:r>
          </a:p>
          <a:p>
            <a:r>
              <a:rPr lang="he-IL" b="1" dirty="0"/>
              <a:t>לדוגמא:</a:t>
            </a:r>
            <a:r>
              <a:rPr lang="he-IL" dirty="0"/>
              <a:t> תהליך מוגדר לשחזור מידע במקרה של תקלה כל שהיא במערכת של החברה.</a:t>
            </a:r>
          </a:p>
          <a:p>
            <a:endParaRPr lang="he-IL" dirty="0"/>
          </a:p>
        </p:txBody>
      </p:sp>
    </p:spTree>
    <p:extLst>
      <p:ext uri="{BB962C8B-B14F-4D97-AF65-F5344CB8AC3E}">
        <p14:creationId xmlns:p14="http://schemas.microsoft.com/office/powerpoint/2010/main" val="19179473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E5FCE416-F3D2-45F3-9CA4-4D1172751BCC}"/>
              </a:ext>
            </a:extLst>
          </p:cNvPr>
          <p:cNvSpPr>
            <a:spLocks noGrp="1"/>
          </p:cNvSpPr>
          <p:nvPr>
            <p:ph type="title"/>
          </p:nvPr>
        </p:nvSpPr>
        <p:spPr>
          <a:xfrm>
            <a:off x="3468756" y="642594"/>
            <a:ext cx="7656443" cy="1371600"/>
          </a:xfrm>
        </p:spPr>
        <p:txBody>
          <a:bodyPr/>
          <a:lstStyle/>
          <a:p>
            <a:r>
              <a:rPr lang="he-IL" dirty="0"/>
              <a:t>מרכיב מודל הכוכב - טכנולוגיה</a:t>
            </a:r>
          </a:p>
        </p:txBody>
      </p:sp>
      <p:sp>
        <p:nvSpPr>
          <p:cNvPr id="3" name="מציין מיקום תוכן 2">
            <a:extLst>
              <a:ext uri="{FF2B5EF4-FFF2-40B4-BE49-F238E27FC236}">
                <a16:creationId xmlns:a16="http://schemas.microsoft.com/office/drawing/2014/main" id="{6728E4B9-C07F-4EC9-8A3F-9325485E6BB9}"/>
              </a:ext>
            </a:extLst>
          </p:cNvPr>
          <p:cNvSpPr>
            <a:spLocks noGrp="1"/>
          </p:cNvSpPr>
          <p:nvPr>
            <p:ph idx="1"/>
          </p:nvPr>
        </p:nvSpPr>
        <p:spPr/>
        <p:txBody>
          <a:bodyPr/>
          <a:lstStyle/>
          <a:p>
            <a:r>
              <a:rPr lang="he-IL" b="1" dirty="0"/>
              <a:t>המרכיב: </a:t>
            </a:r>
            <a:r>
              <a:rPr lang="he-IL" dirty="0"/>
              <a:t>טכנולוגיה </a:t>
            </a:r>
            <a:r>
              <a:rPr lang="en-US" dirty="0"/>
              <a:t>Technology</a:t>
            </a:r>
          </a:p>
          <a:p>
            <a:r>
              <a:rPr lang="he-IL" b="1" dirty="0"/>
              <a:t>ביאור </a:t>
            </a:r>
            <a:r>
              <a:rPr lang="he-IL" b="1" dirty="0" err="1"/>
              <a:t>העיניין</a:t>
            </a:r>
            <a:r>
              <a:rPr lang="he-IL" b="1" dirty="0"/>
              <a:t>:</a:t>
            </a:r>
            <a:r>
              <a:rPr lang="he-IL" dirty="0"/>
              <a:t> הטכנולוגיות הן הכלים והמכשירים שמשמשים לאבטחת מידע בארגון.</a:t>
            </a:r>
          </a:p>
          <a:p>
            <a:r>
              <a:rPr lang="he-IL" b="1" dirty="0"/>
              <a:t>אפשריות שיכולות לסייע בדבר:</a:t>
            </a:r>
            <a:r>
              <a:rPr lang="he-IL" dirty="0"/>
              <a:t> שימוש במערכות הגנה כמו אנטי וירוס והצפנה.</a:t>
            </a:r>
          </a:p>
          <a:p>
            <a:r>
              <a:rPr lang="he-IL" b="1" dirty="0"/>
              <a:t>לדוגמא:</a:t>
            </a:r>
            <a:r>
              <a:rPr lang="he-IL" dirty="0"/>
              <a:t> התקנת תוכנות של אנטי וירוס על כל המחשבים בחברה וכל זה בכדי למנוע חדירות של תוכנות זדוניות.</a:t>
            </a:r>
          </a:p>
          <a:p>
            <a:endParaRPr lang="he-IL" dirty="0"/>
          </a:p>
        </p:txBody>
      </p:sp>
    </p:spTree>
    <p:extLst>
      <p:ext uri="{BB962C8B-B14F-4D97-AF65-F5344CB8AC3E}">
        <p14:creationId xmlns:p14="http://schemas.microsoft.com/office/powerpoint/2010/main" val="31477511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714F8098-5A0E-4015-B0E4-8027518FF240}"/>
              </a:ext>
            </a:extLst>
          </p:cNvPr>
          <p:cNvSpPr>
            <a:spLocks noGrp="1"/>
          </p:cNvSpPr>
          <p:nvPr>
            <p:ph type="title"/>
          </p:nvPr>
        </p:nvSpPr>
        <p:spPr>
          <a:xfrm>
            <a:off x="4174434" y="642594"/>
            <a:ext cx="6950765" cy="1371600"/>
          </a:xfrm>
        </p:spPr>
        <p:txBody>
          <a:bodyPr/>
          <a:lstStyle/>
          <a:p>
            <a:r>
              <a:rPr lang="he-IL" dirty="0"/>
              <a:t>מרכיב מודל בכוכב - סביבה </a:t>
            </a:r>
          </a:p>
        </p:txBody>
      </p:sp>
      <p:sp>
        <p:nvSpPr>
          <p:cNvPr id="3" name="מציין מיקום תוכן 2">
            <a:extLst>
              <a:ext uri="{FF2B5EF4-FFF2-40B4-BE49-F238E27FC236}">
                <a16:creationId xmlns:a16="http://schemas.microsoft.com/office/drawing/2014/main" id="{76AFC54F-DC7A-436E-AC87-9E097EE717A0}"/>
              </a:ext>
            </a:extLst>
          </p:cNvPr>
          <p:cNvSpPr>
            <a:spLocks noGrp="1"/>
          </p:cNvSpPr>
          <p:nvPr>
            <p:ph idx="1"/>
          </p:nvPr>
        </p:nvSpPr>
        <p:spPr/>
        <p:txBody>
          <a:bodyPr/>
          <a:lstStyle/>
          <a:p>
            <a:r>
              <a:rPr lang="he-IL" b="1" dirty="0"/>
              <a:t>מרכיב: </a:t>
            </a:r>
            <a:r>
              <a:rPr lang="he-IL" dirty="0"/>
              <a:t>סביבה </a:t>
            </a:r>
            <a:r>
              <a:rPr lang="en-US" dirty="0"/>
              <a:t>Environment</a:t>
            </a:r>
          </a:p>
          <a:p>
            <a:r>
              <a:rPr lang="he-IL" b="1" dirty="0"/>
              <a:t>ביאור </a:t>
            </a:r>
            <a:r>
              <a:rPr lang="he-IL" b="1" dirty="0" err="1"/>
              <a:t>העיניין</a:t>
            </a:r>
            <a:r>
              <a:rPr lang="he-IL" b="1" dirty="0"/>
              <a:t>:</a:t>
            </a:r>
            <a:r>
              <a:rPr lang="he-IL" dirty="0"/>
              <a:t> הסביבה הפיזית והטכנולוגית שבה החברה פועלת.</a:t>
            </a:r>
          </a:p>
          <a:p>
            <a:r>
              <a:rPr lang="he-IL" b="1" dirty="0"/>
              <a:t>אפשרויות שיכולות לסייע בדבר:</a:t>
            </a:r>
            <a:r>
              <a:rPr lang="he-IL" dirty="0"/>
              <a:t> הגנה פיזית על מתקנים- כמו </a:t>
            </a:r>
            <a:r>
              <a:rPr lang="he-IL" dirty="0" err="1"/>
              <a:t>ליתן</a:t>
            </a:r>
            <a:r>
              <a:rPr lang="he-IL" dirty="0"/>
              <a:t> מאבטחים, ניהול גישה פיזית.</a:t>
            </a:r>
          </a:p>
          <a:p>
            <a:r>
              <a:rPr lang="he-IL" b="1" dirty="0"/>
              <a:t>לדוגמא:</a:t>
            </a:r>
            <a:r>
              <a:rPr lang="he-IL" dirty="0"/>
              <a:t> התקנת מצלמות אבטחה ובקרת גישה בחדרי שרתים.</a:t>
            </a:r>
          </a:p>
          <a:p>
            <a:endParaRPr lang="he-IL" dirty="0"/>
          </a:p>
        </p:txBody>
      </p:sp>
    </p:spTree>
    <p:extLst>
      <p:ext uri="{BB962C8B-B14F-4D97-AF65-F5344CB8AC3E}">
        <p14:creationId xmlns:p14="http://schemas.microsoft.com/office/powerpoint/2010/main" val="35888086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A8309780-204B-48A4-8551-3EAB4039AE02}"/>
              </a:ext>
            </a:extLst>
          </p:cNvPr>
          <p:cNvSpPr>
            <a:spLocks noGrp="1"/>
          </p:cNvSpPr>
          <p:nvPr>
            <p:ph type="title"/>
          </p:nvPr>
        </p:nvSpPr>
        <p:spPr>
          <a:xfrm>
            <a:off x="2584174" y="642594"/>
            <a:ext cx="8541026" cy="1371600"/>
          </a:xfrm>
        </p:spPr>
        <p:txBody>
          <a:bodyPr/>
          <a:lstStyle/>
          <a:p>
            <a:r>
              <a:rPr lang="he-IL" dirty="0"/>
              <a:t>מרכיב מודל הכוכב - ניהול סיכונים </a:t>
            </a:r>
          </a:p>
        </p:txBody>
      </p:sp>
      <p:sp>
        <p:nvSpPr>
          <p:cNvPr id="3" name="מציין מיקום תוכן 2">
            <a:extLst>
              <a:ext uri="{FF2B5EF4-FFF2-40B4-BE49-F238E27FC236}">
                <a16:creationId xmlns:a16="http://schemas.microsoft.com/office/drawing/2014/main" id="{6120E3CC-E69B-465C-B6CF-186E0F972EB8}"/>
              </a:ext>
            </a:extLst>
          </p:cNvPr>
          <p:cNvSpPr>
            <a:spLocks noGrp="1"/>
          </p:cNvSpPr>
          <p:nvPr>
            <p:ph idx="1"/>
          </p:nvPr>
        </p:nvSpPr>
        <p:spPr/>
        <p:txBody>
          <a:bodyPr/>
          <a:lstStyle/>
          <a:p>
            <a:r>
              <a:rPr lang="he-IL" b="1" dirty="0"/>
              <a:t>מרכיב: </a:t>
            </a:r>
            <a:r>
              <a:rPr lang="he-IL" dirty="0"/>
              <a:t>ניהול סיכונים </a:t>
            </a:r>
            <a:r>
              <a:rPr lang="en-US" dirty="0"/>
              <a:t>Risk Management</a:t>
            </a:r>
          </a:p>
          <a:p>
            <a:r>
              <a:rPr lang="he-IL" b="1" dirty="0"/>
              <a:t>ביאור </a:t>
            </a:r>
            <a:r>
              <a:rPr lang="he-IL" b="1" dirty="0" err="1"/>
              <a:t>העיניין</a:t>
            </a:r>
            <a:r>
              <a:rPr lang="he-IL" b="1" dirty="0"/>
              <a:t>:</a:t>
            </a:r>
            <a:r>
              <a:rPr lang="he-IL" dirty="0"/>
              <a:t> ניהול הסיכונים הוא תהליך של זיהוי.</a:t>
            </a:r>
          </a:p>
          <a:p>
            <a:r>
              <a:rPr lang="he-IL" b="1" dirty="0"/>
              <a:t>אפשרויות שיכולות לסייע בדבר:</a:t>
            </a:r>
            <a:r>
              <a:rPr lang="he-IL" dirty="0"/>
              <a:t> הערכת סיכונים, ניטור שוטף, תגובה לאירועים.</a:t>
            </a:r>
          </a:p>
          <a:p>
            <a:r>
              <a:rPr lang="he-IL" b="1" dirty="0"/>
              <a:t>לדוגמא:</a:t>
            </a:r>
            <a:r>
              <a:rPr lang="he-IL" dirty="0"/>
              <a:t> ביצוע הערכת סיכונים שנתית כדי לזהות ולהתמודד עם איומים חדשים.</a:t>
            </a:r>
          </a:p>
          <a:p>
            <a:endParaRPr lang="he-IL" dirty="0"/>
          </a:p>
        </p:txBody>
      </p:sp>
    </p:spTree>
    <p:extLst>
      <p:ext uri="{BB962C8B-B14F-4D97-AF65-F5344CB8AC3E}">
        <p14:creationId xmlns:p14="http://schemas.microsoft.com/office/powerpoint/2010/main" val="41842793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2B7343FF-F328-4FD5-A84D-8FA14CD452B4}"/>
              </a:ext>
            </a:extLst>
          </p:cNvPr>
          <p:cNvSpPr>
            <a:spLocks noGrp="1"/>
          </p:cNvSpPr>
          <p:nvPr>
            <p:ph type="title"/>
          </p:nvPr>
        </p:nvSpPr>
        <p:spPr>
          <a:xfrm>
            <a:off x="5118652" y="642594"/>
            <a:ext cx="6006548" cy="1371600"/>
          </a:xfrm>
        </p:spPr>
        <p:txBody>
          <a:bodyPr/>
          <a:lstStyle/>
          <a:p>
            <a:r>
              <a:rPr lang="he-IL" dirty="0"/>
              <a:t>כיצד מודל הכוכב עובד?</a:t>
            </a:r>
          </a:p>
        </p:txBody>
      </p:sp>
      <p:sp>
        <p:nvSpPr>
          <p:cNvPr id="3" name="מציין מיקום תוכן 2">
            <a:extLst>
              <a:ext uri="{FF2B5EF4-FFF2-40B4-BE49-F238E27FC236}">
                <a16:creationId xmlns:a16="http://schemas.microsoft.com/office/drawing/2014/main" id="{15CA33D8-9F3D-4BC5-B3A5-5100C5E88D52}"/>
              </a:ext>
            </a:extLst>
          </p:cNvPr>
          <p:cNvSpPr>
            <a:spLocks noGrp="1"/>
          </p:cNvSpPr>
          <p:nvPr>
            <p:ph idx="1"/>
          </p:nvPr>
        </p:nvSpPr>
        <p:spPr/>
        <p:txBody>
          <a:bodyPr/>
          <a:lstStyle/>
          <a:p>
            <a:r>
              <a:rPr lang="he-IL" dirty="0"/>
              <a:t>המודל יוצא מנקודת הנחה שהחברה צריכה להגן על הליבה שהוא בעצם המידע הרגיש, ע"י הקפדה על חמישה המרכיבים האלה. לכל מרכיב יש תפקיד חשוב בהגנה על המידע, וכשהם פועלים יחד בצורה, הם יוצרים הגנה מקיפה ועמידה כמעט לכל דבר.</a:t>
            </a:r>
          </a:p>
          <a:p>
            <a:r>
              <a:rPr lang="he-IL" dirty="0"/>
              <a:t>ועכשיו נראה דוגמא לדבר..</a:t>
            </a:r>
          </a:p>
        </p:txBody>
      </p:sp>
    </p:spTree>
    <p:extLst>
      <p:ext uri="{BB962C8B-B14F-4D97-AF65-F5344CB8AC3E}">
        <p14:creationId xmlns:p14="http://schemas.microsoft.com/office/powerpoint/2010/main" val="18778581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46C33F96-9D2E-46A6-87CB-4F7F93B286CE}"/>
              </a:ext>
            </a:extLst>
          </p:cNvPr>
          <p:cNvSpPr>
            <a:spLocks noGrp="1"/>
          </p:cNvSpPr>
          <p:nvPr>
            <p:ph type="title"/>
          </p:nvPr>
        </p:nvSpPr>
        <p:spPr>
          <a:xfrm>
            <a:off x="1967948" y="642594"/>
            <a:ext cx="9157252" cy="1371600"/>
          </a:xfrm>
        </p:spPr>
        <p:txBody>
          <a:bodyPr>
            <a:normAutofit fontScale="90000"/>
          </a:bodyPr>
          <a:lstStyle/>
          <a:p>
            <a:r>
              <a:rPr lang="he-IL" dirty="0"/>
              <a:t>דוגמא הלכה למעשה ליישום מודל הכוכב</a:t>
            </a:r>
          </a:p>
        </p:txBody>
      </p:sp>
      <p:sp>
        <p:nvSpPr>
          <p:cNvPr id="3" name="מציין מיקום תוכן 2">
            <a:extLst>
              <a:ext uri="{FF2B5EF4-FFF2-40B4-BE49-F238E27FC236}">
                <a16:creationId xmlns:a16="http://schemas.microsoft.com/office/drawing/2014/main" id="{56CE2B4C-4FA4-4918-B8FA-05162204ACA9}"/>
              </a:ext>
            </a:extLst>
          </p:cNvPr>
          <p:cNvSpPr>
            <a:spLocks noGrp="1"/>
          </p:cNvSpPr>
          <p:nvPr>
            <p:ph idx="1"/>
          </p:nvPr>
        </p:nvSpPr>
        <p:spPr/>
        <p:txBody>
          <a:bodyPr>
            <a:normAutofit/>
          </a:bodyPr>
          <a:lstStyle/>
          <a:p>
            <a:r>
              <a:rPr lang="he-IL" dirty="0"/>
              <a:t>החברה רוצה להגן על המדע הרגיש שלה.</a:t>
            </a:r>
          </a:p>
          <a:p>
            <a:r>
              <a:rPr lang="he-IL" b="1" dirty="0"/>
              <a:t>מרכיב: </a:t>
            </a:r>
            <a:r>
              <a:rPr lang="he-IL" dirty="0"/>
              <a:t>אנשים - הדרכות תקופתיות לעובדים על נהלי אבטחת מידע, בנוסף יישום מערכת לניהול זהויות והרשאות כדי לוודא שרק אנשים מורשים יכולים לגשת למידע הרגיש.</a:t>
            </a:r>
          </a:p>
          <a:p>
            <a:r>
              <a:rPr lang="he-IL" b="1" dirty="0"/>
              <a:t>מרכיב: </a:t>
            </a:r>
            <a:r>
              <a:rPr lang="he-IL" dirty="0"/>
              <a:t>תהליכים</a:t>
            </a:r>
            <a:r>
              <a:rPr lang="he-IL" b="1" dirty="0"/>
              <a:t> - </a:t>
            </a:r>
            <a:r>
              <a:rPr lang="he-IL" dirty="0"/>
              <a:t>כתיבת מדיניות אבטחת מידע ברורה ומפורטת, בנוסף קביעת נהלים לשחזור מידע וגיבויים קבועים.</a:t>
            </a:r>
          </a:p>
          <a:p>
            <a:r>
              <a:rPr lang="he-IL" b="1" dirty="0"/>
              <a:t>מרכיב: </a:t>
            </a:r>
            <a:r>
              <a:rPr lang="he-IL" dirty="0"/>
              <a:t>טכנולוגיה</a:t>
            </a:r>
            <a:r>
              <a:rPr lang="he-IL" b="1" dirty="0"/>
              <a:t> - </a:t>
            </a:r>
            <a:r>
              <a:rPr lang="he-IL" dirty="0"/>
              <a:t>התקנת מערכות אנטי וירוס על כל המחשבים והשרתים של החברה, בנוסף שימוש בהצפנה למידע רגיש (וגם לכזה שלא כל כך רגיש).</a:t>
            </a:r>
          </a:p>
          <a:p>
            <a:r>
              <a:rPr lang="he-IL" b="1" dirty="0"/>
              <a:t>מרכיב: </a:t>
            </a:r>
            <a:r>
              <a:rPr lang="he-IL" dirty="0"/>
              <a:t>סביבה</a:t>
            </a:r>
            <a:r>
              <a:rPr lang="he-IL" b="1" dirty="0"/>
              <a:t> - </a:t>
            </a:r>
            <a:r>
              <a:rPr lang="he-IL" dirty="0"/>
              <a:t>התקנת מצלמות אבטחה ובקרות גישה פיזיות בחדרי שרתים ועוד, בנוסף הבטחת גישה פיזית למתקנים רק לאנשים מורשים וידועים.</a:t>
            </a:r>
          </a:p>
          <a:p>
            <a:r>
              <a:rPr lang="he-IL" b="1" dirty="0"/>
              <a:t>מרכיב: </a:t>
            </a:r>
            <a:r>
              <a:rPr lang="he-IL" dirty="0"/>
              <a:t>ניהול סיכונים </a:t>
            </a:r>
            <a:r>
              <a:rPr lang="he-IL" b="1" dirty="0"/>
              <a:t>- </a:t>
            </a:r>
            <a:r>
              <a:rPr lang="he-IL" dirty="0"/>
              <a:t>ביצוע של: הערכות, סיכונים תקופתיות, וכל זה בכדי לזהות איומים חדשים גם ישנים, בנוסף יישום מערכת לחיפוש בכל זמן ועת של פעילות רשת ואירועים חריגים.</a:t>
            </a:r>
          </a:p>
          <a:p>
            <a:endParaRPr lang="he-IL" dirty="0"/>
          </a:p>
          <a:p>
            <a:endParaRPr lang="he-IL" dirty="0"/>
          </a:p>
          <a:p>
            <a:endParaRPr lang="he-IL" dirty="0"/>
          </a:p>
          <a:p>
            <a:endParaRPr lang="he-IL" dirty="0"/>
          </a:p>
          <a:p>
            <a:endParaRPr lang="he-IL" dirty="0"/>
          </a:p>
        </p:txBody>
      </p:sp>
    </p:spTree>
    <p:extLst>
      <p:ext uri="{BB962C8B-B14F-4D97-AF65-F5344CB8AC3E}">
        <p14:creationId xmlns:p14="http://schemas.microsoft.com/office/powerpoint/2010/main" val="9114229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1A2D2AC5-44C7-4E7F-AEDB-D76D7F0762AF}"/>
              </a:ext>
            </a:extLst>
          </p:cNvPr>
          <p:cNvSpPr>
            <a:spLocks noGrp="1"/>
          </p:cNvSpPr>
          <p:nvPr>
            <p:ph type="title"/>
          </p:nvPr>
        </p:nvSpPr>
        <p:spPr>
          <a:xfrm>
            <a:off x="3995530" y="642594"/>
            <a:ext cx="7129670" cy="1371600"/>
          </a:xfrm>
        </p:spPr>
        <p:txBody>
          <a:bodyPr>
            <a:normAutofit fontScale="90000"/>
          </a:bodyPr>
          <a:lstStyle/>
          <a:p>
            <a:r>
              <a:rPr lang="he-IL" dirty="0"/>
              <a:t>שאלה מסכמת על מודל הכוכב: </a:t>
            </a:r>
          </a:p>
        </p:txBody>
      </p:sp>
      <p:sp>
        <p:nvSpPr>
          <p:cNvPr id="3" name="מציין מיקום תוכן 2">
            <a:extLst>
              <a:ext uri="{FF2B5EF4-FFF2-40B4-BE49-F238E27FC236}">
                <a16:creationId xmlns:a16="http://schemas.microsoft.com/office/drawing/2014/main" id="{E800D020-071B-4C0D-8556-97894007798E}"/>
              </a:ext>
            </a:extLst>
          </p:cNvPr>
          <p:cNvSpPr>
            <a:spLocks noGrp="1"/>
          </p:cNvSpPr>
          <p:nvPr>
            <p:ph idx="1"/>
          </p:nvPr>
        </p:nvSpPr>
        <p:spPr/>
        <p:txBody>
          <a:bodyPr/>
          <a:lstStyle/>
          <a:p>
            <a:r>
              <a:rPr lang="he-IL" dirty="0"/>
              <a:t>שאלה: חברה גדולה בשם </a:t>
            </a:r>
            <a:r>
              <a:rPr lang="en-US" b="1" dirty="0"/>
              <a:t>YANIV.COM</a:t>
            </a:r>
            <a:r>
              <a:rPr lang="he-IL" b="1" dirty="0"/>
              <a:t> </a:t>
            </a:r>
            <a:r>
              <a:rPr lang="he-IL" dirty="0"/>
              <a:t>רוצה להטמיע את מודל הכוכב לניהול אבטחת המידע שלו. במסגרת הטמעת המודל, נדרשת לבצע הערכה של כל אחד ממרכיבי המודל שהם: אנשים, תהליכים, טכנולוגיה, סביבה וניהול סיכונים, ולזהות אפשרויות פגיעה אפשריות.</a:t>
            </a:r>
          </a:p>
          <a:p>
            <a:endParaRPr lang="he-IL" dirty="0"/>
          </a:p>
          <a:p>
            <a:r>
              <a:rPr lang="he-IL" dirty="0"/>
              <a:t>על הסטודנט (היינו עליך): לפרט </a:t>
            </a:r>
            <a:r>
              <a:rPr lang="he-IL" b="1" dirty="0"/>
              <a:t>ולהביא דוגמא אחת לכל מרכיב של המודל</a:t>
            </a:r>
            <a:r>
              <a:rPr lang="he-IL" dirty="0"/>
              <a:t>, המתארת פגיעות אפשרית בארגון.</a:t>
            </a:r>
          </a:p>
          <a:p>
            <a:r>
              <a:rPr lang="he-IL" dirty="0"/>
              <a:t>עליך </a:t>
            </a:r>
            <a:r>
              <a:rPr lang="he-IL" b="1" dirty="0"/>
              <a:t>להסביר כיצד ניתן להתמודד עם כל פגיעות שזוהתה</a:t>
            </a:r>
            <a:r>
              <a:rPr lang="he-IL" dirty="0"/>
              <a:t>, תוך שימוש בנהלים או טכנולוגיות מתאימות.</a:t>
            </a:r>
          </a:p>
          <a:p>
            <a:endParaRPr lang="he-IL" dirty="0"/>
          </a:p>
        </p:txBody>
      </p:sp>
    </p:spTree>
    <p:extLst>
      <p:ext uri="{BB962C8B-B14F-4D97-AF65-F5344CB8AC3E}">
        <p14:creationId xmlns:p14="http://schemas.microsoft.com/office/powerpoint/2010/main" val="9933851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97D69BD7-CA00-4357-ACBA-CCD03E53A5E3}"/>
              </a:ext>
            </a:extLst>
          </p:cNvPr>
          <p:cNvSpPr>
            <a:spLocks noGrp="1"/>
          </p:cNvSpPr>
          <p:nvPr>
            <p:ph type="title"/>
          </p:nvPr>
        </p:nvSpPr>
        <p:spPr>
          <a:xfrm>
            <a:off x="5168348" y="642594"/>
            <a:ext cx="5956852" cy="1371600"/>
          </a:xfrm>
        </p:spPr>
        <p:txBody>
          <a:bodyPr>
            <a:normAutofit fontScale="90000"/>
          </a:bodyPr>
          <a:lstStyle/>
          <a:p>
            <a:r>
              <a:rPr lang="he-IL" dirty="0"/>
              <a:t>(א)תשובה – מודל הכוכב</a:t>
            </a:r>
          </a:p>
        </p:txBody>
      </p:sp>
      <p:sp>
        <p:nvSpPr>
          <p:cNvPr id="3" name="מציין מיקום תוכן 2">
            <a:extLst>
              <a:ext uri="{FF2B5EF4-FFF2-40B4-BE49-F238E27FC236}">
                <a16:creationId xmlns:a16="http://schemas.microsoft.com/office/drawing/2014/main" id="{948A2324-D8C5-4E41-AC76-C585F29E9D5F}"/>
              </a:ext>
            </a:extLst>
          </p:cNvPr>
          <p:cNvSpPr>
            <a:spLocks noGrp="1"/>
          </p:cNvSpPr>
          <p:nvPr>
            <p:ph idx="1"/>
          </p:nvPr>
        </p:nvSpPr>
        <p:spPr/>
        <p:txBody>
          <a:bodyPr/>
          <a:lstStyle/>
          <a:p>
            <a:r>
              <a:rPr lang="he-IL" b="1" dirty="0"/>
              <a:t>מרכיב: </a:t>
            </a:r>
            <a:r>
              <a:rPr lang="he-IL" dirty="0"/>
              <a:t>אנשים </a:t>
            </a:r>
            <a:r>
              <a:rPr lang="en-US" dirty="0"/>
              <a:t>People</a:t>
            </a:r>
          </a:p>
          <a:p>
            <a:r>
              <a:rPr lang="he-IL" b="1" dirty="0"/>
              <a:t>פגיעה אפשרית:</a:t>
            </a:r>
            <a:r>
              <a:rPr lang="he-IL" dirty="0"/>
              <a:t> חוסר מודעות של העובדים </a:t>
            </a:r>
            <a:r>
              <a:rPr lang="he-IL" dirty="0" err="1"/>
              <a:t>לפישינג</a:t>
            </a:r>
            <a:r>
              <a:rPr lang="he-IL" dirty="0"/>
              <a:t>.</a:t>
            </a:r>
          </a:p>
          <a:p>
            <a:r>
              <a:rPr lang="he-IL" b="1" dirty="0"/>
              <a:t>דרכי התמודדות:</a:t>
            </a:r>
            <a:r>
              <a:rPr lang="he-IL" dirty="0"/>
              <a:t> לקיים הדרכות מודעות אבטחת מידע לעובדים על זיהוי והימנעות מהתקפות של </a:t>
            </a:r>
            <a:r>
              <a:rPr lang="he-IL" dirty="0" err="1"/>
              <a:t>פישינג</a:t>
            </a:r>
            <a:r>
              <a:rPr lang="he-IL" dirty="0"/>
              <a:t>.</a:t>
            </a:r>
          </a:p>
          <a:p>
            <a:endParaRPr lang="he-IL" dirty="0"/>
          </a:p>
        </p:txBody>
      </p:sp>
    </p:spTree>
    <p:extLst>
      <p:ext uri="{BB962C8B-B14F-4D97-AF65-F5344CB8AC3E}">
        <p14:creationId xmlns:p14="http://schemas.microsoft.com/office/powerpoint/2010/main" val="11200812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04C29E9D-CB96-43ED-AE55-F9E232FD1A4F}"/>
              </a:ext>
            </a:extLst>
          </p:cNvPr>
          <p:cNvSpPr>
            <a:spLocks noGrp="1"/>
          </p:cNvSpPr>
          <p:nvPr>
            <p:ph type="title"/>
          </p:nvPr>
        </p:nvSpPr>
        <p:spPr>
          <a:xfrm>
            <a:off x="4890052" y="642594"/>
            <a:ext cx="6235148" cy="1371600"/>
          </a:xfrm>
        </p:spPr>
        <p:txBody>
          <a:bodyPr/>
          <a:lstStyle/>
          <a:p>
            <a:r>
              <a:rPr lang="he-IL" dirty="0"/>
              <a:t>(ב)תשובה – מודל הכוכב</a:t>
            </a:r>
          </a:p>
        </p:txBody>
      </p:sp>
      <p:sp>
        <p:nvSpPr>
          <p:cNvPr id="3" name="מציין מיקום תוכן 2">
            <a:extLst>
              <a:ext uri="{FF2B5EF4-FFF2-40B4-BE49-F238E27FC236}">
                <a16:creationId xmlns:a16="http://schemas.microsoft.com/office/drawing/2014/main" id="{E05E7618-641C-4EC8-B851-4B872131E0FE}"/>
              </a:ext>
            </a:extLst>
          </p:cNvPr>
          <p:cNvSpPr>
            <a:spLocks noGrp="1"/>
          </p:cNvSpPr>
          <p:nvPr>
            <p:ph idx="1"/>
          </p:nvPr>
        </p:nvSpPr>
        <p:spPr/>
        <p:txBody>
          <a:bodyPr/>
          <a:lstStyle/>
          <a:p>
            <a:r>
              <a:rPr lang="he-IL" b="1" dirty="0"/>
              <a:t>מרכיב: </a:t>
            </a:r>
            <a:r>
              <a:rPr lang="he-IL" dirty="0"/>
              <a:t>תהליכים </a:t>
            </a:r>
            <a:r>
              <a:rPr lang="en-US" dirty="0"/>
              <a:t>Processes</a:t>
            </a:r>
          </a:p>
          <a:p>
            <a:r>
              <a:rPr lang="he-IL" b="1" dirty="0"/>
              <a:t>פגיעה אפשרית:</a:t>
            </a:r>
            <a:r>
              <a:rPr lang="he-IL" dirty="0"/>
              <a:t> חוסר בתיעוד ובבקרת תהליכי גיבוי ושחזור.</a:t>
            </a:r>
          </a:p>
          <a:p>
            <a:r>
              <a:rPr lang="he-IL" b="1" dirty="0"/>
              <a:t>דרכי התמודדות:</a:t>
            </a:r>
            <a:r>
              <a:rPr lang="he-IL" dirty="0"/>
              <a:t> כתיבת נהלים מסודרים לגיבוי ושחזור, כך שיהיה תיעוד, ובדיקות תקופתיות בכדי שהגיבויים יתבצעו כראוי ושניתן יהיה לשחזר נתונים.</a:t>
            </a:r>
          </a:p>
          <a:p>
            <a:endParaRPr lang="he-IL" dirty="0"/>
          </a:p>
        </p:txBody>
      </p:sp>
    </p:spTree>
    <p:extLst>
      <p:ext uri="{BB962C8B-B14F-4D97-AF65-F5344CB8AC3E}">
        <p14:creationId xmlns:p14="http://schemas.microsoft.com/office/powerpoint/2010/main" val="34982663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DB7B6810-BCB3-42F4-9386-B1D4196346D3}"/>
              </a:ext>
            </a:extLst>
          </p:cNvPr>
          <p:cNvSpPr>
            <a:spLocks noGrp="1"/>
          </p:cNvSpPr>
          <p:nvPr>
            <p:ph type="title"/>
          </p:nvPr>
        </p:nvSpPr>
        <p:spPr>
          <a:xfrm>
            <a:off x="5068956" y="642594"/>
            <a:ext cx="6056243" cy="1371600"/>
          </a:xfrm>
        </p:spPr>
        <p:txBody>
          <a:bodyPr/>
          <a:lstStyle/>
          <a:p>
            <a:r>
              <a:rPr lang="he-IL" dirty="0"/>
              <a:t>(ג)תשובה – מודל הכוכב</a:t>
            </a:r>
          </a:p>
        </p:txBody>
      </p:sp>
      <p:sp>
        <p:nvSpPr>
          <p:cNvPr id="3" name="מציין מיקום תוכן 2">
            <a:extLst>
              <a:ext uri="{FF2B5EF4-FFF2-40B4-BE49-F238E27FC236}">
                <a16:creationId xmlns:a16="http://schemas.microsoft.com/office/drawing/2014/main" id="{F4E8D42F-FA40-4C3B-A820-FE80E59FEB84}"/>
              </a:ext>
            </a:extLst>
          </p:cNvPr>
          <p:cNvSpPr>
            <a:spLocks noGrp="1"/>
          </p:cNvSpPr>
          <p:nvPr>
            <p:ph idx="1"/>
          </p:nvPr>
        </p:nvSpPr>
        <p:spPr/>
        <p:txBody>
          <a:bodyPr/>
          <a:lstStyle/>
          <a:p>
            <a:r>
              <a:rPr lang="he-IL" b="1" dirty="0"/>
              <a:t>מרכיב: </a:t>
            </a:r>
            <a:r>
              <a:rPr lang="he-IL" dirty="0"/>
              <a:t>טכנולוגיה </a:t>
            </a:r>
            <a:r>
              <a:rPr lang="en-US" dirty="0"/>
              <a:t>Technology</a:t>
            </a:r>
            <a:r>
              <a:rPr lang="he-IL" dirty="0"/>
              <a:t> </a:t>
            </a:r>
          </a:p>
          <a:p>
            <a:r>
              <a:rPr lang="he-IL" b="1" dirty="0"/>
              <a:t>פגיעה אפשרית:</a:t>
            </a:r>
            <a:r>
              <a:rPr lang="he-IL" dirty="0"/>
              <a:t> חוסר בהתקנת עדכונים וחוסר תיקונים לתוכנות.</a:t>
            </a:r>
          </a:p>
          <a:p>
            <a:r>
              <a:rPr lang="he-IL" b="1" dirty="0"/>
              <a:t>דרכי התמודדות:</a:t>
            </a:r>
            <a:r>
              <a:rPr lang="he-IL" dirty="0"/>
              <a:t> ליישם מדיניות עדכונים אוטומטיים כך שלכל המערכות והתוכנות בחברה יתבצע הדבר מאליו, ומעקב אחר עדכוני אבטחה מיצרני התוכנה.</a:t>
            </a:r>
          </a:p>
          <a:p>
            <a:endParaRPr lang="he-IL" dirty="0"/>
          </a:p>
        </p:txBody>
      </p:sp>
    </p:spTree>
    <p:extLst>
      <p:ext uri="{BB962C8B-B14F-4D97-AF65-F5344CB8AC3E}">
        <p14:creationId xmlns:p14="http://schemas.microsoft.com/office/powerpoint/2010/main" val="4103384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CBB4214C-1506-46A6-882D-686168CC4828}"/>
              </a:ext>
            </a:extLst>
          </p:cNvPr>
          <p:cNvSpPr>
            <a:spLocks noGrp="1"/>
          </p:cNvSpPr>
          <p:nvPr>
            <p:ph type="title"/>
          </p:nvPr>
        </p:nvSpPr>
        <p:spPr>
          <a:xfrm>
            <a:off x="5059016" y="642594"/>
            <a:ext cx="6066183" cy="1371600"/>
          </a:xfrm>
        </p:spPr>
        <p:txBody>
          <a:bodyPr/>
          <a:lstStyle/>
          <a:p>
            <a:r>
              <a:rPr lang="he-IL" dirty="0"/>
              <a:t>(ד)תשובה – מודל הכוכב</a:t>
            </a:r>
          </a:p>
        </p:txBody>
      </p:sp>
      <p:sp>
        <p:nvSpPr>
          <p:cNvPr id="3" name="מציין מיקום תוכן 2">
            <a:extLst>
              <a:ext uri="{FF2B5EF4-FFF2-40B4-BE49-F238E27FC236}">
                <a16:creationId xmlns:a16="http://schemas.microsoft.com/office/drawing/2014/main" id="{445CB2A0-43C6-45E1-B650-ED5A3F9F51D1}"/>
              </a:ext>
            </a:extLst>
          </p:cNvPr>
          <p:cNvSpPr>
            <a:spLocks noGrp="1"/>
          </p:cNvSpPr>
          <p:nvPr>
            <p:ph idx="1"/>
          </p:nvPr>
        </p:nvSpPr>
        <p:spPr/>
        <p:txBody>
          <a:bodyPr/>
          <a:lstStyle/>
          <a:p>
            <a:r>
              <a:rPr lang="he-IL" b="1" dirty="0"/>
              <a:t>מרכיב: </a:t>
            </a:r>
            <a:r>
              <a:rPr lang="he-IL" dirty="0"/>
              <a:t>סביבה </a:t>
            </a:r>
            <a:r>
              <a:rPr lang="en-US" dirty="0"/>
              <a:t>Environment</a:t>
            </a:r>
          </a:p>
          <a:p>
            <a:r>
              <a:rPr lang="he-IL" b="1" dirty="0"/>
              <a:t>פגיעה אפשרית:</a:t>
            </a:r>
            <a:r>
              <a:rPr lang="he-IL" dirty="0"/>
              <a:t> גישה פיזית בלתי מוגבלת לחדרי שרתים ואזורי עבודה רגישים.</a:t>
            </a:r>
          </a:p>
          <a:p>
            <a:r>
              <a:rPr lang="he-IL" b="1" dirty="0"/>
              <a:t>דרכי התמודדות:</a:t>
            </a:r>
            <a:r>
              <a:rPr lang="he-IL" dirty="0"/>
              <a:t> התקנת מערכות בקרת גישה פיזית, כולל כרטיסי גישה ומצלמות אבטחה, וקביעת נהלי גישה ברורים.</a:t>
            </a:r>
          </a:p>
          <a:p>
            <a:endParaRPr lang="he-IL" dirty="0"/>
          </a:p>
        </p:txBody>
      </p:sp>
    </p:spTree>
    <p:extLst>
      <p:ext uri="{BB962C8B-B14F-4D97-AF65-F5344CB8AC3E}">
        <p14:creationId xmlns:p14="http://schemas.microsoft.com/office/powerpoint/2010/main" val="36984585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3B0E9389-58E0-452E-970C-7569A44E1B99}"/>
              </a:ext>
            </a:extLst>
          </p:cNvPr>
          <p:cNvSpPr>
            <a:spLocks noGrp="1"/>
          </p:cNvSpPr>
          <p:nvPr>
            <p:ph type="title"/>
          </p:nvPr>
        </p:nvSpPr>
        <p:spPr>
          <a:xfrm>
            <a:off x="4909930" y="642594"/>
            <a:ext cx="6215270" cy="1371600"/>
          </a:xfrm>
        </p:spPr>
        <p:txBody>
          <a:bodyPr/>
          <a:lstStyle/>
          <a:p>
            <a:r>
              <a:rPr lang="he-IL" dirty="0"/>
              <a:t>(ה)תשובה – מודל הכוכב</a:t>
            </a:r>
          </a:p>
        </p:txBody>
      </p:sp>
      <p:sp>
        <p:nvSpPr>
          <p:cNvPr id="3" name="מציין מיקום תוכן 2">
            <a:extLst>
              <a:ext uri="{FF2B5EF4-FFF2-40B4-BE49-F238E27FC236}">
                <a16:creationId xmlns:a16="http://schemas.microsoft.com/office/drawing/2014/main" id="{6B28D66C-28A1-4EB5-A4F8-1E004031463C}"/>
              </a:ext>
            </a:extLst>
          </p:cNvPr>
          <p:cNvSpPr>
            <a:spLocks noGrp="1"/>
          </p:cNvSpPr>
          <p:nvPr>
            <p:ph idx="1"/>
          </p:nvPr>
        </p:nvSpPr>
        <p:spPr/>
        <p:txBody>
          <a:bodyPr/>
          <a:lstStyle/>
          <a:p>
            <a:r>
              <a:rPr lang="he-IL" b="1" dirty="0"/>
              <a:t>מרכיב </a:t>
            </a:r>
            <a:r>
              <a:rPr lang="he-IL" dirty="0"/>
              <a:t>ניהול סיכונים </a:t>
            </a:r>
            <a:r>
              <a:rPr lang="en-US" dirty="0"/>
              <a:t>Risk Management</a:t>
            </a:r>
          </a:p>
          <a:p>
            <a:r>
              <a:rPr lang="he-IL" b="1" dirty="0"/>
              <a:t>פגיעה אפשרית:</a:t>
            </a:r>
            <a:r>
              <a:rPr lang="he-IL" dirty="0"/>
              <a:t> חוסר בביצוע הערכות סיכונים תקופתיות.</a:t>
            </a:r>
          </a:p>
          <a:p>
            <a:r>
              <a:rPr lang="he-IL" b="1" dirty="0"/>
              <a:t>דרכי התמודדות:</a:t>
            </a:r>
            <a:r>
              <a:rPr lang="he-IL" dirty="0"/>
              <a:t> ביצוע הערכות סיכונים שנתיות לזיהוי איומים חדשים ויישום מערכות לחיפוש תמידי לאירועים לא רגילים.</a:t>
            </a:r>
          </a:p>
        </p:txBody>
      </p:sp>
    </p:spTree>
    <p:extLst>
      <p:ext uri="{BB962C8B-B14F-4D97-AF65-F5344CB8AC3E}">
        <p14:creationId xmlns:p14="http://schemas.microsoft.com/office/powerpoint/2010/main" val="34140244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B273F990-7B46-462A-BC72-C7F059CFAF45}"/>
              </a:ext>
            </a:extLst>
          </p:cNvPr>
          <p:cNvSpPr>
            <a:spLocks noGrp="1"/>
          </p:cNvSpPr>
          <p:nvPr>
            <p:ph type="title"/>
          </p:nvPr>
        </p:nvSpPr>
        <p:spPr>
          <a:xfrm>
            <a:off x="1066800" y="731520"/>
            <a:ext cx="10184296" cy="1371600"/>
          </a:xfrm>
        </p:spPr>
        <p:txBody>
          <a:bodyPr>
            <a:normAutofit fontScale="90000"/>
          </a:bodyPr>
          <a:lstStyle/>
          <a:p>
            <a:r>
              <a:rPr lang="he-IL" dirty="0"/>
              <a:t>מודל שבע השכבות של:</a:t>
            </a:r>
            <a:r>
              <a:rPr lang="en-US" dirty="0"/>
              <a:t> Depth in Defense </a:t>
            </a:r>
            <a:r>
              <a:rPr lang="he-IL" dirty="0"/>
              <a:t> </a:t>
            </a:r>
          </a:p>
        </p:txBody>
      </p:sp>
      <p:sp>
        <p:nvSpPr>
          <p:cNvPr id="3" name="מציין מיקום תוכן 2">
            <a:extLst>
              <a:ext uri="{FF2B5EF4-FFF2-40B4-BE49-F238E27FC236}">
                <a16:creationId xmlns:a16="http://schemas.microsoft.com/office/drawing/2014/main" id="{A45B11CD-72B3-4434-A3B8-851BD260CF24}"/>
              </a:ext>
            </a:extLst>
          </p:cNvPr>
          <p:cNvSpPr>
            <a:spLocks noGrp="1"/>
          </p:cNvSpPr>
          <p:nvPr>
            <p:ph idx="1"/>
          </p:nvPr>
        </p:nvSpPr>
        <p:spPr/>
        <p:txBody>
          <a:bodyPr>
            <a:normAutofit fontScale="92500" lnSpcReduction="10000"/>
          </a:bodyPr>
          <a:lstStyle/>
          <a:p>
            <a:r>
              <a:rPr lang="he-IL" dirty="0"/>
              <a:t>מודל שבע השכבות של </a:t>
            </a:r>
            <a:r>
              <a:rPr lang="en-US" dirty="0"/>
              <a:t>Depth in Defense </a:t>
            </a:r>
            <a:r>
              <a:rPr lang="he-IL" dirty="0"/>
              <a:t> הוא מודל שנועד להגן על מערכות מידע ע"י שימוש ברבדים רבים של הגנה ואבטחה. הרעיון המרכזי במודל הוא שבמקום להסתמך על שכבת הגנה אחת בלבד, יוצרים מספר שכבות הגנה, כך שאם שכבה אחת נפרצת, השכבות האחרות ימשיכו להגן על המידע.</a:t>
            </a:r>
          </a:p>
          <a:p>
            <a:r>
              <a:rPr lang="he-IL" dirty="0"/>
              <a:t>למודל הנ"ל 7 שכבות, ואלו הן:</a:t>
            </a:r>
          </a:p>
          <a:p>
            <a:r>
              <a:rPr lang="he-IL" dirty="0"/>
              <a:t>1. אבטחה פיזית</a:t>
            </a:r>
          </a:p>
          <a:p>
            <a:r>
              <a:rPr lang="he-IL" dirty="0"/>
              <a:t>2. אבטחת רשת</a:t>
            </a:r>
          </a:p>
          <a:p>
            <a:r>
              <a:rPr lang="he-IL" dirty="0"/>
              <a:t>3. אבטחת היקף</a:t>
            </a:r>
          </a:p>
          <a:p>
            <a:r>
              <a:rPr lang="he-IL" dirty="0"/>
              <a:t>4. אבטחת נקודת קצה</a:t>
            </a:r>
          </a:p>
          <a:p>
            <a:r>
              <a:rPr lang="he-IL" dirty="0"/>
              <a:t>5. אבטחת יישומים</a:t>
            </a:r>
          </a:p>
          <a:p>
            <a:r>
              <a:rPr lang="he-IL" dirty="0"/>
              <a:t>6. אבטחת נתונים</a:t>
            </a:r>
          </a:p>
          <a:p>
            <a:r>
              <a:rPr lang="he-IL" dirty="0"/>
              <a:t>7. נהלים ומודעות – מדיניות</a:t>
            </a:r>
          </a:p>
          <a:p>
            <a:r>
              <a:rPr lang="he-IL" dirty="0"/>
              <a:t>*ב-7 המצגות הבאים נסביר מה תפקידה של כל שכבה ושכבה במודל.</a:t>
            </a:r>
          </a:p>
        </p:txBody>
      </p:sp>
    </p:spTree>
    <p:extLst>
      <p:ext uri="{BB962C8B-B14F-4D97-AF65-F5344CB8AC3E}">
        <p14:creationId xmlns:p14="http://schemas.microsoft.com/office/powerpoint/2010/main" val="17644112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AC42EDCC-7046-44A7-A262-3D19994A7397}"/>
              </a:ext>
            </a:extLst>
          </p:cNvPr>
          <p:cNvSpPr>
            <a:spLocks noGrp="1"/>
          </p:cNvSpPr>
          <p:nvPr>
            <p:ph type="title"/>
          </p:nvPr>
        </p:nvSpPr>
        <p:spPr>
          <a:xfrm>
            <a:off x="2653748" y="642594"/>
            <a:ext cx="8471452" cy="1371600"/>
          </a:xfrm>
        </p:spPr>
        <p:txBody>
          <a:bodyPr/>
          <a:lstStyle/>
          <a:p>
            <a:r>
              <a:rPr lang="he-IL" dirty="0"/>
              <a:t>שכבה 1 של </a:t>
            </a:r>
            <a:r>
              <a:rPr lang="en-US" dirty="0"/>
              <a:t>Depth in Defense</a:t>
            </a:r>
            <a:endParaRPr lang="he-IL" dirty="0"/>
          </a:p>
        </p:txBody>
      </p:sp>
      <p:sp>
        <p:nvSpPr>
          <p:cNvPr id="3" name="מציין מיקום תוכן 2">
            <a:extLst>
              <a:ext uri="{FF2B5EF4-FFF2-40B4-BE49-F238E27FC236}">
                <a16:creationId xmlns:a16="http://schemas.microsoft.com/office/drawing/2014/main" id="{DF27962E-C98D-4416-982F-12F7ADB038AD}"/>
              </a:ext>
            </a:extLst>
          </p:cNvPr>
          <p:cNvSpPr>
            <a:spLocks noGrp="1"/>
          </p:cNvSpPr>
          <p:nvPr>
            <p:ph idx="1"/>
          </p:nvPr>
        </p:nvSpPr>
        <p:spPr/>
        <p:txBody>
          <a:bodyPr/>
          <a:lstStyle/>
          <a:p>
            <a:r>
              <a:rPr lang="he-IL" b="1" dirty="0"/>
              <a:t>שכבה : </a:t>
            </a:r>
            <a:r>
              <a:rPr lang="he-IL" dirty="0"/>
              <a:t>אבטחה פיזית - </a:t>
            </a:r>
            <a:r>
              <a:rPr lang="en-US" dirty="0"/>
              <a:t>Physical Security</a:t>
            </a:r>
            <a:endParaRPr lang="he-IL" dirty="0"/>
          </a:p>
          <a:p>
            <a:r>
              <a:rPr lang="he-IL" b="1" dirty="0"/>
              <a:t>ביאור </a:t>
            </a:r>
            <a:r>
              <a:rPr lang="he-IL" b="1" dirty="0" err="1"/>
              <a:t>העיניין</a:t>
            </a:r>
            <a:r>
              <a:rPr lang="he-IL" b="1" dirty="0"/>
              <a:t>: </a:t>
            </a:r>
            <a:r>
              <a:rPr lang="he-IL" dirty="0"/>
              <a:t>אבטחה פיזית מתייחסת להגנה על החומרה והמכשירים עצמם מפני גישה בלתי מורשית, גניבה או נזק פיזי.</a:t>
            </a:r>
          </a:p>
          <a:p>
            <a:r>
              <a:rPr lang="he-IL" b="1" dirty="0"/>
              <a:t>לדוגמא:</a:t>
            </a:r>
            <a:r>
              <a:rPr lang="he-IL" dirty="0"/>
              <a:t> שימוש במנעולים, כרטיסי גישה, מצלמות אבטחה ושומרים.</a:t>
            </a:r>
          </a:p>
          <a:p>
            <a:endParaRPr lang="he-IL" dirty="0"/>
          </a:p>
        </p:txBody>
      </p:sp>
    </p:spTree>
    <p:extLst>
      <p:ext uri="{BB962C8B-B14F-4D97-AF65-F5344CB8AC3E}">
        <p14:creationId xmlns:p14="http://schemas.microsoft.com/office/powerpoint/2010/main" val="12222406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46466938-E172-4FCE-907A-3EC0BEED628A}"/>
              </a:ext>
            </a:extLst>
          </p:cNvPr>
          <p:cNvSpPr>
            <a:spLocks noGrp="1"/>
          </p:cNvSpPr>
          <p:nvPr>
            <p:ph type="title"/>
          </p:nvPr>
        </p:nvSpPr>
        <p:spPr>
          <a:xfrm>
            <a:off x="2693504" y="642594"/>
            <a:ext cx="8431696" cy="1371600"/>
          </a:xfrm>
        </p:spPr>
        <p:txBody>
          <a:bodyPr/>
          <a:lstStyle/>
          <a:p>
            <a:r>
              <a:rPr lang="he-IL" dirty="0"/>
              <a:t>שכבה 2 של </a:t>
            </a:r>
            <a:r>
              <a:rPr lang="en-US" dirty="0"/>
              <a:t>Depth in Defense</a:t>
            </a:r>
            <a:endParaRPr lang="he-IL" dirty="0"/>
          </a:p>
        </p:txBody>
      </p:sp>
      <p:sp>
        <p:nvSpPr>
          <p:cNvPr id="3" name="מציין מיקום תוכן 2">
            <a:extLst>
              <a:ext uri="{FF2B5EF4-FFF2-40B4-BE49-F238E27FC236}">
                <a16:creationId xmlns:a16="http://schemas.microsoft.com/office/drawing/2014/main" id="{CF4D448E-0977-4151-B1D6-C4779A6DA151}"/>
              </a:ext>
            </a:extLst>
          </p:cNvPr>
          <p:cNvSpPr>
            <a:spLocks noGrp="1"/>
          </p:cNvSpPr>
          <p:nvPr>
            <p:ph idx="1"/>
          </p:nvPr>
        </p:nvSpPr>
        <p:spPr/>
        <p:txBody>
          <a:bodyPr/>
          <a:lstStyle/>
          <a:p>
            <a:r>
              <a:rPr lang="he-IL" b="1" dirty="0"/>
              <a:t>שכבה: </a:t>
            </a:r>
            <a:r>
              <a:rPr lang="he-IL" dirty="0"/>
              <a:t>אבטחת רשת - </a:t>
            </a:r>
            <a:r>
              <a:rPr lang="en-US" dirty="0"/>
              <a:t>Network Security</a:t>
            </a:r>
            <a:endParaRPr lang="he-IL" dirty="0"/>
          </a:p>
          <a:p>
            <a:r>
              <a:rPr lang="he-IL" b="1" dirty="0"/>
              <a:t>ביאור </a:t>
            </a:r>
            <a:r>
              <a:rPr lang="he-IL" b="1" dirty="0" err="1"/>
              <a:t>העיניין</a:t>
            </a:r>
            <a:r>
              <a:rPr lang="he-IL" b="1" dirty="0"/>
              <a:t>:</a:t>
            </a:r>
            <a:r>
              <a:rPr lang="he-IL" dirty="0"/>
              <a:t> אבטחת רשת מתמקדת בהגנה על תעבורת הרשת ועל המידע המועבר ברשת מפני התקפות וחדירות.</a:t>
            </a:r>
          </a:p>
          <a:p>
            <a:r>
              <a:rPr lang="he-IL" b="1" dirty="0"/>
              <a:t>לדוגמא:</a:t>
            </a:r>
            <a:r>
              <a:rPr lang="he-IL" dirty="0"/>
              <a:t> </a:t>
            </a:r>
            <a:r>
              <a:rPr lang="he-IL" dirty="0" err="1"/>
              <a:t>פיירוולים</a:t>
            </a:r>
            <a:r>
              <a:rPr lang="he-IL" dirty="0"/>
              <a:t>, מערכות זיהוי ומניעת חדירות </a:t>
            </a:r>
            <a:r>
              <a:rPr lang="en-US" dirty="0"/>
              <a:t>IDS/IPS </a:t>
            </a:r>
            <a:r>
              <a:rPr lang="he-IL" dirty="0"/>
              <a:t> הצפנת תעבורה באמצעות </a:t>
            </a:r>
            <a:r>
              <a:rPr lang="en-US" dirty="0"/>
              <a:t>VPN</a:t>
            </a:r>
          </a:p>
          <a:p>
            <a:endParaRPr lang="he-IL" dirty="0"/>
          </a:p>
        </p:txBody>
      </p:sp>
    </p:spTree>
    <p:extLst>
      <p:ext uri="{BB962C8B-B14F-4D97-AF65-F5344CB8AC3E}">
        <p14:creationId xmlns:p14="http://schemas.microsoft.com/office/powerpoint/2010/main" val="32400698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68C2A52F-7B0B-4ACC-A9CA-6A4755525B1D}"/>
              </a:ext>
            </a:extLst>
          </p:cNvPr>
          <p:cNvSpPr>
            <a:spLocks noGrp="1"/>
          </p:cNvSpPr>
          <p:nvPr>
            <p:ph type="title"/>
          </p:nvPr>
        </p:nvSpPr>
        <p:spPr>
          <a:xfrm>
            <a:off x="2822712" y="642594"/>
            <a:ext cx="8302487" cy="1371600"/>
          </a:xfrm>
        </p:spPr>
        <p:txBody>
          <a:bodyPr/>
          <a:lstStyle/>
          <a:p>
            <a:r>
              <a:rPr lang="he-IL" dirty="0"/>
              <a:t>שכבה 3 של </a:t>
            </a:r>
            <a:r>
              <a:rPr lang="en-US" dirty="0"/>
              <a:t>Depth in Defense</a:t>
            </a:r>
            <a:r>
              <a:rPr lang="he-IL" dirty="0"/>
              <a:t> </a:t>
            </a:r>
          </a:p>
        </p:txBody>
      </p:sp>
      <p:sp>
        <p:nvSpPr>
          <p:cNvPr id="3" name="מציין מיקום תוכן 2">
            <a:extLst>
              <a:ext uri="{FF2B5EF4-FFF2-40B4-BE49-F238E27FC236}">
                <a16:creationId xmlns:a16="http://schemas.microsoft.com/office/drawing/2014/main" id="{42C38DC0-3D6C-4678-97B0-2717DB3F8A90}"/>
              </a:ext>
            </a:extLst>
          </p:cNvPr>
          <p:cNvSpPr>
            <a:spLocks noGrp="1"/>
          </p:cNvSpPr>
          <p:nvPr>
            <p:ph idx="1"/>
          </p:nvPr>
        </p:nvSpPr>
        <p:spPr/>
        <p:txBody>
          <a:bodyPr/>
          <a:lstStyle/>
          <a:p>
            <a:r>
              <a:rPr lang="he-IL" b="1" dirty="0"/>
              <a:t>שכבה:</a:t>
            </a:r>
            <a:r>
              <a:rPr lang="he-IL" dirty="0"/>
              <a:t> אבטחת היקף - </a:t>
            </a:r>
            <a:r>
              <a:rPr lang="en-US" dirty="0"/>
              <a:t>Perimeter Security</a:t>
            </a:r>
            <a:endParaRPr lang="he-IL" dirty="0"/>
          </a:p>
          <a:p>
            <a:r>
              <a:rPr lang="he-IL" b="1" dirty="0"/>
              <a:t>ביאור </a:t>
            </a:r>
            <a:r>
              <a:rPr lang="he-IL" b="1" dirty="0" err="1"/>
              <a:t>העיניין</a:t>
            </a:r>
            <a:r>
              <a:rPr lang="he-IL" b="1" dirty="0"/>
              <a:t>: </a:t>
            </a:r>
            <a:r>
              <a:rPr lang="he-IL" dirty="0"/>
              <a:t>להגן על הגבולות החיצוניים של הרשת כדי למנוע חדירה ראשונית של גורמים </a:t>
            </a:r>
            <a:r>
              <a:rPr lang="he-IL" dirty="0" err="1"/>
              <a:t>עויינים</a:t>
            </a:r>
            <a:r>
              <a:rPr lang="he-IL" dirty="0"/>
              <a:t>.</a:t>
            </a:r>
          </a:p>
          <a:p>
            <a:r>
              <a:rPr lang="he-IL" b="1" dirty="0"/>
              <a:t>לדוגמא:</a:t>
            </a:r>
            <a:r>
              <a:rPr lang="he-IL" dirty="0"/>
              <a:t> </a:t>
            </a:r>
            <a:r>
              <a:rPr lang="he-IL" dirty="0" err="1"/>
              <a:t>פיירוולים</a:t>
            </a:r>
            <a:r>
              <a:rPr lang="he-IL" dirty="0"/>
              <a:t> היקפיים, סינון דוא"ל, סינון אתרים, שערי רשת.</a:t>
            </a:r>
          </a:p>
          <a:p>
            <a:endParaRPr lang="he-IL" dirty="0"/>
          </a:p>
        </p:txBody>
      </p:sp>
    </p:spTree>
    <p:extLst>
      <p:ext uri="{BB962C8B-B14F-4D97-AF65-F5344CB8AC3E}">
        <p14:creationId xmlns:p14="http://schemas.microsoft.com/office/powerpoint/2010/main" val="28480622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C2ECDF90-893C-4BDD-BF30-9ED09028DAE9}"/>
              </a:ext>
            </a:extLst>
          </p:cNvPr>
          <p:cNvSpPr>
            <a:spLocks noGrp="1"/>
          </p:cNvSpPr>
          <p:nvPr>
            <p:ph type="title"/>
          </p:nvPr>
        </p:nvSpPr>
        <p:spPr>
          <a:xfrm>
            <a:off x="2713382" y="642594"/>
            <a:ext cx="8411817" cy="1371600"/>
          </a:xfrm>
        </p:spPr>
        <p:txBody>
          <a:bodyPr/>
          <a:lstStyle/>
          <a:p>
            <a:r>
              <a:rPr lang="he-IL" dirty="0"/>
              <a:t>שכבה 4 של </a:t>
            </a:r>
            <a:r>
              <a:rPr lang="en-US" dirty="0"/>
              <a:t>Depth in Defense</a:t>
            </a:r>
            <a:r>
              <a:rPr lang="he-IL" dirty="0"/>
              <a:t> </a:t>
            </a:r>
          </a:p>
        </p:txBody>
      </p:sp>
      <p:sp>
        <p:nvSpPr>
          <p:cNvPr id="3" name="מציין מיקום תוכן 2">
            <a:extLst>
              <a:ext uri="{FF2B5EF4-FFF2-40B4-BE49-F238E27FC236}">
                <a16:creationId xmlns:a16="http://schemas.microsoft.com/office/drawing/2014/main" id="{7BF1F6C6-B933-46B4-9D16-D908DBECB34D}"/>
              </a:ext>
            </a:extLst>
          </p:cNvPr>
          <p:cNvSpPr>
            <a:spLocks noGrp="1"/>
          </p:cNvSpPr>
          <p:nvPr>
            <p:ph idx="1"/>
          </p:nvPr>
        </p:nvSpPr>
        <p:spPr/>
        <p:txBody>
          <a:bodyPr/>
          <a:lstStyle/>
          <a:p>
            <a:r>
              <a:rPr lang="he-IL" b="1" dirty="0"/>
              <a:t>שכבה: </a:t>
            </a:r>
            <a:r>
              <a:rPr lang="he-IL" dirty="0"/>
              <a:t>אבטחת נקודות קצה - </a:t>
            </a:r>
            <a:r>
              <a:rPr lang="en-US" dirty="0"/>
              <a:t>Endpoint Security</a:t>
            </a:r>
            <a:endParaRPr lang="he-IL" dirty="0"/>
          </a:p>
          <a:p>
            <a:r>
              <a:rPr lang="he-IL" b="1" dirty="0"/>
              <a:t>ביאור </a:t>
            </a:r>
            <a:r>
              <a:rPr lang="he-IL" b="1" dirty="0" err="1"/>
              <a:t>העיניין</a:t>
            </a:r>
            <a:r>
              <a:rPr lang="he-IL" b="1" dirty="0"/>
              <a:t>: </a:t>
            </a:r>
            <a:r>
              <a:rPr lang="he-IL" dirty="0"/>
              <a:t>להגן על המכשירים המחוברים לרשת כמו מחשבים, סרברים, </a:t>
            </a:r>
            <a:r>
              <a:rPr lang="he-IL" dirty="0" err="1"/>
              <a:t>פאלפונים</a:t>
            </a:r>
            <a:r>
              <a:rPr lang="he-IL" dirty="0"/>
              <a:t> חכמים ועוד - מפני התקפות.</a:t>
            </a:r>
          </a:p>
          <a:p>
            <a:r>
              <a:rPr lang="he-IL" b="1" dirty="0"/>
              <a:t>לדוגמא: </a:t>
            </a:r>
            <a:r>
              <a:rPr lang="he-IL" dirty="0"/>
              <a:t>אנטי וירוס, אנטי תוכנה זדונית.</a:t>
            </a:r>
          </a:p>
        </p:txBody>
      </p:sp>
    </p:spTree>
    <p:extLst>
      <p:ext uri="{BB962C8B-B14F-4D97-AF65-F5344CB8AC3E}">
        <p14:creationId xmlns:p14="http://schemas.microsoft.com/office/powerpoint/2010/main" val="32859210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96ED1567-48F3-43A0-BB48-CB78C6DFAF45}"/>
              </a:ext>
            </a:extLst>
          </p:cNvPr>
          <p:cNvSpPr>
            <a:spLocks noGrp="1"/>
          </p:cNvSpPr>
          <p:nvPr>
            <p:ph type="title"/>
          </p:nvPr>
        </p:nvSpPr>
        <p:spPr>
          <a:xfrm>
            <a:off x="2723322" y="642594"/>
            <a:ext cx="8401878" cy="1371600"/>
          </a:xfrm>
        </p:spPr>
        <p:txBody>
          <a:bodyPr/>
          <a:lstStyle/>
          <a:p>
            <a:r>
              <a:rPr lang="he-IL" dirty="0"/>
              <a:t>שכבה 5 של </a:t>
            </a:r>
            <a:r>
              <a:rPr lang="en-US" dirty="0"/>
              <a:t>Depth in Defense</a:t>
            </a:r>
            <a:r>
              <a:rPr lang="he-IL" dirty="0"/>
              <a:t> </a:t>
            </a:r>
          </a:p>
        </p:txBody>
      </p:sp>
      <p:sp>
        <p:nvSpPr>
          <p:cNvPr id="3" name="מציין מיקום תוכן 2">
            <a:extLst>
              <a:ext uri="{FF2B5EF4-FFF2-40B4-BE49-F238E27FC236}">
                <a16:creationId xmlns:a16="http://schemas.microsoft.com/office/drawing/2014/main" id="{E7784673-C561-4F55-97C5-69F36B0344D1}"/>
              </a:ext>
            </a:extLst>
          </p:cNvPr>
          <p:cNvSpPr>
            <a:spLocks noGrp="1"/>
          </p:cNvSpPr>
          <p:nvPr>
            <p:ph idx="1"/>
          </p:nvPr>
        </p:nvSpPr>
        <p:spPr/>
        <p:txBody>
          <a:bodyPr/>
          <a:lstStyle/>
          <a:p>
            <a:r>
              <a:rPr lang="he-IL" b="1" dirty="0"/>
              <a:t>שכבה: </a:t>
            </a:r>
            <a:r>
              <a:rPr lang="he-IL" dirty="0"/>
              <a:t>אבטחת יישומים - </a:t>
            </a:r>
            <a:r>
              <a:rPr lang="en-US" dirty="0"/>
              <a:t>Application Security</a:t>
            </a:r>
            <a:endParaRPr lang="he-IL" b="1" dirty="0"/>
          </a:p>
          <a:p>
            <a:r>
              <a:rPr lang="he-IL" b="1" dirty="0"/>
              <a:t>ביאור </a:t>
            </a:r>
            <a:r>
              <a:rPr lang="he-IL" b="1" dirty="0" err="1"/>
              <a:t>העיניין</a:t>
            </a:r>
            <a:r>
              <a:rPr lang="he-IL" b="1" dirty="0"/>
              <a:t>: </a:t>
            </a:r>
            <a:r>
              <a:rPr lang="he-IL" dirty="0"/>
              <a:t>להגן על האפליקציות השונות מפני </a:t>
            </a:r>
            <a:r>
              <a:rPr lang="he-IL" dirty="0" err="1"/>
              <a:t>פירצות</a:t>
            </a:r>
            <a:r>
              <a:rPr lang="he-IL" dirty="0"/>
              <a:t> אבטחה שעלולות להוביל לחשיפה של נתונים רגישים מאוד או גישה בלתי מורשית למערכת שלי.</a:t>
            </a:r>
            <a:endParaRPr lang="he-IL" b="1" dirty="0"/>
          </a:p>
          <a:p>
            <a:r>
              <a:rPr lang="he-IL" b="1" dirty="0"/>
              <a:t>לדוגמא: </a:t>
            </a:r>
            <a:r>
              <a:rPr lang="he-IL" dirty="0"/>
              <a:t>בדיקות חדירות יישומים, שימוש ב-</a:t>
            </a:r>
            <a:r>
              <a:rPr lang="en-US" dirty="0"/>
              <a:t>WAF Web Application Firewall, </a:t>
            </a:r>
            <a:r>
              <a:rPr lang="he-IL" dirty="0"/>
              <a:t> </a:t>
            </a:r>
            <a:r>
              <a:rPr lang="he-IL" u="sng" dirty="0"/>
              <a:t>פיתוח מאובטח </a:t>
            </a:r>
            <a:r>
              <a:rPr lang="en-US" dirty="0"/>
              <a:t>Secure Coding</a:t>
            </a:r>
            <a:r>
              <a:rPr lang="he-IL" dirty="0"/>
              <a:t> (נדבר רבות בהמשך)</a:t>
            </a:r>
            <a:endParaRPr lang="he-IL" b="1" dirty="0"/>
          </a:p>
        </p:txBody>
      </p:sp>
    </p:spTree>
    <p:extLst>
      <p:ext uri="{BB962C8B-B14F-4D97-AF65-F5344CB8AC3E}">
        <p14:creationId xmlns:p14="http://schemas.microsoft.com/office/powerpoint/2010/main" val="108591483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4AA9EE9B-0C1C-40BD-B0BA-B3394548269E}"/>
              </a:ext>
            </a:extLst>
          </p:cNvPr>
          <p:cNvSpPr>
            <a:spLocks noGrp="1"/>
          </p:cNvSpPr>
          <p:nvPr>
            <p:ph type="title"/>
          </p:nvPr>
        </p:nvSpPr>
        <p:spPr>
          <a:xfrm>
            <a:off x="2753138" y="642594"/>
            <a:ext cx="8372061" cy="1371600"/>
          </a:xfrm>
        </p:spPr>
        <p:txBody>
          <a:bodyPr/>
          <a:lstStyle/>
          <a:p>
            <a:r>
              <a:rPr lang="he-IL" dirty="0"/>
              <a:t>שכבה 6 של </a:t>
            </a:r>
            <a:r>
              <a:rPr lang="en-US" dirty="0"/>
              <a:t>Depth in Defense</a:t>
            </a:r>
            <a:r>
              <a:rPr lang="he-IL" dirty="0"/>
              <a:t> </a:t>
            </a:r>
          </a:p>
        </p:txBody>
      </p:sp>
      <p:sp>
        <p:nvSpPr>
          <p:cNvPr id="3" name="מציין מיקום תוכן 2">
            <a:extLst>
              <a:ext uri="{FF2B5EF4-FFF2-40B4-BE49-F238E27FC236}">
                <a16:creationId xmlns:a16="http://schemas.microsoft.com/office/drawing/2014/main" id="{471E1783-4718-48F2-9966-86BB18D695B5}"/>
              </a:ext>
            </a:extLst>
          </p:cNvPr>
          <p:cNvSpPr>
            <a:spLocks noGrp="1"/>
          </p:cNvSpPr>
          <p:nvPr>
            <p:ph idx="1"/>
          </p:nvPr>
        </p:nvSpPr>
        <p:spPr/>
        <p:txBody>
          <a:bodyPr/>
          <a:lstStyle/>
          <a:p>
            <a:r>
              <a:rPr lang="he-IL" b="1" dirty="0"/>
              <a:t>שכבה: </a:t>
            </a:r>
            <a:r>
              <a:rPr lang="he-IL" dirty="0"/>
              <a:t>אבטחת נתונים - </a:t>
            </a:r>
            <a:r>
              <a:rPr lang="en-US" dirty="0"/>
              <a:t>Data Security</a:t>
            </a:r>
            <a:endParaRPr lang="he-IL" b="1" dirty="0"/>
          </a:p>
          <a:p>
            <a:r>
              <a:rPr lang="he-IL" b="1" dirty="0"/>
              <a:t>ביאור </a:t>
            </a:r>
            <a:r>
              <a:rPr lang="he-IL" b="1" dirty="0" err="1"/>
              <a:t>העיניין</a:t>
            </a:r>
            <a:r>
              <a:rPr lang="he-IL" b="1" dirty="0"/>
              <a:t>: </a:t>
            </a:r>
            <a:r>
              <a:rPr lang="he-IL" dirty="0"/>
              <a:t>להגן על הנתונים עצמם, בין אם במנוחה ה או בתנועה היינו בשימוש - מפני גישה בלתי מורשית, שינוי או הריסה הרמטית.</a:t>
            </a:r>
            <a:endParaRPr lang="he-IL" b="1" dirty="0"/>
          </a:p>
          <a:p>
            <a:r>
              <a:rPr lang="he-IL" b="1" dirty="0"/>
              <a:t>לדוגמא: </a:t>
            </a:r>
            <a:r>
              <a:rPr lang="he-IL" dirty="0"/>
              <a:t>הצפנת נתונים, גיבויים.</a:t>
            </a:r>
            <a:endParaRPr lang="he-IL" b="1" dirty="0"/>
          </a:p>
        </p:txBody>
      </p:sp>
    </p:spTree>
    <p:extLst>
      <p:ext uri="{BB962C8B-B14F-4D97-AF65-F5344CB8AC3E}">
        <p14:creationId xmlns:p14="http://schemas.microsoft.com/office/powerpoint/2010/main" val="177420392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A4203DE2-8429-4CB9-BC2B-AB7D99C20085}"/>
              </a:ext>
            </a:extLst>
          </p:cNvPr>
          <p:cNvSpPr>
            <a:spLocks noGrp="1"/>
          </p:cNvSpPr>
          <p:nvPr>
            <p:ph type="title"/>
          </p:nvPr>
        </p:nvSpPr>
        <p:spPr>
          <a:xfrm>
            <a:off x="2802834" y="642594"/>
            <a:ext cx="8322365" cy="1371600"/>
          </a:xfrm>
        </p:spPr>
        <p:txBody>
          <a:bodyPr/>
          <a:lstStyle/>
          <a:p>
            <a:r>
              <a:rPr lang="he-IL" dirty="0"/>
              <a:t>שכבה 7 של </a:t>
            </a:r>
            <a:r>
              <a:rPr lang="en-US" dirty="0"/>
              <a:t>Depth in Defense</a:t>
            </a:r>
            <a:r>
              <a:rPr lang="he-IL" dirty="0"/>
              <a:t> </a:t>
            </a:r>
          </a:p>
        </p:txBody>
      </p:sp>
      <p:sp>
        <p:nvSpPr>
          <p:cNvPr id="3" name="מציין מיקום תוכן 2">
            <a:extLst>
              <a:ext uri="{FF2B5EF4-FFF2-40B4-BE49-F238E27FC236}">
                <a16:creationId xmlns:a16="http://schemas.microsoft.com/office/drawing/2014/main" id="{EE6EC579-B6DE-42B9-B6E9-B624FF63713A}"/>
              </a:ext>
            </a:extLst>
          </p:cNvPr>
          <p:cNvSpPr>
            <a:spLocks noGrp="1"/>
          </p:cNvSpPr>
          <p:nvPr>
            <p:ph idx="1"/>
          </p:nvPr>
        </p:nvSpPr>
        <p:spPr/>
        <p:txBody>
          <a:bodyPr/>
          <a:lstStyle/>
          <a:p>
            <a:r>
              <a:rPr lang="he-IL" dirty="0"/>
              <a:t>שכבה: מדיניות, נהלים ומודעות - </a:t>
            </a:r>
            <a:r>
              <a:rPr lang="en-US" dirty="0"/>
              <a:t>Policies, Procedures, and Awareness</a:t>
            </a:r>
            <a:endParaRPr lang="he-IL" dirty="0"/>
          </a:p>
          <a:p>
            <a:r>
              <a:rPr lang="he-IL" dirty="0"/>
              <a:t>ביאור </a:t>
            </a:r>
            <a:r>
              <a:rPr lang="he-IL" dirty="0" err="1"/>
              <a:t>העיניין</a:t>
            </a:r>
            <a:r>
              <a:rPr lang="he-IL" dirty="0"/>
              <a:t>: להגדיר את המדיניות והנהלים הנחוצים </a:t>
            </a:r>
            <a:r>
              <a:rPr lang="he-IL" u="sng" dirty="0"/>
              <a:t>לשמירה</a:t>
            </a:r>
            <a:r>
              <a:rPr lang="he-IL" dirty="0"/>
              <a:t> על המידע שלי, ובנוסף להגביר את המודעות של העובדים לנושאי אבטחת המידע בחברה.</a:t>
            </a:r>
          </a:p>
          <a:p>
            <a:r>
              <a:rPr lang="he-IL" dirty="0"/>
              <a:t>לדוגמא: כתיבת מדיניות אבטחת מידע, הדרכות לעובדים, ובקרת נתונים.</a:t>
            </a:r>
          </a:p>
        </p:txBody>
      </p:sp>
    </p:spTree>
    <p:extLst>
      <p:ext uri="{BB962C8B-B14F-4D97-AF65-F5344CB8AC3E}">
        <p14:creationId xmlns:p14="http://schemas.microsoft.com/office/powerpoint/2010/main" val="347178495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FD217698-AD7D-4A17-A179-534D86C2DE48}"/>
              </a:ext>
            </a:extLst>
          </p:cNvPr>
          <p:cNvSpPr>
            <a:spLocks noGrp="1"/>
          </p:cNvSpPr>
          <p:nvPr>
            <p:ph type="title"/>
          </p:nvPr>
        </p:nvSpPr>
        <p:spPr>
          <a:xfrm>
            <a:off x="1321904" y="642594"/>
            <a:ext cx="9803296" cy="1371600"/>
          </a:xfrm>
        </p:spPr>
        <p:txBody>
          <a:bodyPr/>
          <a:lstStyle/>
          <a:p>
            <a:r>
              <a:rPr lang="he-IL" dirty="0"/>
              <a:t>שאלה מסכמת על </a:t>
            </a:r>
            <a:r>
              <a:rPr lang="en-US" dirty="0"/>
              <a:t>Depth in Defense</a:t>
            </a:r>
            <a:r>
              <a:rPr lang="he-IL" dirty="0"/>
              <a:t> </a:t>
            </a:r>
          </a:p>
        </p:txBody>
      </p:sp>
      <p:sp>
        <p:nvSpPr>
          <p:cNvPr id="3" name="מציין מיקום תוכן 2">
            <a:extLst>
              <a:ext uri="{FF2B5EF4-FFF2-40B4-BE49-F238E27FC236}">
                <a16:creationId xmlns:a16="http://schemas.microsoft.com/office/drawing/2014/main" id="{AEDB6181-FDDC-4C3A-A53C-461B2D66FF07}"/>
              </a:ext>
            </a:extLst>
          </p:cNvPr>
          <p:cNvSpPr>
            <a:spLocks noGrp="1"/>
          </p:cNvSpPr>
          <p:nvPr>
            <p:ph idx="1"/>
          </p:nvPr>
        </p:nvSpPr>
        <p:spPr>
          <a:xfrm>
            <a:off x="1194352" y="2465430"/>
            <a:ext cx="10058400" cy="3931920"/>
          </a:xfrm>
        </p:spPr>
        <p:txBody>
          <a:bodyPr/>
          <a:lstStyle/>
          <a:p>
            <a:r>
              <a:rPr lang="he-IL" dirty="0"/>
              <a:t>שאלה: בחברת </a:t>
            </a:r>
            <a:r>
              <a:rPr lang="en-US" dirty="0"/>
              <a:t>ELIRAN_SHUDED_ZKENUT.COM</a:t>
            </a:r>
            <a:r>
              <a:rPr lang="he-IL" dirty="0"/>
              <a:t> מיושמת גישת </a:t>
            </a:r>
            <a:r>
              <a:rPr lang="en-US" dirty="0"/>
              <a:t>Depth in Defense </a:t>
            </a:r>
            <a:r>
              <a:rPr lang="he-IL" dirty="0"/>
              <a:t> להגנה על מערכות המידע שלהם. החברה סובלת מהתקפות חוזרות על היישומים השונים שלה, המנוצלות על ידי האקרים, וכל זה בכדי לגנוב נתונים אישיים. באילו שכבות של מודל </a:t>
            </a:r>
            <a:r>
              <a:rPr lang="en-US" dirty="0"/>
              <a:t>Depth in Defense </a:t>
            </a:r>
            <a:r>
              <a:rPr lang="he-IL" dirty="0"/>
              <a:t> על החברה להתמקד כדי לטפל בבעיה הזאת, ובאלה צעדים מעשים צריכים לנקוט בכל שכבה ושכבה?</a:t>
            </a:r>
          </a:p>
        </p:txBody>
      </p:sp>
    </p:spTree>
    <p:extLst>
      <p:ext uri="{BB962C8B-B14F-4D97-AF65-F5344CB8AC3E}">
        <p14:creationId xmlns:p14="http://schemas.microsoft.com/office/powerpoint/2010/main" val="222037724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B4965D14-4500-4F6C-8331-8C37FE7D2A5D}"/>
              </a:ext>
            </a:extLst>
          </p:cNvPr>
          <p:cNvSpPr>
            <a:spLocks noGrp="1"/>
          </p:cNvSpPr>
          <p:nvPr>
            <p:ph type="title"/>
          </p:nvPr>
        </p:nvSpPr>
        <p:spPr>
          <a:xfrm>
            <a:off x="9044608" y="642594"/>
            <a:ext cx="2080591" cy="1371600"/>
          </a:xfrm>
        </p:spPr>
        <p:txBody>
          <a:bodyPr/>
          <a:lstStyle/>
          <a:p>
            <a:r>
              <a:rPr lang="he-IL" dirty="0"/>
              <a:t>תשובה:</a:t>
            </a:r>
          </a:p>
        </p:txBody>
      </p:sp>
      <p:sp>
        <p:nvSpPr>
          <p:cNvPr id="3" name="מציין מיקום תוכן 2">
            <a:extLst>
              <a:ext uri="{FF2B5EF4-FFF2-40B4-BE49-F238E27FC236}">
                <a16:creationId xmlns:a16="http://schemas.microsoft.com/office/drawing/2014/main" id="{20591C96-E2F6-40AC-AEF6-F51DB32CEF18}"/>
              </a:ext>
            </a:extLst>
          </p:cNvPr>
          <p:cNvSpPr>
            <a:spLocks noGrp="1"/>
          </p:cNvSpPr>
          <p:nvPr>
            <p:ph idx="1"/>
          </p:nvPr>
        </p:nvSpPr>
        <p:spPr/>
        <p:txBody>
          <a:bodyPr/>
          <a:lstStyle/>
          <a:p>
            <a:r>
              <a:rPr lang="he-IL" dirty="0"/>
              <a:t>עלינו להתמקד ב-3 שכבות והם: אבטחת יישומים, אבטחת נתונים, ומדיניות נהלים ומודעות.</a:t>
            </a:r>
          </a:p>
          <a:p>
            <a:r>
              <a:rPr lang="he-IL" dirty="0"/>
              <a:t>1. אבטחת יישומים: לבצע בדיקות חדירות ליישומים בכדי לזהות ולתקן פרצות אבטחה, בנוסף יש להשתמש ב-</a:t>
            </a:r>
            <a:r>
              <a:rPr lang="en-US" dirty="0"/>
              <a:t>WAF </a:t>
            </a:r>
            <a:r>
              <a:rPr lang="he-IL" dirty="0"/>
              <a:t> בכדי להגן על היישומים מפני התקפות נפוצות כמו </a:t>
            </a:r>
            <a:r>
              <a:rPr lang="en-US" dirty="0"/>
              <a:t>SQL Injection </a:t>
            </a:r>
            <a:r>
              <a:rPr lang="he-IL" dirty="0"/>
              <a:t> ו-</a:t>
            </a:r>
            <a:r>
              <a:rPr lang="en-US" dirty="0"/>
              <a:t>XSS</a:t>
            </a:r>
            <a:r>
              <a:rPr lang="he-IL" dirty="0"/>
              <a:t>, וגם ניתן לפתח בצורה מאובטחת </a:t>
            </a:r>
            <a:r>
              <a:rPr lang="en-US" dirty="0"/>
              <a:t>Secure Coding </a:t>
            </a:r>
            <a:r>
              <a:rPr lang="he-IL" dirty="0"/>
              <a:t> על ידי שימוש בשיטות עבודה מומלצות לכתיבת קוד בטוח ושימוש בכלים לבדיקת קוד בזמן הפיתוח.</a:t>
            </a:r>
          </a:p>
          <a:p>
            <a:r>
              <a:rPr lang="he-IL" dirty="0"/>
              <a:t>2. אבטחת נתונים: הצפנת נתונים רגישים הן בזמן שמירתם</a:t>
            </a:r>
            <a:r>
              <a:rPr lang="en-US" dirty="0"/>
              <a:t> </a:t>
            </a:r>
            <a:r>
              <a:rPr lang="he-IL" dirty="0"/>
              <a:t>והן בזמן שליחתם, ובנוסף לבצע גיבויים סדירים של הנתונים ולשמור אותם במקום בטוח. ואפשר גם יישום בקרת גישה מבוססת תפקידים בכדי להגביל את הגישה לנתונים רק לאנשים ספציפיים ולא לכולם.</a:t>
            </a:r>
          </a:p>
          <a:p>
            <a:r>
              <a:rPr lang="he-IL" dirty="0"/>
              <a:t>3. מדיניות נהלים ומודעות: כתיבת מדיניות אבטחת מידע שמגדירה את הדרישות להגנה על יישומים ונתונים וגם כדאי לעשות הדרכות לעובדים בנושא אבטחת יישומים ונתונים בכדי להעלות את המודעות לסיכונים ולדעת כיצד מגנים, וצריך גם לבצע ביקורת סדירה על היישומים והנתונים בכדי להבטיח עמידה במדיניות ובנהלים.</a:t>
            </a:r>
          </a:p>
        </p:txBody>
      </p:sp>
    </p:spTree>
    <p:extLst>
      <p:ext uri="{BB962C8B-B14F-4D97-AF65-F5344CB8AC3E}">
        <p14:creationId xmlns:p14="http://schemas.microsoft.com/office/powerpoint/2010/main" val="325702460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סבון">
  <a:themeElements>
    <a:clrScheme name="סבון">
      <a:dk1>
        <a:sysClr val="windowText" lastClr="000000"/>
      </a:dk1>
      <a:lt1>
        <a:sysClr val="window" lastClr="FFFFFF"/>
      </a:lt1>
      <a:dk2>
        <a:srgbClr val="1485A4"/>
      </a:dk2>
      <a:lt2>
        <a:srgbClr val="E3DED1"/>
      </a:lt2>
      <a:accent1>
        <a:srgbClr val="1CADE4"/>
      </a:accent1>
      <a:accent2>
        <a:srgbClr val="2683C6"/>
      </a:accent2>
      <a:accent3>
        <a:srgbClr val="27CED7"/>
      </a:accent3>
      <a:accent4>
        <a:srgbClr val="42BA97"/>
      </a:accent4>
      <a:accent5>
        <a:srgbClr val="3E8853"/>
      </a:accent5>
      <a:accent6>
        <a:srgbClr val="62A39F"/>
      </a:accent6>
      <a:hlink>
        <a:srgbClr val="F49100"/>
      </a:hlink>
      <a:folHlink>
        <a:srgbClr val="739D9B"/>
      </a:folHlink>
    </a:clrScheme>
    <a:fontScheme name="סבון">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סבון">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90000"/>
                <a:shade val="92000"/>
                <a:satMod val="160000"/>
              </a:schemeClr>
            </a:gs>
            <a:gs pos="77000">
              <a:schemeClr val="phClr">
                <a:tint val="100000"/>
                <a:shade val="73000"/>
                <a:satMod val="155000"/>
              </a:schemeClr>
            </a:gs>
            <a:gs pos="100000">
              <a:schemeClr val="phClr">
                <a:tint val="100000"/>
                <a:shade val="67000"/>
                <a:satMod val="145000"/>
              </a:schemeClr>
            </a:gs>
          </a:gsLst>
          <a:lin ang="5400000" scaled="0"/>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Savon" id="{1306E473-ED32-493B-A2D0-240A757EDD34}" vid="{C20BADFE-D095-436F-9677-9264042809F0}"/>
    </a:ext>
  </a:extLst>
</a:theme>
</file>

<file path=docProps/app.xml><?xml version="1.0" encoding="utf-8"?>
<Properties xmlns="http://schemas.openxmlformats.org/officeDocument/2006/extended-properties" xmlns:vt="http://schemas.openxmlformats.org/officeDocument/2006/docPropsVTypes">
  <Template>TM03457510[[fn=סבון]]</Template>
  <TotalTime>107</TotalTime>
  <Words>1632</Words>
  <Application>Microsoft Office PowerPoint</Application>
  <PresentationFormat>מסך רחב</PresentationFormat>
  <Paragraphs>122</Paragraphs>
  <Slides>26</Slides>
  <Notes>0</Notes>
  <HiddenSlides>0</HiddenSlides>
  <MMClips>0</MMClips>
  <ScaleCrop>false</ScaleCrop>
  <HeadingPairs>
    <vt:vector size="6" baseType="variant">
      <vt:variant>
        <vt:lpstr>גופנים בשימוש</vt:lpstr>
      </vt:variant>
      <vt:variant>
        <vt:i4>4</vt:i4>
      </vt:variant>
      <vt:variant>
        <vt:lpstr>ערכת נושא</vt:lpstr>
      </vt:variant>
      <vt:variant>
        <vt:i4>1</vt:i4>
      </vt:variant>
      <vt:variant>
        <vt:lpstr>כותרות שקופיות</vt:lpstr>
      </vt:variant>
      <vt:variant>
        <vt:i4>26</vt:i4>
      </vt:variant>
    </vt:vector>
  </HeadingPairs>
  <TitlesOfParts>
    <vt:vector size="31" baseType="lpstr">
      <vt:lpstr>Arial</vt:lpstr>
      <vt:lpstr>Century Gothic</vt:lpstr>
      <vt:lpstr>Garamond</vt:lpstr>
      <vt:lpstr>Gisha</vt:lpstr>
      <vt:lpstr>סבון</vt:lpstr>
      <vt:lpstr>הרצאה 2</vt:lpstr>
      <vt:lpstr>מודל הכוכב – STAR MODEL</vt:lpstr>
      <vt:lpstr>ממה מורכב מודל הכוכב?</vt:lpstr>
      <vt:lpstr>מרכיב מודל הכוכב - אנשים </vt:lpstr>
      <vt:lpstr>מרכיב מודל הכוכב - תהליכים </vt:lpstr>
      <vt:lpstr>מרכיב מודל הכוכב - טכנולוגיה</vt:lpstr>
      <vt:lpstr>מרכיב מודל בכוכב - סביבה </vt:lpstr>
      <vt:lpstr>מרכיב מודל הכוכב - ניהול סיכונים </vt:lpstr>
      <vt:lpstr>כיצד מודל הכוכב עובד?</vt:lpstr>
      <vt:lpstr>דוגמא הלכה למעשה ליישום מודל הכוכב</vt:lpstr>
      <vt:lpstr>שאלה מסכמת על מודל הכוכב: </vt:lpstr>
      <vt:lpstr>(א)תשובה – מודל הכוכב</vt:lpstr>
      <vt:lpstr>(ב)תשובה – מודל הכוכב</vt:lpstr>
      <vt:lpstr>(ג)תשובה – מודל הכוכב</vt:lpstr>
      <vt:lpstr>(ד)תשובה – מודל הכוכב</vt:lpstr>
      <vt:lpstr>(ה)תשובה – מודל הכוכב</vt:lpstr>
      <vt:lpstr>מודל שבע השכבות של: Depth in Defense  </vt:lpstr>
      <vt:lpstr>שכבה 1 של Depth in Defense</vt:lpstr>
      <vt:lpstr>שכבה 2 של Depth in Defense</vt:lpstr>
      <vt:lpstr>שכבה 3 של Depth in Defense </vt:lpstr>
      <vt:lpstr>שכבה 4 של Depth in Defense </vt:lpstr>
      <vt:lpstr>שכבה 5 של Depth in Defense </vt:lpstr>
      <vt:lpstr>שכבה 6 של Depth in Defense </vt:lpstr>
      <vt:lpstr>שכבה 7 של Depth in Defense </vt:lpstr>
      <vt:lpstr>שאלה מסכמת על Depth in Defense </vt:lpstr>
      <vt:lpstr>תשובה:</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מצגת של PowerPoint‏</dc:title>
  <dc:creator>itest</dc:creator>
  <cp:lastModifiedBy>itest</cp:lastModifiedBy>
  <cp:revision>17</cp:revision>
  <dcterms:created xsi:type="dcterms:W3CDTF">2024-07-04T09:41:32Z</dcterms:created>
  <dcterms:modified xsi:type="dcterms:W3CDTF">2024-07-22T12:10:16Z</dcterms:modified>
</cp:coreProperties>
</file>