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5" r:id="rId57"/>
    <p:sldId id="316" r:id="rId58"/>
    <p:sldId id="317" r:id="rId59"/>
    <p:sldId id="311" r:id="rId60"/>
    <p:sldId id="312" r:id="rId61"/>
    <p:sldId id="313" r:id="rId62"/>
    <p:sldId id="314" r:id="rId63"/>
    <p:sldId id="318" r:id="rId64"/>
    <p:sldId id="319" r:id="rId65"/>
    <p:sldId id="320" r:id="rId66"/>
    <p:sldId id="321" r:id="rId67"/>
    <p:sldId id="322" r:id="rId68"/>
    <p:sldId id="323" r:id="rId69"/>
    <p:sldId id="324" r:id="rId70"/>
    <p:sldId id="325" r:id="rId71"/>
    <p:sldId id="327" r:id="rId72"/>
    <p:sldId id="328" r:id="rId73"/>
    <p:sldId id="329" r:id="rId74"/>
    <p:sldId id="326"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9" r:id="rId92"/>
    <p:sldId id="350" r:id="rId93"/>
    <p:sldId id="346" r:id="rId94"/>
    <p:sldId id="347" r:id="rId95"/>
    <p:sldId id="348" r:id="rId96"/>
    <p:sldId id="351" r:id="rId97"/>
    <p:sldId id="352" r:id="rId98"/>
    <p:sldId id="353" r:id="rId99"/>
    <p:sldId id="354" r:id="rId100"/>
    <p:sldId id="355" r:id="rId101"/>
    <p:sldId id="356" r:id="rId102"/>
    <p:sldId id="357" r:id="rId103"/>
    <p:sldId id="358" r:id="rId104"/>
    <p:sldId id="359" r:id="rId105"/>
    <p:sldId id="360" r:id="rId10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9987" autoAdjust="0"/>
    <p:restoredTop sz="94660"/>
  </p:normalViewPr>
  <p:slideViewPr>
    <p:cSldViewPr snapToGrid="0">
      <p:cViewPr varScale="1">
        <p:scale>
          <a:sx n="96" d="100"/>
          <a:sy n="96" d="100"/>
        </p:scale>
        <p:origin x="96" y="7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CA988059-1677-41CE-832F-A00B0E10397E}" type="datetimeFigureOut">
              <a:rPr lang="he-IL" smtClean="0"/>
              <a:t>י'/אב/תשפ"ד</a:t>
            </a:fld>
            <a:endParaRPr lang="he-IL"/>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he-IL"/>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D4AA026A-C347-4A1D-8A32-05134DE6EAAB}" type="slidenum">
              <a:rPr lang="he-IL" smtClean="0"/>
              <a:t>‹#›</a:t>
            </a:fld>
            <a:endParaRPr lang="he-IL"/>
          </a:p>
        </p:txBody>
      </p:sp>
    </p:spTree>
    <p:extLst>
      <p:ext uri="{BB962C8B-B14F-4D97-AF65-F5344CB8AC3E}">
        <p14:creationId xmlns:p14="http://schemas.microsoft.com/office/powerpoint/2010/main" val="247047243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CA988059-1677-41CE-832F-A00B0E10397E}" type="datetimeFigureOut">
              <a:rPr lang="he-IL" smtClean="0"/>
              <a:t>י'/אב/תשפ"ד</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D4AA026A-C347-4A1D-8A32-05134DE6EAAB}" type="slidenum">
              <a:rPr lang="he-IL" smtClean="0"/>
              <a:t>‹#›</a:t>
            </a:fld>
            <a:endParaRPr lang="he-IL"/>
          </a:p>
        </p:txBody>
      </p:sp>
    </p:spTree>
    <p:extLst>
      <p:ext uri="{BB962C8B-B14F-4D97-AF65-F5344CB8AC3E}">
        <p14:creationId xmlns:p14="http://schemas.microsoft.com/office/powerpoint/2010/main" val="3600261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כותרת מקטע עליונה">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ערוך סגנונות טקסט של תבנית בסיס</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CA988059-1677-41CE-832F-A00B0E10397E}" type="datetimeFigureOut">
              <a:rPr lang="he-IL" smtClean="0"/>
              <a:t>י'/אב/תשפ"ד</a:t>
            </a:fld>
            <a:endParaRPr lang="he-IL"/>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he-IL"/>
          </a:p>
        </p:txBody>
      </p:sp>
      <p:sp>
        <p:nvSpPr>
          <p:cNvPr id="6" name="Slide Number Placeholder 5"/>
          <p:cNvSpPr>
            <a:spLocks noGrp="1"/>
          </p:cNvSpPr>
          <p:nvPr>
            <p:ph type="sldNum" sz="quarter" idx="12"/>
          </p:nvPr>
        </p:nvSpPr>
        <p:spPr>
          <a:xfrm>
            <a:off x="8604504" y="5211060"/>
            <a:ext cx="2112264" cy="228600"/>
          </a:xfrm>
        </p:spPr>
        <p:txBody>
          <a:bodyPr/>
          <a:lstStyle/>
          <a:p>
            <a:fld id="{D4AA026A-C347-4A1D-8A32-05134DE6EAAB}" type="slidenum">
              <a:rPr lang="he-IL" smtClean="0"/>
              <a:t>‹#›</a:t>
            </a:fld>
            <a:endParaRPr lang="he-IL"/>
          </a:p>
        </p:txBody>
      </p:sp>
    </p:spTree>
    <p:extLst>
      <p:ext uri="{BB962C8B-B14F-4D97-AF65-F5344CB8AC3E}">
        <p14:creationId xmlns:p14="http://schemas.microsoft.com/office/powerpoint/2010/main" val="299140676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CA988059-1677-41CE-832F-A00B0E10397E}" type="datetimeFigureOut">
              <a:rPr lang="he-IL" smtClean="0"/>
              <a:t>י'/אב/תשפ"ד</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D4AA026A-C347-4A1D-8A32-05134DE6EAAB}" type="slidenum">
              <a:rPr lang="he-IL" smtClean="0"/>
              <a:t>‹#›</a:t>
            </a:fld>
            <a:endParaRPr lang="he-IL"/>
          </a:p>
        </p:txBody>
      </p:sp>
    </p:spTree>
    <p:extLst>
      <p:ext uri="{BB962C8B-B14F-4D97-AF65-F5344CB8AC3E}">
        <p14:creationId xmlns:p14="http://schemas.microsoft.com/office/powerpoint/2010/main" val="3448462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CA988059-1677-41CE-832F-A00B0E10397E}" type="datetimeFigureOut">
              <a:rPr lang="he-IL" smtClean="0"/>
              <a:t>י'/אב/תשפ"ד</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D4AA026A-C347-4A1D-8A32-05134DE6EAAB}" type="slidenum">
              <a:rPr lang="he-IL" smtClean="0"/>
              <a:t>‹#›</a:t>
            </a:fld>
            <a:endParaRPr lang="he-IL"/>
          </a:p>
        </p:txBody>
      </p:sp>
    </p:spTree>
    <p:extLst>
      <p:ext uri="{BB962C8B-B14F-4D97-AF65-F5344CB8AC3E}">
        <p14:creationId xmlns:p14="http://schemas.microsoft.com/office/powerpoint/2010/main" val="1066642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CA988059-1677-41CE-832F-A00B0E10397E}" type="datetimeFigureOut">
              <a:rPr lang="he-IL" smtClean="0"/>
              <a:t>י'/אב/תשפ"ד</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D4AA026A-C347-4A1D-8A32-05134DE6EAAB}" type="slidenum">
              <a:rPr lang="he-IL" smtClean="0"/>
              <a:t>‹#›</a:t>
            </a:fld>
            <a:endParaRPr lang="he-IL"/>
          </a:p>
        </p:txBody>
      </p:sp>
    </p:spTree>
    <p:extLst>
      <p:ext uri="{BB962C8B-B14F-4D97-AF65-F5344CB8AC3E}">
        <p14:creationId xmlns:p14="http://schemas.microsoft.com/office/powerpoint/2010/main" val="2691533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988059-1677-41CE-832F-A00B0E10397E}" type="datetimeFigureOut">
              <a:rPr lang="he-IL" smtClean="0"/>
              <a:t>י'/אב/תשפ"ד</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D4AA026A-C347-4A1D-8A32-05134DE6EAAB}" type="slidenum">
              <a:rPr lang="he-IL" smtClean="0"/>
              <a:t>‹#›</a:t>
            </a:fld>
            <a:endParaRPr lang="he-IL"/>
          </a:p>
        </p:txBody>
      </p:sp>
    </p:spTree>
    <p:extLst>
      <p:ext uri="{BB962C8B-B14F-4D97-AF65-F5344CB8AC3E}">
        <p14:creationId xmlns:p14="http://schemas.microsoft.com/office/powerpoint/2010/main" val="3760604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תוכן עם כיתוב">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8" name="Date Placeholder 7"/>
          <p:cNvSpPr>
            <a:spLocks noGrp="1"/>
          </p:cNvSpPr>
          <p:nvPr>
            <p:ph type="dt" sz="half" idx="10"/>
          </p:nvPr>
        </p:nvSpPr>
        <p:spPr/>
        <p:txBody>
          <a:bodyPr/>
          <a:lstStyle/>
          <a:p>
            <a:fld id="{CA988059-1677-41CE-832F-A00B0E10397E}" type="datetimeFigureOut">
              <a:rPr lang="he-IL" smtClean="0"/>
              <a:t>י'/אב/תשפ"ד</a:t>
            </a:fld>
            <a:endParaRPr lang="he-IL"/>
          </a:p>
        </p:txBody>
      </p:sp>
      <p:sp>
        <p:nvSpPr>
          <p:cNvPr id="9" name="Footer Placeholder 8"/>
          <p:cNvSpPr>
            <a:spLocks noGrp="1"/>
          </p:cNvSpPr>
          <p:nvPr>
            <p:ph type="ftr" sz="quarter" idx="11"/>
          </p:nvPr>
        </p:nvSpPr>
        <p:spPr/>
        <p:txBody>
          <a:bodyPr/>
          <a:lstStyle>
            <a:lvl1pPr algn="r">
              <a:defRPr/>
            </a:lvl1pPr>
          </a:lstStyle>
          <a:p>
            <a:endParaRPr lang="he-IL"/>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D4AA026A-C347-4A1D-8A32-05134DE6EAAB}" type="slidenum">
              <a:rPr lang="he-IL" smtClean="0"/>
              <a:t>‹#›</a:t>
            </a:fld>
            <a:endParaRPr lang="he-IL"/>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65288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תמונה עם כיתוב">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CA988059-1677-41CE-832F-A00B0E10397E}" type="datetimeFigureOut">
              <a:rPr lang="he-IL" smtClean="0"/>
              <a:t>י'/אב/תשפ"ד</a:t>
            </a:fld>
            <a:endParaRPr lang="he-IL"/>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he-IL"/>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D4AA026A-C347-4A1D-8A32-05134DE6EAAB}" type="slidenum">
              <a:rPr lang="he-IL" smtClean="0"/>
              <a:t>‹#›</a:t>
            </a:fld>
            <a:endParaRPr lang="he-IL"/>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90322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CA988059-1677-41CE-832F-A00B0E10397E}" type="datetimeFigureOut">
              <a:rPr lang="he-IL" smtClean="0"/>
              <a:t>י'/אב/תשפ"ד</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D4AA026A-C347-4A1D-8A32-05134DE6EAAB}" type="slidenum">
              <a:rPr lang="he-IL" smtClean="0"/>
              <a:t>‹#›</a:t>
            </a:fld>
            <a:endParaRPr lang="he-IL"/>
          </a:p>
        </p:txBody>
      </p:sp>
    </p:spTree>
    <p:extLst>
      <p:ext uri="{BB962C8B-B14F-4D97-AF65-F5344CB8AC3E}">
        <p14:creationId xmlns:p14="http://schemas.microsoft.com/office/powerpoint/2010/main" val="3657909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CA988059-1677-41CE-832F-A00B0E10397E}" type="datetimeFigureOut">
              <a:rPr lang="he-IL" smtClean="0"/>
              <a:t>י'/אב/תשפ"ד</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D4AA026A-C347-4A1D-8A32-05134DE6EAAB}" type="slidenum">
              <a:rPr lang="he-IL" smtClean="0"/>
              <a:t>‹#›</a:t>
            </a:fld>
            <a:endParaRPr lang="he-IL"/>
          </a:p>
        </p:txBody>
      </p:sp>
    </p:spTree>
    <p:extLst>
      <p:ext uri="{BB962C8B-B14F-4D97-AF65-F5344CB8AC3E}">
        <p14:creationId xmlns:p14="http://schemas.microsoft.com/office/powerpoint/2010/main" val="646941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CA988059-1677-41CE-832F-A00B0E10397E}" type="datetimeFigureOut">
              <a:rPr lang="he-IL" smtClean="0"/>
              <a:t>י'/אב/תשפ"ד</a:t>
            </a:fld>
            <a:endParaRPr lang="he-IL"/>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he-IL"/>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D4AA026A-C347-4A1D-8A32-05134DE6EAAB}" type="slidenum">
              <a:rPr lang="he-IL" smtClean="0"/>
              <a:t>‹#›</a:t>
            </a:fld>
            <a:endParaRPr lang="he-IL"/>
          </a:p>
        </p:txBody>
      </p:sp>
    </p:spTree>
    <p:extLst>
      <p:ext uri="{BB962C8B-B14F-4D97-AF65-F5344CB8AC3E}">
        <p14:creationId xmlns:p14="http://schemas.microsoft.com/office/powerpoint/2010/main" val="31252105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1"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r" defTabSz="914400" rtl="1"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36D4DA6-31CB-4A77-BA58-46A7A886A7F2}"/>
              </a:ext>
            </a:extLst>
          </p:cNvPr>
          <p:cNvSpPr>
            <a:spLocks noGrp="1"/>
          </p:cNvSpPr>
          <p:nvPr>
            <p:ph type="ctrTitle"/>
          </p:nvPr>
        </p:nvSpPr>
        <p:spPr/>
        <p:txBody>
          <a:bodyPr/>
          <a:lstStyle/>
          <a:p>
            <a:r>
              <a:rPr lang="he-IL" dirty="0"/>
              <a:t>הרצאה 4</a:t>
            </a:r>
          </a:p>
        </p:txBody>
      </p:sp>
      <p:sp>
        <p:nvSpPr>
          <p:cNvPr id="3" name="כותרת משנה 2">
            <a:extLst>
              <a:ext uri="{FF2B5EF4-FFF2-40B4-BE49-F238E27FC236}">
                <a16:creationId xmlns:a16="http://schemas.microsoft.com/office/drawing/2014/main" id="{E67815FB-C4CA-4C19-8E7C-BDD97B955157}"/>
              </a:ext>
            </a:extLst>
          </p:cNvPr>
          <p:cNvSpPr>
            <a:spLocks noGrp="1"/>
          </p:cNvSpPr>
          <p:nvPr>
            <p:ph type="subTitle" idx="1"/>
          </p:nvPr>
        </p:nvSpPr>
        <p:spPr/>
        <p:txBody>
          <a:bodyPr/>
          <a:lstStyle/>
          <a:p>
            <a:r>
              <a:rPr lang="he-IL" dirty="0"/>
              <a:t>מרצה: יניב </a:t>
            </a:r>
            <a:r>
              <a:rPr lang="he-IL" dirty="0" err="1"/>
              <a:t>מורדוב</a:t>
            </a:r>
            <a:endParaRPr lang="he-IL" dirty="0"/>
          </a:p>
        </p:txBody>
      </p:sp>
    </p:spTree>
    <p:extLst>
      <p:ext uri="{BB962C8B-B14F-4D97-AF65-F5344CB8AC3E}">
        <p14:creationId xmlns:p14="http://schemas.microsoft.com/office/powerpoint/2010/main" val="1444158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A2EC584-613A-4FF7-BE21-9F45FAB28873}"/>
              </a:ext>
            </a:extLst>
          </p:cNvPr>
          <p:cNvSpPr>
            <a:spLocks noGrp="1"/>
          </p:cNvSpPr>
          <p:nvPr>
            <p:ph type="title"/>
          </p:nvPr>
        </p:nvSpPr>
        <p:spPr>
          <a:xfrm>
            <a:off x="2117035" y="642594"/>
            <a:ext cx="9008166" cy="1371600"/>
          </a:xfrm>
        </p:spPr>
        <p:txBody>
          <a:bodyPr>
            <a:normAutofit fontScale="90000"/>
          </a:bodyPr>
          <a:lstStyle/>
          <a:p>
            <a:r>
              <a:rPr lang="he-IL" dirty="0"/>
              <a:t>אבטחה על רשת - (חומת אש) </a:t>
            </a:r>
            <a:r>
              <a:rPr lang="en-US" dirty="0"/>
              <a:t>Firewall</a:t>
            </a:r>
            <a:endParaRPr lang="he-IL" dirty="0"/>
          </a:p>
        </p:txBody>
      </p:sp>
      <p:sp>
        <p:nvSpPr>
          <p:cNvPr id="3" name="מציין מיקום תוכן 2">
            <a:extLst>
              <a:ext uri="{FF2B5EF4-FFF2-40B4-BE49-F238E27FC236}">
                <a16:creationId xmlns:a16="http://schemas.microsoft.com/office/drawing/2014/main" id="{B5943813-F460-481A-9E08-21158395783D}"/>
              </a:ext>
            </a:extLst>
          </p:cNvPr>
          <p:cNvSpPr>
            <a:spLocks noGrp="1"/>
          </p:cNvSpPr>
          <p:nvPr>
            <p:ph idx="1"/>
          </p:nvPr>
        </p:nvSpPr>
        <p:spPr/>
        <p:txBody>
          <a:bodyPr/>
          <a:lstStyle/>
          <a:p>
            <a:r>
              <a:rPr lang="he-IL" dirty="0"/>
              <a:t>פתוחה לחכמה: </a:t>
            </a:r>
            <a:r>
              <a:rPr lang="en-US" dirty="0"/>
              <a:t>Firewall</a:t>
            </a:r>
            <a:r>
              <a:rPr lang="he-IL" dirty="0"/>
              <a:t> היא מערכת אבטחה שמטרתה להגן על רשת מחשבים מפני גישה בלתי מורשית ואיומים מבחוץ. חומת האש פועלת כמחסום בין הרשת הפנימית שלך לאינטרנט, ומבצעת בקרת גישה על התעבורה הנכנסת והיוצאת מהמערכת.</a:t>
            </a:r>
          </a:p>
          <a:p>
            <a:r>
              <a:rPr lang="he-IL" dirty="0"/>
              <a:t>ישנם 3 סוגים של חומת אש:</a:t>
            </a:r>
          </a:p>
          <a:p>
            <a:r>
              <a:rPr lang="he-IL" dirty="0"/>
              <a:t>1. חומת אש מבוססת תוכנה.</a:t>
            </a:r>
          </a:p>
          <a:p>
            <a:r>
              <a:rPr lang="he-IL" dirty="0"/>
              <a:t>2. חומת אש מבוססת חומרה.</a:t>
            </a:r>
          </a:p>
          <a:p>
            <a:r>
              <a:rPr lang="he-IL" dirty="0"/>
              <a:t>3. חומת אש מבוססת ענן.</a:t>
            </a:r>
          </a:p>
          <a:p>
            <a:endParaRPr lang="he-IL" dirty="0"/>
          </a:p>
          <a:p>
            <a:endParaRPr lang="he-IL" dirty="0"/>
          </a:p>
        </p:txBody>
      </p:sp>
    </p:spTree>
    <p:extLst>
      <p:ext uri="{BB962C8B-B14F-4D97-AF65-F5344CB8AC3E}">
        <p14:creationId xmlns:p14="http://schemas.microsoft.com/office/powerpoint/2010/main" val="3572117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E0E3536-732B-4892-AFFC-90FF289A043C}"/>
              </a:ext>
            </a:extLst>
          </p:cNvPr>
          <p:cNvSpPr>
            <a:spLocks noGrp="1"/>
          </p:cNvSpPr>
          <p:nvPr>
            <p:ph type="title"/>
          </p:nvPr>
        </p:nvSpPr>
        <p:spPr>
          <a:xfrm>
            <a:off x="8587409" y="423933"/>
            <a:ext cx="2537791" cy="1371600"/>
          </a:xfrm>
        </p:spPr>
        <p:txBody>
          <a:bodyPr/>
          <a:lstStyle/>
          <a:p>
            <a:r>
              <a:rPr lang="en-US" dirty="0"/>
              <a:t>Firewall</a:t>
            </a:r>
            <a:endParaRPr lang="he-IL" dirty="0"/>
          </a:p>
        </p:txBody>
      </p:sp>
      <p:sp>
        <p:nvSpPr>
          <p:cNvPr id="3" name="מציין מיקום תוכן 2">
            <a:extLst>
              <a:ext uri="{FF2B5EF4-FFF2-40B4-BE49-F238E27FC236}">
                <a16:creationId xmlns:a16="http://schemas.microsoft.com/office/drawing/2014/main" id="{0D81589D-0759-4DE1-96D6-01D55BCF1ED7}"/>
              </a:ext>
            </a:extLst>
          </p:cNvPr>
          <p:cNvSpPr>
            <a:spLocks noGrp="1"/>
          </p:cNvSpPr>
          <p:nvPr>
            <p:ph idx="1"/>
          </p:nvPr>
        </p:nvSpPr>
        <p:spPr>
          <a:xfrm>
            <a:off x="1066800" y="1630017"/>
            <a:ext cx="10058400" cy="4909931"/>
          </a:xfrm>
        </p:spPr>
        <p:txBody>
          <a:bodyPr>
            <a:normAutofit/>
          </a:bodyPr>
          <a:lstStyle/>
          <a:p>
            <a:r>
              <a:rPr lang="he-IL" dirty="0"/>
              <a:t>1.</a:t>
            </a:r>
            <a:r>
              <a:rPr lang="he-IL" b="1" dirty="0"/>
              <a:t> חומת אש מבוססת תוכנה:</a:t>
            </a:r>
            <a:endParaRPr lang="he-IL" dirty="0"/>
          </a:p>
          <a:p>
            <a:r>
              <a:rPr lang="he-IL" dirty="0"/>
              <a:t>מותקנת על מחשבים אישיים או שרתים.</a:t>
            </a:r>
          </a:p>
          <a:p>
            <a:r>
              <a:rPr lang="he-IL" dirty="0"/>
              <a:t>יתרונות: קל להגדיר ולעדכן, ניתן להתאים אישית.</a:t>
            </a:r>
          </a:p>
          <a:p>
            <a:r>
              <a:rPr lang="he-IL" dirty="0"/>
              <a:t>חסרונות: עלולה להשפיע על ביצועי המחשב, פחות יעילה ברשתות גדולות.</a:t>
            </a:r>
          </a:p>
          <a:p>
            <a:r>
              <a:rPr lang="he-IL" dirty="0"/>
              <a:t>2. </a:t>
            </a:r>
            <a:r>
              <a:rPr lang="he-IL" b="1" dirty="0"/>
              <a:t>חומת אש מבוססת חומרה:</a:t>
            </a:r>
            <a:endParaRPr lang="he-IL" dirty="0"/>
          </a:p>
          <a:p>
            <a:r>
              <a:rPr lang="he-IL" dirty="0"/>
              <a:t>יחידת חומרה ייעודית הממוקמת בין הרשת הפנימית לאינטרנט, כמו נתב</a:t>
            </a:r>
            <a:r>
              <a:rPr lang="en-US" dirty="0"/>
              <a:t> Router </a:t>
            </a:r>
            <a:r>
              <a:rPr lang="he-IL" dirty="0"/>
              <a:t>עם יכולות חומת אש.</a:t>
            </a:r>
          </a:p>
          <a:p>
            <a:r>
              <a:rPr lang="he-IL" dirty="0"/>
              <a:t>יתרונות: פחות משפיעה על ביצועי המחשב, מתאימה לרשתות גדולות.</a:t>
            </a:r>
          </a:p>
          <a:p>
            <a:r>
              <a:rPr lang="he-IL" dirty="0"/>
              <a:t>חסרונות: עלות גבוהה יותר, מצריכה תחזוקה וניהול מקצועיים.</a:t>
            </a:r>
          </a:p>
          <a:p>
            <a:r>
              <a:rPr lang="he-IL" dirty="0"/>
              <a:t>3. </a:t>
            </a:r>
            <a:r>
              <a:rPr lang="he-IL" b="1" dirty="0"/>
              <a:t>חומת אש מבוססת ענן:</a:t>
            </a:r>
            <a:endParaRPr lang="he-IL" dirty="0"/>
          </a:p>
          <a:p>
            <a:r>
              <a:rPr lang="he-IL" dirty="0"/>
              <a:t>שירות חומת אש הניתן באמצעות ספקי ענן</a:t>
            </a:r>
          </a:p>
          <a:p>
            <a:r>
              <a:rPr lang="he-IL" dirty="0"/>
              <a:t>יתרונות: ניהול מרחוק.</a:t>
            </a:r>
          </a:p>
          <a:p>
            <a:r>
              <a:rPr lang="he-IL" dirty="0"/>
              <a:t>חסרונות: תלות בספק הענן, עלויות מתמשכות.</a:t>
            </a:r>
          </a:p>
          <a:p>
            <a:endParaRPr lang="he-IL" dirty="0"/>
          </a:p>
          <a:p>
            <a:endParaRPr lang="he-IL" dirty="0"/>
          </a:p>
          <a:p>
            <a:endParaRPr lang="he-IL" dirty="0"/>
          </a:p>
          <a:p>
            <a:endParaRPr lang="he-IL" dirty="0"/>
          </a:p>
        </p:txBody>
      </p:sp>
    </p:spTree>
    <p:extLst>
      <p:ext uri="{BB962C8B-B14F-4D97-AF65-F5344CB8AC3E}">
        <p14:creationId xmlns:p14="http://schemas.microsoft.com/office/powerpoint/2010/main" val="3717147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9FAE883-C878-4047-8172-5DCC6FBD9633}"/>
              </a:ext>
            </a:extLst>
          </p:cNvPr>
          <p:cNvSpPr>
            <a:spLocks noGrp="1"/>
          </p:cNvSpPr>
          <p:nvPr>
            <p:ph type="title"/>
          </p:nvPr>
        </p:nvSpPr>
        <p:spPr>
          <a:xfrm>
            <a:off x="5456582" y="642594"/>
            <a:ext cx="5668617" cy="1371600"/>
          </a:xfrm>
        </p:spPr>
        <p:txBody>
          <a:bodyPr/>
          <a:lstStyle/>
          <a:p>
            <a:r>
              <a:rPr lang="he-IL" dirty="0"/>
              <a:t>כיצד פועלת חומת אש:</a:t>
            </a:r>
          </a:p>
        </p:txBody>
      </p:sp>
      <p:sp>
        <p:nvSpPr>
          <p:cNvPr id="3" name="מציין מיקום תוכן 2">
            <a:extLst>
              <a:ext uri="{FF2B5EF4-FFF2-40B4-BE49-F238E27FC236}">
                <a16:creationId xmlns:a16="http://schemas.microsoft.com/office/drawing/2014/main" id="{364C1478-3A86-4B71-B193-8B2A195B02B7}"/>
              </a:ext>
            </a:extLst>
          </p:cNvPr>
          <p:cNvSpPr>
            <a:spLocks noGrp="1"/>
          </p:cNvSpPr>
          <p:nvPr>
            <p:ph idx="1"/>
          </p:nvPr>
        </p:nvSpPr>
        <p:spPr/>
        <p:txBody>
          <a:bodyPr/>
          <a:lstStyle/>
          <a:p>
            <a:r>
              <a:rPr lang="he-IL" dirty="0"/>
              <a:t>חומת האש בוחנת כל </a:t>
            </a:r>
            <a:r>
              <a:rPr lang="he-IL" dirty="0" err="1"/>
              <a:t>פקטת</a:t>
            </a:r>
            <a:r>
              <a:rPr lang="he-IL" dirty="0"/>
              <a:t> (</a:t>
            </a:r>
            <a:r>
              <a:rPr lang="en-US" dirty="0"/>
              <a:t>PACKET</a:t>
            </a:r>
            <a:r>
              <a:rPr lang="he-IL" dirty="0"/>
              <a:t>) נתונים שנכנסת או יוצאת מהרשת לפי כללים שהוגדרו מראש. היא יכולה לחסום או לאפשר את התעבורה בהתבסס על מאפיינים כמו כתובת </a:t>
            </a:r>
            <a:r>
              <a:rPr lang="en-US" dirty="0"/>
              <a:t> IP</a:t>
            </a:r>
            <a:r>
              <a:rPr lang="he-IL" dirty="0"/>
              <a:t>פורטים ופרוטוקולים.</a:t>
            </a:r>
          </a:p>
          <a:p>
            <a:r>
              <a:rPr lang="he-IL" dirty="0"/>
              <a:t>ועכשיו נכנס ללב של חומת אש- סוף סוף מגיעים לכתיבת קוד ב</a:t>
            </a:r>
            <a:r>
              <a:rPr lang="en-US" dirty="0" err="1"/>
              <a:t>wsl</a:t>
            </a:r>
            <a:r>
              <a:rPr lang="en-US" dirty="0"/>
              <a:t> -</a:t>
            </a:r>
            <a:r>
              <a:rPr lang="he-IL" dirty="0"/>
              <a:t> </a:t>
            </a:r>
          </a:p>
        </p:txBody>
      </p:sp>
    </p:spTree>
    <p:extLst>
      <p:ext uri="{BB962C8B-B14F-4D97-AF65-F5344CB8AC3E}">
        <p14:creationId xmlns:p14="http://schemas.microsoft.com/office/powerpoint/2010/main" val="2523668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2FDC1C0-809A-409A-9BCF-52C25AB2B5A1}"/>
              </a:ext>
            </a:extLst>
          </p:cNvPr>
          <p:cNvSpPr>
            <a:spLocks noGrp="1"/>
          </p:cNvSpPr>
          <p:nvPr>
            <p:ph type="title"/>
          </p:nvPr>
        </p:nvSpPr>
        <p:spPr>
          <a:xfrm>
            <a:off x="5208104" y="822960"/>
            <a:ext cx="5917096" cy="1371600"/>
          </a:xfrm>
        </p:spPr>
        <p:txBody>
          <a:bodyPr>
            <a:normAutofit fontScale="90000"/>
          </a:bodyPr>
          <a:lstStyle/>
          <a:p>
            <a:r>
              <a:rPr lang="he-IL" dirty="0"/>
              <a:t>חומת אש מבוססת תוכנה:</a:t>
            </a:r>
            <a:br>
              <a:rPr lang="he-IL" dirty="0"/>
            </a:br>
            <a:endParaRPr lang="he-IL" dirty="0"/>
          </a:p>
        </p:txBody>
      </p:sp>
      <p:sp>
        <p:nvSpPr>
          <p:cNvPr id="3" name="מציין מיקום תוכן 2">
            <a:extLst>
              <a:ext uri="{FF2B5EF4-FFF2-40B4-BE49-F238E27FC236}">
                <a16:creationId xmlns:a16="http://schemas.microsoft.com/office/drawing/2014/main" id="{01B457A6-9F9F-4BAB-8B21-58D56DC278BE}"/>
              </a:ext>
            </a:extLst>
          </p:cNvPr>
          <p:cNvSpPr>
            <a:spLocks noGrp="1"/>
          </p:cNvSpPr>
          <p:nvPr>
            <p:ph idx="1"/>
          </p:nvPr>
        </p:nvSpPr>
        <p:spPr/>
        <p:txBody>
          <a:bodyPr/>
          <a:lstStyle/>
          <a:p>
            <a:r>
              <a:rPr lang="he-IL" dirty="0"/>
              <a:t>בחומת אש מבוססת תוכנה ישנו כלי הנקרא </a:t>
            </a:r>
            <a:r>
              <a:rPr lang="en-US" dirty="0"/>
              <a:t>iptables</a:t>
            </a:r>
            <a:r>
              <a:rPr lang="he-IL" dirty="0"/>
              <a:t>, אשר תפקידו לנהל חומות אש מבוססות תוכנה במערכות לינוקס. הוא מאפשר למנהלי רשת להגדיר כללי סינון תעבורה </a:t>
            </a:r>
            <a:r>
              <a:rPr lang="en-US" dirty="0"/>
              <a:t>traffic filtering</a:t>
            </a:r>
            <a:r>
              <a:rPr lang="he-IL" dirty="0"/>
              <a:t> על מנת להגן על הרשת שלהם מפני גישה לא מורשית ואיומים שונים.</a:t>
            </a:r>
          </a:p>
        </p:txBody>
      </p:sp>
    </p:spTree>
    <p:extLst>
      <p:ext uri="{BB962C8B-B14F-4D97-AF65-F5344CB8AC3E}">
        <p14:creationId xmlns:p14="http://schemas.microsoft.com/office/powerpoint/2010/main" val="1464119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1F1F2A9-B829-4227-B874-C905A7793044}"/>
              </a:ext>
            </a:extLst>
          </p:cNvPr>
          <p:cNvSpPr>
            <a:spLocks noGrp="1"/>
          </p:cNvSpPr>
          <p:nvPr>
            <p:ph type="title"/>
          </p:nvPr>
        </p:nvSpPr>
        <p:spPr>
          <a:xfrm>
            <a:off x="3230216" y="642594"/>
            <a:ext cx="7894983" cy="1371600"/>
          </a:xfrm>
        </p:spPr>
        <p:txBody>
          <a:bodyPr/>
          <a:lstStyle/>
          <a:p>
            <a:r>
              <a:rPr lang="he-IL" dirty="0"/>
              <a:t>עקרונות בסיסיים של </a:t>
            </a:r>
            <a:r>
              <a:rPr lang="en-US" dirty="0"/>
              <a:t>iptables</a:t>
            </a:r>
            <a:endParaRPr lang="he-IL" dirty="0"/>
          </a:p>
        </p:txBody>
      </p:sp>
      <p:sp>
        <p:nvSpPr>
          <p:cNvPr id="3" name="מציין מיקום תוכן 2">
            <a:extLst>
              <a:ext uri="{FF2B5EF4-FFF2-40B4-BE49-F238E27FC236}">
                <a16:creationId xmlns:a16="http://schemas.microsoft.com/office/drawing/2014/main" id="{7E486816-3F81-400F-9699-E7661047E0A0}"/>
              </a:ext>
            </a:extLst>
          </p:cNvPr>
          <p:cNvSpPr>
            <a:spLocks noGrp="1"/>
          </p:cNvSpPr>
          <p:nvPr>
            <p:ph idx="1"/>
          </p:nvPr>
        </p:nvSpPr>
        <p:spPr/>
        <p:txBody>
          <a:bodyPr>
            <a:normAutofit lnSpcReduction="10000"/>
          </a:bodyPr>
          <a:lstStyle/>
          <a:p>
            <a:r>
              <a:rPr lang="he-IL" dirty="0"/>
              <a:t>שרשראות </a:t>
            </a:r>
            <a:r>
              <a:rPr lang="en-US" dirty="0"/>
              <a:t>Chains</a:t>
            </a:r>
            <a:r>
              <a:rPr lang="he-IL" dirty="0"/>
              <a:t>: ב-</a:t>
            </a:r>
            <a:r>
              <a:rPr lang="en-US" dirty="0"/>
              <a:t>iptables </a:t>
            </a:r>
            <a:r>
              <a:rPr lang="he-IL" dirty="0"/>
              <a:t> שרשראות </a:t>
            </a:r>
            <a:r>
              <a:rPr lang="en-US" dirty="0"/>
              <a:t>chains</a:t>
            </a:r>
            <a:r>
              <a:rPr lang="he-IL" dirty="0"/>
              <a:t> הן קבוצות של כללים </a:t>
            </a:r>
            <a:r>
              <a:rPr lang="en-US" dirty="0"/>
              <a:t>rules</a:t>
            </a:r>
            <a:r>
              <a:rPr lang="he-IL" dirty="0"/>
              <a:t> המגדירות כיצד לטפל בתעבורה </a:t>
            </a:r>
            <a:r>
              <a:rPr lang="en-US" dirty="0"/>
              <a:t> traffic</a:t>
            </a:r>
            <a:r>
              <a:rPr lang="he-IL" dirty="0"/>
              <a:t>העוברת דרך המערכת. כל </a:t>
            </a:r>
            <a:r>
              <a:rPr lang="he-IL" dirty="0" err="1"/>
              <a:t>פאקטה</a:t>
            </a:r>
            <a:r>
              <a:rPr lang="en-US" dirty="0"/>
              <a:t> packet </a:t>
            </a:r>
            <a:r>
              <a:rPr lang="he-IL" dirty="0"/>
              <a:t>שעוברת דרך המערכת נבדקת מול כל הכללים המוגדרים בשרשראות הרלוונטיות, לפי הסדר שבו הם מוגדרים.</a:t>
            </a:r>
          </a:p>
          <a:p>
            <a:r>
              <a:rPr lang="he-IL" dirty="0"/>
              <a:t>ישנם מספר סוגי שרשראות ב-</a:t>
            </a:r>
            <a:r>
              <a:rPr lang="en-US" dirty="0"/>
              <a:t>iptables</a:t>
            </a:r>
            <a:r>
              <a:rPr lang="he-IL" dirty="0"/>
              <a:t> :</a:t>
            </a:r>
          </a:p>
          <a:p>
            <a:r>
              <a:rPr lang="he-IL" dirty="0"/>
              <a:t>1. </a:t>
            </a:r>
            <a:r>
              <a:rPr lang="en-US" dirty="0"/>
              <a:t>INPUT</a:t>
            </a:r>
            <a:r>
              <a:rPr lang="he-IL" dirty="0"/>
              <a:t>: השרשרת הזאת מטפלת בכל </a:t>
            </a:r>
            <a:r>
              <a:rPr lang="he-IL" dirty="0" err="1"/>
              <a:t>הפאקטות</a:t>
            </a:r>
            <a:r>
              <a:rPr lang="he-IL" dirty="0"/>
              <a:t> המיועדות למערכת המקומית (כלומר, </a:t>
            </a:r>
            <a:r>
              <a:rPr lang="he-IL" dirty="0" err="1"/>
              <a:t>פקטות</a:t>
            </a:r>
            <a:r>
              <a:rPr lang="he-IL" dirty="0"/>
              <a:t> שנכנסות למחשב המקומי לשם עיבוד). </a:t>
            </a:r>
            <a:r>
              <a:rPr lang="he-IL" dirty="0" err="1"/>
              <a:t>פאקטות</a:t>
            </a:r>
            <a:r>
              <a:rPr lang="he-IL" dirty="0"/>
              <a:t> שנכנסות דרך שרשרת זו כוללות בקשות </a:t>
            </a:r>
            <a:r>
              <a:rPr lang="en-US" dirty="0"/>
              <a:t>HTTP</a:t>
            </a:r>
            <a:r>
              <a:rPr lang="he-IL" dirty="0"/>
              <a:t> למחשב שמריץ שרת אינטרנט, או חיבורים </a:t>
            </a:r>
            <a:r>
              <a:rPr lang="en-US" dirty="0"/>
              <a:t>SSH</a:t>
            </a:r>
            <a:r>
              <a:rPr lang="he-IL" dirty="0"/>
              <a:t> למחשב מרוחק.</a:t>
            </a:r>
          </a:p>
          <a:p>
            <a:r>
              <a:rPr lang="he-IL" dirty="0"/>
              <a:t>2. </a:t>
            </a:r>
            <a:r>
              <a:rPr lang="en-US" dirty="0"/>
              <a:t>OUTPUT</a:t>
            </a:r>
            <a:r>
              <a:rPr lang="he-IL" dirty="0"/>
              <a:t>: השרשרת הזאת מטפלת בכל </a:t>
            </a:r>
            <a:r>
              <a:rPr lang="he-IL" dirty="0" err="1"/>
              <a:t>הפאקטות</a:t>
            </a:r>
            <a:r>
              <a:rPr lang="he-IL" dirty="0"/>
              <a:t> שנשלחות מהמחשב המקומי. </a:t>
            </a:r>
            <a:r>
              <a:rPr lang="he-IL" dirty="0" err="1"/>
              <a:t>פאקטות</a:t>
            </a:r>
            <a:r>
              <a:rPr lang="he-IL" dirty="0"/>
              <a:t> שנשלחות דרך שרשרת זו כוללות חיבורים שנוצרו מהמחשב לשרת אינטרנט חיצוני, או הודעות דואר אלקטרוני שנשלחות מהמערכת.</a:t>
            </a:r>
          </a:p>
          <a:p>
            <a:r>
              <a:rPr lang="he-IL" dirty="0"/>
              <a:t>3. </a:t>
            </a:r>
            <a:r>
              <a:rPr lang="en-US" dirty="0"/>
              <a:t>FORWARD</a:t>
            </a:r>
            <a:r>
              <a:rPr lang="he-IL" dirty="0"/>
              <a:t>: השרשרת הזאת מטפלת בכל </a:t>
            </a:r>
            <a:r>
              <a:rPr lang="he-IL" dirty="0" err="1"/>
              <a:t>הפקטות</a:t>
            </a:r>
            <a:r>
              <a:rPr lang="he-IL" dirty="0"/>
              <a:t> שעוברות דרך המחשב המקומי ליעד אחר, בדרך כלל במקרים בהם המחשב פועל כנתב </a:t>
            </a:r>
            <a:r>
              <a:rPr lang="en-US" dirty="0"/>
              <a:t>router</a:t>
            </a:r>
            <a:r>
              <a:rPr lang="he-IL" dirty="0"/>
              <a:t> , </a:t>
            </a:r>
            <a:r>
              <a:rPr lang="he-IL" dirty="0" err="1"/>
              <a:t>פקטות</a:t>
            </a:r>
            <a:r>
              <a:rPr lang="he-IL" dirty="0"/>
              <a:t> שעוברות דרך שרשרת זו כוללות תעבורה בין שני מחשבים ברשת מקומית שעוברת דרך הנתב.</a:t>
            </a:r>
          </a:p>
        </p:txBody>
      </p:sp>
    </p:spTree>
    <p:extLst>
      <p:ext uri="{BB962C8B-B14F-4D97-AF65-F5344CB8AC3E}">
        <p14:creationId xmlns:p14="http://schemas.microsoft.com/office/powerpoint/2010/main" val="3431195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278996-7052-4CD1-BFE4-7A5EBF091F06}"/>
              </a:ext>
            </a:extLst>
          </p:cNvPr>
          <p:cNvSpPr>
            <a:spLocks noGrp="1"/>
          </p:cNvSpPr>
          <p:nvPr>
            <p:ph type="title"/>
          </p:nvPr>
        </p:nvSpPr>
        <p:spPr/>
        <p:txBody>
          <a:bodyPr/>
          <a:lstStyle/>
          <a:p>
            <a:r>
              <a:rPr lang="he-IL" dirty="0"/>
              <a:t>המשך - עקרונות בסיסיים של </a:t>
            </a:r>
            <a:r>
              <a:rPr lang="en-US" dirty="0"/>
              <a:t>iptables</a:t>
            </a:r>
            <a:endParaRPr lang="he-IL" dirty="0"/>
          </a:p>
        </p:txBody>
      </p:sp>
      <p:sp>
        <p:nvSpPr>
          <p:cNvPr id="3" name="מציין מיקום תוכן 2">
            <a:extLst>
              <a:ext uri="{FF2B5EF4-FFF2-40B4-BE49-F238E27FC236}">
                <a16:creationId xmlns:a16="http://schemas.microsoft.com/office/drawing/2014/main" id="{3F3E062F-1D22-4DD6-ABF3-4E7AB8B87024}"/>
              </a:ext>
            </a:extLst>
          </p:cNvPr>
          <p:cNvSpPr>
            <a:spLocks noGrp="1"/>
          </p:cNvSpPr>
          <p:nvPr>
            <p:ph idx="1"/>
          </p:nvPr>
        </p:nvSpPr>
        <p:spPr/>
        <p:txBody>
          <a:bodyPr/>
          <a:lstStyle/>
          <a:p>
            <a:r>
              <a:rPr lang="he-IL" dirty="0"/>
              <a:t>זרימת </a:t>
            </a:r>
            <a:r>
              <a:rPr lang="he-IL" dirty="0" err="1"/>
              <a:t>הפאקטות</a:t>
            </a:r>
            <a:r>
              <a:rPr lang="he-IL" dirty="0"/>
              <a:t> בשרשראות: בכדי להבין כיצד </a:t>
            </a:r>
            <a:r>
              <a:rPr lang="he-IL" dirty="0" err="1"/>
              <a:t>פאקטה</a:t>
            </a:r>
            <a:r>
              <a:rPr lang="he-IL" dirty="0"/>
              <a:t> זורמת דרך המערכת ונבדקת מול השרשראות השונות, נבחן את התהליך:</a:t>
            </a:r>
          </a:p>
          <a:p>
            <a:r>
              <a:rPr lang="he-IL" dirty="0"/>
              <a:t>1. </a:t>
            </a:r>
            <a:r>
              <a:rPr lang="he-IL" dirty="0" err="1"/>
              <a:t>פקטה</a:t>
            </a:r>
            <a:r>
              <a:rPr lang="he-IL" dirty="0"/>
              <a:t> נכנסת </a:t>
            </a:r>
            <a:r>
              <a:rPr lang="en-US" dirty="0"/>
              <a:t>Ingress</a:t>
            </a:r>
            <a:r>
              <a:rPr lang="he-IL" dirty="0"/>
              <a:t>: כאשר </a:t>
            </a:r>
            <a:r>
              <a:rPr lang="he-IL" dirty="0" err="1"/>
              <a:t>פקטה</a:t>
            </a:r>
            <a:r>
              <a:rPr lang="he-IL" dirty="0"/>
              <a:t> נכנסת למערכת (מכרטיס הרשת) היא נבדקת תחילה בשרשרת </a:t>
            </a:r>
            <a:r>
              <a:rPr lang="en-US" dirty="0"/>
              <a:t>PREROUTING</a:t>
            </a:r>
            <a:r>
              <a:rPr lang="he-IL" dirty="0"/>
              <a:t> השייך לטבלת </a:t>
            </a:r>
            <a:r>
              <a:rPr lang="en-US" dirty="0"/>
              <a:t>NAT</a:t>
            </a:r>
            <a:r>
              <a:rPr lang="he-IL" dirty="0"/>
              <a:t> (כלומר תמיד </a:t>
            </a:r>
            <a:r>
              <a:rPr lang="he-IL" dirty="0" err="1"/>
              <a:t>שפאקטה</a:t>
            </a:r>
            <a:r>
              <a:rPr lang="he-IL" dirty="0"/>
              <a:t> מגיע מהרשת היא נבדקת תחילה על ידי </a:t>
            </a:r>
            <a:r>
              <a:rPr lang="en-US" dirty="0"/>
              <a:t>(PREROUTING</a:t>
            </a:r>
            <a:r>
              <a:rPr lang="he-IL" dirty="0"/>
              <a:t> לאחר מכן, אם </a:t>
            </a:r>
            <a:r>
              <a:rPr lang="he-IL" dirty="0" err="1"/>
              <a:t>הפקטה</a:t>
            </a:r>
            <a:r>
              <a:rPr lang="he-IL" dirty="0"/>
              <a:t> מיועדת למחשב המקומי, היא נבדקת בשרשרת </a:t>
            </a:r>
            <a:r>
              <a:rPr lang="en-US" dirty="0"/>
              <a:t>INPUT</a:t>
            </a:r>
            <a:r>
              <a:rPr lang="he-IL" dirty="0"/>
              <a:t>.</a:t>
            </a:r>
          </a:p>
          <a:p>
            <a:r>
              <a:rPr lang="he-IL" dirty="0"/>
              <a:t>2. </a:t>
            </a:r>
            <a:r>
              <a:rPr lang="he-IL" dirty="0" err="1"/>
              <a:t>פקטה</a:t>
            </a:r>
            <a:r>
              <a:rPr lang="he-IL" dirty="0"/>
              <a:t> יוצאת </a:t>
            </a:r>
            <a:r>
              <a:rPr lang="en-US" dirty="0"/>
              <a:t>Egress</a:t>
            </a:r>
            <a:r>
              <a:rPr lang="he-IL" dirty="0"/>
              <a:t>: </a:t>
            </a:r>
            <a:r>
              <a:rPr lang="he-IL" dirty="0" err="1"/>
              <a:t>פאקטות</a:t>
            </a:r>
            <a:r>
              <a:rPr lang="he-IL" dirty="0"/>
              <a:t> שנשלחות מהמחשב המקומי נבדקות בשרשרת </a:t>
            </a:r>
            <a:r>
              <a:rPr lang="en-US" dirty="0"/>
              <a:t>OUTPUT</a:t>
            </a:r>
            <a:endParaRPr lang="he-IL" dirty="0"/>
          </a:p>
          <a:p>
            <a:r>
              <a:rPr lang="he-IL" dirty="0"/>
              <a:t>3. </a:t>
            </a:r>
            <a:r>
              <a:rPr lang="he-IL" dirty="0" err="1"/>
              <a:t>פקטה</a:t>
            </a:r>
            <a:r>
              <a:rPr lang="he-IL" dirty="0"/>
              <a:t> עוברת </a:t>
            </a:r>
            <a:r>
              <a:rPr lang="en-US" dirty="0"/>
              <a:t>Forwarding</a:t>
            </a:r>
            <a:r>
              <a:rPr lang="he-IL" dirty="0"/>
              <a:t>: אם </a:t>
            </a:r>
            <a:r>
              <a:rPr lang="he-IL" dirty="0" err="1"/>
              <a:t>הפקטה</a:t>
            </a:r>
            <a:r>
              <a:rPr lang="he-IL" dirty="0"/>
              <a:t> אינה מיועדת למחשב המקומי אלא לכתובת ברשת אחרת, היא נבדקת בשרשרת </a:t>
            </a:r>
            <a:r>
              <a:rPr lang="en-US" dirty="0"/>
              <a:t>FORWARD</a:t>
            </a:r>
            <a:endParaRPr lang="he-IL" dirty="0"/>
          </a:p>
        </p:txBody>
      </p:sp>
    </p:spTree>
    <p:extLst>
      <p:ext uri="{BB962C8B-B14F-4D97-AF65-F5344CB8AC3E}">
        <p14:creationId xmlns:p14="http://schemas.microsoft.com/office/powerpoint/2010/main" val="625399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09D4E0A-3490-47ED-8605-8BD716584573}"/>
              </a:ext>
            </a:extLst>
          </p:cNvPr>
          <p:cNvSpPr>
            <a:spLocks noGrp="1"/>
          </p:cNvSpPr>
          <p:nvPr>
            <p:ph type="title"/>
          </p:nvPr>
        </p:nvSpPr>
        <p:spPr/>
        <p:txBody>
          <a:bodyPr/>
          <a:lstStyle/>
          <a:p>
            <a:r>
              <a:rPr lang="he-IL" dirty="0"/>
              <a:t>המשך - עקרונות בסיסיים של </a:t>
            </a:r>
            <a:r>
              <a:rPr lang="en-US" dirty="0"/>
              <a:t>iptables</a:t>
            </a:r>
            <a:endParaRPr lang="he-IL" dirty="0"/>
          </a:p>
        </p:txBody>
      </p:sp>
      <p:sp>
        <p:nvSpPr>
          <p:cNvPr id="3" name="מציין מיקום תוכן 2">
            <a:extLst>
              <a:ext uri="{FF2B5EF4-FFF2-40B4-BE49-F238E27FC236}">
                <a16:creationId xmlns:a16="http://schemas.microsoft.com/office/drawing/2014/main" id="{A0D1BB9A-4E28-4C7F-AA44-DA3D975D9939}"/>
              </a:ext>
            </a:extLst>
          </p:cNvPr>
          <p:cNvSpPr>
            <a:spLocks noGrp="1"/>
          </p:cNvSpPr>
          <p:nvPr>
            <p:ph idx="1"/>
          </p:nvPr>
        </p:nvSpPr>
        <p:spPr/>
        <p:txBody>
          <a:bodyPr/>
          <a:lstStyle/>
          <a:p>
            <a:r>
              <a:rPr lang="he-IL" dirty="0"/>
              <a:t>כללים בשרשראות: כלל בשרשרת הוא הוראה לפעולה על </a:t>
            </a:r>
            <a:r>
              <a:rPr lang="he-IL" dirty="0" err="1"/>
              <a:t>פקטות</a:t>
            </a:r>
            <a:r>
              <a:rPr lang="he-IL" dirty="0"/>
              <a:t> העוברות דרך אותה שרשרת. כל כלל כולל תנאים </a:t>
            </a:r>
            <a:r>
              <a:rPr lang="he-IL" dirty="0" err="1"/>
              <a:t>ואקשנים</a:t>
            </a:r>
            <a:r>
              <a:rPr lang="he-IL" dirty="0"/>
              <a:t>.</a:t>
            </a:r>
          </a:p>
          <a:p>
            <a:r>
              <a:rPr lang="he-IL" dirty="0"/>
              <a:t>1. תנאים: הגדרות המתארות את סוג </a:t>
            </a:r>
            <a:r>
              <a:rPr lang="he-IL" dirty="0" err="1"/>
              <a:t>הפאקטות</a:t>
            </a:r>
            <a:r>
              <a:rPr lang="he-IL" dirty="0"/>
              <a:t> שעליהן הכלל חל (כגון כתובת מקור, כתובת יעד, פרוטוקול, פורט, וכדומה).</a:t>
            </a:r>
          </a:p>
          <a:p>
            <a:r>
              <a:rPr lang="he-IL" dirty="0"/>
              <a:t>2. </a:t>
            </a:r>
            <a:r>
              <a:rPr lang="he-IL" b="1" dirty="0"/>
              <a:t>אקשן</a:t>
            </a:r>
            <a:r>
              <a:rPr lang="he-IL" dirty="0"/>
              <a:t>: הפעולה שיש לבצע כאשר התנאים מתקיימים למשל ישנם את התנאים הבאים: </a:t>
            </a:r>
          </a:p>
          <a:p>
            <a:r>
              <a:rPr lang="en-US" dirty="0"/>
              <a:t>ACCEPT .1</a:t>
            </a:r>
            <a:r>
              <a:rPr lang="he-IL" dirty="0"/>
              <a:t> לאשר את </a:t>
            </a:r>
            <a:r>
              <a:rPr lang="he-IL" dirty="0" err="1"/>
              <a:t>הפקטה</a:t>
            </a:r>
            <a:endParaRPr lang="he-IL" dirty="0"/>
          </a:p>
          <a:p>
            <a:r>
              <a:rPr lang="he-IL" dirty="0"/>
              <a:t>2. </a:t>
            </a:r>
            <a:r>
              <a:rPr lang="en-US" dirty="0"/>
              <a:t>DROP</a:t>
            </a:r>
            <a:r>
              <a:rPr lang="he-IL" dirty="0"/>
              <a:t> לחסום את </a:t>
            </a:r>
            <a:r>
              <a:rPr lang="he-IL" dirty="0" err="1"/>
              <a:t>הפקטה</a:t>
            </a:r>
            <a:endParaRPr lang="he-IL" dirty="0"/>
          </a:p>
          <a:p>
            <a:r>
              <a:rPr lang="he-IL" dirty="0"/>
              <a:t>3. </a:t>
            </a:r>
            <a:r>
              <a:rPr lang="en-US" dirty="0"/>
              <a:t>REJECT</a:t>
            </a:r>
            <a:r>
              <a:rPr lang="he-IL" dirty="0"/>
              <a:t> להחזיר שגיאה</a:t>
            </a:r>
          </a:p>
          <a:p>
            <a:r>
              <a:rPr lang="he-IL" dirty="0"/>
              <a:t>4. </a:t>
            </a:r>
            <a:r>
              <a:rPr lang="en-US" dirty="0"/>
              <a:t>LOG</a:t>
            </a:r>
            <a:r>
              <a:rPr lang="he-IL" dirty="0"/>
              <a:t> </a:t>
            </a:r>
            <a:r>
              <a:rPr lang="he-IL" dirty="0" err="1"/>
              <a:t>לוגינג</a:t>
            </a:r>
            <a:r>
              <a:rPr lang="he-IL" dirty="0"/>
              <a:t> של </a:t>
            </a:r>
            <a:r>
              <a:rPr lang="he-IL" dirty="0" err="1"/>
              <a:t>הפקטה</a:t>
            </a:r>
            <a:r>
              <a:rPr lang="he-IL" dirty="0"/>
              <a:t>. (נסביר בהמשך)</a:t>
            </a:r>
          </a:p>
          <a:p>
            <a:endParaRPr lang="he-IL" dirty="0"/>
          </a:p>
          <a:p>
            <a:endParaRPr lang="he-IL" dirty="0"/>
          </a:p>
        </p:txBody>
      </p:sp>
    </p:spTree>
    <p:extLst>
      <p:ext uri="{BB962C8B-B14F-4D97-AF65-F5344CB8AC3E}">
        <p14:creationId xmlns:p14="http://schemas.microsoft.com/office/powerpoint/2010/main" val="2040926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EBA1331-665F-4210-AE26-44BAF2C468D8}"/>
              </a:ext>
            </a:extLst>
          </p:cNvPr>
          <p:cNvSpPr>
            <a:spLocks noGrp="1"/>
          </p:cNvSpPr>
          <p:nvPr>
            <p:ph type="title"/>
          </p:nvPr>
        </p:nvSpPr>
        <p:spPr>
          <a:xfrm>
            <a:off x="1136374" y="29817"/>
            <a:ext cx="10058400" cy="1371600"/>
          </a:xfrm>
        </p:spPr>
        <p:txBody>
          <a:bodyPr/>
          <a:lstStyle/>
          <a:p>
            <a:r>
              <a:rPr lang="he-IL" dirty="0"/>
              <a:t>המשך - עקרונות בסיסיים של </a:t>
            </a:r>
            <a:r>
              <a:rPr lang="en-US" dirty="0"/>
              <a:t>iptables</a:t>
            </a:r>
            <a:endParaRPr lang="he-IL" dirty="0"/>
          </a:p>
        </p:txBody>
      </p:sp>
      <p:sp>
        <p:nvSpPr>
          <p:cNvPr id="3" name="מציין מיקום תוכן 2">
            <a:extLst>
              <a:ext uri="{FF2B5EF4-FFF2-40B4-BE49-F238E27FC236}">
                <a16:creationId xmlns:a16="http://schemas.microsoft.com/office/drawing/2014/main" id="{50A31265-3953-40F5-9817-7F2CA02CEB63}"/>
              </a:ext>
            </a:extLst>
          </p:cNvPr>
          <p:cNvSpPr>
            <a:spLocks noGrp="1"/>
          </p:cNvSpPr>
          <p:nvPr>
            <p:ph idx="1"/>
          </p:nvPr>
        </p:nvSpPr>
        <p:spPr>
          <a:xfrm>
            <a:off x="1066800" y="1063487"/>
            <a:ext cx="10058400" cy="5645426"/>
          </a:xfrm>
        </p:spPr>
        <p:txBody>
          <a:bodyPr>
            <a:normAutofit fontScale="92500" lnSpcReduction="10000"/>
          </a:bodyPr>
          <a:lstStyle/>
          <a:p>
            <a:r>
              <a:rPr lang="he-IL" dirty="0"/>
              <a:t>פעולות </a:t>
            </a:r>
            <a:r>
              <a:rPr lang="en-US" dirty="0"/>
              <a:t>Actions </a:t>
            </a:r>
            <a:r>
              <a:rPr lang="he-IL" dirty="0"/>
              <a:t> ב-</a:t>
            </a:r>
            <a:r>
              <a:rPr lang="en-US" dirty="0"/>
              <a:t>iptables</a:t>
            </a:r>
            <a:r>
              <a:rPr lang="he-IL" dirty="0"/>
              <a:t>: </a:t>
            </a:r>
          </a:p>
          <a:p>
            <a:r>
              <a:rPr lang="en-US" b="1" dirty="0"/>
              <a:t> </a:t>
            </a:r>
            <a:r>
              <a:rPr lang="en-GB" b="1" dirty="0"/>
              <a:t>:</a:t>
            </a:r>
            <a:r>
              <a:rPr lang="en-US" dirty="0"/>
              <a:t>ACCEPT </a:t>
            </a:r>
            <a:r>
              <a:rPr lang="he-IL" dirty="0"/>
              <a:t>אישור </a:t>
            </a:r>
            <a:r>
              <a:rPr lang="he-IL" dirty="0" err="1"/>
              <a:t>הפקטה</a:t>
            </a:r>
            <a:endParaRPr lang="he-IL" dirty="0"/>
          </a:p>
          <a:p>
            <a:r>
              <a:rPr lang="he-IL" dirty="0"/>
              <a:t>פעולה זו מאשרת את </a:t>
            </a:r>
            <a:r>
              <a:rPr lang="he-IL" dirty="0" err="1"/>
              <a:t>הפקטה</a:t>
            </a:r>
            <a:r>
              <a:rPr lang="he-IL" dirty="0"/>
              <a:t> ומאפשרת לה לעבור ליעדה.</a:t>
            </a:r>
          </a:p>
          <a:p>
            <a:r>
              <a:rPr lang="he-IL" dirty="0"/>
              <a:t>למשל: אם רוצים לאפשר תעבורת </a:t>
            </a:r>
            <a:r>
              <a:rPr lang="en-US" dirty="0"/>
              <a:t>HTTP </a:t>
            </a:r>
            <a:r>
              <a:rPr lang="he-IL" dirty="0"/>
              <a:t> פורטים 80:                    כך בעצם מאפשרים תעבורה נכנסת על פורט 80</a:t>
            </a:r>
          </a:p>
          <a:p>
            <a:pPr algn="l"/>
            <a:r>
              <a:rPr lang="en-US" dirty="0" err="1"/>
              <a:t>sudo</a:t>
            </a:r>
            <a:r>
              <a:rPr lang="en-US" dirty="0"/>
              <a:t> iptables -A INPUT -p </a:t>
            </a:r>
            <a:r>
              <a:rPr lang="en-US" dirty="0" err="1"/>
              <a:t>tcp</a:t>
            </a:r>
            <a:r>
              <a:rPr lang="en-US" dirty="0"/>
              <a:t> --</a:t>
            </a:r>
            <a:r>
              <a:rPr lang="en-US" dirty="0" err="1"/>
              <a:t>dport</a:t>
            </a:r>
            <a:r>
              <a:rPr lang="en-US" dirty="0"/>
              <a:t> 80 -j ACCEPT</a:t>
            </a:r>
          </a:p>
          <a:p>
            <a:r>
              <a:rPr lang="he-IL" dirty="0"/>
              <a:t>הסבר: </a:t>
            </a:r>
          </a:p>
          <a:p>
            <a:r>
              <a:rPr lang="en-US" dirty="0" err="1"/>
              <a:t>Sudo</a:t>
            </a:r>
            <a:r>
              <a:rPr lang="he-IL" dirty="0"/>
              <a:t>: הפקודה </a:t>
            </a:r>
            <a:r>
              <a:rPr lang="en-US" dirty="0"/>
              <a:t>SUDO</a:t>
            </a:r>
            <a:r>
              <a:rPr lang="he-IL" dirty="0"/>
              <a:t> משמשת להפעלת פקודות עם הרשאות מנהל מערכת </a:t>
            </a:r>
            <a:r>
              <a:rPr lang="en-US" dirty="0"/>
              <a:t>root</a:t>
            </a:r>
            <a:r>
              <a:rPr lang="he-IL" dirty="0"/>
              <a:t> במקרה זה, היא מאפשרת להריץ את הפקודה </a:t>
            </a:r>
            <a:r>
              <a:rPr lang="en-US" dirty="0"/>
              <a:t>iptables</a:t>
            </a:r>
            <a:endParaRPr lang="he-IL" dirty="0"/>
          </a:p>
          <a:p>
            <a:r>
              <a:rPr lang="en-US" dirty="0"/>
              <a:t>Iptables</a:t>
            </a:r>
            <a:r>
              <a:rPr lang="he-IL" dirty="0"/>
              <a:t>: הוא כלי ב-</a:t>
            </a:r>
            <a:r>
              <a:rPr lang="en-US" dirty="0"/>
              <a:t>Linux </a:t>
            </a:r>
            <a:r>
              <a:rPr lang="he-IL" dirty="0"/>
              <a:t> המשמש לניהול וטיפול בתעבורת רשת. הוא מאפשר להגדיר כללים</a:t>
            </a:r>
            <a:r>
              <a:rPr lang="en-US" dirty="0"/>
              <a:t> rules </a:t>
            </a:r>
            <a:r>
              <a:rPr lang="he-IL" dirty="0"/>
              <a:t>לניהול תעבורה נכנסת ויוצאת.</a:t>
            </a:r>
          </a:p>
          <a:p>
            <a:r>
              <a:rPr lang="en-US" dirty="0"/>
              <a:t>-A</a:t>
            </a:r>
            <a:r>
              <a:rPr lang="he-IL" dirty="0"/>
              <a:t>: דגל זה מסמל</a:t>
            </a:r>
            <a:r>
              <a:rPr lang="en-US" dirty="0"/>
              <a:t> append </a:t>
            </a:r>
            <a:r>
              <a:rPr lang="he-IL" dirty="0"/>
              <a:t>הוספה - הוא משמש להוספת כלל חדש לשרשרת קיימת.</a:t>
            </a:r>
          </a:p>
          <a:p>
            <a:r>
              <a:rPr lang="en-US" dirty="0"/>
              <a:t>INPUT</a:t>
            </a:r>
            <a:r>
              <a:rPr lang="he-IL" dirty="0"/>
              <a:t>: היא אחת מהשרשראות המובנות ב-</a:t>
            </a:r>
            <a:r>
              <a:rPr lang="en-US" dirty="0"/>
              <a:t>iptables </a:t>
            </a:r>
            <a:r>
              <a:rPr lang="he-IL" dirty="0"/>
              <a:t> שרשרת זו מגדירה כללים לתעבורה נכנסת למערכת (ראינו לקמן)</a:t>
            </a:r>
          </a:p>
          <a:p>
            <a:r>
              <a:rPr lang="en-US" dirty="0"/>
              <a:t>-P TCP</a:t>
            </a:r>
            <a:r>
              <a:rPr lang="he-IL" dirty="0"/>
              <a:t>: דגל זה מציין את פרוטוקול התעבורה, כאן הוא מגדיר שהתעבורה היא על בסיס פרוטוקול </a:t>
            </a:r>
            <a:r>
              <a:rPr lang="en-US" dirty="0"/>
              <a:t>TCP</a:t>
            </a:r>
            <a:endParaRPr lang="he-IL" dirty="0"/>
          </a:p>
          <a:p>
            <a:r>
              <a:rPr lang="en-US" dirty="0"/>
              <a:t>--</a:t>
            </a:r>
            <a:r>
              <a:rPr lang="en-US" dirty="0" err="1"/>
              <a:t>dport</a:t>
            </a:r>
            <a:r>
              <a:rPr lang="en-US" dirty="0"/>
              <a:t> 80</a:t>
            </a:r>
            <a:r>
              <a:rPr lang="he-IL" dirty="0"/>
              <a:t> : </a:t>
            </a:r>
            <a:r>
              <a:rPr lang="en-US" dirty="0"/>
              <a:t>--</a:t>
            </a:r>
            <a:r>
              <a:rPr lang="en-US" dirty="0" err="1"/>
              <a:t>dport</a:t>
            </a:r>
            <a:r>
              <a:rPr lang="en-US" dirty="0"/>
              <a:t> </a:t>
            </a:r>
            <a:r>
              <a:rPr lang="he-IL" dirty="0"/>
              <a:t>מציין את פורט היעד של התעבורה, 80 הוא הפורט המשמש ל-</a:t>
            </a:r>
            <a:r>
              <a:rPr lang="en-US" dirty="0"/>
              <a:t>HTTP</a:t>
            </a:r>
            <a:r>
              <a:rPr lang="he-IL" dirty="0"/>
              <a:t> (הפחות מאובטח)</a:t>
            </a:r>
          </a:p>
          <a:p>
            <a:r>
              <a:rPr lang="en-US" dirty="0"/>
              <a:t>-j ACCEPT</a:t>
            </a:r>
            <a:r>
              <a:rPr lang="he-IL" dirty="0"/>
              <a:t>:  הדגל </a:t>
            </a:r>
            <a:r>
              <a:rPr lang="en-US" dirty="0"/>
              <a:t>J</a:t>
            </a:r>
            <a:r>
              <a:rPr lang="he-IL" dirty="0"/>
              <a:t> מציין את הפעולה שיש לבצע אם </a:t>
            </a:r>
            <a:r>
              <a:rPr lang="he-IL" dirty="0" err="1"/>
              <a:t>הפקטה</a:t>
            </a:r>
            <a:r>
              <a:rPr lang="he-IL" dirty="0"/>
              <a:t> מתאימה לכללים. במקרה זה, הפעולה היא </a:t>
            </a:r>
            <a:r>
              <a:rPr lang="en-US" dirty="0"/>
              <a:t>ACCEPT</a:t>
            </a:r>
            <a:r>
              <a:rPr lang="he-IL" dirty="0"/>
              <a:t> כלומר, לאשר את התעבורה ולאפשר לה להמשיך ליעדה.</a:t>
            </a:r>
          </a:p>
          <a:p>
            <a:endParaRPr lang="he-IL" dirty="0"/>
          </a:p>
          <a:p>
            <a:endParaRPr lang="he-IL" dirty="0"/>
          </a:p>
        </p:txBody>
      </p:sp>
    </p:spTree>
    <p:extLst>
      <p:ext uri="{BB962C8B-B14F-4D97-AF65-F5344CB8AC3E}">
        <p14:creationId xmlns:p14="http://schemas.microsoft.com/office/powerpoint/2010/main" val="7050249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70A9537-A89E-491A-9D53-29AF06E3A0FA}"/>
              </a:ext>
            </a:extLst>
          </p:cNvPr>
          <p:cNvSpPr>
            <a:spLocks noGrp="1"/>
          </p:cNvSpPr>
          <p:nvPr>
            <p:ph type="title"/>
          </p:nvPr>
        </p:nvSpPr>
        <p:spPr/>
        <p:txBody>
          <a:bodyPr/>
          <a:lstStyle/>
          <a:p>
            <a:r>
              <a:rPr lang="he-IL" dirty="0"/>
              <a:t>המשך - עקרונות בסיסיים של </a:t>
            </a:r>
            <a:r>
              <a:rPr lang="en-US" dirty="0"/>
              <a:t>iptables</a:t>
            </a:r>
            <a:endParaRPr lang="he-IL" dirty="0"/>
          </a:p>
        </p:txBody>
      </p:sp>
      <p:sp>
        <p:nvSpPr>
          <p:cNvPr id="3" name="מציין מיקום תוכן 2">
            <a:extLst>
              <a:ext uri="{FF2B5EF4-FFF2-40B4-BE49-F238E27FC236}">
                <a16:creationId xmlns:a16="http://schemas.microsoft.com/office/drawing/2014/main" id="{CE9A4481-108C-4DB3-B1DE-8C7E7047A1BD}"/>
              </a:ext>
            </a:extLst>
          </p:cNvPr>
          <p:cNvSpPr>
            <a:spLocks noGrp="1"/>
          </p:cNvSpPr>
          <p:nvPr>
            <p:ph idx="1"/>
          </p:nvPr>
        </p:nvSpPr>
        <p:spPr/>
        <p:txBody>
          <a:bodyPr/>
          <a:lstStyle/>
          <a:p>
            <a:r>
              <a:rPr lang="he-IL" dirty="0"/>
              <a:t>שאלה: מה יקרה אם נחליף את </a:t>
            </a:r>
            <a:r>
              <a:rPr lang="en-US" dirty="0"/>
              <a:t>–j ACCEPT</a:t>
            </a:r>
            <a:r>
              <a:rPr lang="he-IL" dirty="0"/>
              <a:t> ל </a:t>
            </a:r>
            <a:r>
              <a:rPr lang="en-US" dirty="0"/>
              <a:t>–j DROP</a:t>
            </a:r>
            <a:r>
              <a:rPr lang="he-IL" dirty="0"/>
              <a:t> בפקודות הללו?</a:t>
            </a:r>
          </a:p>
          <a:p>
            <a:r>
              <a:rPr lang="he-IL" dirty="0"/>
              <a:t>תשובה: אם נחליף התעבורה על פורטים 80 תחסם ולא תאפשר גישה לשירותי </a:t>
            </a:r>
            <a:r>
              <a:rPr lang="en-US" dirty="0"/>
              <a:t>HTTP</a:t>
            </a:r>
            <a:r>
              <a:rPr lang="he-IL" dirty="0"/>
              <a:t>.</a:t>
            </a:r>
          </a:p>
          <a:p>
            <a:r>
              <a:rPr lang="he-IL" dirty="0"/>
              <a:t>שאלה: מה ההבדל בין פרוטוקול </a:t>
            </a:r>
            <a:r>
              <a:rPr lang="en-US" dirty="0"/>
              <a:t> TCP </a:t>
            </a:r>
            <a:r>
              <a:rPr lang="he-IL" dirty="0"/>
              <a:t>ל-</a:t>
            </a:r>
            <a:r>
              <a:rPr lang="en-US" dirty="0"/>
              <a:t> UDP</a:t>
            </a:r>
            <a:endParaRPr lang="he-IL" dirty="0"/>
          </a:p>
          <a:p>
            <a:r>
              <a:rPr lang="he-IL" dirty="0"/>
              <a:t>תשובה פרוטוקול </a:t>
            </a:r>
            <a:r>
              <a:rPr lang="en-US" dirty="0"/>
              <a:t>TCP </a:t>
            </a:r>
            <a:r>
              <a:rPr lang="he-IL" dirty="0"/>
              <a:t>הוא פרוטוקול חיבורי המבטיח מהימנות ושליחה חוזרת של מידע במקרה של אובדן </a:t>
            </a:r>
            <a:r>
              <a:rPr lang="he-IL" dirty="0" err="1"/>
              <a:t>פקטות</a:t>
            </a:r>
            <a:r>
              <a:rPr lang="he-IL" dirty="0"/>
              <a:t>.</a:t>
            </a:r>
            <a:r>
              <a:rPr lang="en-US" dirty="0"/>
              <a:t>UDP </a:t>
            </a:r>
            <a:r>
              <a:rPr lang="he-IL" dirty="0"/>
              <a:t> הוא פרוטוקול ללא חיבור שאינו מבטיח מהימנות, אך הוא מהיר יותר ומתאים לשימושים כמו שידורי וידאו ושמע בזמן אמת.</a:t>
            </a:r>
          </a:p>
        </p:txBody>
      </p:sp>
    </p:spTree>
    <p:extLst>
      <p:ext uri="{BB962C8B-B14F-4D97-AF65-F5344CB8AC3E}">
        <p14:creationId xmlns:p14="http://schemas.microsoft.com/office/powerpoint/2010/main" val="3297848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6A8C2EC-1442-4CBC-9967-9B86EF94BE4B}"/>
              </a:ext>
            </a:extLst>
          </p:cNvPr>
          <p:cNvSpPr>
            <a:spLocks noGrp="1"/>
          </p:cNvSpPr>
          <p:nvPr>
            <p:ph type="title"/>
          </p:nvPr>
        </p:nvSpPr>
        <p:spPr>
          <a:xfrm>
            <a:off x="1066800" y="284786"/>
            <a:ext cx="10058400" cy="1371600"/>
          </a:xfrm>
        </p:spPr>
        <p:txBody>
          <a:bodyPr/>
          <a:lstStyle/>
          <a:p>
            <a:r>
              <a:rPr lang="he-IL" dirty="0"/>
              <a:t>המשך - עקרונות בסיסיים של </a:t>
            </a:r>
            <a:r>
              <a:rPr lang="en-US" dirty="0"/>
              <a:t>iptables</a:t>
            </a:r>
            <a:endParaRPr lang="he-IL" dirty="0"/>
          </a:p>
        </p:txBody>
      </p:sp>
      <p:sp>
        <p:nvSpPr>
          <p:cNvPr id="3" name="מציין מיקום תוכן 2">
            <a:extLst>
              <a:ext uri="{FF2B5EF4-FFF2-40B4-BE49-F238E27FC236}">
                <a16:creationId xmlns:a16="http://schemas.microsoft.com/office/drawing/2014/main" id="{1A8E6456-7C3F-4E3C-A7F4-9A5D36EA8DAE}"/>
              </a:ext>
            </a:extLst>
          </p:cNvPr>
          <p:cNvSpPr>
            <a:spLocks noGrp="1"/>
          </p:cNvSpPr>
          <p:nvPr>
            <p:ph idx="1"/>
          </p:nvPr>
        </p:nvSpPr>
        <p:spPr>
          <a:xfrm>
            <a:off x="1066800" y="1729409"/>
            <a:ext cx="10058400" cy="4843805"/>
          </a:xfrm>
        </p:spPr>
        <p:txBody>
          <a:bodyPr>
            <a:normAutofit fontScale="85000" lnSpcReduction="20000"/>
          </a:bodyPr>
          <a:lstStyle/>
          <a:p>
            <a:r>
              <a:rPr lang="he-IL" dirty="0"/>
              <a:t>פעולות </a:t>
            </a:r>
            <a:r>
              <a:rPr lang="en-US" dirty="0"/>
              <a:t>Actions </a:t>
            </a:r>
            <a:r>
              <a:rPr lang="he-IL" dirty="0"/>
              <a:t> ב-</a:t>
            </a:r>
            <a:r>
              <a:rPr lang="en-US" dirty="0"/>
              <a:t>iptables</a:t>
            </a:r>
            <a:r>
              <a:rPr lang="he-IL" dirty="0"/>
              <a:t>: </a:t>
            </a:r>
          </a:p>
          <a:p>
            <a:r>
              <a:rPr lang="en-US" dirty="0"/>
              <a:t>:DROP</a:t>
            </a:r>
            <a:r>
              <a:rPr lang="he-IL" dirty="0"/>
              <a:t> חסימת </a:t>
            </a:r>
            <a:r>
              <a:rPr lang="he-IL" dirty="0" err="1"/>
              <a:t>הפקטה</a:t>
            </a:r>
            <a:endParaRPr lang="he-IL" dirty="0"/>
          </a:p>
          <a:p>
            <a:r>
              <a:rPr lang="he-IL" dirty="0"/>
              <a:t>פעולה זו חוסמת את </a:t>
            </a:r>
            <a:r>
              <a:rPr lang="he-IL" dirty="0" err="1"/>
              <a:t>הפקטה</a:t>
            </a:r>
            <a:r>
              <a:rPr lang="he-IL" dirty="0"/>
              <a:t> ואינה מאפשרת לה להמשיך ליעדה.</a:t>
            </a:r>
          </a:p>
          <a:p>
            <a:r>
              <a:rPr lang="he-IL" dirty="0"/>
              <a:t>למשל: אם רוצים לחסום תעבורת </a:t>
            </a:r>
            <a:r>
              <a:rPr lang="en-US" dirty="0"/>
              <a:t>ICMP (ping)</a:t>
            </a:r>
            <a:r>
              <a:rPr lang="he-IL" dirty="0"/>
              <a:t> ניתן להשתמש בכלל הבא:</a:t>
            </a:r>
          </a:p>
          <a:p>
            <a:pPr algn="l"/>
            <a:r>
              <a:rPr lang="en-US" dirty="0" err="1"/>
              <a:t>sudo</a:t>
            </a:r>
            <a:r>
              <a:rPr lang="en-US" dirty="0"/>
              <a:t> iptables -A INPUT -p </a:t>
            </a:r>
            <a:r>
              <a:rPr lang="en-US" dirty="0" err="1"/>
              <a:t>icmp</a:t>
            </a:r>
            <a:r>
              <a:rPr lang="en-US" dirty="0"/>
              <a:t> -j DROP</a:t>
            </a:r>
          </a:p>
          <a:p>
            <a:r>
              <a:rPr lang="he-IL" dirty="0"/>
              <a:t>כל ה- 4 תיבות הראשונות הם כמו בפקודה הקודמת.</a:t>
            </a:r>
          </a:p>
          <a:p>
            <a:r>
              <a:rPr lang="en-US" dirty="0"/>
              <a:t>-p </a:t>
            </a:r>
            <a:r>
              <a:rPr lang="en-US" dirty="0" err="1"/>
              <a:t>icmp</a:t>
            </a:r>
            <a:r>
              <a:rPr lang="he-IL" dirty="0"/>
              <a:t>: מציין שהחוק חל על פרוטוקול </a:t>
            </a:r>
            <a:r>
              <a:rPr lang="en-US" dirty="0"/>
              <a:t>ICMP ,(Internet Control Message Protocol) ICMP</a:t>
            </a:r>
            <a:r>
              <a:rPr lang="he-IL" dirty="0"/>
              <a:t> משמש לרוב עבור פעולות כמו פינג </a:t>
            </a:r>
            <a:r>
              <a:rPr lang="en-US" dirty="0"/>
              <a:t>ping</a:t>
            </a:r>
            <a:r>
              <a:rPr lang="he-IL" dirty="0"/>
              <a:t> לבדוק את זמינותו של שרת או רשת.</a:t>
            </a:r>
          </a:p>
          <a:p>
            <a:r>
              <a:rPr lang="en-US" dirty="0"/>
              <a:t>-j DROP</a:t>
            </a:r>
            <a:r>
              <a:rPr lang="he-IL" dirty="0"/>
              <a:t>: מציין שהפעולה שתבוצע עבור תעבורה תואמת היא </a:t>
            </a:r>
            <a:r>
              <a:rPr lang="en-US" dirty="0"/>
              <a:t>DROP, </a:t>
            </a:r>
            <a:r>
              <a:rPr lang="he-IL" dirty="0"/>
              <a:t>כלומר, להפיל את החבילות המתאימות לחוק זה. החבילות יושמטו ולא יטופלו על ידי המערכת.</a:t>
            </a:r>
          </a:p>
          <a:p>
            <a:r>
              <a:rPr lang="he-IL" dirty="0"/>
              <a:t>לסיכום: הפקודה מוסיפה חוק לחומת האש שיפיל כל תעבורת </a:t>
            </a:r>
            <a:r>
              <a:rPr lang="en-US" dirty="0"/>
              <a:t>ICMP</a:t>
            </a:r>
            <a:r>
              <a:rPr lang="he-IL" dirty="0"/>
              <a:t> שנכנסת למערכת. כלומר, אם מישהו ינסה לשלוח בקשות פינג למערכת שלך, הבקשות יושמטו ולא יתקבלו תשובות.</a:t>
            </a:r>
          </a:p>
          <a:p>
            <a:r>
              <a:rPr lang="he-IL" dirty="0"/>
              <a:t>לדוגמא: לפני הפקודה, אם מישהו שולח בקשת פינג לשרת שלך, השרת ישיב בהתאם. אחרי הפקודה, אם מישהו שולח בקשת פינג לשרת שלך, הבקשה תושמט והשרת לא ישיב.</a:t>
            </a:r>
          </a:p>
          <a:p>
            <a:r>
              <a:rPr lang="he-IL" dirty="0"/>
              <a:t>למה להשתמש בפקודה הזו?</a:t>
            </a:r>
          </a:p>
          <a:p>
            <a:r>
              <a:rPr lang="he-IL" dirty="0"/>
              <a:t>אבטחה: חסימת </a:t>
            </a:r>
            <a:r>
              <a:rPr lang="he-IL" dirty="0" err="1"/>
              <a:t>פינגים</a:t>
            </a:r>
            <a:r>
              <a:rPr lang="he-IL" dirty="0"/>
              <a:t> יכולה להגן על השרת מפני התקפות מניעת שירות </a:t>
            </a:r>
            <a:r>
              <a:rPr lang="en-US" dirty="0"/>
              <a:t> DoS</a:t>
            </a:r>
            <a:r>
              <a:rPr lang="he-IL" dirty="0"/>
              <a:t>שיכולות להשתמש ב-</a:t>
            </a:r>
            <a:r>
              <a:rPr lang="en-US" dirty="0"/>
              <a:t>ICMP </a:t>
            </a:r>
            <a:r>
              <a:rPr lang="he-IL" dirty="0"/>
              <a:t> בכדי להציף את השרת בבקשות פינג.</a:t>
            </a:r>
          </a:p>
          <a:p>
            <a:r>
              <a:rPr lang="he-IL" dirty="0"/>
              <a:t>פרטיות: מניעת </a:t>
            </a:r>
            <a:r>
              <a:rPr lang="he-IL" dirty="0" err="1"/>
              <a:t>פינגים</a:t>
            </a:r>
            <a:r>
              <a:rPr lang="he-IL" dirty="0"/>
              <a:t> יכולה למנוע ממישהו לגלות שהשרת שלך פעיל וזמין ברשת.</a:t>
            </a:r>
          </a:p>
          <a:p>
            <a:endParaRPr lang="he-IL" dirty="0"/>
          </a:p>
          <a:p>
            <a:endParaRPr lang="he-IL" dirty="0"/>
          </a:p>
        </p:txBody>
      </p:sp>
    </p:spTree>
    <p:extLst>
      <p:ext uri="{BB962C8B-B14F-4D97-AF65-F5344CB8AC3E}">
        <p14:creationId xmlns:p14="http://schemas.microsoft.com/office/powerpoint/2010/main" val="493094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80B9784-2310-45C5-8CE5-80EC28769B31}"/>
              </a:ext>
            </a:extLst>
          </p:cNvPr>
          <p:cNvSpPr>
            <a:spLocks noGrp="1"/>
          </p:cNvSpPr>
          <p:nvPr>
            <p:ph type="title"/>
          </p:nvPr>
        </p:nvSpPr>
        <p:spPr/>
        <p:txBody>
          <a:bodyPr/>
          <a:lstStyle/>
          <a:p>
            <a:r>
              <a:rPr lang="he-IL" dirty="0"/>
              <a:t>המשך - עקרונות בסיסיים של </a:t>
            </a:r>
            <a:r>
              <a:rPr lang="en-US" dirty="0"/>
              <a:t>iptables</a:t>
            </a:r>
            <a:endParaRPr lang="he-IL" dirty="0"/>
          </a:p>
        </p:txBody>
      </p:sp>
      <p:sp>
        <p:nvSpPr>
          <p:cNvPr id="3" name="מציין מיקום תוכן 2">
            <a:extLst>
              <a:ext uri="{FF2B5EF4-FFF2-40B4-BE49-F238E27FC236}">
                <a16:creationId xmlns:a16="http://schemas.microsoft.com/office/drawing/2014/main" id="{1746736C-9D10-4413-B81B-CF5F22626A70}"/>
              </a:ext>
            </a:extLst>
          </p:cNvPr>
          <p:cNvSpPr>
            <a:spLocks noGrp="1"/>
          </p:cNvSpPr>
          <p:nvPr>
            <p:ph idx="1"/>
          </p:nvPr>
        </p:nvSpPr>
        <p:spPr/>
        <p:txBody>
          <a:bodyPr/>
          <a:lstStyle/>
          <a:p>
            <a:r>
              <a:rPr lang="he-IL" b="1" dirty="0"/>
              <a:t>ביטול החוק</a:t>
            </a:r>
          </a:p>
          <a:p>
            <a:r>
              <a:rPr lang="he-IL" dirty="0"/>
              <a:t>אם תרצה להסיר את החוק הזה מאוחר יותר, תוכל להשתמש בפקודה הבאה כדי למחוק את החוק הספציפי:</a:t>
            </a:r>
          </a:p>
          <a:p>
            <a:pPr algn="l"/>
            <a:r>
              <a:rPr lang="en-US" dirty="0" err="1"/>
              <a:t>sudo</a:t>
            </a:r>
            <a:r>
              <a:rPr lang="en-US" dirty="0"/>
              <a:t> iptables -D INPUT -p </a:t>
            </a:r>
            <a:r>
              <a:rPr lang="en-US" dirty="0" err="1"/>
              <a:t>icmp</a:t>
            </a:r>
            <a:r>
              <a:rPr lang="en-US" dirty="0"/>
              <a:t> -j DROP</a:t>
            </a:r>
          </a:p>
          <a:p>
            <a:r>
              <a:rPr lang="he-IL" dirty="0"/>
              <a:t>הסבר:</a:t>
            </a:r>
          </a:p>
          <a:p>
            <a:r>
              <a:rPr lang="en-US" dirty="0"/>
              <a:t>-D INPUT</a:t>
            </a:r>
            <a:r>
              <a:rPr lang="he-IL" dirty="0"/>
              <a:t>: מוחק </a:t>
            </a:r>
            <a:r>
              <a:rPr lang="en-US" dirty="0"/>
              <a:t> Delete </a:t>
            </a:r>
            <a:r>
              <a:rPr lang="he-IL" dirty="0"/>
              <a:t>חוק מהשרשרת ה-</a:t>
            </a:r>
            <a:r>
              <a:rPr lang="en-US" dirty="0"/>
              <a:t>INPUT </a:t>
            </a:r>
            <a:r>
              <a:rPr lang="he-IL" dirty="0"/>
              <a:t>. השרשרת </a:t>
            </a:r>
            <a:r>
              <a:rPr lang="en-US" dirty="0"/>
              <a:t>INPUT </a:t>
            </a:r>
            <a:r>
              <a:rPr lang="he-IL" dirty="0"/>
              <a:t> מטפלת בתעבורה נכנסת למערכת.</a:t>
            </a:r>
          </a:p>
          <a:p>
            <a:r>
              <a:rPr lang="en-US" dirty="0"/>
              <a:t>-p </a:t>
            </a:r>
            <a:r>
              <a:rPr lang="en-US" dirty="0" err="1"/>
              <a:t>icmp</a:t>
            </a:r>
            <a:r>
              <a:rPr lang="he-IL" dirty="0"/>
              <a:t>: מציין שהחוק שיש למחוק חל על פרוטוקול </a:t>
            </a:r>
            <a:r>
              <a:rPr lang="en-US" dirty="0"/>
              <a:t>.ICMP</a:t>
            </a:r>
            <a:endParaRPr lang="he-IL" dirty="0"/>
          </a:p>
          <a:p>
            <a:r>
              <a:rPr lang="en-US" dirty="0"/>
              <a:t>-j DROP</a:t>
            </a:r>
            <a:r>
              <a:rPr lang="he-IL" dirty="0"/>
              <a:t>: מציין שהחוק שיש למחוק הוא חוק שמפיל את החבילות המתאימות.</a:t>
            </a:r>
            <a:endParaRPr lang="en-US" dirty="0"/>
          </a:p>
          <a:p>
            <a:endParaRPr lang="he-IL" dirty="0"/>
          </a:p>
        </p:txBody>
      </p:sp>
    </p:spTree>
    <p:extLst>
      <p:ext uri="{BB962C8B-B14F-4D97-AF65-F5344CB8AC3E}">
        <p14:creationId xmlns:p14="http://schemas.microsoft.com/office/powerpoint/2010/main" val="2866208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A37CFF7-CC5E-426D-8D95-0EB731EBBFEF}"/>
              </a:ext>
            </a:extLst>
          </p:cNvPr>
          <p:cNvSpPr>
            <a:spLocks noGrp="1"/>
          </p:cNvSpPr>
          <p:nvPr>
            <p:ph type="title"/>
          </p:nvPr>
        </p:nvSpPr>
        <p:spPr/>
        <p:txBody>
          <a:bodyPr/>
          <a:lstStyle/>
          <a:p>
            <a:r>
              <a:rPr lang="he-IL" dirty="0"/>
              <a:t>המשך - עקרונות בסיסיים של </a:t>
            </a:r>
            <a:r>
              <a:rPr lang="en-US" dirty="0"/>
              <a:t>iptables</a:t>
            </a:r>
            <a:endParaRPr lang="he-IL" dirty="0"/>
          </a:p>
        </p:txBody>
      </p:sp>
      <p:sp>
        <p:nvSpPr>
          <p:cNvPr id="3" name="מציין מיקום תוכן 2">
            <a:extLst>
              <a:ext uri="{FF2B5EF4-FFF2-40B4-BE49-F238E27FC236}">
                <a16:creationId xmlns:a16="http://schemas.microsoft.com/office/drawing/2014/main" id="{4812C652-16CD-432A-85BF-7737C0F3E70B}"/>
              </a:ext>
            </a:extLst>
          </p:cNvPr>
          <p:cNvSpPr>
            <a:spLocks noGrp="1"/>
          </p:cNvSpPr>
          <p:nvPr>
            <p:ph idx="1"/>
          </p:nvPr>
        </p:nvSpPr>
        <p:spPr/>
        <p:txBody>
          <a:bodyPr/>
          <a:lstStyle/>
          <a:p>
            <a:r>
              <a:rPr lang="he-IL" dirty="0"/>
              <a:t>פעולות </a:t>
            </a:r>
            <a:r>
              <a:rPr lang="en-US" dirty="0"/>
              <a:t>Actions </a:t>
            </a:r>
            <a:r>
              <a:rPr lang="he-IL" dirty="0"/>
              <a:t> ב-</a:t>
            </a:r>
            <a:r>
              <a:rPr lang="en-US" dirty="0"/>
              <a:t>iptables</a:t>
            </a:r>
            <a:r>
              <a:rPr lang="he-IL" dirty="0"/>
              <a:t>: </a:t>
            </a:r>
          </a:p>
          <a:p>
            <a:pPr marL="0" indent="0">
              <a:buNone/>
            </a:pPr>
            <a:r>
              <a:rPr lang="en-US" dirty="0"/>
              <a:t>REJECT  </a:t>
            </a:r>
            <a:r>
              <a:rPr lang="he-IL" dirty="0"/>
              <a:t>: חסימת </a:t>
            </a:r>
            <a:r>
              <a:rPr lang="he-IL" dirty="0" err="1"/>
              <a:t>הפקטה</a:t>
            </a:r>
            <a:r>
              <a:rPr lang="he-IL" dirty="0"/>
              <a:t> והחזרת שגיאה</a:t>
            </a:r>
          </a:p>
          <a:p>
            <a:r>
              <a:rPr lang="he-IL" dirty="0"/>
              <a:t>פעולה זו חוסמת את </a:t>
            </a:r>
            <a:r>
              <a:rPr lang="he-IL" dirty="0" err="1"/>
              <a:t>הפקטה</a:t>
            </a:r>
            <a:r>
              <a:rPr lang="he-IL" dirty="0"/>
              <a:t> </a:t>
            </a:r>
            <a:r>
              <a:rPr lang="he-IL" u="sng" dirty="0"/>
              <a:t>ומחזירה הודעת שגיאה לשולח</a:t>
            </a:r>
            <a:r>
              <a:rPr lang="he-IL" dirty="0"/>
              <a:t>.</a:t>
            </a:r>
          </a:p>
          <a:p>
            <a:r>
              <a:rPr lang="he-IL" dirty="0"/>
              <a:t>למשל: אם רוצים לחסום תעבורת </a:t>
            </a:r>
            <a:r>
              <a:rPr lang="en-US" dirty="0"/>
              <a:t>HTTP</a:t>
            </a:r>
            <a:r>
              <a:rPr lang="he-IL" dirty="0"/>
              <a:t> ולהחזיר הודעת שגיאה:</a:t>
            </a:r>
          </a:p>
          <a:p>
            <a:pPr algn="l"/>
            <a:r>
              <a:rPr lang="en-US" dirty="0" err="1"/>
              <a:t>sudo</a:t>
            </a:r>
            <a:r>
              <a:rPr lang="en-US" dirty="0"/>
              <a:t> iptables -A INPUT -p </a:t>
            </a:r>
            <a:r>
              <a:rPr lang="en-US" dirty="0" err="1"/>
              <a:t>tcp</a:t>
            </a:r>
            <a:r>
              <a:rPr lang="en-US" dirty="0"/>
              <a:t> --</a:t>
            </a:r>
            <a:r>
              <a:rPr lang="en-US" dirty="0" err="1"/>
              <a:t>dport</a:t>
            </a:r>
            <a:r>
              <a:rPr lang="en-US" dirty="0"/>
              <a:t> 80 -j REJECT</a:t>
            </a:r>
          </a:p>
          <a:p>
            <a:r>
              <a:rPr lang="he-IL" dirty="0"/>
              <a:t>שאלה: מה ההבדל העיקרי בין פעולת </a:t>
            </a:r>
            <a:r>
              <a:rPr lang="en-US" dirty="0"/>
              <a:t> DROP </a:t>
            </a:r>
            <a:r>
              <a:rPr lang="he-IL" dirty="0"/>
              <a:t>לפעולת </a:t>
            </a:r>
            <a:r>
              <a:rPr lang="en-US" dirty="0"/>
              <a:t>REJECT</a:t>
            </a:r>
            <a:r>
              <a:rPr lang="he-IL" dirty="0"/>
              <a:t> ?</a:t>
            </a:r>
            <a:endParaRPr lang="en-US" dirty="0"/>
          </a:p>
          <a:p>
            <a:r>
              <a:rPr lang="he-IL" dirty="0"/>
              <a:t>תשובה: ההבדל העיקרי בין </a:t>
            </a:r>
            <a:r>
              <a:rPr lang="en-US" dirty="0"/>
              <a:t> DROP </a:t>
            </a:r>
            <a:r>
              <a:rPr lang="he-IL" dirty="0"/>
              <a:t>ל-</a:t>
            </a:r>
            <a:r>
              <a:rPr lang="en-US" dirty="0"/>
              <a:t> REJECT </a:t>
            </a:r>
            <a:r>
              <a:rPr lang="he-IL" dirty="0"/>
              <a:t>הוא ש-</a:t>
            </a:r>
            <a:r>
              <a:rPr lang="en-US" dirty="0"/>
              <a:t> DROP </a:t>
            </a:r>
            <a:r>
              <a:rPr lang="he-IL" dirty="0"/>
              <a:t>פשוט חוסם את </a:t>
            </a:r>
            <a:r>
              <a:rPr lang="he-IL" dirty="0" err="1"/>
              <a:t>הפקטה</a:t>
            </a:r>
            <a:r>
              <a:rPr lang="he-IL" dirty="0"/>
              <a:t> ולא שולח תגובה לשולח, בעוד ש-</a:t>
            </a:r>
            <a:r>
              <a:rPr lang="en-US" dirty="0"/>
              <a:t> REJECT </a:t>
            </a:r>
            <a:r>
              <a:rPr lang="he-IL" dirty="0"/>
              <a:t>חוסם את </a:t>
            </a:r>
            <a:r>
              <a:rPr lang="he-IL" dirty="0" err="1"/>
              <a:t>הפקטה</a:t>
            </a:r>
            <a:r>
              <a:rPr lang="he-IL" dirty="0"/>
              <a:t> ושולח הודעת שגיאה לשולח.</a:t>
            </a:r>
          </a:p>
          <a:p>
            <a:endParaRPr lang="he-IL" dirty="0"/>
          </a:p>
          <a:p>
            <a:pPr algn="l"/>
            <a:endParaRPr lang="he-IL" dirty="0"/>
          </a:p>
          <a:p>
            <a:endParaRPr lang="he-IL" dirty="0"/>
          </a:p>
        </p:txBody>
      </p:sp>
    </p:spTree>
    <p:extLst>
      <p:ext uri="{BB962C8B-B14F-4D97-AF65-F5344CB8AC3E}">
        <p14:creationId xmlns:p14="http://schemas.microsoft.com/office/powerpoint/2010/main" val="4060861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138BEE1-4C40-4B95-902B-2458CC02A48E}"/>
              </a:ext>
            </a:extLst>
          </p:cNvPr>
          <p:cNvSpPr>
            <a:spLocks noGrp="1"/>
          </p:cNvSpPr>
          <p:nvPr>
            <p:ph type="title"/>
          </p:nvPr>
        </p:nvSpPr>
        <p:spPr/>
        <p:txBody>
          <a:bodyPr/>
          <a:lstStyle/>
          <a:p>
            <a:r>
              <a:rPr lang="he-IL" dirty="0"/>
              <a:t>המשך - עקרונות בסיסיים של </a:t>
            </a:r>
            <a:r>
              <a:rPr lang="en-US" dirty="0"/>
              <a:t>iptables</a:t>
            </a:r>
            <a:endParaRPr lang="he-IL" dirty="0"/>
          </a:p>
        </p:txBody>
      </p:sp>
      <p:sp>
        <p:nvSpPr>
          <p:cNvPr id="3" name="מציין מיקום תוכן 2">
            <a:extLst>
              <a:ext uri="{FF2B5EF4-FFF2-40B4-BE49-F238E27FC236}">
                <a16:creationId xmlns:a16="http://schemas.microsoft.com/office/drawing/2014/main" id="{231BA3B1-7780-481A-80F6-5C356070F12F}"/>
              </a:ext>
            </a:extLst>
          </p:cNvPr>
          <p:cNvSpPr>
            <a:spLocks noGrp="1"/>
          </p:cNvSpPr>
          <p:nvPr>
            <p:ph idx="1"/>
          </p:nvPr>
        </p:nvSpPr>
        <p:spPr>
          <a:xfrm>
            <a:off x="1066800" y="1864581"/>
            <a:ext cx="10058400" cy="4754880"/>
          </a:xfrm>
        </p:spPr>
        <p:txBody>
          <a:bodyPr>
            <a:normAutofit fontScale="85000" lnSpcReduction="20000"/>
          </a:bodyPr>
          <a:lstStyle/>
          <a:p>
            <a:r>
              <a:rPr lang="he-IL" dirty="0"/>
              <a:t>פעולות </a:t>
            </a:r>
            <a:r>
              <a:rPr lang="en-US" dirty="0"/>
              <a:t>Actions </a:t>
            </a:r>
            <a:r>
              <a:rPr lang="he-IL" dirty="0"/>
              <a:t> ב-</a:t>
            </a:r>
            <a:r>
              <a:rPr lang="en-US" dirty="0"/>
              <a:t>iptables</a:t>
            </a:r>
            <a:r>
              <a:rPr lang="he-IL" dirty="0"/>
              <a:t>: </a:t>
            </a:r>
          </a:p>
          <a:p>
            <a:r>
              <a:rPr lang="en-US" dirty="0"/>
              <a:t>LOG</a:t>
            </a:r>
            <a:r>
              <a:rPr lang="he-IL" dirty="0"/>
              <a:t>: רישום </a:t>
            </a:r>
            <a:r>
              <a:rPr lang="he-IL" dirty="0" err="1"/>
              <a:t>הפקטה</a:t>
            </a:r>
            <a:endParaRPr lang="he-IL" dirty="0"/>
          </a:p>
          <a:p>
            <a:r>
              <a:rPr lang="he-IL" dirty="0"/>
              <a:t>פעולה זו רושמת את </a:t>
            </a:r>
            <a:r>
              <a:rPr lang="he-IL" dirty="0" err="1"/>
              <a:t>הפקטה</a:t>
            </a:r>
            <a:r>
              <a:rPr lang="he-IL" dirty="0"/>
              <a:t> בקובץ לוג לצורכי ניטור ובדיקה.</a:t>
            </a:r>
          </a:p>
          <a:p>
            <a:r>
              <a:rPr lang="he-IL" dirty="0"/>
              <a:t>למשל: אם רוצים לרשום כל </a:t>
            </a:r>
            <a:r>
              <a:rPr lang="he-IL" dirty="0" err="1"/>
              <a:t>פקטה</a:t>
            </a:r>
            <a:r>
              <a:rPr lang="he-IL" dirty="0"/>
              <a:t> שנכנסת בממשק </a:t>
            </a:r>
            <a:r>
              <a:rPr lang="en-US" dirty="0"/>
              <a:t>eth0</a:t>
            </a:r>
            <a:r>
              <a:rPr lang="he-IL" dirty="0"/>
              <a:t>:</a:t>
            </a:r>
          </a:p>
          <a:p>
            <a:pPr algn="l"/>
            <a:r>
              <a:rPr lang="en-US" dirty="0" err="1"/>
              <a:t>sudo</a:t>
            </a:r>
            <a:r>
              <a:rPr lang="en-US" dirty="0"/>
              <a:t> iptables -A INPUT -</a:t>
            </a:r>
            <a:r>
              <a:rPr lang="en-US" dirty="0" err="1"/>
              <a:t>i</a:t>
            </a:r>
            <a:r>
              <a:rPr lang="en-US" dirty="0"/>
              <a:t> eth0 -j LOG --log-prefix "INPUT packet: "</a:t>
            </a:r>
          </a:p>
          <a:p>
            <a:r>
              <a:rPr lang="he-IL" dirty="0"/>
              <a:t>הסבר:</a:t>
            </a:r>
          </a:p>
          <a:p>
            <a:r>
              <a:rPr lang="en-US" dirty="0"/>
              <a:t>-</a:t>
            </a:r>
            <a:r>
              <a:rPr lang="en-US" dirty="0" err="1"/>
              <a:t>i</a:t>
            </a:r>
            <a:r>
              <a:rPr lang="en-US" dirty="0"/>
              <a:t> eth0</a:t>
            </a:r>
            <a:r>
              <a:rPr lang="he-IL" dirty="0"/>
              <a:t>: מציין שהחוק חל על חבילות נכנסות בממשק הרשת </a:t>
            </a:r>
            <a:r>
              <a:rPr lang="en-US" dirty="0"/>
              <a:t>eth0</a:t>
            </a:r>
            <a:endParaRPr lang="he-IL" dirty="0"/>
          </a:p>
          <a:p>
            <a:r>
              <a:rPr lang="en-US" dirty="0"/>
              <a:t>-j LOG</a:t>
            </a:r>
            <a:r>
              <a:rPr lang="he-IL" dirty="0"/>
              <a:t>: מציין שהפעולה שתבוצע עבור חבילות תואמות היא רישום </a:t>
            </a:r>
            <a:r>
              <a:rPr lang="en-US" dirty="0"/>
              <a:t>logging</a:t>
            </a:r>
            <a:r>
              <a:rPr lang="he-IL" dirty="0"/>
              <a:t> של החבילות.</a:t>
            </a:r>
          </a:p>
          <a:p>
            <a:r>
              <a:rPr lang="en-US" dirty="0"/>
              <a:t>--log-prefix "INPUT packet: "</a:t>
            </a:r>
            <a:r>
              <a:rPr lang="he-IL" dirty="0"/>
              <a:t>: מוסיף תחילית להודעות הלוג. כל הודעה שנרשמת בלוג תתחיל במחרוזת "</a:t>
            </a:r>
            <a:r>
              <a:rPr lang="en-US" dirty="0"/>
              <a:t>"INPUT packet: </a:t>
            </a:r>
            <a:r>
              <a:rPr lang="he-IL" dirty="0"/>
              <a:t> כך שניתן יהיה לזהות את ההודעות האלה בקלות.</a:t>
            </a:r>
          </a:p>
          <a:p>
            <a:r>
              <a:rPr lang="he-IL" b="1" dirty="0"/>
              <a:t>איפה נמצאות הרשומות?</a:t>
            </a:r>
          </a:p>
          <a:p>
            <a:r>
              <a:rPr lang="he-IL" dirty="0"/>
              <a:t>הרשומות שנוצרות על ידי חוק זה נכתבות בדרך כלל לקובץ הלוג של המערכת, כגון </a:t>
            </a:r>
            <a:r>
              <a:rPr lang="en-US" dirty="0"/>
              <a:t>/var/log/syslog</a:t>
            </a:r>
            <a:r>
              <a:rPr lang="he-IL" dirty="0"/>
              <a:t> או </a:t>
            </a:r>
            <a:r>
              <a:rPr lang="en-US" dirty="0"/>
              <a:t>/var/log/messages</a:t>
            </a:r>
            <a:r>
              <a:rPr lang="he-IL" dirty="0"/>
              <a:t> תלוי בקונפיגורציה של מערכת הלוג שלך.</a:t>
            </a:r>
          </a:p>
          <a:p>
            <a:r>
              <a:rPr lang="he-IL" dirty="0"/>
              <a:t>דוגמא לפלט: </a:t>
            </a:r>
          </a:p>
          <a:p>
            <a:pPr algn="l"/>
            <a:r>
              <a:rPr lang="en-US" dirty="0"/>
              <a:t>Jul 28 12:34:56 hostname kernel: </a:t>
            </a:r>
            <a:r>
              <a:rPr lang="en-US" dirty="0">
                <a:highlight>
                  <a:srgbClr val="FFFF00"/>
                </a:highlight>
              </a:rPr>
              <a:t>INPUT packet</a:t>
            </a:r>
            <a:r>
              <a:rPr lang="en-US" dirty="0"/>
              <a:t>: IN=eth0 OUT= MAC=</a:t>
            </a:r>
            <a:r>
              <a:rPr lang="en-US" dirty="0" err="1"/>
              <a:t>xx:xx:xx:xx:xx:xx</a:t>
            </a:r>
            <a:r>
              <a:rPr lang="en-US" dirty="0"/>
              <a:t> SRC=192.168.1.100 DST=192.168.1.1 LEN=60 TOS=0x00 PREC=0x00 TTL=64 ID=54321 DF PROTO=TCP SPT=12345 DPT=80 WINDOW=65535 RES=0x00 SYN URGP=0</a:t>
            </a:r>
            <a:endParaRPr lang="he-IL" dirty="0"/>
          </a:p>
          <a:p>
            <a:endParaRPr lang="he-IL" dirty="0"/>
          </a:p>
          <a:p>
            <a:endParaRPr lang="he-IL" dirty="0"/>
          </a:p>
          <a:p>
            <a:endParaRPr lang="he-IL" dirty="0"/>
          </a:p>
          <a:p>
            <a:endParaRPr lang="he-IL" dirty="0"/>
          </a:p>
        </p:txBody>
      </p:sp>
    </p:spTree>
    <p:extLst>
      <p:ext uri="{BB962C8B-B14F-4D97-AF65-F5344CB8AC3E}">
        <p14:creationId xmlns:p14="http://schemas.microsoft.com/office/powerpoint/2010/main" val="3677710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AECB8A5-5C4A-4D91-B478-0CC5C5A33C63}"/>
              </a:ext>
            </a:extLst>
          </p:cNvPr>
          <p:cNvSpPr>
            <a:spLocks noGrp="1"/>
          </p:cNvSpPr>
          <p:nvPr>
            <p:ph type="title"/>
          </p:nvPr>
        </p:nvSpPr>
        <p:spPr/>
        <p:txBody>
          <a:bodyPr/>
          <a:lstStyle/>
          <a:p>
            <a:r>
              <a:rPr lang="he-IL" dirty="0"/>
              <a:t>המשך - עקרונות בסיסיים של </a:t>
            </a:r>
            <a:r>
              <a:rPr lang="en-US" dirty="0"/>
              <a:t>iptables</a:t>
            </a:r>
            <a:endParaRPr lang="he-IL" dirty="0"/>
          </a:p>
        </p:txBody>
      </p:sp>
      <p:sp>
        <p:nvSpPr>
          <p:cNvPr id="3" name="מציין מיקום תוכן 2">
            <a:extLst>
              <a:ext uri="{FF2B5EF4-FFF2-40B4-BE49-F238E27FC236}">
                <a16:creationId xmlns:a16="http://schemas.microsoft.com/office/drawing/2014/main" id="{771194A8-1AF9-4C15-8B07-573095889E6A}"/>
              </a:ext>
            </a:extLst>
          </p:cNvPr>
          <p:cNvSpPr>
            <a:spLocks noGrp="1"/>
          </p:cNvSpPr>
          <p:nvPr>
            <p:ph idx="1"/>
          </p:nvPr>
        </p:nvSpPr>
        <p:spPr/>
        <p:txBody>
          <a:bodyPr/>
          <a:lstStyle/>
          <a:p>
            <a:r>
              <a:rPr lang="he-IL" dirty="0"/>
              <a:t>פעולות </a:t>
            </a:r>
            <a:r>
              <a:rPr lang="en-US" dirty="0"/>
              <a:t>Actions </a:t>
            </a:r>
            <a:r>
              <a:rPr lang="he-IL" dirty="0"/>
              <a:t> ב-</a:t>
            </a:r>
            <a:r>
              <a:rPr lang="en-US" dirty="0"/>
              <a:t>iptables</a:t>
            </a:r>
            <a:r>
              <a:rPr lang="he-IL" dirty="0"/>
              <a:t>: </a:t>
            </a:r>
          </a:p>
          <a:p>
            <a:r>
              <a:rPr lang="he-IL" dirty="0"/>
              <a:t>חסימת תעבורה נכנסת מכתובת </a:t>
            </a:r>
            <a:r>
              <a:rPr lang="en-US" dirty="0"/>
              <a:t>IP</a:t>
            </a:r>
            <a:r>
              <a:rPr lang="he-IL" dirty="0"/>
              <a:t>ספציפית:</a:t>
            </a:r>
          </a:p>
          <a:p>
            <a:pPr algn="l"/>
            <a:r>
              <a:rPr lang="en-US" dirty="0" err="1"/>
              <a:t>sudo</a:t>
            </a:r>
            <a:r>
              <a:rPr lang="en-US" dirty="0"/>
              <a:t> iptables -A INPUT -s 192.168.1.100 -j DROP</a:t>
            </a:r>
          </a:p>
          <a:p>
            <a:r>
              <a:rPr lang="he-IL" dirty="0"/>
              <a:t>כלל זה מוסיף חוק לשרשרת</a:t>
            </a:r>
            <a:r>
              <a:rPr lang="en-US" dirty="0"/>
              <a:t> INPUT </a:t>
            </a:r>
            <a:r>
              <a:rPr lang="he-IL" dirty="0"/>
              <a:t>חוסם את כל התעבורה הנכנסת מכתובת ה-</a:t>
            </a:r>
            <a:r>
              <a:rPr lang="en-US" dirty="0"/>
              <a:t>  192.168.1.100</a:t>
            </a:r>
            <a:endParaRPr lang="he-IL" dirty="0"/>
          </a:p>
        </p:txBody>
      </p:sp>
    </p:spTree>
    <p:extLst>
      <p:ext uri="{BB962C8B-B14F-4D97-AF65-F5344CB8AC3E}">
        <p14:creationId xmlns:p14="http://schemas.microsoft.com/office/powerpoint/2010/main" val="851574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369357A-88FA-40A7-9FF7-A99ABDD99DD4}"/>
              </a:ext>
            </a:extLst>
          </p:cNvPr>
          <p:cNvSpPr>
            <a:spLocks noGrp="1"/>
          </p:cNvSpPr>
          <p:nvPr>
            <p:ph type="title"/>
          </p:nvPr>
        </p:nvSpPr>
        <p:spPr>
          <a:xfrm>
            <a:off x="1066800" y="288236"/>
            <a:ext cx="10058400" cy="1371600"/>
          </a:xfrm>
        </p:spPr>
        <p:txBody>
          <a:bodyPr/>
          <a:lstStyle/>
          <a:p>
            <a:r>
              <a:rPr lang="he-IL" dirty="0"/>
              <a:t>המשך - עקרונות בסיסיים של </a:t>
            </a:r>
            <a:r>
              <a:rPr lang="en-US" dirty="0"/>
              <a:t>iptables</a:t>
            </a:r>
            <a:endParaRPr lang="he-IL" dirty="0"/>
          </a:p>
        </p:txBody>
      </p:sp>
      <p:sp>
        <p:nvSpPr>
          <p:cNvPr id="3" name="מציין מיקום תוכן 2">
            <a:extLst>
              <a:ext uri="{FF2B5EF4-FFF2-40B4-BE49-F238E27FC236}">
                <a16:creationId xmlns:a16="http://schemas.microsoft.com/office/drawing/2014/main" id="{F10A6E0A-D3B6-4D57-BD78-6953227A5D1B}"/>
              </a:ext>
            </a:extLst>
          </p:cNvPr>
          <p:cNvSpPr>
            <a:spLocks noGrp="1"/>
          </p:cNvSpPr>
          <p:nvPr>
            <p:ph idx="1"/>
          </p:nvPr>
        </p:nvSpPr>
        <p:spPr>
          <a:xfrm>
            <a:off x="1066800" y="1451113"/>
            <a:ext cx="10058400" cy="5118651"/>
          </a:xfrm>
        </p:spPr>
        <p:txBody>
          <a:bodyPr>
            <a:normAutofit fontScale="92500" lnSpcReduction="20000"/>
          </a:bodyPr>
          <a:lstStyle/>
          <a:p>
            <a:r>
              <a:rPr lang="he-IL" dirty="0"/>
              <a:t>שרשרת </a:t>
            </a:r>
            <a:r>
              <a:rPr lang="en-US" dirty="0"/>
              <a:t>PREROUTING</a:t>
            </a:r>
            <a:r>
              <a:rPr lang="he-IL" dirty="0"/>
              <a:t> ב-</a:t>
            </a:r>
            <a:r>
              <a:rPr lang="en-US" dirty="0"/>
              <a:t>iptables </a:t>
            </a:r>
          </a:p>
          <a:p>
            <a:r>
              <a:rPr lang="he-IL" dirty="0"/>
              <a:t>שרשרת </a:t>
            </a:r>
            <a:r>
              <a:rPr lang="en-US" dirty="0"/>
              <a:t>PREROUTING</a:t>
            </a:r>
            <a:r>
              <a:rPr lang="he-IL" dirty="0"/>
              <a:t> היא חלק מהטבלה </a:t>
            </a:r>
            <a:r>
              <a:rPr lang="en-US" dirty="0"/>
              <a:t>NAT</a:t>
            </a:r>
            <a:r>
              <a:rPr lang="he-IL" dirty="0"/>
              <a:t> של </a:t>
            </a:r>
            <a:r>
              <a:rPr lang="en-US" dirty="0"/>
              <a:t>iptables </a:t>
            </a:r>
            <a:r>
              <a:rPr lang="he-IL" dirty="0"/>
              <a:t> ומשמשת בעיקר למטרות </a:t>
            </a:r>
            <a:r>
              <a:rPr lang="en-US" dirty="0"/>
              <a:t>NAT Address </a:t>
            </a:r>
            <a:r>
              <a:rPr lang="he-IL" dirty="0"/>
              <a:t>כאשר </a:t>
            </a:r>
            <a:r>
              <a:rPr lang="he-IL" dirty="0" err="1"/>
              <a:t>פקטה</a:t>
            </a:r>
            <a:r>
              <a:rPr lang="he-IL" dirty="0"/>
              <a:t> מגיעה למערכת מהרשת החיצונית, היא נבדקת תחילה בשרשרת </a:t>
            </a:r>
            <a:r>
              <a:rPr lang="en-US" dirty="0"/>
              <a:t>PREROUTING</a:t>
            </a:r>
            <a:r>
              <a:rPr lang="he-IL" dirty="0"/>
              <a:t> לפני שייקבע האם היא מיועדת למחשב המקומי או צריכה להמשיך ליעד אחר.</a:t>
            </a:r>
          </a:p>
          <a:p>
            <a:r>
              <a:rPr lang="he-IL" dirty="0"/>
              <a:t>שרשרת זו משמשת לשינוי כתובות </a:t>
            </a:r>
            <a:r>
              <a:rPr lang="en-US" dirty="0"/>
              <a:t>IP</a:t>
            </a:r>
            <a:r>
              <a:rPr lang="he-IL" dirty="0"/>
              <a:t> מקוריות של </a:t>
            </a:r>
            <a:r>
              <a:rPr lang="he-IL" dirty="0" err="1"/>
              <a:t>פקטות</a:t>
            </a:r>
            <a:r>
              <a:rPr lang="he-IL" dirty="0"/>
              <a:t> </a:t>
            </a:r>
            <a:r>
              <a:rPr lang="en-US" dirty="0"/>
              <a:t>source NAT</a:t>
            </a:r>
            <a:r>
              <a:rPr lang="he-IL" dirty="0"/>
              <a:t> לפני שהן נכנסות לשרשרת </a:t>
            </a:r>
            <a:r>
              <a:rPr lang="en-US" dirty="0"/>
              <a:t>INPUT</a:t>
            </a:r>
            <a:r>
              <a:rPr lang="he-IL" dirty="0"/>
              <a:t> </a:t>
            </a:r>
          </a:p>
          <a:p>
            <a:r>
              <a:rPr lang="he-IL" dirty="0"/>
              <a:t>דוגמאות לשימוש ב-</a:t>
            </a:r>
            <a:r>
              <a:rPr lang="en-US" dirty="0"/>
              <a:t>NAT </a:t>
            </a:r>
            <a:r>
              <a:rPr lang="he-IL" dirty="0"/>
              <a:t> כוללות:</a:t>
            </a:r>
          </a:p>
          <a:p>
            <a:r>
              <a:rPr lang="en-US" dirty="0"/>
              <a:t>:DNAT (Destination NAT)</a:t>
            </a:r>
            <a:r>
              <a:rPr lang="he-IL" dirty="0"/>
              <a:t> שינוי כתובת היעד של </a:t>
            </a:r>
            <a:r>
              <a:rPr lang="he-IL" dirty="0" err="1"/>
              <a:t>הפקטה</a:t>
            </a:r>
            <a:r>
              <a:rPr lang="he-IL" dirty="0"/>
              <a:t>.</a:t>
            </a:r>
          </a:p>
          <a:p>
            <a:r>
              <a:rPr lang="en-US" dirty="0"/>
              <a:t> :SNAT (Source NAT) </a:t>
            </a:r>
            <a:r>
              <a:rPr lang="he-IL" dirty="0"/>
              <a:t>שינוי כתובת המקור של </a:t>
            </a:r>
            <a:r>
              <a:rPr lang="he-IL" dirty="0" err="1"/>
              <a:t>הפקטה</a:t>
            </a:r>
            <a:r>
              <a:rPr lang="he-IL" dirty="0"/>
              <a:t>.</a:t>
            </a:r>
          </a:p>
          <a:p>
            <a:r>
              <a:rPr lang="he-IL" dirty="0"/>
              <a:t>שרשרת זו מאפשרת לשנות את הכתובות ולהעביר </a:t>
            </a:r>
            <a:r>
              <a:rPr lang="he-IL" dirty="0" err="1"/>
              <a:t>פקטות</a:t>
            </a:r>
            <a:r>
              <a:rPr lang="he-IL" dirty="0"/>
              <a:t> לכתובות אחרות לפני שהן נבדקות בשרשראות אחרות של </a:t>
            </a:r>
            <a:r>
              <a:rPr lang="en-US" dirty="0"/>
              <a:t>iptables.</a:t>
            </a:r>
            <a:endParaRPr lang="he-IL" dirty="0"/>
          </a:p>
          <a:p>
            <a:r>
              <a:rPr lang="he-IL" dirty="0"/>
              <a:t>שינוי כתובת יעד </a:t>
            </a:r>
            <a:r>
              <a:rPr lang="en-US" dirty="0"/>
              <a:t>DNAT</a:t>
            </a:r>
            <a:r>
              <a:rPr lang="he-IL" dirty="0"/>
              <a:t>:</a:t>
            </a:r>
          </a:p>
          <a:p>
            <a:pPr algn="l"/>
            <a:r>
              <a:rPr lang="en-US" dirty="0" err="1"/>
              <a:t>sudo</a:t>
            </a:r>
            <a:r>
              <a:rPr lang="en-US" dirty="0"/>
              <a:t> iptables -t </a:t>
            </a:r>
            <a:r>
              <a:rPr lang="en-US" dirty="0" err="1"/>
              <a:t>nat</a:t>
            </a:r>
            <a:r>
              <a:rPr lang="en-US" dirty="0"/>
              <a:t> -A </a:t>
            </a:r>
            <a:r>
              <a:rPr lang="en-US" dirty="0">
                <a:highlight>
                  <a:srgbClr val="FFFF00"/>
                </a:highlight>
              </a:rPr>
              <a:t>PREROUTING</a:t>
            </a:r>
            <a:r>
              <a:rPr lang="en-US" dirty="0"/>
              <a:t> -p </a:t>
            </a:r>
            <a:r>
              <a:rPr lang="en-US" dirty="0" err="1"/>
              <a:t>tcp</a:t>
            </a:r>
            <a:r>
              <a:rPr lang="en-US" dirty="0"/>
              <a:t> --</a:t>
            </a:r>
            <a:r>
              <a:rPr lang="en-US" dirty="0" err="1"/>
              <a:t>dport</a:t>
            </a:r>
            <a:r>
              <a:rPr lang="en-US" dirty="0"/>
              <a:t> 80 -j DNAT --</a:t>
            </a:r>
            <a:r>
              <a:rPr lang="en-US" dirty="0">
                <a:highlight>
                  <a:srgbClr val="FFFF00"/>
                </a:highlight>
              </a:rPr>
              <a:t>to-destination</a:t>
            </a:r>
            <a:r>
              <a:rPr lang="en-US" dirty="0"/>
              <a:t> 192.168.1.10:80</a:t>
            </a:r>
          </a:p>
          <a:p>
            <a:r>
              <a:rPr lang="he-IL" dirty="0"/>
              <a:t>כלל זה משנה את כתובת היעד של כל </a:t>
            </a:r>
            <a:r>
              <a:rPr lang="he-IL" dirty="0" err="1"/>
              <a:t>הפקטות</a:t>
            </a:r>
            <a:r>
              <a:rPr lang="he-IL" dirty="0"/>
              <a:t> שמיועדות לפורט 80 (</a:t>
            </a:r>
            <a:r>
              <a:rPr lang="en-US" dirty="0"/>
              <a:t>HTTP) </a:t>
            </a:r>
            <a:r>
              <a:rPr lang="he-IL" dirty="0"/>
              <a:t>ומפנה אותן לכתובת </a:t>
            </a:r>
            <a:r>
              <a:rPr lang="en-US" dirty="0"/>
              <a:t>IP </a:t>
            </a:r>
            <a:r>
              <a:rPr lang="he-IL" dirty="0"/>
              <a:t>פנימית 192.168.1.10 בפורט 80.</a:t>
            </a:r>
          </a:p>
          <a:p>
            <a:r>
              <a:rPr lang="he-IL" dirty="0"/>
              <a:t>שינוי כתובת מקור </a:t>
            </a:r>
            <a:r>
              <a:rPr lang="en-US" dirty="0"/>
              <a:t>:SNAT</a:t>
            </a:r>
          </a:p>
          <a:p>
            <a:pPr algn="l"/>
            <a:r>
              <a:rPr lang="en-US" dirty="0" err="1"/>
              <a:t>sudo</a:t>
            </a:r>
            <a:r>
              <a:rPr lang="en-US" dirty="0"/>
              <a:t> iptables -t </a:t>
            </a:r>
            <a:r>
              <a:rPr lang="en-US" dirty="0" err="1"/>
              <a:t>nat</a:t>
            </a:r>
            <a:r>
              <a:rPr lang="en-US" dirty="0"/>
              <a:t> -A </a:t>
            </a:r>
            <a:r>
              <a:rPr lang="en-US" dirty="0">
                <a:highlight>
                  <a:srgbClr val="FFFF00"/>
                </a:highlight>
              </a:rPr>
              <a:t>PREROUTING</a:t>
            </a:r>
            <a:r>
              <a:rPr lang="en-US" dirty="0"/>
              <a:t> -p </a:t>
            </a:r>
            <a:r>
              <a:rPr lang="en-US" dirty="0" err="1"/>
              <a:t>tcp</a:t>
            </a:r>
            <a:r>
              <a:rPr lang="en-US" dirty="0"/>
              <a:t> --</a:t>
            </a:r>
            <a:r>
              <a:rPr lang="en-US" dirty="0" err="1"/>
              <a:t>dport</a:t>
            </a:r>
            <a:r>
              <a:rPr lang="en-US" dirty="0"/>
              <a:t> 22 -j SNAT --</a:t>
            </a:r>
            <a:r>
              <a:rPr lang="en-US" dirty="0">
                <a:highlight>
                  <a:srgbClr val="FFFF00"/>
                </a:highlight>
              </a:rPr>
              <a:t>to-source</a:t>
            </a:r>
            <a:r>
              <a:rPr lang="en-US" dirty="0"/>
              <a:t> 203.0.113.5</a:t>
            </a:r>
          </a:p>
          <a:p>
            <a:r>
              <a:rPr lang="he-IL" dirty="0"/>
              <a:t>כלל זה משנה את כתובת המקור של כל </a:t>
            </a:r>
            <a:r>
              <a:rPr lang="he-IL" dirty="0" err="1"/>
              <a:t>הפקטות</a:t>
            </a:r>
            <a:r>
              <a:rPr lang="he-IL" dirty="0"/>
              <a:t> שנכנסות לפורט 22</a:t>
            </a:r>
            <a:r>
              <a:rPr lang="en-US" dirty="0"/>
              <a:t>SSH </a:t>
            </a:r>
            <a:r>
              <a:rPr lang="he-IL" dirty="0"/>
              <a:t> לכתובת </a:t>
            </a:r>
            <a:r>
              <a:rPr lang="en-US" dirty="0"/>
              <a:t>203.0.113.5</a:t>
            </a:r>
          </a:p>
          <a:p>
            <a:pPr algn="l"/>
            <a:endParaRPr lang="he-IL" dirty="0"/>
          </a:p>
          <a:p>
            <a:endParaRPr lang="en-US" dirty="0"/>
          </a:p>
        </p:txBody>
      </p:sp>
    </p:spTree>
    <p:extLst>
      <p:ext uri="{BB962C8B-B14F-4D97-AF65-F5344CB8AC3E}">
        <p14:creationId xmlns:p14="http://schemas.microsoft.com/office/powerpoint/2010/main" val="325879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469AAE9-A708-481B-B0EC-F43C898D712D}"/>
              </a:ext>
            </a:extLst>
          </p:cNvPr>
          <p:cNvSpPr>
            <a:spLocks noGrp="1"/>
          </p:cNvSpPr>
          <p:nvPr>
            <p:ph type="title"/>
          </p:nvPr>
        </p:nvSpPr>
        <p:spPr>
          <a:xfrm>
            <a:off x="1066800" y="248478"/>
            <a:ext cx="10058400" cy="1371600"/>
          </a:xfrm>
        </p:spPr>
        <p:txBody>
          <a:bodyPr/>
          <a:lstStyle/>
          <a:p>
            <a:r>
              <a:rPr lang="he-IL" dirty="0"/>
              <a:t>המשך - עקרונות בסיסיים של </a:t>
            </a:r>
            <a:r>
              <a:rPr lang="en-US" dirty="0"/>
              <a:t>iptables</a:t>
            </a:r>
            <a:endParaRPr lang="he-IL" dirty="0"/>
          </a:p>
        </p:txBody>
      </p:sp>
      <p:sp>
        <p:nvSpPr>
          <p:cNvPr id="3" name="מציין מיקום תוכן 2">
            <a:extLst>
              <a:ext uri="{FF2B5EF4-FFF2-40B4-BE49-F238E27FC236}">
                <a16:creationId xmlns:a16="http://schemas.microsoft.com/office/drawing/2014/main" id="{A1BB5A71-7D13-4C65-A458-98586FE5A9B0}"/>
              </a:ext>
            </a:extLst>
          </p:cNvPr>
          <p:cNvSpPr>
            <a:spLocks noGrp="1"/>
          </p:cNvSpPr>
          <p:nvPr>
            <p:ph idx="1"/>
          </p:nvPr>
        </p:nvSpPr>
        <p:spPr>
          <a:xfrm>
            <a:off x="1066800" y="1480930"/>
            <a:ext cx="10058400" cy="5128592"/>
          </a:xfrm>
        </p:spPr>
        <p:txBody>
          <a:bodyPr>
            <a:normAutofit fontScale="92500" lnSpcReduction="10000"/>
          </a:bodyPr>
          <a:lstStyle/>
          <a:p>
            <a:r>
              <a:rPr lang="he-IL" dirty="0"/>
              <a:t>פעולות </a:t>
            </a:r>
            <a:r>
              <a:rPr lang="en-US" dirty="0"/>
              <a:t>Actions </a:t>
            </a:r>
            <a:r>
              <a:rPr lang="he-IL" dirty="0"/>
              <a:t> ב-</a:t>
            </a:r>
            <a:r>
              <a:rPr lang="en-US" dirty="0"/>
              <a:t>iptables</a:t>
            </a:r>
            <a:r>
              <a:rPr lang="he-IL" dirty="0"/>
              <a:t>: </a:t>
            </a:r>
          </a:p>
          <a:p>
            <a:r>
              <a:rPr lang="he-IL" dirty="0"/>
              <a:t>מה זה שרשרת </a:t>
            </a:r>
            <a:r>
              <a:rPr lang="en-US" dirty="0"/>
              <a:t>OUTPUT</a:t>
            </a:r>
            <a:r>
              <a:rPr lang="he-IL" dirty="0"/>
              <a:t> ?</a:t>
            </a:r>
            <a:endParaRPr lang="en-US" dirty="0"/>
          </a:p>
          <a:p>
            <a:r>
              <a:rPr lang="he-IL" dirty="0"/>
              <a:t>שרשרת </a:t>
            </a:r>
            <a:r>
              <a:rPr lang="en-US" dirty="0"/>
              <a:t> OUTPUT</a:t>
            </a:r>
            <a:r>
              <a:rPr lang="he-IL" dirty="0"/>
              <a:t>ב-</a:t>
            </a:r>
            <a:r>
              <a:rPr lang="en-US" dirty="0"/>
              <a:t>iptables </a:t>
            </a:r>
            <a:r>
              <a:rPr lang="he-IL" dirty="0"/>
              <a:t> אחראית על טיפול בתעבורה היוצאת מהמחשב המקומי. כאשר המחשב שולח מידע החוצה (לרשת או לאינטרנט), התעבורה הזו עוברת דרך שרשרת </a:t>
            </a:r>
            <a:r>
              <a:rPr lang="en-US" dirty="0"/>
              <a:t> OUTPUT</a:t>
            </a:r>
            <a:r>
              <a:rPr lang="he-IL" dirty="0"/>
              <a:t>, שם נבדקים החוקים שהוגדרו מראש על מנת להחליט מה לעשות עם </a:t>
            </a:r>
            <a:r>
              <a:rPr lang="he-IL" dirty="0" err="1"/>
              <a:t>הפקטות</a:t>
            </a:r>
            <a:r>
              <a:rPr lang="he-IL" dirty="0"/>
              <a:t> היוצאות.</a:t>
            </a:r>
          </a:p>
          <a:p>
            <a:r>
              <a:rPr lang="he-IL" dirty="0"/>
              <a:t>נניח שאתה רוצה לאפשר תעבורת </a:t>
            </a:r>
            <a:r>
              <a:rPr lang="en-US" dirty="0"/>
              <a:t>HTTP</a:t>
            </a:r>
            <a:r>
              <a:rPr lang="he-IL" dirty="0"/>
              <a:t> (פורט 80) יוצאת מהמחשב שלך. לשם כך, תוכל להוסיף את החוקים הבאים לשרשרת </a:t>
            </a:r>
            <a:r>
              <a:rPr lang="en-US" dirty="0"/>
              <a:t>OUTPUT</a:t>
            </a:r>
            <a:r>
              <a:rPr lang="he-IL" dirty="0"/>
              <a:t>: </a:t>
            </a:r>
          </a:p>
          <a:p>
            <a:pPr algn="l"/>
            <a:r>
              <a:rPr lang="en-US" dirty="0" err="1"/>
              <a:t>sudo</a:t>
            </a:r>
            <a:r>
              <a:rPr lang="en-US" dirty="0"/>
              <a:t> iptables -A OUTPUT -p </a:t>
            </a:r>
            <a:r>
              <a:rPr lang="en-US" dirty="0" err="1"/>
              <a:t>tcp</a:t>
            </a:r>
            <a:r>
              <a:rPr lang="en-US" dirty="0"/>
              <a:t> --</a:t>
            </a:r>
            <a:r>
              <a:rPr lang="en-US" dirty="0" err="1"/>
              <a:t>dport</a:t>
            </a:r>
            <a:r>
              <a:rPr lang="en-US" dirty="0"/>
              <a:t> 80 -j ACCEPT</a:t>
            </a:r>
          </a:p>
          <a:p>
            <a:r>
              <a:rPr lang="en-US" dirty="0"/>
              <a:t>-A OUTPUT</a:t>
            </a:r>
            <a:r>
              <a:rPr lang="he-IL" dirty="0"/>
              <a:t>: הוספת</a:t>
            </a:r>
            <a:r>
              <a:rPr lang="en-US" dirty="0"/>
              <a:t>append </a:t>
            </a:r>
            <a:r>
              <a:rPr lang="he-IL" dirty="0"/>
              <a:t> חוק לשרשרת </a:t>
            </a:r>
            <a:r>
              <a:rPr lang="en-US" dirty="0"/>
              <a:t>OUTPUT</a:t>
            </a:r>
            <a:endParaRPr lang="he-IL" dirty="0"/>
          </a:p>
          <a:p>
            <a:r>
              <a:rPr lang="he-IL" dirty="0"/>
              <a:t>דוגמא נוספת: </a:t>
            </a:r>
          </a:p>
          <a:p>
            <a:r>
              <a:rPr lang="he-IL" dirty="0"/>
              <a:t>חסימת כל התעבורה היוצאת לפורט 25 </a:t>
            </a:r>
          </a:p>
          <a:p>
            <a:pPr algn="l"/>
            <a:r>
              <a:rPr lang="en-US" dirty="0" err="1"/>
              <a:t>sudo</a:t>
            </a:r>
            <a:r>
              <a:rPr lang="en-US" dirty="0"/>
              <a:t> iptables -A OUTPUT -p </a:t>
            </a:r>
            <a:r>
              <a:rPr lang="en-US" dirty="0" err="1"/>
              <a:t>tcp</a:t>
            </a:r>
            <a:r>
              <a:rPr lang="en-US" dirty="0"/>
              <a:t> --</a:t>
            </a:r>
            <a:r>
              <a:rPr lang="en-US" dirty="0" err="1"/>
              <a:t>dport</a:t>
            </a:r>
            <a:r>
              <a:rPr lang="en-US" dirty="0"/>
              <a:t> 25 -j DROP</a:t>
            </a:r>
            <a:endParaRPr lang="he-IL" dirty="0"/>
          </a:p>
          <a:p>
            <a:r>
              <a:rPr lang="he-IL" dirty="0"/>
              <a:t>חוק זה חוסם תעבורה יוצאת לפרוטוקול </a:t>
            </a:r>
            <a:r>
              <a:rPr lang="en-US" dirty="0"/>
              <a:t> SMTP</a:t>
            </a:r>
            <a:r>
              <a:rPr lang="he-IL" dirty="0"/>
              <a:t>שמשמש לשליחת דואר אלקטרוני, כך שמניעה של גישה לפורט זה מונעת מהמערכת לשלוח מיילים החוצה.</a:t>
            </a:r>
          </a:p>
          <a:p>
            <a:r>
              <a:rPr lang="he-IL" dirty="0"/>
              <a:t>דוגמא נוספת: תיעוד (לוג) של כל </a:t>
            </a:r>
            <a:r>
              <a:rPr lang="he-IL" dirty="0" err="1"/>
              <a:t>הפקטות</a:t>
            </a:r>
            <a:r>
              <a:rPr lang="he-IL" dirty="0"/>
              <a:t> היוצאות – </a:t>
            </a:r>
          </a:p>
          <a:p>
            <a:pPr algn="l"/>
            <a:r>
              <a:rPr lang="en-US" dirty="0" err="1"/>
              <a:t>sudo</a:t>
            </a:r>
            <a:r>
              <a:rPr lang="en-US" dirty="0"/>
              <a:t> iptables -A OUTPUT </a:t>
            </a:r>
            <a:r>
              <a:rPr lang="en-US" dirty="0">
                <a:highlight>
                  <a:srgbClr val="FFFF00"/>
                </a:highlight>
              </a:rPr>
              <a:t>-j LOG </a:t>
            </a:r>
            <a:r>
              <a:rPr lang="en-US" dirty="0"/>
              <a:t>--log-prefix "OUTPUT packet: "</a:t>
            </a:r>
          </a:p>
          <a:p>
            <a:pPr algn="l"/>
            <a:endParaRPr lang="en-US" dirty="0"/>
          </a:p>
          <a:p>
            <a:pPr algn="l"/>
            <a:endParaRPr lang="he-IL" dirty="0"/>
          </a:p>
          <a:p>
            <a:endParaRPr lang="he-IL" dirty="0"/>
          </a:p>
        </p:txBody>
      </p:sp>
    </p:spTree>
    <p:extLst>
      <p:ext uri="{BB962C8B-B14F-4D97-AF65-F5344CB8AC3E}">
        <p14:creationId xmlns:p14="http://schemas.microsoft.com/office/powerpoint/2010/main" val="37683256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D7A6D83-E008-47BA-BADE-7950116884A8}"/>
              </a:ext>
            </a:extLst>
          </p:cNvPr>
          <p:cNvSpPr>
            <a:spLocks noGrp="1"/>
          </p:cNvSpPr>
          <p:nvPr>
            <p:ph type="title"/>
          </p:nvPr>
        </p:nvSpPr>
        <p:spPr/>
        <p:txBody>
          <a:bodyPr/>
          <a:lstStyle/>
          <a:p>
            <a:r>
              <a:rPr lang="he-IL" dirty="0"/>
              <a:t>המשך - עקרונות בסיסיים של </a:t>
            </a:r>
            <a:r>
              <a:rPr lang="en-US" dirty="0"/>
              <a:t>iptables</a:t>
            </a:r>
            <a:endParaRPr lang="he-IL" dirty="0"/>
          </a:p>
        </p:txBody>
      </p:sp>
      <p:sp>
        <p:nvSpPr>
          <p:cNvPr id="3" name="מציין מיקום תוכן 2">
            <a:extLst>
              <a:ext uri="{FF2B5EF4-FFF2-40B4-BE49-F238E27FC236}">
                <a16:creationId xmlns:a16="http://schemas.microsoft.com/office/drawing/2014/main" id="{AF82E108-6425-4B4E-9CED-BD645E3C5DE3}"/>
              </a:ext>
            </a:extLst>
          </p:cNvPr>
          <p:cNvSpPr>
            <a:spLocks noGrp="1"/>
          </p:cNvSpPr>
          <p:nvPr>
            <p:ph idx="1"/>
          </p:nvPr>
        </p:nvSpPr>
        <p:spPr>
          <a:xfrm>
            <a:off x="1066800" y="2450989"/>
            <a:ext cx="10058400" cy="1544541"/>
          </a:xfrm>
        </p:spPr>
        <p:txBody>
          <a:bodyPr/>
          <a:lstStyle/>
          <a:p>
            <a:r>
              <a:rPr lang="he-IL" dirty="0"/>
              <a:t>שאלה: נניח שאתה מנהל רשת בחברה והמדיניות היא להגביל את הגישה לאינטרנט כך שרק פורטים ספציפיים יהיו פתוחים. כדי לאפשר גלישה באינטרנט בצורה מאובטחת, תוכל לאשר רק תעבורת </a:t>
            </a:r>
            <a:r>
              <a:rPr lang="en-US" dirty="0"/>
              <a:t>HTTP </a:t>
            </a:r>
            <a:r>
              <a:rPr lang="he-IL" dirty="0"/>
              <a:t> ו-</a:t>
            </a:r>
            <a:r>
              <a:rPr lang="en-US" dirty="0"/>
              <a:t>HTTPS</a:t>
            </a:r>
            <a:r>
              <a:rPr lang="he-IL" dirty="0"/>
              <a:t> ?</a:t>
            </a:r>
          </a:p>
          <a:p>
            <a:endParaRPr lang="he-IL" dirty="0"/>
          </a:p>
        </p:txBody>
      </p:sp>
    </p:spTree>
    <p:extLst>
      <p:ext uri="{BB962C8B-B14F-4D97-AF65-F5344CB8AC3E}">
        <p14:creationId xmlns:p14="http://schemas.microsoft.com/office/powerpoint/2010/main" val="2965755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5B50D94-8FF4-45D5-BECD-31DFAED68205}"/>
              </a:ext>
            </a:extLst>
          </p:cNvPr>
          <p:cNvSpPr>
            <a:spLocks noGrp="1"/>
          </p:cNvSpPr>
          <p:nvPr>
            <p:ph type="title"/>
          </p:nvPr>
        </p:nvSpPr>
        <p:spPr/>
        <p:txBody>
          <a:bodyPr/>
          <a:lstStyle/>
          <a:p>
            <a:r>
              <a:rPr lang="he-IL" dirty="0"/>
              <a:t>המשך - עקרונות בסיסיים של </a:t>
            </a:r>
            <a:r>
              <a:rPr lang="en-US" dirty="0"/>
              <a:t>iptables</a:t>
            </a:r>
            <a:endParaRPr lang="he-IL" dirty="0"/>
          </a:p>
        </p:txBody>
      </p:sp>
      <p:sp>
        <p:nvSpPr>
          <p:cNvPr id="3" name="מציין מיקום תוכן 2">
            <a:extLst>
              <a:ext uri="{FF2B5EF4-FFF2-40B4-BE49-F238E27FC236}">
                <a16:creationId xmlns:a16="http://schemas.microsoft.com/office/drawing/2014/main" id="{816AB88E-0E97-41B0-BB44-A44229AB0B42}"/>
              </a:ext>
            </a:extLst>
          </p:cNvPr>
          <p:cNvSpPr>
            <a:spLocks noGrp="1"/>
          </p:cNvSpPr>
          <p:nvPr>
            <p:ph idx="1"/>
          </p:nvPr>
        </p:nvSpPr>
        <p:spPr/>
        <p:txBody>
          <a:bodyPr/>
          <a:lstStyle/>
          <a:p>
            <a:r>
              <a:rPr lang="he-IL" dirty="0"/>
              <a:t>תשובה:</a:t>
            </a:r>
            <a:endParaRPr lang="en-US" dirty="0"/>
          </a:p>
          <a:p>
            <a:pPr algn="l"/>
            <a:r>
              <a:rPr lang="en-US" dirty="0" err="1"/>
              <a:t>sudo</a:t>
            </a:r>
            <a:r>
              <a:rPr lang="en-US" dirty="0"/>
              <a:t> iptables -A OUTPUT -p </a:t>
            </a:r>
            <a:r>
              <a:rPr lang="en-US" dirty="0" err="1"/>
              <a:t>tcp</a:t>
            </a:r>
            <a:r>
              <a:rPr lang="en-US" dirty="0"/>
              <a:t> --</a:t>
            </a:r>
            <a:r>
              <a:rPr lang="en-US" dirty="0" err="1"/>
              <a:t>dport</a:t>
            </a:r>
            <a:r>
              <a:rPr lang="en-US" dirty="0"/>
              <a:t> 80 -j ACCEPT</a:t>
            </a:r>
          </a:p>
          <a:p>
            <a:pPr algn="l"/>
            <a:r>
              <a:rPr lang="en-US" dirty="0" err="1"/>
              <a:t>sudo</a:t>
            </a:r>
            <a:r>
              <a:rPr lang="en-US" dirty="0"/>
              <a:t> iptables -A OUTPUT -p </a:t>
            </a:r>
            <a:r>
              <a:rPr lang="en-US" dirty="0" err="1"/>
              <a:t>tcp</a:t>
            </a:r>
            <a:r>
              <a:rPr lang="en-US" dirty="0"/>
              <a:t> --</a:t>
            </a:r>
            <a:r>
              <a:rPr lang="en-US" dirty="0" err="1"/>
              <a:t>dport</a:t>
            </a:r>
            <a:r>
              <a:rPr lang="en-US" dirty="0"/>
              <a:t> 443 -j ACCEPT</a:t>
            </a:r>
          </a:p>
          <a:p>
            <a:pPr algn="l"/>
            <a:r>
              <a:rPr lang="en-US" dirty="0" err="1"/>
              <a:t>sudo</a:t>
            </a:r>
            <a:r>
              <a:rPr lang="en-US" dirty="0"/>
              <a:t> iptables -A OUTPUT -j DROP</a:t>
            </a:r>
            <a:endParaRPr lang="he-IL" dirty="0"/>
          </a:p>
          <a:p>
            <a:r>
              <a:rPr lang="he-IL" dirty="0"/>
              <a:t>שתי הפקודות הראשונות מאשרות תעבורה לפורטים 80 ו-443.</a:t>
            </a:r>
          </a:p>
          <a:p>
            <a:r>
              <a:rPr lang="he-IL" dirty="0"/>
              <a:t>הפקודה השלישית חוסמת כל תעבורה יוצאת אחרת, כלומר, רק תעבורת </a:t>
            </a:r>
            <a:r>
              <a:rPr lang="en-US" dirty="0"/>
              <a:t> HTTP</a:t>
            </a:r>
            <a:r>
              <a:rPr lang="he-IL" dirty="0"/>
              <a:t>ו-</a:t>
            </a:r>
            <a:r>
              <a:rPr lang="en-US" dirty="0"/>
              <a:t>HTTPS </a:t>
            </a:r>
            <a:r>
              <a:rPr lang="he-IL" dirty="0"/>
              <a:t> תורשה לצאת מהמחשב.</a:t>
            </a:r>
            <a:endParaRPr lang="en-US" dirty="0"/>
          </a:p>
          <a:p>
            <a:endParaRPr lang="he-IL" dirty="0"/>
          </a:p>
        </p:txBody>
      </p:sp>
    </p:spTree>
    <p:extLst>
      <p:ext uri="{BB962C8B-B14F-4D97-AF65-F5344CB8AC3E}">
        <p14:creationId xmlns:p14="http://schemas.microsoft.com/office/powerpoint/2010/main" val="4248335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9FE8518-EBD4-43B0-8A1F-E917F4589FA9}"/>
              </a:ext>
            </a:extLst>
          </p:cNvPr>
          <p:cNvSpPr>
            <a:spLocks noGrp="1"/>
          </p:cNvSpPr>
          <p:nvPr>
            <p:ph type="title"/>
          </p:nvPr>
        </p:nvSpPr>
        <p:spPr/>
        <p:txBody>
          <a:bodyPr/>
          <a:lstStyle/>
          <a:p>
            <a:r>
              <a:rPr lang="he-IL" dirty="0"/>
              <a:t>המשך - עקרונות בסיסיים של </a:t>
            </a:r>
            <a:r>
              <a:rPr lang="en-US" dirty="0"/>
              <a:t>iptables</a:t>
            </a:r>
            <a:endParaRPr lang="he-IL" dirty="0"/>
          </a:p>
        </p:txBody>
      </p:sp>
      <p:sp>
        <p:nvSpPr>
          <p:cNvPr id="3" name="מציין מיקום תוכן 2">
            <a:extLst>
              <a:ext uri="{FF2B5EF4-FFF2-40B4-BE49-F238E27FC236}">
                <a16:creationId xmlns:a16="http://schemas.microsoft.com/office/drawing/2014/main" id="{BE7534C5-8C10-467D-8482-11CF6235E92E}"/>
              </a:ext>
            </a:extLst>
          </p:cNvPr>
          <p:cNvSpPr>
            <a:spLocks noGrp="1"/>
          </p:cNvSpPr>
          <p:nvPr>
            <p:ph idx="1"/>
          </p:nvPr>
        </p:nvSpPr>
        <p:spPr/>
        <p:txBody>
          <a:bodyPr/>
          <a:lstStyle/>
          <a:p>
            <a:r>
              <a:rPr lang="he-IL" dirty="0"/>
              <a:t>שאלות:</a:t>
            </a:r>
          </a:p>
          <a:p>
            <a:r>
              <a:rPr lang="he-IL" dirty="0"/>
              <a:t>1. כיצד תוכל לאפשר תעבורה יוצאת לפורט 53 </a:t>
            </a:r>
            <a:r>
              <a:rPr lang="en-US" dirty="0"/>
              <a:t>DNS</a:t>
            </a:r>
            <a:r>
              <a:rPr lang="he-IL" dirty="0"/>
              <a:t> ?</a:t>
            </a:r>
          </a:p>
          <a:p>
            <a:r>
              <a:rPr lang="he-IL" dirty="0"/>
              <a:t>2. מה יקרה אם תוסיף את החוק הבא לשרשרת </a:t>
            </a:r>
            <a:r>
              <a:rPr lang="en-US" dirty="0"/>
              <a:t>OUTPUT</a:t>
            </a:r>
            <a:endParaRPr lang="he-IL" dirty="0"/>
          </a:p>
          <a:p>
            <a:pPr algn="l"/>
            <a:r>
              <a:rPr lang="en-US" dirty="0" err="1"/>
              <a:t>sudo</a:t>
            </a:r>
            <a:r>
              <a:rPr lang="en-US" dirty="0"/>
              <a:t> iptables -A OUTPUT -p </a:t>
            </a:r>
            <a:r>
              <a:rPr lang="en-US" dirty="0" err="1"/>
              <a:t>tcp</a:t>
            </a:r>
            <a:r>
              <a:rPr lang="en-US" dirty="0"/>
              <a:t> --</a:t>
            </a:r>
            <a:r>
              <a:rPr lang="en-US" dirty="0" err="1"/>
              <a:t>dport</a:t>
            </a:r>
            <a:r>
              <a:rPr lang="en-US" dirty="0"/>
              <a:t> 22 -j REJECT</a:t>
            </a:r>
          </a:p>
          <a:p>
            <a:pPr algn="l"/>
            <a:endParaRPr lang="he-IL" dirty="0"/>
          </a:p>
        </p:txBody>
      </p:sp>
    </p:spTree>
    <p:extLst>
      <p:ext uri="{BB962C8B-B14F-4D97-AF65-F5344CB8AC3E}">
        <p14:creationId xmlns:p14="http://schemas.microsoft.com/office/powerpoint/2010/main" val="17211609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68026FF-98F6-42E7-B666-427CB99DD89C}"/>
              </a:ext>
            </a:extLst>
          </p:cNvPr>
          <p:cNvSpPr>
            <a:spLocks noGrp="1"/>
          </p:cNvSpPr>
          <p:nvPr>
            <p:ph type="title"/>
          </p:nvPr>
        </p:nvSpPr>
        <p:spPr/>
        <p:txBody>
          <a:bodyPr/>
          <a:lstStyle/>
          <a:p>
            <a:r>
              <a:rPr lang="he-IL" dirty="0"/>
              <a:t>המשך - עקרונות בסיסיים של </a:t>
            </a:r>
            <a:r>
              <a:rPr lang="en-US" dirty="0"/>
              <a:t>iptables</a:t>
            </a:r>
            <a:endParaRPr lang="he-IL" dirty="0"/>
          </a:p>
        </p:txBody>
      </p:sp>
      <p:sp>
        <p:nvSpPr>
          <p:cNvPr id="3" name="מציין מיקום תוכן 2">
            <a:extLst>
              <a:ext uri="{FF2B5EF4-FFF2-40B4-BE49-F238E27FC236}">
                <a16:creationId xmlns:a16="http://schemas.microsoft.com/office/drawing/2014/main" id="{6CA19430-A948-4467-A381-5D512F7A5FFE}"/>
              </a:ext>
            </a:extLst>
          </p:cNvPr>
          <p:cNvSpPr>
            <a:spLocks noGrp="1"/>
          </p:cNvSpPr>
          <p:nvPr>
            <p:ph idx="1"/>
          </p:nvPr>
        </p:nvSpPr>
        <p:spPr/>
        <p:txBody>
          <a:bodyPr/>
          <a:lstStyle/>
          <a:p>
            <a:r>
              <a:rPr lang="he-IL" dirty="0"/>
              <a:t>תשובות:</a:t>
            </a:r>
          </a:p>
          <a:p>
            <a:r>
              <a:rPr lang="he-IL" dirty="0"/>
              <a:t>1. </a:t>
            </a:r>
          </a:p>
          <a:p>
            <a:pPr algn="l"/>
            <a:r>
              <a:rPr lang="en-US" dirty="0" err="1"/>
              <a:t>sudo</a:t>
            </a:r>
            <a:r>
              <a:rPr lang="en-US" dirty="0"/>
              <a:t> iptables -A OUTPUT -p </a:t>
            </a:r>
            <a:r>
              <a:rPr lang="en-US" dirty="0" err="1"/>
              <a:t>udp</a:t>
            </a:r>
            <a:r>
              <a:rPr lang="en-US" dirty="0"/>
              <a:t> --</a:t>
            </a:r>
            <a:r>
              <a:rPr lang="en-US" dirty="0" err="1"/>
              <a:t>dport</a:t>
            </a:r>
            <a:r>
              <a:rPr lang="en-US" dirty="0"/>
              <a:t> 53 -j ACCEPT</a:t>
            </a:r>
            <a:endParaRPr lang="he-IL" dirty="0"/>
          </a:p>
          <a:p>
            <a:pPr algn="l"/>
            <a:endParaRPr lang="he-IL" dirty="0"/>
          </a:p>
          <a:p>
            <a:pPr algn="l"/>
            <a:endParaRPr lang="en-US" dirty="0"/>
          </a:p>
          <a:p>
            <a:r>
              <a:rPr lang="he-IL" dirty="0"/>
              <a:t>2. החוק הזה ידחה</a:t>
            </a:r>
            <a:r>
              <a:rPr lang="en-US" dirty="0"/>
              <a:t> REJECT </a:t>
            </a:r>
            <a:r>
              <a:rPr lang="he-IL" dirty="0"/>
              <a:t>תעבורה יוצאת לפורט 22 </a:t>
            </a:r>
            <a:r>
              <a:rPr lang="en-US" dirty="0"/>
              <a:t> SSH</a:t>
            </a:r>
            <a:r>
              <a:rPr lang="he-IL" dirty="0"/>
              <a:t>כלומר, המחשב לא יוכל להתחבר לשרתי</a:t>
            </a:r>
            <a:r>
              <a:rPr lang="en-US" dirty="0"/>
              <a:t>SSH </a:t>
            </a:r>
            <a:r>
              <a:rPr lang="he-IL" dirty="0"/>
              <a:t>חיצוניים. כלומר כאשר חוק זה מופעל, כל </a:t>
            </a:r>
            <a:r>
              <a:rPr lang="he-IL" dirty="0" err="1"/>
              <a:t>פקטה</a:t>
            </a:r>
            <a:r>
              <a:rPr lang="he-IL" dirty="0"/>
              <a:t> יוצאת שמיועדת לפורט 22 תיבדק מול החוק הזה. אם </a:t>
            </a:r>
            <a:r>
              <a:rPr lang="he-IL" dirty="0" err="1"/>
              <a:t>הפקטה</a:t>
            </a:r>
            <a:r>
              <a:rPr lang="he-IL" dirty="0"/>
              <a:t> עומדת בתנאי החוק שהיא תעבורת </a:t>
            </a:r>
            <a:r>
              <a:rPr lang="en-US" dirty="0"/>
              <a:t>TCP </a:t>
            </a:r>
            <a:r>
              <a:rPr lang="he-IL" dirty="0"/>
              <a:t> לפורט 22, </a:t>
            </a:r>
            <a:r>
              <a:rPr lang="he-IL" dirty="0" err="1"/>
              <a:t>הפקטה</a:t>
            </a:r>
            <a:r>
              <a:rPr lang="he-IL" dirty="0"/>
              <a:t> תידחה</a:t>
            </a:r>
            <a:r>
              <a:rPr lang="en-US" dirty="0"/>
              <a:t>REJECT </a:t>
            </a:r>
            <a:r>
              <a:rPr lang="he-IL" dirty="0"/>
              <a:t> והמחשב המקומי יקבל הודעת שגיאה שמצביעה על כך שהתעבורה נדחתה.</a:t>
            </a:r>
          </a:p>
          <a:p>
            <a:endParaRPr lang="he-IL" dirty="0"/>
          </a:p>
        </p:txBody>
      </p:sp>
    </p:spTree>
    <p:extLst>
      <p:ext uri="{BB962C8B-B14F-4D97-AF65-F5344CB8AC3E}">
        <p14:creationId xmlns:p14="http://schemas.microsoft.com/office/powerpoint/2010/main" val="14230140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20CB5E7-D148-4544-84B6-FDCF96E53D5C}"/>
              </a:ext>
            </a:extLst>
          </p:cNvPr>
          <p:cNvSpPr>
            <a:spLocks noGrp="1"/>
          </p:cNvSpPr>
          <p:nvPr>
            <p:ph type="title"/>
          </p:nvPr>
        </p:nvSpPr>
        <p:spPr/>
        <p:txBody>
          <a:bodyPr/>
          <a:lstStyle/>
          <a:p>
            <a:r>
              <a:rPr lang="he-IL" dirty="0"/>
              <a:t>המשך - עקרונות בסיסיים של </a:t>
            </a:r>
            <a:r>
              <a:rPr lang="en-US" dirty="0"/>
              <a:t>iptables</a:t>
            </a:r>
            <a:endParaRPr lang="he-IL" dirty="0"/>
          </a:p>
        </p:txBody>
      </p:sp>
      <p:sp>
        <p:nvSpPr>
          <p:cNvPr id="3" name="מציין מיקום תוכן 2">
            <a:extLst>
              <a:ext uri="{FF2B5EF4-FFF2-40B4-BE49-F238E27FC236}">
                <a16:creationId xmlns:a16="http://schemas.microsoft.com/office/drawing/2014/main" id="{2152E0DC-C340-45AB-953C-4E1CCEB66F08}"/>
              </a:ext>
            </a:extLst>
          </p:cNvPr>
          <p:cNvSpPr>
            <a:spLocks noGrp="1"/>
          </p:cNvSpPr>
          <p:nvPr>
            <p:ph idx="1"/>
          </p:nvPr>
        </p:nvSpPr>
        <p:spPr/>
        <p:txBody>
          <a:bodyPr/>
          <a:lstStyle/>
          <a:p>
            <a:r>
              <a:rPr lang="he-IL" dirty="0"/>
              <a:t>שרשרת </a:t>
            </a:r>
            <a:r>
              <a:rPr lang="en-US" dirty="0"/>
              <a:t>FORWARD</a:t>
            </a:r>
            <a:r>
              <a:rPr lang="he-IL" dirty="0"/>
              <a:t> ב- </a:t>
            </a:r>
            <a:r>
              <a:rPr lang="en-US" dirty="0"/>
              <a:t>iptables</a:t>
            </a:r>
            <a:r>
              <a:rPr lang="he-IL" dirty="0"/>
              <a:t> </a:t>
            </a:r>
          </a:p>
          <a:p>
            <a:r>
              <a:rPr lang="he-IL" dirty="0"/>
              <a:t>שרשרת </a:t>
            </a:r>
            <a:r>
              <a:rPr lang="en-US" dirty="0"/>
              <a:t>FORWARD </a:t>
            </a:r>
            <a:r>
              <a:rPr lang="he-IL" dirty="0"/>
              <a:t>: מטפלת בכל </a:t>
            </a:r>
            <a:r>
              <a:rPr lang="he-IL" dirty="0" err="1"/>
              <a:t>הפקטות</a:t>
            </a:r>
            <a:r>
              <a:rPr lang="he-IL" dirty="0"/>
              <a:t> שעוברות דרך המחשב המקומי ליעד אחר, בדרך כלל במקרים בהם המחשב פועל כנתב</a:t>
            </a:r>
            <a:r>
              <a:rPr lang="en-US" dirty="0"/>
              <a:t>router </a:t>
            </a:r>
            <a:r>
              <a:rPr lang="he-IL" dirty="0"/>
              <a:t> זה אומר </a:t>
            </a:r>
            <a:r>
              <a:rPr lang="he-IL" dirty="0" err="1"/>
              <a:t>שהפקטות</a:t>
            </a:r>
            <a:r>
              <a:rPr lang="he-IL" dirty="0"/>
              <a:t> לא מיועדות למחשב המקומי ולא יוצאות ממנו, אלא פשוט עוברות דרכו בדרך ליעדן הסופי.</a:t>
            </a:r>
          </a:p>
          <a:p>
            <a:r>
              <a:rPr lang="he-IL" dirty="0"/>
              <a:t>דוגמה למקרה שימוש: נניח שיש לך רשת ביתית או משרדית, והמחשב שלך מוגדר כנתב שמחבר את הרשת המקומית לאינטרנט. במצב כזה, כל </a:t>
            </a:r>
            <a:r>
              <a:rPr lang="he-IL" dirty="0" err="1"/>
              <a:t>הפקטות</a:t>
            </a:r>
            <a:r>
              <a:rPr lang="he-IL" dirty="0"/>
              <a:t> שמגיעות ממחשבים אחרים ברשת המקומית ועוברות דרך המחשב המקומי כדי להגיע לאינטרנט, יעברו דרך שרשרת </a:t>
            </a:r>
            <a:r>
              <a:rPr lang="en-US" dirty="0"/>
              <a:t>FORWARD</a:t>
            </a:r>
            <a:endParaRPr lang="he-IL" dirty="0"/>
          </a:p>
          <a:p>
            <a:r>
              <a:rPr lang="he-IL" dirty="0"/>
              <a:t>מבנה חוק בשרשרת </a:t>
            </a:r>
            <a:r>
              <a:rPr lang="en-US" dirty="0"/>
              <a:t>:FORWARD</a:t>
            </a:r>
            <a:r>
              <a:rPr lang="he-IL" b="1" dirty="0"/>
              <a:t> </a:t>
            </a:r>
            <a:r>
              <a:rPr lang="he-IL" dirty="0"/>
              <a:t>נניח שאתה רוצה לאפשר תעבורה לפורט מסוים רק לרשת פנימית מסוימת, או לחסום תעבורה מסוג מסוים.</a:t>
            </a:r>
          </a:p>
          <a:p>
            <a:pPr algn="l"/>
            <a:r>
              <a:rPr lang="en-US" dirty="0" err="1"/>
              <a:t>sudo</a:t>
            </a:r>
            <a:r>
              <a:rPr lang="en-US" dirty="0"/>
              <a:t> iptables -A FORWARD -p </a:t>
            </a:r>
            <a:r>
              <a:rPr lang="en-US" dirty="0" err="1"/>
              <a:t>tcp</a:t>
            </a:r>
            <a:r>
              <a:rPr lang="en-US" dirty="0"/>
              <a:t> --</a:t>
            </a:r>
            <a:r>
              <a:rPr lang="en-US" dirty="0" err="1"/>
              <a:t>dport</a:t>
            </a:r>
            <a:r>
              <a:rPr lang="en-US" dirty="0"/>
              <a:t> 80 -j ACCEPT</a:t>
            </a:r>
          </a:p>
          <a:p>
            <a:r>
              <a:rPr lang="en-US" dirty="0"/>
              <a:t>-A FORWARD</a:t>
            </a:r>
            <a:r>
              <a:rPr lang="he-IL" dirty="0"/>
              <a:t>: הוספת </a:t>
            </a:r>
            <a:r>
              <a:rPr lang="en-US" dirty="0"/>
              <a:t>append </a:t>
            </a:r>
            <a:r>
              <a:rPr lang="he-IL" dirty="0"/>
              <a:t>חוק לשרשרת </a:t>
            </a:r>
            <a:r>
              <a:rPr lang="en-US" dirty="0"/>
              <a:t>FORWARD</a:t>
            </a:r>
            <a:r>
              <a:rPr lang="he-IL" dirty="0"/>
              <a:t> </a:t>
            </a:r>
          </a:p>
          <a:p>
            <a:endParaRPr lang="en-US" dirty="0"/>
          </a:p>
          <a:p>
            <a:endParaRPr lang="he-IL" dirty="0"/>
          </a:p>
        </p:txBody>
      </p:sp>
    </p:spTree>
    <p:extLst>
      <p:ext uri="{BB962C8B-B14F-4D97-AF65-F5344CB8AC3E}">
        <p14:creationId xmlns:p14="http://schemas.microsoft.com/office/powerpoint/2010/main" val="2616596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252467A-E837-4427-B651-EFC4F66C94AF}"/>
              </a:ext>
            </a:extLst>
          </p:cNvPr>
          <p:cNvSpPr>
            <a:spLocks noGrp="1"/>
          </p:cNvSpPr>
          <p:nvPr>
            <p:ph type="title"/>
          </p:nvPr>
        </p:nvSpPr>
        <p:spPr/>
        <p:txBody>
          <a:bodyPr/>
          <a:lstStyle/>
          <a:p>
            <a:r>
              <a:rPr lang="he-IL" dirty="0"/>
              <a:t>המשך - עקרונות בסיסיים של </a:t>
            </a:r>
            <a:r>
              <a:rPr lang="en-US" dirty="0"/>
              <a:t>iptables</a:t>
            </a:r>
            <a:endParaRPr lang="he-IL" dirty="0"/>
          </a:p>
        </p:txBody>
      </p:sp>
      <p:sp>
        <p:nvSpPr>
          <p:cNvPr id="3" name="מציין מיקום תוכן 2">
            <a:extLst>
              <a:ext uri="{FF2B5EF4-FFF2-40B4-BE49-F238E27FC236}">
                <a16:creationId xmlns:a16="http://schemas.microsoft.com/office/drawing/2014/main" id="{F01EE352-35BD-427F-A415-A9F8A30F8C60}"/>
              </a:ext>
            </a:extLst>
          </p:cNvPr>
          <p:cNvSpPr>
            <a:spLocks noGrp="1"/>
          </p:cNvSpPr>
          <p:nvPr>
            <p:ph idx="1"/>
          </p:nvPr>
        </p:nvSpPr>
        <p:spPr>
          <a:xfrm>
            <a:off x="1066800" y="1838739"/>
            <a:ext cx="10058400" cy="4711147"/>
          </a:xfrm>
        </p:spPr>
        <p:txBody>
          <a:bodyPr>
            <a:normAutofit lnSpcReduction="10000"/>
          </a:bodyPr>
          <a:lstStyle/>
          <a:p>
            <a:r>
              <a:rPr lang="he-IL" dirty="0"/>
              <a:t>המשך שרשרת </a:t>
            </a:r>
            <a:r>
              <a:rPr lang="en-US" dirty="0"/>
              <a:t>FORWARD</a:t>
            </a:r>
            <a:r>
              <a:rPr lang="he-IL" dirty="0"/>
              <a:t> ב- </a:t>
            </a:r>
            <a:r>
              <a:rPr lang="en-US" dirty="0"/>
              <a:t>iptables</a:t>
            </a:r>
            <a:r>
              <a:rPr lang="he-IL" dirty="0"/>
              <a:t> :</a:t>
            </a:r>
          </a:p>
          <a:p>
            <a:r>
              <a:rPr lang="he-IL" dirty="0"/>
              <a:t>דוגמה מעשית:</a:t>
            </a:r>
          </a:p>
          <a:p>
            <a:r>
              <a:rPr lang="he-IL" dirty="0"/>
              <a:t>ללא החוק: נניח שיש לך רשת פנימית עם מחשב</a:t>
            </a:r>
            <a:r>
              <a:rPr lang="en-US" dirty="0"/>
              <a:t>A </a:t>
            </a:r>
            <a:r>
              <a:rPr lang="he-IL" dirty="0"/>
              <a:t> שמחובר לנתב (המחשב המקומי שלך) ומחשב זה מנסה לגשת לאתר אינטרנט דרך פורט 80. הבקשה תעבור דרך הנתב, ואם אין חוק שמתיר את זה, הבקשה עשויה להיחסם כברירת מחדל.</a:t>
            </a:r>
          </a:p>
          <a:p>
            <a:r>
              <a:rPr lang="he-IL" dirty="0"/>
              <a:t>עם החוק: לאחר שהחוק הנ"ל נוסף:</a:t>
            </a:r>
          </a:p>
          <a:p>
            <a:pPr algn="l"/>
            <a:r>
              <a:rPr lang="en-US" dirty="0" err="1"/>
              <a:t>sudo</a:t>
            </a:r>
            <a:r>
              <a:rPr lang="en-US" dirty="0"/>
              <a:t> iptables -A FORWARD -p </a:t>
            </a:r>
            <a:r>
              <a:rPr lang="en-US" dirty="0" err="1"/>
              <a:t>tcp</a:t>
            </a:r>
            <a:r>
              <a:rPr lang="en-US" dirty="0"/>
              <a:t> --</a:t>
            </a:r>
            <a:r>
              <a:rPr lang="en-US" dirty="0" err="1"/>
              <a:t>dport</a:t>
            </a:r>
            <a:r>
              <a:rPr lang="en-US" dirty="0"/>
              <a:t> 80 -j ACCEPT</a:t>
            </a:r>
          </a:p>
          <a:p>
            <a:r>
              <a:rPr lang="he-IL" dirty="0"/>
              <a:t>כל </a:t>
            </a:r>
            <a:r>
              <a:rPr lang="he-IL" dirty="0" err="1"/>
              <a:t>פקטה</a:t>
            </a:r>
            <a:r>
              <a:rPr lang="he-IL" dirty="0"/>
              <a:t> של </a:t>
            </a:r>
            <a:r>
              <a:rPr lang="en-US" dirty="0"/>
              <a:t>HTTP</a:t>
            </a:r>
            <a:r>
              <a:rPr lang="he-IL" dirty="0"/>
              <a:t> (פורט 80) שתעבור דרך המחשב המקומי (הנתב) תאושר ותעבור הלאה ליעדה הסופי.</a:t>
            </a:r>
          </a:p>
          <a:p>
            <a:r>
              <a:rPr lang="he-IL" dirty="0"/>
              <a:t>דוגמה נוספת: חסימת תעבורה לכתובת </a:t>
            </a:r>
            <a:r>
              <a:rPr lang="en-US" dirty="0"/>
              <a:t>IP </a:t>
            </a:r>
            <a:r>
              <a:rPr lang="he-IL" dirty="0"/>
              <a:t> מסוימת: נניח שאתה רוצה לחסום את כל התעבורה שעוברת דרך הנתב לכתובת </a:t>
            </a:r>
            <a:r>
              <a:rPr lang="en-US" dirty="0"/>
              <a:t>IP </a:t>
            </a:r>
            <a:r>
              <a:rPr lang="he-IL" dirty="0"/>
              <a:t>מסוימת.</a:t>
            </a:r>
          </a:p>
          <a:p>
            <a:pPr algn="l"/>
            <a:r>
              <a:rPr lang="en-US" dirty="0" err="1"/>
              <a:t>sudo</a:t>
            </a:r>
            <a:r>
              <a:rPr lang="en-US" dirty="0"/>
              <a:t> iptables -A FORWARD -d 192.168.1.100 -j DROP</a:t>
            </a:r>
          </a:p>
          <a:p>
            <a:r>
              <a:rPr lang="he-IL" dirty="0"/>
              <a:t>סיכום: שרשרת </a:t>
            </a:r>
            <a:r>
              <a:rPr lang="en-US" dirty="0"/>
              <a:t> FORWARD</a:t>
            </a:r>
            <a:r>
              <a:rPr lang="he-IL" dirty="0"/>
              <a:t>היא חלק חשוב ב-</a:t>
            </a:r>
            <a:r>
              <a:rPr lang="en-US" dirty="0"/>
              <a:t>iptables </a:t>
            </a:r>
            <a:r>
              <a:rPr lang="he-IL" dirty="0"/>
              <a:t> כאשר המחשב פועל כנתב ומעביר תעבורה בין רשתות. הבנת שרשרת זו ואופן השימוש בה מאפשרת שליטה טובה יותר על תעבורה ברשת, דבר הכרחי לאבטחת רשתות בצורה יעילה.</a:t>
            </a:r>
          </a:p>
          <a:p>
            <a:endParaRPr lang="he-IL" dirty="0"/>
          </a:p>
          <a:p>
            <a:endParaRPr lang="he-IL" dirty="0"/>
          </a:p>
          <a:p>
            <a:pPr lvl="1"/>
            <a:endParaRPr lang="he-IL" dirty="0"/>
          </a:p>
          <a:p>
            <a:pPr lvl="1"/>
            <a:endParaRPr lang="he-IL" dirty="0"/>
          </a:p>
          <a:p>
            <a:pPr lvl="1"/>
            <a:endParaRPr lang="he-IL" dirty="0"/>
          </a:p>
          <a:p>
            <a:endParaRPr lang="he-IL" dirty="0"/>
          </a:p>
        </p:txBody>
      </p:sp>
    </p:spTree>
    <p:extLst>
      <p:ext uri="{BB962C8B-B14F-4D97-AF65-F5344CB8AC3E}">
        <p14:creationId xmlns:p14="http://schemas.microsoft.com/office/powerpoint/2010/main" val="33320451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0F319B8-4834-485F-B1A6-8B338C9F25F7}"/>
              </a:ext>
            </a:extLst>
          </p:cNvPr>
          <p:cNvSpPr>
            <a:spLocks noGrp="1"/>
          </p:cNvSpPr>
          <p:nvPr>
            <p:ph type="title"/>
          </p:nvPr>
        </p:nvSpPr>
        <p:spPr>
          <a:xfrm>
            <a:off x="6440556" y="642594"/>
            <a:ext cx="4684643" cy="1371600"/>
          </a:xfrm>
        </p:spPr>
        <p:txBody>
          <a:bodyPr/>
          <a:lstStyle/>
          <a:p>
            <a:r>
              <a:rPr lang="he-IL" dirty="0"/>
              <a:t>חומת אש בחומרה</a:t>
            </a:r>
          </a:p>
        </p:txBody>
      </p:sp>
      <p:sp>
        <p:nvSpPr>
          <p:cNvPr id="3" name="מציין מיקום תוכן 2">
            <a:extLst>
              <a:ext uri="{FF2B5EF4-FFF2-40B4-BE49-F238E27FC236}">
                <a16:creationId xmlns:a16="http://schemas.microsoft.com/office/drawing/2014/main" id="{D3A3519F-4AE7-4473-902A-F85BA331AA40}"/>
              </a:ext>
            </a:extLst>
          </p:cNvPr>
          <p:cNvSpPr>
            <a:spLocks noGrp="1"/>
          </p:cNvSpPr>
          <p:nvPr>
            <p:ph idx="1"/>
          </p:nvPr>
        </p:nvSpPr>
        <p:spPr/>
        <p:txBody>
          <a:bodyPr/>
          <a:lstStyle/>
          <a:p>
            <a:r>
              <a:rPr lang="he-IL" dirty="0"/>
              <a:t>פתיחה לחכמה: חומת אש בחומרה היא התקן פיזי שנמצא בין הרשת הפנימית</a:t>
            </a:r>
            <a:r>
              <a:rPr lang="en-US" dirty="0"/>
              <a:t>LAN </a:t>
            </a:r>
            <a:r>
              <a:rPr lang="he-IL" dirty="0"/>
              <a:t> לבין האינטרנט</a:t>
            </a:r>
            <a:r>
              <a:rPr lang="en-US" dirty="0"/>
              <a:t>WAN </a:t>
            </a:r>
            <a:r>
              <a:rPr lang="he-IL" dirty="0"/>
              <a:t>ומטרתו לספק הגנה נוספת על ידי סינון התעבורה שנכנסת ויוצאת מהרשת. חומות אש בחומרה נפוצות מאוד בארגונים גדולים וגם בבתים פרטיים, והן מציעות מספר יתרונות כמו ביצועים טובים יותר ואבטחה מוגברת.</a:t>
            </a:r>
          </a:p>
          <a:p>
            <a:r>
              <a:rPr lang="he-IL" b="1" dirty="0"/>
              <a:t>יתרונות חומת אש בחומרה:</a:t>
            </a:r>
          </a:p>
          <a:p>
            <a:r>
              <a:rPr lang="he-IL" dirty="0"/>
              <a:t>1. ביצועים גבוהים: חומות אש בחומרה מתוכננות במיוחד למטרת סינון תעבורה, ולכן הן יכולות לטפל בנפחי תעבורה גדולים מבלי להאט את הרשת.</a:t>
            </a:r>
          </a:p>
          <a:p>
            <a:r>
              <a:rPr lang="he-IL" dirty="0"/>
              <a:t>2. הפרדה פיזית: מאחר וחומת האש היא התקן נפרד, היא יכולה להציע אבטחה נוספת בכך שהיא מפרידה בין הרשת הפנימית לאינטרנט.</a:t>
            </a:r>
          </a:p>
          <a:p>
            <a:r>
              <a:rPr lang="he-IL" dirty="0"/>
              <a:t>3. קלות ניהול: חומות אש בחומרה בדרך כלל מגיעות עם ממשקי ניהול גרפיים ידידותיים למשתמש, המאפשרים להגדיר חוקים </a:t>
            </a:r>
            <a:r>
              <a:rPr lang="he-IL" dirty="0" err="1"/>
              <a:t>ולנטר</a:t>
            </a:r>
            <a:r>
              <a:rPr lang="he-IL" dirty="0"/>
              <a:t> את התעבורה בצורה פשוטה.</a:t>
            </a:r>
          </a:p>
          <a:p>
            <a:endParaRPr lang="he-IL" dirty="0"/>
          </a:p>
        </p:txBody>
      </p:sp>
    </p:spTree>
    <p:extLst>
      <p:ext uri="{BB962C8B-B14F-4D97-AF65-F5344CB8AC3E}">
        <p14:creationId xmlns:p14="http://schemas.microsoft.com/office/powerpoint/2010/main" val="5998993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B55CB27-6BB8-47B0-8579-CA682AA66975}"/>
              </a:ext>
            </a:extLst>
          </p:cNvPr>
          <p:cNvSpPr>
            <a:spLocks noGrp="1"/>
          </p:cNvSpPr>
          <p:nvPr>
            <p:ph type="title"/>
          </p:nvPr>
        </p:nvSpPr>
        <p:spPr>
          <a:xfrm>
            <a:off x="4224130" y="642594"/>
            <a:ext cx="6901070" cy="1371600"/>
          </a:xfrm>
        </p:spPr>
        <p:txBody>
          <a:bodyPr/>
          <a:lstStyle/>
          <a:p>
            <a:r>
              <a:rPr lang="he-IL" dirty="0"/>
              <a:t>המשך - חומת אש בחומרה:</a:t>
            </a:r>
          </a:p>
        </p:txBody>
      </p:sp>
      <p:sp>
        <p:nvSpPr>
          <p:cNvPr id="3" name="מציין מיקום תוכן 2">
            <a:extLst>
              <a:ext uri="{FF2B5EF4-FFF2-40B4-BE49-F238E27FC236}">
                <a16:creationId xmlns:a16="http://schemas.microsoft.com/office/drawing/2014/main" id="{7701172B-293F-4AFF-9B08-130B91A713B2}"/>
              </a:ext>
            </a:extLst>
          </p:cNvPr>
          <p:cNvSpPr>
            <a:spLocks noGrp="1"/>
          </p:cNvSpPr>
          <p:nvPr>
            <p:ph idx="1"/>
          </p:nvPr>
        </p:nvSpPr>
        <p:spPr/>
        <p:txBody>
          <a:bodyPr/>
          <a:lstStyle/>
          <a:p>
            <a:r>
              <a:rPr lang="he-IL" b="1" dirty="0"/>
              <a:t>דוגמאות לחומות אש בחומרה:</a:t>
            </a:r>
          </a:p>
          <a:p>
            <a:r>
              <a:rPr lang="en-US" b="1" dirty="0"/>
              <a:t> :Cisco ASA</a:t>
            </a:r>
            <a:r>
              <a:rPr lang="en-US" dirty="0"/>
              <a:t> </a:t>
            </a:r>
            <a:r>
              <a:rPr lang="he-IL" dirty="0"/>
              <a:t>מכשירי </a:t>
            </a:r>
            <a:r>
              <a:rPr lang="en-US" dirty="0"/>
              <a:t>Cisco ASA - Adaptive Security Appliance </a:t>
            </a:r>
            <a:r>
              <a:rPr lang="he-IL" dirty="0"/>
              <a:t> הם אחד הפתרונות הנפוצים ביותר בארגונים. הם מציעים יכולות מתקדמות כמו סינון מבוסס תוכן </a:t>
            </a:r>
            <a:r>
              <a:rPr lang="en-US" dirty="0"/>
              <a:t> VPN</a:t>
            </a:r>
            <a:r>
              <a:rPr lang="he-IL" dirty="0"/>
              <a:t>ומניעת חדירות.</a:t>
            </a:r>
          </a:p>
          <a:p>
            <a:r>
              <a:rPr lang="en-US" b="1" dirty="0"/>
              <a:t>:FortiGate</a:t>
            </a:r>
            <a:r>
              <a:rPr lang="he-IL" b="1" dirty="0"/>
              <a:t> </a:t>
            </a:r>
            <a:r>
              <a:rPr lang="he-IL" dirty="0"/>
              <a:t>מציעה חומות אש בעלות ביצועים גבוהים עם תכונות מתקדמות כמו סינון תוכן, מניעת חדירות, אנטי-וירוס, ו-</a:t>
            </a:r>
            <a:r>
              <a:rPr lang="en-US" dirty="0"/>
              <a:t>VPN </a:t>
            </a:r>
          </a:p>
          <a:p>
            <a:r>
              <a:rPr lang="en-US" b="1" dirty="0"/>
              <a:t>Palo Alto Networks</a:t>
            </a:r>
            <a:r>
              <a:rPr lang="he-IL" b="1" dirty="0"/>
              <a:t>:</a:t>
            </a:r>
            <a:r>
              <a:rPr lang="he-IL" dirty="0"/>
              <a:t> חומות אש של </a:t>
            </a:r>
            <a:r>
              <a:rPr lang="en-US" dirty="0"/>
              <a:t>Palo Alto</a:t>
            </a:r>
            <a:r>
              <a:rPr lang="he-IL" dirty="0"/>
              <a:t> מציעות יכולות מתקדמות כמו סינון יישומים, זיהוי תוכנות זדוניות, וסינון </a:t>
            </a:r>
            <a:r>
              <a:rPr lang="en-US" dirty="0"/>
              <a:t>URL</a:t>
            </a:r>
          </a:p>
          <a:p>
            <a:endParaRPr lang="he-IL" dirty="0"/>
          </a:p>
        </p:txBody>
      </p:sp>
    </p:spTree>
    <p:extLst>
      <p:ext uri="{BB962C8B-B14F-4D97-AF65-F5344CB8AC3E}">
        <p14:creationId xmlns:p14="http://schemas.microsoft.com/office/powerpoint/2010/main" val="36218264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5B8E946-5F65-4B35-A093-C2AC92EC5874}"/>
              </a:ext>
            </a:extLst>
          </p:cNvPr>
          <p:cNvSpPr>
            <a:spLocks noGrp="1"/>
          </p:cNvSpPr>
          <p:nvPr>
            <p:ph type="title"/>
          </p:nvPr>
        </p:nvSpPr>
        <p:spPr>
          <a:xfrm>
            <a:off x="4283764" y="642594"/>
            <a:ext cx="6841435" cy="1371600"/>
          </a:xfrm>
        </p:spPr>
        <p:txBody>
          <a:bodyPr/>
          <a:lstStyle/>
          <a:p>
            <a:r>
              <a:rPr lang="he-IL" dirty="0"/>
              <a:t>המשך - חומת אש בחומרה:</a:t>
            </a:r>
          </a:p>
        </p:txBody>
      </p:sp>
      <p:sp>
        <p:nvSpPr>
          <p:cNvPr id="3" name="מציין מיקום תוכן 2">
            <a:extLst>
              <a:ext uri="{FF2B5EF4-FFF2-40B4-BE49-F238E27FC236}">
                <a16:creationId xmlns:a16="http://schemas.microsoft.com/office/drawing/2014/main" id="{8358FEC5-5FAB-4431-A029-D5371A497DA1}"/>
              </a:ext>
            </a:extLst>
          </p:cNvPr>
          <p:cNvSpPr>
            <a:spLocks noGrp="1"/>
          </p:cNvSpPr>
          <p:nvPr>
            <p:ph idx="1"/>
          </p:nvPr>
        </p:nvSpPr>
        <p:spPr/>
        <p:txBody>
          <a:bodyPr/>
          <a:lstStyle/>
          <a:p>
            <a:r>
              <a:rPr lang="he-IL" b="1" dirty="0"/>
              <a:t>דוגמאות לשימושים:</a:t>
            </a:r>
          </a:p>
          <a:p>
            <a:r>
              <a:rPr lang="he-IL" dirty="0"/>
              <a:t>1. הגנה על רשת ארגונית: בארגונים, חומת האש בחומרה מגנה על הרשת הפנימית על ידי סינון תעבורה נכנסת ויוצאת, מניעת גישה לא מורשית, והגנה מפני איומים כמו וירוסים והתקפות מניעת שירות </a:t>
            </a:r>
            <a:r>
              <a:rPr lang="en-US" dirty="0"/>
              <a:t>DoS</a:t>
            </a:r>
          </a:p>
          <a:p>
            <a:r>
              <a:rPr lang="he-IL" dirty="0"/>
              <a:t>2. הגנה על רשת ביתית: גם בבתים פרטיים, חומת האש בחומרה (כמו נתבים עם יכולות חומת אש) מגנה על הרשת הביתית, מונעת גישה לא רצויה ומנטרת את התעבורה.</a:t>
            </a:r>
          </a:p>
          <a:p>
            <a:endParaRPr lang="he-IL" dirty="0"/>
          </a:p>
        </p:txBody>
      </p:sp>
    </p:spTree>
    <p:extLst>
      <p:ext uri="{BB962C8B-B14F-4D97-AF65-F5344CB8AC3E}">
        <p14:creationId xmlns:p14="http://schemas.microsoft.com/office/powerpoint/2010/main" val="17757086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2A81F51-D0DE-4B16-B124-F81A548884F6}"/>
              </a:ext>
            </a:extLst>
          </p:cNvPr>
          <p:cNvSpPr>
            <a:spLocks noGrp="1"/>
          </p:cNvSpPr>
          <p:nvPr>
            <p:ph type="title"/>
          </p:nvPr>
        </p:nvSpPr>
        <p:spPr>
          <a:xfrm>
            <a:off x="4263886" y="642594"/>
            <a:ext cx="6861313" cy="1371600"/>
          </a:xfrm>
        </p:spPr>
        <p:txBody>
          <a:bodyPr/>
          <a:lstStyle/>
          <a:p>
            <a:r>
              <a:rPr lang="he-IL" dirty="0"/>
              <a:t>המשך - חומת אש בחומרה:</a:t>
            </a:r>
          </a:p>
        </p:txBody>
      </p:sp>
      <p:sp>
        <p:nvSpPr>
          <p:cNvPr id="3" name="מציין מיקום תוכן 2">
            <a:extLst>
              <a:ext uri="{FF2B5EF4-FFF2-40B4-BE49-F238E27FC236}">
                <a16:creationId xmlns:a16="http://schemas.microsoft.com/office/drawing/2014/main" id="{269938DC-506C-4CF3-A213-D04C8749BD64}"/>
              </a:ext>
            </a:extLst>
          </p:cNvPr>
          <p:cNvSpPr>
            <a:spLocks noGrp="1"/>
          </p:cNvSpPr>
          <p:nvPr>
            <p:ph idx="1"/>
          </p:nvPr>
        </p:nvSpPr>
        <p:spPr>
          <a:xfrm>
            <a:off x="1066800" y="2679590"/>
            <a:ext cx="10058400" cy="1465027"/>
          </a:xfrm>
        </p:spPr>
        <p:txBody>
          <a:bodyPr/>
          <a:lstStyle/>
          <a:p>
            <a:r>
              <a:rPr lang="he-IL" b="1" dirty="0"/>
              <a:t>שאלה:</a:t>
            </a:r>
            <a:r>
              <a:rPr lang="he-IL" dirty="0"/>
              <a:t> מר לביא, מנהל רשת בחברת הייטק, שם לב כי בתקופה האחרונה החברה סובלת מהתקפות מניעת שירות</a:t>
            </a:r>
            <a:r>
              <a:rPr lang="en-US" dirty="0"/>
              <a:t> ,DoS </a:t>
            </a:r>
            <a:r>
              <a:rPr lang="he-IL" dirty="0"/>
              <a:t>איך הוא יכול להשתמש בחומת אש בחומרה כדי למנוע את ההתקפות הללו?</a:t>
            </a:r>
          </a:p>
          <a:p>
            <a:endParaRPr lang="he-IL" dirty="0"/>
          </a:p>
        </p:txBody>
      </p:sp>
    </p:spTree>
    <p:extLst>
      <p:ext uri="{BB962C8B-B14F-4D97-AF65-F5344CB8AC3E}">
        <p14:creationId xmlns:p14="http://schemas.microsoft.com/office/powerpoint/2010/main" val="5075599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5F648CA-1A7F-45BC-9882-A5E09FC58ABD}"/>
              </a:ext>
            </a:extLst>
          </p:cNvPr>
          <p:cNvSpPr>
            <a:spLocks noGrp="1"/>
          </p:cNvSpPr>
          <p:nvPr>
            <p:ph type="title"/>
          </p:nvPr>
        </p:nvSpPr>
        <p:spPr>
          <a:xfrm>
            <a:off x="4273826" y="642594"/>
            <a:ext cx="6851374" cy="1371600"/>
          </a:xfrm>
        </p:spPr>
        <p:txBody>
          <a:bodyPr/>
          <a:lstStyle/>
          <a:p>
            <a:r>
              <a:rPr lang="he-IL" dirty="0"/>
              <a:t>המשך - חומת אש בחומרה:</a:t>
            </a:r>
          </a:p>
        </p:txBody>
      </p:sp>
      <p:sp>
        <p:nvSpPr>
          <p:cNvPr id="3" name="מציין מיקום תוכן 2">
            <a:extLst>
              <a:ext uri="{FF2B5EF4-FFF2-40B4-BE49-F238E27FC236}">
                <a16:creationId xmlns:a16="http://schemas.microsoft.com/office/drawing/2014/main" id="{DB13D329-B176-4AF3-8845-C86B18A4C241}"/>
              </a:ext>
            </a:extLst>
          </p:cNvPr>
          <p:cNvSpPr>
            <a:spLocks noGrp="1"/>
          </p:cNvSpPr>
          <p:nvPr>
            <p:ph idx="1"/>
          </p:nvPr>
        </p:nvSpPr>
        <p:spPr/>
        <p:txBody>
          <a:bodyPr/>
          <a:lstStyle/>
          <a:p>
            <a:r>
              <a:rPr lang="he-IL" b="1" dirty="0"/>
              <a:t>תשובה:</a:t>
            </a:r>
            <a:r>
              <a:rPr lang="he-IL" dirty="0"/>
              <a:t> מר לביא יכול להגדיר חוקים בחומת האש בחומרה כדי לזהות תבניות של התקפות </a:t>
            </a:r>
            <a:r>
              <a:rPr lang="en-US" dirty="0"/>
              <a:t> Dos</a:t>
            </a:r>
            <a:r>
              <a:rPr lang="he-IL" dirty="0"/>
              <a:t>לחסום כתובות</a:t>
            </a:r>
            <a:r>
              <a:rPr lang="en-US" dirty="0"/>
              <a:t>IP </a:t>
            </a:r>
            <a:r>
              <a:rPr lang="he-IL" dirty="0"/>
              <a:t> חשודות, ולהגביל את כמות התעבורה הנכנסת כדי למנוע עומס יתר על השרתים של החברה. </a:t>
            </a:r>
          </a:p>
          <a:p>
            <a:r>
              <a:rPr lang="he-IL" dirty="0"/>
              <a:t>יוסף יכול גם להשתמש בתכונות מתקדמות כמו סינון מבוסס תוכן ומניעת חדירות</a:t>
            </a:r>
            <a:r>
              <a:rPr lang="en-US" dirty="0"/>
              <a:t> IPS </a:t>
            </a:r>
            <a:r>
              <a:rPr lang="he-IL" dirty="0"/>
              <a:t>שמציעה חומת האש כדי להגן על הרשת הפנימית מפני התקפות נוספות.</a:t>
            </a:r>
          </a:p>
        </p:txBody>
      </p:sp>
    </p:spTree>
    <p:extLst>
      <p:ext uri="{BB962C8B-B14F-4D97-AF65-F5344CB8AC3E}">
        <p14:creationId xmlns:p14="http://schemas.microsoft.com/office/powerpoint/2010/main" val="26466109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B06C889-FC04-4759-8300-D7D72A4D58B2}"/>
              </a:ext>
            </a:extLst>
          </p:cNvPr>
          <p:cNvSpPr>
            <a:spLocks noGrp="1"/>
          </p:cNvSpPr>
          <p:nvPr>
            <p:ph type="title"/>
          </p:nvPr>
        </p:nvSpPr>
        <p:spPr>
          <a:xfrm>
            <a:off x="4204252" y="245029"/>
            <a:ext cx="6920948" cy="1371600"/>
          </a:xfrm>
        </p:spPr>
        <p:txBody>
          <a:bodyPr/>
          <a:lstStyle/>
          <a:p>
            <a:r>
              <a:rPr lang="he-IL" dirty="0"/>
              <a:t>המשך - חומת אש בחומרה:</a:t>
            </a:r>
          </a:p>
        </p:txBody>
      </p:sp>
      <p:sp>
        <p:nvSpPr>
          <p:cNvPr id="3" name="מציין מיקום תוכן 2">
            <a:extLst>
              <a:ext uri="{FF2B5EF4-FFF2-40B4-BE49-F238E27FC236}">
                <a16:creationId xmlns:a16="http://schemas.microsoft.com/office/drawing/2014/main" id="{011BAC6C-532C-45D7-A297-DCC573DE84AE}"/>
              </a:ext>
            </a:extLst>
          </p:cNvPr>
          <p:cNvSpPr>
            <a:spLocks noGrp="1"/>
          </p:cNvSpPr>
          <p:nvPr>
            <p:ph idx="1"/>
          </p:nvPr>
        </p:nvSpPr>
        <p:spPr>
          <a:xfrm>
            <a:off x="1066800" y="1470991"/>
            <a:ext cx="10058400" cy="5141980"/>
          </a:xfrm>
        </p:spPr>
        <p:txBody>
          <a:bodyPr>
            <a:normAutofit/>
          </a:bodyPr>
          <a:lstStyle/>
          <a:p>
            <a:r>
              <a:rPr lang="he-IL" dirty="0"/>
              <a:t>חברת טכנולוגיה בינלאומית בשם </a:t>
            </a:r>
            <a:r>
              <a:rPr lang="en-US" dirty="0" err="1"/>
              <a:t>TechGlobal</a:t>
            </a:r>
            <a:r>
              <a:rPr lang="he-IL" dirty="0"/>
              <a:t> מתמודדת עם גידול משמעותי בניסיונות פריצה למערכת שלה. לאחרונה הם חוו מספר התקפות </a:t>
            </a:r>
            <a:r>
              <a:rPr lang="en-US" dirty="0"/>
              <a:t>DDoS </a:t>
            </a:r>
            <a:r>
              <a:rPr lang="he-IL" dirty="0"/>
              <a:t> שפגעו בזמינות השירותים שלהם ללקוחות ברחבי העולם. בעקבות כך, החברה החליטה להשקיע בחומת אש </a:t>
            </a:r>
            <a:r>
              <a:rPr lang="he-IL" dirty="0" err="1"/>
              <a:t>חומרתית</a:t>
            </a:r>
            <a:r>
              <a:rPr lang="he-IL" dirty="0"/>
              <a:t> מתקדמת שתסייע להגן על הרשת שלהם.</a:t>
            </a:r>
          </a:p>
          <a:p>
            <a:r>
              <a:rPr lang="he-IL" dirty="0"/>
              <a:t>המנהל הטכני של החברה, </a:t>
            </a:r>
            <a:r>
              <a:rPr lang="he-IL" dirty="0" err="1"/>
              <a:t>אוליאל</a:t>
            </a:r>
            <a:r>
              <a:rPr lang="he-IL" dirty="0"/>
              <a:t> מקבל את האחריות להגדיר את חומת האש החדשה ולשפר את האבטחה של הרשת. חומת האש </a:t>
            </a:r>
            <a:r>
              <a:rPr lang="he-IL" dirty="0" err="1"/>
              <a:t>החומרתית</a:t>
            </a:r>
            <a:r>
              <a:rPr lang="he-IL" dirty="0"/>
              <a:t> שבחרו היא </a:t>
            </a:r>
            <a:r>
              <a:rPr lang="en-US" dirty="0"/>
              <a:t>Fortinet FortiGate </a:t>
            </a:r>
            <a:r>
              <a:rPr lang="he-IL" dirty="0"/>
              <a:t> הידועה ביכולות המתקדמות שלה בסינון תעבורה ובמניעת חדירות </a:t>
            </a:r>
            <a:r>
              <a:rPr lang="en-US" dirty="0"/>
              <a:t>IPS</a:t>
            </a:r>
          </a:p>
          <a:p>
            <a:r>
              <a:rPr lang="he-IL" dirty="0" err="1"/>
              <a:t>אוליאל</a:t>
            </a:r>
            <a:r>
              <a:rPr lang="he-IL" dirty="0"/>
              <a:t> מבין שעליו להתמודד עם מספר סוגיות אבטחה:</a:t>
            </a:r>
          </a:p>
          <a:p>
            <a:r>
              <a:rPr lang="he-IL" dirty="0"/>
              <a:t>מניעת התקפות </a:t>
            </a:r>
            <a:r>
              <a:rPr lang="en-US" dirty="0"/>
              <a:t>DDoS </a:t>
            </a:r>
            <a:r>
              <a:rPr lang="he-IL" dirty="0"/>
              <a:t> על שרת ה-</a:t>
            </a:r>
            <a:r>
              <a:rPr lang="en-US" dirty="0"/>
              <a:t>Web </a:t>
            </a:r>
          </a:p>
          <a:p>
            <a:r>
              <a:rPr lang="he-IL" dirty="0"/>
              <a:t>הגבלת גישה לשרתים פנימיים למורשים בלבד.</a:t>
            </a:r>
          </a:p>
          <a:p>
            <a:r>
              <a:rPr lang="he-IL" dirty="0"/>
              <a:t>מעקב אחר תעבורה חשודה וניטור תקני על מנת לזהות פעולות זדוניות פוטנציאליות.</a:t>
            </a:r>
          </a:p>
          <a:p>
            <a:r>
              <a:rPr lang="he-IL" b="1" dirty="0"/>
              <a:t>שאלות:</a:t>
            </a:r>
            <a:endParaRPr lang="he-IL" dirty="0"/>
          </a:p>
          <a:p>
            <a:r>
              <a:rPr lang="he-IL" dirty="0"/>
              <a:t>1. מה הם השלבים </a:t>
            </a:r>
            <a:r>
              <a:rPr lang="he-IL" dirty="0" err="1"/>
              <a:t>שאוליאל</a:t>
            </a:r>
            <a:r>
              <a:rPr lang="he-IL" dirty="0"/>
              <a:t> צריך לנקוט בהם כדי להגדיר חוקים שימנעו התקפות </a:t>
            </a:r>
            <a:r>
              <a:rPr lang="en-US" dirty="0"/>
              <a:t>DDoS </a:t>
            </a:r>
            <a:r>
              <a:rPr lang="he-IL" dirty="0"/>
              <a:t> על שרת ה-</a:t>
            </a:r>
            <a:r>
              <a:rPr lang="en-US" dirty="0"/>
              <a:t>Web </a:t>
            </a:r>
            <a:r>
              <a:rPr lang="he-IL" dirty="0"/>
              <a:t>בעזרת חומת האש של </a:t>
            </a:r>
            <a:r>
              <a:rPr lang="en-US" dirty="0"/>
              <a:t>Fortinet FortiGate</a:t>
            </a:r>
            <a:r>
              <a:rPr lang="he-IL" dirty="0"/>
              <a:t>?</a:t>
            </a:r>
            <a:endParaRPr lang="en-US" dirty="0"/>
          </a:p>
          <a:p>
            <a:r>
              <a:rPr lang="he-IL" dirty="0"/>
              <a:t>2. כיצד </a:t>
            </a:r>
            <a:r>
              <a:rPr lang="he-IL" dirty="0" err="1"/>
              <a:t>אוליאל</a:t>
            </a:r>
            <a:r>
              <a:rPr lang="he-IL" dirty="0"/>
              <a:t> יכול להגדיר חוקים שיגבילו את הגישה לשרתים הפנימיים רק לכתובות </a:t>
            </a:r>
            <a:r>
              <a:rPr lang="en-US" dirty="0"/>
              <a:t>IP</a:t>
            </a:r>
            <a:r>
              <a:rPr lang="he-IL" dirty="0"/>
              <a:t> מורשות?</a:t>
            </a:r>
          </a:p>
          <a:p>
            <a:endParaRPr lang="he-IL" dirty="0"/>
          </a:p>
        </p:txBody>
      </p:sp>
    </p:spTree>
    <p:extLst>
      <p:ext uri="{BB962C8B-B14F-4D97-AF65-F5344CB8AC3E}">
        <p14:creationId xmlns:p14="http://schemas.microsoft.com/office/powerpoint/2010/main" val="33044312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E34EA23-F454-450A-B584-CC042F032C76}"/>
              </a:ext>
            </a:extLst>
          </p:cNvPr>
          <p:cNvSpPr>
            <a:spLocks noGrp="1"/>
          </p:cNvSpPr>
          <p:nvPr>
            <p:ph type="title"/>
          </p:nvPr>
        </p:nvSpPr>
        <p:spPr>
          <a:xfrm>
            <a:off x="4174435" y="298174"/>
            <a:ext cx="6950765" cy="1371600"/>
          </a:xfrm>
        </p:spPr>
        <p:txBody>
          <a:bodyPr/>
          <a:lstStyle/>
          <a:p>
            <a:r>
              <a:rPr lang="he-IL" dirty="0"/>
              <a:t>המשך - חומת אש בחומרה:</a:t>
            </a:r>
          </a:p>
        </p:txBody>
      </p:sp>
      <p:sp>
        <p:nvSpPr>
          <p:cNvPr id="3" name="מציין מיקום תוכן 2">
            <a:extLst>
              <a:ext uri="{FF2B5EF4-FFF2-40B4-BE49-F238E27FC236}">
                <a16:creationId xmlns:a16="http://schemas.microsoft.com/office/drawing/2014/main" id="{E404DB8D-89BD-4153-902E-85BBF4EB75A6}"/>
              </a:ext>
            </a:extLst>
          </p:cNvPr>
          <p:cNvSpPr>
            <a:spLocks noGrp="1"/>
          </p:cNvSpPr>
          <p:nvPr>
            <p:ph idx="1"/>
          </p:nvPr>
        </p:nvSpPr>
        <p:spPr>
          <a:xfrm>
            <a:off x="1066800" y="1500809"/>
            <a:ext cx="10058400" cy="5059017"/>
          </a:xfrm>
        </p:spPr>
        <p:txBody>
          <a:bodyPr>
            <a:normAutofit/>
          </a:bodyPr>
          <a:lstStyle/>
          <a:p>
            <a:r>
              <a:rPr lang="he-IL" b="1" dirty="0"/>
              <a:t>תשובה:</a:t>
            </a:r>
            <a:endParaRPr lang="he-IL" dirty="0"/>
          </a:p>
          <a:p>
            <a:r>
              <a:rPr lang="he-IL" b="1" dirty="0"/>
              <a:t>1. הגדרת חוקים למניעת התקפות </a:t>
            </a:r>
            <a:r>
              <a:rPr lang="en-US" b="1" dirty="0"/>
              <a:t>DDoS</a:t>
            </a:r>
            <a:r>
              <a:rPr lang="he-IL" b="1" dirty="0"/>
              <a:t>:</a:t>
            </a:r>
            <a:endParaRPr lang="en-US" dirty="0"/>
          </a:p>
          <a:p>
            <a:pPr lvl="1"/>
            <a:r>
              <a:rPr lang="he-IL" dirty="0" err="1"/>
              <a:t>אוליאל</a:t>
            </a:r>
            <a:r>
              <a:rPr lang="he-IL" dirty="0"/>
              <a:t> צריך לגשת לממשק הניהול של </a:t>
            </a:r>
            <a:r>
              <a:rPr lang="en-US" dirty="0"/>
              <a:t>FortiGate </a:t>
            </a:r>
            <a:r>
              <a:rPr lang="he-IL" dirty="0"/>
              <a:t> ולנווט לאזור של הגדרת חוקים </a:t>
            </a:r>
            <a:r>
              <a:rPr lang="en-US" dirty="0"/>
              <a:t>Firewall Policies</a:t>
            </a:r>
          </a:p>
          <a:p>
            <a:pPr lvl="1"/>
            <a:r>
              <a:rPr lang="he-IL" dirty="0"/>
              <a:t>הוא צריך ליצור </a:t>
            </a:r>
            <a:r>
              <a:rPr lang="he-IL" dirty="0" err="1"/>
              <a:t>פוליסי</a:t>
            </a:r>
            <a:r>
              <a:rPr lang="he-IL" dirty="0"/>
              <a:t> חדשה שתסנן את התעבורה הנכנסת לשרת ה-</a:t>
            </a:r>
            <a:r>
              <a:rPr lang="en-US" dirty="0"/>
              <a:t>Web </a:t>
            </a:r>
          </a:p>
          <a:p>
            <a:pPr lvl="1"/>
            <a:r>
              <a:rPr lang="he-IL" dirty="0"/>
              <a:t>במסגרת </a:t>
            </a:r>
            <a:r>
              <a:rPr lang="he-IL" dirty="0" err="1"/>
              <a:t>הפוליסי</a:t>
            </a:r>
            <a:r>
              <a:rPr lang="he-IL" dirty="0"/>
              <a:t>, הוא יכול להגדיר מגבלות על כמות החיבורים לפרק זמן נתון</a:t>
            </a:r>
            <a:r>
              <a:rPr lang="en-US" dirty="0"/>
              <a:t> Rate Limiting </a:t>
            </a:r>
            <a:r>
              <a:rPr lang="he-IL" dirty="0"/>
              <a:t>ולחסום תעבורה ממקורות חשודים או מגוונים שאינם רלוונטיים.</a:t>
            </a:r>
          </a:p>
          <a:p>
            <a:pPr lvl="1"/>
            <a:r>
              <a:rPr lang="he-IL" dirty="0"/>
              <a:t>ניתן להשתמש בפונקציות מתקדמות כמו </a:t>
            </a:r>
            <a:r>
              <a:rPr lang="en-US" dirty="0"/>
              <a:t>DoS Protection </a:t>
            </a:r>
            <a:r>
              <a:rPr lang="he-IL" dirty="0"/>
              <a:t> בתוך</a:t>
            </a:r>
            <a:r>
              <a:rPr lang="en-US" dirty="0"/>
              <a:t>FortiGate </a:t>
            </a:r>
            <a:r>
              <a:rPr lang="he-IL" dirty="0"/>
              <a:t> שמאפשרות להגדיר סינון ספציפי להתקפות </a:t>
            </a:r>
            <a:r>
              <a:rPr lang="en-US" dirty="0"/>
              <a:t>DDoS</a:t>
            </a:r>
          </a:p>
          <a:p>
            <a:r>
              <a:rPr lang="he-IL" b="1" dirty="0"/>
              <a:t>2. הגבלת גישה לשרתים פנימיים:</a:t>
            </a:r>
            <a:endParaRPr lang="he-IL" dirty="0"/>
          </a:p>
          <a:p>
            <a:pPr lvl="1"/>
            <a:r>
              <a:rPr lang="he-IL" dirty="0" err="1"/>
              <a:t>אוליאל</a:t>
            </a:r>
            <a:r>
              <a:rPr lang="he-IL" dirty="0"/>
              <a:t> יגדיר חוקים נוספים שיגבילו את הגישה לשרתים הפנימיים לכתובות </a:t>
            </a:r>
            <a:r>
              <a:rPr lang="en-US" dirty="0"/>
              <a:t>IP</a:t>
            </a:r>
            <a:r>
              <a:rPr lang="he-IL" dirty="0"/>
              <a:t> מורשות בלבד.</a:t>
            </a:r>
          </a:p>
          <a:p>
            <a:pPr lvl="1"/>
            <a:r>
              <a:rPr lang="he-IL" dirty="0"/>
              <a:t>הוא יכול להשתמש באובייקטים ברשת כדי להגדיר קבוצות של כתובות</a:t>
            </a:r>
            <a:r>
              <a:rPr lang="en-US" dirty="0"/>
              <a:t>IP </a:t>
            </a:r>
            <a:r>
              <a:rPr lang="he-IL" dirty="0"/>
              <a:t> מורשות ולאחר מכן ליישם </a:t>
            </a:r>
            <a:r>
              <a:rPr lang="he-IL" dirty="0" err="1"/>
              <a:t>פוליסי</a:t>
            </a:r>
            <a:r>
              <a:rPr lang="he-IL" dirty="0"/>
              <a:t> גישה שיאפשרו גישה לשרתים רק מאותן קבוצות.</a:t>
            </a:r>
          </a:p>
          <a:p>
            <a:pPr lvl="1"/>
            <a:r>
              <a:rPr lang="he-IL" dirty="0"/>
              <a:t>במסגרת הגדרת </a:t>
            </a:r>
            <a:r>
              <a:rPr lang="he-IL" dirty="0" err="1"/>
              <a:t>הפוליסי</a:t>
            </a:r>
            <a:r>
              <a:rPr lang="he-IL" dirty="0"/>
              <a:t>, יש לוודא שהגדרת ה-</a:t>
            </a:r>
            <a:r>
              <a:rPr lang="en-US" dirty="0"/>
              <a:t> Source IP </a:t>
            </a:r>
            <a:r>
              <a:rPr lang="he-IL" dirty="0"/>
              <a:t>כוללת רק את קבוצת ה-</a:t>
            </a:r>
            <a:r>
              <a:rPr lang="en-US" dirty="0"/>
              <a:t>IP </a:t>
            </a:r>
            <a:r>
              <a:rPr lang="he-IL" dirty="0"/>
              <a:t> המורשים, וה-</a:t>
            </a:r>
            <a:r>
              <a:rPr lang="en-US" dirty="0"/>
              <a:t>Destination IP </a:t>
            </a:r>
            <a:r>
              <a:rPr lang="he-IL" dirty="0"/>
              <a:t> מכוון לשרתים הפנימיים.</a:t>
            </a:r>
          </a:p>
          <a:p>
            <a:endParaRPr lang="he-IL" dirty="0"/>
          </a:p>
        </p:txBody>
      </p:sp>
    </p:spTree>
    <p:extLst>
      <p:ext uri="{BB962C8B-B14F-4D97-AF65-F5344CB8AC3E}">
        <p14:creationId xmlns:p14="http://schemas.microsoft.com/office/powerpoint/2010/main" val="30488871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10B4C55-9FEE-4626-89A4-85893E7D1380}"/>
              </a:ext>
            </a:extLst>
          </p:cNvPr>
          <p:cNvSpPr>
            <a:spLocks noGrp="1"/>
          </p:cNvSpPr>
          <p:nvPr>
            <p:ph type="title"/>
          </p:nvPr>
        </p:nvSpPr>
        <p:spPr>
          <a:xfrm>
            <a:off x="5357190" y="642594"/>
            <a:ext cx="5768009" cy="1371600"/>
          </a:xfrm>
        </p:spPr>
        <p:txBody>
          <a:bodyPr/>
          <a:lstStyle/>
          <a:p>
            <a:r>
              <a:rPr lang="he-IL" dirty="0"/>
              <a:t>חומת אש מבוססת ענן:</a:t>
            </a:r>
          </a:p>
        </p:txBody>
      </p:sp>
      <p:sp>
        <p:nvSpPr>
          <p:cNvPr id="3" name="מציין מיקום תוכן 2">
            <a:extLst>
              <a:ext uri="{FF2B5EF4-FFF2-40B4-BE49-F238E27FC236}">
                <a16:creationId xmlns:a16="http://schemas.microsoft.com/office/drawing/2014/main" id="{3A4352B4-D2C7-432F-9470-EAE53CCBB152}"/>
              </a:ext>
            </a:extLst>
          </p:cNvPr>
          <p:cNvSpPr>
            <a:spLocks noGrp="1"/>
          </p:cNvSpPr>
          <p:nvPr>
            <p:ph idx="1"/>
          </p:nvPr>
        </p:nvSpPr>
        <p:spPr/>
        <p:txBody>
          <a:bodyPr/>
          <a:lstStyle/>
          <a:p>
            <a:r>
              <a:rPr lang="he-IL" dirty="0"/>
              <a:t>פתיחה לחכמה: חומת אש מבוססת ענן היא שירות הממוקם בענן, שמגן על התעבורה הנכנסת והיוצאת ברשת הארגונית. היא מציעה יכולות הגנה מתקדמות, גמישות בניהול וקלות בפריסה, ומספקת מענה לצרכים הדינמיים של עסקים מודרניים.</a:t>
            </a:r>
          </a:p>
          <a:p>
            <a:r>
              <a:rPr lang="he-IL" dirty="0"/>
              <a:t>שאלה: מהי חומת אש מבוססת ענן?</a:t>
            </a:r>
          </a:p>
          <a:p>
            <a:r>
              <a:rPr lang="he-IL" dirty="0"/>
              <a:t>חומת אש מבוססת ענן היא מערכת אבטחת מידע הנמצאת במרכזי נתונים של ספקי ענן כמו </a:t>
            </a:r>
            <a:r>
              <a:rPr lang="en-US" dirty="0"/>
              <a:t>AWS, Azure </a:t>
            </a:r>
            <a:r>
              <a:rPr lang="he-IL" dirty="0"/>
              <a:t>ו-</a:t>
            </a:r>
            <a:r>
              <a:rPr lang="en-US" dirty="0"/>
              <a:t>Google Cloud Platform (GCP) </a:t>
            </a:r>
            <a:r>
              <a:rPr lang="he-IL" dirty="0"/>
              <a:t> היא משמשת להגן על נכסים ואפליקציות הממוקמים בענן או על תעבורה המגיעה מהאינטרנט ומועברת לארגון.</a:t>
            </a:r>
          </a:p>
          <a:p>
            <a:endParaRPr lang="he-IL" dirty="0"/>
          </a:p>
        </p:txBody>
      </p:sp>
    </p:spTree>
    <p:extLst>
      <p:ext uri="{BB962C8B-B14F-4D97-AF65-F5344CB8AC3E}">
        <p14:creationId xmlns:p14="http://schemas.microsoft.com/office/powerpoint/2010/main" val="3966285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21CF919-4989-472F-B121-E6E7E0E06B2C}"/>
              </a:ext>
            </a:extLst>
          </p:cNvPr>
          <p:cNvSpPr>
            <a:spLocks noGrp="1"/>
          </p:cNvSpPr>
          <p:nvPr>
            <p:ph type="title"/>
          </p:nvPr>
        </p:nvSpPr>
        <p:spPr>
          <a:xfrm>
            <a:off x="3130826" y="642594"/>
            <a:ext cx="7994374" cy="1371600"/>
          </a:xfrm>
        </p:spPr>
        <p:txBody>
          <a:bodyPr/>
          <a:lstStyle/>
          <a:p>
            <a:r>
              <a:rPr lang="he-IL" dirty="0"/>
              <a:t>המשך – חומת אש מבוססת ענן:</a:t>
            </a:r>
          </a:p>
        </p:txBody>
      </p:sp>
      <p:sp>
        <p:nvSpPr>
          <p:cNvPr id="3" name="מציין מיקום תוכן 2">
            <a:extLst>
              <a:ext uri="{FF2B5EF4-FFF2-40B4-BE49-F238E27FC236}">
                <a16:creationId xmlns:a16="http://schemas.microsoft.com/office/drawing/2014/main" id="{7BC05C61-0178-4105-8BFF-7A0E777379C6}"/>
              </a:ext>
            </a:extLst>
          </p:cNvPr>
          <p:cNvSpPr>
            <a:spLocks noGrp="1"/>
          </p:cNvSpPr>
          <p:nvPr>
            <p:ph idx="1"/>
          </p:nvPr>
        </p:nvSpPr>
        <p:spPr/>
        <p:txBody>
          <a:bodyPr/>
          <a:lstStyle/>
          <a:p>
            <a:r>
              <a:rPr lang="he-IL" b="1" dirty="0"/>
              <a:t>יתרונות חומת אש מבוססת ענן:</a:t>
            </a:r>
          </a:p>
          <a:p>
            <a:r>
              <a:rPr lang="he-IL" dirty="0"/>
              <a:t>1. </a:t>
            </a:r>
            <a:r>
              <a:rPr lang="he-IL" dirty="0" err="1"/>
              <a:t>סקלאביליות</a:t>
            </a:r>
            <a:r>
              <a:rPr lang="he-IL" dirty="0"/>
              <a:t> - ניתן להרחיב את ההגנה בקלות עם גדילת הארגון.</a:t>
            </a:r>
          </a:p>
          <a:p>
            <a:r>
              <a:rPr lang="he-IL" dirty="0"/>
              <a:t>2. ניהול מרכזי - ניהול חוקים ופוליסות ממקום מרכזי אחד.</a:t>
            </a:r>
          </a:p>
          <a:p>
            <a:r>
              <a:rPr lang="he-IL" dirty="0"/>
              <a:t>3. זמינות גבוהה - שירותים מבוססי ענן מציעים זמינות גבוהה והמשכיות עסקית.</a:t>
            </a:r>
          </a:p>
          <a:p>
            <a:r>
              <a:rPr lang="he-IL" dirty="0"/>
              <a:t>4. עדכונים אוטומטיים - ספקי שירות הענן מעדכנים את המערכת בעדכוני אבטחה וחתימות התקפה חדשות באופן אוטומטי.</a:t>
            </a:r>
          </a:p>
          <a:p>
            <a:endParaRPr lang="he-IL" dirty="0"/>
          </a:p>
        </p:txBody>
      </p:sp>
    </p:spTree>
    <p:extLst>
      <p:ext uri="{BB962C8B-B14F-4D97-AF65-F5344CB8AC3E}">
        <p14:creationId xmlns:p14="http://schemas.microsoft.com/office/powerpoint/2010/main" val="38893326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A55F0F8-5DC8-4FB0-9C79-ECD15C734CEA}"/>
              </a:ext>
            </a:extLst>
          </p:cNvPr>
          <p:cNvSpPr>
            <a:spLocks noGrp="1"/>
          </p:cNvSpPr>
          <p:nvPr>
            <p:ph type="title"/>
          </p:nvPr>
        </p:nvSpPr>
        <p:spPr>
          <a:xfrm>
            <a:off x="3170583" y="49696"/>
            <a:ext cx="7954617" cy="1371600"/>
          </a:xfrm>
        </p:spPr>
        <p:txBody>
          <a:bodyPr/>
          <a:lstStyle/>
          <a:p>
            <a:r>
              <a:rPr lang="he-IL" dirty="0"/>
              <a:t>המשך – חומת אש מבוססת ענן:</a:t>
            </a:r>
          </a:p>
        </p:txBody>
      </p:sp>
      <p:sp>
        <p:nvSpPr>
          <p:cNvPr id="3" name="מציין מיקום תוכן 2">
            <a:extLst>
              <a:ext uri="{FF2B5EF4-FFF2-40B4-BE49-F238E27FC236}">
                <a16:creationId xmlns:a16="http://schemas.microsoft.com/office/drawing/2014/main" id="{D5D7E7C0-FB16-4F72-81AD-E54407F9741D}"/>
              </a:ext>
            </a:extLst>
          </p:cNvPr>
          <p:cNvSpPr>
            <a:spLocks noGrp="1"/>
          </p:cNvSpPr>
          <p:nvPr>
            <p:ph idx="1"/>
          </p:nvPr>
        </p:nvSpPr>
        <p:spPr>
          <a:xfrm>
            <a:off x="1066800" y="1093304"/>
            <a:ext cx="10058400" cy="5456584"/>
          </a:xfrm>
        </p:spPr>
        <p:txBody>
          <a:bodyPr>
            <a:normAutofit/>
          </a:bodyPr>
          <a:lstStyle/>
          <a:p>
            <a:r>
              <a:rPr lang="he-IL" dirty="0"/>
              <a:t>חברת </a:t>
            </a:r>
            <a:r>
              <a:rPr lang="en-US" dirty="0" err="1"/>
              <a:t>TechSecure</a:t>
            </a:r>
            <a:r>
              <a:rPr lang="he-IL" dirty="0"/>
              <a:t> היא חברה המספקת שירותי תוכנה בענן. עם התרחבות החברה והגידול במספר הלקוחות, הוחלט לעבור להשתמש בחומת אש מבוססת ענן על מנת להגן על המידע הרגיש של הלקוחות ועל שירותי החברה מפני התקפות זדוניות.</a:t>
            </a:r>
          </a:p>
          <a:p>
            <a:r>
              <a:rPr lang="he-IL" b="1" dirty="0"/>
              <a:t>דוגמאות לשימוש בחומת אש מבוססת ענן</a:t>
            </a:r>
          </a:p>
          <a:p>
            <a:r>
              <a:rPr lang="en-US" b="1" dirty="0"/>
              <a:t>AWS Web Application Firewall (WAF)</a:t>
            </a:r>
            <a:endParaRPr lang="en-US" dirty="0"/>
          </a:p>
          <a:p>
            <a:pPr lvl="1"/>
            <a:r>
              <a:rPr lang="en-US" dirty="0"/>
              <a:t>AWS WAF </a:t>
            </a:r>
            <a:r>
              <a:rPr lang="he-IL" dirty="0"/>
              <a:t>הוא שירות של </a:t>
            </a:r>
            <a:r>
              <a:rPr lang="en-US" dirty="0"/>
              <a:t> Amazon Web Services</a:t>
            </a:r>
            <a:r>
              <a:rPr lang="he-IL" dirty="0"/>
              <a:t>שמספק הגנה על אפליקציות </a:t>
            </a:r>
            <a:r>
              <a:rPr lang="en-US" dirty="0"/>
              <a:t>Web</a:t>
            </a:r>
            <a:r>
              <a:rPr lang="he-IL" dirty="0"/>
              <a:t> מפני התקפות נפוצות כמו </a:t>
            </a:r>
            <a:r>
              <a:rPr lang="en-US" dirty="0"/>
              <a:t>SQL Injection </a:t>
            </a:r>
            <a:r>
              <a:rPr lang="he-IL" dirty="0"/>
              <a:t> ו-</a:t>
            </a:r>
            <a:r>
              <a:rPr lang="en-US" dirty="0"/>
              <a:t> XSS</a:t>
            </a:r>
          </a:p>
          <a:p>
            <a:pPr lvl="1"/>
            <a:r>
              <a:rPr lang="en-US" dirty="0"/>
              <a:t> </a:t>
            </a:r>
            <a:r>
              <a:rPr lang="en-US" dirty="0" err="1"/>
              <a:t>TechSecure</a:t>
            </a:r>
            <a:r>
              <a:rPr lang="en-US" dirty="0"/>
              <a:t> </a:t>
            </a:r>
            <a:r>
              <a:rPr lang="he-IL" dirty="0"/>
              <a:t>משתמשת ב-</a:t>
            </a:r>
            <a:r>
              <a:rPr lang="en-US" dirty="0"/>
              <a:t> AWS WAF </a:t>
            </a:r>
            <a:r>
              <a:rPr lang="he-IL" dirty="0"/>
              <a:t>כדי להגדיר חוקים שמגנים על האפליקציות שלה מפני התקפות זדוניות, כולל חוקים שמתעדכנים אוטומטית על ידי </a:t>
            </a:r>
            <a:r>
              <a:rPr lang="en-US" dirty="0"/>
              <a:t>AWS </a:t>
            </a:r>
            <a:r>
              <a:rPr lang="he-IL" dirty="0"/>
              <a:t> כדי להתמודד עם איומים חדשים.</a:t>
            </a:r>
          </a:p>
          <a:p>
            <a:r>
              <a:rPr lang="en-US" b="1" dirty="0"/>
              <a:t>Azure Firewall</a:t>
            </a:r>
            <a:endParaRPr lang="en-US" dirty="0"/>
          </a:p>
          <a:p>
            <a:pPr lvl="1"/>
            <a:r>
              <a:rPr lang="en-US" dirty="0"/>
              <a:t>Azure Firewall </a:t>
            </a:r>
            <a:r>
              <a:rPr lang="he-IL" dirty="0"/>
              <a:t> הוא שירות חומת אש מנוהל במלואו שמספק הגנה על משאבי </a:t>
            </a:r>
            <a:r>
              <a:rPr lang="en-US" dirty="0"/>
              <a:t>Azure</a:t>
            </a:r>
          </a:p>
          <a:p>
            <a:pPr lvl="1"/>
            <a:r>
              <a:rPr lang="en-US" dirty="0"/>
              <a:t> </a:t>
            </a:r>
            <a:r>
              <a:rPr lang="en-US" dirty="0" err="1"/>
              <a:t>TechSecure</a:t>
            </a:r>
            <a:r>
              <a:rPr lang="en-US" dirty="0"/>
              <a:t> </a:t>
            </a:r>
            <a:r>
              <a:rPr lang="he-IL" dirty="0"/>
              <a:t>משתמשת ב-</a:t>
            </a:r>
            <a:r>
              <a:rPr lang="en-US" dirty="0"/>
              <a:t>Azure Firewall </a:t>
            </a:r>
            <a:r>
              <a:rPr lang="he-IL" dirty="0"/>
              <a:t> כדי להגדיר חוקים שמגנים על התעבורה הנכנסת והיוצאת ברשת </a:t>
            </a:r>
            <a:r>
              <a:rPr lang="he-IL" dirty="0" err="1"/>
              <a:t>הוירטואלית</a:t>
            </a:r>
            <a:r>
              <a:rPr lang="he-IL" dirty="0"/>
              <a:t> שלהם ב-</a:t>
            </a:r>
            <a:r>
              <a:rPr lang="en-US" dirty="0"/>
              <a:t>Azure </a:t>
            </a:r>
            <a:r>
              <a:rPr lang="he-IL" dirty="0"/>
              <a:t> הם משתמשים בפוליסות להגבלת גישה לאפליקציות מסוימות רק למשתמשים מורשים.</a:t>
            </a:r>
          </a:p>
          <a:p>
            <a:r>
              <a:rPr lang="en-US" b="1" dirty="0"/>
              <a:t>Google Cloud Armor</a:t>
            </a:r>
            <a:endParaRPr lang="en-US" dirty="0"/>
          </a:p>
          <a:p>
            <a:pPr lvl="1"/>
            <a:r>
              <a:rPr lang="en-US" dirty="0"/>
              <a:t>Google Cloud Armor </a:t>
            </a:r>
            <a:r>
              <a:rPr lang="he-IL" dirty="0"/>
              <a:t> מספק הגנה מפני התקפות </a:t>
            </a:r>
            <a:r>
              <a:rPr lang="en-US" dirty="0"/>
              <a:t>DDoS </a:t>
            </a:r>
            <a:r>
              <a:rPr lang="he-IL" dirty="0"/>
              <a:t> והגנה על אפליקציות</a:t>
            </a:r>
            <a:r>
              <a:rPr lang="en-US" dirty="0"/>
              <a:t> Web </a:t>
            </a:r>
            <a:r>
              <a:rPr lang="he-IL" dirty="0"/>
              <a:t>מפני התקפות.</a:t>
            </a:r>
          </a:p>
          <a:p>
            <a:pPr lvl="1"/>
            <a:r>
              <a:rPr lang="en-US" dirty="0"/>
              <a:t> </a:t>
            </a:r>
            <a:r>
              <a:rPr lang="en-US" dirty="0" err="1"/>
              <a:t>TechSecure</a:t>
            </a:r>
            <a:r>
              <a:rPr lang="en-US" dirty="0"/>
              <a:t> </a:t>
            </a:r>
            <a:r>
              <a:rPr lang="he-IL" dirty="0"/>
              <a:t>משתמשת ב-</a:t>
            </a:r>
            <a:r>
              <a:rPr lang="en-US" dirty="0"/>
              <a:t> Google Cloud Armor </a:t>
            </a:r>
            <a:r>
              <a:rPr lang="he-IL" dirty="0"/>
              <a:t>כדי להגן על תשתית הענן שלה מפני התקפות</a:t>
            </a:r>
            <a:r>
              <a:rPr lang="en-US" dirty="0"/>
              <a:t>DDoS </a:t>
            </a:r>
            <a:r>
              <a:rPr lang="he-IL" dirty="0"/>
              <a:t> על ידי הגדרת כללים שמונעים נפח גדול של תעבורה חשודה.</a:t>
            </a:r>
          </a:p>
          <a:p>
            <a:endParaRPr lang="he-IL" dirty="0"/>
          </a:p>
        </p:txBody>
      </p:sp>
    </p:spTree>
    <p:extLst>
      <p:ext uri="{BB962C8B-B14F-4D97-AF65-F5344CB8AC3E}">
        <p14:creationId xmlns:p14="http://schemas.microsoft.com/office/powerpoint/2010/main" val="16887278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59CCA90-C511-4DAA-803B-3FCA2E290FF7}"/>
              </a:ext>
            </a:extLst>
          </p:cNvPr>
          <p:cNvSpPr>
            <a:spLocks noGrp="1"/>
          </p:cNvSpPr>
          <p:nvPr>
            <p:ph type="title"/>
          </p:nvPr>
        </p:nvSpPr>
        <p:spPr>
          <a:xfrm>
            <a:off x="3289852" y="642594"/>
            <a:ext cx="7835348" cy="1371600"/>
          </a:xfrm>
        </p:spPr>
        <p:txBody>
          <a:bodyPr/>
          <a:lstStyle/>
          <a:p>
            <a:r>
              <a:rPr lang="he-IL" dirty="0"/>
              <a:t>המשך – חומת אש מבוססת ענן:</a:t>
            </a:r>
          </a:p>
        </p:txBody>
      </p:sp>
      <p:sp>
        <p:nvSpPr>
          <p:cNvPr id="3" name="מציין מיקום תוכן 2">
            <a:extLst>
              <a:ext uri="{FF2B5EF4-FFF2-40B4-BE49-F238E27FC236}">
                <a16:creationId xmlns:a16="http://schemas.microsoft.com/office/drawing/2014/main" id="{33C19390-B0F9-434E-AF15-4DF4E77E8573}"/>
              </a:ext>
            </a:extLst>
          </p:cNvPr>
          <p:cNvSpPr>
            <a:spLocks noGrp="1"/>
          </p:cNvSpPr>
          <p:nvPr>
            <p:ph idx="1"/>
          </p:nvPr>
        </p:nvSpPr>
        <p:spPr/>
        <p:txBody>
          <a:bodyPr/>
          <a:lstStyle/>
          <a:p>
            <a:r>
              <a:rPr lang="he-IL" dirty="0"/>
              <a:t>שאלות:</a:t>
            </a:r>
          </a:p>
          <a:p>
            <a:r>
              <a:rPr lang="he-IL" dirty="0"/>
              <a:t>1. </a:t>
            </a:r>
            <a:r>
              <a:rPr lang="en-US" dirty="0" err="1"/>
              <a:t>TechSecure</a:t>
            </a:r>
            <a:r>
              <a:rPr lang="en-US" dirty="0"/>
              <a:t> </a:t>
            </a:r>
            <a:r>
              <a:rPr lang="he-IL" dirty="0"/>
              <a:t> חווה התקפות </a:t>
            </a:r>
            <a:r>
              <a:rPr lang="en-US" dirty="0"/>
              <a:t> SQL Injection </a:t>
            </a:r>
            <a:r>
              <a:rPr lang="he-IL" dirty="0"/>
              <a:t>על אחת מהאפליקציות שלה. כיצד הם יכולים להשתמש ב-</a:t>
            </a:r>
            <a:r>
              <a:rPr lang="en-US" dirty="0"/>
              <a:t> AWS WAF </a:t>
            </a:r>
            <a:r>
              <a:rPr lang="he-IL" dirty="0"/>
              <a:t>כדי למנוע התקפות אלו?</a:t>
            </a:r>
          </a:p>
          <a:p>
            <a:r>
              <a:rPr lang="he-IL" dirty="0"/>
              <a:t>2. </a:t>
            </a:r>
            <a:r>
              <a:rPr lang="en-US" dirty="0" err="1"/>
              <a:t>TechSecure</a:t>
            </a:r>
            <a:r>
              <a:rPr lang="en-US" dirty="0"/>
              <a:t> </a:t>
            </a:r>
            <a:r>
              <a:rPr lang="he-IL" dirty="0"/>
              <a:t> רוצה להבטיח שרק עובדים מורשים יוכלו לגשת לממשקי הניהול של האפליקציות בענן. כיצד ניתן להגדיר זאת ב-</a:t>
            </a:r>
            <a:r>
              <a:rPr lang="en-US" dirty="0"/>
              <a:t>Azure Firewall </a:t>
            </a:r>
            <a:r>
              <a:rPr lang="he-IL" dirty="0"/>
              <a:t>?</a:t>
            </a:r>
          </a:p>
        </p:txBody>
      </p:sp>
    </p:spTree>
    <p:extLst>
      <p:ext uri="{BB962C8B-B14F-4D97-AF65-F5344CB8AC3E}">
        <p14:creationId xmlns:p14="http://schemas.microsoft.com/office/powerpoint/2010/main" val="3359817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014E2C6-12D4-493C-9EA3-55A40D4E862F}"/>
              </a:ext>
            </a:extLst>
          </p:cNvPr>
          <p:cNvSpPr>
            <a:spLocks noGrp="1"/>
          </p:cNvSpPr>
          <p:nvPr>
            <p:ph type="title"/>
          </p:nvPr>
        </p:nvSpPr>
        <p:spPr>
          <a:xfrm>
            <a:off x="3250096" y="642594"/>
            <a:ext cx="7875104" cy="1371600"/>
          </a:xfrm>
        </p:spPr>
        <p:txBody>
          <a:bodyPr/>
          <a:lstStyle/>
          <a:p>
            <a:r>
              <a:rPr lang="he-IL" dirty="0"/>
              <a:t>המשך – חומת אש מבוססת ענן:</a:t>
            </a:r>
          </a:p>
        </p:txBody>
      </p:sp>
      <p:sp>
        <p:nvSpPr>
          <p:cNvPr id="3" name="מציין מיקום תוכן 2">
            <a:extLst>
              <a:ext uri="{FF2B5EF4-FFF2-40B4-BE49-F238E27FC236}">
                <a16:creationId xmlns:a16="http://schemas.microsoft.com/office/drawing/2014/main" id="{7C52666B-4E1A-4E43-9C3A-54BC66D64148}"/>
              </a:ext>
            </a:extLst>
          </p:cNvPr>
          <p:cNvSpPr>
            <a:spLocks noGrp="1"/>
          </p:cNvSpPr>
          <p:nvPr>
            <p:ph idx="1"/>
          </p:nvPr>
        </p:nvSpPr>
        <p:spPr/>
        <p:txBody>
          <a:bodyPr/>
          <a:lstStyle/>
          <a:p>
            <a:r>
              <a:rPr lang="he-IL" dirty="0"/>
              <a:t>תשובות:</a:t>
            </a:r>
          </a:p>
          <a:p>
            <a:r>
              <a:rPr lang="he-IL" dirty="0"/>
              <a:t>1. הם יכולים להגדיר חוק ב-</a:t>
            </a:r>
            <a:r>
              <a:rPr lang="en-US" dirty="0"/>
              <a:t>AWS WAF </a:t>
            </a:r>
            <a:r>
              <a:rPr lang="he-IL" dirty="0"/>
              <a:t> שמזהה ומונע ניסיונות </a:t>
            </a:r>
            <a:r>
              <a:rPr lang="en-US" dirty="0"/>
              <a:t> SQL Injection</a:t>
            </a:r>
            <a:r>
              <a:rPr lang="he-IL" dirty="0"/>
              <a:t>הם יכולים להשתמש בפרופיל מוכן של </a:t>
            </a:r>
            <a:r>
              <a:rPr lang="en-US" dirty="0"/>
              <a:t>AWS</a:t>
            </a:r>
            <a:r>
              <a:rPr lang="he-IL" dirty="0"/>
              <a:t> שמזהה חתימות של התקפות</a:t>
            </a:r>
            <a:r>
              <a:rPr lang="en-US" dirty="0"/>
              <a:t>SQL Injection </a:t>
            </a:r>
            <a:r>
              <a:rPr lang="he-IL" dirty="0"/>
              <a:t> וליישם אותו על האפליקציה שלהם.</a:t>
            </a:r>
          </a:p>
          <a:p>
            <a:endParaRPr lang="he-IL" dirty="0"/>
          </a:p>
          <a:p>
            <a:r>
              <a:rPr lang="he-IL" dirty="0"/>
              <a:t>2. ניתן להגדיר חוק ב-</a:t>
            </a:r>
            <a:r>
              <a:rPr lang="en-US" dirty="0"/>
              <a:t> Azure Firewall </a:t>
            </a:r>
            <a:r>
              <a:rPr lang="he-IL" dirty="0"/>
              <a:t>שמגביל את הגישה לממשקי הניהול לכתובות </a:t>
            </a:r>
            <a:r>
              <a:rPr lang="en-US" dirty="0"/>
              <a:t> IP</a:t>
            </a:r>
            <a:r>
              <a:rPr lang="he-IL" dirty="0"/>
              <a:t>מסוימות בלבד, כך שרק כתובות ה-</a:t>
            </a:r>
            <a:r>
              <a:rPr lang="en-US" dirty="0"/>
              <a:t>IP </a:t>
            </a:r>
            <a:r>
              <a:rPr lang="he-IL" dirty="0"/>
              <a:t> של העובדים המורשים יוכלו לגשת.</a:t>
            </a:r>
          </a:p>
        </p:txBody>
      </p:sp>
    </p:spTree>
    <p:extLst>
      <p:ext uri="{BB962C8B-B14F-4D97-AF65-F5344CB8AC3E}">
        <p14:creationId xmlns:p14="http://schemas.microsoft.com/office/powerpoint/2010/main" val="34662355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1DCE297-D6D2-4D6E-B2A2-E51B22886E2F}"/>
              </a:ext>
            </a:extLst>
          </p:cNvPr>
          <p:cNvSpPr>
            <a:spLocks noGrp="1"/>
          </p:cNvSpPr>
          <p:nvPr>
            <p:ph type="title"/>
          </p:nvPr>
        </p:nvSpPr>
        <p:spPr>
          <a:xfrm>
            <a:off x="1066801" y="642594"/>
            <a:ext cx="9339469" cy="1371600"/>
          </a:xfrm>
        </p:spPr>
        <p:txBody>
          <a:bodyPr>
            <a:normAutofit fontScale="90000"/>
          </a:bodyPr>
          <a:lstStyle/>
          <a:p>
            <a:r>
              <a:rPr lang="en-US" dirty="0"/>
              <a:t>IDS - Intrusion Detection System</a:t>
            </a:r>
            <a:endParaRPr lang="he-IL" dirty="0"/>
          </a:p>
        </p:txBody>
      </p:sp>
      <p:sp>
        <p:nvSpPr>
          <p:cNvPr id="3" name="מציין מיקום תוכן 2">
            <a:extLst>
              <a:ext uri="{FF2B5EF4-FFF2-40B4-BE49-F238E27FC236}">
                <a16:creationId xmlns:a16="http://schemas.microsoft.com/office/drawing/2014/main" id="{E4BC85FD-6489-400D-88A2-8EA999361FB0}"/>
              </a:ext>
            </a:extLst>
          </p:cNvPr>
          <p:cNvSpPr>
            <a:spLocks noGrp="1"/>
          </p:cNvSpPr>
          <p:nvPr>
            <p:ph idx="1"/>
          </p:nvPr>
        </p:nvSpPr>
        <p:spPr/>
        <p:txBody>
          <a:bodyPr/>
          <a:lstStyle/>
          <a:p>
            <a:r>
              <a:rPr lang="he-IL" dirty="0"/>
              <a:t>פתיחה לחכמה:</a:t>
            </a:r>
            <a:r>
              <a:rPr lang="en-US" dirty="0"/>
              <a:t>IDS (Intrusion Detection System) </a:t>
            </a:r>
            <a:r>
              <a:rPr lang="he-IL" dirty="0"/>
              <a:t> הוא מערכת לזיהוי חדירות. מדובר בתוכנה או בחומרה שנועדה לזהות פעילות לא רגילה או מזיקה ברשת מחשבים או במערכת מחשוב. המטרה העיקרית של </a:t>
            </a:r>
            <a:r>
              <a:rPr lang="en-US" dirty="0"/>
              <a:t> IDS</a:t>
            </a:r>
            <a:r>
              <a:rPr lang="he-IL" dirty="0"/>
              <a:t>היא לזהות ניסיונות של פריצות או התקפות בזמן אמת ולהתריע עליהם לפני שיגרמו נזק.</a:t>
            </a:r>
          </a:p>
          <a:p>
            <a:r>
              <a:rPr lang="he-IL" b="1" dirty="0"/>
              <a:t>סוגי </a:t>
            </a:r>
            <a:r>
              <a:rPr lang="en-US" b="1" dirty="0"/>
              <a:t>IDS</a:t>
            </a:r>
          </a:p>
          <a:p>
            <a:r>
              <a:rPr lang="en-US" dirty="0"/>
              <a:t>IDS </a:t>
            </a:r>
            <a:r>
              <a:rPr lang="he-IL" dirty="0"/>
              <a:t> מבוסס תוכנה: פועל על מחשב או שרת </a:t>
            </a:r>
            <a:r>
              <a:rPr lang="he-IL" dirty="0" err="1"/>
              <a:t>ומנטר</a:t>
            </a:r>
            <a:r>
              <a:rPr lang="he-IL" dirty="0"/>
              <a:t> את כל התעבורה והפעולות המתרחשות על המחשב.</a:t>
            </a:r>
          </a:p>
          <a:p>
            <a:r>
              <a:rPr lang="en-US" dirty="0"/>
              <a:t>IDS </a:t>
            </a:r>
            <a:r>
              <a:rPr lang="he-IL" dirty="0"/>
              <a:t> מבוסס חומרה: רכיב פיזי המותקן ברשת ומבצע ניטור של התעבורה ברשת.</a:t>
            </a:r>
          </a:p>
          <a:p>
            <a:endParaRPr lang="he-IL" dirty="0"/>
          </a:p>
        </p:txBody>
      </p:sp>
    </p:spTree>
    <p:extLst>
      <p:ext uri="{BB962C8B-B14F-4D97-AF65-F5344CB8AC3E}">
        <p14:creationId xmlns:p14="http://schemas.microsoft.com/office/powerpoint/2010/main" val="4060871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0362FFC-9B63-461F-81A4-3CA724C23E04}"/>
              </a:ext>
            </a:extLst>
          </p:cNvPr>
          <p:cNvSpPr>
            <a:spLocks noGrp="1"/>
          </p:cNvSpPr>
          <p:nvPr>
            <p:ph type="title"/>
          </p:nvPr>
        </p:nvSpPr>
        <p:spPr>
          <a:xfrm>
            <a:off x="7931426" y="642594"/>
            <a:ext cx="3193774" cy="1371600"/>
          </a:xfrm>
        </p:spPr>
        <p:txBody>
          <a:bodyPr/>
          <a:lstStyle/>
          <a:p>
            <a:r>
              <a:rPr lang="he-IL" dirty="0"/>
              <a:t>המשך - </a:t>
            </a:r>
            <a:r>
              <a:rPr lang="en-US" dirty="0"/>
              <a:t>IDS</a:t>
            </a:r>
            <a:endParaRPr lang="he-IL" dirty="0"/>
          </a:p>
        </p:txBody>
      </p:sp>
      <p:sp>
        <p:nvSpPr>
          <p:cNvPr id="3" name="מציין מיקום תוכן 2">
            <a:extLst>
              <a:ext uri="{FF2B5EF4-FFF2-40B4-BE49-F238E27FC236}">
                <a16:creationId xmlns:a16="http://schemas.microsoft.com/office/drawing/2014/main" id="{C26BA3DD-C124-43E9-AAD6-4E59666ADCAD}"/>
              </a:ext>
            </a:extLst>
          </p:cNvPr>
          <p:cNvSpPr>
            <a:spLocks noGrp="1"/>
          </p:cNvSpPr>
          <p:nvPr>
            <p:ph idx="1"/>
          </p:nvPr>
        </p:nvSpPr>
        <p:spPr/>
        <p:txBody>
          <a:bodyPr/>
          <a:lstStyle/>
          <a:p>
            <a:r>
              <a:rPr lang="he-IL" b="1" dirty="0"/>
              <a:t>איך </a:t>
            </a:r>
            <a:r>
              <a:rPr lang="en-US" b="1" dirty="0"/>
              <a:t> IDS</a:t>
            </a:r>
            <a:r>
              <a:rPr lang="he-IL" b="1" dirty="0"/>
              <a:t>עובד?</a:t>
            </a:r>
          </a:p>
          <a:p>
            <a:r>
              <a:rPr lang="he-IL" dirty="0"/>
              <a:t>1. אסיפת נתונים:</a:t>
            </a:r>
            <a:r>
              <a:rPr lang="en-US" dirty="0"/>
              <a:t>  </a:t>
            </a:r>
            <a:r>
              <a:rPr lang="he-IL" dirty="0"/>
              <a:t>אוסף נתונים אודות התעבורה ברשת, קבצים, יומני מערכת </a:t>
            </a:r>
            <a:r>
              <a:rPr lang="he-IL" dirty="0" err="1"/>
              <a:t>וכו</a:t>
            </a:r>
            <a:r>
              <a:rPr lang="he-IL" dirty="0"/>
              <a:t>'.</a:t>
            </a:r>
          </a:p>
          <a:p>
            <a:r>
              <a:rPr lang="he-IL" dirty="0"/>
              <a:t>2. ניתוח נתונים:</a:t>
            </a:r>
            <a:r>
              <a:rPr lang="en-US" dirty="0"/>
              <a:t> </a:t>
            </a:r>
            <a:r>
              <a:rPr lang="he-IL" dirty="0"/>
              <a:t>המערכת משווה את הנתונים שנאספו למידע מאגרי תבניות של התקפות ידועות או לחוקים שנקבעו מראש.</a:t>
            </a:r>
          </a:p>
          <a:p>
            <a:r>
              <a:rPr lang="he-IL" dirty="0"/>
              <a:t>3. זיהוי והתרעה:</a:t>
            </a:r>
            <a:r>
              <a:rPr lang="en-US" dirty="0"/>
              <a:t> </a:t>
            </a:r>
            <a:r>
              <a:rPr lang="he-IL" dirty="0"/>
              <a:t>אם המערכת מזהה פעילות לא רגילה או עמידה באותם קריטריונים של התקפות, היא שולחת התרעה למנהל המערכת.</a:t>
            </a:r>
          </a:p>
          <a:p>
            <a:r>
              <a:rPr lang="he-IL" dirty="0"/>
              <a:t>4. תגובה:</a:t>
            </a:r>
            <a:r>
              <a:rPr lang="en-US" dirty="0"/>
              <a:t> </a:t>
            </a:r>
            <a:r>
              <a:rPr lang="he-IL" dirty="0"/>
              <a:t>חלק מהמערכות כוללות גם אפשרות לפעול בצורה אוטומטית להגיב להתקפות, כמו חסימת כתובת </a:t>
            </a:r>
            <a:r>
              <a:rPr lang="en-US" dirty="0"/>
              <a:t>IP</a:t>
            </a:r>
            <a:r>
              <a:rPr lang="he-IL" dirty="0"/>
              <a:t> חשודה.</a:t>
            </a:r>
          </a:p>
          <a:p>
            <a:endParaRPr lang="he-IL" dirty="0"/>
          </a:p>
        </p:txBody>
      </p:sp>
    </p:spTree>
    <p:extLst>
      <p:ext uri="{BB962C8B-B14F-4D97-AF65-F5344CB8AC3E}">
        <p14:creationId xmlns:p14="http://schemas.microsoft.com/office/powerpoint/2010/main" val="26672531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40105F7-67AD-46CF-9A24-38FD131866EE}"/>
              </a:ext>
            </a:extLst>
          </p:cNvPr>
          <p:cNvSpPr>
            <a:spLocks noGrp="1"/>
          </p:cNvSpPr>
          <p:nvPr>
            <p:ph type="title"/>
          </p:nvPr>
        </p:nvSpPr>
        <p:spPr>
          <a:xfrm>
            <a:off x="7802216" y="642594"/>
            <a:ext cx="3322983" cy="1371600"/>
          </a:xfrm>
        </p:spPr>
        <p:txBody>
          <a:bodyPr/>
          <a:lstStyle/>
          <a:p>
            <a:r>
              <a:rPr lang="he-IL" dirty="0"/>
              <a:t>המשך - </a:t>
            </a:r>
            <a:r>
              <a:rPr lang="en-US" dirty="0"/>
              <a:t>IDS</a:t>
            </a:r>
            <a:endParaRPr lang="he-IL" dirty="0"/>
          </a:p>
        </p:txBody>
      </p:sp>
      <p:sp>
        <p:nvSpPr>
          <p:cNvPr id="3" name="מציין מיקום תוכן 2">
            <a:extLst>
              <a:ext uri="{FF2B5EF4-FFF2-40B4-BE49-F238E27FC236}">
                <a16:creationId xmlns:a16="http://schemas.microsoft.com/office/drawing/2014/main" id="{F5B05F24-356C-4CF0-90B5-4B9642448A6E}"/>
              </a:ext>
            </a:extLst>
          </p:cNvPr>
          <p:cNvSpPr>
            <a:spLocks noGrp="1"/>
          </p:cNvSpPr>
          <p:nvPr>
            <p:ph idx="1"/>
          </p:nvPr>
        </p:nvSpPr>
        <p:spPr/>
        <p:txBody>
          <a:bodyPr/>
          <a:lstStyle/>
          <a:p>
            <a:r>
              <a:rPr lang="he-IL" b="1" dirty="0"/>
              <a:t>דוגמאות למתקפות ש-</a:t>
            </a:r>
            <a:r>
              <a:rPr lang="en-US" b="1" dirty="0"/>
              <a:t> IDS </a:t>
            </a:r>
            <a:r>
              <a:rPr lang="he-IL" b="1" dirty="0"/>
              <a:t>יכול לזהות:</a:t>
            </a:r>
          </a:p>
          <a:p>
            <a:r>
              <a:rPr lang="he-IL" dirty="0"/>
              <a:t>סיסמת גניבה </a:t>
            </a:r>
            <a:r>
              <a:rPr lang="en-US" dirty="0"/>
              <a:t>Password Guessing</a:t>
            </a:r>
            <a:r>
              <a:rPr lang="he-IL" dirty="0"/>
              <a:t>: ניסיון לפרוץ לחשבון על ידי ניחוש סיסמאות רבות במהירות גבוהה. וגם</a:t>
            </a:r>
            <a:r>
              <a:rPr lang="en-US" dirty="0"/>
              <a:t> </a:t>
            </a:r>
            <a:r>
              <a:rPr lang="he-IL" dirty="0"/>
              <a:t>יכול לזהות התנהגות זו על ידי ניתוח של ניסיונות התחברות כושלים רבים.</a:t>
            </a:r>
          </a:p>
          <a:p>
            <a:r>
              <a:rPr lang="he-IL" dirty="0"/>
              <a:t>התקפת מניעת שירות </a:t>
            </a:r>
            <a:r>
              <a:rPr lang="en-US" dirty="0"/>
              <a:t> :Dos</a:t>
            </a:r>
            <a:r>
              <a:rPr lang="he-IL" dirty="0"/>
              <a:t>ניסיון להציף את השרת בבקשות רבות במטרה להכביד עליו. ובנוסף</a:t>
            </a:r>
            <a:r>
              <a:rPr lang="en-US" dirty="0"/>
              <a:t> </a:t>
            </a:r>
            <a:r>
              <a:rPr lang="he-IL" dirty="0"/>
              <a:t>יכול לזהות אם ישנה עלייה חריגה בכמות הבקשות לשרת.</a:t>
            </a:r>
          </a:p>
          <a:p>
            <a:endParaRPr lang="he-IL" dirty="0"/>
          </a:p>
        </p:txBody>
      </p:sp>
    </p:spTree>
    <p:extLst>
      <p:ext uri="{BB962C8B-B14F-4D97-AF65-F5344CB8AC3E}">
        <p14:creationId xmlns:p14="http://schemas.microsoft.com/office/powerpoint/2010/main" val="19293164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223ACFB-C7BA-4375-8BF7-59B62232EA70}"/>
              </a:ext>
            </a:extLst>
          </p:cNvPr>
          <p:cNvSpPr>
            <a:spLocks noGrp="1"/>
          </p:cNvSpPr>
          <p:nvPr>
            <p:ph type="title"/>
          </p:nvPr>
        </p:nvSpPr>
        <p:spPr>
          <a:xfrm>
            <a:off x="7851912" y="642594"/>
            <a:ext cx="3273287" cy="1371600"/>
          </a:xfrm>
        </p:spPr>
        <p:txBody>
          <a:bodyPr/>
          <a:lstStyle/>
          <a:p>
            <a:r>
              <a:rPr lang="he-IL" dirty="0"/>
              <a:t>המשך - </a:t>
            </a:r>
            <a:r>
              <a:rPr lang="en-US" dirty="0"/>
              <a:t>IDS</a:t>
            </a:r>
            <a:endParaRPr lang="he-IL" dirty="0"/>
          </a:p>
        </p:txBody>
      </p:sp>
      <p:sp>
        <p:nvSpPr>
          <p:cNvPr id="3" name="מציין מיקום תוכן 2">
            <a:extLst>
              <a:ext uri="{FF2B5EF4-FFF2-40B4-BE49-F238E27FC236}">
                <a16:creationId xmlns:a16="http://schemas.microsoft.com/office/drawing/2014/main" id="{518C1BE5-A501-4EB9-957A-CF6D995E7E5B}"/>
              </a:ext>
            </a:extLst>
          </p:cNvPr>
          <p:cNvSpPr>
            <a:spLocks noGrp="1"/>
          </p:cNvSpPr>
          <p:nvPr>
            <p:ph idx="1"/>
          </p:nvPr>
        </p:nvSpPr>
        <p:spPr/>
        <p:txBody>
          <a:bodyPr/>
          <a:lstStyle/>
          <a:p>
            <a:r>
              <a:rPr lang="he-IL" dirty="0"/>
              <a:t>דוגמה להמחשה: </a:t>
            </a:r>
          </a:p>
          <a:p>
            <a:r>
              <a:rPr lang="he-IL" dirty="0"/>
              <a:t>נניח שיש לך חנות באינטרנט, ואתה משתמש במערכת </a:t>
            </a:r>
            <a:r>
              <a:rPr lang="en-US" dirty="0"/>
              <a:t>IDS</a:t>
            </a:r>
            <a:r>
              <a:rPr lang="he-IL" dirty="0"/>
              <a:t> כדי להגן על האתר שלך. יום אחד, המערכת מזהה כמות גדולה מאוד של ניסיונות התחברות לא מצליחים לחשבון מנהל המערכת. </a:t>
            </a:r>
            <a:r>
              <a:rPr lang="en-US" dirty="0"/>
              <a:t>IDS</a:t>
            </a:r>
            <a:r>
              <a:rPr lang="he-IL" dirty="0"/>
              <a:t> שולח לך התראה, ואתה מגלה שמישהו מנסה לפרוץ לחשבון שלך. בזכות ההתראה המוקדמת, אתה מצליח להפעיל אמצעי אבטחה נוספים ולעצור את ההתקפה לפני שהיא גורמת לנזק.</a:t>
            </a:r>
          </a:p>
        </p:txBody>
      </p:sp>
    </p:spTree>
    <p:extLst>
      <p:ext uri="{BB962C8B-B14F-4D97-AF65-F5344CB8AC3E}">
        <p14:creationId xmlns:p14="http://schemas.microsoft.com/office/powerpoint/2010/main" val="39089623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11D095C-94C2-4F64-8166-375494F67EA7}"/>
              </a:ext>
            </a:extLst>
          </p:cNvPr>
          <p:cNvSpPr>
            <a:spLocks noGrp="1"/>
          </p:cNvSpPr>
          <p:nvPr>
            <p:ph type="title"/>
          </p:nvPr>
        </p:nvSpPr>
        <p:spPr>
          <a:xfrm>
            <a:off x="7921486" y="642594"/>
            <a:ext cx="3203713" cy="1371600"/>
          </a:xfrm>
        </p:spPr>
        <p:txBody>
          <a:bodyPr/>
          <a:lstStyle/>
          <a:p>
            <a:r>
              <a:rPr lang="he-IL" dirty="0"/>
              <a:t>המשך - </a:t>
            </a:r>
            <a:r>
              <a:rPr lang="en-US" dirty="0"/>
              <a:t>IDS</a:t>
            </a:r>
            <a:endParaRPr lang="he-IL" dirty="0"/>
          </a:p>
        </p:txBody>
      </p:sp>
      <p:sp>
        <p:nvSpPr>
          <p:cNvPr id="3" name="מציין מיקום תוכן 2">
            <a:extLst>
              <a:ext uri="{FF2B5EF4-FFF2-40B4-BE49-F238E27FC236}">
                <a16:creationId xmlns:a16="http://schemas.microsoft.com/office/drawing/2014/main" id="{104A5B25-381F-4D58-B042-365A2475FBCC}"/>
              </a:ext>
            </a:extLst>
          </p:cNvPr>
          <p:cNvSpPr>
            <a:spLocks noGrp="1"/>
          </p:cNvSpPr>
          <p:nvPr>
            <p:ph idx="1"/>
          </p:nvPr>
        </p:nvSpPr>
        <p:spPr/>
        <p:txBody>
          <a:bodyPr/>
          <a:lstStyle/>
          <a:p>
            <a:r>
              <a:rPr lang="he-IL" dirty="0"/>
              <a:t>שאלות:</a:t>
            </a:r>
          </a:p>
          <a:p>
            <a:r>
              <a:rPr lang="he-IL" dirty="0"/>
              <a:t>1. מה ההבדל בין</a:t>
            </a:r>
            <a:r>
              <a:rPr lang="en-US" dirty="0"/>
              <a:t>IDS </a:t>
            </a:r>
            <a:r>
              <a:rPr lang="he-IL" dirty="0"/>
              <a:t> מבוסס תוכנה ל-</a:t>
            </a:r>
            <a:r>
              <a:rPr lang="en-US" dirty="0"/>
              <a:t>IDS </a:t>
            </a:r>
            <a:r>
              <a:rPr lang="he-IL" dirty="0"/>
              <a:t> מבוסס חומרה?</a:t>
            </a:r>
          </a:p>
          <a:p>
            <a:r>
              <a:rPr lang="he-IL" dirty="0"/>
              <a:t>2. איך </a:t>
            </a:r>
            <a:r>
              <a:rPr lang="en-US" dirty="0"/>
              <a:t> IDS </a:t>
            </a:r>
            <a:r>
              <a:rPr lang="he-IL" dirty="0"/>
              <a:t>יכול לזהות פעילות חשודה?</a:t>
            </a:r>
          </a:p>
          <a:p>
            <a:r>
              <a:rPr lang="he-IL" dirty="0"/>
              <a:t>3. מה ההבדל בין </a:t>
            </a:r>
            <a:r>
              <a:rPr lang="en-US" dirty="0"/>
              <a:t>IDS </a:t>
            </a:r>
            <a:r>
              <a:rPr lang="he-IL" dirty="0"/>
              <a:t>ל-</a:t>
            </a:r>
            <a:r>
              <a:rPr lang="en-US" dirty="0"/>
              <a:t>IPS (Intrusion Prevention System) </a:t>
            </a:r>
            <a:r>
              <a:rPr lang="he-IL" dirty="0"/>
              <a:t> ? [שאלה שנדע לענות עליה בהמשך]</a:t>
            </a:r>
          </a:p>
        </p:txBody>
      </p:sp>
    </p:spTree>
    <p:extLst>
      <p:ext uri="{BB962C8B-B14F-4D97-AF65-F5344CB8AC3E}">
        <p14:creationId xmlns:p14="http://schemas.microsoft.com/office/powerpoint/2010/main" val="37332956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494D544-C31D-41AE-8ADD-C3D0E27E4BC9}"/>
              </a:ext>
            </a:extLst>
          </p:cNvPr>
          <p:cNvSpPr>
            <a:spLocks noGrp="1"/>
          </p:cNvSpPr>
          <p:nvPr>
            <p:ph type="title"/>
          </p:nvPr>
        </p:nvSpPr>
        <p:spPr>
          <a:xfrm>
            <a:off x="7921486" y="642594"/>
            <a:ext cx="3203713" cy="1371600"/>
          </a:xfrm>
        </p:spPr>
        <p:txBody>
          <a:bodyPr/>
          <a:lstStyle/>
          <a:p>
            <a:r>
              <a:rPr lang="he-IL" dirty="0"/>
              <a:t>המשך - </a:t>
            </a:r>
            <a:r>
              <a:rPr lang="en-US" dirty="0"/>
              <a:t>IDS</a:t>
            </a:r>
            <a:endParaRPr lang="he-IL" dirty="0"/>
          </a:p>
        </p:txBody>
      </p:sp>
      <p:sp>
        <p:nvSpPr>
          <p:cNvPr id="3" name="מציין מיקום תוכן 2">
            <a:extLst>
              <a:ext uri="{FF2B5EF4-FFF2-40B4-BE49-F238E27FC236}">
                <a16:creationId xmlns:a16="http://schemas.microsoft.com/office/drawing/2014/main" id="{F0A6E1E2-65B3-4146-8B2B-EFC8E508EC73}"/>
              </a:ext>
            </a:extLst>
          </p:cNvPr>
          <p:cNvSpPr>
            <a:spLocks noGrp="1"/>
          </p:cNvSpPr>
          <p:nvPr>
            <p:ph idx="1"/>
          </p:nvPr>
        </p:nvSpPr>
        <p:spPr/>
        <p:txBody>
          <a:bodyPr/>
          <a:lstStyle/>
          <a:p>
            <a:r>
              <a:rPr lang="he-IL" dirty="0"/>
              <a:t>תשובות:</a:t>
            </a:r>
          </a:p>
          <a:p>
            <a:r>
              <a:rPr lang="he-IL" dirty="0"/>
              <a:t>1. </a:t>
            </a:r>
            <a:r>
              <a:rPr lang="en-US" dirty="0"/>
              <a:t>IDS</a:t>
            </a:r>
            <a:r>
              <a:rPr lang="he-IL" dirty="0"/>
              <a:t> מבוסס תוכנה פועל על מחשב או שרת, בעוד ש-</a:t>
            </a:r>
            <a:r>
              <a:rPr lang="en-US" dirty="0"/>
              <a:t>IDS </a:t>
            </a:r>
            <a:r>
              <a:rPr lang="he-IL" dirty="0"/>
              <a:t> מבוסס חומרה הוא רכיב פיזי </a:t>
            </a:r>
            <a:r>
              <a:rPr lang="he-IL" dirty="0" err="1"/>
              <a:t>שמנטר</a:t>
            </a:r>
            <a:r>
              <a:rPr lang="he-IL" dirty="0"/>
              <a:t> את התעבורה ברשת.</a:t>
            </a:r>
          </a:p>
          <a:p>
            <a:r>
              <a:rPr lang="he-IL" dirty="0"/>
              <a:t>2. </a:t>
            </a:r>
            <a:r>
              <a:rPr lang="en-US" dirty="0"/>
              <a:t>IDS</a:t>
            </a:r>
            <a:r>
              <a:rPr lang="he-IL" dirty="0"/>
              <a:t> משווה נתונים שנאספו למידע אודות התקפות ידועות או חוקים שנקבעו מראש, ומתריע כאשר ישנה פעילות בלתי רגילה.</a:t>
            </a:r>
          </a:p>
          <a:p>
            <a:r>
              <a:rPr lang="he-IL" dirty="0"/>
              <a:t>3. נענה בהמשך...</a:t>
            </a:r>
          </a:p>
          <a:p>
            <a:endParaRPr lang="he-IL" dirty="0"/>
          </a:p>
          <a:p>
            <a:endParaRPr lang="he-IL" dirty="0"/>
          </a:p>
        </p:txBody>
      </p:sp>
    </p:spTree>
    <p:extLst>
      <p:ext uri="{BB962C8B-B14F-4D97-AF65-F5344CB8AC3E}">
        <p14:creationId xmlns:p14="http://schemas.microsoft.com/office/powerpoint/2010/main" val="9109197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22EDEEF-5828-4B3C-AD06-AA1646EB2EFB}"/>
              </a:ext>
            </a:extLst>
          </p:cNvPr>
          <p:cNvSpPr>
            <a:spLocks noGrp="1"/>
          </p:cNvSpPr>
          <p:nvPr>
            <p:ph type="title"/>
          </p:nvPr>
        </p:nvSpPr>
        <p:spPr>
          <a:xfrm>
            <a:off x="7732642" y="642594"/>
            <a:ext cx="3392557" cy="1371600"/>
          </a:xfrm>
        </p:spPr>
        <p:txBody>
          <a:bodyPr/>
          <a:lstStyle/>
          <a:p>
            <a:r>
              <a:rPr lang="he-IL" dirty="0"/>
              <a:t>המשך - </a:t>
            </a:r>
            <a:r>
              <a:rPr lang="en-US" dirty="0"/>
              <a:t>IDS</a:t>
            </a:r>
            <a:endParaRPr lang="he-IL" dirty="0"/>
          </a:p>
        </p:txBody>
      </p:sp>
      <p:sp>
        <p:nvSpPr>
          <p:cNvPr id="3" name="מציין מיקום תוכן 2">
            <a:extLst>
              <a:ext uri="{FF2B5EF4-FFF2-40B4-BE49-F238E27FC236}">
                <a16:creationId xmlns:a16="http://schemas.microsoft.com/office/drawing/2014/main" id="{D54C9B23-8EE2-4C60-AD34-DFF1E52A9A68}"/>
              </a:ext>
            </a:extLst>
          </p:cNvPr>
          <p:cNvSpPr>
            <a:spLocks noGrp="1"/>
          </p:cNvSpPr>
          <p:nvPr>
            <p:ph idx="1"/>
          </p:nvPr>
        </p:nvSpPr>
        <p:spPr/>
        <p:txBody>
          <a:bodyPr/>
          <a:lstStyle/>
          <a:p>
            <a:r>
              <a:rPr lang="he-IL" dirty="0"/>
              <a:t>שאלות יותר מעמיקות:</a:t>
            </a:r>
          </a:p>
          <a:p>
            <a:r>
              <a:rPr lang="he-IL" dirty="0"/>
              <a:t>1. מה ההבדל העיקרי בין </a:t>
            </a:r>
            <a:r>
              <a:rPr lang="en-US" dirty="0"/>
              <a:t>IDS</a:t>
            </a:r>
            <a:r>
              <a:rPr lang="he-IL" dirty="0"/>
              <a:t> וחומת אש?</a:t>
            </a:r>
          </a:p>
          <a:p>
            <a:r>
              <a:rPr lang="he-IL" dirty="0"/>
              <a:t>2. איך חומת אש ו-</a:t>
            </a:r>
            <a:r>
              <a:rPr lang="en-US" dirty="0"/>
              <a:t>IDS </a:t>
            </a:r>
            <a:r>
              <a:rPr lang="he-IL" dirty="0"/>
              <a:t> יכולים לעבוד יחד כדי לשפר את האבטחה?</a:t>
            </a:r>
          </a:p>
          <a:p>
            <a:r>
              <a:rPr lang="he-IL" dirty="0"/>
              <a:t>3. האם</a:t>
            </a:r>
            <a:r>
              <a:rPr lang="en-US" dirty="0"/>
              <a:t>IDS </a:t>
            </a:r>
            <a:r>
              <a:rPr lang="he-IL" dirty="0"/>
              <a:t> יכול להחליף חומת אש?</a:t>
            </a:r>
          </a:p>
          <a:p>
            <a:r>
              <a:rPr lang="he-IL" dirty="0"/>
              <a:t>4. איך</a:t>
            </a:r>
            <a:r>
              <a:rPr lang="en-US" dirty="0"/>
              <a:t>IDS </a:t>
            </a:r>
            <a:r>
              <a:rPr lang="he-IL" dirty="0"/>
              <a:t> יכול להתריע על תקיפות שהצליחו לעבור את חומת האש?</a:t>
            </a:r>
          </a:p>
          <a:p>
            <a:r>
              <a:rPr lang="he-IL" dirty="0"/>
              <a:t>5. מהם היתרונות של שילוב </a:t>
            </a:r>
            <a:r>
              <a:rPr lang="en-US" dirty="0"/>
              <a:t>IDS</a:t>
            </a:r>
            <a:r>
              <a:rPr lang="he-IL" dirty="0"/>
              <a:t> וחומת אש יחד בארכיטקטורת אבטחה?</a:t>
            </a:r>
          </a:p>
          <a:p>
            <a:r>
              <a:rPr lang="he-IL" dirty="0"/>
              <a:t>6. </a:t>
            </a:r>
            <a:r>
              <a:rPr lang="he-IL" dirty="0" err="1"/>
              <a:t>תתן</a:t>
            </a:r>
            <a:r>
              <a:rPr lang="he-IL" dirty="0"/>
              <a:t> כמה דוגמאות להתקפות שיכולות לעבור דרך חומת אש ויוכלו להתגלות על ידי </a:t>
            </a:r>
            <a:r>
              <a:rPr lang="en-US" dirty="0"/>
              <a:t>IDS</a:t>
            </a:r>
            <a:r>
              <a:rPr lang="he-IL" dirty="0"/>
              <a:t> ?</a:t>
            </a:r>
          </a:p>
          <a:p>
            <a:endParaRPr lang="he-IL" dirty="0"/>
          </a:p>
        </p:txBody>
      </p:sp>
    </p:spTree>
    <p:extLst>
      <p:ext uri="{BB962C8B-B14F-4D97-AF65-F5344CB8AC3E}">
        <p14:creationId xmlns:p14="http://schemas.microsoft.com/office/powerpoint/2010/main" val="18578038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7F61E8A-E44F-43C0-90D2-03348B776089}"/>
              </a:ext>
            </a:extLst>
          </p:cNvPr>
          <p:cNvSpPr>
            <a:spLocks noGrp="1"/>
          </p:cNvSpPr>
          <p:nvPr>
            <p:ph type="title"/>
          </p:nvPr>
        </p:nvSpPr>
        <p:spPr>
          <a:xfrm>
            <a:off x="7931426" y="642594"/>
            <a:ext cx="3193774" cy="1371600"/>
          </a:xfrm>
        </p:spPr>
        <p:txBody>
          <a:bodyPr/>
          <a:lstStyle/>
          <a:p>
            <a:r>
              <a:rPr lang="he-IL" dirty="0"/>
              <a:t>המשך - </a:t>
            </a:r>
            <a:r>
              <a:rPr lang="en-US" dirty="0"/>
              <a:t>IDS</a:t>
            </a:r>
            <a:endParaRPr lang="he-IL" dirty="0"/>
          </a:p>
        </p:txBody>
      </p:sp>
      <p:sp>
        <p:nvSpPr>
          <p:cNvPr id="3" name="מציין מיקום תוכן 2">
            <a:extLst>
              <a:ext uri="{FF2B5EF4-FFF2-40B4-BE49-F238E27FC236}">
                <a16:creationId xmlns:a16="http://schemas.microsoft.com/office/drawing/2014/main" id="{D90435DE-C587-4EA1-96B4-49CA5F493D1A}"/>
              </a:ext>
            </a:extLst>
          </p:cNvPr>
          <p:cNvSpPr>
            <a:spLocks noGrp="1"/>
          </p:cNvSpPr>
          <p:nvPr>
            <p:ph idx="1"/>
          </p:nvPr>
        </p:nvSpPr>
        <p:spPr/>
        <p:txBody>
          <a:bodyPr/>
          <a:lstStyle/>
          <a:p>
            <a:r>
              <a:rPr lang="he-IL" dirty="0"/>
              <a:t>תשובות יותר מעמיקות:</a:t>
            </a:r>
          </a:p>
          <a:p>
            <a:r>
              <a:rPr lang="he-IL" dirty="0"/>
              <a:t>1. חומת אש מיועדת לשלוט בתעבורה הנכנסת והיוצאת מהמערכת שלך על פי חוקים שנקבעו מראש, ולחסום תעבורה חשודה או לא רצויה. </a:t>
            </a:r>
            <a:r>
              <a:rPr lang="en-US" dirty="0"/>
              <a:t>IDS</a:t>
            </a:r>
            <a:r>
              <a:rPr lang="he-IL" dirty="0"/>
              <a:t> מתמקד בניתוח התעבורה הנכנסת והיוצאת לאחר שהיא עברה את חומת האש, ומטרתו לזהות פעילות חשודה או התקפות. בעוד שחומת אש פועלת כדי למנוע התקפות, </a:t>
            </a:r>
            <a:r>
              <a:rPr lang="en-US" dirty="0"/>
              <a:t>IDS</a:t>
            </a:r>
            <a:r>
              <a:rPr lang="he-IL" dirty="0"/>
              <a:t> עוסק בזיהוי התקפות שכבר עשויות להיכנס למערכת.</a:t>
            </a:r>
          </a:p>
          <a:p>
            <a:r>
              <a:rPr lang="he-IL" dirty="0"/>
              <a:t>2. חומת אש יכולה לחסום את רוב התעבורה הבלתי רצויה והתקפות ידועות, בעוד ש-</a:t>
            </a:r>
            <a:r>
              <a:rPr lang="en-US" dirty="0"/>
              <a:t>IDS </a:t>
            </a:r>
            <a:r>
              <a:rPr lang="he-IL" dirty="0"/>
              <a:t> </a:t>
            </a:r>
            <a:r>
              <a:rPr lang="he-IL" dirty="0" err="1"/>
              <a:t>מנטר</a:t>
            </a:r>
            <a:r>
              <a:rPr lang="he-IL" dirty="0"/>
              <a:t> את התעבורה המורשית שחצתה את חומת האש ומחפש פעילות חשודה שניתן לאתר רק לאחר שעברה את החסימות הראשוניות. יחד, הם יוצרים שכבת אבטחה רב-שכבתית שמביאה להגנה יותר מקיפה.</a:t>
            </a:r>
          </a:p>
          <a:p>
            <a:r>
              <a:rPr lang="he-IL" dirty="0"/>
              <a:t>3. לא, </a:t>
            </a:r>
            <a:r>
              <a:rPr lang="en-US" dirty="0"/>
              <a:t>IDS</a:t>
            </a:r>
            <a:r>
              <a:rPr lang="he-IL" dirty="0"/>
              <a:t> אינו יכול להחליף חומת אש. חומת אש עוסקת במניעת התקפות על ידי חסימת תעבורה לא רצויה לפני שהיא נכנסת לרשת.</a:t>
            </a:r>
            <a:r>
              <a:rPr lang="en-US" dirty="0"/>
              <a:t>IDS </a:t>
            </a:r>
            <a:r>
              <a:rPr lang="he-IL" dirty="0"/>
              <a:t> זקוק למידע מתוך התעבורה שכבר עברה את חומת האש כדי לזהות בעיות נוספות. שניהם משלימים זה את זה ומבצעים תפקידים שונים.</a:t>
            </a:r>
          </a:p>
        </p:txBody>
      </p:sp>
    </p:spTree>
    <p:extLst>
      <p:ext uri="{BB962C8B-B14F-4D97-AF65-F5344CB8AC3E}">
        <p14:creationId xmlns:p14="http://schemas.microsoft.com/office/powerpoint/2010/main" val="27739215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6746E41-3165-4060-80EC-A85D2632E461}"/>
              </a:ext>
            </a:extLst>
          </p:cNvPr>
          <p:cNvSpPr>
            <a:spLocks noGrp="1"/>
          </p:cNvSpPr>
          <p:nvPr>
            <p:ph type="title"/>
          </p:nvPr>
        </p:nvSpPr>
        <p:spPr>
          <a:xfrm>
            <a:off x="7981122" y="642594"/>
            <a:ext cx="3144078" cy="1371600"/>
          </a:xfrm>
        </p:spPr>
        <p:txBody>
          <a:bodyPr/>
          <a:lstStyle/>
          <a:p>
            <a:r>
              <a:rPr lang="he-IL" dirty="0"/>
              <a:t>המשך - </a:t>
            </a:r>
            <a:r>
              <a:rPr lang="en-US" dirty="0"/>
              <a:t>IDS</a:t>
            </a:r>
            <a:endParaRPr lang="he-IL" dirty="0"/>
          </a:p>
        </p:txBody>
      </p:sp>
      <p:sp>
        <p:nvSpPr>
          <p:cNvPr id="3" name="מציין מיקום תוכן 2">
            <a:extLst>
              <a:ext uri="{FF2B5EF4-FFF2-40B4-BE49-F238E27FC236}">
                <a16:creationId xmlns:a16="http://schemas.microsoft.com/office/drawing/2014/main" id="{7B0A0EFF-5560-499B-BEE9-96076AE04DAD}"/>
              </a:ext>
            </a:extLst>
          </p:cNvPr>
          <p:cNvSpPr>
            <a:spLocks noGrp="1"/>
          </p:cNvSpPr>
          <p:nvPr>
            <p:ph idx="1"/>
          </p:nvPr>
        </p:nvSpPr>
        <p:spPr>
          <a:xfrm>
            <a:off x="1066800" y="2103120"/>
            <a:ext cx="10058400" cy="4247984"/>
          </a:xfrm>
        </p:spPr>
        <p:txBody>
          <a:bodyPr>
            <a:normAutofit fontScale="92500" lnSpcReduction="10000"/>
          </a:bodyPr>
          <a:lstStyle/>
          <a:p>
            <a:r>
              <a:rPr lang="he-IL" dirty="0"/>
              <a:t>המשך תשובות יותר מעמיקות:</a:t>
            </a:r>
          </a:p>
          <a:p>
            <a:r>
              <a:rPr lang="he-IL" dirty="0"/>
              <a:t>4. </a:t>
            </a:r>
            <a:r>
              <a:rPr lang="en-US" dirty="0"/>
              <a:t> IDS</a:t>
            </a:r>
            <a:r>
              <a:rPr lang="he-IL" dirty="0"/>
              <a:t>יכול לנתח את התעבורה שהצליחה לעבור את חומת האש ולהשוות אותה לתבניות התקפות ידועות, לחוקים שנקבעו מראש, או לחפש פעילות לא רגילה. כאשר הוא מזהה פעילות חשודה או לא רגילה, הוא שולח התרעה כדי לאפשר למנהלי המערכת לנקוט בפעולות נוספות.</a:t>
            </a:r>
          </a:p>
          <a:p>
            <a:r>
              <a:rPr lang="he-IL" dirty="0"/>
              <a:t>5. שילוב של </a:t>
            </a:r>
            <a:r>
              <a:rPr lang="en-US" dirty="0"/>
              <a:t>IDS</a:t>
            </a:r>
            <a:r>
              <a:rPr lang="he-IL" dirty="0"/>
              <a:t> וחומת אש מספק שכבת אבטחה מקיפה יותר. חומת האש מספקת שכבת הגנה ראשונית על ידי חסימת תעבורה לא רצויה, בעוד ש-</a:t>
            </a:r>
            <a:r>
              <a:rPr lang="en-US" dirty="0"/>
              <a:t>IDS </a:t>
            </a:r>
            <a:r>
              <a:rPr lang="he-IL" dirty="0"/>
              <a:t> מספקת ניתוח מעמיק של התעבורה המורשית במטרה לזהות פעילות חשודה שניתן להחמיץ על ידי חומת האש בלבד. שילוב זה מסייע בזיהוי ובמניעת התקפות על פני מספר רמות.</a:t>
            </a:r>
          </a:p>
          <a:p>
            <a:r>
              <a:rPr lang="he-IL" dirty="0"/>
              <a:t>6. </a:t>
            </a:r>
          </a:p>
          <a:p>
            <a:r>
              <a:rPr lang="he-IL" dirty="0"/>
              <a:t>א. התקפות מתוך הרשת המקומית: התקפות שמגיעות מתוך הרשת המקומית של החברה ואינן נחשבות לחשודות על ידי חומת האש.</a:t>
            </a:r>
          </a:p>
          <a:p>
            <a:r>
              <a:rPr lang="he-IL" dirty="0"/>
              <a:t>ב. התקפות המנצחות על חסימות חומת האש: התקפות המתמשכות באורח בלתי רגיל שמצליחות להימנע מחסימות </a:t>
            </a:r>
            <a:r>
              <a:rPr lang="he-IL" dirty="0" err="1"/>
              <a:t>החומת</a:t>
            </a:r>
            <a:r>
              <a:rPr lang="he-IL" dirty="0"/>
              <a:t> אש באמצעות טכניקות כגון התחזות או הצפנה.</a:t>
            </a:r>
          </a:p>
          <a:p>
            <a:r>
              <a:rPr lang="he-IL" dirty="0"/>
              <a:t>ג. רשתות </a:t>
            </a:r>
            <a:r>
              <a:rPr lang="en-US" dirty="0"/>
              <a:t> :Botnet</a:t>
            </a:r>
            <a:r>
              <a:rPr lang="he-IL" dirty="0"/>
              <a:t>כאשר המחשב שלך נשלט על ידי רשת של מחשבים נגועים</a:t>
            </a:r>
            <a:r>
              <a:rPr lang="en-US" dirty="0"/>
              <a:t>Botnet </a:t>
            </a:r>
            <a:r>
              <a:rPr lang="he-IL" dirty="0"/>
              <a:t> ה-</a:t>
            </a:r>
            <a:r>
              <a:rPr lang="en-US" dirty="0"/>
              <a:t>IDS </a:t>
            </a:r>
            <a:r>
              <a:rPr lang="he-IL" dirty="0"/>
              <a:t> יכול לזהות את התעבורה המגיעה מהכתובת של מחשבים זרים.</a:t>
            </a:r>
          </a:p>
        </p:txBody>
      </p:sp>
    </p:spTree>
    <p:extLst>
      <p:ext uri="{BB962C8B-B14F-4D97-AF65-F5344CB8AC3E}">
        <p14:creationId xmlns:p14="http://schemas.microsoft.com/office/powerpoint/2010/main" val="4933991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E1A1E82-3837-49E3-A17C-D58094642A22}"/>
              </a:ext>
            </a:extLst>
          </p:cNvPr>
          <p:cNvSpPr>
            <a:spLocks noGrp="1"/>
          </p:cNvSpPr>
          <p:nvPr>
            <p:ph type="title"/>
          </p:nvPr>
        </p:nvSpPr>
        <p:spPr/>
        <p:txBody>
          <a:bodyPr/>
          <a:lstStyle/>
          <a:p>
            <a:r>
              <a:rPr lang="en-US" dirty="0"/>
              <a:t>IPS - Intrusion Prevention System</a:t>
            </a:r>
            <a:endParaRPr lang="he-IL" dirty="0"/>
          </a:p>
        </p:txBody>
      </p:sp>
      <p:sp>
        <p:nvSpPr>
          <p:cNvPr id="3" name="מציין מיקום תוכן 2">
            <a:extLst>
              <a:ext uri="{FF2B5EF4-FFF2-40B4-BE49-F238E27FC236}">
                <a16:creationId xmlns:a16="http://schemas.microsoft.com/office/drawing/2014/main" id="{B0FAFFAC-6191-4441-BF2B-0929D2EEE87C}"/>
              </a:ext>
            </a:extLst>
          </p:cNvPr>
          <p:cNvSpPr>
            <a:spLocks noGrp="1"/>
          </p:cNvSpPr>
          <p:nvPr>
            <p:ph idx="1"/>
          </p:nvPr>
        </p:nvSpPr>
        <p:spPr/>
        <p:txBody>
          <a:bodyPr/>
          <a:lstStyle/>
          <a:p>
            <a:r>
              <a:rPr lang="he-IL" dirty="0"/>
              <a:t>פתיחה לחכמה:</a:t>
            </a:r>
            <a:r>
              <a:rPr lang="en-US" dirty="0"/>
              <a:t> IPS</a:t>
            </a:r>
            <a:r>
              <a:rPr lang="en-US" b="1" dirty="0"/>
              <a:t> </a:t>
            </a:r>
            <a:r>
              <a:rPr lang="he-IL" dirty="0"/>
              <a:t>הוא מערכת לניהול אבטחת מידע שנועדה לזהות ולמנוע התקפות ברשת בזמן אמת. היא פועלת בצורה דומה ל-</a:t>
            </a:r>
            <a:r>
              <a:rPr lang="en-US" dirty="0"/>
              <a:t> IDS </a:t>
            </a:r>
            <a:r>
              <a:rPr lang="he-IL" dirty="0"/>
              <a:t>אך יש לה תכונה נוספת: היא לא רק מזהה התקפות, אלא גם נוקטת בפעולה אוטומטית כדי לחסום או למנוע את ההתקפות.</a:t>
            </a:r>
          </a:p>
          <a:p>
            <a:r>
              <a:rPr lang="he-IL" b="1" dirty="0"/>
              <a:t>סוגי </a:t>
            </a:r>
            <a:r>
              <a:rPr lang="en-US" b="1" dirty="0"/>
              <a:t>IPS</a:t>
            </a:r>
          </a:p>
          <a:p>
            <a:r>
              <a:rPr lang="en-US" dirty="0"/>
              <a:t>IPS</a:t>
            </a:r>
            <a:r>
              <a:rPr lang="he-IL" b="1" dirty="0"/>
              <a:t> </a:t>
            </a:r>
            <a:r>
              <a:rPr lang="he-IL" dirty="0"/>
              <a:t>מבוסס תוכנה: פועל על מחשב או שרת </a:t>
            </a:r>
            <a:r>
              <a:rPr lang="he-IL" dirty="0" err="1"/>
              <a:t>ומנטר</a:t>
            </a:r>
            <a:r>
              <a:rPr lang="he-IL" dirty="0"/>
              <a:t> את התעבורה הנכנסת והיוצאת ברשת.</a:t>
            </a:r>
          </a:p>
          <a:p>
            <a:r>
              <a:rPr lang="en-US" b="1" dirty="0"/>
              <a:t> </a:t>
            </a:r>
            <a:r>
              <a:rPr lang="en-US" dirty="0"/>
              <a:t>IPS</a:t>
            </a:r>
            <a:r>
              <a:rPr lang="he-IL" dirty="0"/>
              <a:t>מבוסס חומרה: רכיב פיזי שמותקן ברשת </a:t>
            </a:r>
            <a:r>
              <a:rPr lang="he-IL" dirty="0" err="1"/>
              <a:t>ומנטר</a:t>
            </a:r>
            <a:r>
              <a:rPr lang="he-IL" dirty="0"/>
              <a:t> את התעבורה ברשת בצורה עצמאית.</a:t>
            </a:r>
          </a:p>
          <a:p>
            <a:endParaRPr lang="he-IL" dirty="0"/>
          </a:p>
        </p:txBody>
      </p:sp>
    </p:spTree>
    <p:extLst>
      <p:ext uri="{BB962C8B-B14F-4D97-AF65-F5344CB8AC3E}">
        <p14:creationId xmlns:p14="http://schemas.microsoft.com/office/powerpoint/2010/main" val="5471016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5C36915-B95A-40EE-A662-4A19011A565E}"/>
              </a:ext>
            </a:extLst>
          </p:cNvPr>
          <p:cNvSpPr>
            <a:spLocks noGrp="1"/>
          </p:cNvSpPr>
          <p:nvPr>
            <p:ph type="title"/>
          </p:nvPr>
        </p:nvSpPr>
        <p:spPr>
          <a:xfrm>
            <a:off x="8050696" y="642594"/>
            <a:ext cx="3074504" cy="1371600"/>
          </a:xfrm>
        </p:spPr>
        <p:txBody>
          <a:bodyPr/>
          <a:lstStyle/>
          <a:p>
            <a:r>
              <a:rPr lang="he-IL" dirty="0"/>
              <a:t>המשך - </a:t>
            </a:r>
            <a:r>
              <a:rPr lang="en-US" dirty="0"/>
              <a:t>IPS</a:t>
            </a:r>
            <a:endParaRPr lang="he-IL" dirty="0"/>
          </a:p>
        </p:txBody>
      </p:sp>
      <p:sp>
        <p:nvSpPr>
          <p:cNvPr id="3" name="מציין מיקום תוכן 2">
            <a:extLst>
              <a:ext uri="{FF2B5EF4-FFF2-40B4-BE49-F238E27FC236}">
                <a16:creationId xmlns:a16="http://schemas.microsoft.com/office/drawing/2014/main" id="{63A6325D-E419-4BB8-A15D-73CC68F2F2CD}"/>
              </a:ext>
            </a:extLst>
          </p:cNvPr>
          <p:cNvSpPr>
            <a:spLocks noGrp="1"/>
          </p:cNvSpPr>
          <p:nvPr>
            <p:ph idx="1"/>
          </p:nvPr>
        </p:nvSpPr>
        <p:spPr/>
        <p:txBody>
          <a:bodyPr/>
          <a:lstStyle/>
          <a:p>
            <a:r>
              <a:rPr lang="he-IL" b="1" dirty="0"/>
              <a:t>איך </a:t>
            </a:r>
            <a:r>
              <a:rPr lang="en-US" b="1" dirty="0"/>
              <a:t> IPS</a:t>
            </a:r>
            <a:r>
              <a:rPr lang="he-IL" b="1" dirty="0"/>
              <a:t>עובד?</a:t>
            </a:r>
          </a:p>
          <a:p>
            <a:r>
              <a:rPr lang="he-IL" dirty="0"/>
              <a:t>1. אסיפת נתונים:</a:t>
            </a:r>
            <a:r>
              <a:rPr lang="en-US" dirty="0"/>
              <a:t> </a:t>
            </a:r>
            <a:r>
              <a:rPr lang="he-IL" dirty="0"/>
              <a:t>אוסף נתונים אודות התעבורה ברשת, כולל מידע על מנות נתונים, יומני מערכת, ופעולות משתמשים.</a:t>
            </a:r>
          </a:p>
          <a:p>
            <a:r>
              <a:rPr lang="he-IL" dirty="0"/>
              <a:t>2. ניתוח נתונים: המערכת מנתחת את הנתונים שנאספו ומבצעת השוואות לתבניות התקפות ידועות או חוקים שנקבעו מראש. המערכת יכולה להפעיל ניתוח התנהגותי, שמבצע השוואה בין התנהגות רגילה לבין פעילות לא רגילה.</a:t>
            </a:r>
          </a:p>
          <a:p>
            <a:r>
              <a:rPr lang="he-IL" dirty="0"/>
              <a:t>3. מניעת התקפות: כאשר </a:t>
            </a:r>
            <a:r>
              <a:rPr lang="en-US" dirty="0"/>
              <a:t> IPS</a:t>
            </a:r>
            <a:r>
              <a:rPr lang="he-IL" dirty="0"/>
              <a:t>מזהה פעילות חשודה או התקפה, הוא מבצע פעולה אוטומטית כמו חסימת כתובת</a:t>
            </a:r>
            <a:r>
              <a:rPr lang="en-US" dirty="0"/>
              <a:t>IP </a:t>
            </a:r>
            <a:r>
              <a:rPr lang="he-IL" dirty="0"/>
              <a:t> של התוקפן, חסימת פורטים, או סגירת חיבורי רשת.</a:t>
            </a:r>
          </a:p>
          <a:p>
            <a:r>
              <a:rPr lang="he-IL" dirty="0"/>
              <a:t>4. דיווח:</a:t>
            </a:r>
            <a:r>
              <a:rPr lang="en-US" dirty="0"/>
              <a:t> </a:t>
            </a:r>
            <a:r>
              <a:rPr lang="he-IL" dirty="0"/>
              <a:t>מספק גם יומני דיווח וסטטיסטיקות למנהל המערכת על ההתקפות שנחסמו והפעולות שננקטו.</a:t>
            </a:r>
          </a:p>
          <a:p>
            <a:endParaRPr lang="he-IL" dirty="0"/>
          </a:p>
        </p:txBody>
      </p:sp>
    </p:spTree>
    <p:extLst>
      <p:ext uri="{BB962C8B-B14F-4D97-AF65-F5344CB8AC3E}">
        <p14:creationId xmlns:p14="http://schemas.microsoft.com/office/powerpoint/2010/main" val="16049188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694B668-14DB-47BC-8406-31BCEB1B7077}"/>
              </a:ext>
            </a:extLst>
          </p:cNvPr>
          <p:cNvSpPr>
            <a:spLocks noGrp="1"/>
          </p:cNvSpPr>
          <p:nvPr>
            <p:ph type="title"/>
          </p:nvPr>
        </p:nvSpPr>
        <p:spPr>
          <a:xfrm>
            <a:off x="8020878" y="642594"/>
            <a:ext cx="3104322" cy="1371600"/>
          </a:xfrm>
        </p:spPr>
        <p:txBody>
          <a:bodyPr/>
          <a:lstStyle/>
          <a:p>
            <a:r>
              <a:rPr lang="he-IL" dirty="0"/>
              <a:t>המשך - </a:t>
            </a:r>
            <a:r>
              <a:rPr lang="en-US" dirty="0"/>
              <a:t>IPS</a:t>
            </a:r>
            <a:endParaRPr lang="he-IL" dirty="0"/>
          </a:p>
        </p:txBody>
      </p:sp>
      <p:sp>
        <p:nvSpPr>
          <p:cNvPr id="3" name="מציין מיקום תוכן 2">
            <a:extLst>
              <a:ext uri="{FF2B5EF4-FFF2-40B4-BE49-F238E27FC236}">
                <a16:creationId xmlns:a16="http://schemas.microsoft.com/office/drawing/2014/main" id="{62D466F3-BF67-4DA4-9DCA-1855212CFAB0}"/>
              </a:ext>
            </a:extLst>
          </p:cNvPr>
          <p:cNvSpPr>
            <a:spLocks noGrp="1"/>
          </p:cNvSpPr>
          <p:nvPr>
            <p:ph idx="1"/>
          </p:nvPr>
        </p:nvSpPr>
        <p:spPr/>
        <p:txBody>
          <a:bodyPr/>
          <a:lstStyle/>
          <a:p>
            <a:r>
              <a:rPr lang="he-IL" b="1" dirty="0"/>
              <a:t>דוגמאות למתקפות ש-</a:t>
            </a:r>
            <a:r>
              <a:rPr lang="en-US" b="1" dirty="0"/>
              <a:t> IPS </a:t>
            </a:r>
            <a:r>
              <a:rPr lang="he-IL" b="1" dirty="0"/>
              <a:t>יכול למנוע</a:t>
            </a:r>
          </a:p>
          <a:p>
            <a:r>
              <a:rPr lang="he-IL" b="1" dirty="0"/>
              <a:t>התקפת </a:t>
            </a:r>
            <a:r>
              <a:rPr lang="en-US" b="1" dirty="0"/>
              <a:t>:SQL Injection</a:t>
            </a:r>
            <a:r>
              <a:rPr lang="he-IL" dirty="0"/>
              <a:t> מתקפה בה התוקפן מנסה להכניס קוד </a:t>
            </a:r>
            <a:r>
              <a:rPr lang="en-US" dirty="0"/>
              <a:t>SQL</a:t>
            </a:r>
            <a:r>
              <a:rPr lang="he-IL" dirty="0"/>
              <a:t> זדוני לבסיס הנתונים דרך טפסים באתר. והוא גם</a:t>
            </a:r>
            <a:r>
              <a:rPr lang="en-US" dirty="0"/>
              <a:t> </a:t>
            </a:r>
            <a:r>
              <a:rPr lang="he-IL" dirty="0"/>
              <a:t>יכול לחסום את התעבורה המכילה את הקוד הזדוני ולמנוע את ההתקפה.</a:t>
            </a:r>
          </a:p>
          <a:p>
            <a:r>
              <a:rPr lang="he-IL" b="1" dirty="0"/>
              <a:t>התקפת </a:t>
            </a:r>
            <a:r>
              <a:rPr lang="en-US" b="1" dirty="0"/>
              <a:t>DDoS</a:t>
            </a:r>
            <a:r>
              <a:rPr lang="he-IL" b="1" dirty="0"/>
              <a:t>: </a:t>
            </a:r>
            <a:r>
              <a:rPr lang="he-IL" dirty="0"/>
              <a:t>התקפה שבה התוקפן שולח כמות גדולה מאוד של בקשות לשרת כדי למנוע את פעילותו. בנוסף הוא</a:t>
            </a:r>
            <a:r>
              <a:rPr lang="en-US" dirty="0"/>
              <a:t> </a:t>
            </a:r>
            <a:r>
              <a:rPr lang="he-IL" dirty="0"/>
              <a:t>יכול לזהות ולהגביל את הבקשות המגיעות מאותו מקור או למנוע את ההתקפה.</a:t>
            </a:r>
          </a:p>
          <a:p>
            <a:endParaRPr lang="he-IL" dirty="0"/>
          </a:p>
        </p:txBody>
      </p:sp>
    </p:spTree>
    <p:extLst>
      <p:ext uri="{BB962C8B-B14F-4D97-AF65-F5344CB8AC3E}">
        <p14:creationId xmlns:p14="http://schemas.microsoft.com/office/powerpoint/2010/main" val="3747148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4D40BE2-14D9-4AC5-9C2B-17E42F551BBB}"/>
              </a:ext>
            </a:extLst>
          </p:cNvPr>
          <p:cNvSpPr>
            <a:spLocks noGrp="1"/>
          </p:cNvSpPr>
          <p:nvPr>
            <p:ph type="title"/>
          </p:nvPr>
        </p:nvSpPr>
        <p:spPr>
          <a:xfrm>
            <a:off x="7971182" y="642594"/>
            <a:ext cx="3154017" cy="1371600"/>
          </a:xfrm>
        </p:spPr>
        <p:txBody>
          <a:bodyPr/>
          <a:lstStyle/>
          <a:p>
            <a:r>
              <a:rPr lang="he-IL" dirty="0"/>
              <a:t>המשך - </a:t>
            </a:r>
            <a:r>
              <a:rPr lang="en-US" dirty="0"/>
              <a:t>IPS</a:t>
            </a:r>
            <a:endParaRPr lang="he-IL" dirty="0"/>
          </a:p>
        </p:txBody>
      </p:sp>
      <p:sp>
        <p:nvSpPr>
          <p:cNvPr id="3" name="מציין מיקום תוכן 2">
            <a:extLst>
              <a:ext uri="{FF2B5EF4-FFF2-40B4-BE49-F238E27FC236}">
                <a16:creationId xmlns:a16="http://schemas.microsoft.com/office/drawing/2014/main" id="{6E0C97BA-7360-4D54-B16A-8F0F86B4CF71}"/>
              </a:ext>
            </a:extLst>
          </p:cNvPr>
          <p:cNvSpPr>
            <a:spLocks noGrp="1"/>
          </p:cNvSpPr>
          <p:nvPr>
            <p:ph idx="1"/>
          </p:nvPr>
        </p:nvSpPr>
        <p:spPr/>
        <p:txBody>
          <a:bodyPr/>
          <a:lstStyle/>
          <a:p>
            <a:r>
              <a:rPr lang="he-IL" dirty="0"/>
              <a:t>לדוגמא:</a:t>
            </a:r>
          </a:p>
          <a:p>
            <a:r>
              <a:rPr lang="he-IL" dirty="0"/>
              <a:t>נניח שיש לך אתר אינטרנט פופולרי, והחלטת להתקין</a:t>
            </a:r>
            <a:r>
              <a:rPr lang="en-US" dirty="0"/>
              <a:t>IPS </a:t>
            </a:r>
            <a:r>
              <a:rPr lang="he-IL" dirty="0"/>
              <a:t> כדי להגן עליו. יום אחד, התוקף מנסה לשלוח בקשות רבות לשרת שלך במטרה לשתק אותו – התקפת</a:t>
            </a:r>
            <a:r>
              <a:rPr lang="en-US" dirty="0"/>
              <a:t> ,DDoS </a:t>
            </a:r>
            <a:r>
              <a:rPr lang="he-IL" dirty="0"/>
              <a:t>מערכת ה-</a:t>
            </a:r>
            <a:r>
              <a:rPr lang="en-US" dirty="0"/>
              <a:t>IPS </a:t>
            </a:r>
            <a:r>
              <a:rPr lang="he-IL" dirty="0"/>
              <a:t> מזהה את הכמות החריגה של הבקשות ומבינה שמדובר בהתקפה. המערכת פועלת מיד כדי לחסום את הבקשות מהמקורות החשודים ולהגביל את היכולת של התוקפן לשבש את פעילות האתר. בזכות מערכת ה-</a:t>
            </a:r>
            <a:r>
              <a:rPr lang="en-US" dirty="0"/>
              <a:t> ,IPS </a:t>
            </a:r>
            <a:r>
              <a:rPr lang="he-IL" dirty="0"/>
              <a:t>האתר שלך נשאר פעיל ומאפשר למבקרים להיכנס ולהשתמש בו ללא הפרעה.</a:t>
            </a:r>
          </a:p>
        </p:txBody>
      </p:sp>
    </p:spTree>
    <p:extLst>
      <p:ext uri="{BB962C8B-B14F-4D97-AF65-F5344CB8AC3E}">
        <p14:creationId xmlns:p14="http://schemas.microsoft.com/office/powerpoint/2010/main" val="23379973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65E7C56-6AF2-4A03-9FED-FED847E27F7D}"/>
              </a:ext>
            </a:extLst>
          </p:cNvPr>
          <p:cNvSpPr>
            <a:spLocks noGrp="1"/>
          </p:cNvSpPr>
          <p:nvPr>
            <p:ph type="title"/>
          </p:nvPr>
        </p:nvSpPr>
        <p:spPr>
          <a:xfrm>
            <a:off x="8030816" y="642594"/>
            <a:ext cx="3094383" cy="1371600"/>
          </a:xfrm>
        </p:spPr>
        <p:txBody>
          <a:bodyPr/>
          <a:lstStyle/>
          <a:p>
            <a:r>
              <a:rPr lang="he-IL" dirty="0"/>
              <a:t>המשך - </a:t>
            </a:r>
            <a:r>
              <a:rPr lang="en-US" dirty="0"/>
              <a:t>IPS</a:t>
            </a:r>
            <a:endParaRPr lang="he-IL" dirty="0"/>
          </a:p>
        </p:txBody>
      </p:sp>
      <p:sp>
        <p:nvSpPr>
          <p:cNvPr id="3" name="מציין מיקום תוכן 2">
            <a:extLst>
              <a:ext uri="{FF2B5EF4-FFF2-40B4-BE49-F238E27FC236}">
                <a16:creationId xmlns:a16="http://schemas.microsoft.com/office/drawing/2014/main" id="{2A0D90C4-0A0A-4D46-8C88-B339CA8684DF}"/>
              </a:ext>
            </a:extLst>
          </p:cNvPr>
          <p:cNvSpPr>
            <a:spLocks noGrp="1"/>
          </p:cNvSpPr>
          <p:nvPr>
            <p:ph idx="1"/>
          </p:nvPr>
        </p:nvSpPr>
        <p:spPr/>
        <p:txBody>
          <a:bodyPr/>
          <a:lstStyle/>
          <a:p>
            <a:r>
              <a:rPr lang="he-IL" dirty="0"/>
              <a:t>שאלות: </a:t>
            </a:r>
          </a:p>
          <a:p>
            <a:r>
              <a:rPr lang="he-IL" dirty="0"/>
              <a:t>1. מה ההבדל בין</a:t>
            </a:r>
            <a:r>
              <a:rPr lang="en-US" dirty="0"/>
              <a:t> IDS </a:t>
            </a:r>
            <a:r>
              <a:rPr lang="he-IL" dirty="0"/>
              <a:t>ל-</a:t>
            </a:r>
            <a:r>
              <a:rPr lang="en-US" dirty="0"/>
              <a:t>IPS </a:t>
            </a:r>
            <a:r>
              <a:rPr lang="he-IL" dirty="0"/>
              <a:t> ?</a:t>
            </a:r>
          </a:p>
          <a:p>
            <a:r>
              <a:rPr lang="he-IL" dirty="0"/>
              <a:t>2. איך</a:t>
            </a:r>
            <a:r>
              <a:rPr lang="en-US" dirty="0"/>
              <a:t> IPS </a:t>
            </a:r>
            <a:r>
              <a:rPr lang="he-IL" dirty="0"/>
              <a:t>יכול למנוע התקפות אחרי שזיהה אותן?</a:t>
            </a:r>
          </a:p>
          <a:p>
            <a:r>
              <a:rPr lang="he-IL" dirty="0"/>
              <a:t>3. מדוע חשוב להוסיף</a:t>
            </a:r>
            <a:r>
              <a:rPr lang="en-US" dirty="0"/>
              <a:t>IPS </a:t>
            </a:r>
            <a:r>
              <a:rPr lang="he-IL" dirty="0"/>
              <a:t> לארכיטקטורת האבטחה שלך בנוסף לחומת אש?</a:t>
            </a:r>
          </a:p>
          <a:p>
            <a:r>
              <a:rPr lang="he-IL" dirty="0"/>
              <a:t>4. מהן כמה פעולות ש-</a:t>
            </a:r>
            <a:r>
              <a:rPr lang="en-US" dirty="0"/>
              <a:t>IPS </a:t>
            </a:r>
            <a:r>
              <a:rPr lang="he-IL" dirty="0"/>
              <a:t> יכול לבצע כדי למנוע התקפות?</a:t>
            </a:r>
          </a:p>
          <a:p>
            <a:r>
              <a:rPr lang="he-IL" dirty="0"/>
              <a:t>5. איך תוכל להבטיח שה-</a:t>
            </a:r>
            <a:r>
              <a:rPr lang="en-US" dirty="0"/>
              <a:t>IPS </a:t>
            </a:r>
            <a:r>
              <a:rPr lang="he-IL" dirty="0"/>
              <a:t> שלך פועל בצורה אופטימלית?</a:t>
            </a:r>
          </a:p>
          <a:p>
            <a:endParaRPr lang="he-IL" dirty="0"/>
          </a:p>
        </p:txBody>
      </p:sp>
    </p:spTree>
    <p:extLst>
      <p:ext uri="{BB962C8B-B14F-4D97-AF65-F5344CB8AC3E}">
        <p14:creationId xmlns:p14="http://schemas.microsoft.com/office/powerpoint/2010/main" val="25060532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2AA3F66-6431-48EC-AB65-71D10EAD687A}"/>
              </a:ext>
            </a:extLst>
          </p:cNvPr>
          <p:cNvSpPr>
            <a:spLocks noGrp="1"/>
          </p:cNvSpPr>
          <p:nvPr>
            <p:ph type="title"/>
          </p:nvPr>
        </p:nvSpPr>
        <p:spPr>
          <a:xfrm>
            <a:off x="8060634" y="642594"/>
            <a:ext cx="3064565" cy="1371600"/>
          </a:xfrm>
        </p:spPr>
        <p:txBody>
          <a:bodyPr/>
          <a:lstStyle/>
          <a:p>
            <a:r>
              <a:rPr lang="he-IL" dirty="0"/>
              <a:t>המשך - </a:t>
            </a:r>
            <a:r>
              <a:rPr lang="en-US" dirty="0"/>
              <a:t>IPS</a:t>
            </a:r>
            <a:endParaRPr lang="he-IL" dirty="0"/>
          </a:p>
        </p:txBody>
      </p:sp>
      <p:sp>
        <p:nvSpPr>
          <p:cNvPr id="3" name="מציין מיקום תוכן 2">
            <a:extLst>
              <a:ext uri="{FF2B5EF4-FFF2-40B4-BE49-F238E27FC236}">
                <a16:creationId xmlns:a16="http://schemas.microsoft.com/office/drawing/2014/main" id="{36DA2090-2FB5-4DF7-9BF8-CC4C681B7716}"/>
              </a:ext>
            </a:extLst>
          </p:cNvPr>
          <p:cNvSpPr>
            <a:spLocks noGrp="1"/>
          </p:cNvSpPr>
          <p:nvPr>
            <p:ph idx="1"/>
          </p:nvPr>
        </p:nvSpPr>
        <p:spPr/>
        <p:txBody>
          <a:bodyPr/>
          <a:lstStyle/>
          <a:p>
            <a:r>
              <a:rPr lang="he-IL" dirty="0"/>
              <a:t>תשובות: </a:t>
            </a:r>
          </a:p>
          <a:p>
            <a:r>
              <a:rPr lang="he-IL" dirty="0"/>
              <a:t>1. </a:t>
            </a:r>
            <a:r>
              <a:rPr lang="en-US" dirty="0"/>
              <a:t>IDS</a:t>
            </a:r>
            <a:r>
              <a:rPr lang="he-IL" dirty="0"/>
              <a:t> מזהה ומתריע על התקפות, אך אינו מבצע פעולה אוטומטית למנוע אותן. </a:t>
            </a:r>
            <a:r>
              <a:rPr lang="en-US" dirty="0"/>
              <a:t>IPS</a:t>
            </a:r>
            <a:r>
              <a:rPr lang="he-IL" dirty="0"/>
              <a:t> גם מזהה התקפות, אך בנוסף מבצע פעולה אוטומטית כדי למנוע את ההתקפות.</a:t>
            </a:r>
          </a:p>
          <a:p>
            <a:r>
              <a:rPr lang="he-IL" dirty="0"/>
              <a:t>2. </a:t>
            </a:r>
            <a:r>
              <a:rPr lang="en-US" dirty="0"/>
              <a:t> IPS</a:t>
            </a:r>
            <a:r>
              <a:rPr lang="he-IL" dirty="0"/>
              <a:t>מבצע פעולות כמו חסימת כתובת</a:t>
            </a:r>
            <a:r>
              <a:rPr lang="en-US" dirty="0"/>
              <a:t>IP </a:t>
            </a:r>
            <a:r>
              <a:rPr lang="he-IL" dirty="0"/>
              <a:t>, חסימת פורטים, או סגירת חיבורי רשת כדי למנוע את ההתקפות ולמזער נזק אפשרי.</a:t>
            </a:r>
          </a:p>
          <a:p>
            <a:r>
              <a:rPr lang="he-IL" dirty="0"/>
              <a:t>3. חומת אש חוסמת תעבורה לא רצויה לפי חוקים שנקבעו מראש. </a:t>
            </a:r>
            <a:r>
              <a:rPr lang="en-US" dirty="0"/>
              <a:t>IPS</a:t>
            </a:r>
            <a:r>
              <a:rPr lang="he-IL" dirty="0"/>
              <a:t> מספק שכבת אבטחה נוספת על ידי זיהוי ומניעת התקפות בזמן אמת, כולל התקפות שיכולות לעבור את חומת האש.</a:t>
            </a:r>
          </a:p>
          <a:p>
            <a:r>
              <a:rPr lang="he-IL" dirty="0"/>
              <a:t>4. חסימת כתובת </a:t>
            </a:r>
            <a:r>
              <a:rPr lang="en-US" dirty="0"/>
              <a:t>IP</a:t>
            </a:r>
            <a:r>
              <a:rPr lang="he-IL" dirty="0"/>
              <a:t> חשודה, חסימת פורטים, סגירת חיבורי רשת, או הפסקת שירותים מסוימים.</a:t>
            </a:r>
          </a:p>
          <a:p>
            <a:r>
              <a:rPr lang="he-IL" dirty="0"/>
              <a:t>5. יש לעדכן את ה-</a:t>
            </a:r>
            <a:r>
              <a:rPr lang="en-US" dirty="0"/>
              <a:t>IPS </a:t>
            </a:r>
            <a:r>
              <a:rPr lang="he-IL" dirty="0"/>
              <a:t> בתדירות גבוהה כדי לכלול תבניות חדשות של התקפות, </a:t>
            </a:r>
            <a:r>
              <a:rPr lang="he-IL" dirty="0" err="1"/>
              <a:t>לנטר</a:t>
            </a:r>
            <a:r>
              <a:rPr lang="he-IL" dirty="0"/>
              <a:t> את היומנים כדי לזהות בעיות או שגיאות, ולהתאים את ההגדרות לצרכים הספציפיים של הרשת שלך.</a:t>
            </a:r>
          </a:p>
          <a:p>
            <a:endParaRPr lang="he-IL" dirty="0"/>
          </a:p>
        </p:txBody>
      </p:sp>
    </p:spTree>
    <p:extLst>
      <p:ext uri="{BB962C8B-B14F-4D97-AF65-F5344CB8AC3E}">
        <p14:creationId xmlns:p14="http://schemas.microsoft.com/office/powerpoint/2010/main" val="371267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D1D9FCE-11A2-40B1-852E-4B8C908C45A3}"/>
              </a:ext>
            </a:extLst>
          </p:cNvPr>
          <p:cNvSpPr>
            <a:spLocks noGrp="1"/>
          </p:cNvSpPr>
          <p:nvPr>
            <p:ph type="title"/>
          </p:nvPr>
        </p:nvSpPr>
        <p:spPr>
          <a:xfrm>
            <a:off x="8040756" y="642594"/>
            <a:ext cx="3084443" cy="1371600"/>
          </a:xfrm>
        </p:spPr>
        <p:txBody>
          <a:bodyPr/>
          <a:lstStyle/>
          <a:p>
            <a:r>
              <a:rPr lang="he-IL" dirty="0"/>
              <a:t>המשך - </a:t>
            </a:r>
            <a:r>
              <a:rPr lang="en-US" dirty="0"/>
              <a:t>IPS</a:t>
            </a:r>
            <a:endParaRPr lang="he-IL" dirty="0"/>
          </a:p>
        </p:txBody>
      </p:sp>
      <p:sp>
        <p:nvSpPr>
          <p:cNvPr id="3" name="מציין מיקום תוכן 2">
            <a:extLst>
              <a:ext uri="{FF2B5EF4-FFF2-40B4-BE49-F238E27FC236}">
                <a16:creationId xmlns:a16="http://schemas.microsoft.com/office/drawing/2014/main" id="{0031BCC5-1907-4898-BF88-FFD1A4E15024}"/>
              </a:ext>
            </a:extLst>
          </p:cNvPr>
          <p:cNvSpPr>
            <a:spLocks noGrp="1"/>
          </p:cNvSpPr>
          <p:nvPr>
            <p:ph idx="1"/>
          </p:nvPr>
        </p:nvSpPr>
        <p:spPr/>
        <p:txBody>
          <a:bodyPr/>
          <a:lstStyle/>
          <a:p>
            <a:r>
              <a:rPr lang="he-IL" dirty="0"/>
              <a:t>שאלות מעבר למצופה:</a:t>
            </a:r>
          </a:p>
          <a:p>
            <a:r>
              <a:rPr lang="he-IL" dirty="0"/>
              <a:t>1. מה היתרונות והחסרונות של שילוב חומת אש עם</a:t>
            </a:r>
            <a:r>
              <a:rPr lang="en-US" dirty="0"/>
              <a:t>IDS </a:t>
            </a:r>
            <a:r>
              <a:rPr lang="he-IL" dirty="0"/>
              <a:t> ו-</a:t>
            </a:r>
            <a:r>
              <a:rPr lang="en-US" dirty="0"/>
              <a:t>IPS </a:t>
            </a:r>
            <a:r>
              <a:rPr lang="he-IL" dirty="0"/>
              <a:t> ברשת אחת?</a:t>
            </a:r>
          </a:p>
          <a:p>
            <a:r>
              <a:rPr lang="he-IL" dirty="0"/>
              <a:t>2. באיזה מקרים </a:t>
            </a:r>
            <a:r>
              <a:rPr lang="en-US" dirty="0"/>
              <a:t>IDS</a:t>
            </a:r>
            <a:r>
              <a:rPr lang="he-IL" dirty="0"/>
              <a:t> יכול להפיק התראות שווא ואיך ניתן למזער זאת?</a:t>
            </a:r>
          </a:p>
          <a:p>
            <a:r>
              <a:rPr lang="he-IL" dirty="0"/>
              <a:t>3. איך חומת אש, </a:t>
            </a:r>
            <a:r>
              <a:rPr lang="en-US" dirty="0"/>
              <a:t>IDS</a:t>
            </a:r>
            <a:r>
              <a:rPr lang="he-IL" dirty="0"/>
              <a:t> ו-</a:t>
            </a:r>
            <a:r>
              <a:rPr lang="en-US" dirty="0"/>
              <a:t> IPS </a:t>
            </a:r>
            <a:r>
              <a:rPr lang="he-IL" dirty="0"/>
              <a:t>יכולים לשתף פעולה במקרה של התקפת </a:t>
            </a:r>
            <a:r>
              <a:rPr lang="en-US" dirty="0"/>
              <a:t>DDoS</a:t>
            </a:r>
            <a:r>
              <a:rPr lang="he-IL" dirty="0"/>
              <a:t> ?</a:t>
            </a:r>
          </a:p>
          <a:p>
            <a:endParaRPr lang="he-IL" dirty="0"/>
          </a:p>
        </p:txBody>
      </p:sp>
    </p:spTree>
    <p:extLst>
      <p:ext uri="{BB962C8B-B14F-4D97-AF65-F5344CB8AC3E}">
        <p14:creationId xmlns:p14="http://schemas.microsoft.com/office/powerpoint/2010/main" val="25752848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2EF090B-00AF-4C21-8138-84E901DADB47}"/>
              </a:ext>
            </a:extLst>
          </p:cNvPr>
          <p:cNvSpPr>
            <a:spLocks noGrp="1"/>
          </p:cNvSpPr>
          <p:nvPr>
            <p:ph type="title"/>
          </p:nvPr>
        </p:nvSpPr>
        <p:spPr>
          <a:xfrm>
            <a:off x="7911548" y="642594"/>
            <a:ext cx="3213652" cy="1371600"/>
          </a:xfrm>
        </p:spPr>
        <p:txBody>
          <a:bodyPr/>
          <a:lstStyle/>
          <a:p>
            <a:r>
              <a:rPr lang="he-IL" dirty="0"/>
              <a:t>המשך - </a:t>
            </a:r>
            <a:r>
              <a:rPr lang="en-US" dirty="0"/>
              <a:t>IPS</a:t>
            </a:r>
            <a:endParaRPr lang="he-IL" dirty="0"/>
          </a:p>
        </p:txBody>
      </p:sp>
      <p:sp>
        <p:nvSpPr>
          <p:cNvPr id="3" name="מציין מיקום תוכן 2">
            <a:extLst>
              <a:ext uri="{FF2B5EF4-FFF2-40B4-BE49-F238E27FC236}">
                <a16:creationId xmlns:a16="http://schemas.microsoft.com/office/drawing/2014/main" id="{F6677AEA-C913-4302-864D-8B199DB370F3}"/>
              </a:ext>
            </a:extLst>
          </p:cNvPr>
          <p:cNvSpPr>
            <a:spLocks noGrp="1"/>
          </p:cNvSpPr>
          <p:nvPr>
            <p:ph idx="1"/>
          </p:nvPr>
        </p:nvSpPr>
        <p:spPr/>
        <p:txBody>
          <a:bodyPr>
            <a:normAutofit/>
          </a:bodyPr>
          <a:lstStyle/>
          <a:p>
            <a:r>
              <a:rPr lang="he-IL" dirty="0"/>
              <a:t>תשובות מעבר למצופה:</a:t>
            </a:r>
          </a:p>
          <a:p>
            <a:r>
              <a:rPr lang="he-IL" dirty="0"/>
              <a:t>1. </a:t>
            </a:r>
          </a:p>
          <a:p>
            <a:r>
              <a:rPr lang="he-IL" b="1" dirty="0"/>
              <a:t>יתרונות</a:t>
            </a:r>
            <a:r>
              <a:rPr lang="he-IL" dirty="0"/>
              <a:t>:</a:t>
            </a:r>
          </a:p>
          <a:p>
            <a:r>
              <a:rPr lang="he-IL" dirty="0"/>
              <a:t>1. מספק הגנה רב-שכבתית.</a:t>
            </a:r>
          </a:p>
          <a:p>
            <a:r>
              <a:rPr lang="he-IL" dirty="0"/>
              <a:t>2. יכול לזהות ולמנוע התקפות ברמות שונות של הרשת.</a:t>
            </a:r>
          </a:p>
          <a:p>
            <a:r>
              <a:rPr lang="he-IL" dirty="0"/>
              <a:t>3. מאפשר ניטור מתמיד ותגובה מהירה לאיומים.</a:t>
            </a:r>
          </a:p>
          <a:p>
            <a:r>
              <a:rPr lang="he-IL" b="1" dirty="0"/>
              <a:t>חסרונות</a:t>
            </a:r>
            <a:r>
              <a:rPr lang="he-IL" dirty="0"/>
              <a:t>:</a:t>
            </a:r>
          </a:p>
          <a:p>
            <a:r>
              <a:rPr lang="he-IL" dirty="0"/>
              <a:t>1. עלויות גבוהות של התקנה ותחזוקה.</a:t>
            </a:r>
          </a:p>
          <a:p>
            <a:r>
              <a:rPr lang="he-IL" dirty="0"/>
              <a:t>2. דורש ניהול מורכב יותר של ההגדרות והחוקים.</a:t>
            </a:r>
          </a:p>
          <a:p>
            <a:r>
              <a:rPr lang="he-IL" dirty="0"/>
              <a:t>3. סיכון להתרעות שווא (</a:t>
            </a:r>
            <a:r>
              <a:rPr lang="en-US" dirty="0"/>
              <a:t>False Positives) </a:t>
            </a:r>
            <a:r>
              <a:rPr lang="he-IL" dirty="0"/>
              <a:t>שדורשות תשומת לב מתמדת.</a:t>
            </a:r>
          </a:p>
          <a:p>
            <a:endParaRPr lang="he-IL" dirty="0"/>
          </a:p>
          <a:p>
            <a:endParaRPr lang="he-IL" dirty="0"/>
          </a:p>
          <a:p>
            <a:endParaRPr lang="he-IL" dirty="0"/>
          </a:p>
        </p:txBody>
      </p:sp>
    </p:spTree>
    <p:extLst>
      <p:ext uri="{BB962C8B-B14F-4D97-AF65-F5344CB8AC3E}">
        <p14:creationId xmlns:p14="http://schemas.microsoft.com/office/powerpoint/2010/main" val="15460522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0B6D9E0-7462-4563-AD56-4E451F95CE87}"/>
              </a:ext>
            </a:extLst>
          </p:cNvPr>
          <p:cNvSpPr>
            <a:spLocks noGrp="1"/>
          </p:cNvSpPr>
          <p:nvPr>
            <p:ph type="title"/>
          </p:nvPr>
        </p:nvSpPr>
        <p:spPr>
          <a:xfrm>
            <a:off x="8010938" y="642594"/>
            <a:ext cx="3114261" cy="1371600"/>
          </a:xfrm>
        </p:spPr>
        <p:txBody>
          <a:bodyPr/>
          <a:lstStyle/>
          <a:p>
            <a:r>
              <a:rPr lang="he-IL" dirty="0"/>
              <a:t>המשך - </a:t>
            </a:r>
            <a:r>
              <a:rPr lang="en-US" dirty="0"/>
              <a:t>IPS</a:t>
            </a:r>
            <a:endParaRPr lang="he-IL" dirty="0"/>
          </a:p>
        </p:txBody>
      </p:sp>
      <p:sp>
        <p:nvSpPr>
          <p:cNvPr id="3" name="מציין מיקום תוכן 2">
            <a:extLst>
              <a:ext uri="{FF2B5EF4-FFF2-40B4-BE49-F238E27FC236}">
                <a16:creationId xmlns:a16="http://schemas.microsoft.com/office/drawing/2014/main" id="{169BA271-BD03-4835-AEEE-178CF7EFA6C2}"/>
              </a:ext>
            </a:extLst>
          </p:cNvPr>
          <p:cNvSpPr>
            <a:spLocks noGrp="1"/>
          </p:cNvSpPr>
          <p:nvPr>
            <p:ph idx="1"/>
          </p:nvPr>
        </p:nvSpPr>
        <p:spPr/>
        <p:txBody>
          <a:bodyPr/>
          <a:lstStyle/>
          <a:p>
            <a:r>
              <a:rPr lang="he-IL" dirty="0"/>
              <a:t>המשך תשובות מעבר למצופה:</a:t>
            </a:r>
          </a:p>
          <a:p>
            <a:r>
              <a:rPr lang="he-IL" dirty="0"/>
              <a:t>2. </a:t>
            </a:r>
            <a:r>
              <a:rPr lang="en-US" dirty="0"/>
              <a:t>IDS</a:t>
            </a:r>
            <a:r>
              <a:rPr lang="he-IL" dirty="0"/>
              <a:t> יכול להפיק התראות שווא כאשר הוא מזהה פעילות לגיטימית כפעילות חשודה בגלל חוקים לא נכונים או תבניות לא מעודכנות. ניתן למזער התראות שווא על ידי עדכון תדיר של חוקים ותבניות התקפות, התאמת החוקים לצרכים הספציפיים של הרשת, והפעלת ניתוח התנהגותי שמאפשר זיהוי מדויק יותר של פעילות חשודה.</a:t>
            </a:r>
          </a:p>
          <a:p>
            <a:r>
              <a:rPr lang="he-IL" dirty="0"/>
              <a:t>3. חומת אש יכולה לחסום תעבורה לא רצויה ולהגביל את מספר החיבורים מהמקור החשוד. </a:t>
            </a:r>
            <a:r>
              <a:rPr lang="en-US" dirty="0"/>
              <a:t> IDS</a:t>
            </a:r>
            <a:r>
              <a:rPr lang="he-IL" dirty="0"/>
              <a:t>יכול לזהות פעילות חריגה בנוגע לתעבורה שנכנסת ולא מורשית.</a:t>
            </a:r>
            <a:r>
              <a:rPr lang="en-US" dirty="0"/>
              <a:t>IPS </a:t>
            </a:r>
            <a:r>
              <a:rPr lang="he-IL" dirty="0"/>
              <a:t> יכול להגיב בצורה אוטומטית על ידי חסימת כתובות </a:t>
            </a:r>
            <a:r>
              <a:rPr lang="en-US" dirty="0"/>
              <a:t>IP</a:t>
            </a:r>
            <a:r>
              <a:rPr lang="he-IL" dirty="0"/>
              <a:t> חשודות והגבלת תעבורה מכתובות מסוימות כדי למנוע את ההתקפה. השילוב בין המערכות מאפשר תגובה מהירה ויעילה יותר להתקפות </a:t>
            </a:r>
            <a:r>
              <a:rPr lang="en-US" dirty="0"/>
              <a:t>DDoS</a:t>
            </a:r>
            <a:r>
              <a:rPr lang="he-IL" dirty="0"/>
              <a:t>.</a:t>
            </a:r>
          </a:p>
        </p:txBody>
      </p:sp>
    </p:spTree>
    <p:extLst>
      <p:ext uri="{BB962C8B-B14F-4D97-AF65-F5344CB8AC3E}">
        <p14:creationId xmlns:p14="http://schemas.microsoft.com/office/powerpoint/2010/main" val="5540347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875F149-BB44-4B89-AEDF-E3F9E1D7AC95}"/>
              </a:ext>
            </a:extLst>
          </p:cNvPr>
          <p:cNvSpPr>
            <a:spLocks noGrp="1"/>
          </p:cNvSpPr>
          <p:nvPr>
            <p:ph type="title"/>
          </p:nvPr>
        </p:nvSpPr>
        <p:spPr>
          <a:xfrm>
            <a:off x="8746434" y="642594"/>
            <a:ext cx="2378765" cy="1371600"/>
          </a:xfrm>
        </p:spPr>
        <p:txBody>
          <a:bodyPr/>
          <a:lstStyle/>
          <a:p>
            <a:r>
              <a:rPr lang="he-IL" dirty="0"/>
              <a:t>סנסורים</a:t>
            </a:r>
          </a:p>
        </p:txBody>
      </p:sp>
      <p:sp>
        <p:nvSpPr>
          <p:cNvPr id="3" name="מציין מיקום תוכן 2">
            <a:extLst>
              <a:ext uri="{FF2B5EF4-FFF2-40B4-BE49-F238E27FC236}">
                <a16:creationId xmlns:a16="http://schemas.microsoft.com/office/drawing/2014/main" id="{D96FA5C7-6E7A-4E4E-B53F-204220DC5614}"/>
              </a:ext>
            </a:extLst>
          </p:cNvPr>
          <p:cNvSpPr>
            <a:spLocks noGrp="1"/>
          </p:cNvSpPr>
          <p:nvPr>
            <p:ph idx="1"/>
          </p:nvPr>
        </p:nvSpPr>
        <p:spPr/>
        <p:txBody>
          <a:bodyPr/>
          <a:lstStyle/>
          <a:p>
            <a:r>
              <a:rPr lang="he-IL" dirty="0"/>
              <a:t>פתיחה לחכמה: סנסורים הם התקנים או תוכנות המיועדים לאסוף מידע מרשת מחשבים או מערכת מחשוב לצורך ניתוח, ניטור וזיהוי איומים או פעילות חשודה. השימוש בסנסורים הוא חלק בלתי נפרד ממערכות אבטחת מידע כמו </a:t>
            </a:r>
            <a:r>
              <a:rPr lang="en-US" dirty="0"/>
              <a:t>IDS</a:t>
            </a:r>
            <a:r>
              <a:rPr lang="he-IL" dirty="0"/>
              <a:t> ו-</a:t>
            </a:r>
            <a:r>
              <a:rPr lang="en-US" dirty="0"/>
              <a:t>IPS </a:t>
            </a:r>
            <a:r>
              <a:rPr lang="he-IL" dirty="0"/>
              <a:t>, ומטרתו לזהות ולמנוע התקפות פוטנציאליות.</a:t>
            </a:r>
          </a:p>
          <a:p>
            <a:r>
              <a:rPr lang="he-IL" b="1" dirty="0"/>
              <a:t>ישנם 2 סוגי סנסורים: </a:t>
            </a:r>
          </a:p>
          <a:p>
            <a:r>
              <a:rPr lang="he-IL" dirty="0"/>
              <a:t>סנסורים מבוססי רשת </a:t>
            </a:r>
            <a:r>
              <a:rPr lang="en-US" dirty="0"/>
              <a:t> :Network-based Sensors</a:t>
            </a:r>
            <a:r>
              <a:rPr lang="he-IL" dirty="0"/>
              <a:t>ממוקמים בנקודות מפתח ברשת </a:t>
            </a:r>
            <a:r>
              <a:rPr lang="he-IL" dirty="0" err="1"/>
              <a:t>ומנטרים</a:t>
            </a:r>
            <a:r>
              <a:rPr lang="he-IL" dirty="0"/>
              <a:t> את כל התעבורה הנכנסת והיוצאת. בנוסף הם מזהים התקפות על ידי ניתוח התעבורה שעוברת בנקודות אלו.</a:t>
            </a:r>
          </a:p>
          <a:p>
            <a:r>
              <a:rPr lang="he-IL" dirty="0"/>
              <a:t>סנסורים מבוססי מארח </a:t>
            </a:r>
            <a:r>
              <a:rPr lang="en-US" dirty="0"/>
              <a:t> :Host-based Sensors</a:t>
            </a:r>
            <a:r>
              <a:rPr lang="he-IL" dirty="0"/>
              <a:t>מותקנים על מחשבים או שרתים ספציפיים </a:t>
            </a:r>
            <a:r>
              <a:rPr lang="he-IL" dirty="0" err="1"/>
              <a:t>ומנטרים</a:t>
            </a:r>
            <a:r>
              <a:rPr lang="he-IL" dirty="0"/>
              <a:t> את הפעילות המקומית. בנוסף הם גם מזהים התקפות על ידי ניתוח פעילות חשודה במחשב או בשרת בו הם מותקנים.</a:t>
            </a:r>
          </a:p>
          <a:p>
            <a:endParaRPr lang="he-IL" dirty="0"/>
          </a:p>
        </p:txBody>
      </p:sp>
    </p:spTree>
    <p:extLst>
      <p:ext uri="{BB962C8B-B14F-4D97-AF65-F5344CB8AC3E}">
        <p14:creationId xmlns:p14="http://schemas.microsoft.com/office/powerpoint/2010/main" val="41030863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B8DB22C-F680-4885-B6C3-7FFEA5C93E12}"/>
              </a:ext>
            </a:extLst>
          </p:cNvPr>
          <p:cNvSpPr>
            <a:spLocks noGrp="1"/>
          </p:cNvSpPr>
          <p:nvPr>
            <p:ph type="title"/>
          </p:nvPr>
        </p:nvSpPr>
        <p:spPr>
          <a:xfrm>
            <a:off x="6639338" y="642594"/>
            <a:ext cx="4485861" cy="1371600"/>
          </a:xfrm>
        </p:spPr>
        <p:txBody>
          <a:bodyPr/>
          <a:lstStyle/>
          <a:p>
            <a:r>
              <a:rPr lang="he-IL" dirty="0"/>
              <a:t>המשך – סנסורים:</a:t>
            </a:r>
          </a:p>
        </p:txBody>
      </p:sp>
      <p:sp>
        <p:nvSpPr>
          <p:cNvPr id="3" name="מציין מיקום תוכן 2">
            <a:extLst>
              <a:ext uri="{FF2B5EF4-FFF2-40B4-BE49-F238E27FC236}">
                <a16:creationId xmlns:a16="http://schemas.microsoft.com/office/drawing/2014/main" id="{B35B1461-9589-4E14-BB2F-E76CE152E8C1}"/>
              </a:ext>
            </a:extLst>
          </p:cNvPr>
          <p:cNvSpPr>
            <a:spLocks noGrp="1"/>
          </p:cNvSpPr>
          <p:nvPr>
            <p:ph idx="1"/>
          </p:nvPr>
        </p:nvSpPr>
        <p:spPr/>
        <p:txBody>
          <a:bodyPr>
            <a:normAutofit fontScale="92500" lnSpcReduction="20000"/>
          </a:bodyPr>
          <a:lstStyle/>
          <a:p>
            <a:r>
              <a:rPr lang="he-IL" sz="2600" b="1" u="sng" dirty="0"/>
              <a:t>סנסורים מבוססי רשת </a:t>
            </a:r>
            <a:r>
              <a:rPr lang="en-US" sz="2600" b="1" u="sng" dirty="0"/>
              <a:t>Network-based Sensors</a:t>
            </a:r>
            <a:r>
              <a:rPr lang="he-IL" b="1" u="sng" dirty="0"/>
              <a:t> </a:t>
            </a:r>
          </a:p>
          <a:p>
            <a:r>
              <a:rPr lang="he-IL" b="1" dirty="0"/>
              <a:t>הגדרה:</a:t>
            </a:r>
            <a:r>
              <a:rPr lang="he-IL" dirty="0"/>
              <a:t> סנסורים מבוססי רשת הם התקנים או תוכנות המיועדים </a:t>
            </a:r>
            <a:r>
              <a:rPr lang="he-IL" dirty="0" err="1"/>
              <a:t>לנטר</a:t>
            </a:r>
            <a:r>
              <a:rPr lang="he-IL" dirty="0"/>
              <a:t> את כל התעבורה העוברת ברשת מסוימת. הם ממוקמים בנקודות מפתח ברשת כמו נתבים, שערים </a:t>
            </a:r>
            <a:r>
              <a:rPr lang="en-US" dirty="0"/>
              <a:t>gateways</a:t>
            </a:r>
            <a:r>
              <a:rPr lang="he-IL" dirty="0"/>
              <a:t> ומתגים </a:t>
            </a:r>
            <a:r>
              <a:rPr lang="en-US" dirty="0"/>
              <a:t>switches</a:t>
            </a:r>
            <a:endParaRPr lang="he-IL" dirty="0"/>
          </a:p>
          <a:p>
            <a:r>
              <a:rPr lang="he-IL" b="1" dirty="0"/>
              <a:t>איך זה עובד:</a:t>
            </a:r>
            <a:endParaRPr lang="he-IL" dirty="0"/>
          </a:p>
          <a:p>
            <a:r>
              <a:rPr lang="he-IL" b="1" dirty="0"/>
              <a:t>איסוף נתונים:</a:t>
            </a:r>
            <a:endParaRPr lang="he-IL" dirty="0"/>
          </a:p>
          <a:p>
            <a:pPr lvl="1"/>
            <a:r>
              <a:rPr lang="he-IL" dirty="0"/>
              <a:t>הסנסור מבוסס הרשת מקבל </a:t>
            </a:r>
            <a:r>
              <a:rPr lang="he-IL" dirty="0" err="1"/>
              <a:t>ומנטר</a:t>
            </a:r>
            <a:r>
              <a:rPr lang="he-IL" dirty="0"/>
              <a:t> את כל המידע העוברת בנקודת המפתח ברשת.</a:t>
            </a:r>
          </a:p>
          <a:p>
            <a:pPr lvl="1"/>
            <a:r>
              <a:rPr lang="he-IL" dirty="0"/>
              <a:t>הוא אוסף נתונים כמו כתובות</a:t>
            </a:r>
            <a:r>
              <a:rPr lang="en-US" dirty="0"/>
              <a:t> IP </a:t>
            </a:r>
            <a:r>
              <a:rPr lang="he-IL" dirty="0"/>
              <a:t>פורטים, פרוטוקולים, ותוכן התעבורה.</a:t>
            </a:r>
          </a:p>
          <a:p>
            <a:r>
              <a:rPr lang="he-IL" b="1" dirty="0"/>
              <a:t>ניתוח נתונים:</a:t>
            </a:r>
            <a:endParaRPr lang="he-IL" dirty="0"/>
          </a:p>
          <a:p>
            <a:pPr lvl="1"/>
            <a:r>
              <a:rPr lang="he-IL" dirty="0"/>
              <a:t>הסנסור משווה את התעבורה לתבניות התקפות ידועות ולחוקים שנקבעו מראש.</a:t>
            </a:r>
          </a:p>
          <a:p>
            <a:pPr lvl="1"/>
            <a:r>
              <a:rPr lang="he-IL" dirty="0"/>
              <a:t>הוא מזהה דפוסים חשודים כמו ניסיונות סריקת פורטים, תעבורה חריגה או התקפות מניעת שירות </a:t>
            </a:r>
            <a:r>
              <a:rPr lang="en-US" dirty="0"/>
              <a:t>DoS</a:t>
            </a:r>
          </a:p>
          <a:p>
            <a:r>
              <a:rPr lang="he-IL" b="1" dirty="0"/>
              <a:t>זיהוי והתרעה:</a:t>
            </a:r>
            <a:endParaRPr lang="he-IL" dirty="0"/>
          </a:p>
          <a:p>
            <a:pPr lvl="1"/>
            <a:r>
              <a:rPr lang="he-IL" dirty="0"/>
              <a:t>במקרה של זיהוי פעילות חשודה, הסנסור שולח התרעה למערכת הניטור או למנהל המערכת.</a:t>
            </a:r>
          </a:p>
          <a:p>
            <a:pPr lvl="1"/>
            <a:r>
              <a:rPr lang="he-IL" dirty="0"/>
              <a:t>התרעה יכולה לכלול מידע כמו כתובת </a:t>
            </a:r>
            <a:r>
              <a:rPr lang="en-US" dirty="0"/>
              <a:t>IP</a:t>
            </a:r>
            <a:r>
              <a:rPr lang="he-IL" dirty="0"/>
              <a:t> חשודה, פורט, וסוג ההתקפה.</a:t>
            </a:r>
          </a:p>
          <a:p>
            <a:endParaRPr lang="he-IL" b="1" dirty="0"/>
          </a:p>
        </p:txBody>
      </p:sp>
    </p:spTree>
    <p:extLst>
      <p:ext uri="{BB962C8B-B14F-4D97-AF65-F5344CB8AC3E}">
        <p14:creationId xmlns:p14="http://schemas.microsoft.com/office/powerpoint/2010/main" val="15990946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D009E6B-5487-4055-ABE8-801BAB0DCC88}"/>
              </a:ext>
            </a:extLst>
          </p:cNvPr>
          <p:cNvSpPr>
            <a:spLocks noGrp="1"/>
          </p:cNvSpPr>
          <p:nvPr>
            <p:ph type="title"/>
          </p:nvPr>
        </p:nvSpPr>
        <p:spPr>
          <a:xfrm>
            <a:off x="6559826" y="642594"/>
            <a:ext cx="4565374" cy="1371600"/>
          </a:xfrm>
        </p:spPr>
        <p:txBody>
          <a:bodyPr/>
          <a:lstStyle/>
          <a:p>
            <a:r>
              <a:rPr lang="he-IL" dirty="0"/>
              <a:t>המשך – סנסורים:</a:t>
            </a:r>
          </a:p>
        </p:txBody>
      </p:sp>
      <p:sp>
        <p:nvSpPr>
          <p:cNvPr id="3" name="מציין מיקום תוכן 2">
            <a:extLst>
              <a:ext uri="{FF2B5EF4-FFF2-40B4-BE49-F238E27FC236}">
                <a16:creationId xmlns:a16="http://schemas.microsoft.com/office/drawing/2014/main" id="{167CC801-5DAE-433F-B38A-7E2C0582D6FA}"/>
              </a:ext>
            </a:extLst>
          </p:cNvPr>
          <p:cNvSpPr>
            <a:spLocks noGrp="1"/>
          </p:cNvSpPr>
          <p:nvPr>
            <p:ph idx="1"/>
          </p:nvPr>
        </p:nvSpPr>
        <p:spPr/>
        <p:txBody>
          <a:bodyPr>
            <a:normAutofit lnSpcReduction="10000"/>
          </a:bodyPr>
          <a:lstStyle/>
          <a:p>
            <a:r>
              <a:rPr lang="he-IL" sz="3200" b="1" u="sng" dirty="0"/>
              <a:t>סנסורים מבוססי רשת </a:t>
            </a:r>
            <a:r>
              <a:rPr lang="en-US" sz="3200" b="1" u="sng" dirty="0"/>
              <a:t>Network-based Sensors</a:t>
            </a:r>
            <a:r>
              <a:rPr lang="he-IL" sz="3200" b="1" u="sng" dirty="0"/>
              <a:t> </a:t>
            </a:r>
            <a:endParaRPr lang="he-IL" sz="3200" b="1" dirty="0"/>
          </a:p>
          <a:p>
            <a:r>
              <a:rPr lang="he-IL" b="1" dirty="0"/>
              <a:t>יתרונות:</a:t>
            </a:r>
            <a:endParaRPr lang="he-IL" dirty="0"/>
          </a:p>
          <a:p>
            <a:r>
              <a:rPr lang="he-IL" dirty="0" err="1"/>
              <a:t>מנטר</a:t>
            </a:r>
            <a:r>
              <a:rPr lang="he-IL" dirty="0"/>
              <a:t> את כל התעבורה העוברת ברשת, מה שמאפשר זיהוי של התקפות על כל המערכות המחוברות לרשת.</a:t>
            </a:r>
          </a:p>
          <a:p>
            <a:r>
              <a:rPr lang="he-IL" dirty="0"/>
              <a:t>אינו תלוי במערכת ההפעלה של מחשבים מסוימים ברשת.</a:t>
            </a:r>
          </a:p>
          <a:p>
            <a:r>
              <a:rPr lang="he-IL" b="1" dirty="0"/>
              <a:t>חסרונות:</a:t>
            </a:r>
            <a:endParaRPr lang="he-IL" dirty="0"/>
          </a:p>
          <a:p>
            <a:r>
              <a:rPr lang="he-IL" dirty="0"/>
              <a:t>עלול להחמיץ התקפות שמתרחשות בתוך תחנות קצה שלא מעבירות את התעבורה דרך הסנסור.</a:t>
            </a:r>
          </a:p>
          <a:p>
            <a:r>
              <a:rPr lang="he-IL" dirty="0"/>
              <a:t>דורש משאבים רבים לניתוח תעבורה ברשתות גדולות ומורכבות.</a:t>
            </a:r>
          </a:p>
          <a:p>
            <a:r>
              <a:rPr lang="he-IL" b="1" dirty="0"/>
              <a:t>דוגמה:</a:t>
            </a:r>
            <a:endParaRPr lang="he-IL" dirty="0"/>
          </a:p>
          <a:p>
            <a:r>
              <a:rPr lang="he-IL" dirty="0"/>
              <a:t>סנסור הממוקם בנתב האינטרנט של ארגון </a:t>
            </a:r>
            <a:r>
              <a:rPr lang="he-IL" dirty="0" err="1"/>
              <a:t>ומנטר</a:t>
            </a:r>
            <a:r>
              <a:rPr lang="he-IL" dirty="0"/>
              <a:t> את כל התעבורה הנכנסת והיוצאת מהארגון, כולל זיהוי ניסיונות פריצה או התקפות מניעת שירות.</a:t>
            </a:r>
          </a:p>
          <a:p>
            <a:endParaRPr lang="he-IL" dirty="0"/>
          </a:p>
        </p:txBody>
      </p:sp>
    </p:spTree>
    <p:extLst>
      <p:ext uri="{BB962C8B-B14F-4D97-AF65-F5344CB8AC3E}">
        <p14:creationId xmlns:p14="http://schemas.microsoft.com/office/powerpoint/2010/main" val="3920085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36373D5-8CAB-4083-8180-81022B7D6BC3}"/>
              </a:ext>
            </a:extLst>
          </p:cNvPr>
          <p:cNvSpPr>
            <a:spLocks noGrp="1"/>
          </p:cNvSpPr>
          <p:nvPr>
            <p:ph type="title"/>
          </p:nvPr>
        </p:nvSpPr>
        <p:spPr>
          <a:xfrm>
            <a:off x="6559826" y="642594"/>
            <a:ext cx="4565374" cy="1371600"/>
          </a:xfrm>
        </p:spPr>
        <p:txBody>
          <a:bodyPr/>
          <a:lstStyle/>
          <a:p>
            <a:r>
              <a:rPr lang="he-IL" dirty="0"/>
              <a:t>המשך – סנסורים:</a:t>
            </a:r>
          </a:p>
        </p:txBody>
      </p:sp>
      <p:sp>
        <p:nvSpPr>
          <p:cNvPr id="3" name="מציין מיקום תוכן 2">
            <a:extLst>
              <a:ext uri="{FF2B5EF4-FFF2-40B4-BE49-F238E27FC236}">
                <a16:creationId xmlns:a16="http://schemas.microsoft.com/office/drawing/2014/main" id="{8F54D5B0-D454-4A97-BC17-6F6C9567EAB3}"/>
              </a:ext>
            </a:extLst>
          </p:cNvPr>
          <p:cNvSpPr>
            <a:spLocks noGrp="1"/>
          </p:cNvSpPr>
          <p:nvPr>
            <p:ph idx="1"/>
          </p:nvPr>
        </p:nvSpPr>
        <p:spPr/>
        <p:txBody>
          <a:bodyPr>
            <a:normAutofit fontScale="92500" lnSpcReduction="20000"/>
          </a:bodyPr>
          <a:lstStyle/>
          <a:p>
            <a:r>
              <a:rPr lang="he-IL" sz="2400" b="1" u="sng" dirty="0"/>
              <a:t>סנסורים מבוססי מארח </a:t>
            </a:r>
            <a:r>
              <a:rPr lang="en-US" sz="2400" b="1" u="sng" dirty="0"/>
              <a:t>Host-based Sensors</a:t>
            </a:r>
            <a:endParaRPr lang="he-IL" sz="2400" b="1" u="sng" dirty="0"/>
          </a:p>
          <a:p>
            <a:r>
              <a:rPr lang="he-IL" b="1" dirty="0"/>
              <a:t>הגדרה:</a:t>
            </a:r>
            <a:r>
              <a:rPr lang="he-IL" dirty="0"/>
              <a:t> סנסורים מבוססי מארח הם תוכנות המותקנות ישירות על מחשבים או שרתים, </a:t>
            </a:r>
            <a:r>
              <a:rPr lang="he-IL" dirty="0" err="1"/>
              <a:t>ומנטרים</a:t>
            </a:r>
            <a:r>
              <a:rPr lang="he-IL" dirty="0"/>
              <a:t> את הפעילות המקומית על אותם מחשבים או שרתים.</a:t>
            </a:r>
          </a:p>
          <a:p>
            <a:r>
              <a:rPr lang="he-IL" b="1" dirty="0"/>
              <a:t>איך זה עובד:</a:t>
            </a:r>
            <a:endParaRPr lang="he-IL" dirty="0"/>
          </a:p>
          <a:p>
            <a:r>
              <a:rPr lang="he-IL" b="1" dirty="0"/>
              <a:t>איסוף נתונים:</a:t>
            </a:r>
            <a:endParaRPr lang="he-IL" dirty="0"/>
          </a:p>
          <a:p>
            <a:pPr lvl="1"/>
            <a:r>
              <a:rPr lang="he-IL" dirty="0"/>
              <a:t>הסנסור אוסף מידע מפעילות המחשב או השרת עליו הוא מותקן.</a:t>
            </a:r>
          </a:p>
          <a:p>
            <a:pPr lvl="1"/>
            <a:r>
              <a:rPr lang="he-IL" dirty="0"/>
              <a:t>כולל יומני מערכת</a:t>
            </a:r>
            <a:r>
              <a:rPr lang="en-US" dirty="0"/>
              <a:t>log files </a:t>
            </a:r>
            <a:r>
              <a:rPr lang="he-IL" dirty="0"/>
              <a:t> פעולות משתמשים, גישת קבצים, והרצת תהליכים.</a:t>
            </a:r>
          </a:p>
          <a:p>
            <a:r>
              <a:rPr lang="he-IL" b="1" dirty="0"/>
              <a:t>ניתוח נתונים:</a:t>
            </a:r>
            <a:endParaRPr lang="he-IL" dirty="0"/>
          </a:p>
          <a:p>
            <a:pPr lvl="1"/>
            <a:r>
              <a:rPr lang="he-IL" dirty="0"/>
              <a:t>הסנסור מנתח את המידע המקומי ומשווה אותו לתבניות התקפות ידועות או לחוקים שנקבעו מראש.</a:t>
            </a:r>
          </a:p>
          <a:p>
            <a:pPr lvl="1"/>
            <a:r>
              <a:rPr lang="he-IL" dirty="0"/>
              <a:t>מזהה פעולות חשודות כמו ניסיונות התחברות לא חוקיים, שינויים בקבצים חשובים, או התקנות תוכנות לא מורשות.</a:t>
            </a:r>
          </a:p>
          <a:p>
            <a:r>
              <a:rPr lang="he-IL" b="1" dirty="0"/>
              <a:t>זיהוי והתרעה:</a:t>
            </a:r>
            <a:endParaRPr lang="he-IL" dirty="0"/>
          </a:p>
          <a:p>
            <a:pPr lvl="1"/>
            <a:r>
              <a:rPr lang="he-IL" dirty="0"/>
              <a:t>במקרה של זיהוי פעילות חשודה, הסנסור שולח התרעה למערכת הניטור או למנהל המערכת.</a:t>
            </a:r>
          </a:p>
          <a:p>
            <a:pPr lvl="1"/>
            <a:r>
              <a:rPr lang="he-IL" dirty="0"/>
              <a:t>התרעה יכולה לכלול מידע כמו תהליך חשוד, שינוי בקובץ מערכת, או ניסיון התחברות כושל.</a:t>
            </a:r>
          </a:p>
          <a:p>
            <a:endParaRPr lang="he-IL" dirty="0"/>
          </a:p>
        </p:txBody>
      </p:sp>
    </p:spTree>
    <p:extLst>
      <p:ext uri="{BB962C8B-B14F-4D97-AF65-F5344CB8AC3E}">
        <p14:creationId xmlns:p14="http://schemas.microsoft.com/office/powerpoint/2010/main" val="41653089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391120B-699D-4335-83F1-838BD5DFF075}"/>
              </a:ext>
            </a:extLst>
          </p:cNvPr>
          <p:cNvSpPr>
            <a:spLocks noGrp="1"/>
          </p:cNvSpPr>
          <p:nvPr>
            <p:ph type="title"/>
          </p:nvPr>
        </p:nvSpPr>
        <p:spPr>
          <a:xfrm>
            <a:off x="6619460" y="642594"/>
            <a:ext cx="4505739" cy="1371600"/>
          </a:xfrm>
        </p:spPr>
        <p:txBody>
          <a:bodyPr/>
          <a:lstStyle/>
          <a:p>
            <a:r>
              <a:rPr lang="he-IL" dirty="0"/>
              <a:t>המשך – סנסורים:</a:t>
            </a:r>
          </a:p>
        </p:txBody>
      </p:sp>
      <p:sp>
        <p:nvSpPr>
          <p:cNvPr id="3" name="מציין מיקום תוכן 2">
            <a:extLst>
              <a:ext uri="{FF2B5EF4-FFF2-40B4-BE49-F238E27FC236}">
                <a16:creationId xmlns:a16="http://schemas.microsoft.com/office/drawing/2014/main" id="{2F55646E-FA5A-4D0A-82DC-E76B63B3305B}"/>
              </a:ext>
            </a:extLst>
          </p:cNvPr>
          <p:cNvSpPr>
            <a:spLocks noGrp="1"/>
          </p:cNvSpPr>
          <p:nvPr>
            <p:ph idx="1"/>
          </p:nvPr>
        </p:nvSpPr>
        <p:spPr/>
        <p:txBody>
          <a:bodyPr/>
          <a:lstStyle/>
          <a:p>
            <a:r>
              <a:rPr lang="he-IL" sz="2400" b="1" u="sng" dirty="0"/>
              <a:t>סנסורים מבוססי מארח </a:t>
            </a:r>
            <a:r>
              <a:rPr lang="en-US" sz="2400" b="1" u="sng" dirty="0"/>
              <a:t>Host-based Sensors</a:t>
            </a:r>
            <a:r>
              <a:rPr lang="he-IL" sz="2400" b="1" u="sng" dirty="0"/>
              <a:t> </a:t>
            </a:r>
          </a:p>
          <a:p>
            <a:r>
              <a:rPr lang="he-IL" b="1" dirty="0"/>
              <a:t>יתרונות:</a:t>
            </a:r>
            <a:endParaRPr lang="he-IL" dirty="0"/>
          </a:p>
          <a:p>
            <a:r>
              <a:rPr lang="he-IL" dirty="0" err="1"/>
              <a:t>מנטר</a:t>
            </a:r>
            <a:r>
              <a:rPr lang="he-IL" dirty="0"/>
              <a:t> את הפעילות המקומית על המחשב או השרת, ומסוגל לזהות התקפות שלא ניתנות לזיהוי ברמת הרשת.</a:t>
            </a:r>
          </a:p>
          <a:p>
            <a:r>
              <a:rPr lang="he-IL" dirty="0"/>
              <a:t>מספק מידע מפורט על הפעילות במערכת, כולל יומני מערכת ופעולות משתמשים.</a:t>
            </a:r>
          </a:p>
          <a:p>
            <a:r>
              <a:rPr lang="he-IL" b="1" dirty="0"/>
              <a:t>חסרונות:</a:t>
            </a:r>
            <a:endParaRPr lang="he-IL" dirty="0"/>
          </a:p>
          <a:p>
            <a:r>
              <a:rPr lang="he-IL" dirty="0"/>
              <a:t>דורש התקנה ותחזוקה על כל מחשב או שרת בנפרד.</a:t>
            </a:r>
          </a:p>
          <a:p>
            <a:r>
              <a:rPr lang="he-IL" dirty="0"/>
              <a:t>עלול להעמיס על ביצועי המחשב או השרת בו הוא מותקן.</a:t>
            </a:r>
          </a:p>
          <a:p>
            <a:r>
              <a:rPr lang="he-IL" b="1" dirty="0"/>
              <a:t>דוגמה:</a:t>
            </a:r>
            <a:endParaRPr lang="he-IL" dirty="0"/>
          </a:p>
          <a:p>
            <a:r>
              <a:rPr lang="he-IL" dirty="0"/>
              <a:t>סנסור המותקן על שרת מסד נתונים </a:t>
            </a:r>
            <a:r>
              <a:rPr lang="he-IL" dirty="0" err="1"/>
              <a:t>שמנטר</a:t>
            </a:r>
            <a:r>
              <a:rPr lang="he-IL" dirty="0"/>
              <a:t> את כל הפעולות על השרת, כולל גישה לקבצים, שינויים במסד נתונים, וניסיונות התחברות לא חוקיים.</a:t>
            </a:r>
          </a:p>
          <a:p>
            <a:endParaRPr lang="he-IL" dirty="0"/>
          </a:p>
          <a:p>
            <a:endParaRPr lang="he-IL" dirty="0"/>
          </a:p>
        </p:txBody>
      </p:sp>
    </p:spTree>
    <p:extLst>
      <p:ext uri="{BB962C8B-B14F-4D97-AF65-F5344CB8AC3E}">
        <p14:creationId xmlns:p14="http://schemas.microsoft.com/office/powerpoint/2010/main" val="23078022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4A56EA4-732C-470D-B6F0-0BDC40D3421E}"/>
              </a:ext>
            </a:extLst>
          </p:cNvPr>
          <p:cNvSpPr>
            <a:spLocks noGrp="1"/>
          </p:cNvSpPr>
          <p:nvPr>
            <p:ph type="title"/>
          </p:nvPr>
        </p:nvSpPr>
        <p:spPr>
          <a:xfrm>
            <a:off x="6619460" y="642594"/>
            <a:ext cx="4505739" cy="1371600"/>
          </a:xfrm>
        </p:spPr>
        <p:txBody>
          <a:bodyPr/>
          <a:lstStyle/>
          <a:p>
            <a:r>
              <a:rPr lang="he-IL" dirty="0"/>
              <a:t>המשך – סנסורים:</a:t>
            </a:r>
          </a:p>
        </p:txBody>
      </p:sp>
      <p:sp>
        <p:nvSpPr>
          <p:cNvPr id="3" name="מציין מיקום תוכן 2">
            <a:extLst>
              <a:ext uri="{FF2B5EF4-FFF2-40B4-BE49-F238E27FC236}">
                <a16:creationId xmlns:a16="http://schemas.microsoft.com/office/drawing/2014/main" id="{B0D7AE20-0381-42B7-8DB4-40BBF13F3426}"/>
              </a:ext>
            </a:extLst>
          </p:cNvPr>
          <p:cNvSpPr>
            <a:spLocks noGrp="1"/>
          </p:cNvSpPr>
          <p:nvPr>
            <p:ph idx="1"/>
          </p:nvPr>
        </p:nvSpPr>
        <p:spPr/>
        <p:txBody>
          <a:bodyPr/>
          <a:lstStyle/>
          <a:p>
            <a:r>
              <a:rPr lang="he-IL" b="1" dirty="0"/>
              <a:t>דוגמאות לשימוש בסנסורים</a:t>
            </a:r>
          </a:p>
          <a:p>
            <a:r>
              <a:rPr lang="he-IL" dirty="0"/>
              <a:t>1. סנסור מבוסס רשת: מותקן בכניסה לרשת ארגונית, </a:t>
            </a:r>
            <a:r>
              <a:rPr lang="he-IL" dirty="0" err="1"/>
              <a:t>מנטר</a:t>
            </a:r>
            <a:r>
              <a:rPr lang="he-IL" dirty="0"/>
              <a:t> את כל התעבורה הנכנסת ומזהה התקפות כמו סריקות פורטים, ניסיונות פריצה, או התקפות מניעת שירות </a:t>
            </a:r>
            <a:r>
              <a:rPr lang="en-US" dirty="0"/>
              <a:t>DoS</a:t>
            </a:r>
          </a:p>
          <a:p>
            <a:r>
              <a:rPr lang="he-IL" dirty="0"/>
              <a:t>2. סנסור מבוסס מארח: מותקן על שרת מרכזי בארגון, </a:t>
            </a:r>
            <a:r>
              <a:rPr lang="he-IL" dirty="0" err="1"/>
              <a:t>מנטר</a:t>
            </a:r>
            <a:r>
              <a:rPr lang="he-IL" dirty="0"/>
              <a:t> את כל הפעולות על השרת ומזהה פעולות חשודות כמו שינויים בקבצים חשובים, התקנת תוכנות לא מורשות, או ניסיונות התחברות כושלים רבים.</a:t>
            </a:r>
          </a:p>
          <a:p>
            <a:endParaRPr lang="he-IL" dirty="0"/>
          </a:p>
        </p:txBody>
      </p:sp>
    </p:spTree>
    <p:extLst>
      <p:ext uri="{BB962C8B-B14F-4D97-AF65-F5344CB8AC3E}">
        <p14:creationId xmlns:p14="http://schemas.microsoft.com/office/powerpoint/2010/main" val="36315486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BF26C4F-2628-470F-9AC4-70E9BBB83BEF}"/>
              </a:ext>
            </a:extLst>
          </p:cNvPr>
          <p:cNvSpPr>
            <a:spLocks noGrp="1"/>
          </p:cNvSpPr>
          <p:nvPr>
            <p:ph type="title"/>
          </p:nvPr>
        </p:nvSpPr>
        <p:spPr>
          <a:xfrm>
            <a:off x="6679096" y="642594"/>
            <a:ext cx="4446104" cy="1371600"/>
          </a:xfrm>
        </p:spPr>
        <p:txBody>
          <a:bodyPr/>
          <a:lstStyle/>
          <a:p>
            <a:r>
              <a:rPr lang="he-IL" dirty="0"/>
              <a:t>המשך – סנסורים:</a:t>
            </a:r>
          </a:p>
        </p:txBody>
      </p:sp>
      <p:sp>
        <p:nvSpPr>
          <p:cNvPr id="3" name="מציין מיקום תוכן 2">
            <a:extLst>
              <a:ext uri="{FF2B5EF4-FFF2-40B4-BE49-F238E27FC236}">
                <a16:creationId xmlns:a16="http://schemas.microsoft.com/office/drawing/2014/main" id="{A32B9E85-9017-4D0E-91DB-021120C8085E}"/>
              </a:ext>
            </a:extLst>
          </p:cNvPr>
          <p:cNvSpPr>
            <a:spLocks noGrp="1"/>
          </p:cNvSpPr>
          <p:nvPr>
            <p:ph idx="1"/>
          </p:nvPr>
        </p:nvSpPr>
        <p:spPr/>
        <p:txBody>
          <a:bodyPr/>
          <a:lstStyle/>
          <a:p>
            <a:r>
              <a:rPr lang="he-IL" b="1" dirty="0"/>
              <a:t>דוגמא א: </a:t>
            </a:r>
            <a:r>
              <a:rPr lang="he-IL" dirty="0"/>
              <a:t>נניח שאתה מנהל אבטחת מידע בארגון גדול. התקנת סנסור מבוסס רשת בכניסה לרשת הארגונית. יום אחד, הסנסור מזהה כמות גדולה של ניסיונות התחברות לשרתים הפנימיים של הארגון. הסנסור שולח התרעה מידית, ואתה מגלה שמדובר בניסיון פריצה מאורגן. בזכות הסנסור, הצלחת לנקוט בצעדים </a:t>
            </a:r>
            <a:r>
              <a:rPr lang="he-IL" dirty="0" err="1"/>
              <a:t>מיידיים</a:t>
            </a:r>
            <a:r>
              <a:rPr lang="he-IL" dirty="0"/>
              <a:t> לחסום את התוקפים ולמנוע נזק.</a:t>
            </a:r>
          </a:p>
          <a:p>
            <a:r>
              <a:rPr lang="he-IL" b="1" dirty="0"/>
              <a:t>דוגמא ב: </a:t>
            </a:r>
            <a:r>
              <a:rPr lang="he-IL" dirty="0"/>
              <a:t>בארגון שלך מותקן סנסור מבוסס מארח על שרת המסד נתונים. הסנסור מזהה שינויים בלתי מורשים בקבצי המסד נתונים ומתריע על כך. אתה בודק ומגלה שמישהו ניסה לשנות את הנתונים בצורה לא חוקית. אתה מצליח לנקוט בפעולות הנדרשות לשחזור הנתונים ולמנוע המשך הפעילות החשודה.</a:t>
            </a:r>
          </a:p>
          <a:p>
            <a:endParaRPr lang="he-IL" dirty="0"/>
          </a:p>
        </p:txBody>
      </p:sp>
    </p:spTree>
    <p:extLst>
      <p:ext uri="{BB962C8B-B14F-4D97-AF65-F5344CB8AC3E}">
        <p14:creationId xmlns:p14="http://schemas.microsoft.com/office/powerpoint/2010/main" val="17670817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3C77AB5-3E60-4B0F-9217-F0B63F194638}"/>
              </a:ext>
            </a:extLst>
          </p:cNvPr>
          <p:cNvSpPr>
            <a:spLocks noGrp="1"/>
          </p:cNvSpPr>
          <p:nvPr>
            <p:ph type="title"/>
          </p:nvPr>
        </p:nvSpPr>
        <p:spPr>
          <a:xfrm>
            <a:off x="6639338" y="642594"/>
            <a:ext cx="4485861" cy="1371600"/>
          </a:xfrm>
        </p:spPr>
        <p:txBody>
          <a:bodyPr/>
          <a:lstStyle/>
          <a:p>
            <a:r>
              <a:rPr lang="he-IL" dirty="0"/>
              <a:t>המשך – סנסורים:</a:t>
            </a:r>
          </a:p>
        </p:txBody>
      </p:sp>
      <p:sp>
        <p:nvSpPr>
          <p:cNvPr id="3" name="מציין מיקום תוכן 2">
            <a:extLst>
              <a:ext uri="{FF2B5EF4-FFF2-40B4-BE49-F238E27FC236}">
                <a16:creationId xmlns:a16="http://schemas.microsoft.com/office/drawing/2014/main" id="{4E7E3CD2-7AEF-427D-9BD7-958AAFF252AF}"/>
              </a:ext>
            </a:extLst>
          </p:cNvPr>
          <p:cNvSpPr>
            <a:spLocks noGrp="1"/>
          </p:cNvSpPr>
          <p:nvPr>
            <p:ph idx="1"/>
          </p:nvPr>
        </p:nvSpPr>
        <p:spPr/>
        <p:txBody>
          <a:bodyPr/>
          <a:lstStyle/>
          <a:p>
            <a:r>
              <a:rPr lang="he-IL" dirty="0"/>
              <a:t>שאלות: </a:t>
            </a:r>
          </a:p>
          <a:p>
            <a:r>
              <a:rPr lang="he-IL" dirty="0"/>
              <a:t>1. מה ההבדל בין סנסור מבוסס רשת לסנסור מבוסס מארח?</a:t>
            </a:r>
          </a:p>
          <a:p>
            <a:r>
              <a:rPr lang="he-IL" dirty="0"/>
              <a:t>2. כיצד סנסור מבוסס רשת מזהה התקפות סריקת פורטים?</a:t>
            </a:r>
          </a:p>
          <a:p>
            <a:r>
              <a:rPr lang="he-IL" dirty="0"/>
              <a:t>3. מה יתרונות השימוש בסנסורים מבוססי מארח?</a:t>
            </a:r>
          </a:p>
          <a:p>
            <a:r>
              <a:rPr lang="he-IL" dirty="0"/>
              <a:t>4. כיצד ניתן למזער התראות שווא בסנסורים?</a:t>
            </a:r>
          </a:p>
          <a:p>
            <a:endParaRPr lang="he-IL" dirty="0"/>
          </a:p>
        </p:txBody>
      </p:sp>
    </p:spTree>
    <p:extLst>
      <p:ext uri="{BB962C8B-B14F-4D97-AF65-F5344CB8AC3E}">
        <p14:creationId xmlns:p14="http://schemas.microsoft.com/office/powerpoint/2010/main" val="39838018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FC53581-16F5-44DA-9F2B-EEFF1A7A50ED}"/>
              </a:ext>
            </a:extLst>
          </p:cNvPr>
          <p:cNvSpPr>
            <a:spLocks noGrp="1"/>
          </p:cNvSpPr>
          <p:nvPr>
            <p:ph type="title"/>
          </p:nvPr>
        </p:nvSpPr>
        <p:spPr>
          <a:xfrm>
            <a:off x="6659216" y="642594"/>
            <a:ext cx="4465983" cy="1371600"/>
          </a:xfrm>
        </p:spPr>
        <p:txBody>
          <a:bodyPr/>
          <a:lstStyle/>
          <a:p>
            <a:r>
              <a:rPr lang="he-IL" dirty="0"/>
              <a:t>המשך – סנסורים:</a:t>
            </a:r>
          </a:p>
        </p:txBody>
      </p:sp>
      <p:sp>
        <p:nvSpPr>
          <p:cNvPr id="3" name="מציין מיקום תוכן 2">
            <a:extLst>
              <a:ext uri="{FF2B5EF4-FFF2-40B4-BE49-F238E27FC236}">
                <a16:creationId xmlns:a16="http://schemas.microsoft.com/office/drawing/2014/main" id="{30CF7971-CE74-4852-8322-06D915F02942}"/>
              </a:ext>
            </a:extLst>
          </p:cNvPr>
          <p:cNvSpPr>
            <a:spLocks noGrp="1"/>
          </p:cNvSpPr>
          <p:nvPr>
            <p:ph idx="1"/>
          </p:nvPr>
        </p:nvSpPr>
        <p:spPr/>
        <p:txBody>
          <a:bodyPr/>
          <a:lstStyle/>
          <a:p>
            <a:r>
              <a:rPr lang="he-IL" dirty="0"/>
              <a:t>תשובות:</a:t>
            </a:r>
          </a:p>
          <a:p>
            <a:r>
              <a:rPr lang="he-IL" dirty="0"/>
              <a:t>1. סנסור מבוסס רשת </a:t>
            </a:r>
            <a:r>
              <a:rPr lang="he-IL" dirty="0" err="1"/>
              <a:t>מנטר</a:t>
            </a:r>
            <a:r>
              <a:rPr lang="he-IL" dirty="0"/>
              <a:t> את כל התעבורה הנכנסת והיוצאת ברשת, בעוד שסנסור מבוסס מארח </a:t>
            </a:r>
            <a:r>
              <a:rPr lang="he-IL" dirty="0" err="1"/>
              <a:t>מנטר</a:t>
            </a:r>
            <a:r>
              <a:rPr lang="he-IL" dirty="0"/>
              <a:t> את הפעילות המקומית על מחשב או שרת ספציפי.</a:t>
            </a:r>
          </a:p>
          <a:p>
            <a:r>
              <a:rPr lang="he-IL" dirty="0"/>
              <a:t>2. הסנסור מנתח את התעבורה הנכנסת ומחפש דפוסים של ניסיונות התחברות לפורטים רבים בזמן קצר. אם הוא מזהה דפוס כזה, הוא שולח התרעה על התקפת סריקת פורטים.</a:t>
            </a:r>
          </a:p>
          <a:p>
            <a:r>
              <a:rPr lang="he-IL" dirty="0"/>
              <a:t>3. סנסורים מבוססי מארח מאפשרים ניטור מדויק של הפעילות על מחשבים ושרתים ספציפיים, כולל זיהוי שינויים בקבצים חשובים, התקנת תוכנות לא מורשות, וניסיונות התחברות כושלים.</a:t>
            </a:r>
          </a:p>
          <a:p>
            <a:r>
              <a:rPr lang="he-IL" dirty="0"/>
              <a:t>4. ניתן למזער התראות שווא על ידי עדכון תדיר של תבניות התקפות וחוקים, התאמת החוקים לצרכים הספציפיים של הרשת או המחשב, והפעלת ניתוח התנהגותי לזיהוי מדויק יותר של פעילות חשודה.</a:t>
            </a:r>
          </a:p>
          <a:p>
            <a:endParaRPr lang="he-IL" dirty="0"/>
          </a:p>
        </p:txBody>
      </p:sp>
    </p:spTree>
    <p:extLst>
      <p:ext uri="{BB962C8B-B14F-4D97-AF65-F5344CB8AC3E}">
        <p14:creationId xmlns:p14="http://schemas.microsoft.com/office/powerpoint/2010/main" val="25868346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49255DC-40EB-4D1C-94A3-69D2B0632C5A}"/>
              </a:ext>
            </a:extLst>
          </p:cNvPr>
          <p:cNvSpPr>
            <a:spLocks noGrp="1"/>
          </p:cNvSpPr>
          <p:nvPr>
            <p:ph type="title"/>
          </p:nvPr>
        </p:nvSpPr>
        <p:spPr>
          <a:xfrm>
            <a:off x="7404652" y="642594"/>
            <a:ext cx="3720548" cy="1371600"/>
          </a:xfrm>
        </p:spPr>
        <p:txBody>
          <a:bodyPr/>
          <a:lstStyle/>
          <a:p>
            <a:r>
              <a:rPr lang="en-US" dirty="0"/>
              <a:t>SOC &amp; SIEM</a:t>
            </a:r>
            <a:endParaRPr lang="he-IL" dirty="0"/>
          </a:p>
        </p:txBody>
      </p:sp>
      <p:sp>
        <p:nvSpPr>
          <p:cNvPr id="3" name="מציין מיקום תוכן 2">
            <a:extLst>
              <a:ext uri="{FF2B5EF4-FFF2-40B4-BE49-F238E27FC236}">
                <a16:creationId xmlns:a16="http://schemas.microsoft.com/office/drawing/2014/main" id="{E727927A-AA52-499F-B312-8AA55F249F9A}"/>
              </a:ext>
            </a:extLst>
          </p:cNvPr>
          <p:cNvSpPr>
            <a:spLocks noGrp="1"/>
          </p:cNvSpPr>
          <p:nvPr>
            <p:ph idx="1"/>
          </p:nvPr>
        </p:nvSpPr>
        <p:spPr/>
        <p:txBody>
          <a:bodyPr/>
          <a:lstStyle/>
          <a:p>
            <a:r>
              <a:rPr lang="he-IL" dirty="0"/>
              <a:t>פתיחה לחכמה:</a:t>
            </a:r>
            <a:endParaRPr lang="en-US" dirty="0"/>
          </a:p>
          <a:p>
            <a:r>
              <a:rPr lang="he-IL" dirty="0"/>
              <a:t> </a:t>
            </a:r>
            <a:r>
              <a:rPr lang="en-US" dirty="0"/>
              <a:t> SOC</a:t>
            </a:r>
            <a:r>
              <a:rPr lang="he-IL" dirty="0"/>
              <a:t>[מרכז תפעול אבטחת מידע] ו-</a:t>
            </a:r>
            <a:r>
              <a:rPr lang="en-US" dirty="0"/>
              <a:t> SIEM </a:t>
            </a:r>
            <a:r>
              <a:rPr lang="he-IL" dirty="0"/>
              <a:t>[ניהול מידע ואירועי אבטחה] הם חלקים חשובים ומקיפים של תשתית אבטחת מידע בארגון. </a:t>
            </a:r>
            <a:r>
              <a:rPr lang="en-US" dirty="0"/>
              <a:t> SOC</a:t>
            </a:r>
            <a:r>
              <a:rPr lang="he-IL" dirty="0"/>
              <a:t>מתמקד בניהול וניטור בזמן אמת, בעוד ש-</a:t>
            </a:r>
            <a:r>
              <a:rPr lang="en-US" dirty="0"/>
              <a:t>SIEM </a:t>
            </a:r>
            <a:r>
              <a:rPr lang="he-IL" dirty="0"/>
              <a:t> מספקת את הכלים והטכנולוגיות לנתח נתונים ולהגיב לאיומים.</a:t>
            </a:r>
          </a:p>
          <a:p>
            <a:endParaRPr lang="he-IL" dirty="0"/>
          </a:p>
        </p:txBody>
      </p:sp>
    </p:spTree>
    <p:extLst>
      <p:ext uri="{BB962C8B-B14F-4D97-AF65-F5344CB8AC3E}">
        <p14:creationId xmlns:p14="http://schemas.microsoft.com/office/powerpoint/2010/main" val="30283476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C720938-98E7-4071-B57B-512AAEE206D2}"/>
              </a:ext>
            </a:extLst>
          </p:cNvPr>
          <p:cNvSpPr>
            <a:spLocks noGrp="1"/>
          </p:cNvSpPr>
          <p:nvPr>
            <p:ph type="title"/>
          </p:nvPr>
        </p:nvSpPr>
        <p:spPr>
          <a:xfrm>
            <a:off x="9571382" y="642594"/>
            <a:ext cx="1553817" cy="1371600"/>
          </a:xfrm>
        </p:spPr>
        <p:txBody>
          <a:bodyPr/>
          <a:lstStyle/>
          <a:p>
            <a:r>
              <a:rPr lang="en-US" dirty="0"/>
              <a:t>SOC</a:t>
            </a:r>
            <a:endParaRPr lang="he-IL" dirty="0"/>
          </a:p>
        </p:txBody>
      </p:sp>
      <p:sp>
        <p:nvSpPr>
          <p:cNvPr id="3" name="מציין מיקום תוכן 2">
            <a:extLst>
              <a:ext uri="{FF2B5EF4-FFF2-40B4-BE49-F238E27FC236}">
                <a16:creationId xmlns:a16="http://schemas.microsoft.com/office/drawing/2014/main" id="{A4F1F6CC-5AEA-464B-8E52-3D4BA2A8BD9E}"/>
              </a:ext>
            </a:extLst>
          </p:cNvPr>
          <p:cNvSpPr>
            <a:spLocks noGrp="1"/>
          </p:cNvSpPr>
          <p:nvPr>
            <p:ph idx="1"/>
          </p:nvPr>
        </p:nvSpPr>
        <p:spPr>
          <a:xfrm>
            <a:off x="1066800" y="1729409"/>
            <a:ext cx="10058400" cy="4820478"/>
          </a:xfrm>
        </p:spPr>
        <p:txBody>
          <a:bodyPr>
            <a:normAutofit/>
          </a:bodyPr>
          <a:lstStyle/>
          <a:p>
            <a:r>
              <a:rPr lang="he-IL" b="1" dirty="0"/>
              <a:t>מהו </a:t>
            </a:r>
            <a:r>
              <a:rPr lang="en-US" b="1" dirty="0"/>
              <a:t>SOC</a:t>
            </a:r>
            <a:r>
              <a:rPr lang="he-IL" b="1" dirty="0"/>
              <a:t>:</a:t>
            </a:r>
            <a:endParaRPr lang="en-US" b="1" dirty="0"/>
          </a:p>
          <a:p>
            <a:r>
              <a:rPr lang="en-US" dirty="0"/>
              <a:t>SOC</a:t>
            </a:r>
            <a:r>
              <a:rPr lang="he-IL" dirty="0"/>
              <a:t> הוא מרכז שמרכז את כל פעולות האבטחה בארגון, כולל ניטור מתמשך, ניתוח תגובות לאירועים, ותגובה בזמן אמת.</a:t>
            </a:r>
          </a:p>
          <a:p>
            <a:r>
              <a:rPr lang="he-IL" b="1" dirty="0"/>
              <a:t>איך זה עובד:</a:t>
            </a:r>
            <a:endParaRPr lang="he-IL" dirty="0"/>
          </a:p>
          <a:p>
            <a:r>
              <a:rPr lang="he-IL" dirty="0"/>
              <a:t>1. ניטור רציף:</a:t>
            </a:r>
          </a:p>
          <a:p>
            <a:pPr lvl="1"/>
            <a:r>
              <a:rPr lang="en-US" dirty="0"/>
              <a:t> SOC </a:t>
            </a:r>
            <a:r>
              <a:rPr lang="he-IL" dirty="0"/>
              <a:t>פועל 24/7 עם צוותים </a:t>
            </a:r>
            <a:r>
              <a:rPr lang="he-IL" dirty="0" err="1"/>
              <a:t>המנטרים</a:t>
            </a:r>
            <a:r>
              <a:rPr lang="he-IL" dirty="0"/>
              <a:t> את הרשתות והמערכות.</a:t>
            </a:r>
          </a:p>
          <a:p>
            <a:pPr lvl="1"/>
            <a:r>
              <a:rPr lang="he-IL" dirty="0"/>
              <a:t>כל פעילות חשודה נבחנת ונעשות בדיקות כדי לזהות התקפות או איומים.</a:t>
            </a:r>
          </a:p>
          <a:p>
            <a:r>
              <a:rPr lang="he-IL" dirty="0"/>
              <a:t>2. תגובה לאירועים:</a:t>
            </a:r>
          </a:p>
          <a:p>
            <a:pPr lvl="1"/>
            <a:r>
              <a:rPr lang="he-IL" dirty="0"/>
              <a:t>כשה-</a:t>
            </a:r>
            <a:r>
              <a:rPr lang="en-US" dirty="0"/>
              <a:t> SOC </a:t>
            </a:r>
            <a:r>
              <a:rPr lang="he-IL" dirty="0"/>
              <a:t>מזהה פעילות חריגה, הצוות מבצע חקירה כדי להבין את האיומים.</a:t>
            </a:r>
          </a:p>
          <a:p>
            <a:pPr lvl="1"/>
            <a:r>
              <a:rPr lang="he-IL" dirty="0"/>
              <a:t>פעולות התגובה עשויות לכלול חסימת גישה, חקירת ההתקפה, או תיקון בעיות במערכות.</a:t>
            </a:r>
          </a:p>
          <a:p>
            <a:r>
              <a:rPr lang="he-IL" dirty="0"/>
              <a:t>3. תיאום ותקשורת:</a:t>
            </a:r>
          </a:p>
          <a:p>
            <a:pPr lvl="1"/>
            <a:r>
              <a:rPr lang="en-US" dirty="0"/>
              <a:t>SOC </a:t>
            </a:r>
            <a:r>
              <a:rPr lang="he-IL" dirty="0"/>
              <a:t> מתקשר עם צוותי</a:t>
            </a:r>
            <a:r>
              <a:rPr lang="en-US" dirty="0"/>
              <a:t>IT </a:t>
            </a:r>
            <a:r>
              <a:rPr lang="he-IL" dirty="0"/>
              <a:t> ועם ספקי שירותי אבטחה חיצוניים כדי לתאם את הפעולות הנדרשות.</a:t>
            </a:r>
          </a:p>
          <a:p>
            <a:pPr lvl="1"/>
            <a:r>
              <a:rPr lang="he-IL" dirty="0"/>
              <a:t>כמו כן </a:t>
            </a:r>
            <a:r>
              <a:rPr lang="en-US" dirty="0"/>
              <a:t>SOC </a:t>
            </a:r>
            <a:r>
              <a:rPr lang="he-IL" dirty="0"/>
              <a:t> עוקב אחרי ההתפתחויות בתחום האיומים ומשתף מידע עם הצוותים הרלוונטיים.</a:t>
            </a:r>
          </a:p>
          <a:p>
            <a:endParaRPr lang="he-IL" dirty="0"/>
          </a:p>
        </p:txBody>
      </p:sp>
    </p:spTree>
    <p:extLst>
      <p:ext uri="{BB962C8B-B14F-4D97-AF65-F5344CB8AC3E}">
        <p14:creationId xmlns:p14="http://schemas.microsoft.com/office/powerpoint/2010/main" val="329323904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7C3F48A-3142-4610-B67A-A2198BF30ABC}"/>
              </a:ext>
            </a:extLst>
          </p:cNvPr>
          <p:cNvSpPr>
            <a:spLocks noGrp="1"/>
          </p:cNvSpPr>
          <p:nvPr>
            <p:ph type="title"/>
          </p:nvPr>
        </p:nvSpPr>
        <p:spPr>
          <a:xfrm>
            <a:off x="7802217" y="642594"/>
            <a:ext cx="3322983" cy="1371600"/>
          </a:xfrm>
        </p:spPr>
        <p:txBody>
          <a:bodyPr>
            <a:normAutofit fontScale="90000"/>
          </a:bodyPr>
          <a:lstStyle/>
          <a:p>
            <a:r>
              <a:rPr lang="he-IL" dirty="0"/>
              <a:t>המשך - </a:t>
            </a:r>
            <a:r>
              <a:rPr lang="en-US" dirty="0"/>
              <a:t>SOC</a:t>
            </a:r>
            <a:endParaRPr lang="he-IL" dirty="0"/>
          </a:p>
        </p:txBody>
      </p:sp>
      <p:sp>
        <p:nvSpPr>
          <p:cNvPr id="3" name="מציין מיקום תוכן 2">
            <a:extLst>
              <a:ext uri="{FF2B5EF4-FFF2-40B4-BE49-F238E27FC236}">
                <a16:creationId xmlns:a16="http://schemas.microsoft.com/office/drawing/2014/main" id="{0B900113-986A-4B5F-939C-D5A3188B6D8E}"/>
              </a:ext>
            </a:extLst>
          </p:cNvPr>
          <p:cNvSpPr>
            <a:spLocks noGrp="1"/>
          </p:cNvSpPr>
          <p:nvPr>
            <p:ph idx="1"/>
          </p:nvPr>
        </p:nvSpPr>
        <p:spPr/>
        <p:txBody>
          <a:bodyPr/>
          <a:lstStyle/>
          <a:p>
            <a:r>
              <a:rPr lang="he-IL" dirty="0"/>
              <a:t>לדוגמא: בארגון פיננסי גדול </a:t>
            </a:r>
            <a:r>
              <a:rPr lang="en-US" dirty="0"/>
              <a:t>SOC</a:t>
            </a:r>
            <a:r>
              <a:rPr lang="he-IL" dirty="0"/>
              <a:t> זיהה פעילות חריגה ברשת שכוללת ניסיונות התחברות רבים מאותו</a:t>
            </a:r>
            <a:r>
              <a:rPr lang="en-US" dirty="0"/>
              <a:t>IP </a:t>
            </a:r>
            <a:r>
              <a:rPr lang="he-IL" dirty="0"/>
              <a:t>הצוות הפעיל חקירה וגילה שמדובר בניסיון התקפת </a:t>
            </a:r>
            <a:r>
              <a:rPr lang="en-US" dirty="0"/>
              <a:t>brute force</a:t>
            </a:r>
            <a:r>
              <a:rPr lang="he-IL" dirty="0"/>
              <a:t> לכניסה </a:t>
            </a:r>
            <a:r>
              <a:rPr lang="he-IL" dirty="0">
                <a:highlight>
                  <a:srgbClr val="FFFF00"/>
                </a:highlight>
              </a:rPr>
              <a:t>למערכת קריטית. </a:t>
            </a:r>
            <a:r>
              <a:rPr lang="he-IL" dirty="0"/>
              <a:t>הם חסמו את ה-</a:t>
            </a:r>
            <a:r>
              <a:rPr lang="en-US" dirty="0"/>
              <a:t>IP </a:t>
            </a:r>
            <a:r>
              <a:rPr lang="he-IL" dirty="0"/>
              <a:t> החשוד, ביצעו ניתוח של ההתקפה, והוציאו לקחים לשיפור המערכת.</a:t>
            </a:r>
          </a:p>
          <a:p>
            <a:r>
              <a:rPr lang="he-IL" b="1" dirty="0"/>
              <a:t>יתרונות:</a:t>
            </a:r>
            <a:endParaRPr lang="he-IL" dirty="0"/>
          </a:p>
          <a:p>
            <a:r>
              <a:rPr lang="he-IL" dirty="0"/>
              <a:t>הגנה בזמן אמת מפני איומים והתקפות.</a:t>
            </a:r>
          </a:p>
          <a:p>
            <a:r>
              <a:rPr lang="he-IL" dirty="0"/>
              <a:t>תיאום ותגובה מהירה לתקלות ולניסיונות פריצה.</a:t>
            </a:r>
          </a:p>
          <a:p>
            <a:r>
              <a:rPr lang="he-IL" b="1" dirty="0"/>
              <a:t>חסרונות:</a:t>
            </a:r>
            <a:endParaRPr lang="he-IL" dirty="0"/>
          </a:p>
          <a:p>
            <a:r>
              <a:rPr lang="he-IL" dirty="0"/>
              <a:t>דורש צוות מקצועי ומיומן שעובד בצורה אינטנסיבית.</a:t>
            </a:r>
          </a:p>
          <a:p>
            <a:r>
              <a:rPr lang="he-IL" dirty="0"/>
              <a:t>ייתכן ועלות גבוהה להקמה ותחזוקה של </a:t>
            </a:r>
            <a:r>
              <a:rPr lang="en-US" dirty="0"/>
              <a:t>SOC</a:t>
            </a:r>
          </a:p>
          <a:p>
            <a:endParaRPr lang="he-IL" dirty="0"/>
          </a:p>
        </p:txBody>
      </p:sp>
    </p:spTree>
    <p:extLst>
      <p:ext uri="{BB962C8B-B14F-4D97-AF65-F5344CB8AC3E}">
        <p14:creationId xmlns:p14="http://schemas.microsoft.com/office/powerpoint/2010/main" val="41619739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9594398-01EC-4304-BF12-607BB9D3773A}"/>
              </a:ext>
            </a:extLst>
          </p:cNvPr>
          <p:cNvSpPr>
            <a:spLocks noGrp="1"/>
          </p:cNvSpPr>
          <p:nvPr>
            <p:ph type="title"/>
          </p:nvPr>
        </p:nvSpPr>
        <p:spPr>
          <a:xfrm>
            <a:off x="7474226" y="642594"/>
            <a:ext cx="3650974" cy="1371600"/>
          </a:xfrm>
        </p:spPr>
        <p:txBody>
          <a:bodyPr/>
          <a:lstStyle/>
          <a:p>
            <a:r>
              <a:rPr lang="he-IL" dirty="0"/>
              <a:t>המשך - </a:t>
            </a:r>
            <a:r>
              <a:rPr lang="en-US" dirty="0"/>
              <a:t>SOC</a:t>
            </a:r>
            <a:endParaRPr lang="he-IL" dirty="0"/>
          </a:p>
        </p:txBody>
      </p:sp>
      <p:sp>
        <p:nvSpPr>
          <p:cNvPr id="3" name="מציין מיקום תוכן 2">
            <a:extLst>
              <a:ext uri="{FF2B5EF4-FFF2-40B4-BE49-F238E27FC236}">
                <a16:creationId xmlns:a16="http://schemas.microsoft.com/office/drawing/2014/main" id="{2057634D-AA0D-4FF5-B335-6576CCBA55DE}"/>
              </a:ext>
            </a:extLst>
          </p:cNvPr>
          <p:cNvSpPr>
            <a:spLocks noGrp="1"/>
          </p:cNvSpPr>
          <p:nvPr>
            <p:ph idx="1"/>
          </p:nvPr>
        </p:nvSpPr>
        <p:spPr/>
        <p:txBody>
          <a:bodyPr>
            <a:normAutofit fontScale="92500" lnSpcReduction="10000"/>
          </a:bodyPr>
          <a:lstStyle/>
          <a:p>
            <a:r>
              <a:rPr lang="he-IL" b="1" dirty="0"/>
              <a:t>רכיבי </a:t>
            </a:r>
            <a:r>
              <a:rPr lang="en-US" b="1" dirty="0"/>
              <a:t>SOC</a:t>
            </a:r>
          </a:p>
          <a:p>
            <a:r>
              <a:rPr lang="he-IL" b="1" dirty="0"/>
              <a:t>צוותים וסניפים:</a:t>
            </a:r>
            <a:endParaRPr lang="he-IL" dirty="0"/>
          </a:p>
          <a:p>
            <a:r>
              <a:rPr lang="he-IL" b="1" dirty="0"/>
              <a:t>צוות ניטור:</a:t>
            </a:r>
            <a:r>
              <a:rPr lang="he-IL" dirty="0"/>
              <a:t> אחראי על ניטור רציף של התעבורה והאירועים ברשת, כולל טיפול בהתראות הראשוניות.</a:t>
            </a:r>
          </a:p>
          <a:p>
            <a:r>
              <a:rPr lang="he-IL" b="1" dirty="0"/>
              <a:t>צוות תגובה לאירועים:</a:t>
            </a:r>
            <a:r>
              <a:rPr lang="he-IL" dirty="0"/>
              <a:t> מתמחה בניהול ותיאום התגובות לאירועים, מבצע חקירות ומטפל בתקלות.</a:t>
            </a:r>
          </a:p>
          <a:p>
            <a:r>
              <a:rPr lang="he-IL" b="1" dirty="0"/>
              <a:t>צוות ניתוח איומים:</a:t>
            </a:r>
            <a:r>
              <a:rPr lang="he-IL" dirty="0"/>
              <a:t> עוסק בחקר איומים ופרצות אבטחה, ניתוח תוקפים, ומציאת דרכים למניעת התקפות עתידיות.</a:t>
            </a:r>
          </a:p>
          <a:p>
            <a:r>
              <a:rPr lang="he-IL" b="1" dirty="0"/>
              <a:t>צוות ייעוץ ומחקר:</a:t>
            </a:r>
            <a:r>
              <a:rPr lang="he-IL" dirty="0"/>
              <a:t> עוקב אחרי טרנדים חדשים בתחום האבטחה, ומספק ייעוץ לתכנון אסטרטגיות אבטחה.</a:t>
            </a:r>
          </a:p>
          <a:p>
            <a:r>
              <a:rPr lang="he-IL" b="1" dirty="0"/>
              <a:t>תשתיות טכנולוגיות:</a:t>
            </a:r>
            <a:endParaRPr lang="he-IL" dirty="0"/>
          </a:p>
          <a:p>
            <a:r>
              <a:rPr lang="he-IL" b="1" dirty="0"/>
              <a:t>מערכות ניטור:</a:t>
            </a:r>
            <a:r>
              <a:rPr lang="he-IL" dirty="0"/>
              <a:t> כוללות כלים כמו מערכות </a:t>
            </a:r>
            <a:r>
              <a:rPr lang="en-US" dirty="0"/>
              <a:t>SIEM IDS/IPS</a:t>
            </a:r>
            <a:r>
              <a:rPr lang="he-IL" dirty="0"/>
              <a:t> חומות אש, וכלים לניהול יומני מערכת.</a:t>
            </a:r>
          </a:p>
          <a:p>
            <a:r>
              <a:rPr lang="he-IL" b="1" dirty="0"/>
              <a:t>כלי ניתוח:</a:t>
            </a:r>
            <a:r>
              <a:rPr lang="he-IL" dirty="0"/>
              <a:t> משמשים לניתוח נתונים ותגובה לאירועים, כגון ניתוח התנהגותי והבנה של תבניות התקפה.</a:t>
            </a:r>
          </a:p>
          <a:p>
            <a:r>
              <a:rPr lang="he-IL" b="1" dirty="0"/>
              <a:t>מערכות תגובה אוטומטיות:</a:t>
            </a:r>
            <a:r>
              <a:rPr lang="he-IL" dirty="0"/>
              <a:t> כוללות יכולות אוטומטיות לחסימת גישה או פעולות אחרות בזמן אמת בהתאם להתראות.</a:t>
            </a:r>
          </a:p>
          <a:p>
            <a:endParaRPr lang="he-IL" dirty="0"/>
          </a:p>
        </p:txBody>
      </p:sp>
    </p:spTree>
    <p:extLst>
      <p:ext uri="{BB962C8B-B14F-4D97-AF65-F5344CB8AC3E}">
        <p14:creationId xmlns:p14="http://schemas.microsoft.com/office/powerpoint/2010/main" val="14091170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579C978-3153-4A03-90E1-97FC1B4E199C}"/>
              </a:ext>
            </a:extLst>
          </p:cNvPr>
          <p:cNvSpPr>
            <a:spLocks noGrp="1"/>
          </p:cNvSpPr>
          <p:nvPr>
            <p:ph type="title"/>
          </p:nvPr>
        </p:nvSpPr>
        <p:spPr>
          <a:xfrm>
            <a:off x="7434470" y="642594"/>
            <a:ext cx="3690730" cy="1371600"/>
          </a:xfrm>
        </p:spPr>
        <p:txBody>
          <a:bodyPr/>
          <a:lstStyle/>
          <a:p>
            <a:r>
              <a:rPr lang="he-IL" dirty="0"/>
              <a:t>המשך - </a:t>
            </a:r>
            <a:r>
              <a:rPr lang="en-US" dirty="0"/>
              <a:t>SOC</a:t>
            </a:r>
            <a:endParaRPr lang="he-IL" dirty="0"/>
          </a:p>
        </p:txBody>
      </p:sp>
      <p:sp>
        <p:nvSpPr>
          <p:cNvPr id="3" name="מציין מיקום תוכן 2">
            <a:extLst>
              <a:ext uri="{FF2B5EF4-FFF2-40B4-BE49-F238E27FC236}">
                <a16:creationId xmlns:a16="http://schemas.microsoft.com/office/drawing/2014/main" id="{6BCA18E5-74A6-40EF-9F55-CFCEE4F24084}"/>
              </a:ext>
            </a:extLst>
          </p:cNvPr>
          <p:cNvSpPr>
            <a:spLocks noGrp="1"/>
          </p:cNvSpPr>
          <p:nvPr>
            <p:ph idx="1"/>
          </p:nvPr>
        </p:nvSpPr>
        <p:spPr/>
        <p:txBody>
          <a:bodyPr/>
          <a:lstStyle/>
          <a:p>
            <a:r>
              <a:rPr lang="he-IL" b="1" dirty="0"/>
              <a:t>תהליכים ונהלים ב-</a:t>
            </a:r>
            <a:r>
              <a:rPr lang="en-US" b="1" dirty="0"/>
              <a:t>SOC</a:t>
            </a:r>
          </a:p>
          <a:p>
            <a:r>
              <a:rPr lang="he-IL" b="1" dirty="0"/>
              <a:t>תהליך ניהול אירועים:</a:t>
            </a:r>
            <a:endParaRPr lang="he-IL" dirty="0"/>
          </a:p>
          <a:p>
            <a:r>
              <a:rPr lang="he-IL" b="1" dirty="0"/>
              <a:t>זיהוי:</a:t>
            </a:r>
            <a:r>
              <a:rPr lang="he-IL" dirty="0"/>
              <a:t> סינון ומיון ההתראות שמתקבלות מהמגוון הרחב של מקורות.</a:t>
            </a:r>
          </a:p>
          <a:p>
            <a:r>
              <a:rPr lang="he-IL" b="1" dirty="0"/>
              <a:t>חקירה:</a:t>
            </a:r>
            <a:r>
              <a:rPr lang="he-IL" dirty="0"/>
              <a:t> ניתוח מעמיק של האירועים החשודים, כולל איסוף מידע נוסף וביצוע חקירות.</a:t>
            </a:r>
          </a:p>
          <a:p>
            <a:r>
              <a:rPr lang="he-IL" b="1" dirty="0"/>
              <a:t>תגובה:</a:t>
            </a:r>
            <a:r>
              <a:rPr lang="he-IL" dirty="0"/>
              <a:t> ביצוע פעולות תגובה מתואמות כדי לטפל באירועים, כולל חסימת התקשרות או תיקון בעיות במערכת.</a:t>
            </a:r>
          </a:p>
          <a:p>
            <a:r>
              <a:rPr lang="he-IL" b="1" dirty="0"/>
              <a:t>התאוששות:</a:t>
            </a:r>
            <a:r>
              <a:rPr lang="he-IL" dirty="0"/>
              <a:t> החזרת המערכת למצב תקין ומעקב אחר ההתפתחויות כדי לוודא שהבעיה נפתרה.</a:t>
            </a:r>
          </a:p>
          <a:p>
            <a:r>
              <a:rPr lang="he-IL" b="1" dirty="0"/>
              <a:t>תהליך שיפור מתמיד:</a:t>
            </a:r>
            <a:endParaRPr lang="he-IL" dirty="0"/>
          </a:p>
          <a:p>
            <a:r>
              <a:rPr lang="he-IL" b="1" dirty="0"/>
              <a:t>ביצוע ניתוחים לאחר התקפות:</a:t>
            </a:r>
            <a:r>
              <a:rPr lang="he-IL" dirty="0"/>
              <a:t> ניתוח פרטי התקפות שנעשו, איתור נקודות חולשה, והפקת לקחים.</a:t>
            </a:r>
          </a:p>
          <a:p>
            <a:r>
              <a:rPr lang="he-IL" b="1" dirty="0"/>
              <a:t>עדכון נהלים וכלים:</a:t>
            </a:r>
            <a:r>
              <a:rPr lang="he-IL" dirty="0"/>
              <a:t> התאמת נהלים וכלים לאור המידע שנאסף, והטמעת שיפורים בהתמודדות עם איומים.</a:t>
            </a:r>
          </a:p>
          <a:p>
            <a:endParaRPr lang="he-IL" dirty="0"/>
          </a:p>
        </p:txBody>
      </p:sp>
    </p:spTree>
    <p:extLst>
      <p:ext uri="{BB962C8B-B14F-4D97-AF65-F5344CB8AC3E}">
        <p14:creationId xmlns:p14="http://schemas.microsoft.com/office/powerpoint/2010/main" val="14139289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73DCB29-F08F-4FA8-85F9-81288766DA47}"/>
              </a:ext>
            </a:extLst>
          </p:cNvPr>
          <p:cNvSpPr>
            <a:spLocks noGrp="1"/>
          </p:cNvSpPr>
          <p:nvPr>
            <p:ph type="title"/>
          </p:nvPr>
        </p:nvSpPr>
        <p:spPr>
          <a:xfrm>
            <a:off x="7404652" y="642594"/>
            <a:ext cx="3720548" cy="1371600"/>
          </a:xfrm>
        </p:spPr>
        <p:txBody>
          <a:bodyPr/>
          <a:lstStyle/>
          <a:p>
            <a:r>
              <a:rPr lang="he-IL" dirty="0"/>
              <a:t>המשך - </a:t>
            </a:r>
            <a:r>
              <a:rPr lang="en-US" dirty="0"/>
              <a:t>SOC</a:t>
            </a:r>
            <a:endParaRPr lang="he-IL" dirty="0"/>
          </a:p>
        </p:txBody>
      </p:sp>
      <p:sp>
        <p:nvSpPr>
          <p:cNvPr id="3" name="מציין מיקום תוכן 2">
            <a:extLst>
              <a:ext uri="{FF2B5EF4-FFF2-40B4-BE49-F238E27FC236}">
                <a16:creationId xmlns:a16="http://schemas.microsoft.com/office/drawing/2014/main" id="{4113E81C-BDE1-4E05-88D2-9EA9D4B6CB09}"/>
              </a:ext>
            </a:extLst>
          </p:cNvPr>
          <p:cNvSpPr>
            <a:spLocks noGrp="1"/>
          </p:cNvSpPr>
          <p:nvPr>
            <p:ph idx="1"/>
          </p:nvPr>
        </p:nvSpPr>
        <p:spPr/>
        <p:txBody>
          <a:bodyPr/>
          <a:lstStyle/>
          <a:p>
            <a:r>
              <a:rPr lang="he-IL" b="1" dirty="0"/>
              <a:t>הכלים והטכנולוגיות שמשתמשים ב-</a:t>
            </a:r>
            <a:r>
              <a:rPr lang="en-US" b="1" dirty="0"/>
              <a:t>SOC</a:t>
            </a:r>
          </a:p>
          <a:p>
            <a:r>
              <a:rPr lang="he-IL" b="1" dirty="0"/>
              <a:t>כלי ניטור:</a:t>
            </a:r>
            <a:endParaRPr lang="he-IL" dirty="0"/>
          </a:p>
          <a:p>
            <a:r>
              <a:rPr lang="en-US" dirty="0"/>
              <a:t> - SIEM </a:t>
            </a:r>
            <a:r>
              <a:rPr lang="he-IL" dirty="0"/>
              <a:t>מרכז את המידע ויוצר התראות בהתבסס על ניתוח נתונים.</a:t>
            </a:r>
          </a:p>
          <a:p>
            <a:r>
              <a:rPr lang="en-US" dirty="0"/>
              <a:t>- IDS/IPS </a:t>
            </a:r>
            <a:r>
              <a:rPr lang="he-IL" dirty="0"/>
              <a:t> מזהה ומונע התקפות על הרשתות.</a:t>
            </a:r>
          </a:p>
          <a:p>
            <a:r>
              <a:rPr lang="en-US" dirty="0"/>
              <a:t> - NTA (Network Traffic Analysis) </a:t>
            </a:r>
            <a:r>
              <a:rPr lang="he-IL" dirty="0"/>
              <a:t>ניתוח תעבורה לרשת כדי לזהות דפוסים חשודים.</a:t>
            </a:r>
          </a:p>
          <a:p>
            <a:r>
              <a:rPr lang="he-IL" dirty="0"/>
              <a:t>כלי ניתוח ותגובה:</a:t>
            </a:r>
          </a:p>
          <a:p>
            <a:r>
              <a:rPr lang="en-US" dirty="0"/>
              <a:t> - SOAR (Security Orchestration, Automation, and Response) </a:t>
            </a:r>
            <a:r>
              <a:rPr lang="he-IL" dirty="0"/>
              <a:t>אוטומט את תהליכי התגובה ומייעל את התגובה לאירועים.</a:t>
            </a:r>
          </a:p>
          <a:p>
            <a:r>
              <a:rPr lang="en-US" dirty="0"/>
              <a:t> - EDR (Endpoint Detection and Response) </a:t>
            </a:r>
            <a:r>
              <a:rPr lang="he-IL" dirty="0"/>
              <a:t>מספקת ניתוח מתקדם של פעילות מחשבים ומכשירים.</a:t>
            </a:r>
          </a:p>
          <a:p>
            <a:endParaRPr lang="he-IL" dirty="0"/>
          </a:p>
        </p:txBody>
      </p:sp>
    </p:spTree>
    <p:extLst>
      <p:ext uri="{BB962C8B-B14F-4D97-AF65-F5344CB8AC3E}">
        <p14:creationId xmlns:p14="http://schemas.microsoft.com/office/powerpoint/2010/main" val="41383361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DE8C8FF-458B-4C21-BD7C-F16E9D5D0C47}"/>
              </a:ext>
            </a:extLst>
          </p:cNvPr>
          <p:cNvSpPr>
            <a:spLocks noGrp="1"/>
          </p:cNvSpPr>
          <p:nvPr>
            <p:ph type="title"/>
          </p:nvPr>
        </p:nvSpPr>
        <p:spPr>
          <a:xfrm>
            <a:off x="9561443" y="304664"/>
            <a:ext cx="1563757" cy="1371600"/>
          </a:xfrm>
        </p:spPr>
        <p:txBody>
          <a:bodyPr/>
          <a:lstStyle/>
          <a:p>
            <a:r>
              <a:rPr lang="en-US" dirty="0"/>
              <a:t>SIEM</a:t>
            </a:r>
            <a:endParaRPr lang="he-IL" dirty="0"/>
          </a:p>
        </p:txBody>
      </p:sp>
      <p:sp>
        <p:nvSpPr>
          <p:cNvPr id="3" name="מציין מיקום תוכן 2">
            <a:extLst>
              <a:ext uri="{FF2B5EF4-FFF2-40B4-BE49-F238E27FC236}">
                <a16:creationId xmlns:a16="http://schemas.microsoft.com/office/drawing/2014/main" id="{B2076A42-17F2-4ADC-A4F4-18BC0E971514}"/>
              </a:ext>
            </a:extLst>
          </p:cNvPr>
          <p:cNvSpPr>
            <a:spLocks noGrp="1"/>
          </p:cNvSpPr>
          <p:nvPr>
            <p:ph idx="1"/>
          </p:nvPr>
        </p:nvSpPr>
        <p:spPr>
          <a:xfrm>
            <a:off x="1066800" y="1520687"/>
            <a:ext cx="10058400" cy="5148469"/>
          </a:xfrm>
        </p:spPr>
        <p:txBody>
          <a:bodyPr>
            <a:normAutofit/>
          </a:bodyPr>
          <a:lstStyle/>
          <a:p>
            <a:r>
              <a:rPr lang="he-IL" b="1" dirty="0"/>
              <a:t>מהו </a:t>
            </a:r>
            <a:r>
              <a:rPr lang="en-US" b="1" dirty="0"/>
              <a:t>SIEM</a:t>
            </a:r>
            <a:r>
              <a:rPr lang="he-IL" b="1" dirty="0"/>
              <a:t>:</a:t>
            </a:r>
            <a:endParaRPr lang="en-US" b="1" dirty="0"/>
          </a:p>
          <a:p>
            <a:r>
              <a:rPr lang="en-US" dirty="0"/>
              <a:t>SIEM </a:t>
            </a:r>
            <a:r>
              <a:rPr lang="he-IL" dirty="0"/>
              <a:t> היא מערכת המספקת יכולות ניהול נתונים ואירועים על מנת לנתח ולזהות איומים על בסיס נתונים שמגיעים ממקורות שונים.</a:t>
            </a:r>
          </a:p>
          <a:p>
            <a:r>
              <a:rPr lang="he-IL" b="1" dirty="0"/>
              <a:t>איך זה עובד:</a:t>
            </a:r>
            <a:endParaRPr lang="he-IL" dirty="0"/>
          </a:p>
          <a:p>
            <a:r>
              <a:rPr lang="he-IL" dirty="0"/>
              <a:t>1. איסוף נתונים:</a:t>
            </a:r>
          </a:p>
          <a:p>
            <a:pPr lvl="1"/>
            <a:r>
              <a:rPr lang="en-US" dirty="0"/>
              <a:t>SIEM </a:t>
            </a:r>
            <a:r>
              <a:rPr lang="he-IL" dirty="0"/>
              <a:t> אוספת נתונים מיומני מערכת, חומות אש, סנסורים, ומערכות </a:t>
            </a:r>
            <a:r>
              <a:rPr lang="en-US" dirty="0"/>
              <a:t>IDS/IPS</a:t>
            </a:r>
          </a:p>
          <a:p>
            <a:pPr lvl="1"/>
            <a:r>
              <a:rPr lang="he-IL" dirty="0"/>
              <a:t>הנתונים נאספים ממספר מקורות כדי לספק תמונה מלאה של פעילות הארגון.</a:t>
            </a:r>
          </a:p>
          <a:p>
            <a:r>
              <a:rPr lang="he-IL" dirty="0"/>
              <a:t>2. ניתוח מידע:</a:t>
            </a:r>
          </a:p>
          <a:p>
            <a:pPr lvl="1"/>
            <a:r>
              <a:rPr lang="en-US" dirty="0"/>
              <a:t> SIEM </a:t>
            </a:r>
            <a:r>
              <a:rPr lang="he-IL" dirty="0"/>
              <a:t>מנתחת את הנתונים על פי תבניות של התקפות ידועות ודפוסים חשודים.</a:t>
            </a:r>
          </a:p>
          <a:p>
            <a:pPr lvl="1"/>
            <a:r>
              <a:rPr lang="he-IL" dirty="0"/>
              <a:t>המערכת משתמשת באלגוריתמים מתקדמים כדי לגלות התנהגויות חריגות ולא רגילות.</a:t>
            </a:r>
          </a:p>
          <a:p>
            <a:r>
              <a:rPr lang="he-IL" dirty="0"/>
              <a:t>3. התראות ודיווח:</a:t>
            </a:r>
          </a:p>
          <a:p>
            <a:pPr lvl="1"/>
            <a:r>
              <a:rPr lang="en-US" dirty="0"/>
              <a:t>SIEM </a:t>
            </a:r>
            <a:r>
              <a:rPr lang="he-IL" dirty="0"/>
              <a:t> מפיקה התראות על פעילות חשודה ומספקת מידע למנהלי אבטחה כדי לבצע תגובה מהירה.</a:t>
            </a:r>
          </a:p>
          <a:p>
            <a:pPr lvl="1"/>
            <a:r>
              <a:rPr lang="he-IL" dirty="0"/>
              <a:t>המערכת גם יוצרת דוחות מסודרים על פעילות ותגובות למתקפות.</a:t>
            </a:r>
          </a:p>
          <a:p>
            <a:endParaRPr lang="he-IL" dirty="0"/>
          </a:p>
          <a:p>
            <a:endParaRPr lang="he-IL" dirty="0"/>
          </a:p>
        </p:txBody>
      </p:sp>
    </p:spTree>
    <p:extLst>
      <p:ext uri="{BB962C8B-B14F-4D97-AF65-F5344CB8AC3E}">
        <p14:creationId xmlns:p14="http://schemas.microsoft.com/office/powerpoint/2010/main" val="40654684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6E20D91-EEFD-4984-A9B4-541577E0AA2F}"/>
              </a:ext>
            </a:extLst>
          </p:cNvPr>
          <p:cNvSpPr>
            <a:spLocks noGrp="1"/>
          </p:cNvSpPr>
          <p:nvPr>
            <p:ph type="title"/>
          </p:nvPr>
        </p:nvSpPr>
        <p:spPr>
          <a:xfrm>
            <a:off x="7464286" y="642594"/>
            <a:ext cx="3660913" cy="1371600"/>
          </a:xfrm>
        </p:spPr>
        <p:txBody>
          <a:bodyPr/>
          <a:lstStyle/>
          <a:p>
            <a:r>
              <a:rPr lang="he-IL" dirty="0"/>
              <a:t>המשך - </a:t>
            </a:r>
            <a:r>
              <a:rPr lang="en-US" dirty="0"/>
              <a:t>SIEM</a:t>
            </a:r>
            <a:endParaRPr lang="he-IL" dirty="0"/>
          </a:p>
        </p:txBody>
      </p:sp>
      <p:sp>
        <p:nvSpPr>
          <p:cNvPr id="3" name="מציין מיקום תוכן 2">
            <a:extLst>
              <a:ext uri="{FF2B5EF4-FFF2-40B4-BE49-F238E27FC236}">
                <a16:creationId xmlns:a16="http://schemas.microsoft.com/office/drawing/2014/main" id="{EDA111CF-6BFD-4551-95B2-C91139BD9AF4}"/>
              </a:ext>
            </a:extLst>
          </p:cNvPr>
          <p:cNvSpPr>
            <a:spLocks noGrp="1"/>
          </p:cNvSpPr>
          <p:nvPr>
            <p:ph idx="1"/>
          </p:nvPr>
        </p:nvSpPr>
        <p:spPr/>
        <p:txBody>
          <a:bodyPr/>
          <a:lstStyle/>
          <a:p>
            <a:r>
              <a:rPr lang="he-IL" dirty="0"/>
              <a:t>לדוגמא:</a:t>
            </a:r>
          </a:p>
          <a:p>
            <a:r>
              <a:rPr lang="he-IL" dirty="0"/>
              <a:t>ארגון טכנולוגי בינלאומי</a:t>
            </a:r>
            <a:r>
              <a:rPr lang="en-US" dirty="0"/>
              <a:t> SIEM </a:t>
            </a:r>
            <a:r>
              <a:rPr lang="he-IL" dirty="0"/>
              <a:t>זיהתה שינוי לא רגיל בגישת קבצים רגישים בזמן שמחשב עבד על עדכון תוכנה. ההתראה אפשרה לצוות </a:t>
            </a:r>
            <a:r>
              <a:rPr lang="en-US" dirty="0"/>
              <a:t> SOC</a:t>
            </a:r>
            <a:r>
              <a:rPr lang="he-IL" dirty="0"/>
              <a:t>לחקור ולהבין שמדובר בהתקפה פנימית שמבוצעת על ידי עובד לשעבר שהצליח לגשת למידע חסוי. הצוות חסם את הגישה, החליף סיסמאות, וביצע חקירה נוספת כדי למנוע מקרים דומים בעתיד.</a:t>
            </a:r>
          </a:p>
          <a:p>
            <a:r>
              <a:rPr lang="he-IL" b="1" dirty="0"/>
              <a:t>יתרונות:</a:t>
            </a:r>
            <a:endParaRPr lang="he-IL" dirty="0"/>
          </a:p>
          <a:p>
            <a:r>
              <a:rPr lang="he-IL" dirty="0"/>
              <a:t>מאפשר ניהול וניתוח של כמות גדולה של נתונים ממקורות שונים.</a:t>
            </a:r>
          </a:p>
          <a:p>
            <a:r>
              <a:rPr lang="he-IL" dirty="0"/>
              <a:t>מספק התראות בזמן אמת ומסייע בזיהוי איומים לפני התפשטותם.</a:t>
            </a:r>
          </a:p>
          <a:p>
            <a:r>
              <a:rPr lang="he-IL" b="1" dirty="0"/>
              <a:t>חסרונות:</a:t>
            </a:r>
            <a:endParaRPr lang="he-IL" dirty="0"/>
          </a:p>
          <a:p>
            <a:r>
              <a:rPr lang="he-IL" dirty="0"/>
              <a:t>עלולה להיות מורכבת להתקנה ולתחזוקה.</a:t>
            </a:r>
          </a:p>
          <a:p>
            <a:r>
              <a:rPr lang="he-IL" dirty="0"/>
              <a:t>דורשת משאבים רבים לניתוח ולתפעול המידע הנאסף.</a:t>
            </a:r>
          </a:p>
          <a:p>
            <a:endParaRPr lang="he-IL" dirty="0"/>
          </a:p>
        </p:txBody>
      </p:sp>
    </p:spTree>
    <p:extLst>
      <p:ext uri="{BB962C8B-B14F-4D97-AF65-F5344CB8AC3E}">
        <p14:creationId xmlns:p14="http://schemas.microsoft.com/office/powerpoint/2010/main" val="242780189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624EBAE-3F25-4315-811E-610BDE554356}"/>
              </a:ext>
            </a:extLst>
          </p:cNvPr>
          <p:cNvSpPr>
            <a:spLocks noGrp="1"/>
          </p:cNvSpPr>
          <p:nvPr>
            <p:ph type="title"/>
          </p:nvPr>
        </p:nvSpPr>
        <p:spPr>
          <a:xfrm>
            <a:off x="7533861" y="308113"/>
            <a:ext cx="3591339" cy="1371600"/>
          </a:xfrm>
        </p:spPr>
        <p:txBody>
          <a:bodyPr/>
          <a:lstStyle/>
          <a:p>
            <a:r>
              <a:rPr lang="he-IL" dirty="0"/>
              <a:t>המשך - </a:t>
            </a:r>
            <a:r>
              <a:rPr lang="en-US" dirty="0"/>
              <a:t>SIEM</a:t>
            </a:r>
            <a:endParaRPr lang="he-IL" dirty="0"/>
          </a:p>
        </p:txBody>
      </p:sp>
      <p:sp>
        <p:nvSpPr>
          <p:cNvPr id="3" name="מציין מיקום תוכן 2">
            <a:extLst>
              <a:ext uri="{FF2B5EF4-FFF2-40B4-BE49-F238E27FC236}">
                <a16:creationId xmlns:a16="http://schemas.microsoft.com/office/drawing/2014/main" id="{681EF3DB-BA1C-49A8-BB91-3FE94881436A}"/>
              </a:ext>
            </a:extLst>
          </p:cNvPr>
          <p:cNvSpPr>
            <a:spLocks noGrp="1"/>
          </p:cNvSpPr>
          <p:nvPr>
            <p:ph idx="1"/>
          </p:nvPr>
        </p:nvSpPr>
        <p:spPr>
          <a:xfrm>
            <a:off x="1066800" y="1610139"/>
            <a:ext cx="10058400" cy="4939748"/>
          </a:xfrm>
        </p:spPr>
        <p:txBody>
          <a:bodyPr>
            <a:normAutofit lnSpcReduction="10000"/>
          </a:bodyPr>
          <a:lstStyle/>
          <a:p>
            <a:r>
              <a:rPr lang="he-IL" b="1" dirty="0"/>
              <a:t>רכיבי </a:t>
            </a:r>
            <a:r>
              <a:rPr lang="en-US" b="1" dirty="0"/>
              <a:t>SIEM</a:t>
            </a:r>
          </a:p>
          <a:p>
            <a:r>
              <a:rPr lang="he-IL" b="1" dirty="0"/>
              <a:t>אספקת נתונים:</a:t>
            </a:r>
          </a:p>
          <a:p>
            <a:r>
              <a:rPr lang="he-IL" dirty="0"/>
              <a:t>מקורות נתונים: </a:t>
            </a:r>
            <a:r>
              <a:rPr lang="en-US" dirty="0"/>
              <a:t> SIEM</a:t>
            </a:r>
            <a:r>
              <a:rPr lang="he-IL" dirty="0"/>
              <a:t>אוספת נתונים ממקורות רבים כגון יומני מערכת, מערכות </a:t>
            </a:r>
            <a:r>
              <a:rPr lang="en-US" dirty="0"/>
              <a:t>IDS/IPS </a:t>
            </a:r>
            <a:r>
              <a:rPr lang="he-IL" dirty="0"/>
              <a:t> חומות אש, אנטי-וירוס, ועוד. הנתונים כוללים פרטי תעבורה, גישות למערכות, ושינויים בקבצים.</a:t>
            </a:r>
          </a:p>
          <a:p>
            <a:r>
              <a:rPr lang="he-IL" dirty="0"/>
              <a:t>איסוף נתונים: מתבצע באמצעות סוכנים המותקנים על מחשבים ושרתים, או באמצעות קישוריות ישירה למקורות נתונים.</a:t>
            </a:r>
          </a:p>
          <a:p>
            <a:r>
              <a:rPr lang="he-IL" b="1" dirty="0"/>
              <a:t>ניתוח:</a:t>
            </a:r>
          </a:p>
          <a:p>
            <a:r>
              <a:rPr lang="he-IL" dirty="0"/>
              <a:t>תבניות התקפה: </a:t>
            </a:r>
            <a:r>
              <a:rPr lang="en-US" dirty="0"/>
              <a:t> SIEM</a:t>
            </a:r>
            <a:r>
              <a:rPr lang="he-IL" dirty="0"/>
              <a:t>משתמשת בתבניות של התקפות מוכרות ובאלגוריתמים מתקדמים כדי לגלות פעילויות חריגות.</a:t>
            </a:r>
          </a:p>
          <a:p>
            <a:r>
              <a:rPr lang="he-IL" dirty="0"/>
              <a:t>ניתוח התנהגותי: מערכות</a:t>
            </a:r>
            <a:r>
              <a:rPr lang="en-US" dirty="0"/>
              <a:t> SIEM </a:t>
            </a:r>
            <a:r>
              <a:rPr lang="he-IL" dirty="0"/>
              <a:t>יכולות לנתח את ההתנהגות של משתמשים או מכשירים ולזהות דפוסים חריגים שמצביעים על התקפות אפשריות.</a:t>
            </a:r>
          </a:p>
          <a:p>
            <a:r>
              <a:rPr lang="he-IL" b="1" dirty="0"/>
              <a:t>התראות ודיווח:</a:t>
            </a:r>
          </a:p>
          <a:p>
            <a:r>
              <a:rPr lang="he-IL" dirty="0"/>
              <a:t>התראות בזמן אמת: </a:t>
            </a:r>
            <a:r>
              <a:rPr lang="en-US" dirty="0"/>
              <a:t> SIEM</a:t>
            </a:r>
            <a:r>
              <a:rPr lang="he-IL" dirty="0"/>
              <a:t>מפיקה התראות על פעילויות חשודות ומספקת מידע </a:t>
            </a:r>
            <a:r>
              <a:rPr lang="he-IL" dirty="0" err="1"/>
              <a:t>מיידי</a:t>
            </a:r>
            <a:r>
              <a:rPr lang="he-IL" dirty="0"/>
              <a:t> לצוותי האבטחה.</a:t>
            </a:r>
          </a:p>
          <a:p>
            <a:r>
              <a:rPr lang="he-IL" dirty="0"/>
              <a:t>דוחות: המערכת יוצרת דוחות מסודרים שמספקים סקירה של התראות ואירועים, עוזרת לנתח את האירועים ומבצעת חקירות.</a:t>
            </a:r>
          </a:p>
          <a:p>
            <a:endParaRPr lang="he-IL" dirty="0"/>
          </a:p>
        </p:txBody>
      </p:sp>
    </p:spTree>
    <p:extLst>
      <p:ext uri="{BB962C8B-B14F-4D97-AF65-F5344CB8AC3E}">
        <p14:creationId xmlns:p14="http://schemas.microsoft.com/office/powerpoint/2010/main" val="38767657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B4300B7-E7E5-404B-9079-B81CF5EB26F6}"/>
              </a:ext>
            </a:extLst>
          </p:cNvPr>
          <p:cNvSpPr>
            <a:spLocks noGrp="1"/>
          </p:cNvSpPr>
          <p:nvPr>
            <p:ph type="title"/>
          </p:nvPr>
        </p:nvSpPr>
        <p:spPr>
          <a:xfrm>
            <a:off x="7364896" y="642594"/>
            <a:ext cx="3760304" cy="1371600"/>
          </a:xfrm>
        </p:spPr>
        <p:txBody>
          <a:bodyPr/>
          <a:lstStyle/>
          <a:p>
            <a:r>
              <a:rPr lang="he-IL" dirty="0"/>
              <a:t>המשך - </a:t>
            </a:r>
            <a:r>
              <a:rPr lang="en-US" dirty="0"/>
              <a:t>SIEM</a:t>
            </a:r>
            <a:endParaRPr lang="he-IL" dirty="0"/>
          </a:p>
        </p:txBody>
      </p:sp>
      <p:sp>
        <p:nvSpPr>
          <p:cNvPr id="3" name="מציין מיקום תוכן 2">
            <a:extLst>
              <a:ext uri="{FF2B5EF4-FFF2-40B4-BE49-F238E27FC236}">
                <a16:creationId xmlns:a16="http://schemas.microsoft.com/office/drawing/2014/main" id="{2C2C345D-C480-490B-AD67-E388D9BE17F8}"/>
              </a:ext>
            </a:extLst>
          </p:cNvPr>
          <p:cNvSpPr>
            <a:spLocks noGrp="1"/>
          </p:cNvSpPr>
          <p:nvPr>
            <p:ph idx="1"/>
          </p:nvPr>
        </p:nvSpPr>
        <p:spPr/>
        <p:txBody>
          <a:bodyPr/>
          <a:lstStyle/>
          <a:p>
            <a:r>
              <a:rPr lang="he-IL" b="1" dirty="0"/>
              <a:t>תהליכים ונהלים ב-</a:t>
            </a:r>
            <a:r>
              <a:rPr lang="en-US" b="1" dirty="0"/>
              <a:t>SIEM</a:t>
            </a:r>
          </a:p>
          <a:p>
            <a:r>
              <a:rPr lang="he-IL" b="1" dirty="0"/>
              <a:t>תהליך ניהול התראות:</a:t>
            </a:r>
            <a:endParaRPr lang="he-IL" dirty="0"/>
          </a:p>
          <a:p>
            <a:r>
              <a:rPr lang="he-IL" dirty="0"/>
              <a:t>1. סינון התראות: </a:t>
            </a:r>
            <a:r>
              <a:rPr lang="en-US" dirty="0"/>
              <a:t> SIEM </a:t>
            </a:r>
            <a:r>
              <a:rPr lang="he-IL" dirty="0"/>
              <a:t>מסנן התראות כדי למנוע העמסה על הצוות ולהתמקד באיומים קריטיים.</a:t>
            </a:r>
          </a:p>
          <a:p>
            <a:r>
              <a:rPr lang="he-IL" dirty="0"/>
              <a:t>2. מיון וחקירה: התראות נבדקות וממוינות לפי רמת הסיכון, והצוות מבצע חקירה מעמיקה כאשר יש צורך.</a:t>
            </a:r>
          </a:p>
          <a:p>
            <a:r>
              <a:rPr lang="he-IL" dirty="0"/>
              <a:t>3. תגובה ותחזוקה: בהתאם לחקירה, הצוות מבצע את הצעדים הנדרשים, ומעדכן את מערכת </a:t>
            </a:r>
            <a:r>
              <a:rPr lang="en-US" dirty="0"/>
              <a:t>SIEM</a:t>
            </a:r>
            <a:r>
              <a:rPr lang="he-IL" dirty="0"/>
              <a:t> לפי הצורך.</a:t>
            </a:r>
          </a:p>
          <a:p>
            <a:r>
              <a:rPr lang="he-IL" b="1" dirty="0"/>
              <a:t>תהליך אופטימיזציה:</a:t>
            </a:r>
          </a:p>
          <a:p>
            <a:r>
              <a:rPr lang="he-IL" dirty="0"/>
              <a:t>1. שדרוגים ועדכונים:</a:t>
            </a:r>
            <a:r>
              <a:rPr lang="en-US" dirty="0"/>
              <a:t>SIEM </a:t>
            </a:r>
            <a:r>
              <a:rPr lang="he-IL" dirty="0"/>
              <a:t> מתעדכנת עם כלים וטכנולוגיות חדשות כדי לשפר את יכולות הניתוח והתגובה.</a:t>
            </a:r>
          </a:p>
          <a:p>
            <a:r>
              <a:rPr lang="he-IL" dirty="0"/>
              <a:t>2. ניתוח התראות: מתבצע ניתוח לאחר האירועים כדי לייעל את מערכת ההתראות ולמנוע התרעות שווא.</a:t>
            </a:r>
          </a:p>
          <a:p>
            <a:endParaRPr lang="he-IL" dirty="0"/>
          </a:p>
        </p:txBody>
      </p:sp>
    </p:spTree>
    <p:extLst>
      <p:ext uri="{BB962C8B-B14F-4D97-AF65-F5344CB8AC3E}">
        <p14:creationId xmlns:p14="http://schemas.microsoft.com/office/powerpoint/2010/main" val="32834052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33ECB01-804E-420B-95C3-B13E0221A1EA}"/>
              </a:ext>
            </a:extLst>
          </p:cNvPr>
          <p:cNvSpPr>
            <a:spLocks noGrp="1"/>
          </p:cNvSpPr>
          <p:nvPr>
            <p:ph type="title"/>
          </p:nvPr>
        </p:nvSpPr>
        <p:spPr>
          <a:xfrm>
            <a:off x="7484164" y="642594"/>
            <a:ext cx="3641035" cy="1371600"/>
          </a:xfrm>
        </p:spPr>
        <p:txBody>
          <a:bodyPr/>
          <a:lstStyle/>
          <a:p>
            <a:r>
              <a:rPr lang="he-IL" dirty="0"/>
              <a:t>המשך - </a:t>
            </a:r>
            <a:r>
              <a:rPr lang="en-US" dirty="0"/>
              <a:t>SIEM</a:t>
            </a:r>
            <a:endParaRPr lang="he-IL" dirty="0"/>
          </a:p>
        </p:txBody>
      </p:sp>
      <p:sp>
        <p:nvSpPr>
          <p:cNvPr id="3" name="מציין מיקום תוכן 2">
            <a:extLst>
              <a:ext uri="{FF2B5EF4-FFF2-40B4-BE49-F238E27FC236}">
                <a16:creationId xmlns:a16="http://schemas.microsoft.com/office/drawing/2014/main" id="{C29AA640-C090-4FCA-B3FB-9519360638E3}"/>
              </a:ext>
            </a:extLst>
          </p:cNvPr>
          <p:cNvSpPr>
            <a:spLocks noGrp="1"/>
          </p:cNvSpPr>
          <p:nvPr>
            <p:ph idx="1"/>
          </p:nvPr>
        </p:nvSpPr>
        <p:spPr/>
        <p:txBody>
          <a:bodyPr>
            <a:normAutofit fontScale="92500" lnSpcReduction="10000"/>
          </a:bodyPr>
          <a:lstStyle/>
          <a:p>
            <a:r>
              <a:rPr lang="he-IL" b="1" dirty="0"/>
              <a:t>אתגרים בעבודה עם </a:t>
            </a:r>
            <a:r>
              <a:rPr lang="en-US" b="1" dirty="0"/>
              <a:t>SIEM</a:t>
            </a:r>
          </a:p>
          <a:p>
            <a:r>
              <a:rPr lang="he-IL" b="1" dirty="0"/>
              <a:t>כמות נתונים:</a:t>
            </a:r>
            <a:endParaRPr lang="he-IL" dirty="0"/>
          </a:p>
          <a:p>
            <a:r>
              <a:rPr lang="he-IL" b="1" dirty="0"/>
              <a:t>בעיות בניהול נתונים מרובים:</a:t>
            </a:r>
            <a:r>
              <a:rPr lang="he-IL" dirty="0"/>
              <a:t> </a:t>
            </a:r>
            <a:r>
              <a:rPr lang="en-US" dirty="0"/>
              <a:t>SIEM </a:t>
            </a:r>
            <a:r>
              <a:rPr lang="he-IL" dirty="0"/>
              <a:t> עלולה להתמודד עם כמות רבה של נתונים, מה שמקשה על ניתוח ותגובה מהירה.</a:t>
            </a:r>
          </a:p>
          <a:p>
            <a:r>
              <a:rPr lang="he-IL" b="1" dirty="0"/>
              <a:t>פתרון:</a:t>
            </a:r>
            <a:r>
              <a:rPr lang="he-IL" dirty="0"/>
              <a:t> שימוש בטכנולוגיות כמו</a:t>
            </a:r>
            <a:r>
              <a:rPr lang="en-US" dirty="0"/>
              <a:t> AI </a:t>
            </a:r>
            <a:r>
              <a:rPr lang="he-IL" dirty="0"/>
              <a:t>ו-</a:t>
            </a:r>
            <a:r>
              <a:rPr lang="en-US" dirty="0"/>
              <a:t> ML </a:t>
            </a:r>
            <a:r>
              <a:rPr lang="he-IL" dirty="0"/>
              <a:t>למידת מכונה לניתוח אוטומטי של נתונים ויצירת התראות חכמות.</a:t>
            </a:r>
          </a:p>
          <a:p>
            <a:r>
              <a:rPr lang="he-IL" b="1" dirty="0"/>
              <a:t>תחזוקה ותפעול:</a:t>
            </a:r>
            <a:endParaRPr lang="he-IL" dirty="0"/>
          </a:p>
          <a:p>
            <a:r>
              <a:rPr lang="he-IL" b="1" dirty="0"/>
              <a:t>דרישות תחזוקה:</a:t>
            </a:r>
            <a:r>
              <a:rPr lang="he-IL" dirty="0"/>
              <a:t> </a:t>
            </a:r>
            <a:r>
              <a:rPr lang="en-US" dirty="0"/>
              <a:t>SIEM</a:t>
            </a:r>
            <a:r>
              <a:rPr lang="he-IL" dirty="0"/>
              <a:t> דורשת תחזוקה מתמדת ועדכונים כדי לשמור על עדכניותה ויכולת התגובה שלה.</a:t>
            </a:r>
          </a:p>
          <a:p>
            <a:r>
              <a:rPr lang="he-IL" b="1" dirty="0"/>
              <a:t>פתרון:</a:t>
            </a:r>
            <a:r>
              <a:rPr lang="he-IL" dirty="0"/>
              <a:t> תכנון תהליך תחזוקה מסודר כולל עדכונים שוטפים ובדיקות שגרתיות.</a:t>
            </a:r>
          </a:p>
          <a:p>
            <a:r>
              <a:rPr lang="he-IL" b="1" dirty="0"/>
              <a:t>ניהול התראות שווא:</a:t>
            </a:r>
            <a:endParaRPr lang="he-IL" dirty="0"/>
          </a:p>
          <a:p>
            <a:r>
              <a:rPr lang="he-IL" b="1" dirty="0"/>
              <a:t>בעיות בהגדרה:</a:t>
            </a:r>
            <a:r>
              <a:rPr lang="he-IL" dirty="0"/>
              <a:t> </a:t>
            </a:r>
            <a:r>
              <a:rPr lang="en-US" dirty="0"/>
              <a:t>SIEM</a:t>
            </a:r>
            <a:r>
              <a:rPr lang="he-IL" dirty="0"/>
              <a:t> עלולה לייצר התראות שווא, מה שמקשה על הצוות לזהות איומים </a:t>
            </a:r>
            <a:r>
              <a:rPr lang="he-IL" dirty="0" err="1"/>
              <a:t>אמיתיים</a:t>
            </a:r>
            <a:r>
              <a:rPr lang="he-IL" dirty="0"/>
              <a:t>.</a:t>
            </a:r>
          </a:p>
          <a:p>
            <a:r>
              <a:rPr lang="he-IL" b="1" dirty="0"/>
              <a:t>פתרון:</a:t>
            </a:r>
            <a:r>
              <a:rPr lang="he-IL" dirty="0"/>
              <a:t> שיפור הגדרות מערכת והתאמת אלגוריתמים לצורך צמצום התראות שווא.</a:t>
            </a:r>
          </a:p>
          <a:p>
            <a:endParaRPr lang="he-IL" dirty="0"/>
          </a:p>
        </p:txBody>
      </p:sp>
    </p:spTree>
    <p:extLst>
      <p:ext uri="{BB962C8B-B14F-4D97-AF65-F5344CB8AC3E}">
        <p14:creationId xmlns:p14="http://schemas.microsoft.com/office/powerpoint/2010/main" val="137413310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E315266-BEBC-4A0C-918A-E641312ED0B6}"/>
              </a:ext>
            </a:extLst>
          </p:cNvPr>
          <p:cNvSpPr>
            <a:spLocks noGrp="1"/>
          </p:cNvSpPr>
          <p:nvPr>
            <p:ph type="title"/>
          </p:nvPr>
        </p:nvSpPr>
        <p:spPr>
          <a:xfrm>
            <a:off x="7573616" y="642594"/>
            <a:ext cx="3551583" cy="1371600"/>
          </a:xfrm>
        </p:spPr>
        <p:txBody>
          <a:bodyPr>
            <a:normAutofit fontScale="90000"/>
          </a:bodyPr>
          <a:lstStyle/>
          <a:p>
            <a:r>
              <a:rPr lang="en-US" dirty="0"/>
              <a:t>SOC </a:t>
            </a:r>
            <a:r>
              <a:rPr lang="he-IL" dirty="0"/>
              <a:t> ו- </a:t>
            </a:r>
            <a:r>
              <a:rPr lang="en-US" dirty="0"/>
              <a:t>SIEM</a:t>
            </a:r>
            <a:endParaRPr lang="he-IL" dirty="0"/>
          </a:p>
        </p:txBody>
      </p:sp>
      <p:sp>
        <p:nvSpPr>
          <p:cNvPr id="3" name="מציין מיקום תוכן 2">
            <a:extLst>
              <a:ext uri="{FF2B5EF4-FFF2-40B4-BE49-F238E27FC236}">
                <a16:creationId xmlns:a16="http://schemas.microsoft.com/office/drawing/2014/main" id="{004C2C4C-C1F3-47B1-97B2-057B93DA972B}"/>
              </a:ext>
            </a:extLst>
          </p:cNvPr>
          <p:cNvSpPr>
            <a:spLocks noGrp="1"/>
          </p:cNvSpPr>
          <p:nvPr>
            <p:ph idx="1"/>
          </p:nvPr>
        </p:nvSpPr>
        <p:spPr/>
        <p:txBody>
          <a:bodyPr/>
          <a:lstStyle/>
          <a:p>
            <a:r>
              <a:rPr lang="he-IL" b="1" dirty="0"/>
              <a:t>שילוב </a:t>
            </a:r>
            <a:r>
              <a:rPr lang="en-US" b="1" dirty="0"/>
              <a:t> SOC </a:t>
            </a:r>
            <a:r>
              <a:rPr lang="he-IL" b="1" dirty="0"/>
              <a:t>ו- </a:t>
            </a:r>
            <a:r>
              <a:rPr lang="en-US" b="1" dirty="0"/>
              <a:t>SIEM</a:t>
            </a:r>
            <a:r>
              <a:rPr lang="he-IL" b="1" dirty="0"/>
              <a:t>:</a:t>
            </a:r>
            <a:endParaRPr lang="en-US" b="1" dirty="0"/>
          </a:p>
          <a:p>
            <a:r>
              <a:rPr lang="he-IL" dirty="0"/>
              <a:t>תיאום: </a:t>
            </a:r>
            <a:r>
              <a:rPr lang="en-US" dirty="0"/>
              <a:t> SIEM</a:t>
            </a:r>
            <a:r>
              <a:rPr lang="he-IL" dirty="0"/>
              <a:t>מספקת ל-</a:t>
            </a:r>
            <a:r>
              <a:rPr lang="en-US" dirty="0"/>
              <a:t> SOC </a:t>
            </a:r>
            <a:r>
              <a:rPr lang="he-IL" dirty="0"/>
              <a:t>את המידע וההתראות הנדרשים כדי לנהל את פעולות האבטחה ולנצל את הידע שנאסף מהמערכת.</a:t>
            </a:r>
          </a:p>
          <a:p>
            <a:r>
              <a:rPr lang="he-IL" dirty="0"/>
              <a:t>תגובה: </a:t>
            </a:r>
            <a:r>
              <a:rPr lang="en-US" dirty="0"/>
              <a:t>SOC</a:t>
            </a:r>
            <a:r>
              <a:rPr lang="he-IL" dirty="0"/>
              <a:t> משתמשת במידע ובתובנות שניתנות על ידי</a:t>
            </a:r>
            <a:r>
              <a:rPr lang="en-US" dirty="0"/>
              <a:t>SIEM </a:t>
            </a:r>
            <a:r>
              <a:rPr lang="he-IL" dirty="0"/>
              <a:t> כדי לנהל את התגובה לאיומים ולהגיב במהירות.</a:t>
            </a:r>
          </a:p>
          <a:p>
            <a:r>
              <a:rPr lang="he-IL" dirty="0"/>
              <a:t>שיפור מתמיד:</a:t>
            </a:r>
            <a:r>
              <a:rPr lang="en-US" dirty="0"/>
              <a:t>SIEM </a:t>
            </a:r>
            <a:r>
              <a:rPr lang="he-IL" dirty="0"/>
              <a:t> מספקת נתונים וניתוחים שמסייעים ל-</a:t>
            </a:r>
            <a:r>
              <a:rPr lang="en-US" dirty="0"/>
              <a:t>SOC </a:t>
            </a:r>
            <a:r>
              <a:rPr lang="he-IL" dirty="0"/>
              <a:t> לשפר את אסטרטגיות האבטחה ולבצע התאמות על בסיס לקחים מהתקפות קודמות.</a:t>
            </a:r>
          </a:p>
          <a:p>
            <a:endParaRPr lang="he-IL" dirty="0"/>
          </a:p>
        </p:txBody>
      </p:sp>
    </p:spTree>
    <p:extLst>
      <p:ext uri="{BB962C8B-B14F-4D97-AF65-F5344CB8AC3E}">
        <p14:creationId xmlns:p14="http://schemas.microsoft.com/office/powerpoint/2010/main" val="312642271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9D6448E-6509-44B3-BE9E-46670A129772}"/>
              </a:ext>
            </a:extLst>
          </p:cNvPr>
          <p:cNvSpPr>
            <a:spLocks noGrp="1"/>
          </p:cNvSpPr>
          <p:nvPr>
            <p:ph type="title"/>
          </p:nvPr>
        </p:nvSpPr>
        <p:spPr>
          <a:xfrm>
            <a:off x="5257800" y="642594"/>
            <a:ext cx="5867400" cy="1371600"/>
          </a:xfrm>
        </p:spPr>
        <p:txBody>
          <a:bodyPr/>
          <a:lstStyle/>
          <a:p>
            <a:r>
              <a:rPr lang="he-IL" dirty="0"/>
              <a:t>המשך - </a:t>
            </a:r>
            <a:r>
              <a:rPr lang="en-US" dirty="0"/>
              <a:t>SOC </a:t>
            </a:r>
            <a:r>
              <a:rPr lang="he-IL" dirty="0"/>
              <a:t> ו- </a:t>
            </a:r>
            <a:r>
              <a:rPr lang="en-US" dirty="0"/>
              <a:t>SIEM</a:t>
            </a:r>
            <a:endParaRPr lang="he-IL" dirty="0"/>
          </a:p>
        </p:txBody>
      </p:sp>
      <p:sp>
        <p:nvSpPr>
          <p:cNvPr id="3" name="מציין מיקום תוכן 2">
            <a:extLst>
              <a:ext uri="{FF2B5EF4-FFF2-40B4-BE49-F238E27FC236}">
                <a16:creationId xmlns:a16="http://schemas.microsoft.com/office/drawing/2014/main" id="{E55A762B-9484-4238-8F85-C410CE085088}"/>
              </a:ext>
            </a:extLst>
          </p:cNvPr>
          <p:cNvSpPr>
            <a:spLocks noGrp="1"/>
          </p:cNvSpPr>
          <p:nvPr>
            <p:ph idx="1"/>
          </p:nvPr>
        </p:nvSpPr>
        <p:spPr/>
        <p:txBody>
          <a:bodyPr/>
          <a:lstStyle/>
          <a:p>
            <a:r>
              <a:rPr lang="he-IL" dirty="0"/>
              <a:t>שאלות:</a:t>
            </a:r>
          </a:p>
          <a:p>
            <a:r>
              <a:rPr lang="he-IL" dirty="0"/>
              <a:t>1. מה ההבדל בין </a:t>
            </a:r>
            <a:r>
              <a:rPr lang="en-US" dirty="0"/>
              <a:t>SOC</a:t>
            </a:r>
            <a:r>
              <a:rPr lang="he-IL" dirty="0"/>
              <a:t> ל-</a:t>
            </a:r>
            <a:r>
              <a:rPr lang="en-US" dirty="0"/>
              <a:t>SIEM </a:t>
            </a:r>
            <a:r>
              <a:rPr lang="he-IL" dirty="0"/>
              <a:t> ?</a:t>
            </a:r>
          </a:p>
          <a:p>
            <a:r>
              <a:rPr lang="he-IL" dirty="0"/>
              <a:t>2. איך</a:t>
            </a:r>
            <a:r>
              <a:rPr lang="en-US" dirty="0"/>
              <a:t> SIEM </a:t>
            </a:r>
            <a:r>
              <a:rPr lang="he-IL" dirty="0"/>
              <a:t>עוזרת ל-</a:t>
            </a:r>
            <a:r>
              <a:rPr lang="en-US" dirty="0"/>
              <a:t> SOC </a:t>
            </a:r>
            <a:r>
              <a:rPr lang="he-IL" dirty="0" err="1"/>
              <a:t>לנטר</a:t>
            </a:r>
            <a:r>
              <a:rPr lang="he-IL" dirty="0"/>
              <a:t> איומים?</a:t>
            </a:r>
          </a:p>
          <a:p>
            <a:r>
              <a:rPr lang="he-IL" dirty="0"/>
              <a:t>3. מה תפקיד צוות </a:t>
            </a:r>
            <a:r>
              <a:rPr lang="en-US" dirty="0"/>
              <a:t> SOC</a:t>
            </a:r>
            <a:r>
              <a:rPr lang="he-IL" dirty="0"/>
              <a:t>כאשר מתגלה התקפה על ידי </a:t>
            </a:r>
            <a:r>
              <a:rPr lang="en-US" dirty="0"/>
              <a:t>SIEM</a:t>
            </a:r>
            <a:r>
              <a:rPr lang="he-IL" dirty="0"/>
              <a:t> ?</a:t>
            </a:r>
          </a:p>
          <a:p>
            <a:r>
              <a:rPr lang="he-IL" dirty="0"/>
              <a:t>4. כיצד </a:t>
            </a:r>
            <a:r>
              <a:rPr lang="en-US" dirty="0"/>
              <a:t>SIEM</a:t>
            </a:r>
            <a:r>
              <a:rPr lang="he-IL" dirty="0"/>
              <a:t> יכולה לסייע בשיפור אבטחת המידע בארגון?</a:t>
            </a:r>
          </a:p>
          <a:p>
            <a:endParaRPr lang="he-IL" dirty="0"/>
          </a:p>
        </p:txBody>
      </p:sp>
    </p:spTree>
    <p:extLst>
      <p:ext uri="{BB962C8B-B14F-4D97-AF65-F5344CB8AC3E}">
        <p14:creationId xmlns:p14="http://schemas.microsoft.com/office/powerpoint/2010/main" val="39542936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A6A1C9C-7CEF-4083-81C0-FB3DFD5126BD}"/>
              </a:ext>
            </a:extLst>
          </p:cNvPr>
          <p:cNvSpPr>
            <a:spLocks noGrp="1"/>
          </p:cNvSpPr>
          <p:nvPr>
            <p:ph type="title"/>
          </p:nvPr>
        </p:nvSpPr>
        <p:spPr>
          <a:xfrm>
            <a:off x="5307496" y="642594"/>
            <a:ext cx="5817704" cy="1371600"/>
          </a:xfrm>
        </p:spPr>
        <p:txBody>
          <a:bodyPr/>
          <a:lstStyle/>
          <a:p>
            <a:r>
              <a:rPr lang="he-IL" dirty="0"/>
              <a:t>המשך - </a:t>
            </a:r>
            <a:r>
              <a:rPr lang="en-US" dirty="0"/>
              <a:t>SOC </a:t>
            </a:r>
            <a:r>
              <a:rPr lang="he-IL" dirty="0"/>
              <a:t> ו- </a:t>
            </a:r>
            <a:r>
              <a:rPr lang="en-US" dirty="0"/>
              <a:t>SIEM</a:t>
            </a:r>
            <a:endParaRPr lang="he-IL" dirty="0"/>
          </a:p>
        </p:txBody>
      </p:sp>
      <p:sp>
        <p:nvSpPr>
          <p:cNvPr id="3" name="מציין מיקום תוכן 2">
            <a:extLst>
              <a:ext uri="{FF2B5EF4-FFF2-40B4-BE49-F238E27FC236}">
                <a16:creationId xmlns:a16="http://schemas.microsoft.com/office/drawing/2014/main" id="{201D25F7-3424-4F6F-97AB-99F30DB813D3}"/>
              </a:ext>
            </a:extLst>
          </p:cNvPr>
          <p:cNvSpPr>
            <a:spLocks noGrp="1"/>
          </p:cNvSpPr>
          <p:nvPr>
            <p:ph idx="1"/>
          </p:nvPr>
        </p:nvSpPr>
        <p:spPr/>
        <p:txBody>
          <a:bodyPr/>
          <a:lstStyle/>
          <a:p>
            <a:r>
              <a:rPr lang="he-IL" dirty="0"/>
              <a:t>תשובות:</a:t>
            </a:r>
          </a:p>
          <a:p>
            <a:r>
              <a:rPr lang="he-IL" dirty="0"/>
              <a:t>1.</a:t>
            </a:r>
            <a:r>
              <a:rPr lang="en-US" dirty="0"/>
              <a:t> SOC </a:t>
            </a:r>
            <a:r>
              <a:rPr lang="he-IL" dirty="0"/>
              <a:t>מתמקד בניהול פעולות אבטחה בזמן אמת, בעוד ש-</a:t>
            </a:r>
            <a:r>
              <a:rPr lang="en-US" dirty="0"/>
              <a:t>SIEM </a:t>
            </a:r>
            <a:r>
              <a:rPr lang="he-IL" dirty="0"/>
              <a:t> מספקת את הכלים לניתוח נתונים ולזיהוי איומים.</a:t>
            </a:r>
          </a:p>
          <a:p>
            <a:r>
              <a:rPr lang="he-IL" dirty="0"/>
              <a:t>2.</a:t>
            </a:r>
            <a:r>
              <a:rPr lang="en-US" dirty="0"/>
              <a:t> SIEM </a:t>
            </a:r>
            <a:r>
              <a:rPr lang="he-IL" dirty="0"/>
              <a:t>מספקת התראות ומידע שמאפשרים ל-</a:t>
            </a:r>
            <a:r>
              <a:rPr lang="en-US" dirty="0"/>
              <a:t>SOC </a:t>
            </a:r>
            <a:r>
              <a:rPr lang="he-IL" dirty="0"/>
              <a:t> לזהות איומים בזמן אמת ולבצע תגובות מותאמות.</a:t>
            </a:r>
          </a:p>
          <a:p>
            <a:r>
              <a:rPr lang="he-IL" dirty="0"/>
              <a:t>3. צוות </a:t>
            </a:r>
            <a:r>
              <a:rPr lang="en-US" dirty="0"/>
              <a:t> SOC</a:t>
            </a:r>
            <a:r>
              <a:rPr lang="he-IL" dirty="0"/>
              <a:t>מבצע ניתוח של ההתקפה, מגיב בהתאם ומבצע פעולות כמו חסימת התקשרות או ביצוע חקירה מעמיקה.</a:t>
            </a:r>
          </a:p>
          <a:p>
            <a:r>
              <a:rPr lang="he-IL" dirty="0"/>
              <a:t>4. על ידי ניתוח נתונים מקיף </a:t>
            </a:r>
            <a:r>
              <a:rPr lang="en-US" dirty="0"/>
              <a:t>SIEM</a:t>
            </a:r>
            <a:r>
              <a:rPr lang="he-IL" dirty="0"/>
              <a:t> מסייעת לזהות תבניות התקפה חדשות, לשפר את ההתראות ולספק מידע לשיפור מתמיד של אסטרטגיות האבטחה.</a:t>
            </a:r>
          </a:p>
          <a:p>
            <a:endParaRPr lang="he-IL" dirty="0"/>
          </a:p>
        </p:txBody>
      </p:sp>
    </p:spTree>
    <p:extLst>
      <p:ext uri="{BB962C8B-B14F-4D97-AF65-F5344CB8AC3E}">
        <p14:creationId xmlns:p14="http://schemas.microsoft.com/office/powerpoint/2010/main" val="39392192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3F40C8C-9236-42D6-A9FF-6DB6C66BE9B0}"/>
              </a:ext>
            </a:extLst>
          </p:cNvPr>
          <p:cNvSpPr>
            <a:spLocks noGrp="1"/>
          </p:cNvSpPr>
          <p:nvPr>
            <p:ph type="title"/>
          </p:nvPr>
        </p:nvSpPr>
        <p:spPr>
          <a:xfrm>
            <a:off x="5466522" y="642594"/>
            <a:ext cx="5658678" cy="1371600"/>
          </a:xfrm>
        </p:spPr>
        <p:txBody>
          <a:bodyPr>
            <a:normAutofit fontScale="90000"/>
          </a:bodyPr>
          <a:lstStyle/>
          <a:p>
            <a:r>
              <a:rPr lang="en-US" dirty="0"/>
              <a:t> - NAC </a:t>
            </a:r>
            <a:r>
              <a:rPr lang="he-IL" dirty="0"/>
              <a:t>ניהול גישת רשת</a:t>
            </a:r>
          </a:p>
        </p:txBody>
      </p:sp>
      <p:sp>
        <p:nvSpPr>
          <p:cNvPr id="3" name="מציין מיקום תוכן 2">
            <a:extLst>
              <a:ext uri="{FF2B5EF4-FFF2-40B4-BE49-F238E27FC236}">
                <a16:creationId xmlns:a16="http://schemas.microsoft.com/office/drawing/2014/main" id="{E4C246DD-2C1A-42E8-B008-BB8CEF3664A2}"/>
              </a:ext>
            </a:extLst>
          </p:cNvPr>
          <p:cNvSpPr>
            <a:spLocks noGrp="1"/>
          </p:cNvSpPr>
          <p:nvPr>
            <p:ph idx="1"/>
          </p:nvPr>
        </p:nvSpPr>
        <p:spPr/>
        <p:txBody>
          <a:bodyPr/>
          <a:lstStyle/>
          <a:p>
            <a:r>
              <a:rPr lang="he-IL" b="1" dirty="0"/>
              <a:t>מה זה </a:t>
            </a:r>
            <a:r>
              <a:rPr lang="en-US" b="1" dirty="0"/>
              <a:t>NAC</a:t>
            </a:r>
            <a:r>
              <a:rPr lang="he-IL" b="1" dirty="0"/>
              <a:t>:</a:t>
            </a:r>
            <a:endParaRPr lang="en-US" b="1" dirty="0"/>
          </a:p>
          <a:p>
            <a:r>
              <a:rPr lang="en-US" b="1" dirty="0"/>
              <a:t>NAC (Network Access Control)</a:t>
            </a:r>
            <a:r>
              <a:rPr lang="en-US" dirty="0"/>
              <a:t> </a:t>
            </a:r>
            <a:r>
              <a:rPr lang="he-IL" dirty="0"/>
              <a:t> הוא טכנולוגיה לניהול ואבטחת הגישה לרשתות מחשבים בארגון. המטרה של </a:t>
            </a:r>
            <a:r>
              <a:rPr lang="en-US" dirty="0"/>
              <a:t> NAC</a:t>
            </a:r>
            <a:r>
              <a:rPr lang="he-IL" dirty="0"/>
              <a:t>היא להבטיח שרק מכשירים ומחשבים מורשים יוכלו לגשת לרשתות ולמשאבים ארגוניים, תוך כדי שמירה על מדיניות האבטחה של הארגון.</a:t>
            </a:r>
          </a:p>
          <a:p>
            <a:endParaRPr lang="he-IL" dirty="0"/>
          </a:p>
        </p:txBody>
      </p:sp>
    </p:spTree>
    <p:extLst>
      <p:ext uri="{BB962C8B-B14F-4D97-AF65-F5344CB8AC3E}">
        <p14:creationId xmlns:p14="http://schemas.microsoft.com/office/powerpoint/2010/main" val="390638358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1508F40-53B9-45E0-A52A-A5AA3FF989C6}"/>
              </a:ext>
            </a:extLst>
          </p:cNvPr>
          <p:cNvSpPr>
            <a:spLocks noGrp="1"/>
          </p:cNvSpPr>
          <p:nvPr>
            <p:ph type="title"/>
          </p:nvPr>
        </p:nvSpPr>
        <p:spPr>
          <a:xfrm>
            <a:off x="7374835" y="274847"/>
            <a:ext cx="3750365" cy="1371600"/>
          </a:xfrm>
        </p:spPr>
        <p:txBody>
          <a:bodyPr/>
          <a:lstStyle/>
          <a:p>
            <a:r>
              <a:rPr lang="he-IL" dirty="0"/>
              <a:t>המשך - </a:t>
            </a:r>
            <a:r>
              <a:rPr lang="en-US" dirty="0"/>
              <a:t>NAC</a:t>
            </a:r>
            <a:endParaRPr lang="he-IL" dirty="0"/>
          </a:p>
        </p:txBody>
      </p:sp>
      <p:sp>
        <p:nvSpPr>
          <p:cNvPr id="3" name="מציין מיקום תוכן 2">
            <a:extLst>
              <a:ext uri="{FF2B5EF4-FFF2-40B4-BE49-F238E27FC236}">
                <a16:creationId xmlns:a16="http://schemas.microsoft.com/office/drawing/2014/main" id="{A4A14016-F6C6-440D-96E7-14098B162F86}"/>
              </a:ext>
            </a:extLst>
          </p:cNvPr>
          <p:cNvSpPr>
            <a:spLocks noGrp="1"/>
          </p:cNvSpPr>
          <p:nvPr>
            <p:ph idx="1"/>
          </p:nvPr>
        </p:nvSpPr>
        <p:spPr>
          <a:xfrm>
            <a:off x="1066800" y="1540565"/>
            <a:ext cx="10058400" cy="4750905"/>
          </a:xfrm>
        </p:spPr>
        <p:txBody>
          <a:bodyPr>
            <a:normAutofit/>
          </a:bodyPr>
          <a:lstStyle/>
          <a:p>
            <a:r>
              <a:rPr lang="he-IL" b="1" dirty="0"/>
              <a:t>איך </a:t>
            </a:r>
            <a:r>
              <a:rPr lang="en-US" b="1" dirty="0"/>
              <a:t> NAC </a:t>
            </a:r>
            <a:r>
              <a:rPr lang="he-IL" b="1" dirty="0"/>
              <a:t>עובד?</a:t>
            </a:r>
          </a:p>
          <a:p>
            <a:r>
              <a:rPr lang="he-IL" b="1" dirty="0"/>
              <a:t>זיהוי והערכה:</a:t>
            </a:r>
            <a:endParaRPr lang="he-IL" dirty="0"/>
          </a:p>
          <a:p>
            <a:pPr lvl="1"/>
            <a:r>
              <a:rPr lang="he-IL" dirty="0"/>
              <a:t>זיהוי מכשירים:</a:t>
            </a:r>
            <a:r>
              <a:rPr lang="en-US" dirty="0"/>
              <a:t> NAC </a:t>
            </a:r>
            <a:r>
              <a:rPr lang="he-IL" dirty="0"/>
              <a:t>מזהה את כל המכשירים שמנסים להתחבר לרשת. זה כולל מחשבים ניידים, טלפונים חכמים, </a:t>
            </a:r>
            <a:r>
              <a:rPr lang="he-IL" dirty="0" err="1"/>
              <a:t>טאבלטים</a:t>
            </a:r>
            <a:r>
              <a:rPr lang="he-IL" dirty="0"/>
              <a:t>, ושרתים.</a:t>
            </a:r>
          </a:p>
          <a:p>
            <a:pPr lvl="1"/>
            <a:r>
              <a:rPr lang="he-IL" dirty="0"/>
              <a:t>הערכה: המערכת בוחנת את המצב של כל מכשיר כדי לקבוע אם הוא עובר את דרישות האבטחה של הארגון (למשל, אם המחשב מעודכן עם הפאצ'ים האחרונים ועם תוכנת אנטי-וירוס פעילה).</a:t>
            </a:r>
          </a:p>
          <a:p>
            <a:r>
              <a:rPr lang="he-IL" b="1" dirty="0"/>
              <a:t>אישור גישה:</a:t>
            </a:r>
            <a:endParaRPr lang="he-IL" dirty="0"/>
          </a:p>
          <a:p>
            <a:pPr lvl="1"/>
            <a:r>
              <a:rPr lang="he-IL" dirty="0"/>
              <a:t>גישה מותנית: על פי ההערכה</a:t>
            </a:r>
            <a:r>
              <a:rPr lang="en-US" dirty="0"/>
              <a:t> NAC </a:t>
            </a:r>
            <a:r>
              <a:rPr lang="he-IL" dirty="0"/>
              <a:t>קובע אם לתת גישה מלאה, גישה מוגבלת, או לחסום את הגישה לחלוטין. לדוגמה, אם מכשיר אינו עומד בדרישות אבטחה, הוא יכול להיות מוגבל לגישה לאזורי רשת מסוימים בלבד.</a:t>
            </a:r>
          </a:p>
          <a:p>
            <a:pPr lvl="1"/>
            <a:r>
              <a:rPr lang="he-IL" dirty="0"/>
              <a:t>הרשאות:</a:t>
            </a:r>
            <a:r>
              <a:rPr lang="en-US" dirty="0"/>
              <a:t> NAC </a:t>
            </a:r>
            <a:r>
              <a:rPr lang="he-IL" dirty="0"/>
              <a:t>מוודאת שהמכשירים המורשים מקבלים את ההרשאות המתאימות בהתאם לרמת הגישה שהוקצתה להם.</a:t>
            </a:r>
          </a:p>
          <a:p>
            <a:r>
              <a:rPr lang="he-IL" b="1" dirty="0"/>
              <a:t>ניטור ותגובה:</a:t>
            </a:r>
            <a:endParaRPr lang="he-IL" dirty="0"/>
          </a:p>
          <a:p>
            <a:pPr lvl="1"/>
            <a:r>
              <a:rPr lang="he-IL" dirty="0"/>
              <a:t>ניטור רציף: </a:t>
            </a:r>
            <a:r>
              <a:rPr lang="en-US" dirty="0"/>
              <a:t> NAC</a:t>
            </a:r>
            <a:r>
              <a:rPr lang="he-IL" dirty="0"/>
              <a:t>עוקבת אחרי המכשירים המרשים, ומבצעת ניטור רציף כדי לוודא שהם עומדים בדרישות האבטחה.</a:t>
            </a:r>
          </a:p>
          <a:p>
            <a:pPr lvl="1"/>
            <a:r>
              <a:rPr lang="he-IL" dirty="0"/>
              <a:t>תגובה לאיומים: אם </a:t>
            </a:r>
            <a:r>
              <a:rPr lang="en-US" dirty="0"/>
              <a:t>NAC</a:t>
            </a:r>
            <a:r>
              <a:rPr lang="he-IL" dirty="0"/>
              <a:t> מזהה בעיה במכשיר (למשל, אנטי-וירוס שהפסיק לפעול), היא יכולה לנקוט בפעולות כמו סילוק המכשיר מהרשת או שליחת התראה לצוות האבטחה.</a:t>
            </a:r>
          </a:p>
          <a:p>
            <a:endParaRPr lang="he-IL" dirty="0"/>
          </a:p>
        </p:txBody>
      </p:sp>
    </p:spTree>
    <p:extLst>
      <p:ext uri="{BB962C8B-B14F-4D97-AF65-F5344CB8AC3E}">
        <p14:creationId xmlns:p14="http://schemas.microsoft.com/office/powerpoint/2010/main" val="279228659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2BAB4A1-4203-4365-AD16-B24F21FDAFDF}"/>
              </a:ext>
            </a:extLst>
          </p:cNvPr>
          <p:cNvSpPr>
            <a:spLocks noGrp="1"/>
          </p:cNvSpPr>
          <p:nvPr>
            <p:ph type="title"/>
          </p:nvPr>
        </p:nvSpPr>
        <p:spPr>
          <a:xfrm>
            <a:off x="7374834" y="642594"/>
            <a:ext cx="3750365" cy="1371600"/>
          </a:xfrm>
        </p:spPr>
        <p:txBody>
          <a:bodyPr/>
          <a:lstStyle/>
          <a:p>
            <a:r>
              <a:rPr lang="he-IL" dirty="0"/>
              <a:t>המשך - </a:t>
            </a:r>
            <a:r>
              <a:rPr lang="en-US" dirty="0"/>
              <a:t>NAC</a:t>
            </a:r>
            <a:endParaRPr lang="he-IL" dirty="0"/>
          </a:p>
        </p:txBody>
      </p:sp>
      <p:sp>
        <p:nvSpPr>
          <p:cNvPr id="3" name="מציין מיקום תוכן 2">
            <a:extLst>
              <a:ext uri="{FF2B5EF4-FFF2-40B4-BE49-F238E27FC236}">
                <a16:creationId xmlns:a16="http://schemas.microsoft.com/office/drawing/2014/main" id="{54BA4A63-4628-4A44-A939-9981834B5945}"/>
              </a:ext>
            </a:extLst>
          </p:cNvPr>
          <p:cNvSpPr>
            <a:spLocks noGrp="1"/>
          </p:cNvSpPr>
          <p:nvPr>
            <p:ph idx="1"/>
          </p:nvPr>
        </p:nvSpPr>
        <p:spPr/>
        <p:txBody>
          <a:bodyPr/>
          <a:lstStyle/>
          <a:p>
            <a:r>
              <a:rPr lang="he-IL" b="1" dirty="0"/>
              <a:t>דוגמא א: </a:t>
            </a:r>
            <a:r>
              <a:rPr lang="he-IL" dirty="0"/>
              <a:t>בארגון רפואי </a:t>
            </a:r>
            <a:r>
              <a:rPr lang="en-US" dirty="0"/>
              <a:t> NAC</a:t>
            </a:r>
            <a:r>
              <a:rPr lang="he-IL" dirty="0"/>
              <a:t>זיהתה שמחשב נייד של עובד התחבר לרשת אך התגלתה בו גרסה ישנה של תוכנת אנטי-וירוס.</a:t>
            </a:r>
            <a:r>
              <a:rPr lang="en-US" dirty="0"/>
              <a:t> NAC </a:t>
            </a:r>
            <a:r>
              <a:rPr lang="he-IL" dirty="0"/>
              <a:t>חסמה את גישת המחשב לרשת הפנימית עד שהמחשב עודכן לגרסה החדשה. בכך נמנע פוטנציאל התקפה על מידע רפואי רגיש.</a:t>
            </a:r>
          </a:p>
          <a:p>
            <a:r>
              <a:rPr lang="he-IL" b="1" dirty="0"/>
              <a:t>דוגמא ב: </a:t>
            </a:r>
            <a:r>
              <a:rPr lang="he-IL" dirty="0"/>
              <a:t>באוניברסיטה </a:t>
            </a:r>
            <a:r>
              <a:rPr lang="en-US" dirty="0"/>
              <a:t> NAC</a:t>
            </a:r>
            <a:r>
              <a:rPr lang="he-IL" dirty="0"/>
              <a:t>שימשה כדי לנהל את גישת הסטודנטים לרשת האוניברסיטה. כאשר סטודנט ניסה להתחבר עם מכשיר חדש</a:t>
            </a:r>
            <a:r>
              <a:rPr lang="en-US" dirty="0"/>
              <a:t> NAC </a:t>
            </a:r>
            <a:r>
              <a:rPr lang="he-IL" dirty="0"/>
              <a:t>בדקה את המכשיר, גילתה שהוא לא מותקן עם תוכנה עדכנית, והגבלה את גישתו לאזורי רשת מוגבלים בלבד עד שהסטודנט עדכן את המכשיר.</a:t>
            </a:r>
          </a:p>
          <a:p>
            <a:endParaRPr lang="he-IL" dirty="0"/>
          </a:p>
        </p:txBody>
      </p:sp>
    </p:spTree>
    <p:extLst>
      <p:ext uri="{BB962C8B-B14F-4D97-AF65-F5344CB8AC3E}">
        <p14:creationId xmlns:p14="http://schemas.microsoft.com/office/powerpoint/2010/main" val="410341080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491C968-F7D5-4820-B491-0BB616D3B71B}"/>
              </a:ext>
            </a:extLst>
          </p:cNvPr>
          <p:cNvSpPr>
            <a:spLocks noGrp="1"/>
          </p:cNvSpPr>
          <p:nvPr>
            <p:ph type="title"/>
          </p:nvPr>
        </p:nvSpPr>
        <p:spPr>
          <a:xfrm>
            <a:off x="7474226" y="642594"/>
            <a:ext cx="3650974" cy="1371600"/>
          </a:xfrm>
        </p:spPr>
        <p:txBody>
          <a:bodyPr/>
          <a:lstStyle/>
          <a:p>
            <a:r>
              <a:rPr lang="he-IL" dirty="0"/>
              <a:t>המשך - </a:t>
            </a:r>
            <a:r>
              <a:rPr lang="en-US" dirty="0"/>
              <a:t>NAC</a:t>
            </a:r>
            <a:endParaRPr lang="he-IL" dirty="0"/>
          </a:p>
        </p:txBody>
      </p:sp>
      <p:sp>
        <p:nvSpPr>
          <p:cNvPr id="3" name="מציין מיקום תוכן 2">
            <a:extLst>
              <a:ext uri="{FF2B5EF4-FFF2-40B4-BE49-F238E27FC236}">
                <a16:creationId xmlns:a16="http://schemas.microsoft.com/office/drawing/2014/main" id="{945B0938-5686-422D-9A1D-14F765545123}"/>
              </a:ext>
            </a:extLst>
          </p:cNvPr>
          <p:cNvSpPr>
            <a:spLocks noGrp="1"/>
          </p:cNvSpPr>
          <p:nvPr>
            <p:ph idx="1"/>
          </p:nvPr>
        </p:nvSpPr>
        <p:spPr/>
        <p:txBody>
          <a:bodyPr/>
          <a:lstStyle/>
          <a:p>
            <a:r>
              <a:rPr lang="he-IL" b="1" dirty="0"/>
              <a:t>יתרונות </a:t>
            </a:r>
            <a:r>
              <a:rPr lang="en-US" b="1" dirty="0"/>
              <a:t>NAC</a:t>
            </a:r>
          </a:p>
          <a:p>
            <a:r>
              <a:rPr lang="he-IL" dirty="0"/>
              <a:t>1. הגנה משופרת: מונע מכשירים לא מאובטחים לגשת לרשתות הארגוניות.</a:t>
            </a:r>
          </a:p>
          <a:p>
            <a:r>
              <a:rPr lang="he-IL" dirty="0"/>
              <a:t>2. ניהול גישה: מספק גישה מותנית בהתאם למצב האבטחה של המכשירים.</a:t>
            </a:r>
          </a:p>
          <a:p>
            <a:r>
              <a:rPr lang="he-IL" dirty="0"/>
              <a:t>3. תאימות: מבטיח שהמכשירים עומדים בדרישות האבטחה והמדיניות של הארגון.</a:t>
            </a:r>
          </a:p>
          <a:p>
            <a:r>
              <a:rPr lang="he-IL" b="1" dirty="0"/>
              <a:t>חסרונות </a:t>
            </a:r>
            <a:r>
              <a:rPr lang="en-US" b="1" dirty="0"/>
              <a:t>NAC</a:t>
            </a:r>
          </a:p>
          <a:p>
            <a:r>
              <a:rPr lang="he-IL" dirty="0"/>
              <a:t>1. מורכבות: ייתכן שדרוש ניהול מורכב ותחזוקה מתמשכת.</a:t>
            </a:r>
          </a:p>
          <a:p>
            <a:r>
              <a:rPr lang="he-IL" dirty="0"/>
              <a:t>2. עלויות: השקעה ראשונית גבוהה ורכישת תוכנה וחומרה.</a:t>
            </a:r>
          </a:p>
          <a:p>
            <a:r>
              <a:rPr lang="he-IL" dirty="0"/>
              <a:t>3. הגבלה של משתמשים: עשוי להגביל גישה למשתמשים במקרה של אי עמידה בדרישות.</a:t>
            </a:r>
          </a:p>
          <a:p>
            <a:endParaRPr lang="he-IL" dirty="0"/>
          </a:p>
        </p:txBody>
      </p:sp>
    </p:spTree>
    <p:extLst>
      <p:ext uri="{BB962C8B-B14F-4D97-AF65-F5344CB8AC3E}">
        <p14:creationId xmlns:p14="http://schemas.microsoft.com/office/powerpoint/2010/main" val="196563436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921768A-9883-48ED-9DA4-956839B4BAB8}"/>
              </a:ext>
            </a:extLst>
          </p:cNvPr>
          <p:cNvSpPr>
            <a:spLocks noGrp="1"/>
          </p:cNvSpPr>
          <p:nvPr>
            <p:ph type="title"/>
          </p:nvPr>
        </p:nvSpPr>
        <p:spPr>
          <a:xfrm>
            <a:off x="7474226" y="245029"/>
            <a:ext cx="3650974" cy="1371600"/>
          </a:xfrm>
        </p:spPr>
        <p:txBody>
          <a:bodyPr/>
          <a:lstStyle/>
          <a:p>
            <a:r>
              <a:rPr lang="he-IL" dirty="0"/>
              <a:t>המשך - </a:t>
            </a:r>
            <a:r>
              <a:rPr lang="en-US" dirty="0"/>
              <a:t>NAC</a:t>
            </a:r>
            <a:endParaRPr lang="he-IL" dirty="0"/>
          </a:p>
        </p:txBody>
      </p:sp>
      <p:sp>
        <p:nvSpPr>
          <p:cNvPr id="3" name="מציין מיקום תוכן 2">
            <a:extLst>
              <a:ext uri="{FF2B5EF4-FFF2-40B4-BE49-F238E27FC236}">
                <a16:creationId xmlns:a16="http://schemas.microsoft.com/office/drawing/2014/main" id="{BAB4F867-9D3C-47C0-8A4A-82602CD0C3A5}"/>
              </a:ext>
            </a:extLst>
          </p:cNvPr>
          <p:cNvSpPr>
            <a:spLocks noGrp="1"/>
          </p:cNvSpPr>
          <p:nvPr>
            <p:ph idx="1"/>
          </p:nvPr>
        </p:nvSpPr>
        <p:spPr>
          <a:xfrm>
            <a:off x="1066800" y="1719470"/>
            <a:ext cx="10058400" cy="5138530"/>
          </a:xfrm>
        </p:spPr>
        <p:txBody>
          <a:bodyPr>
            <a:normAutofit lnSpcReduction="10000"/>
          </a:bodyPr>
          <a:lstStyle/>
          <a:p>
            <a:r>
              <a:rPr lang="he-IL" b="1" dirty="0"/>
              <a:t>תפקודים נוספים של </a:t>
            </a:r>
            <a:r>
              <a:rPr lang="en-US" b="1" dirty="0"/>
              <a:t>NAC</a:t>
            </a:r>
            <a:r>
              <a:rPr lang="he-IL" b="1" dirty="0"/>
              <a:t>:</a:t>
            </a:r>
            <a:endParaRPr lang="en-US" b="1" dirty="0"/>
          </a:p>
          <a:p>
            <a:r>
              <a:rPr lang="he-IL" b="1" dirty="0"/>
              <a:t>אימות זהות משתמשים:</a:t>
            </a:r>
            <a:endParaRPr lang="he-IL" dirty="0"/>
          </a:p>
          <a:p>
            <a:r>
              <a:rPr lang="he-IL" dirty="0"/>
              <a:t>1. שילוב עם </a:t>
            </a:r>
            <a:r>
              <a:rPr lang="he-IL" dirty="0" err="1"/>
              <a:t>אוטנטיקציה</a:t>
            </a:r>
            <a:r>
              <a:rPr lang="he-IL" dirty="0"/>
              <a:t>:</a:t>
            </a:r>
            <a:r>
              <a:rPr lang="en-US" dirty="0"/>
              <a:t>NAC </a:t>
            </a:r>
            <a:r>
              <a:rPr lang="he-IL" dirty="0"/>
              <a:t> לא רק מזהה את המכשירים אלא גם מאמת את זהות המשתמשים.</a:t>
            </a:r>
          </a:p>
          <a:p>
            <a:r>
              <a:rPr lang="he-IL" dirty="0"/>
              <a:t>2. תהליך האימות: כאשר מכשיר מנסה להתחבר לרשת,</a:t>
            </a:r>
            <a:r>
              <a:rPr lang="en-US" dirty="0"/>
              <a:t> NAC </a:t>
            </a:r>
            <a:r>
              <a:rPr lang="he-IL" dirty="0"/>
              <a:t>מבצע אימות של פרטי המשתמש כדי להבטיח גישה רק למורשים.</a:t>
            </a:r>
          </a:p>
          <a:p>
            <a:r>
              <a:rPr lang="he-IL" b="1" dirty="0"/>
              <a:t>ניהול מכשירים ניידים:</a:t>
            </a:r>
          </a:p>
          <a:p>
            <a:r>
              <a:rPr lang="he-IL" dirty="0"/>
              <a:t>1. מכשירים ניידים:</a:t>
            </a:r>
            <a:r>
              <a:rPr lang="en-US" dirty="0"/>
              <a:t>NAC </a:t>
            </a:r>
            <a:r>
              <a:rPr lang="he-IL" dirty="0"/>
              <a:t> מנהלת גם מכשירים ניידים כמו טלפונים חכמים </a:t>
            </a:r>
            <a:r>
              <a:rPr lang="he-IL" dirty="0" err="1"/>
              <a:t>וטאבלטים</a:t>
            </a:r>
            <a:r>
              <a:rPr lang="he-IL" dirty="0"/>
              <a:t>, ומוודאת שהם עומדים בדרישות האבטחה של הארגון לפני שמאפשרת להם גישה לרשת.</a:t>
            </a:r>
          </a:p>
          <a:p>
            <a:r>
              <a:rPr lang="he-IL" dirty="0"/>
              <a:t>2. קונפיגורציה אוטומטית:</a:t>
            </a:r>
            <a:r>
              <a:rPr lang="en-US" dirty="0"/>
              <a:t>NAC </a:t>
            </a:r>
            <a:r>
              <a:rPr lang="he-IL" dirty="0"/>
              <a:t> יכולה להפעיל </a:t>
            </a:r>
            <a:r>
              <a:rPr lang="he-IL" dirty="0" err="1"/>
              <a:t>קונפיגורציות</a:t>
            </a:r>
            <a:r>
              <a:rPr lang="he-IL" dirty="0"/>
              <a:t> אוטומטיות או עדכונים במכשירים ניידים כדי לוודא שהם מעודכנים עם הגדרות האבטחה האחרונות.</a:t>
            </a:r>
          </a:p>
          <a:p>
            <a:r>
              <a:rPr lang="he-IL" b="1" dirty="0"/>
              <a:t>אכיפת מדיניות רשת:</a:t>
            </a:r>
          </a:p>
          <a:p>
            <a:r>
              <a:rPr lang="he-IL" dirty="0"/>
              <a:t>1. מדיניות אבטחה: </a:t>
            </a:r>
            <a:r>
              <a:rPr lang="en-US" dirty="0"/>
              <a:t>NAC</a:t>
            </a:r>
            <a:r>
              <a:rPr lang="he-IL" dirty="0"/>
              <a:t> אוכפת מדיניות אבטחה קפדנית לרשתות, כולל הגבלות על סוגי התעבורה המותרת וסוגי השירותים שניתן לגשת אליהם.</a:t>
            </a:r>
          </a:p>
          <a:p>
            <a:r>
              <a:rPr lang="he-IL" dirty="0"/>
              <a:t>2. שליטה על פרופילים: ניתן להגדיר פרופילים שונים של גישה בהתאם לצורך ולמדיניות הארגונית, כגון גישה מוגבלת למשתמשים זמניים או חיצוניים.</a:t>
            </a:r>
          </a:p>
          <a:p>
            <a:endParaRPr lang="he-IL" dirty="0"/>
          </a:p>
        </p:txBody>
      </p:sp>
    </p:spTree>
    <p:extLst>
      <p:ext uri="{BB962C8B-B14F-4D97-AF65-F5344CB8AC3E}">
        <p14:creationId xmlns:p14="http://schemas.microsoft.com/office/powerpoint/2010/main" val="5300768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4481460-DDC9-41C1-924F-E4BA352ACF35}"/>
              </a:ext>
            </a:extLst>
          </p:cNvPr>
          <p:cNvSpPr>
            <a:spLocks noGrp="1"/>
          </p:cNvSpPr>
          <p:nvPr>
            <p:ph type="title"/>
          </p:nvPr>
        </p:nvSpPr>
        <p:spPr>
          <a:xfrm>
            <a:off x="7414591" y="308113"/>
            <a:ext cx="3710609" cy="1371600"/>
          </a:xfrm>
        </p:spPr>
        <p:txBody>
          <a:bodyPr/>
          <a:lstStyle/>
          <a:p>
            <a:r>
              <a:rPr lang="he-IL" dirty="0"/>
              <a:t>המשך - </a:t>
            </a:r>
            <a:r>
              <a:rPr lang="en-US" dirty="0"/>
              <a:t>NAC</a:t>
            </a:r>
            <a:endParaRPr lang="he-IL" dirty="0"/>
          </a:p>
        </p:txBody>
      </p:sp>
      <p:sp>
        <p:nvSpPr>
          <p:cNvPr id="3" name="מציין מיקום תוכן 2">
            <a:extLst>
              <a:ext uri="{FF2B5EF4-FFF2-40B4-BE49-F238E27FC236}">
                <a16:creationId xmlns:a16="http://schemas.microsoft.com/office/drawing/2014/main" id="{ABFB4AC7-CD27-45D3-B555-3B4AF2CF85AC}"/>
              </a:ext>
            </a:extLst>
          </p:cNvPr>
          <p:cNvSpPr>
            <a:spLocks noGrp="1"/>
          </p:cNvSpPr>
          <p:nvPr>
            <p:ph idx="1"/>
          </p:nvPr>
        </p:nvSpPr>
        <p:spPr>
          <a:xfrm>
            <a:off x="1066800" y="1451113"/>
            <a:ext cx="10058400" cy="5218043"/>
          </a:xfrm>
        </p:spPr>
        <p:txBody>
          <a:bodyPr>
            <a:normAutofit/>
          </a:bodyPr>
          <a:lstStyle/>
          <a:p>
            <a:r>
              <a:rPr lang="he-IL" b="1" dirty="0"/>
              <a:t>אינטגרציה עם טכנולוגיות נוספות</a:t>
            </a:r>
          </a:p>
          <a:p>
            <a:r>
              <a:rPr lang="en-US" b="1" dirty="0"/>
              <a:t>NAC </a:t>
            </a:r>
            <a:r>
              <a:rPr lang="he-IL" b="1" dirty="0"/>
              <a:t>ו- </a:t>
            </a:r>
            <a:r>
              <a:rPr lang="en-US" b="1" dirty="0"/>
              <a:t>SIEM:</a:t>
            </a:r>
            <a:endParaRPr lang="en-US" dirty="0"/>
          </a:p>
          <a:p>
            <a:r>
              <a:rPr lang="he-IL" dirty="0"/>
              <a:t>תיאום נתונים: </a:t>
            </a:r>
            <a:r>
              <a:rPr lang="en-US" dirty="0"/>
              <a:t> NAC</a:t>
            </a:r>
            <a:r>
              <a:rPr lang="he-IL" dirty="0"/>
              <a:t>שולחת נתונים על גישות והערכות למערכת</a:t>
            </a:r>
            <a:r>
              <a:rPr lang="en-US" dirty="0"/>
              <a:t>SIEM </a:t>
            </a:r>
            <a:r>
              <a:rPr lang="he-IL" dirty="0"/>
              <a:t> לצורך ניתוח ואיחוד מידע.</a:t>
            </a:r>
            <a:r>
              <a:rPr lang="en-US" dirty="0"/>
              <a:t> SIEM </a:t>
            </a:r>
            <a:r>
              <a:rPr lang="he-IL" dirty="0"/>
              <a:t>יכול לעזור ל-</a:t>
            </a:r>
            <a:r>
              <a:rPr lang="en-US" dirty="0"/>
              <a:t>NAC </a:t>
            </a:r>
            <a:r>
              <a:rPr lang="he-IL" dirty="0"/>
              <a:t> להבין הקשרים רחבים יותר של התנהגות המשתמשים והמכשירים.</a:t>
            </a:r>
          </a:p>
          <a:p>
            <a:r>
              <a:rPr lang="he-IL" dirty="0"/>
              <a:t>תיאום התראות</a:t>
            </a:r>
            <a:r>
              <a:rPr lang="he-IL" b="1" dirty="0"/>
              <a:t>:</a:t>
            </a:r>
            <a:r>
              <a:rPr lang="he-IL" dirty="0"/>
              <a:t> כאשר</a:t>
            </a:r>
            <a:r>
              <a:rPr lang="en-US" dirty="0"/>
              <a:t>SIEM </a:t>
            </a:r>
            <a:r>
              <a:rPr lang="he-IL" dirty="0"/>
              <a:t> מזהה התראה לגבי פעילות חשודה, </a:t>
            </a:r>
            <a:r>
              <a:rPr lang="en-US" dirty="0"/>
              <a:t> NAC</a:t>
            </a:r>
            <a:r>
              <a:rPr lang="he-IL" dirty="0"/>
              <a:t>יכולה לנקוט בפעולות נוספות כמו בידוד מכשירים או חסימת גישה.</a:t>
            </a:r>
          </a:p>
          <a:p>
            <a:r>
              <a:rPr lang="en-US" b="1" dirty="0"/>
              <a:t>NAC </a:t>
            </a:r>
            <a:r>
              <a:rPr lang="he-IL" b="1" dirty="0"/>
              <a:t>ו- </a:t>
            </a:r>
            <a:r>
              <a:rPr lang="en-US" b="1" dirty="0"/>
              <a:t>SOC:</a:t>
            </a:r>
            <a:endParaRPr lang="en-US" dirty="0"/>
          </a:p>
          <a:p>
            <a:r>
              <a:rPr lang="he-IL" dirty="0"/>
              <a:t>מיקוד במצבים דחופים:</a:t>
            </a:r>
            <a:r>
              <a:rPr lang="en-US" dirty="0"/>
              <a:t> SOC </a:t>
            </a:r>
            <a:r>
              <a:rPr lang="he-IL" dirty="0"/>
              <a:t>יכול להשתמש בנתוני</a:t>
            </a:r>
            <a:r>
              <a:rPr lang="en-US" dirty="0"/>
              <a:t>NAC </a:t>
            </a:r>
            <a:r>
              <a:rPr lang="he-IL" dirty="0"/>
              <a:t> כדי לזהות מכשירים חשודים או לא תואמים ולהגיב במהירות למקרים דחופים.</a:t>
            </a:r>
          </a:p>
          <a:p>
            <a:r>
              <a:rPr lang="he-IL" dirty="0"/>
              <a:t>דיווח: </a:t>
            </a:r>
            <a:r>
              <a:rPr lang="en-US" dirty="0"/>
              <a:t>SOC</a:t>
            </a:r>
            <a:r>
              <a:rPr lang="he-IL" dirty="0"/>
              <a:t> עוקב אחרי התראות ומדווחות שמתקבלות מ-</a:t>
            </a:r>
            <a:r>
              <a:rPr lang="en-US" dirty="0"/>
              <a:t> NAC </a:t>
            </a:r>
            <a:r>
              <a:rPr lang="he-IL" dirty="0"/>
              <a:t>כדי לנהל את התגובות לאיומים בזמן אמת.</a:t>
            </a:r>
          </a:p>
          <a:p>
            <a:r>
              <a:rPr lang="en-US" b="1" dirty="0"/>
              <a:t>NAC </a:t>
            </a:r>
            <a:r>
              <a:rPr lang="he-IL" b="1" dirty="0"/>
              <a:t>ו- </a:t>
            </a:r>
            <a:r>
              <a:rPr lang="en-US" b="1" dirty="0"/>
              <a:t>IDS/IPS:</a:t>
            </a:r>
            <a:endParaRPr lang="en-US" dirty="0"/>
          </a:p>
          <a:p>
            <a:r>
              <a:rPr lang="he-IL" dirty="0"/>
              <a:t>תגובה אוטומטית: אם </a:t>
            </a:r>
            <a:r>
              <a:rPr lang="en-US" dirty="0"/>
              <a:t>IDS/IPS </a:t>
            </a:r>
            <a:r>
              <a:rPr lang="he-IL" dirty="0"/>
              <a:t> מזהים פעילות חשודה, </a:t>
            </a:r>
            <a:r>
              <a:rPr lang="en-US" dirty="0"/>
              <a:t> NAC</a:t>
            </a:r>
            <a:r>
              <a:rPr lang="he-IL" dirty="0"/>
              <a:t>יכולה להשתמש במידע כדי להגביל או לחסום את גישת המכשיר שנמצא בעייתי.</a:t>
            </a:r>
          </a:p>
          <a:p>
            <a:r>
              <a:rPr lang="he-IL" dirty="0"/>
              <a:t>שיתוף נתונים:</a:t>
            </a:r>
            <a:r>
              <a:rPr lang="en-US" dirty="0"/>
              <a:t> NAC </a:t>
            </a:r>
            <a:r>
              <a:rPr lang="he-IL" dirty="0"/>
              <a:t>יכולה לשתף נתונים עם</a:t>
            </a:r>
            <a:r>
              <a:rPr lang="en-US" dirty="0"/>
              <a:t>IDS/IPS </a:t>
            </a:r>
            <a:r>
              <a:rPr lang="he-IL" dirty="0"/>
              <a:t> כדי לעזור באבחון והבנת איומים.</a:t>
            </a:r>
          </a:p>
          <a:p>
            <a:endParaRPr lang="he-IL" dirty="0"/>
          </a:p>
        </p:txBody>
      </p:sp>
    </p:spTree>
    <p:extLst>
      <p:ext uri="{BB962C8B-B14F-4D97-AF65-F5344CB8AC3E}">
        <p14:creationId xmlns:p14="http://schemas.microsoft.com/office/powerpoint/2010/main" val="41005272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8C13CBB-3276-4E48-AC3A-3640109E86BE}"/>
              </a:ext>
            </a:extLst>
          </p:cNvPr>
          <p:cNvSpPr>
            <a:spLocks noGrp="1"/>
          </p:cNvSpPr>
          <p:nvPr>
            <p:ph type="title"/>
          </p:nvPr>
        </p:nvSpPr>
        <p:spPr>
          <a:xfrm>
            <a:off x="7374834" y="642594"/>
            <a:ext cx="3750365" cy="1371600"/>
          </a:xfrm>
        </p:spPr>
        <p:txBody>
          <a:bodyPr/>
          <a:lstStyle/>
          <a:p>
            <a:r>
              <a:rPr lang="he-IL" dirty="0"/>
              <a:t>המשך - </a:t>
            </a:r>
            <a:r>
              <a:rPr lang="en-US" dirty="0"/>
              <a:t>NAC</a:t>
            </a:r>
            <a:endParaRPr lang="he-IL" dirty="0"/>
          </a:p>
        </p:txBody>
      </p:sp>
      <p:sp>
        <p:nvSpPr>
          <p:cNvPr id="3" name="מציין מיקום תוכן 2">
            <a:extLst>
              <a:ext uri="{FF2B5EF4-FFF2-40B4-BE49-F238E27FC236}">
                <a16:creationId xmlns:a16="http://schemas.microsoft.com/office/drawing/2014/main" id="{B55D8568-2B07-4BF0-BB6D-A09931436E01}"/>
              </a:ext>
            </a:extLst>
          </p:cNvPr>
          <p:cNvSpPr>
            <a:spLocks noGrp="1"/>
          </p:cNvSpPr>
          <p:nvPr>
            <p:ph idx="1"/>
          </p:nvPr>
        </p:nvSpPr>
        <p:spPr/>
        <p:txBody>
          <a:bodyPr/>
          <a:lstStyle/>
          <a:p>
            <a:r>
              <a:rPr lang="he-IL" b="1" dirty="0"/>
              <a:t>אתגרים והמלצות</a:t>
            </a:r>
          </a:p>
          <a:p>
            <a:r>
              <a:rPr lang="he-IL" b="1" dirty="0"/>
              <a:t>אתגרים:</a:t>
            </a:r>
            <a:endParaRPr lang="he-IL" dirty="0"/>
          </a:p>
          <a:p>
            <a:r>
              <a:rPr lang="he-IL" dirty="0"/>
              <a:t>שילוב עם מערכות קיימות: אינטגרציה עם מערכות קיימות כמו</a:t>
            </a:r>
            <a:r>
              <a:rPr lang="en-US" dirty="0"/>
              <a:t>SIEM </a:t>
            </a:r>
            <a:r>
              <a:rPr lang="he-IL" dirty="0"/>
              <a:t> ו-</a:t>
            </a:r>
            <a:r>
              <a:rPr lang="en-US" dirty="0"/>
              <a:t>IDS/IPS </a:t>
            </a:r>
            <a:r>
              <a:rPr lang="he-IL" dirty="0"/>
              <a:t> יכולה להיות מורכבת ודורשת תכנון מקיף.</a:t>
            </a:r>
          </a:p>
          <a:p>
            <a:r>
              <a:rPr lang="he-IL" dirty="0"/>
              <a:t>תחזוקה: ניהול ועדכון של סוכנים או מדיניות רשת יכולים להיות מאתגרים, במיוחד בסביבות רשת מורכבות.</a:t>
            </a:r>
          </a:p>
          <a:p>
            <a:r>
              <a:rPr lang="he-IL" b="1" dirty="0"/>
              <a:t>המלצות:</a:t>
            </a:r>
            <a:endParaRPr lang="he-IL" dirty="0"/>
          </a:p>
          <a:p>
            <a:r>
              <a:rPr lang="he-IL" dirty="0"/>
              <a:t>תכנון יסודי: חשוב לתכנן את פריסת </a:t>
            </a:r>
            <a:r>
              <a:rPr lang="en-US" dirty="0"/>
              <a:t> NAC</a:t>
            </a:r>
            <a:r>
              <a:rPr lang="he-IL" dirty="0"/>
              <a:t>ולוודא שהוא משתלב היטב עם יתר טכנולוגיות האבטחה בארגון.</a:t>
            </a:r>
          </a:p>
          <a:p>
            <a:r>
              <a:rPr lang="he-IL" dirty="0"/>
              <a:t>תחזוקה שוטפת: הקפד על תחזוקה ועדכונים שוטפים כדי להבטיח שהמערכת פועלת בצורה אופטימלית.</a:t>
            </a:r>
          </a:p>
          <a:p>
            <a:r>
              <a:rPr lang="he-IL" dirty="0"/>
              <a:t>הדרכה: חשוב להדריך את צוותי האבטחה על השימוש ב-</a:t>
            </a:r>
            <a:r>
              <a:rPr lang="en-US" dirty="0"/>
              <a:t>NAC </a:t>
            </a:r>
            <a:r>
              <a:rPr lang="he-IL" dirty="0"/>
              <a:t> ועל איך להפיק את </a:t>
            </a:r>
            <a:r>
              <a:rPr lang="he-IL" dirty="0" err="1"/>
              <a:t>המירב</a:t>
            </a:r>
            <a:r>
              <a:rPr lang="he-IL" dirty="0"/>
              <a:t> מהמערכת.</a:t>
            </a:r>
          </a:p>
          <a:p>
            <a:endParaRPr lang="he-IL" dirty="0"/>
          </a:p>
        </p:txBody>
      </p:sp>
    </p:spTree>
    <p:extLst>
      <p:ext uri="{BB962C8B-B14F-4D97-AF65-F5344CB8AC3E}">
        <p14:creationId xmlns:p14="http://schemas.microsoft.com/office/powerpoint/2010/main" val="7166587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80767E4-7EDC-4799-B46F-679F2C822793}"/>
              </a:ext>
            </a:extLst>
          </p:cNvPr>
          <p:cNvSpPr>
            <a:spLocks noGrp="1"/>
          </p:cNvSpPr>
          <p:nvPr>
            <p:ph type="title"/>
          </p:nvPr>
        </p:nvSpPr>
        <p:spPr>
          <a:xfrm>
            <a:off x="7394712" y="642594"/>
            <a:ext cx="3730487" cy="1371600"/>
          </a:xfrm>
        </p:spPr>
        <p:txBody>
          <a:bodyPr/>
          <a:lstStyle/>
          <a:p>
            <a:r>
              <a:rPr lang="he-IL" dirty="0"/>
              <a:t>המשך - </a:t>
            </a:r>
            <a:r>
              <a:rPr lang="en-US" dirty="0"/>
              <a:t>NAC</a:t>
            </a:r>
            <a:endParaRPr lang="he-IL" dirty="0"/>
          </a:p>
        </p:txBody>
      </p:sp>
      <p:sp>
        <p:nvSpPr>
          <p:cNvPr id="3" name="מציין מיקום תוכן 2">
            <a:extLst>
              <a:ext uri="{FF2B5EF4-FFF2-40B4-BE49-F238E27FC236}">
                <a16:creationId xmlns:a16="http://schemas.microsoft.com/office/drawing/2014/main" id="{691EEE10-255C-4E63-BAD8-05D797FECBDF}"/>
              </a:ext>
            </a:extLst>
          </p:cNvPr>
          <p:cNvSpPr>
            <a:spLocks noGrp="1"/>
          </p:cNvSpPr>
          <p:nvPr>
            <p:ph idx="1"/>
          </p:nvPr>
        </p:nvSpPr>
        <p:spPr/>
        <p:txBody>
          <a:bodyPr/>
          <a:lstStyle/>
          <a:p>
            <a:r>
              <a:rPr lang="he-IL" dirty="0"/>
              <a:t>שאלות:</a:t>
            </a:r>
          </a:p>
          <a:p>
            <a:r>
              <a:rPr lang="he-IL" dirty="0"/>
              <a:t>1. מהו </a:t>
            </a:r>
            <a:r>
              <a:rPr lang="en-US" dirty="0"/>
              <a:t> NAC</a:t>
            </a:r>
            <a:r>
              <a:rPr lang="he-IL" dirty="0"/>
              <a:t>ומה מטרתו המרכזית בארגון?</a:t>
            </a:r>
          </a:p>
          <a:p>
            <a:r>
              <a:rPr lang="he-IL" dirty="0"/>
              <a:t>2. כיצד</a:t>
            </a:r>
            <a:r>
              <a:rPr lang="en-US" dirty="0"/>
              <a:t> NAC </a:t>
            </a:r>
            <a:r>
              <a:rPr lang="he-IL" dirty="0"/>
              <a:t>מבצע אימות זהות של משתמשים ומכשירים?</a:t>
            </a:r>
          </a:p>
          <a:p>
            <a:r>
              <a:rPr lang="he-IL" dirty="0"/>
              <a:t>3. מה היתרון של </a:t>
            </a:r>
            <a:r>
              <a:rPr lang="en-US" dirty="0"/>
              <a:t> NAC</a:t>
            </a:r>
            <a:r>
              <a:rPr lang="he-IL" dirty="0"/>
              <a:t>מבוסס סוכן על פני</a:t>
            </a:r>
            <a:r>
              <a:rPr lang="en-US" dirty="0"/>
              <a:t>NAC </a:t>
            </a:r>
            <a:r>
              <a:rPr lang="he-IL" dirty="0"/>
              <a:t> מבוסס סוכן חיצוני?</a:t>
            </a:r>
          </a:p>
          <a:p>
            <a:r>
              <a:rPr lang="he-IL" dirty="0"/>
              <a:t>4. איך </a:t>
            </a:r>
            <a:r>
              <a:rPr lang="en-US" dirty="0"/>
              <a:t> NAC</a:t>
            </a:r>
            <a:r>
              <a:rPr lang="he-IL" dirty="0"/>
              <a:t>משתלב עם טכנולוגיות כמו </a:t>
            </a:r>
            <a:r>
              <a:rPr lang="en-US" dirty="0"/>
              <a:t>SIEM </a:t>
            </a:r>
            <a:r>
              <a:rPr lang="he-IL" dirty="0"/>
              <a:t> ו-</a:t>
            </a:r>
            <a:r>
              <a:rPr lang="en-US" dirty="0"/>
              <a:t>IDS/IPS </a:t>
            </a:r>
            <a:r>
              <a:rPr lang="he-IL" dirty="0"/>
              <a:t> ?</a:t>
            </a:r>
          </a:p>
          <a:p>
            <a:r>
              <a:rPr lang="he-IL" dirty="0"/>
              <a:t>5. אילו אתגרים עשויים להיתקל בארגון כאשר מיישמים פתרון </a:t>
            </a:r>
            <a:r>
              <a:rPr lang="en-US" dirty="0"/>
              <a:t>NAC</a:t>
            </a:r>
            <a:r>
              <a:rPr lang="he-IL" dirty="0"/>
              <a:t> ?</a:t>
            </a:r>
          </a:p>
          <a:p>
            <a:endParaRPr lang="he-IL" dirty="0"/>
          </a:p>
        </p:txBody>
      </p:sp>
    </p:spTree>
    <p:extLst>
      <p:ext uri="{BB962C8B-B14F-4D97-AF65-F5344CB8AC3E}">
        <p14:creationId xmlns:p14="http://schemas.microsoft.com/office/powerpoint/2010/main" val="263685611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F9172BC-D9DF-416D-BEDF-681131B91F0C}"/>
              </a:ext>
            </a:extLst>
          </p:cNvPr>
          <p:cNvSpPr>
            <a:spLocks noGrp="1"/>
          </p:cNvSpPr>
          <p:nvPr>
            <p:ph type="title"/>
          </p:nvPr>
        </p:nvSpPr>
        <p:spPr>
          <a:xfrm>
            <a:off x="7484164" y="642594"/>
            <a:ext cx="3641035" cy="1371600"/>
          </a:xfrm>
        </p:spPr>
        <p:txBody>
          <a:bodyPr/>
          <a:lstStyle/>
          <a:p>
            <a:r>
              <a:rPr lang="he-IL" dirty="0"/>
              <a:t>המשך - </a:t>
            </a:r>
            <a:r>
              <a:rPr lang="en-US" dirty="0"/>
              <a:t>NAC</a:t>
            </a:r>
            <a:endParaRPr lang="he-IL" dirty="0"/>
          </a:p>
        </p:txBody>
      </p:sp>
      <p:sp>
        <p:nvSpPr>
          <p:cNvPr id="3" name="מציין מיקום תוכן 2">
            <a:extLst>
              <a:ext uri="{FF2B5EF4-FFF2-40B4-BE49-F238E27FC236}">
                <a16:creationId xmlns:a16="http://schemas.microsoft.com/office/drawing/2014/main" id="{B587D27F-E05D-4DDB-A7FD-861786821E1C}"/>
              </a:ext>
            </a:extLst>
          </p:cNvPr>
          <p:cNvSpPr>
            <a:spLocks noGrp="1"/>
          </p:cNvSpPr>
          <p:nvPr>
            <p:ph idx="1"/>
          </p:nvPr>
        </p:nvSpPr>
        <p:spPr/>
        <p:txBody>
          <a:bodyPr/>
          <a:lstStyle/>
          <a:p>
            <a:r>
              <a:rPr lang="he-IL" dirty="0"/>
              <a:t>תשובות:</a:t>
            </a:r>
          </a:p>
          <a:p>
            <a:r>
              <a:rPr lang="he-IL" dirty="0"/>
              <a:t>1.</a:t>
            </a:r>
            <a:r>
              <a:rPr lang="en-US" dirty="0"/>
              <a:t>NAC </a:t>
            </a:r>
            <a:r>
              <a:rPr lang="he-IL" dirty="0"/>
              <a:t> שואף לנהל ולהגביל את הגישה לרשתות ארגוניות בהתאם למדיניות אבטחה, ולוודא שרק מכשירים ומחשבים מאושרים מקבלים גישה.</a:t>
            </a:r>
          </a:p>
          <a:p>
            <a:r>
              <a:rPr lang="he-IL" dirty="0"/>
              <a:t>2. </a:t>
            </a:r>
            <a:r>
              <a:rPr lang="en-US" dirty="0"/>
              <a:t> NAC</a:t>
            </a:r>
            <a:r>
              <a:rPr lang="he-IL" dirty="0"/>
              <a:t>מבצע אימות של משתמשים באמצעות פרוטוקולי </a:t>
            </a:r>
            <a:r>
              <a:rPr lang="he-IL" dirty="0" err="1"/>
              <a:t>אוטנטיקציה</a:t>
            </a:r>
            <a:r>
              <a:rPr lang="he-IL" dirty="0"/>
              <a:t>, ועושה שימוש בסוכנים או בפרוטוקולים מבוססי רשת כדי לאמת את מצב המכשירים.</a:t>
            </a:r>
          </a:p>
          <a:p>
            <a:r>
              <a:rPr lang="he-IL" dirty="0"/>
              <a:t>3. </a:t>
            </a:r>
            <a:r>
              <a:rPr lang="en-US" dirty="0"/>
              <a:t> NAC</a:t>
            </a:r>
            <a:r>
              <a:rPr lang="he-IL" dirty="0"/>
              <a:t>מבוסס סוכן מספק ניטור מדויק ומעמיק יותר של המכשירים, ויכול לנקוט בפעולות אוטומטיות על פי המדיניות שהוגדרה.</a:t>
            </a:r>
          </a:p>
          <a:p>
            <a:r>
              <a:rPr lang="he-IL" dirty="0"/>
              <a:t>4. </a:t>
            </a:r>
            <a:r>
              <a:rPr lang="en-US" dirty="0"/>
              <a:t> NAC</a:t>
            </a:r>
            <a:r>
              <a:rPr lang="he-IL" dirty="0"/>
              <a:t>משתף מידע עם</a:t>
            </a:r>
            <a:r>
              <a:rPr lang="en-US" dirty="0"/>
              <a:t>SIEM </a:t>
            </a:r>
            <a:r>
              <a:rPr lang="he-IL" dirty="0"/>
              <a:t> לצורך ניתוח ותגובה, ומגיב להתראות מ-</a:t>
            </a:r>
            <a:r>
              <a:rPr lang="en-US" dirty="0"/>
              <a:t> IDS/IPS </a:t>
            </a:r>
            <a:r>
              <a:rPr lang="he-IL" dirty="0"/>
              <a:t>על ידי הגבלת גישה למכשירים המחשבים שנראים חשודים.</a:t>
            </a:r>
          </a:p>
          <a:p>
            <a:r>
              <a:rPr lang="he-IL" dirty="0"/>
              <a:t>5. אתגרים יכולים לכלול אינטגרציה עם מערכות קיימות, תחזוקה ותחזוקה שוטפת, וניהול מדיניות רשת מורכבת.</a:t>
            </a:r>
          </a:p>
          <a:p>
            <a:endParaRPr lang="he-IL" dirty="0"/>
          </a:p>
        </p:txBody>
      </p:sp>
    </p:spTree>
    <p:extLst>
      <p:ext uri="{BB962C8B-B14F-4D97-AF65-F5344CB8AC3E}">
        <p14:creationId xmlns:p14="http://schemas.microsoft.com/office/powerpoint/2010/main" val="337865763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BB313A1-003F-4906-90F9-87DFDC56FEB6}"/>
              </a:ext>
            </a:extLst>
          </p:cNvPr>
          <p:cNvSpPr>
            <a:spLocks noGrp="1"/>
          </p:cNvSpPr>
          <p:nvPr>
            <p:ph type="title"/>
          </p:nvPr>
        </p:nvSpPr>
        <p:spPr>
          <a:xfrm>
            <a:off x="3796748" y="642594"/>
            <a:ext cx="7328452" cy="1371600"/>
          </a:xfrm>
        </p:spPr>
        <p:txBody>
          <a:bodyPr/>
          <a:lstStyle/>
          <a:p>
            <a:r>
              <a:rPr lang="en-US" dirty="0"/>
              <a:t>Kill Chain</a:t>
            </a:r>
            <a:r>
              <a:rPr lang="he-IL" dirty="0"/>
              <a:t> - שרשרת התקפה</a:t>
            </a:r>
          </a:p>
        </p:txBody>
      </p:sp>
      <p:sp>
        <p:nvSpPr>
          <p:cNvPr id="3" name="מציין מיקום תוכן 2">
            <a:extLst>
              <a:ext uri="{FF2B5EF4-FFF2-40B4-BE49-F238E27FC236}">
                <a16:creationId xmlns:a16="http://schemas.microsoft.com/office/drawing/2014/main" id="{620EAEA4-53FB-4D1C-A6E7-017065D36566}"/>
              </a:ext>
            </a:extLst>
          </p:cNvPr>
          <p:cNvSpPr>
            <a:spLocks noGrp="1"/>
          </p:cNvSpPr>
          <p:nvPr>
            <p:ph idx="1"/>
          </p:nvPr>
        </p:nvSpPr>
        <p:spPr/>
        <p:txBody>
          <a:bodyPr/>
          <a:lstStyle/>
          <a:p>
            <a:r>
              <a:rPr lang="he-IL" b="1" dirty="0"/>
              <a:t>מה זה </a:t>
            </a:r>
            <a:r>
              <a:rPr lang="en-US" b="1" dirty="0"/>
              <a:t>Kill Chain</a:t>
            </a:r>
            <a:r>
              <a:rPr lang="he-IL" b="1" dirty="0"/>
              <a:t>:</a:t>
            </a:r>
          </a:p>
          <a:p>
            <a:r>
              <a:rPr lang="en-US" b="1" dirty="0"/>
              <a:t>Kill Chain</a:t>
            </a:r>
            <a:r>
              <a:rPr lang="he-IL" dirty="0"/>
              <a:t> הוא מודל המתאר את שלבי ההתקפה של תוקפים על מערכת או רשת. מטרת המודל היא להבין את כל שלבי ההתקפה, על מנת לפתח אמצעים למניעת התקפות ולמניעתן.</a:t>
            </a:r>
          </a:p>
          <a:p>
            <a:r>
              <a:rPr lang="he-IL" dirty="0"/>
              <a:t>המונח </a:t>
            </a:r>
            <a:r>
              <a:rPr lang="en-US" dirty="0"/>
              <a:t>) Kill Chain</a:t>
            </a:r>
            <a:r>
              <a:rPr lang="he-IL" dirty="0"/>
              <a:t>שרשרת התקפה) מגיע מהתחום הצבאי, שבו הוא מתאר את השלבים בתהליך של תקיפה על יעד צבאי. בתחום </a:t>
            </a:r>
            <a:r>
              <a:rPr lang="he-IL" dirty="0" err="1"/>
              <a:t>האבטחת</a:t>
            </a:r>
            <a:r>
              <a:rPr lang="he-IL" dirty="0"/>
              <a:t> מידע, הוא מתאר את התהליך שגורם לתוקף לפרוץ למערכת מחשב.</a:t>
            </a:r>
          </a:p>
          <a:p>
            <a:endParaRPr lang="he-IL" dirty="0"/>
          </a:p>
        </p:txBody>
      </p:sp>
    </p:spTree>
    <p:extLst>
      <p:ext uri="{BB962C8B-B14F-4D97-AF65-F5344CB8AC3E}">
        <p14:creationId xmlns:p14="http://schemas.microsoft.com/office/powerpoint/2010/main" val="15641121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3D3E456-9CB5-4468-BBD0-208672BC1526}"/>
              </a:ext>
            </a:extLst>
          </p:cNvPr>
          <p:cNvSpPr>
            <a:spLocks noGrp="1"/>
          </p:cNvSpPr>
          <p:nvPr>
            <p:ph type="title"/>
          </p:nvPr>
        </p:nvSpPr>
        <p:spPr>
          <a:xfrm>
            <a:off x="6096000" y="642594"/>
            <a:ext cx="5029200" cy="1371600"/>
          </a:xfrm>
        </p:spPr>
        <p:txBody>
          <a:bodyPr/>
          <a:lstStyle/>
          <a:p>
            <a:r>
              <a:rPr lang="he-IL" dirty="0"/>
              <a:t>המשך - </a:t>
            </a:r>
            <a:r>
              <a:rPr lang="en-US" dirty="0"/>
              <a:t>Kill Chain</a:t>
            </a:r>
            <a:endParaRPr lang="he-IL" dirty="0"/>
          </a:p>
        </p:txBody>
      </p:sp>
      <p:sp>
        <p:nvSpPr>
          <p:cNvPr id="3" name="מציין מיקום תוכן 2">
            <a:extLst>
              <a:ext uri="{FF2B5EF4-FFF2-40B4-BE49-F238E27FC236}">
                <a16:creationId xmlns:a16="http://schemas.microsoft.com/office/drawing/2014/main" id="{47C1C31A-1851-4B78-BC80-FE7A8A35448B}"/>
              </a:ext>
            </a:extLst>
          </p:cNvPr>
          <p:cNvSpPr>
            <a:spLocks noGrp="1"/>
          </p:cNvSpPr>
          <p:nvPr>
            <p:ph idx="1"/>
          </p:nvPr>
        </p:nvSpPr>
        <p:spPr>
          <a:xfrm>
            <a:off x="1066800" y="1689652"/>
            <a:ext cx="10058400" cy="5168348"/>
          </a:xfrm>
        </p:spPr>
        <p:txBody>
          <a:bodyPr/>
          <a:lstStyle/>
          <a:p>
            <a:r>
              <a:rPr lang="he-IL" sz="2800" b="1" u="sng" dirty="0"/>
              <a:t>שלבי ה-</a:t>
            </a:r>
            <a:r>
              <a:rPr lang="en-US" sz="2800" b="1" u="sng" dirty="0"/>
              <a:t>Kill Chain </a:t>
            </a:r>
          </a:p>
          <a:p>
            <a:r>
              <a:rPr lang="he-IL" b="1" dirty="0"/>
              <a:t>שלב 1: תכנון </a:t>
            </a:r>
            <a:r>
              <a:rPr lang="en-US" b="1" dirty="0"/>
              <a:t>Reconnaissance</a:t>
            </a:r>
            <a:endParaRPr lang="en-US" dirty="0"/>
          </a:p>
          <a:p>
            <a:pPr lvl="1"/>
            <a:r>
              <a:rPr lang="he-IL" dirty="0"/>
              <a:t>מה זה? תוקפים אוספים מידע על המטרה שלהם. זה כולל פרטים על הרשת, מערכות המידע, תוכנות בשימוש, ועוד.</a:t>
            </a:r>
          </a:p>
          <a:p>
            <a:pPr lvl="1"/>
            <a:r>
              <a:rPr lang="he-IL" dirty="0"/>
              <a:t>דוגמה: תוקף חוקרי אתר אינטרנט של חברה ומבצע חיפושים במידע ציבורי כדי להבין את מבנה המערכת שלה.</a:t>
            </a:r>
          </a:p>
          <a:p>
            <a:r>
              <a:rPr lang="he-IL" b="1" dirty="0"/>
              <a:t>שלב 2: סריקה </a:t>
            </a:r>
            <a:r>
              <a:rPr lang="en-US" b="1" dirty="0"/>
              <a:t>Scanning</a:t>
            </a:r>
            <a:endParaRPr lang="en-US" dirty="0"/>
          </a:p>
          <a:p>
            <a:pPr lvl="1"/>
            <a:r>
              <a:rPr lang="he-IL" dirty="0"/>
              <a:t>מה זה? התוקפים משתמשים בכלים לסרוק את הרשת ואת המערכות כדי לזהות חולשות ואיומים.</a:t>
            </a:r>
          </a:p>
          <a:p>
            <a:pPr lvl="1"/>
            <a:r>
              <a:rPr lang="he-IL" dirty="0"/>
              <a:t>דוגמה: תוקף משתמש בסורק פורטים כדי לבדוק אילו פורטים פתוחים במחשב המטרה ואילו שירותים פועלים בהם.</a:t>
            </a:r>
          </a:p>
          <a:p>
            <a:r>
              <a:rPr lang="he-IL" b="1" dirty="0"/>
              <a:t>שלב 3: רווח </a:t>
            </a:r>
            <a:r>
              <a:rPr lang="en-US" b="1" dirty="0"/>
              <a:t>Gaining Access</a:t>
            </a:r>
            <a:endParaRPr lang="en-US" dirty="0"/>
          </a:p>
          <a:p>
            <a:pPr lvl="1"/>
            <a:r>
              <a:rPr lang="he-IL" dirty="0"/>
              <a:t>מה זה? התוקפים מבצעים התקפה או ניצול חולשה כדי להשיג גישה לא מורשית למערכת.</a:t>
            </a:r>
          </a:p>
          <a:p>
            <a:pPr lvl="1"/>
            <a:r>
              <a:rPr lang="he-IL" dirty="0"/>
              <a:t>דוגמה: לאחר זיהוי חולשה בתוכנה, התוקף מצליח להיכנס למערכת באמצעות ניצול חולשה זו.</a:t>
            </a:r>
          </a:p>
          <a:p>
            <a:endParaRPr lang="he-IL" dirty="0"/>
          </a:p>
        </p:txBody>
      </p:sp>
    </p:spTree>
    <p:extLst>
      <p:ext uri="{BB962C8B-B14F-4D97-AF65-F5344CB8AC3E}">
        <p14:creationId xmlns:p14="http://schemas.microsoft.com/office/powerpoint/2010/main" val="161308200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7562259-48DE-4F5D-AEA0-C703F50D233F}"/>
              </a:ext>
            </a:extLst>
          </p:cNvPr>
          <p:cNvSpPr>
            <a:spLocks noGrp="1"/>
          </p:cNvSpPr>
          <p:nvPr>
            <p:ph type="title"/>
          </p:nvPr>
        </p:nvSpPr>
        <p:spPr>
          <a:xfrm>
            <a:off x="6096000" y="642594"/>
            <a:ext cx="5029200" cy="1371600"/>
          </a:xfrm>
        </p:spPr>
        <p:txBody>
          <a:bodyPr/>
          <a:lstStyle/>
          <a:p>
            <a:r>
              <a:rPr lang="he-IL" dirty="0"/>
              <a:t>המשך - </a:t>
            </a:r>
            <a:r>
              <a:rPr lang="en-US" dirty="0"/>
              <a:t>Kill Chain</a:t>
            </a:r>
            <a:endParaRPr lang="he-IL" dirty="0"/>
          </a:p>
        </p:txBody>
      </p:sp>
      <p:sp>
        <p:nvSpPr>
          <p:cNvPr id="3" name="מציין מיקום תוכן 2">
            <a:extLst>
              <a:ext uri="{FF2B5EF4-FFF2-40B4-BE49-F238E27FC236}">
                <a16:creationId xmlns:a16="http://schemas.microsoft.com/office/drawing/2014/main" id="{3B573DC8-210D-42E3-9442-7D2B38ED62FC}"/>
              </a:ext>
            </a:extLst>
          </p:cNvPr>
          <p:cNvSpPr>
            <a:spLocks noGrp="1"/>
          </p:cNvSpPr>
          <p:nvPr>
            <p:ph idx="1"/>
          </p:nvPr>
        </p:nvSpPr>
        <p:spPr/>
        <p:txBody>
          <a:bodyPr>
            <a:normAutofit lnSpcReduction="10000"/>
          </a:bodyPr>
          <a:lstStyle/>
          <a:p>
            <a:r>
              <a:rPr lang="he-IL" sz="2800" b="1" u="sng" dirty="0"/>
              <a:t>המשך שלבי ה-</a:t>
            </a:r>
            <a:r>
              <a:rPr lang="en-US" sz="2800" b="1" u="sng" dirty="0"/>
              <a:t>Kill Chain </a:t>
            </a:r>
            <a:r>
              <a:rPr lang="he-IL" sz="2800" b="1" u="sng" dirty="0"/>
              <a:t>:</a:t>
            </a:r>
          </a:p>
          <a:p>
            <a:r>
              <a:rPr lang="he-IL" b="1" dirty="0"/>
              <a:t>שלב 4: שמירה </a:t>
            </a:r>
            <a:r>
              <a:rPr lang="en-US" b="1" dirty="0"/>
              <a:t>Maintaining Access</a:t>
            </a:r>
            <a:endParaRPr lang="en-US" dirty="0"/>
          </a:p>
          <a:p>
            <a:r>
              <a:rPr lang="he-IL" dirty="0"/>
              <a:t>מה זה? התוקפים מוודאים שיש להם גישה מתמשכת למערכת, גם אם חלק מהחולשות תוקנו.</a:t>
            </a:r>
          </a:p>
          <a:p>
            <a:r>
              <a:rPr lang="he-IL" dirty="0"/>
              <a:t>דוגמה: התוקף מתקין חזרה או כלי שליטה מרחוק במחשב המטרה כדי לשמור על גישתו למערכת.</a:t>
            </a:r>
          </a:p>
          <a:p>
            <a:r>
              <a:rPr lang="he-IL" b="1" dirty="0"/>
              <a:t>שלב 5: פריצה </a:t>
            </a:r>
            <a:r>
              <a:rPr lang="en-US" b="1" dirty="0"/>
              <a:t>Exfiltration</a:t>
            </a:r>
            <a:endParaRPr lang="en-US" dirty="0"/>
          </a:p>
          <a:p>
            <a:r>
              <a:rPr lang="he-IL" dirty="0"/>
              <a:t>מה זה? התוקפים אוספים ומעבירים נתונים רגישים או מידע מהמטרה.</a:t>
            </a:r>
          </a:p>
          <a:p>
            <a:r>
              <a:rPr lang="he-IL" dirty="0"/>
              <a:t>דוגמה: התוקף גונב מידע אישי של לקוחות ומעביר אותו לשרת חיצוני שברשותו.</a:t>
            </a:r>
          </a:p>
          <a:p>
            <a:r>
              <a:rPr lang="he-IL" b="1" dirty="0"/>
              <a:t>לב 6: הסטה </a:t>
            </a:r>
            <a:r>
              <a:rPr lang="en-US" b="1" dirty="0"/>
              <a:t>Clearing Tracks</a:t>
            </a:r>
            <a:endParaRPr lang="en-US" dirty="0"/>
          </a:p>
          <a:p>
            <a:r>
              <a:rPr lang="he-IL" dirty="0"/>
              <a:t>מה זה? התוקפים מוחקים ראיות או משאירים נתיב טיול על מנת להסתיר את פעולותיהם.</a:t>
            </a:r>
          </a:p>
          <a:p>
            <a:r>
              <a:rPr lang="he-IL" dirty="0"/>
              <a:t>דוגמה: התוקף מנקה את יומני המערכת ואת קבצי היומן כדי למנוע גילוים של פעילותו.</a:t>
            </a:r>
          </a:p>
          <a:p>
            <a:endParaRPr lang="en-US" dirty="0"/>
          </a:p>
          <a:p>
            <a:endParaRPr lang="he-IL" dirty="0"/>
          </a:p>
        </p:txBody>
      </p:sp>
    </p:spTree>
    <p:extLst>
      <p:ext uri="{BB962C8B-B14F-4D97-AF65-F5344CB8AC3E}">
        <p14:creationId xmlns:p14="http://schemas.microsoft.com/office/powerpoint/2010/main" val="186823221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BBC7985-D485-4835-BF87-42D61C148A29}"/>
              </a:ext>
            </a:extLst>
          </p:cNvPr>
          <p:cNvSpPr>
            <a:spLocks noGrp="1"/>
          </p:cNvSpPr>
          <p:nvPr>
            <p:ph type="title"/>
          </p:nvPr>
        </p:nvSpPr>
        <p:spPr>
          <a:xfrm>
            <a:off x="6172200" y="642594"/>
            <a:ext cx="4953000" cy="1371600"/>
          </a:xfrm>
        </p:spPr>
        <p:txBody>
          <a:bodyPr/>
          <a:lstStyle/>
          <a:p>
            <a:r>
              <a:rPr lang="he-IL" dirty="0"/>
              <a:t>המשך - </a:t>
            </a:r>
            <a:r>
              <a:rPr lang="en-US" dirty="0"/>
              <a:t>Kill Chain</a:t>
            </a:r>
            <a:endParaRPr lang="he-IL" dirty="0"/>
          </a:p>
        </p:txBody>
      </p:sp>
      <p:sp>
        <p:nvSpPr>
          <p:cNvPr id="3" name="מציין מיקום תוכן 2">
            <a:extLst>
              <a:ext uri="{FF2B5EF4-FFF2-40B4-BE49-F238E27FC236}">
                <a16:creationId xmlns:a16="http://schemas.microsoft.com/office/drawing/2014/main" id="{B21B8914-3AE4-427F-B48C-44495BBDE7A1}"/>
              </a:ext>
            </a:extLst>
          </p:cNvPr>
          <p:cNvSpPr>
            <a:spLocks noGrp="1"/>
          </p:cNvSpPr>
          <p:nvPr>
            <p:ph idx="1"/>
          </p:nvPr>
        </p:nvSpPr>
        <p:spPr/>
        <p:txBody>
          <a:bodyPr/>
          <a:lstStyle/>
          <a:p>
            <a:r>
              <a:rPr lang="he-IL" b="1" dirty="0"/>
              <a:t>דוגמא א: </a:t>
            </a:r>
            <a:r>
              <a:rPr lang="he-IL" dirty="0"/>
              <a:t>תוקף החליט להיכנס לרשת של חברה ביטחונית. הוא התחיל בשלב התכנון והאיסוף, שבו אסף מידע על החברה מתוך פרסומים ברשתות חברתיות ומסמכים פומביים. לאחר מכן, השתמש בכלי סריקה לזיהוי חולשות, והצליח לנצל חולשה בשרת ה-</a:t>
            </a:r>
            <a:r>
              <a:rPr lang="en-US" dirty="0"/>
              <a:t> WEB </a:t>
            </a:r>
            <a:r>
              <a:rPr lang="he-IL" dirty="0"/>
              <a:t>של החברה. התוקף התקין תוכנת חזרה כדי לשמור על גישתו, גנב נתונים רגישים על לקוחות, ולבסוף נמחק את כל עקבותיו כדי להימנע מגילוי.</a:t>
            </a:r>
          </a:p>
          <a:p>
            <a:r>
              <a:rPr lang="he-IL" b="1" dirty="0"/>
              <a:t>דוגמא ב: </a:t>
            </a:r>
            <a:r>
              <a:rPr lang="he-IL" dirty="0"/>
              <a:t>בארגון פיננסי, תוקף ניהל סקר סיסמאות דרך כלים אוטומטיים לסריקת פורטים ושירותים. הוא הצליח לנצלו חולשה במערכת הזדהות כדי לקבל גישה לא מורשית לחשבונות. לאחר השגת גישה, התוקף התקין תוכנה שתשמור עליו במערכת, ואחר כך גנב נתונים של עסקאות פיננסיות. לבסוף, הוא השתמש בתוכנה למחוק את כל הראיות כדי למנוע גילוי.</a:t>
            </a:r>
          </a:p>
          <a:p>
            <a:endParaRPr lang="he-IL" dirty="0"/>
          </a:p>
        </p:txBody>
      </p:sp>
    </p:spTree>
    <p:extLst>
      <p:ext uri="{BB962C8B-B14F-4D97-AF65-F5344CB8AC3E}">
        <p14:creationId xmlns:p14="http://schemas.microsoft.com/office/powerpoint/2010/main" val="307309462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CF41DF1-6F1E-45A3-8C25-995D511ADDAF}"/>
              </a:ext>
            </a:extLst>
          </p:cNvPr>
          <p:cNvSpPr>
            <a:spLocks noGrp="1"/>
          </p:cNvSpPr>
          <p:nvPr>
            <p:ph type="title"/>
          </p:nvPr>
        </p:nvSpPr>
        <p:spPr>
          <a:xfrm>
            <a:off x="6202017" y="274846"/>
            <a:ext cx="4923183" cy="1371600"/>
          </a:xfrm>
        </p:spPr>
        <p:txBody>
          <a:bodyPr/>
          <a:lstStyle/>
          <a:p>
            <a:r>
              <a:rPr lang="he-IL" dirty="0"/>
              <a:t>המשך - </a:t>
            </a:r>
            <a:r>
              <a:rPr lang="en-US" dirty="0"/>
              <a:t>Kill Chain</a:t>
            </a:r>
            <a:endParaRPr lang="he-IL" dirty="0"/>
          </a:p>
        </p:txBody>
      </p:sp>
      <p:sp>
        <p:nvSpPr>
          <p:cNvPr id="3" name="מציין מיקום תוכן 2">
            <a:extLst>
              <a:ext uri="{FF2B5EF4-FFF2-40B4-BE49-F238E27FC236}">
                <a16:creationId xmlns:a16="http://schemas.microsoft.com/office/drawing/2014/main" id="{A27A0F02-35D2-4D0F-922A-43DA3615750C}"/>
              </a:ext>
            </a:extLst>
          </p:cNvPr>
          <p:cNvSpPr>
            <a:spLocks noGrp="1"/>
          </p:cNvSpPr>
          <p:nvPr>
            <p:ph idx="1"/>
          </p:nvPr>
        </p:nvSpPr>
        <p:spPr>
          <a:xfrm>
            <a:off x="1066800" y="1480931"/>
            <a:ext cx="10058400" cy="5188226"/>
          </a:xfrm>
        </p:spPr>
        <p:txBody>
          <a:bodyPr>
            <a:normAutofit lnSpcReduction="10000"/>
          </a:bodyPr>
          <a:lstStyle/>
          <a:p>
            <a:r>
              <a:rPr lang="he-IL" b="1" dirty="0"/>
              <a:t>איך להגן על עצמך מה- </a:t>
            </a:r>
            <a:r>
              <a:rPr lang="en-US" b="1" dirty="0"/>
              <a:t>Kill Chain</a:t>
            </a:r>
            <a:r>
              <a:rPr lang="he-IL" b="1" dirty="0"/>
              <a:t> ?</a:t>
            </a:r>
            <a:endParaRPr lang="en-US" b="1" dirty="0"/>
          </a:p>
          <a:p>
            <a:r>
              <a:rPr lang="he-IL" b="1" dirty="0"/>
              <a:t>איסוף מידע וניהול שוטף:</a:t>
            </a:r>
            <a:endParaRPr lang="he-IL" dirty="0"/>
          </a:p>
          <a:p>
            <a:pPr lvl="1"/>
            <a:r>
              <a:rPr lang="he-IL" dirty="0"/>
              <a:t>פעולות: ניהול נכון של המידע המופיע על הארגון באינטרנט והקטנת החשיפה לפרטים חשובים.</a:t>
            </a:r>
          </a:p>
          <a:p>
            <a:pPr lvl="1"/>
            <a:r>
              <a:rPr lang="he-IL" dirty="0"/>
              <a:t>דוגמה: לבדוק באופן קבוע את המידע הציבורי שמופיע על הארגון ולוודא שאין בו פרטים רגישים.</a:t>
            </a:r>
          </a:p>
          <a:p>
            <a:r>
              <a:rPr lang="he-IL" b="1" dirty="0"/>
              <a:t>סריקות ובדיקות אבטחה:</a:t>
            </a:r>
            <a:endParaRPr lang="he-IL" dirty="0"/>
          </a:p>
          <a:p>
            <a:pPr lvl="1"/>
            <a:r>
              <a:rPr lang="he-IL" dirty="0"/>
              <a:t>פעולות: שימוש בכלים סדירים לסריקת רשתות ולזיהוי חולשות.</a:t>
            </a:r>
          </a:p>
          <a:p>
            <a:pPr lvl="1"/>
            <a:r>
              <a:rPr lang="he-IL" dirty="0"/>
              <a:t>דוגמה: לבצע סריקות רשת חודשיות כדי לגלות ולתקן חולשות.</a:t>
            </a:r>
          </a:p>
          <a:p>
            <a:r>
              <a:rPr lang="he-IL" b="1" dirty="0"/>
              <a:t>חיזוק אמצעי הגישה:</a:t>
            </a:r>
            <a:endParaRPr lang="he-IL" dirty="0"/>
          </a:p>
          <a:p>
            <a:pPr lvl="1"/>
            <a:r>
              <a:rPr lang="he-IL" dirty="0"/>
              <a:t>פעולות: שימוש באמצעים כמו </a:t>
            </a:r>
            <a:r>
              <a:rPr lang="he-IL" dirty="0" err="1"/>
              <a:t>אוטנטיקציה</a:t>
            </a:r>
            <a:r>
              <a:rPr lang="he-IL" dirty="0"/>
              <a:t> רב-שלבית וחיזוק הסיסמאות.</a:t>
            </a:r>
          </a:p>
          <a:p>
            <a:pPr lvl="1"/>
            <a:r>
              <a:rPr lang="he-IL" dirty="0"/>
              <a:t>דוגמה: להטמיע </a:t>
            </a:r>
            <a:r>
              <a:rPr lang="he-IL" dirty="0" err="1"/>
              <a:t>אוטנטיקציה</a:t>
            </a:r>
            <a:r>
              <a:rPr lang="he-IL" dirty="0"/>
              <a:t> דו-שלבית לכל החשבונות בארגון.</a:t>
            </a:r>
          </a:p>
          <a:p>
            <a:r>
              <a:rPr lang="he-IL" b="1" dirty="0" err="1"/>
              <a:t>תוכניות</a:t>
            </a:r>
            <a:r>
              <a:rPr lang="he-IL" b="1" dirty="0"/>
              <a:t> תגובה ותחזוקה:</a:t>
            </a:r>
            <a:endParaRPr lang="he-IL" dirty="0"/>
          </a:p>
          <a:p>
            <a:pPr lvl="1"/>
            <a:r>
              <a:rPr lang="he-IL" dirty="0"/>
              <a:t>פעולות: פיתוח </a:t>
            </a:r>
            <a:r>
              <a:rPr lang="he-IL" dirty="0" err="1"/>
              <a:t>תוכניות</a:t>
            </a:r>
            <a:r>
              <a:rPr lang="he-IL" dirty="0"/>
              <a:t> תגובה לאירועים והקפדה על תחזוקה שוטפת של המערכות.</a:t>
            </a:r>
          </a:p>
          <a:p>
            <a:pPr lvl="1"/>
            <a:r>
              <a:rPr lang="he-IL" dirty="0"/>
              <a:t>דוגמה: לעדכן יומני פעילות, לנהל </a:t>
            </a:r>
            <a:r>
              <a:rPr lang="he-IL" dirty="0" err="1"/>
              <a:t>תוכניות</a:t>
            </a:r>
            <a:r>
              <a:rPr lang="he-IL" dirty="0"/>
              <a:t> לעדכון תוכנה ולהגיב במהירות לאירועים.</a:t>
            </a:r>
          </a:p>
          <a:p>
            <a:r>
              <a:rPr lang="he-IL" b="1" dirty="0"/>
              <a:t>הדרכה ותחזוקה:</a:t>
            </a:r>
            <a:endParaRPr lang="he-IL" dirty="0"/>
          </a:p>
          <a:p>
            <a:pPr lvl="1"/>
            <a:r>
              <a:rPr lang="he-IL" dirty="0"/>
              <a:t>פעולות: הכשרת צוות האבטחה ותחזוקה שוטפת של מערכות האבטחה.</a:t>
            </a:r>
          </a:p>
          <a:p>
            <a:pPr lvl="1"/>
            <a:r>
              <a:rPr lang="he-IL" dirty="0"/>
              <a:t>דוגמה: להעביר סדנאות אבטחה לעובדים </a:t>
            </a:r>
            <a:r>
              <a:rPr lang="he-IL" dirty="0" err="1"/>
              <a:t>ולתעדכן</a:t>
            </a:r>
            <a:r>
              <a:rPr lang="he-IL" dirty="0"/>
              <a:t> את צוות האבטחה בטכניקות ההתקפה האחרונות.</a:t>
            </a:r>
          </a:p>
          <a:p>
            <a:endParaRPr lang="he-IL" dirty="0"/>
          </a:p>
        </p:txBody>
      </p:sp>
    </p:spTree>
    <p:extLst>
      <p:ext uri="{BB962C8B-B14F-4D97-AF65-F5344CB8AC3E}">
        <p14:creationId xmlns:p14="http://schemas.microsoft.com/office/powerpoint/2010/main" val="45626204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F0CC0A9-5009-42B2-A48F-71C8DFC51EB8}"/>
              </a:ext>
            </a:extLst>
          </p:cNvPr>
          <p:cNvSpPr>
            <a:spLocks noGrp="1"/>
          </p:cNvSpPr>
          <p:nvPr>
            <p:ph type="title"/>
          </p:nvPr>
        </p:nvSpPr>
        <p:spPr>
          <a:xfrm>
            <a:off x="6096000" y="642594"/>
            <a:ext cx="5029200" cy="1371600"/>
          </a:xfrm>
        </p:spPr>
        <p:txBody>
          <a:bodyPr/>
          <a:lstStyle/>
          <a:p>
            <a:r>
              <a:rPr lang="he-IL" dirty="0"/>
              <a:t>המשך - </a:t>
            </a:r>
            <a:r>
              <a:rPr lang="en-US" dirty="0"/>
              <a:t>Kill Chain</a:t>
            </a:r>
            <a:endParaRPr lang="he-IL" dirty="0"/>
          </a:p>
        </p:txBody>
      </p:sp>
      <p:sp>
        <p:nvSpPr>
          <p:cNvPr id="3" name="מציין מיקום תוכן 2">
            <a:extLst>
              <a:ext uri="{FF2B5EF4-FFF2-40B4-BE49-F238E27FC236}">
                <a16:creationId xmlns:a16="http://schemas.microsoft.com/office/drawing/2014/main" id="{E8FD79E4-98C3-4B12-A610-6DBD40A5DDC6}"/>
              </a:ext>
            </a:extLst>
          </p:cNvPr>
          <p:cNvSpPr>
            <a:spLocks noGrp="1"/>
          </p:cNvSpPr>
          <p:nvPr>
            <p:ph idx="1"/>
          </p:nvPr>
        </p:nvSpPr>
        <p:spPr/>
        <p:txBody>
          <a:bodyPr/>
          <a:lstStyle/>
          <a:p>
            <a:r>
              <a:rPr lang="he-IL" dirty="0"/>
              <a:t>שאלות: </a:t>
            </a:r>
          </a:p>
          <a:p>
            <a:r>
              <a:rPr lang="he-IL" dirty="0"/>
              <a:t>1. מהו שלב התכנון</a:t>
            </a:r>
            <a:r>
              <a:rPr lang="en-US" dirty="0"/>
              <a:t> Reconnaissance </a:t>
            </a:r>
            <a:r>
              <a:rPr lang="he-IL" dirty="0"/>
              <a:t>ב-</a:t>
            </a:r>
            <a:r>
              <a:rPr lang="en-US" dirty="0"/>
              <a:t>Kill Chain </a:t>
            </a:r>
            <a:r>
              <a:rPr lang="he-IL" dirty="0"/>
              <a:t> וכיצד הוא משפיע על ההתקפה?</a:t>
            </a:r>
          </a:p>
          <a:p>
            <a:r>
              <a:rPr lang="he-IL" dirty="0"/>
              <a:t>2. כיצד תוקפים משיגים גישה לא מורשית במערכת?</a:t>
            </a:r>
          </a:p>
          <a:p>
            <a:r>
              <a:rPr lang="he-IL" dirty="0"/>
              <a:t>3. מהו שלב ה"שמירה" </a:t>
            </a:r>
            <a:r>
              <a:rPr lang="en-US" dirty="0"/>
              <a:t>Maintaining Access</a:t>
            </a:r>
            <a:r>
              <a:rPr lang="he-IL" dirty="0"/>
              <a:t> וכיצד ניתן למנוע אותו?</a:t>
            </a:r>
          </a:p>
          <a:p>
            <a:r>
              <a:rPr lang="he-IL" dirty="0"/>
              <a:t>4. אילו צעדים ניתן לנקוט כדי למנוע את שלב ה"פריצה" </a:t>
            </a:r>
            <a:r>
              <a:rPr lang="en-US" dirty="0"/>
              <a:t>Exfiltration</a:t>
            </a:r>
            <a:r>
              <a:rPr lang="he-IL" dirty="0"/>
              <a:t> ?</a:t>
            </a:r>
          </a:p>
          <a:p>
            <a:r>
              <a:rPr lang="he-IL" dirty="0"/>
              <a:t>5. איך ניתן למנוע את שלב ה"סטה"</a:t>
            </a:r>
            <a:r>
              <a:rPr lang="en-US" dirty="0"/>
              <a:t> Clearing Tracks </a:t>
            </a:r>
            <a:r>
              <a:rPr lang="he-IL" dirty="0"/>
              <a:t>על ידי התוקפים?</a:t>
            </a:r>
          </a:p>
          <a:p>
            <a:endParaRPr lang="en-US" dirty="0"/>
          </a:p>
          <a:p>
            <a:endParaRPr lang="he-IL" dirty="0"/>
          </a:p>
        </p:txBody>
      </p:sp>
    </p:spTree>
    <p:extLst>
      <p:ext uri="{BB962C8B-B14F-4D97-AF65-F5344CB8AC3E}">
        <p14:creationId xmlns:p14="http://schemas.microsoft.com/office/powerpoint/2010/main" val="116684571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DD50391-51A5-4326-A3CC-9FAE0A5563E4}"/>
              </a:ext>
            </a:extLst>
          </p:cNvPr>
          <p:cNvSpPr>
            <a:spLocks noGrp="1"/>
          </p:cNvSpPr>
          <p:nvPr>
            <p:ph type="title"/>
          </p:nvPr>
        </p:nvSpPr>
        <p:spPr>
          <a:xfrm>
            <a:off x="5923722" y="642594"/>
            <a:ext cx="5201478" cy="1371600"/>
          </a:xfrm>
        </p:spPr>
        <p:txBody>
          <a:bodyPr/>
          <a:lstStyle/>
          <a:p>
            <a:r>
              <a:rPr lang="he-IL" dirty="0"/>
              <a:t>המשך - </a:t>
            </a:r>
            <a:r>
              <a:rPr lang="en-US" dirty="0"/>
              <a:t>Kill Chain</a:t>
            </a:r>
            <a:endParaRPr lang="he-IL" dirty="0"/>
          </a:p>
        </p:txBody>
      </p:sp>
      <p:sp>
        <p:nvSpPr>
          <p:cNvPr id="3" name="מציין מיקום תוכן 2">
            <a:extLst>
              <a:ext uri="{FF2B5EF4-FFF2-40B4-BE49-F238E27FC236}">
                <a16:creationId xmlns:a16="http://schemas.microsoft.com/office/drawing/2014/main" id="{F77FD9E9-B0A6-4F56-AE0D-16228F4893AF}"/>
              </a:ext>
            </a:extLst>
          </p:cNvPr>
          <p:cNvSpPr>
            <a:spLocks noGrp="1"/>
          </p:cNvSpPr>
          <p:nvPr>
            <p:ph idx="1"/>
          </p:nvPr>
        </p:nvSpPr>
        <p:spPr/>
        <p:txBody>
          <a:bodyPr/>
          <a:lstStyle/>
          <a:p>
            <a:r>
              <a:rPr lang="he-IL" dirty="0"/>
              <a:t>תשובות:</a:t>
            </a:r>
          </a:p>
          <a:p>
            <a:r>
              <a:rPr lang="he-IL" dirty="0"/>
              <a:t>1. שלב התכנון הוא המקום שבו התוקף אוסף מידע על המטרה כדי להבין את חולשותיה. זה משפיע על ההתקפה בכך שמסייע לתוקף לבחור את שיטת התקיפה המתאימה ביותר.</a:t>
            </a:r>
          </a:p>
          <a:p>
            <a:r>
              <a:rPr lang="he-IL" dirty="0"/>
              <a:t>2. הם משתמשים בחולשות מערכת או ניצול פרצות אבטחה כדי להיכנס למערכת, כמו פרצות בתוכנה.</a:t>
            </a:r>
          </a:p>
          <a:p>
            <a:r>
              <a:rPr lang="he-IL" dirty="0"/>
              <a:t>3. שלב השמירה הוא כאשר התוקף מבטיח שיש לו גישה מתמשכת למערכת. ניתן למנוע זאת על ידי חיזוק האבטחה והתקנת תוכנות לניהול גישה מבוקר.</a:t>
            </a:r>
          </a:p>
          <a:p>
            <a:r>
              <a:rPr lang="he-IL" dirty="0"/>
              <a:t>4. ניתן למנוע את שלב הפריצה על ידי הצפנת נתונים, פיקוח על תעבורה רשתית, וביצוע בדיקות אבטחה קבועות.</a:t>
            </a:r>
          </a:p>
          <a:p>
            <a:r>
              <a:rPr lang="he-IL" dirty="0"/>
              <a:t>5. ניתן למנוע זאת על ידי ניטור פעילות ויומנים בצורה רציפה, ויצירת מדיניות לתיעוד ותחזוקת יומני המערכת.</a:t>
            </a:r>
          </a:p>
          <a:p>
            <a:endParaRPr lang="he-IL" dirty="0"/>
          </a:p>
        </p:txBody>
      </p:sp>
    </p:spTree>
    <p:extLst>
      <p:ext uri="{BB962C8B-B14F-4D97-AF65-F5344CB8AC3E}">
        <p14:creationId xmlns:p14="http://schemas.microsoft.com/office/powerpoint/2010/main" val="249226244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FF64548-DB53-4B85-9D7F-9E49A11EDD1E}"/>
              </a:ext>
            </a:extLst>
          </p:cNvPr>
          <p:cNvSpPr>
            <a:spLocks noGrp="1"/>
          </p:cNvSpPr>
          <p:nvPr>
            <p:ph type="title"/>
          </p:nvPr>
        </p:nvSpPr>
        <p:spPr>
          <a:xfrm>
            <a:off x="5227982" y="642594"/>
            <a:ext cx="5897217" cy="1371600"/>
          </a:xfrm>
        </p:spPr>
        <p:txBody>
          <a:bodyPr/>
          <a:lstStyle/>
          <a:p>
            <a:r>
              <a:rPr lang="he-IL" dirty="0"/>
              <a:t>ה-</a:t>
            </a:r>
            <a:r>
              <a:rPr lang="en-US" dirty="0"/>
              <a:t>Kill Chain </a:t>
            </a:r>
            <a:r>
              <a:rPr lang="he-IL" dirty="0"/>
              <a:t> המודרני</a:t>
            </a:r>
          </a:p>
        </p:txBody>
      </p:sp>
      <p:sp>
        <p:nvSpPr>
          <p:cNvPr id="3" name="מציין מיקום תוכן 2">
            <a:extLst>
              <a:ext uri="{FF2B5EF4-FFF2-40B4-BE49-F238E27FC236}">
                <a16:creationId xmlns:a16="http://schemas.microsoft.com/office/drawing/2014/main" id="{3001F959-1AAF-4A05-8F69-D86C45B8B58A}"/>
              </a:ext>
            </a:extLst>
          </p:cNvPr>
          <p:cNvSpPr>
            <a:spLocks noGrp="1"/>
          </p:cNvSpPr>
          <p:nvPr>
            <p:ph idx="1"/>
          </p:nvPr>
        </p:nvSpPr>
        <p:spPr/>
        <p:txBody>
          <a:bodyPr>
            <a:normAutofit fontScale="92500"/>
          </a:bodyPr>
          <a:lstStyle/>
          <a:p>
            <a:r>
              <a:rPr lang="he-IL" dirty="0"/>
              <a:t>בעשור האחרון, מודל ה-</a:t>
            </a:r>
            <a:r>
              <a:rPr lang="en-US" dirty="0"/>
              <a:t> Kill Chain </a:t>
            </a:r>
            <a:r>
              <a:rPr lang="he-IL" dirty="0"/>
              <a:t>עבר עדכון ושדרוגים כדי לכלול טכניקות חדשות ומתקדמות יותר של תוקפים. הנה הרחבות נוספות לנושא:</a:t>
            </a:r>
          </a:p>
          <a:p>
            <a:r>
              <a:rPr lang="he-IL" b="1" dirty="0"/>
              <a:t>1. התפתחויות והוספות למודל ה-</a:t>
            </a:r>
            <a:r>
              <a:rPr lang="en-US" b="1" dirty="0"/>
              <a:t>Kill Chain </a:t>
            </a:r>
          </a:p>
          <a:p>
            <a:r>
              <a:rPr lang="he-IL" b="1" dirty="0"/>
              <a:t>שלב 7: </a:t>
            </a:r>
            <a:r>
              <a:rPr lang="en-US" b="1" dirty="0"/>
              <a:t>Stage of Command and Control (C2)</a:t>
            </a:r>
            <a:endParaRPr lang="en-US" dirty="0"/>
          </a:p>
          <a:p>
            <a:r>
              <a:rPr lang="he-IL" dirty="0"/>
              <a:t>מה זה? שלב שבו התוקף מקים ערוץ תקשורת עם המחשב או המערכת שנפרצה כדי לשלוט ולנהל את הפעולות שלו.</a:t>
            </a:r>
          </a:p>
          <a:p>
            <a:r>
              <a:rPr lang="he-IL" dirty="0"/>
              <a:t>דוגמה: התוקף מפעיל תוכנה לשליטה מרחוק כמו </a:t>
            </a:r>
            <a:r>
              <a:rPr lang="en-US" dirty="0"/>
              <a:t>Metasploit</a:t>
            </a:r>
            <a:r>
              <a:rPr lang="he-IL" dirty="0"/>
              <a:t> או </a:t>
            </a:r>
            <a:r>
              <a:rPr lang="en-US" dirty="0"/>
              <a:t>Cobalt Strike </a:t>
            </a:r>
            <a:r>
              <a:rPr lang="he-IL" dirty="0"/>
              <a:t> כדי לשלוח פקודות למחשב המטרה ולהשתמש בו למטרות זדוניות.</a:t>
            </a:r>
          </a:p>
          <a:p>
            <a:r>
              <a:rPr lang="he-IL" b="1" dirty="0"/>
              <a:t>שלב 8: </a:t>
            </a:r>
            <a:r>
              <a:rPr lang="en-US" b="1" dirty="0"/>
              <a:t>Stage of Data Manipulation</a:t>
            </a:r>
            <a:endParaRPr lang="en-US" dirty="0"/>
          </a:p>
          <a:p>
            <a:r>
              <a:rPr lang="he-IL" dirty="0"/>
              <a:t>מה זה? בשלב זה, התוקף משנה או משבש נתונים כדי להשיג יתרון נוסף, כמו שינוי דוחות פיננסיים או נתוני לקוחות.</a:t>
            </a:r>
          </a:p>
          <a:p>
            <a:r>
              <a:rPr lang="he-IL" dirty="0"/>
              <a:t>דוגמה: תוקף משנה נתונים במערכת ניהול לקוחות כדי לגרום להפסדים כספיים או להטעות את צוותי התמיכה.</a:t>
            </a:r>
          </a:p>
          <a:p>
            <a:endParaRPr lang="he-IL" dirty="0"/>
          </a:p>
        </p:txBody>
      </p:sp>
    </p:spTree>
    <p:extLst>
      <p:ext uri="{BB962C8B-B14F-4D97-AF65-F5344CB8AC3E}">
        <p14:creationId xmlns:p14="http://schemas.microsoft.com/office/powerpoint/2010/main" val="266218934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71DC8F9-0910-4DF5-9CDE-172D85BF3884}"/>
              </a:ext>
            </a:extLst>
          </p:cNvPr>
          <p:cNvSpPr>
            <a:spLocks noGrp="1"/>
          </p:cNvSpPr>
          <p:nvPr>
            <p:ph type="title"/>
          </p:nvPr>
        </p:nvSpPr>
        <p:spPr>
          <a:xfrm>
            <a:off x="3269974" y="642594"/>
            <a:ext cx="7855226" cy="1371600"/>
          </a:xfrm>
        </p:spPr>
        <p:txBody>
          <a:bodyPr/>
          <a:lstStyle/>
          <a:p>
            <a:r>
              <a:rPr lang="he-IL" dirty="0"/>
              <a:t>המשך - ה-</a:t>
            </a:r>
            <a:r>
              <a:rPr lang="en-US" dirty="0"/>
              <a:t>Kill Chain </a:t>
            </a:r>
            <a:r>
              <a:rPr lang="he-IL" dirty="0"/>
              <a:t> המודרני</a:t>
            </a:r>
          </a:p>
        </p:txBody>
      </p:sp>
      <p:sp>
        <p:nvSpPr>
          <p:cNvPr id="3" name="מציין מיקום תוכן 2">
            <a:extLst>
              <a:ext uri="{FF2B5EF4-FFF2-40B4-BE49-F238E27FC236}">
                <a16:creationId xmlns:a16="http://schemas.microsoft.com/office/drawing/2014/main" id="{60665E42-DB7D-491E-8A51-7E0909C0DC5D}"/>
              </a:ext>
            </a:extLst>
          </p:cNvPr>
          <p:cNvSpPr>
            <a:spLocks noGrp="1"/>
          </p:cNvSpPr>
          <p:nvPr>
            <p:ph idx="1"/>
          </p:nvPr>
        </p:nvSpPr>
        <p:spPr/>
        <p:txBody>
          <a:bodyPr>
            <a:normAutofit fontScale="92500" lnSpcReduction="10000"/>
          </a:bodyPr>
          <a:lstStyle/>
          <a:p>
            <a:r>
              <a:rPr lang="he-IL" b="1" dirty="0"/>
              <a:t>2. טכניקות מתקדמות</a:t>
            </a:r>
          </a:p>
          <a:p>
            <a:r>
              <a:rPr lang="he-IL" b="1" dirty="0"/>
              <a:t>התקפות מבוססות </a:t>
            </a:r>
            <a:r>
              <a:rPr lang="en-US" b="1" dirty="0"/>
              <a:t>AI</a:t>
            </a:r>
            <a:endParaRPr lang="en-US" dirty="0"/>
          </a:p>
          <a:p>
            <a:r>
              <a:rPr lang="he-IL" dirty="0"/>
              <a:t>מה זה? תוקפים משתמשים באינטליגנציה מלאכותית כדי לנתח נתונים ולזהות חולשות במערכות בצורה אוטומטית.</a:t>
            </a:r>
          </a:p>
          <a:p>
            <a:r>
              <a:rPr lang="he-IL" dirty="0"/>
              <a:t>דוגמה: שימוש באלגוריתמים של למידת מכונה כדי לגלות שיטות התקפה חדשות או לנתח התנהגות משתמשים לצורך אופטימיזציה של התקפות.</a:t>
            </a:r>
          </a:p>
          <a:p>
            <a:r>
              <a:rPr lang="he-IL" b="1" dirty="0"/>
              <a:t>התקפות על הענן </a:t>
            </a:r>
            <a:r>
              <a:rPr lang="en-US" b="1" dirty="0"/>
              <a:t>Cloud Attacks</a:t>
            </a:r>
            <a:endParaRPr lang="en-US" dirty="0"/>
          </a:p>
          <a:p>
            <a:r>
              <a:rPr lang="he-IL" dirty="0"/>
              <a:t>מה זה? תוקפים מפעילים מתקפות על סביבות ענן, ומנצלים חולשות או </a:t>
            </a:r>
            <a:r>
              <a:rPr lang="he-IL" dirty="0" err="1"/>
              <a:t>קונפיגורציות</a:t>
            </a:r>
            <a:r>
              <a:rPr lang="he-IL" dirty="0"/>
              <a:t> לא מאובטחות של שירותי ענן.</a:t>
            </a:r>
          </a:p>
          <a:p>
            <a:r>
              <a:rPr lang="he-IL" dirty="0"/>
              <a:t>דוגמה: תקיפת מערכת מבוססת ענן כדי להשיג גישה למידע רגיש המאוחסן באינטרנט.</a:t>
            </a:r>
          </a:p>
          <a:p>
            <a:r>
              <a:rPr lang="he-IL" b="1" dirty="0"/>
              <a:t>התקפות על </a:t>
            </a:r>
            <a:r>
              <a:rPr lang="en-US" b="1" dirty="0"/>
              <a:t>IoT (Internet of Things)</a:t>
            </a:r>
            <a:r>
              <a:rPr lang="he-IL" b="1" dirty="0"/>
              <a:t> </a:t>
            </a:r>
            <a:endParaRPr lang="en-US" dirty="0"/>
          </a:p>
          <a:p>
            <a:r>
              <a:rPr lang="he-IL" dirty="0"/>
              <a:t>מה זה? ניצול חולשות במכשירים מחוברים לאינטרנט, כמו מצלמות רשת או מכשירים חכמים.</a:t>
            </a:r>
          </a:p>
          <a:p>
            <a:r>
              <a:rPr lang="he-IL" dirty="0"/>
              <a:t>דוגמה: פריצה למצלמה חכמה ולבצע מעקב אחרי פעילות משתמשים</a:t>
            </a:r>
          </a:p>
          <a:p>
            <a:endParaRPr lang="he-IL" dirty="0"/>
          </a:p>
        </p:txBody>
      </p:sp>
    </p:spTree>
    <p:extLst>
      <p:ext uri="{BB962C8B-B14F-4D97-AF65-F5344CB8AC3E}">
        <p14:creationId xmlns:p14="http://schemas.microsoft.com/office/powerpoint/2010/main" val="378973909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16B219C-1792-4DBB-AF8E-D558309C9787}"/>
              </a:ext>
            </a:extLst>
          </p:cNvPr>
          <p:cNvSpPr>
            <a:spLocks noGrp="1"/>
          </p:cNvSpPr>
          <p:nvPr>
            <p:ph type="title"/>
          </p:nvPr>
        </p:nvSpPr>
        <p:spPr>
          <a:xfrm>
            <a:off x="3230216" y="642594"/>
            <a:ext cx="7894983" cy="1371600"/>
          </a:xfrm>
        </p:spPr>
        <p:txBody>
          <a:bodyPr/>
          <a:lstStyle/>
          <a:p>
            <a:r>
              <a:rPr lang="he-IL" dirty="0"/>
              <a:t>המשך - ה-</a:t>
            </a:r>
            <a:r>
              <a:rPr lang="en-US" dirty="0"/>
              <a:t>Kill Chain </a:t>
            </a:r>
            <a:r>
              <a:rPr lang="he-IL" dirty="0"/>
              <a:t> המודרני</a:t>
            </a:r>
          </a:p>
        </p:txBody>
      </p:sp>
      <p:sp>
        <p:nvSpPr>
          <p:cNvPr id="3" name="מציין מיקום תוכן 2">
            <a:extLst>
              <a:ext uri="{FF2B5EF4-FFF2-40B4-BE49-F238E27FC236}">
                <a16:creationId xmlns:a16="http://schemas.microsoft.com/office/drawing/2014/main" id="{8510A444-2660-450B-BF02-F04C0660B7C3}"/>
              </a:ext>
            </a:extLst>
          </p:cNvPr>
          <p:cNvSpPr>
            <a:spLocks noGrp="1"/>
          </p:cNvSpPr>
          <p:nvPr>
            <p:ph idx="1"/>
          </p:nvPr>
        </p:nvSpPr>
        <p:spPr/>
        <p:txBody>
          <a:bodyPr>
            <a:normAutofit fontScale="92500" lnSpcReduction="10000"/>
          </a:bodyPr>
          <a:lstStyle/>
          <a:p>
            <a:r>
              <a:rPr lang="he-IL" b="1" dirty="0"/>
              <a:t>3. כלים וטכניקות להגנה</a:t>
            </a:r>
          </a:p>
          <a:p>
            <a:r>
              <a:rPr lang="he-IL" b="1" dirty="0"/>
              <a:t>אמצעים טכנולוגיים:</a:t>
            </a:r>
            <a:endParaRPr lang="he-IL" dirty="0"/>
          </a:p>
          <a:p>
            <a:r>
              <a:rPr lang="he-IL" dirty="0"/>
              <a:t>חומות אש מתקדמות: שימוש בחומות אש שתומכות בניתוח עומק של תעבורה, כולל בדיקות לפי פרוטוקולים מתקדמים.</a:t>
            </a:r>
          </a:p>
          <a:p>
            <a:r>
              <a:rPr lang="he-IL" dirty="0"/>
              <a:t>תוכנות לניהול זיהוי ומניעת התקפות</a:t>
            </a:r>
            <a:r>
              <a:rPr lang="en-US" dirty="0"/>
              <a:t>IDS/IPS </a:t>
            </a:r>
            <a:r>
              <a:rPr lang="he-IL" dirty="0"/>
              <a:t>: ניהול כלים לניהול פעילות חריגה ולמניעת התקפות בזמן אמת.</a:t>
            </a:r>
          </a:p>
          <a:p>
            <a:r>
              <a:rPr lang="he-IL" b="1" dirty="0"/>
              <a:t>אמצעים ארגוניים:</a:t>
            </a:r>
            <a:endParaRPr lang="he-IL" dirty="0"/>
          </a:p>
          <a:p>
            <a:r>
              <a:rPr lang="he-IL" dirty="0"/>
              <a:t>הדרכת עובדים: הכשרת צוותים על סיכוני אבטחה וכיצד לזהות התקפות.</a:t>
            </a:r>
          </a:p>
          <a:p>
            <a:r>
              <a:rPr lang="he-IL" dirty="0"/>
              <a:t>מדיניות אבטחה: יצירת מדיניות אבטחה כוללת שמטפלת בכל שלב במודל ה-</a:t>
            </a:r>
            <a:r>
              <a:rPr lang="en-US" dirty="0"/>
              <a:t>Kill Chain </a:t>
            </a:r>
          </a:p>
          <a:p>
            <a:r>
              <a:rPr lang="he-IL" b="1" dirty="0"/>
              <a:t>הנחות טכנולוגיות:</a:t>
            </a:r>
            <a:endParaRPr lang="he-IL" dirty="0"/>
          </a:p>
          <a:p>
            <a:r>
              <a:rPr lang="he-IL" dirty="0"/>
              <a:t>הצפנה: הצפנה של נתונים רגישים ומידע מתקדם למניעת גישה לא מורשית.</a:t>
            </a:r>
          </a:p>
          <a:p>
            <a:r>
              <a:rPr lang="he-IL" dirty="0"/>
              <a:t>ניהול גישה: חיזוק מערכות ניהול גישה כדי לוודא שהגישה למערכות היא רק למורשים.</a:t>
            </a:r>
          </a:p>
          <a:p>
            <a:endParaRPr lang="he-IL" dirty="0"/>
          </a:p>
        </p:txBody>
      </p:sp>
    </p:spTree>
    <p:extLst>
      <p:ext uri="{BB962C8B-B14F-4D97-AF65-F5344CB8AC3E}">
        <p14:creationId xmlns:p14="http://schemas.microsoft.com/office/powerpoint/2010/main" val="81151764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954706E-0B56-4A6B-A787-520972D7BCC2}"/>
              </a:ext>
            </a:extLst>
          </p:cNvPr>
          <p:cNvSpPr>
            <a:spLocks noGrp="1"/>
          </p:cNvSpPr>
          <p:nvPr>
            <p:ph type="title"/>
          </p:nvPr>
        </p:nvSpPr>
        <p:spPr>
          <a:xfrm>
            <a:off x="1172818" y="642594"/>
            <a:ext cx="9952382" cy="1371600"/>
          </a:xfrm>
        </p:spPr>
        <p:txBody>
          <a:bodyPr>
            <a:normAutofit fontScale="90000"/>
          </a:bodyPr>
          <a:lstStyle/>
          <a:p>
            <a:r>
              <a:rPr lang="he-IL" dirty="0"/>
              <a:t>התאוששות מתקיפה -</a:t>
            </a:r>
            <a:r>
              <a:rPr lang="en-US" dirty="0"/>
              <a:t>Incident Response </a:t>
            </a:r>
            <a:endParaRPr lang="he-IL" dirty="0"/>
          </a:p>
        </p:txBody>
      </p:sp>
      <p:sp>
        <p:nvSpPr>
          <p:cNvPr id="3" name="מציין מיקום תוכן 2">
            <a:extLst>
              <a:ext uri="{FF2B5EF4-FFF2-40B4-BE49-F238E27FC236}">
                <a16:creationId xmlns:a16="http://schemas.microsoft.com/office/drawing/2014/main" id="{49ACB1EB-C0EB-45D8-99E5-0B4A1B0BE43D}"/>
              </a:ext>
            </a:extLst>
          </p:cNvPr>
          <p:cNvSpPr>
            <a:spLocks noGrp="1"/>
          </p:cNvSpPr>
          <p:nvPr>
            <p:ph idx="1"/>
          </p:nvPr>
        </p:nvSpPr>
        <p:spPr>
          <a:xfrm>
            <a:off x="1066800" y="2103120"/>
            <a:ext cx="10058400" cy="1842715"/>
          </a:xfrm>
        </p:spPr>
        <p:txBody>
          <a:bodyPr/>
          <a:lstStyle/>
          <a:p>
            <a:r>
              <a:rPr lang="he-IL" b="1" dirty="0"/>
              <a:t>מה זה התאוששות מתקיפה:</a:t>
            </a:r>
          </a:p>
          <a:p>
            <a:r>
              <a:rPr lang="he-IL" dirty="0"/>
              <a:t>התאוששות מתקיפה מתייחסת לסט של תהליכים וצעדים שמבצע ארגון כדי לזהות, לטפל, ולשחזר ממצב של התקפה או הפרת אבטחה. מטרת התהליך היא למזער את הנזק שנגרם ולהחזיר את הארגון לפעולה תקינה בצורה מהירה ויעילה.</a:t>
            </a:r>
          </a:p>
          <a:p>
            <a:endParaRPr lang="he-IL" dirty="0"/>
          </a:p>
          <a:p>
            <a:endParaRPr lang="he-IL" dirty="0"/>
          </a:p>
        </p:txBody>
      </p:sp>
    </p:spTree>
    <p:extLst>
      <p:ext uri="{BB962C8B-B14F-4D97-AF65-F5344CB8AC3E}">
        <p14:creationId xmlns:p14="http://schemas.microsoft.com/office/powerpoint/2010/main" val="236765126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6254BE3-4825-4FB5-9BED-83A2C6EA87CA}"/>
              </a:ext>
            </a:extLst>
          </p:cNvPr>
          <p:cNvSpPr>
            <a:spLocks noGrp="1"/>
          </p:cNvSpPr>
          <p:nvPr>
            <p:ph type="title"/>
          </p:nvPr>
        </p:nvSpPr>
        <p:spPr>
          <a:xfrm>
            <a:off x="3717234" y="642594"/>
            <a:ext cx="7407965" cy="1371600"/>
          </a:xfrm>
        </p:spPr>
        <p:txBody>
          <a:bodyPr/>
          <a:lstStyle/>
          <a:p>
            <a:r>
              <a:rPr lang="he-IL" dirty="0"/>
              <a:t>המשך – התאוששות מתקיפה:</a:t>
            </a:r>
          </a:p>
        </p:txBody>
      </p:sp>
      <p:sp>
        <p:nvSpPr>
          <p:cNvPr id="3" name="מציין מיקום תוכן 2">
            <a:extLst>
              <a:ext uri="{FF2B5EF4-FFF2-40B4-BE49-F238E27FC236}">
                <a16:creationId xmlns:a16="http://schemas.microsoft.com/office/drawing/2014/main" id="{9AB4EC08-A3D4-4937-8D3B-B799CBB9B2D4}"/>
              </a:ext>
            </a:extLst>
          </p:cNvPr>
          <p:cNvSpPr>
            <a:spLocks noGrp="1"/>
          </p:cNvSpPr>
          <p:nvPr>
            <p:ph idx="1"/>
          </p:nvPr>
        </p:nvSpPr>
        <p:spPr>
          <a:xfrm>
            <a:off x="1066800" y="1848679"/>
            <a:ext cx="10058400" cy="4681330"/>
          </a:xfrm>
        </p:spPr>
        <p:txBody>
          <a:bodyPr/>
          <a:lstStyle/>
          <a:p>
            <a:r>
              <a:rPr lang="he-IL" sz="2000" b="1" u="sng" dirty="0"/>
              <a:t>שלבי התאוששות מתקיפה:</a:t>
            </a:r>
          </a:p>
          <a:p>
            <a:r>
              <a:rPr lang="he-IL" b="1" dirty="0"/>
              <a:t>1. תכנון וארגון </a:t>
            </a:r>
            <a:r>
              <a:rPr lang="en-US" b="1" dirty="0"/>
              <a:t>Preparation</a:t>
            </a:r>
            <a:endParaRPr lang="en-US" dirty="0"/>
          </a:p>
          <a:p>
            <a:pPr lvl="1"/>
            <a:r>
              <a:rPr lang="he-IL" dirty="0"/>
              <a:t>מה זה? שלב שבו הארגון מכין </a:t>
            </a:r>
            <a:r>
              <a:rPr lang="he-IL" dirty="0" err="1"/>
              <a:t>תוכניות</a:t>
            </a:r>
            <a:r>
              <a:rPr lang="he-IL" dirty="0"/>
              <a:t> פעולה, מיישם מדיניות אבטחה, ומבצע הדרכות לצוותי אבטחה.</a:t>
            </a:r>
          </a:p>
          <a:p>
            <a:pPr lvl="1"/>
            <a:r>
              <a:rPr lang="he-IL" dirty="0"/>
              <a:t>דוגמה: יצירת </a:t>
            </a:r>
            <a:r>
              <a:rPr lang="he-IL" dirty="0" err="1"/>
              <a:t>תוכנית</a:t>
            </a:r>
            <a:r>
              <a:rPr lang="he-IL" dirty="0"/>
              <a:t> תגובה לאירועים שמפרטת את הצעדים שיש לבצע במקרה של התקפה, כגון ניהול יומני פעילות, הכנת כלים לפיקוח, והדרכת צוותים.</a:t>
            </a:r>
          </a:p>
          <a:p>
            <a:r>
              <a:rPr lang="he-IL" b="1" dirty="0"/>
              <a:t>2. זיהוי </a:t>
            </a:r>
            <a:r>
              <a:rPr lang="en-US" b="1" dirty="0"/>
              <a:t>Identification</a:t>
            </a:r>
            <a:endParaRPr lang="en-US" dirty="0"/>
          </a:p>
          <a:p>
            <a:pPr lvl="1"/>
            <a:r>
              <a:rPr lang="he-IL" dirty="0"/>
              <a:t>מה זה? שלב שבו הארגון מזהה ומאמת שהתרחשה התקפה או אירוע אבטחה.</a:t>
            </a:r>
          </a:p>
          <a:p>
            <a:pPr lvl="1"/>
            <a:r>
              <a:rPr lang="he-IL" dirty="0"/>
              <a:t>דוגמה: צוות האבטחה מקבל התראה ממערכת </a:t>
            </a:r>
            <a:r>
              <a:rPr lang="en-US" dirty="0"/>
              <a:t>IDS/IPS </a:t>
            </a:r>
            <a:r>
              <a:rPr lang="he-IL" dirty="0"/>
              <a:t> על פעילות חריגה ומבצע ניתוח ראשוני כדי לוודא שמדובר בהתקפה </a:t>
            </a:r>
            <a:r>
              <a:rPr lang="he-IL" dirty="0" err="1"/>
              <a:t>אמיתית</a:t>
            </a:r>
            <a:r>
              <a:rPr lang="he-IL" dirty="0"/>
              <a:t> ולא באירוע שווא.</a:t>
            </a:r>
          </a:p>
          <a:p>
            <a:r>
              <a:rPr lang="he-IL" b="1" dirty="0"/>
              <a:t>3. תגובה </a:t>
            </a:r>
            <a:r>
              <a:rPr lang="en-US" b="1" dirty="0"/>
              <a:t>Containment</a:t>
            </a:r>
            <a:endParaRPr lang="en-US" dirty="0"/>
          </a:p>
          <a:p>
            <a:pPr lvl="1"/>
            <a:r>
              <a:rPr lang="he-IL" dirty="0"/>
              <a:t>מה זה? שלב שבו הארגון נוקט בפעולות כדי לעצור את ההתקפה ולמנוע ממנה להתפשט.</a:t>
            </a:r>
          </a:p>
          <a:p>
            <a:pPr lvl="1"/>
            <a:r>
              <a:rPr lang="he-IL" dirty="0"/>
              <a:t>דוגמה: ניתוק מחשבים מזוהמים מהרשת כדי למנוע התפשטות של תוכנה זדונית ושחזור גיבויים.</a:t>
            </a:r>
          </a:p>
          <a:p>
            <a:endParaRPr lang="he-IL" dirty="0"/>
          </a:p>
        </p:txBody>
      </p:sp>
    </p:spTree>
    <p:extLst>
      <p:ext uri="{BB962C8B-B14F-4D97-AF65-F5344CB8AC3E}">
        <p14:creationId xmlns:p14="http://schemas.microsoft.com/office/powerpoint/2010/main" val="221107027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58E69D3-D6F4-4529-9A13-547908904027}"/>
              </a:ext>
            </a:extLst>
          </p:cNvPr>
          <p:cNvSpPr>
            <a:spLocks noGrp="1"/>
          </p:cNvSpPr>
          <p:nvPr>
            <p:ph type="title"/>
          </p:nvPr>
        </p:nvSpPr>
        <p:spPr>
          <a:xfrm>
            <a:off x="3667538" y="642594"/>
            <a:ext cx="7457661" cy="1371600"/>
          </a:xfrm>
        </p:spPr>
        <p:txBody>
          <a:bodyPr/>
          <a:lstStyle/>
          <a:p>
            <a:r>
              <a:rPr lang="he-IL" dirty="0"/>
              <a:t>המשך – התאוששות מתקיפה:</a:t>
            </a:r>
          </a:p>
        </p:txBody>
      </p:sp>
      <p:sp>
        <p:nvSpPr>
          <p:cNvPr id="3" name="מציין מיקום תוכן 2">
            <a:extLst>
              <a:ext uri="{FF2B5EF4-FFF2-40B4-BE49-F238E27FC236}">
                <a16:creationId xmlns:a16="http://schemas.microsoft.com/office/drawing/2014/main" id="{F87D323D-5D54-4C35-AE66-35FC35FAD320}"/>
              </a:ext>
            </a:extLst>
          </p:cNvPr>
          <p:cNvSpPr>
            <a:spLocks noGrp="1"/>
          </p:cNvSpPr>
          <p:nvPr>
            <p:ph idx="1"/>
          </p:nvPr>
        </p:nvSpPr>
        <p:spPr/>
        <p:txBody>
          <a:bodyPr>
            <a:normAutofit fontScale="92500" lnSpcReduction="20000"/>
          </a:bodyPr>
          <a:lstStyle/>
          <a:p>
            <a:r>
              <a:rPr lang="he-IL" sz="2000" b="1" u="sng" dirty="0"/>
              <a:t>המשך שלבי התאוששות מתקיפה:</a:t>
            </a:r>
          </a:p>
          <a:p>
            <a:r>
              <a:rPr lang="he-IL" b="1" dirty="0"/>
              <a:t>4. תחקור </a:t>
            </a:r>
            <a:r>
              <a:rPr lang="en-US" b="1" dirty="0"/>
              <a:t>Eradication</a:t>
            </a:r>
            <a:endParaRPr lang="en-US" dirty="0"/>
          </a:p>
          <a:p>
            <a:r>
              <a:rPr lang="he-IL" dirty="0"/>
              <a:t>מה זה? שלב שבו הארגון מסלק את הגורם להתקפה ומבצע פעולות לתיקון הבעיות שהתגלו.</a:t>
            </a:r>
          </a:p>
          <a:p>
            <a:r>
              <a:rPr lang="he-IL" dirty="0"/>
              <a:t>דוגמה: הסרת תוכנות זדוניות מהמחשבים ושדרוג תוכנה שנוצלה במהלך ההתקפה.</a:t>
            </a:r>
          </a:p>
          <a:p>
            <a:r>
              <a:rPr lang="he-IL" b="1" dirty="0"/>
              <a:t>5. שחזור </a:t>
            </a:r>
            <a:r>
              <a:rPr lang="en-US" b="1" dirty="0"/>
              <a:t>Recovery</a:t>
            </a:r>
            <a:endParaRPr lang="en-US" dirty="0"/>
          </a:p>
          <a:p>
            <a:r>
              <a:rPr lang="he-IL" dirty="0"/>
              <a:t>מה זה? שלב שבו הארגון מחזיר את המערכות לפעולה רגילה ומוודא שאין סיכון נוסף.</a:t>
            </a:r>
          </a:p>
          <a:p>
            <a:r>
              <a:rPr lang="he-IL" dirty="0"/>
              <a:t>דוגמה: החזרת נתונים מגיבוי ופתיחה מחדש של מערכות שהיו מנותקות בזמן ההתקפה, תוך פיקוח על פעילות לא רגילה.</a:t>
            </a:r>
          </a:p>
          <a:p>
            <a:r>
              <a:rPr lang="he-IL" b="1" dirty="0"/>
              <a:t>6. למידה ושיפור </a:t>
            </a:r>
            <a:r>
              <a:rPr lang="en-US" b="1" dirty="0"/>
              <a:t>Lessons Learned</a:t>
            </a:r>
            <a:endParaRPr lang="en-US" dirty="0"/>
          </a:p>
          <a:p>
            <a:r>
              <a:rPr lang="he-IL" dirty="0"/>
              <a:t>מה זה? שלב שבו הארגון בוחן את האירוע, מנתח את הלקחים שנלמדו ומבצע שיפורים בתוכניות התגובה לאירועים.</a:t>
            </a:r>
          </a:p>
          <a:p>
            <a:r>
              <a:rPr lang="he-IL" dirty="0"/>
              <a:t>דוגמה: עריכת ישיבת סיכום עם כל הגורמים המעורבים בהתקפה כדי להבין מה נלמד מהאירוע ולבצע שינויים במדיניות ובתוכניות כדי למנוע התקפות דומות בעתיד</a:t>
            </a:r>
          </a:p>
          <a:p>
            <a:endParaRPr lang="he-IL" dirty="0"/>
          </a:p>
          <a:p>
            <a:endParaRPr lang="he-IL" dirty="0"/>
          </a:p>
        </p:txBody>
      </p:sp>
    </p:spTree>
    <p:extLst>
      <p:ext uri="{BB962C8B-B14F-4D97-AF65-F5344CB8AC3E}">
        <p14:creationId xmlns:p14="http://schemas.microsoft.com/office/powerpoint/2010/main" val="45236028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65AAEFD-8313-4092-9BD4-3162D768EBC1}"/>
              </a:ext>
            </a:extLst>
          </p:cNvPr>
          <p:cNvSpPr>
            <a:spLocks noGrp="1"/>
          </p:cNvSpPr>
          <p:nvPr>
            <p:ph type="title"/>
          </p:nvPr>
        </p:nvSpPr>
        <p:spPr>
          <a:xfrm>
            <a:off x="3766930" y="642594"/>
            <a:ext cx="7358270" cy="1371600"/>
          </a:xfrm>
        </p:spPr>
        <p:txBody>
          <a:bodyPr/>
          <a:lstStyle/>
          <a:p>
            <a:r>
              <a:rPr lang="he-IL" dirty="0"/>
              <a:t>המשך – התאוששות מתקיפה:</a:t>
            </a:r>
          </a:p>
        </p:txBody>
      </p:sp>
      <p:sp>
        <p:nvSpPr>
          <p:cNvPr id="3" name="מציין מיקום תוכן 2">
            <a:extLst>
              <a:ext uri="{FF2B5EF4-FFF2-40B4-BE49-F238E27FC236}">
                <a16:creationId xmlns:a16="http://schemas.microsoft.com/office/drawing/2014/main" id="{90D899AE-30DC-4363-B715-C7083D739B25}"/>
              </a:ext>
            </a:extLst>
          </p:cNvPr>
          <p:cNvSpPr>
            <a:spLocks noGrp="1"/>
          </p:cNvSpPr>
          <p:nvPr>
            <p:ph idx="1"/>
          </p:nvPr>
        </p:nvSpPr>
        <p:spPr/>
        <p:txBody>
          <a:bodyPr/>
          <a:lstStyle/>
          <a:p>
            <a:r>
              <a:rPr lang="he-IL" b="1" dirty="0"/>
              <a:t>דוגמא א: </a:t>
            </a:r>
            <a:r>
              <a:rPr lang="he-IL" dirty="0"/>
              <a:t>חברת תקשורת גדולה גילתה ביום שישי בערב שהמערכת שלה נפרצה על ידי תוכנה זדונית. שלב התכנון והארגון של החברה כלל תגובה מהירה, ולכן הצוות ידע בדיוק מה לעשות. הם זיהו את ההתקפה באמצעות התראות ממערכת</a:t>
            </a:r>
            <a:r>
              <a:rPr lang="en-US" dirty="0"/>
              <a:t>IDS </a:t>
            </a:r>
            <a:r>
              <a:rPr lang="he-IL" dirty="0"/>
              <a:t> ולאחר מכן נקטו בפעולות </a:t>
            </a:r>
            <a:r>
              <a:rPr lang="he-IL" dirty="0" err="1"/>
              <a:t>מיידיות</a:t>
            </a:r>
            <a:r>
              <a:rPr lang="he-IL" dirty="0"/>
              <a:t> כדי לנקות את המערכות מהתוכנה הזדונית ולבודד את המחשבים הנגועים. ביום שבת, הצוות שחזר את הנתונים מגיבוי והתחיל בתהליך למידה ושיפור, שהוביל לשיפורים במערכת האבטחה כדי למנוע תקיפות דומות בעתיד.</a:t>
            </a:r>
          </a:p>
          <a:p>
            <a:r>
              <a:rPr lang="he-IL" b="1" dirty="0"/>
              <a:t>דוגמא ב: </a:t>
            </a:r>
            <a:r>
              <a:rPr lang="he-IL" dirty="0"/>
              <a:t>בחברת פיננסים נתקלו בהתקפה מתואמת שבה נגנב מידע רגיש של לקוחות. בשלב הזיהוי, הצוותים גילו את ההתקפה דרך ניטור פעילות חריגה ברשת. במהלך שלב התגובה, הם מיהרו לנתק את המערכות שנפגעו ולבצע ניתוח של המידע הנגנב. לאחר סילוק הגורמים להתקפה, הם החזירו את המערכות לפעולה רגילה ושיפרו את מערכות האבטחה בהתאם ללקחים שנלמדו מהאירוע.</a:t>
            </a:r>
          </a:p>
          <a:p>
            <a:endParaRPr lang="he-IL" dirty="0"/>
          </a:p>
        </p:txBody>
      </p:sp>
    </p:spTree>
    <p:extLst>
      <p:ext uri="{BB962C8B-B14F-4D97-AF65-F5344CB8AC3E}">
        <p14:creationId xmlns:p14="http://schemas.microsoft.com/office/powerpoint/2010/main" val="355736474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910ADD5-ECD8-4B93-8630-C867BD9FB290}"/>
              </a:ext>
            </a:extLst>
          </p:cNvPr>
          <p:cNvSpPr>
            <a:spLocks noGrp="1"/>
          </p:cNvSpPr>
          <p:nvPr>
            <p:ph type="title"/>
          </p:nvPr>
        </p:nvSpPr>
        <p:spPr>
          <a:xfrm>
            <a:off x="3707296" y="642594"/>
            <a:ext cx="7417904" cy="1371600"/>
          </a:xfrm>
        </p:spPr>
        <p:txBody>
          <a:bodyPr/>
          <a:lstStyle/>
          <a:p>
            <a:r>
              <a:rPr lang="he-IL" dirty="0"/>
              <a:t>המשך – התאוששות מתקיפה:</a:t>
            </a:r>
          </a:p>
        </p:txBody>
      </p:sp>
      <p:sp>
        <p:nvSpPr>
          <p:cNvPr id="3" name="מציין מיקום תוכן 2">
            <a:extLst>
              <a:ext uri="{FF2B5EF4-FFF2-40B4-BE49-F238E27FC236}">
                <a16:creationId xmlns:a16="http://schemas.microsoft.com/office/drawing/2014/main" id="{6D1C71AE-8087-443D-85C4-686B0F6E6CD2}"/>
              </a:ext>
            </a:extLst>
          </p:cNvPr>
          <p:cNvSpPr>
            <a:spLocks noGrp="1"/>
          </p:cNvSpPr>
          <p:nvPr>
            <p:ph idx="1"/>
          </p:nvPr>
        </p:nvSpPr>
        <p:spPr/>
        <p:txBody>
          <a:bodyPr>
            <a:normAutofit fontScale="92500" lnSpcReduction="20000"/>
          </a:bodyPr>
          <a:lstStyle/>
          <a:p>
            <a:r>
              <a:rPr lang="he-IL" b="1" dirty="0"/>
              <a:t>1. </a:t>
            </a:r>
            <a:r>
              <a:rPr lang="he-IL" sz="2200" b="1" u="sng" dirty="0"/>
              <a:t>פרטי שלבי ההתאוששות מתקיפה</a:t>
            </a:r>
          </a:p>
          <a:p>
            <a:r>
              <a:rPr lang="he-IL" b="1" dirty="0"/>
              <a:t>תכנון וארגון </a:t>
            </a:r>
            <a:r>
              <a:rPr lang="en-US" b="1" dirty="0"/>
              <a:t>Preparation</a:t>
            </a:r>
            <a:endParaRPr lang="en-US" dirty="0"/>
          </a:p>
          <a:p>
            <a:r>
              <a:rPr lang="he-IL" dirty="0"/>
              <a:t>הקמת צוות תגובה לאירועים: צוות המורכב מאנשי מקצוע כמו מנהלי אבטחת מידע, אנשי </a:t>
            </a:r>
            <a:r>
              <a:rPr lang="en-US" dirty="0"/>
              <a:t>IT</a:t>
            </a:r>
            <a:r>
              <a:rPr lang="he-IL" dirty="0"/>
              <a:t> עורכי דין ואנשי תקשורת.</a:t>
            </a:r>
          </a:p>
          <a:p>
            <a:r>
              <a:rPr lang="he-IL" dirty="0"/>
              <a:t>הכנת </a:t>
            </a:r>
            <a:r>
              <a:rPr lang="he-IL" dirty="0" err="1"/>
              <a:t>תוכניות</a:t>
            </a:r>
            <a:r>
              <a:rPr lang="he-IL" dirty="0"/>
              <a:t> פעולה וגיבוי: </a:t>
            </a:r>
            <a:r>
              <a:rPr lang="he-IL" dirty="0" err="1"/>
              <a:t>תוכניות</a:t>
            </a:r>
            <a:r>
              <a:rPr lang="he-IL" dirty="0"/>
              <a:t> פעולה מפורטות לגיבוי ושחזור נתונים, כולל תיעוד של כל שלב בתהליך.</a:t>
            </a:r>
          </a:p>
          <a:p>
            <a:r>
              <a:rPr lang="he-IL" dirty="0"/>
              <a:t>ביצוע תרגולים: תרגול התגובה לאירועים בתנאים שונים כדי לוודא שהצוות מוכן למקרי חירום.</a:t>
            </a:r>
          </a:p>
          <a:p>
            <a:r>
              <a:rPr lang="he-IL" b="1" dirty="0"/>
              <a:t>זיהוי </a:t>
            </a:r>
            <a:r>
              <a:rPr lang="en-US" b="1" dirty="0"/>
              <a:t>Identification</a:t>
            </a:r>
            <a:endParaRPr lang="en-US" dirty="0"/>
          </a:p>
          <a:p>
            <a:r>
              <a:rPr lang="he-IL" dirty="0"/>
              <a:t>ניתוח יומני רשת: בדיקה של יומני רשת כדי לזהות תעבורה חשודה או חריגה.</a:t>
            </a:r>
          </a:p>
          <a:p>
            <a:r>
              <a:rPr lang="he-IL" dirty="0"/>
              <a:t>שימוש בכלים אוטומטיים: כלים כמו </a:t>
            </a:r>
            <a:r>
              <a:rPr lang="en-US" dirty="0"/>
              <a:t> SIEM</a:t>
            </a:r>
            <a:r>
              <a:rPr lang="he-IL" dirty="0"/>
              <a:t>לניתוח ולזיהוי אוטומטי של איומים.</a:t>
            </a:r>
          </a:p>
          <a:p>
            <a:r>
              <a:rPr lang="he-IL" b="1" dirty="0"/>
              <a:t>תגובה </a:t>
            </a:r>
            <a:r>
              <a:rPr lang="en-US" b="1" dirty="0"/>
              <a:t>Containment</a:t>
            </a:r>
            <a:endParaRPr lang="en-US" dirty="0"/>
          </a:p>
          <a:p>
            <a:r>
              <a:rPr lang="he-IL" dirty="0"/>
              <a:t>הגבלת התפשטות התקפה: שמירה על הרשת המקומית או החיצונית כדי למנוע התפשטות.</a:t>
            </a:r>
          </a:p>
          <a:p>
            <a:r>
              <a:rPr lang="he-IL" dirty="0"/>
              <a:t>הקפאת גישת התוקף: ניתוק המערכת מהאינטרנט או חסימת כתובות </a:t>
            </a:r>
            <a:r>
              <a:rPr lang="en-US" dirty="0"/>
              <a:t> IP</a:t>
            </a:r>
            <a:r>
              <a:rPr lang="he-IL" dirty="0"/>
              <a:t>חשודות כדי למנוע גישה נוספת.</a:t>
            </a:r>
          </a:p>
          <a:p>
            <a:endParaRPr lang="he-IL" dirty="0"/>
          </a:p>
        </p:txBody>
      </p:sp>
    </p:spTree>
    <p:extLst>
      <p:ext uri="{BB962C8B-B14F-4D97-AF65-F5344CB8AC3E}">
        <p14:creationId xmlns:p14="http://schemas.microsoft.com/office/powerpoint/2010/main" val="99728274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775EB49-9368-4A87-8429-1DB319B45CF4}"/>
              </a:ext>
            </a:extLst>
          </p:cNvPr>
          <p:cNvSpPr>
            <a:spLocks noGrp="1"/>
          </p:cNvSpPr>
          <p:nvPr>
            <p:ph type="title"/>
          </p:nvPr>
        </p:nvSpPr>
        <p:spPr>
          <a:xfrm>
            <a:off x="3717234" y="642594"/>
            <a:ext cx="7407965" cy="1371600"/>
          </a:xfrm>
        </p:spPr>
        <p:txBody>
          <a:bodyPr/>
          <a:lstStyle/>
          <a:p>
            <a:r>
              <a:rPr lang="he-IL" dirty="0"/>
              <a:t>המשך – התאוששות מתקיפה:</a:t>
            </a:r>
          </a:p>
        </p:txBody>
      </p:sp>
      <p:sp>
        <p:nvSpPr>
          <p:cNvPr id="3" name="מציין מיקום תוכן 2">
            <a:extLst>
              <a:ext uri="{FF2B5EF4-FFF2-40B4-BE49-F238E27FC236}">
                <a16:creationId xmlns:a16="http://schemas.microsoft.com/office/drawing/2014/main" id="{370782FD-EA8A-49DB-814F-75121B2B0D42}"/>
              </a:ext>
            </a:extLst>
          </p:cNvPr>
          <p:cNvSpPr>
            <a:spLocks noGrp="1"/>
          </p:cNvSpPr>
          <p:nvPr>
            <p:ph idx="1"/>
          </p:nvPr>
        </p:nvSpPr>
        <p:spPr/>
        <p:txBody>
          <a:bodyPr/>
          <a:lstStyle/>
          <a:p>
            <a:r>
              <a:rPr lang="he-IL" sz="2000" b="1" u="sng" dirty="0"/>
              <a:t>המשך פרטי שלבי ההתאוששות מתקיפה:</a:t>
            </a:r>
          </a:p>
          <a:p>
            <a:r>
              <a:rPr lang="he-IL" b="1" dirty="0"/>
              <a:t>תחקור </a:t>
            </a:r>
            <a:r>
              <a:rPr lang="en-US" b="1" dirty="0"/>
              <a:t>Eradication</a:t>
            </a:r>
            <a:endParaRPr lang="en-US" dirty="0"/>
          </a:p>
          <a:p>
            <a:r>
              <a:rPr lang="he-IL" dirty="0"/>
              <a:t>בדיקת מערכות: סריקות להבטחת סילוק כל תוכן זדוני ותוכנה נגועה.</a:t>
            </a:r>
          </a:p>
          <a:p>
            <a:r>
              <a:rPr lang="he-IL" dirty="0"/>
              <a:t>תיקון חולשות: תיקון כל חולשות שהתגלו במהלך התקפה כדי למנוע התקפות נוספות.</a:t>
            </a:r>
          </a:p>
          <a:p>
            <a:r>
              <a:rPr lang="he-IL" b="1" dirty="0"/>
              <a:t>שחזור </a:t>
            </a:r>
            <a:r>
              <a:rPr lang="en-US" b="1" dirty="0"/>
              <a:t>Recovery</a:t>
            </a:r>
            <a:endParaRPr lang="en-US" dirty="0"/>
          </a:p>
          <a:p>
            <a:r>
              <a:rPr lang="he-IL" dirty="0"/>
              <a:t>שחזור נתונים: החזרת הנתונים הנגועים מגיבוי ותיקון המערכות שנפגעו.</a:t>
            </a:r>
          </a:p>
          <a:p>
            <a:r>
              <a:rPr lang="he-IL" dirty="0"/>
              <a:t>בדיקות תקינות: לוודא שהמערכות חזרו לפעולה תקינה ושאין סיכונים נוספים.</a:t>
            </a:r>
          </a:p>
          <a:p>
            <a:r>
              <a:rPr lang="he-IL" b="1" dirty="0"/>
              <a:t>למידה ושיפור </a:t>
            </a:r>
            <a:r>
              <a:rPr lang="en-US" b="1" dirty="0"/>
              <a:t>Lessons Learned</a:t>
            </a:r>
            <a:endParaRPr lang="en-US" dirty="0"/>
          </a:p>
          <a:p>
            <a:r>
              <a:rPr lang="he-IL" dirty="0"/>
              <a:t>דו"ח סיכום: כתיבת דו"ח מפורט על האירוע, התגובה והלקחים שנלמדו.</a:t>
            </a:r>
          </a:p>
          <a:p>
            <a:r>
              <a:rPr lang="he-IL" dirty="0"/>
              <a:t>הערכת תהליך: ניתוח התהליך והפקת לקחים לשיפור </a:t>
            </a:r>
            <a:r>
              <a:rPr lang="he-IL" dirty="0" err="1"/>
              <a:t>תוכניות</a:t>
            </a:r>
            <a:r>
              <a:rPr lang="he-IL" dirty="0"/>
              <a:t> אבטחה ותגובה עתידיות.</a:t>
            </a:r>
          </a:p>
          <a:p>
            <a:endParaRPr lang="he-IL" dirty="0"/>
          </a:p>
          <a:p>
            <a:endParaRPr lang="he-IL" dirty="0"/>
          </a:p>
          <a:p>
            <a:endParaRPr lang="he-IL" dirty="0"/>
          </a:p>
        </p:txBody>
      </p:sp>
    </p:spTree>
    <p:extLst>
      <p:ext uri="{BB962C8B-B14F-4D97-AF65-F5344CB8AC3E}">
        <p14:creationId xmlns:p14="http://schemas.microsoft.com/office/powerpoint/2010/main" val="330423230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4199764-B7F8-4E46-8DB1-133385F17D5B}"/>
              </a:ext>
            </a:extLst>
          </p:cNvPr>
          <p:cNvSpPr>
            <a:spLocks noGrp="1"/>
          </p:cNvSpPr>
          <p:nvPr>
            <p:ph type="title"/>
          </p:nvPr>
        </p:nvSpPr>
        <p:spPr>
          <a:xfrm>
            <a:off x="3657600" y="642594"/>
            <a:ext cx="7467600" cy="1371600"/>
          </a:xfrm>
        </p:spPr>
        <p:txBody>
          <a:bodyPr/>
          <a:lstStyle/>
          <a:p>
            <a:r>
              <a:rPr lang="he-IL" dirty="0"/>
              <a:t>המשך – התאוששות מתקיפה:</a:t>
            </a:r>
          </a:p>
        </p:txBody>
      </p:sp>
      <p:sp>
        <p:nvSpPr>
          <p:cNvPr id="3" name="מציין מיקום תוכן 2">
            <a:extLst>
              <a:ext uri="{FF2B5EF4-FFF2-40B4-BE49-F238E27FC236}">
                <a16:creationId xmlns:a16="http://schemas.microsoft.com/office/drawing/2014/main" id="{7E774212-E461-4225-9857-2D3C7AD604CE}"/>
              </a:ext>
            </a:extLst>
          </p:cNvPr>
          <p:cNvSpPr>
            <a:spLocks noGrp="1"/>
          </p:cNvSpPr>
          <p:nvPr>
            <p:ph idx="1"/>
          </p:nvPr>
        </p:nvSpPr>
        <p:spPr/>
        <p:txBody>
          <a:bodyPr>
            <a:normAutofit lnSpcReduction="10000"/>
          </a:bodyPr>
          <a:lstStyle/>
          <a:p>
            <a:r>
              <a:rPr lang="he-IL" b="1" dirty="0"/>
              <a:t>2. טכניקות מתקדמות להתאוששות מתקיפה</a:t>
            </a:r>
          </a:p>
          <a:p>
            <a:r>
              <a:rPr lang="he-IL" b="1" dirty="0"/>
              <a:t>שימוש באינטליגנציה מלאכותית </a:t>
            </a:r>
            <a:r>
              <a:rPr lang="en-US" b="1" dirty="0"/>
              <a:t>AI</a:t>
            </a:r>
            <a:endParaRPr lang="en-US" dirty="0"/>
          </a:p>
          <a:p>
            <a:r>
              <a:rPr lang="he-IL" dirty="0"/>
              <a:t>מה זה? שימוש באלגוריתמים של</a:t>
            </a:r>
            <a:r>
              <a:rPr lang="en-US" dirty="0"/>
              <a:t>AI </a:t>
            </a:r>
            <a:r>
              <a:rPr lang="he-IL" dirty="0"/>
              <a:t> כדי לנתח נתונים ולזהות איומים בצורה אוטומטית ומתקדמת.</a:t>
            </a:r>
          </a:p>
          <a:p>
            <a:r>
              <a:rPr lang="he-IL" dirty="0"/>
              <a:t>דוגמה: תוכנות </a:t>
            </a:r>
            <a:r>
              <a:rPr lang="en-US" dirty="0"/>
              <a:t>AI </a:t>
            </a:r>
            <a:r>
              <a:rPr lang="he-IL" dirty="0"/>
              <a:t> לניתוח התנהגות המשתמשים ולזיהוי התנהגויות חריגות בזמן אמת.</a:t>
            </a:r>
          </a:p>
          <a:p>
            <a:r>
              <a:rPr lang="he-IL" b="1" dirty="0"/>
              <a:t>התקפות מתואמות </a:t>
            </a:r>
            <a:r>
              <a:rPr lang="en-US" b="1" dirty="0"/>
              <a:t>Advanced Persistent Threats - APT</a:t>
            </a:r>
            <a:endParaRPr lang="en-US" dirty="0"/>
          </a:p>
          <a:p>
            <a:r>
              <a:rPr lang="he-IL" dirty="0"/>
              <a:t>מה זה? התקפות שמבוצעות בצורה מתואמת וממושכת על מנת לחדור למערכת ולהשתלט עליה.</a:t>
            </a:r>
          </a:p>
          <a:p>
            <a:r>
              <a:rPr lang="he-IL" dirty="0"/>
              <a:t>דוגמה: קבוצת תוקפים המספרת פעולות במהלך תקופה ארוכה, כמו חטיפת נתונים רגישים או זיהוי חולשות מערכות.</a:t>
            </a:r>
          </a:p>
          <a:p>
            <a:r>
              <a:rPr lang="he-IL" b="1" dirty="0"/>
              <a:t>התקפות על מכשירים ניידים </a:t>
            </a:r>
            <a:r>
              <a:rPr lang="en-US" b="1" dirty="0"/>
              <a:t>Mobile Device Attacks</a:t>
            </a:r>
            <a:endParaRPr lang="en-US" dirty="0"/>
          </a:p>
          <a:p>
            <a:r>
              <a:rPr lang="he-IL" dirty="0"/>
              <a:t>מה זה? ניצול חולשות במכשירים ניידים כדי להיכנס למערכות הארגון.</a:t>
            </a:r>
          </a:p>
          <a:p>
            <a:r>
              <a:rPr lang="he-IL" dirty="0"/>
              <a:t>דוגמה: התקנת תוכנות זדוניות על מכשירים ניידים לגניבת מידע רגיש.</a:t>
            </a:r>
          </a:p>
          <a:p>
            <a:endParaRPr lang="he-IL" dirty="0"/>
          </a:p>
        </p:txBody>
      </p:sp>
    </p:spTree>
    <p:extLst>
      <p:ext uri="{BB962C8B-B14F-4D97-AF65-F5344CB8AC3E}">
        <p14:creationId xmlns:p14="http://schemas.microsoft.com/office/powerpoint/2010/main" val="125756296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8CEE588-C144-442B-B2C3-367489763FF2}"/>
              </a:ext>
            </a:extLst>
          </p:cNvPr>
          <p:cNvSpPr>
            <a:spLocks noGrp="1"/>
          </p:cNvSpPr>
          <p:nvPr>
            <p:ph type="title"/>
          </p:nvPr>
        </p:nvSpPr>
        <p:spPr>
          <a:xfrm>
            <a:off x="3776870" y="642594"/>
            <a:ext cx="7348330" cy="1371600"/>
          </a:xfrm>
        </p:spPr>
        <p:txBody>
          <a:bodyPr/>
          <a:lstStyle/>
          <a:p>
            <a:r>
              <a:rPr lang="he-IL" dirty="0"/>
              <a:t>המשך – התאוששות מתקיפה:</a:t>
            </a:r>
          </a:p>
        </p:txBody>
      </p:sp>
      <p:sp>
        <p:nvSpPr>
          <p:cNvPr id="3" name="מציין מיקום תוכן 2">
            <a:extLst>
              <a:ext uri="{FF2B5EF4-FFF2-40B4-BE49-F238E27FC236}">
                <a16:creationId xmlns:a16="http://schemas.microsoft.com/office/drawing/2014/main" id="{FF118106-370F-4B3D-ACF0-E3D33F7F2D4E}"/>
              </a:ext>
            </a:extLst>
          </p:cNvPr>
          <p:cNvSpPr>
            <a:spLocks noGrp="1"/>
          </p:cNvSpPr>
          <p:nvPr>
            <p:ph idx="1"/>
          </p:nvPr>
        </p:nvSpPr>
        <p:spPr/>
        <p:txBody>
          <a:bodyPr/>
          <a:lstStyle/>
          <a:p>
            <a:r>
              <a:rPr lang="he-IL" b="1" dirty="0"/>
              <a:t>3. כלים וטכניקות נוספים</a:t>
            </a:r>
          </a:p>
          <a:p>
            <a:r>
              <a:rPr lang="he-IL" b="1" dirty="0"/>
              <a:t>כלים לניהול סיכונים </a:t>
            </a:r>
            <a:r>
              <a:rPr lang="en-US" b="1" dirty="0"/>
              <a:t>Risk Management Tools</a:t>
            </a:r>
            <a:endParaRPr lang="en-US" dirty="0"/>
          </a:p>
          <a:p>
            <a:r>
              <a:rPr lang="he-IL" dirty="0"/>
              <a:t>מה זה? כלים המיועדים להעריך ולנהל סיכונים במערכות ובארגון.</a:t>
            </a:r>
          </a:p>
          <a:p>
            <a:r>
              <a:rPr lang="he-IL" dirty="0"/>
              <a:t>דוגמה: כלים לניהול סיכונים כמו</a:t>
            </a:r>
            <a:r>
              <a:rPr lang="en-US" dirty="0"/>
              <a:t>RSA Archer </a:t>
            </a:r>
            <a:r>
              <a:rPr lang="he-IL" dirty="0"/>
              <a:t> שמסייעים בהערכה ומעקב אחר סיכונים פוטנציאליים.</a:t>
            </a:r>
          </a:p>
          <a:p>
            <a:r>
              <a:rPr lang="he-IL" b="1" dirty="0"/>
              <a:t>מערכות ניהול יומנים </a:t>
            </a:r>
            <a:r>
              <a:rPr lang="en-US" b="1" dirty="0"/>
              <a:t>Log Management Systems</a:t>
            </a:r>
            <a:endParaRPr lang="en-US" dirty="0"/>
          </a:p>
          <a:p>
            <a:r>
              <a:rPr lang="he-IL" dirty="0"/>
              <a:t>מה זה? מערכות שמרכזות ומנהלות את כל היומנים של המערכות והאפליקציות.</a:t>
            </a:r>
          </a:p>
          <a:p>
            <a:r>
              <a:rPr lang="he-IL" dirty="0"/>
              <a:t>דוגמה: כלים כמו </a:t>
            </a:r>
            <a:r>
              <a:rPr lang="en-US" dirty="0"/>
              <a:t>Splunk</a:t>
            </a:r>
            <a:r>
              <a:rPr lang="he-IL" dirty="0"/>
              <a:t> ו-</a:t>
            </a:r>
            <a:r>
              <a:rPr lang="en-US" dirty="0"/>
              <a:t> ELK Stack </a:t>
            </a:r>
            <a:r>
              <a:rPr lang="he-IL" dirty="0"/>
              <a:t>לניהול ולניתוח יומני פעילות.</a:t>
            </a:r>
          </a:p>
          <a:p>
            <a:r>
              <a:rPr lang="he-IL" b="1" dirty="0"/>
              <a:t>תוכנות לניהול אירועים </a:t>
            </a:r>
            <a:r>
              <a:rPr lang="en-US" b="1" dirty="0"/>
              <a:t>Incident Management Software</a:t>
            </a:r>
            <a:endParaRPr lang="en-US" dirty="0"/>
          </a:p>
          <a:p>
            <a:r>
              <a:rPr lang="he-IL" dirty="0"/>
              <a:t>מה זה? תוכנות המסייעות בניהול ותיעוד של אירועים ואיומים.</a:t>
            </a:r>
          </a:p>
          <a:p>
            <a:r>
              <a:rPr lang="he-IL" dirty="0"/>
              <a:t>דוגמה: פתרונות כמו</a:t>
            </a:r>
            <a:r>
              <a:rPr lang="en-US" dirty="0"/>
              <a:t>ServiceNow </a:t>
            </a:r>
            <a:r>
              <a:rPr lang="he-IL" dirty="0"/>
              <a:t> ו-</a:t>
            </a:r>
            <a:r>
              <a:rPr lang="en-US" dirty="0"/>
              <a:t> JIRA </a:t>
            </a:r>
            <a:r>
              <a:rPr lang="he-IL" dirty="0"/>
              <a:t>לניהול תקלות ואירועים.</a:t>
            </a:r>
          </a:p>
          <a:p>
            <a:endParaRPr lang="he-IL" dirty="0"/>
          </a:p>
        </p:txBody>
      </p:sp>
    </p:spTree>
    <p:extLst>
      <p:ext uri="{BB962C8B-B14F-4D97-AF65-F5344CB8AC3E}">
        <p14:creationId xmlns:p14="http://schemas.microsoft.com/office/powerpoint/2010/main" val="305992820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C88EE8A-9339-4E82-B3F7-DD12298C2646}"/>
              </a:ext>
            </a:extLst>
          </p:cNvPr>
          <p:cNvSpPr>
            <a:spLocks noGrp="1"/>
          </p:cNvSpPr>
          <p:nvPr>
            <p:ph type="title"/>
          </p:nvPr>
        </p:nvSpPr>
        <p:spPr>
          <a:xfrm>
            <a:off x="3677478" y="642594"/>
            <a:ext cx="7447722" cy="1371600"/>
          </a:xfrm>
        </p:spPr>
        <p:txBody>
          <a:bodyPr/>
          <a:lstStyle/>
          <a:p>
            <a:r>
              <a:rPr lang="he-IL" dirty="0"/>
              <a:t>המשך – התאוששות מתקיפה:</a:t>
            </a:r>
          </a:p>
        </p:txBody>
      </p:sp>
      <p:sp>
        <p:nvSpPr>
          <p:cNvPr id="3" name="מציין מיקום תוכן 2">
            <a:extLst>
              <a:ext uri="{FF2B5EF4-FFF2-40B4-BE49-F238E27FC236}">
                <a16:creationId xmlns:a16="http://schemas.microsoft.com/office/drawing/2014/main" id="{9B02EC10-006E-4C74-A131-9C4A340A4C0B}"/>
              </a:ext>
            </a:extLst>
          </p:cNvPr>
          <p:cNvSpPr>
            <a:spLocks noGrp="1"/>
          </p:cNvSpPr>
          <p:nvPr>
            <p:ph idx="1"/>
          </p:nvPr>
        </p:nvSpPr>
        <p:spPr/>
        <p:txBody>
          <a:bodyPr/>
          <a:lstStyle/>
          <a:p>
            <a:r>
              <a:rPr lang="he-IL" dirty="0"/>
              <a:t>שאלות:</a:t>
            </a:r>
          </a:p>
          <a:p>
            <a:r>
              <a:rPr lang="he-IL" dirty="0"/>
              <a:t>1. מהו שלב ה"תכנון וארגון" בתהליך ההתאוששות מתקיפה ומה חשיבותו?</a:t>
            </a:r>
          </a:p>
          <a:p>
            <a:r>
              <a:rPr lang="he-IL" dirty="0"/>
              <a:t>2. כיצד ניתן לזהות התקפה או אירוע אבטחה בזמן אמת?</a:t>
            </a:r>
          </a:p>
          <a:p>
            <a:r>
              <a:rPr lang="he-IL" dirty="0"/>
              <a:t>3. מהן הפעולות </a:t>
            </a:r>
            <a:r>
              <a:rPr lang="he-IL" dirty="0" err="1"/>
              <a:t>המיידיות</a:t>
            </a:r>
            <a:r>
              <a:rPr lang="he-IL" dirty="0"/>
              <a:t> שיש לבצע במהלך שלב התגובה </a:t>
            </a:r>
            <a:r>
              <a:rPr lang="en-US" dirty="0"/>
              <a:t>Containment</a:t>
            </a:r>
            <a:r>
              <a:rPr lang="he-IL" dirty="0"/>
              <a:t> ?</a:t>
            </a:r>
          </a:p>
          <a:p>
            <a:r>
              <a:rPr lang="he-IL" dirty="0"/>
              <a:t>4. מהו תהליך ה"תחקור" וכיצד הוא מסייע לאחר התקפה?</a:t>
            </a:r>
          </a:p>
          <a:p>
            <a:r>
              <a:rPr lang="he-IL" dirty="0"/>
              <a:t>5. כיצד ניתן להשתמש בשלב "למידה ושיפור" לשיפור אבטחת המידע בארגון?</a:t>
            </a:r>
          </a:p>
          <a:p>
            <a:endParaRPr lang="he-IL" dirty="0"/>
          </a:p>
        </p:txBody>
      </p:sp>
    </p:spTree>
    <p:extLst>
      <p:ext uri="{BB962C8B-B14F-4D97-AF65-F5344CB8AC3E}">
        <p14:creationId xmlns:p14="http://schemas.microsoft.com/office/powerpoint/2010/main" val="6616813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7BA17CE-2B46-4850-A7E7-2F7336A5346E}"/>
              </a:ext>
            </a:extLst>
          </p:cNvPr>
          <p:cNvSpPr>
            <a:spLocks noGrp="1"/>
          </p:cNvSpPr>
          <p:nvPr>
            <p:ph type="title"/>
          </p:nvPr>
        </p:nvSpPr>
        <p:spPr>
          <a:xfrm>
            <a:off x="3617842" y="642594"/>
            <a:ext cx="7507357" cy="1371600"/>
          </a:xfrm>
        </p:spPr>
        <p:txBody>
          <a:bodyPr/>
          <a:lstStyle/>
          <a:p>
            <a:r>
              <a:rPr lang="he-IL" dirty="0"/>
              <a:t>המשך – התאוששות מתקיפה:</a:t>
            </a:r>
          </a:p>
        </p:txBody>
      </p:sp>
      <p:sp>
        <p:nvSpPr>
          <p:cNvPr id="3" name="מציין מיקום תוכן 2">
            <a:extLst>
              <a:ext uri="{FF2B5EF4-FFF2-40B4-BE49-F238E27FC236}">
                <a16:creationId xmlns:a16="http://schemas.microsoft.com/office/drawing/2014/main" id="{F9096313-0177-4D35-A6CF-0F988FECBDD7}"/>
              </a:ext>
            </a:extLst>
          </p:cNvPr>
          <p:cNvSpPr>
            <a:spLocks noGrp="1"/>
          </p:cNvSpPr>
          <p:nvPr>
            <p:ph idx="1"/>
          </p:nvPr>
        </p:nvSpPr>
        <p:spPr/>
        <p:txBody>
          <a:bodyPr/>
          <a:lstStyle/>
          <a:p>
            <a:r>
              <a:rPr lang="he-IL" dirty="0"/>
              <a:t>תשובות:</a:t>
            </a:r>
          </a:p>
          <a:p>
            <a:r>
              <a:rPr lang="he-IL" dirty="0"/>
              <a:t>1. שלב התכנון וארגון כולל הכנת </a:t>
            </a:r>
            <a:r>
              <a:rPr lang="he-IL" dirty="0" err="1"/>
              <a:t>תוכניות</a:t>
            </a:r>
            <a:r>
              <a:rPr lang="he-IL" dirty="0"/>
              <a:t> פעולה והדרכות לצוותי אבטחה. הוא חשוב כי הוא מסייע להכין את הארגון לתגובה מהירה ויעילה במקרה של התקפה.</a:t>
            </a:r>
          </a:p>
          <a:p>
            <a:r>
              <a:rPr lang="he-IL" dirty="0"/>
              <a:t>2. ניתן לזהות התקפה על ידי ניטור פעילות חריגה במערכות, קבלת התראות ממערכות </a:t>
            </a:r>
            <a:r>
              <a:rPr lang="en-US" dirty="0"/>
              <a:t>IDS/IPS</a:t>
            </a:r>
            <a:r>
              <a:rPr lang="he-IL" dirty="0"/>
              <a:t> וניתוח יומני פעילות.</a:t>
            </a:r>
          </a:p>
          <a:p>
            <a:r>
              <a:rPr lang="he-IL" dirty="0"/>
              <a:t>3. במהלך שלב התגובה, יש לנקוט בפעולות כמו ניתוק מחשבים נגועים מהרשת, חסימת גישת התוקף, ושחזור גיבויים.</a:t>
            </a:r>
          </a:p>
          <a:p>
            <a:r>
              <a:rPr lang="he-IL" dirty="0"/>
              <a:t>4. תהליך התחקור כולל הסרת הגורם להתקפה ופתרון הבעיות שהתגלו. הוא מסייע לשפר את האבטחה ולמנוע התקפות דומות בעתיד.</a:t>
            </a:r>
          </a:p>
          <a:p>
            <a:r>
              <a:rPr lang="he-IL" dirty="0"/>
              <a:t>5. שלב הלמידה והשיפור כולל ניתוח של האירוע ולקחים שנלמדו ממנו, כדי לשפר את </a:t>
            </a:r>
            <a:r>
              <a:rPr lang="he-IL" dirty="0" err="1"/>
              <a:t>תוכניות</a:t>
            </a:r>
            <a:r>
              <a:rPr lang="he-IL" dirty="0"/>
              <a:t> התגובה ולהתעדכן בטכניקות ובמדיניות אבטחה חדשות.</a:t>
            </a:r>
          </a:p>
          <a:p>
            <a:endParaRPr lang="he-IL" dirty="0"/>
          </a:p>
        </p:txBody>
      </p:sp>
    </p:spTree>
    <p:extLst>
      <p:ext uri="{BB962C8B-B14F-4D97-AF65-F5344CB8AC3E}">
        <p14:creationId xmlns:p14="http://schemas.microsoft.com/office/powerpoint/2010/main" val="34111195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סבון">
  <a:themeElements>
    <a:clrScheme name="סבון">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סבון">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סבון">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סבון</Template>
  <TotalTime>325</TotalTime>
  <Words>11112</Words>
  <Application>Microsoft Office PowerPoint</Application>
  <PresentationFormat>מסך רחב</PresentationFormat>
  <Paragraphs>806</Paragraphs>
  <Slides>105</Slides>
  <Notes>0</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105</vt:i4>
      </vt:variant>
    </vt:vector>
  </HeadingPairs>
  <TitlesOfParts>
    <vt:vector size="109" baseType="lpstr">
      <vt:lpstr>Century Gothic</vt:lpstr>
      <vt:lpstr>Garamond</vt:lpstr>
      <vt:lpstr>Gisha</vt:lpstr>
      <vt:lpstr>סבון</vt:lpstr>
      <vt:lpstr>הרצאה 4</vt:lpstr>
      <vt:lpstr>אבטחה על רשת - (חומת אש) Firewall</vt:lpstr>
      <vt:lpstr>Firewall</vt:lpstr>
      <vt:lpstr>כיצד פועלת חומת אש:</vt:lpstr>
      <vt:lpstr>חומת אש מבוססת תוכנה: </vt:lpstr>
      <vt:lpstr>עקרונות בסיסיים של iptables</vt:lpstr>
      <vt:lpstr>המשך - עקרונות בסיסיים של iptables</vt:lpstr>
      <vt:lpstr>המשך - עקרונות בסיסיים של iptables</vt:lpstr>
      <vt:lpstr>המשך - עקרונות בסיסיים של iptables</vt:lpstr>
      <vt:lpstr>המשך - עקרונות בסיסיים של iptables</vt:lpstr>
      <vt:lpstr>המשך - עקרונות בסיסיים של iptables</vt:lpstr>
      <vt:lpstr>המשך - עקרונות בסיסיים של iptables</vt:lpstr>
      <vt:lpstr>המשך - עקרונות בסיסיים של iptables</vt:lpstr>
      <vt:lpstr>המשך - עקרונות בסיסיים של iptables</vt:lpstr>
      <vt:lpstr>המשך - עקרונות בסיסיים של iptables</vt:lpstr>
      <vt:lpstr>המשך - עקרונות בסיסיים של iptables</vt:lpstr>
      <vt:lpstr>המשך - עקרונות בסיסיים של iptables</vt:lpstr>
      <vt:lpstr>המשך - עקרונות בסיסיים של iptables</vt:lpstr>
      <vt:lpstr>המשך - עקרונות בסיסיים של iptables</vt:lpstr>
      <vt:lpstr>המשך - עקרונות בסיסיים של iptables</vt:lpstr>
      <vt:lpstr>המשך - עקרונות בסיסיים של iptables</vt:lpstr>
      <vt:lpstr>המשך - עקרונות בסיסיים של iptables</vt:lpstr>
      <vt:lpstr>המשך - עקרונות בסיסיים של iptables</vt:lpstr>
      <vt:lpstr>חומת אש בחומרה</vt:lpstr>
      <vt:lpstr>המשך - חומת אש בחומרה:</vt:lpstr>
      <vt:lpstr>המשך - חומת אש בחומרה:</vt:lpstr>
      <vt:lpstr>המשך - חומת אש בחומרה:</vt:lpstr>
      <vt:lpstr>המשך - חומת אש בחומרה:</vt:lpstr>
      <vt:lpstr>המשך - חומת אש בחומרה:</vt:lpstr>
      <vt:lpstr>המשך - חומת אש בחומרה:</vt:lpstr>
      <vt:lpstr>חומת אש מבוססת ענן:</vt:lpstr>
      <vt:lpstr>המשך – חומת אש מבוססת ענן:</vt:lpstr>
      <vt:lpstr>המשך – חומת אש מבוססת ענן:</vt:lpstr>
      <vt:lpstr>המשך – חומת אש מבוססת ענן:</vt:lpstr>
      <vt:lpstr>המשך – חומת אש מבוססת ענן:</vt:lpstr>
      <vt:lpstr>IDS - Intrusion Detection System</vt:lpstr>
      <vt:lpstr>המשך - IDS</vt:lpstr>
      <vt:lpstr>המשך - IDS</vt:lpstr>
      <vt:lpstr>המשך - IDS</vt:lpstr>
      <vt:lpstr>המשך - IDS</vt:lpstr>
      <vt:lpstr>המשך - IDS</vt:lpstr>
      <vt:lpstr>המשך - IDS</vt:lpstr>
      <vt:lpstr>המשך - IDS</vt:lpstr>
      <vt:lpstr>המשך - IDS</vt:lpstr>
      <vt:lpstr>IPS - Intrusion Prevention System</vt:lpstr>
      <vt:lpstr>המשך - IPS</vt:lpstr>
      <vt:lpstr>המשך - IPS</vt:lpstr>
      <vt:lpstr>המשך - IPS</vt:lpstr>
      <vt:lpstr>המשך - IPS</vt:lpstr>
      <vt:lpstr>המשך - IPS</vt:lpstr>
      <vt:lpstr>המשך - IPS</vt:lpstr>
      <vt:lpstr>המשך - IPS</vt:lpstr>
      <vt:lpstr>המשך - IPS</vt:lpstr>
      <vt:lpstr>סנסורים</vt:lpstr>
      <vt:lpstr>המשך – סנסורים:</vt:lpstr>
      <vt:lpstr>המשך – סנסורים:</vt:lpstr>
      <vt:lpstr>המשך – סנסורים:</vt:lpstr>
      <vt:lpstr>המשך – סנסורים:</vt:lpstr>
      <vt:lpstr>המשך – סנסורים:</vt:lpstr>
      <vt:lpstr>המשך – סנסורים:</vt:lpstr>
      <vt:lpstr>המשך – סנסורים:</vt:lpstr>
      <vt:lpstr>המשך – סנסורים:</vt:lpstr>
      <vt:lpstr>SOC &amp; SIEM</vt:lpstr>
      <vt:lpstr>SOC</vt:lpstr>
      <vt:lpstr>המשך - SOC</vt:lpstr>
      <vt:lpstr>המשך - SOC</vt:lpstr>
      <vt:lpstr>המשך - SOC</vt:lpstr>
      <vt:lpstr>המשך - SOC</vt:lpstr>
      <vt:lpstr>SIEM</vt:lpstr>
      <vt:lpstr>המשך - SIEM</vt:lpstr>
      <vt:lpstr>המשך - SIEM</vt:lpstr>
      <vt:lpstr>המשך - SIEM</vt:lpstr>
      <vt:lpstr>המשך - SIEM</vt:lpstr>
      <vt:lpstr>SOC  ו- SIEM</vt:lpstr>
      <vt:lpstr>המשך - SOC  ו- SIEM</vt:lpstr>
      <vt:lpstr>המשך - SOC  ו- SIEM</vt:lpstr>
      <vt:lpstr> - NAC ניהול גישת רשת</vt:lpstr>
      <vt:lpstr>המשך - NAC</vt:lpstr>
      <vt:lpstr>המשך - NAC</vt:lpstr>
      <vt:lpstr>המשך - NAC</vt:lpstr>
      <vt:lpstr>המשך - NAC</vt:lpstr>
      <vt:lpstr>המשך - NAC</vt:lpstr>
      <vt:lpstr>המשך - NAC</vt:lpstr>
      <vt:lpstr>המשך - NAC</vt:lpstr>
      <vt:lpstr>המשך - NAC</vt:lpstr>
      <vt:lpstr>Kill Chain - שרשרת התקפה</vt:lpstr>
      <vt:lpstr>המשך - Kill Chain</vt:lpstr>
      <vt:lpstr>המשך - Kill Chain</vt:lpstr>
      <vt:lpstr>המשך - Kill Chain</vt:lpstr>
      <vt:lpstr>המשך - Kill Chain</vt:lpstr>
      <vt:lpstr>המשך - Kill Chain</vt:lpstr>
      <vt:lpstr>המשך - Kill Chain</vt:lpstr>
      <vt:lpstr>ה-Kill Chain  המודרני</vt:lpstr>
      <vt:lpstr>המשך - ה-Kill Chain  המודרני</vt:lpstr>
      <vt:lpstr>המשך - ה-Kill Chain  המודרני</vt:lpstr>
      <vt:lpstr>התאוששות מתקיפה -Incident Response </vt:lpstr>
      <vt:lpstr>המשך – התאוששות מתקיפה:</vt:lpstr>
      <vt:lpstr>המשך – התאוששות מתקיפה:</vt:lpstr>
      <vt:lpstr>המשך – התאוששות מתקיפה:</vt:lpstr>
      <vt:lpstr>המשך – התאוששות מתקיפה:</vt:lpstr>
      <vt:lpstr>המשך – התאוששות מתקיפה:</vt:lpstr>
      <vt:lpstr>המשך – התאוששות מתקיפה:</vt:lpstr>
      <vt:lpstr>המשך – התאוששות מתקיפה:</vt:lpstr>
      <vt:lpstr>המשך – התאוששות מתקיפה:</vt:lpstr>
      <vt:lpstr>המשך – התאוששות מתקיפה:</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הרצאה 4</dc:title>
  <dc:creator>itest</dc:creator>
  <cp:lastModifiedBy>user</cp:lastModifiedBy>
  <cp:revision>55</cp:revision>
  <dcterms:created xsi:type="dcterms:W3CDTF">2024-07-28T09:42:38Z</dcterms:created>
  <dcterms:modified xsi:type="dcterms:W3CDTF">2024-08-14T11:38:14Z</dcterms:modified>
</cp:coreProperties>
</file>