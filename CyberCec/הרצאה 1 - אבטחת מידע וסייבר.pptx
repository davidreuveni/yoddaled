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78" r:id="rId1"/>
  </p:sld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itest" initials="i" lastIdx="1" clrIdx="0">
    <p:extLst>
      <p:ext uri="{19B8F6BF-5375-455C-9EA6-DF929625EA0E}">
        <p15:presenceInfo xmlns:p15="http://schemas.microsoft.com/office/powerpoint/2012/main" userId="S-1-5-21-232942606-1148955213-2092304811-1498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040" autoAdjust="0"/>
    <p:restoredTop sz="94660"/>
  </p:normalViewPr>
  <p:slideViewPr>
    <p:cSldViewPr snapToGrid="0">
      <p:cViewPr varScale="1">
        <p:scale>
          <a:sx n="97" d="100"/>
          <a:sy n="97" d="100"/>
        </p:scale>
        <p:origin x="108" y="7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4-07-02T14:11:50.562" idx="1">
    <p:pos x="7670" y="10"/>
    <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AA8FDBD2-0CCC-4D46-8D08-94E1A5F85887}" type="datetimeFigureOut">
              <a:rPr lang="he-IL" smtClean="0"/>
              <a:t>ו'/אלול/תשפ"ד</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2908D270-EAA3-4575-9E62-5276C2527ED5}" type="slidenum">
              <a:rPr lang="he-IL" smtClean="0"/>
              <a:t>‹#›</a:t>
            </a:fld>
            <a:endParaRPr lang="he-IL"/>
          </a:p>
        </p:txBody>
      </p:sp>
    </p:spTree>
    <p:extLst>
      <p:ext uri="{BB962C8B-B14F-4D97-AF65-F5344CB8AC3E}">
        <p14:creationId xmlns:p14="http://schemas.microsoft.com/office/powerpoint/2010/main" val="249965351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3424747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AA8FDBD2-0CCC-4D46-8D08-94E1A5F85887}" type="datetimeFigureOut">
              <a:rPr lang="he-IL" smtClean="0"/>
              <a:t>ו'/אלול/תשפ"ד</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14014154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35990317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493245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2497608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629874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2908D270-EAA3-4575-9E62-5276C2527ED5}"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0895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AA8FDBD2-0CCC-4D46-8D08-94E1A5F85887}" type="datetimeFigureOut">
              <a:rPr lang="he-IL" smtClean="0"/>
              <a:t>ו'/אלול/תשפ"ד</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2908D270-EAA3-4575-9E62-5276C2527ED5}"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38971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3079106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AA8FDBD2-0CCC-4D46-8D08-94E1A5F85887}" type="datetimeFigureOut">
              <a:rPr lang="he-IL" smtClean="0"/>
              <a:t>ו'/אלול/תשפ"ד</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2908D270-EAA3-4575-9E62-5276C2527ED5}" type="slidenum">
              <a:rPr lang="he-IL" smtClean="0"/>
              <a:t>‹#›</a:t>
            </a:fld>
            <a:endParaRPr lang="he-IL"/>
          </a:p>
        </p:txBody>
      </p:sp>
    </p:spTree>
    <p:extLst>
      <p:ext uri="{BB962C8B-B14F-4D97-AF65-F5344CB8AC3E}">
        <p14:creationId xmlns:p14="http://schemas.microsoft.com/office/powerpoint/2010/main" val="990547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AA8FDBD2-0CCC-4D46-8D08-94E1A5F85887}" type="datetimeFigureOut">
              <a:rPr lang="he-IL" smtClean="0"/>
              <a:t>ו'/אלול/תשפ"ד</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2908D270-EAA3-4575-9E62-5276C2527ED5}" type="slidenum">
              <a:rPr lang="he-IL" smtClean="0"/>
              <a:t>‹#›</a:t>
            </a:fld>
            <a:endParaRPr lang="he-IL"/>
          </a:p>
        </p:txBody>
      </p:sp>
    </p:spTree>
    <p:extLst>
      <p:ext uri="{BB962C8B-B14F-4D97-AF65-F5344CB8AC3E}">
        <p14:creationId xmlns:p14="http://schemas.microsoft.com/office/powerpoint/2010/main" val="239918147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C70F189-EDDB-4213-9BAD-1748C95F5598}"/>
              </a:ext>
            </a:extLst>
          </p:cNvPr>
          <p:cNvSpPr>
            <a:spLocks noGrp="1"/>
          </p:cNvSpPr>
          <p:nvPr>
            <p:ph type="ctrTitle"/>
          </p:nvPr>
        </p:nvSpPr>
        <p:spPr>
          <a:xfrm>
            <a:off x="4139381" y="2723536"/>
            <a:ext cx="3608438" cy="1042066"/>
          </a:xfrm>
        </p:spPr>
        <p:txBody>
          <a:bodyPr>
            <a:noAutofit/>
          </a:bodyPr>
          <a:lstStyle/>
          <a:p>
            <a:r>
              <a:rPr lang="he-IL" sz="7200" b="1" dirty="0"/>
              <a:t>הרצאה 1</a:t>
            </a:r>
          </a:p>
        </p:txBody>
      </p:sp>
    </p:spTree>
    <p:extLst>
      <p:ext uri="{BB962C8B-B14F-4D97-AF65-F5344CB8AC3E}">
        <p14:creationId xmlns:p14="http://schemas.microsoft.com/office/powerpoint/2010/main" val="1281604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AABDB9-6CFB-43D6-BC90-F3D50E96F8DE}"/>
              </a:ext>
            </a:extLst>
          </p:cNvPr>
          <p:cNvSpPr>
            <a:spLocks noGrp="1"/>
          </p:cNvSpPr>
          <p:nvPr>
            <p:ph type="ctrTitle"/>
          </p:nvPr>
        </p:nvSpPr>
        <p:spPr>
          <a:xfrm>
            <a:off x="1524000" y="2097548"/>
            <a:ext cx="9144000" cy="2387600"/>
          </a:xfrm>
        </p:spPr>
        <p:txBody>
          <a:bodyPr/>
          <a:lstStyle/>
          <a:p>
            <a:r>
              <a:rPr lang="he-IL" dirty="0"/>
              <a:t>קורס:</a:t>
            </a:r>
            <a:r>
              <a:rPr lang="en-US" dirty="0"/>
              <a:t>Information security and cyber</a:t>
            </a:r>
            <a:endParaRPr lang="he-IL" dirty="0"/>
          </a:p>
        </p:txBody>
      </p:sp>
      <p:sp>
        <p:nvSpPr>
          <p:cNvPr id="3" name="כותרת משנה 2">
            <a:extLst>
              <a:ext uri="{FF2B5EF4-FFF2-40B4-BE49-F238E27FC236}">
                <a16:creationId xmlns:a16="http://schemas.microsoft.com/office/drawing/2014/main" id="{DEBE00D0-D1BE-40DF-BD07-250ED4987048}"/>
              </a:ext>
            </a:extLst>
          </p:cNvPr>
          <p:cNvSpPr>
            <a:spLocks noGrp="1"/>
          </p:cNvSpPr>
          <p:nvPr>
            <p:ph type="subTitle" idx="1"/>
          </p:nvPr>
        </p:nvSpPr>
        <p:spPr>
          <a:xfrm>
            <a:off x="2851355" y="4858442"/>
            <a:ext cx="5958348" cy="568964"/>
          </a:xfrm>
        </p:spPr>
        <p:txBody>
          <a:bodyPr/>
          <a:lstStyle/>
          <a:p>
            <a:r>
              <a:rPr lang="he-IL" dirty="0"/>
              <a:t>מרצה: יניב מורדוב</a:t>
            </a:r>
          </a:p>
        </p:txBody>
      </p:sp>
    </p:spTree>
    <p:extLst>
      <p:ext uri="{BB962C8B-B14F-4D97-AF65-F5344CB8AC3E}">
        <p14:creationId xmlns:p14="http://schemas.microsoft.com/office/powerpoint/2010/main" val="267450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E16CB4-02D9-4E72-B213-431752AC2D10}"/>
              </a:ext>
            </a:extLst>
          </p:cNvPr>
          <p:cNvSpPr>
            <a:spLocks noGrp="1"/>
          </p:cNvSpPr>
          <p:nvPr>
            <p:ph type="title"/>
          </p:nvPr>
        </p:nvSpPr>
        <p:spPr>
          <a:xfrm>
            <a:off x="7541341" y="618518"/>
            <a:ext cx="3506069" cy="1478570"/>
          </a:xfrm>
        </p:spPr>
        <p:txBody>
          <a:bodyPr/>
          <a:lstStyle/>
          <a:p>
            <a:r>
              <a:rPr lang="he-IL" dirty="0"/>
              <a:t>מרכיבי הציון בקורס:</a:t>
            </a:r>
          </a:p>
        </p:txBody>
      </p:sp>
      <p:sp>
        <p:nvSpPr>
          <p:cNvPr id="3" name="מציין מיקום תוכן 2">
            <a:extLst>
              <a:ext uri="{FF2B5EF4-FFF2-40B4-BE49-F238E27FC236}">
                <a16:creationId xmlns:a16="http://schemas.microsoft.com/office/drawing/2014/main" id="{062F431B-03B5-4BB2-BC30-1B451CDD4A09}"/>
              </a:ext>
            </a:extLst>
          </p:cNvPr>
          <p:cNvSpPr>
            <a:spLocks noGrp="1"/>
          </p:cNvSpPr>
          <p:nvPr>
            <p:ph idx="1"/>
          </p:nvPr>
        </p:nvSpPr>
        <p:spPr>
          <a:xfrm>
            <a:off x="838200" y="2038555"/>
            <a:ext cx="10515600" cy="2225265"/>
          </a:xfrm>
        </p:spPr>
        <p:txBody>
          <a:bodyPr/>
          <a:lstStyle/>
          <a:p>
            <a:r>
              <a:rPr lang="he-IL" dirty="0"/>
              <a:t>מטלות ועבודות בית (ללא העתקות): 10%</a:t>
            </a:r>
          </a:p>
          <a:p>
            <a:r>
              <a:rPr lang="he-IL" dirty="0"/>
              <a:t>השתתפות בכיתה: 10%</a:t>
            </a:r>
          </a:p>
          <a:p>
            <a:r>
              <a:rPr lang="he-IL" dirty="0"/>
              <a:t>מתכונת: 70%</a:t>
            </a:r>
          </a:p>
          <a:p>
            <a:r>
              <a:rPr lang="he-IL" dirty="0"/>
              <a:t>התרשמות מרצה: 10%</a:t>
            </a:r>
          </a:p>
        </p:txBody>
      </p:sp>
    </p:spTree>
    <p:extLst>
      <p:ext uri="{BB962C8B-B14F-4D97-AF65-F5344CB8AC3E}">
        <p14:creationId xmlns:p14="http://schemas.microsoft.com/office/powerpoint/2010/main" val="3846286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EF0701B-6C48-45E5-8A70-FF3940A018C1}"/>
              </a:ext>
            </a:extLst>
          </p:cNvPr>
          <p:cNvSpPr>
            <a:spLocks noGrp="1"/>
          </p:cNvSpPr>
          <p:nvPr>
            <p:ph type="title"/>
          </p:nvPr>
        </p:nvSpPr>
        <p:spPr>
          <a:xfrm>
            <a:off x="8613057" y="618518"/>
            <a:ext cx="2434353" cy="1478570"/>
          </a:xfrm>
        </p:spPr>
        <p:txBody>
          <a:bodyPr/>
          <a:lstStyle/>
          <a:p>
            <a:r>
              <a:rPr lang="he-IL" dirty="0"/>
              <a:t>מבוא לסייבר?</a:t>
            </a:r>
          </a:p>
        </p:txBody>
      </p:sp>
      <p:sp>
        <p:nvSpPr>
          <p:cNvPr id="3" name="מציין מיקום תוכן 2">
            <a:extLst>
              <a:ext uri="{FF2B5EF4-FFF2-40B4-BE49-F238E27FC236}">
                <a16:creationId xmlns:a16="http://schemas.microsoft.com/office/drawing/2014/main" id="{28B87DCC-FEC3-43B5-BBE9-D281E5E13EAD}"/>
              </a:ext>
            </a:extLst>
          </p:cNvPr>
          <p:cNvSpPr>
            <a:spLocks noGrp="1"/>
          </p:cNvSpPr>
          <p:nvPr>
            <p:ph idx="1"/>
          </p:nvPr>
        </p:nvSpPr>
        <p:spPr/>
        <p:txBody>
          <a:bodyPr/>
          <a:lstStyle/>
          <a:p>
            <a:r>
              <a:rPr lang="he-IL" dirty="0"/>
              <a:t>סייבר הוא תחום רחב הכולל את כל ההיבטים הקשורים לאבטחת מחשבים, רשתות, תוכנות ומידע. המטרה העיקרית היא להגן על מידע ועל תשתיות מפני איומים פוטנציאליים ולהבטיח שהמערכות יפעלו בצורה תקינה ובטוחה.</a:t>
            </a:r>
          </a:p>
        </p:txBody>
      </p:sp>
    </p:spTree>
    <p:extLst>
      <p:ext uri="{BB962C8B-B14F-4D97-AF65-F5344CB8AC3E}">
        <p14:creationId xmlns:p14="http://schemas.microsoft.com/office/powerpoint/2010/main" val="2665434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BE32557-06F7-4642-82AD-1B42DF61F334}"/>
              </a:ext>
            </a:extLst>
          </p:cNvPr>
          <p:cNvSpPr>
            <a:spLocks noGrp="1"/>
          </p:cNvSpPr>
          <p:nvPr>
            <p:ph type="title"/>
          </p:nvPr>
        </p:nvSpPr>
        <p:spPr>
          <a:xfrm>
            <a:off x="7718323" y="618518"/>
            <a:ext cx="3329088" cy="1478570"/>
          </a:xfrm>
        </p:spPr>
        <p:txBody>
          <a:bodyPr/>
          <a:lstStyle/>
          <a:p>
            <a:r>
              <a:rPr lang="he-IL" dirty="0"/>
              <a:t>היסטוריה של סייבר</a:t>
            </a:r>
          </a:p>
        </p:txBody>
      </p:sp>
      <p:sp>
        <p:nvSpPr>
          <p:cNvPr id="3" name="מציין מיקום תוכן 2">
            <a:extLst>
              <a:ext uri="{FF2B5EF4-FFF2-40B4-BE49-F238E27FC236}">
                <a16:creationId xmlns:a16="http://schemas.microsoft.com/office/drawing/2014/main" id="{916E9841-33B2-44C1-90A2-8135DD1E1EF9}"/>
              </a:ext>
            </a:extLst>
          </p:cNvPr>
          <p:cNvSpPr>
            <a:spLocks noGrp="1"/>
          </p:cNvSpPr>
          <p:nvPr>
            <p:ph idx="1"/>
          </p:nvPr>
        </p:nvSpPr>
        <p:spPr/>
        <p:txBody>
          <a:bodyPr/>
          <a:lstStyle/>
          <a:p>
            <a:r>
              <a:rPr lang="he-IL" dirty="0"/>
              <a:t>תחום הסייבר החל להתפתח בשנות ה-70 עם הופעת המחשבים האישיים והרשתות. עם השנים, ככל שהאינטרנט התפשט והמידע נעשה חשוב יותר, התפתחו גם הטכנולוגיות והאיומים הקשורים לסייבר. (נראה בהמשך דוגמאות לאיומים שהתפתחו מחמת העלייה בתוצר הטכנולוגיה)</a:t>
            </a:r>
          </a:p>
        </p:txBody>
      </p:sp>
    </p:spTree>
    <p:extLst>
      <p:ext uri="{BB962C8B-B14F-4D97-AF65-F5344CB8AC3E}">
        <p14:creationId xmlns:p14="http://schemas.microsoft.com/office/powerpoint/2010/main" val="16814934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12BAFF4-1BC3-4FB8-8608-770F534D722E}"/>
              </a:ext>
            </a:extLst>
          </p:cNvPr>
          <p:cNvSpPr>
            <a:spLocks noGrp="1"/>
          </p:cNvSpPr>
          <p:nvPr>
            <p:ph type="title"/>
          </p:nvPr>
        </p:nvSpPr>
        <p:spPr>
          <a:xfrm>
            <a:off x="6489289" y="618518"/>
            <a:ext cx="4558121" cy="1478570"/>
          </a:xfrm>
        </p:spPr>
        <p:txBody>
          <a:bodyPr/>
          <a:lstStyle/>
          <a:p>
            <a:r>
              <a:rPr lang="he-IL" dirty="0"/>
              <a:t>חשיבות הסייבר בעולם כיום</a:t>
            </a:r>
          </a:p>
        </p:txBody>
      </p:sp>
      <p:sp>
        <p:nvSpPr>
          <p:cNvPr id="3" name="מציין מיקום תוכן 2">
            <a:extLst>
              <a:ext uri="{FF2B5EF4-FFF2-40B4-BE49-F238E27FC236}">
                <a16:creationId xmlns:a16="http://schemas.microsoft.com/office/drawing/2014/main" id="{5CCCE234-76CF-487A-90E0-B22BFC4E5852}"/>
              </a:ext>
            </a:extLst>
          </p:cNvPr>
          <p:cNvSpPr>
            <a:spLocks noGrp="1"/>
          </p:cNvSpPr>
          <p:nvPr>
            <p:ph idx="1"/>
          </p:nvPr>
        </p:nvSpPr>
        <p:spPr/>
        <p:txBody>
          <a:bodyPr/>
          <a:lstStyle/>
          <a:p>
            <a:r>
              <a:rPr lang="he-IL" dirty="0"/>
              <a:t>בעידן הדיגיטלי של היום, כל הארגונים והפרטים מסתמכים על מערכות מחשוב וניהול מידע. האיומים בעולם הסייבר כיום יכולים לגרום לנזק כלכלי עצום הבא לידי ביטוי בגניבת כסף מכספומטים (נראה בהמשך הקורס איך עושים זאת), פגיעה בפרטיות ע"י פריצה וגניבת מידע אישי (כמו תמונות לא אטיות וכו'), ואפילו להשפיע על ביטחון המדינה ע"י פריצה למערכות סופר מפוזרות שהחשיבות לשמירה בהם היא העליונה והגבוה ביותר.</a:t>
            </a:r>
          </a:p>
        </p:txBody>
      </p:sp>
    </p:spTree>
    <p:extLst>
      <p:ext uri="{BB962C8B-B14F-4D97-AF65-F5344CB8AC3E}">
        <p14:creationId xmlns:p14="http://schemas.microsoft.com/office/powerpoint/2010/main" val="4092504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9CED533-935D-4D51-9565-ECBAC9B0B1D9}"/>
              </a:ext>
            </a:extLst>
          </p:cNvPr>
          <p:cNvSpPr>
            <a:spLocks noGrp="1"/>
          </p:cNvSpPr>
          <p:nvPr>
            <p:ph type="title"/>
          </p:nvPr>
        </p:nvSpPr>
        <p:spPr>
          <a:xfrm>
            <a:off x="8357419" y="89822"/>
            <a:ext cx="2996380" cy="1325563"/>
          </a:xfrm>
        </p:spPr>
        <p:txBody>
          <a:bodyPr>
            <a:normAutofit fontScale="90000"/>
          </a:bodyPr>
          <a:lstStyle/>
          <a:p>
            <a:r>
              <a:rPr lang="he-IL" dirty="0"/>
              <a:t>סוגי איומי סייבר:</a:t>
            </a:r>
          </a:p>
        </p:txBody>
      </p:sp>
      <p:sp>
        <p:nvSpPr>
          <p:cNvPr id="3" name="מציין מיקום תוכן 2">
            <a:extLst>
              <a:ext uri="{FF2B5EF4-FFF2-40B4-BE49-F238E27FC236}">
                <a16:creationId xmlns:a16="http://schemas.microsoft.com/office/drawing/2014/main" id="{DD8B532D-A281-4E83-A4C4-328DB4A2B1A5}"/>
              </a:ext>
            </a:extLst>
          </p:cNvPr>
          <p:cNvSpPr>
            <a:spLocks noGrp="1"/>
          </p:cNvSpPr>
          <p:nvPr>
            <p:ph idx="1"/>
          </p:nvPr>
        </p:nvSpPr>
        <p:spPr>
          <a:xfrm>
            <a:off x="838200" y="1253331"/>
            <a:ext cx="10515600" cy="5353946"/>
          </a:xfrm>
        </p:spPr>
        <p:txBody>
          <a:bodyPr/>
          <a:lstStyle/>
          <a:p>
            <a:r>
              <a:rPr lang="he-IL" b="1" dirty="0" err="1"/>
              <a:t>נוזקות</a:t>
            </a:r>
            <a:r>
              <a:rPr lang="he-IL" b="1" dirty="0"/>
              <a:t> </a:t>
            </a:r>
            <a:r>
              <a:rPr lang="en-US" b="1" dirty="0"/>
              <a:t>– Malware</a:t>
            </a:r>
            <a:r>
              <a:rPr lang="he-IL" b="1" dirty="0"/>
              <a:t> </a:t>
            </a:r>
            <a:r>
              <a:rPr lang="he-IL" dirty="0" err="1"/>
              <a:t>נוזקה</a:t>
            </a:r>
            <a:r>
              <a:rPr lang="he-IL" dirty="0"/>
              <a:t> פירושה תוכנה זדונית שתפקידה להזיק למחשב או לרשת המקומית</a:t>
            </a:r>
            <a:r>
              <a:rPr lang="en-US" dirty="0"/>
              <a:t> </a:t>
            </a:r>
            <a:r>
              <a:rPr lang="he-IL" dirty="0"/>
              <a:t>(</a:t>
            </a:r>
            <a:r>
              <a:rPr lang="en-US" dirty="0"/>
              <a:t>LAN</a:t>
            </a:r>
            <a:r>
              <a:rPr lang="he-IL" dirty="0"/>
              <a:t>) או הציבורית</a:t>
            </a:r>
            <a:r>
              <a:rPr lang="en-US" dirty="0"/>
              <a:t> </a:t>
            </a:r>
            <a:r>
              <a:rPr lang="he-IL" dirty="0"/>
              <a:t>(</a:t>
            </a:r>
            <a:r>
              <a:rPr lang="en-US" dirty="0"/>
              <a:t>WAN</a:t>
            </a:r>
            <a:r>
              <a:rPr lang="he-IL" dirty="0"/>
              <a:t>). וזה כולל וירוסים, תולעים, וסוסים טרויאניים. (נראה בהמשך כל אחד בפירוט מלא עם נפקא מינות להלכה)</a:t>
            </a:r>
          </a:p>
          <a:p>
            <a:r>
              <a:rPr lang="he-IL" b="1" dirty="0"/>
              <a:t>התקפות </a:t>
            </a:r>
            <a:r>
              <a:rPr lang="he-IL" b="1" dirty="0" err="1"/>
              <a:t>פישינג</a:t>
            </a:r>
            <a:r>
              <a:rPr lang="he-IL" b="1" dirty="0"/>
              <a:t> </a:t>
            </a:r>
            <a:r>
              <a:rPr lang="en-US" b="1" dirty="0"/>
              <a:t> - Phishing</a:t>
            </a:r>
            <a:r>
              <a:rPr lang="en-US" dirty="0"/>
              <a:t> </a:t>
            </a:r>
            <a:r>
              <a:rPr lang="he-IL" dirty="0"/>
              <a:t>התקפה שבה התוקף מתחזה לגורם אמין במטרה לגנוב מידע רגיש כמו סיסמאות לכל מיני מקומות וחשבונות או פרטי אשראי. לדוגמא: דוא"ל מתחזה לבנק המבקש לאשר את פרטי החשבון. (נלמד בהמשך הלכה למעשה)</a:t>
            </a:r>
          </a:p>
          <a:p>
            <a:r>
              <a:rPr lang="he-IL" b="1" dirty="0"/>
              <a:t>התקפות מניעת שירות</a:t>
            </a:r>
            <a:r>
              <a:rPr lang="en-US" b="1" dirty="0"/>
              <a:t>DDoS</a:t>
            </a:r>
            <a:r>
              <a:rPr lang="en-US" dirty="0"/>
              <a:t> </a:t>
            </a:r>
            <a:r>
              <a:rPr lang="he-IL" dirty="0"/>
              <a:t> - התקפה שבה שולחים כמות עצומה של בקשות למערכת ספציפית ובכך אנו גורמים לקריסתה ולהשבתת השירות.</a:t>
            </a:r>
          </a:p>
          <a:p>
            <a:r>
              <a:rPr lang="he-IL" b="1" dirty="0"/>
              <a:t>חדירות וגניבת מידע</a:t>
            </a:r>
            <a:r>
              <a:rPr lang="he-IL" dirty="0"/>
              <a:t> – תוקף שמצליח לחדור למערכות מחשוב ולגנוב מידע רגיש מהמשתמש כמו פרטי לקוחות, מידע כספי ועוד.</a:t>
            </a:r>
          </a:p>
          <a:p>
            <a:endParaRPr lang="he-IL" dirty="0"/>
          </a:p>
        </p:txBody>
      </p:sp>
    </p:spTree>
    <p:extLst>
      <p:ext uri="{BB962C8B-B14F-4D97-AF65-F5344CB8AC3E}">
        <p14:creationId xmlns:p14="http://schemas.microsoft.com/office/powerpoint/2010/main" val="4023544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30A5927-8872-469D-ADC9-32252FC5759D}"/>
              </a:ext>
            </a:extLst>
          </p:cNvPr>
          <p:cNvSpPr>
            <a:spLocks noGrp="1"/>
          </p:cNvSpPr>
          <p:nvPr>
            <p:ph type="title"/>
          </p:nvPr>
        </p:nvSpPr>
        <p:spPr>
          <a:xfrm>
            <a:off x="6833419" y="618518"/>
            <a:ext cx="4213992" cy="1478570"/>
          </a:xfrm>
        </p:spPr>
        <p:txBody>
          <a:bodyPr>
            <a:normAutofit fontScale="90000"/>
          </a:bodyPr>
          <a:lstStyle/>
          <a:p>
            <a:r>
              <a:rPr lang="he-IL" dirty="0"/>
              <a:t>דוגמאות מהעולם </a:t>
            </a:r>
            <a:r>
              <a:rPr lang="he-IL" dirty="0" err="1"/>
              <a:t>האמיתי</a:t>
            </a:r>
            <a:r>
              <a:rPr lang="he-IL" dirty="0"/>
              <a:t>:</a:t>
            </a:r>
          </a:p>
        </p:txBody>
      </p:sp>
      <p:sp>
        <p:nvSpPr>
          <p:cNvPr id="3" name="מציין מיקום תוכן 2">
            <a:extLst>
              <a:ext uri="{FF2B5EF4-FFF2-40B4-BE49-F238E27FC236}">
                <a16:creationId xmlns:a16="http://schemas.microsoft.com/office/drawing/2014/main" id="{35F0AD3F-7A30-402A-A1C4-57F753D1FAD9}"/>
              </a:ext>
            </a:extLst>
          </p:cNvPr>
          <p:cNvSpPr>
            <a:spLocks noGrp="1"/>
          </p:cNvSpPr>
          <p:nvPr>
            <p:ph idx="1"/>
          </p:nvPr>
        </p:nvSpPr>
        <p:spPr/>
        <p:txBody>
          <a:bodyPr/>
          <a:lstStyle/>
          <a:p>
            <a:r>
              <a:rPr lang="he-IL" dirty="0"/>
              <a:t>מתקפת וירוס </a:t>
            </a:r>
            <a:r>
              <a:rPr lang="he-IL" dirty="0" err="1"/>
              <a:t>וונאקריי</a:t>
            </a:r>
            <a:r>
              <a:rPr lang="he-IL" dirty="0"/>
              <a:t> </a:t>
            </a:r>
            <a:r>
              <a:rPr lang="en-US" dirty="0"/>
              <a:t> - (WannaCry)</a:t>
            </a:r>
            <a:r>
              <a:rPr lang="he-IL" dirty="0" err="1"/>
              <a:t>נוזקה</a:t>
            </a:r>
            <a:r>
              <a:rPr lang="he-IL" dirty="0"/>
              <a:t> שהתפשטה למחשבים ברחבי העולם ע"י רשת האינטרנט וגרמה לנזק כלכלי גדול ע"י הצפנת קבצים ובכך דרישת כופר.</a:t>
            </a:r>
          </a:p>
          <a:p>
            <a:r>
              <a:rPr lang="he-IL" dirty="0"/>
              <a:t>פרצת נתונים ב-</a:t>
            </a:r>
            <a:r>
              <a:rPr lang="en-US" dirty="0"/>
              <a:t>Equifax</a:t>
            </a:r>
            <a:r>
              <a:rPr lang="he-IL" dirty="0"/>
              <a:t> - פרצת נתונים בחברת אשראי גדולה שבה נגנב מידע אישי של מעל ל- 140 מיליון לקוחות.</a:t>
            </a:r>
          </a:p>
        </p:txBody>
      </p:sp>
    </p:spTree>
    <p:extLst>
      <p:ext uri="{BB962C8B-B14F-4D97-AF65-F5344CB8AC3E}">
        <p14:creationId xmlns:p14="http://schemas.microsoft.com/office/powerpoint/2010/main" val="254292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976FD9B-2CD7-4442-B17D-AA063C41D608}"/>
              </a:ext>
            </a:extLst>
          </p:cNvPr>
          <p:cNvSpPr>
            <a:spLocks noGrp="1"/>
          </p:cNvSpPr>
          <p:nvPr>
            <p:ph type="title"/>
          </p:nvPr>
        </p:nvSpPr>
        <p:spPr>
          <a:xfrm>
            <a:off x="5909186" y="47086"/>
            <a:ext cx="5444613" cy="1267901"/>
          </a:xfrm>
        </p:spPr>
        <p:txBody>
          <a:bodyPr>
            <a:normAutofit fontScale="90000"/>
          </a:bodyPr>
          <a:lstStyle/>
          <a:p>
            <a:r>
              <a:rPr lang="he-IL" dirty="0"/>
              <a:t>כלים וטכנולוגיות להגנה בסייבר</a:t>
            </a:r>
          </a:p>
        </p:txBody>
      </p:sp>
      <p:sp>
        <p:nvSpPr>
          <p:cNvPr id="3" name="מציין מיקום תוכן 2">
            <a:extLst>
              <a:ext uri="{FF2B5EF4-FFF2-40B4-BE49-F238E27FC236}">
                <a16:creationId xmlns:a16="http://schemas.microsoft.com/office/drawing/2014/main" id="{AC87DF68-12BD-4D28-936B-FFDC7894BC7A}"/>
              </a:ext>
            </a:extLst>
          </p:cNvPr>
          <p:cNvSpPr>
            <a:spLocks noGrp="1"/>
          </p:cNvSpPr>
          <p:nvPr>
            <p:ph idx="1"/>
          </p:nvPr>
        </p:nvSpPr>
        <p:spPr>
          <a:xfrm>
            <a:off x="838200" y="1314987"/>
            <a:ext cx="10515600" cy="5341452"/>
          </a:xfrm>
        </p:spPr>
        <p:txBody>
          <a:bodyPr/>
          <a:lstStyle/>
          <a:p>
            <a:r>
              <a:rPr lang="he-IL" b="1" dirty="0"/>
              <a:t>חומות אש </a:t>
            </a:r>
            <a:r>
              <a:rPr lang="en-US" b="1" dirty="0"/>
              <a:t>Firewalls</a:t>
            </a:r>
            <a:r>
              <a:rPr lang="he-IL" b="1" dirty="0"/>
              <a:t> – </a:t>
            </a:r>
            <a:r>
              <a:rPr lang="he-IL" dirty="0"/>
              <a:t>מכשירים (סנסורים) או תוכנות שמפקחים על התעבורה הנכנסת והיוצאת מהרשת ומונעים גישה בלתי מורשית.</a:t>
            </a:r>
          </a:p>
          <a:p>
            <a:r>
              <a:rPr lang="he-IL" b="1" dirty="0"/>
              <a:t>אנטי-וירוס וכל מיני תוכנות הגנה – </a:t>
            </a:r>
            <a:r>
              <a:rPr lang="he-IL" dirty="0"/>
              <a:t>תוכנות שרצות על המחשב (אפשר שיהיה באופן תמידי, אפשר עם טיימר מסוים, </a:t>
            </a:r>
            <a:r>
              <a:rPr lang="he-IL" dirty="0" err="1"/>
              <a:t>בדר"כ</a:t>
            </a:r>
            <a:r>
              <a:rPr lang="he-IL" dirty="0"/>
              <a:t> הם רצות בזמן הרצת המחשב ועם טיימר שמזוהה היא המערכת של התוכנה)וברגע שהם מזהות אזי הם מסירות את </a:t>
            </a:r>
            <a:r>
              <a:rPr lang="he-IL" dirty="0" err="1"/>
              <a:t>נוזקות</a:t>
            </a:r>
            <a:r>
              <a:rPr lang="he-IL" dirty="0"/>
              <a:t> מהמחשב.</a:t>
            </a:r>
          </a:p>
          <a:p>
            <a:r>
              <a:rPr lang="he-IL" b="1" dirty="0"/>
              <a:t>הצפנה </a:t>
            </a:r>
            <a:r>
              <a:rPr lang="en-US" b="1" dirty="0"/>
              <a:t>Encryption</a:t>
            </a:r>
            <a:r>
              <a:rPr lang="he-IL" b="1" dirty="0"/>
              <a:t> - </a:t>
            </a:r>
            <a:r>
              <a:rPr lang="he-IL" dirty="0"/>
              <a:t>שיטה להבטחת (לשון להבטיח) סודיות המידע על ידי קידודו בצורה שלא תאפשר גישה ללא מפתח מתאים. [בהשמך הקורס נכנס ללב </a:t>
            </a:r>
            <a:r>
              <a:rPr lang="he-IL" dirty="0" err="1"/>
              <a:t>העיניין</a:t>
            </a:r>
            <a:r>
              <a:rPr lang="he-IL" dirty="0"/>
              <a:t> עם נפקא מינות הלכה למעשה]</a:t>
            </a:r>
          </a:p>
          <a:p>
            <a:r>
              <a:rPr lang="he-IL" b="1" dirty="0"/>
              <a:t>אימות דו-שלבי </a:t>
            </a:r>
            <a:r>
              <a:rPr lang="en-US" b="1" dirty="0"/>
              <a:t>Two-Factor Authentication</a:t>
            </a:r>
            <a:r>
              <a:rPr lang="he-IL" b="1" dirty="0"/>
              <a:t> - </a:t>
            </a:r>
            <a:r>
              <a:rPr lang="he-IL" dirty="0"/>
              <a:t>תהליך שבו המשתמש צריך לספק שני אמצעים שונים לזיהוי (למשל סיסמה וקוד שנשלח לפלאפון הנייד).</a:t>
            </a:r>
            <a:endParaRPr lang="he-IL" b="1" dirty="0"/>
          </a:p>
          <a:p>
            <a:endParaRPr lang="he-IL" dirty="0"/>
          </a:p>
        </p:txBody>
      </p:sp>
    </p:spTree>
    <p:extLst>
      <p:ext uri="{BB962C8B-B14F-4D97-AF65-F5344CB8AC3E}">
        <p14:creationId xmlns:p14="http://schemas.microsoft.com/office/powerpoint/2010/main" val="2464811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C6327FB-9DD9-455F-9A19-E45FB4DC21EC}"/>
              </a:ext>
            </a:extLst>
          </p:cNvPr>
          <p:cNvSpPr>
            <a:spLocks noGrp="1"/>
          </p:cNvSpPr>
          <p:nvPr>
            <p:ph type="title"/>
          </p:nvPr>
        </p:nvSpPr>
        <p:spPr>
          <a:xfrm>
            <a:off x="5181598" y="501446"/>
            <a:ext cx="6191865" cy="1343818"/>
          </a:xfrm>
        </p:spPr>
        <p:txBody>
          <a:bodyPr>
            <a:normAutofit fontScale="90000"/>
          </a:bodyPr>
          <a:lstStyle/>
          <a:p>
            <a:r>
              <a:rPr lang="he-IL" dirty="0"/>
              <a:t>המשך כלים וטכנולוגיות להגנה בסייבר</a:t>
            </a:r>
          </a:p>
        </p:txBody>
      </p:sp>
      <p:sp>
        <p:nvSpPr>
          <p:cNvPr id="3" name="מציין מיקום תוכן 2">
            <a:extLst>
              <a:ext uri="{FF2B5EF4-FFF2-40B4-BE49-F238E27FC236}">
                <a16:creationId xmlns:a16="http://schemas.microsoft.com/office/drawing/2014/main" id="{9C765402-37AE-4262-8E01-4990123EB589}"/>
              </a:ext>
            </a:extLst>
          </p:cNvPr>
          <p:cNvSpPr>
            <a:spLocks noGrp="1"/>
          </p:cNvSpPr>
          <p:nvPr>
            <p:ph idx="1"/>
          </p:nvPr>
        </p:nvSpPr>
        <p:spPr>
          <a:xfrm>
            <a:off x="2084438" y="2297573"/>
            <a:ext cx="9153832" cy="4351338"/>
          </a:xfrm>
        </p:spPr>
        <p:txBody>
          <a:bodyPr/>
          <a:lstStyle/>
          <a:p>
            <a:r>
              <a:rPr lang="he-IL" b="1" dirty="0"/>
              <a:t>כלים לניטור ותחקור- </a:t>
            </a:r>
            <a:r>
              <a:rPr lang="he-IL" dirty="0"/>
              <a:t>מערכות </a:t>
            </a:r>
            <a:r>
              <a:rPr lang="en-US" dirty="0"/>
              <a:t>(SIEM) Security Information and Event Management</a:t>
            </a:r>
            <a:r>
              <a:rPr lang="he-IL" dirty="0"/>
              <a:t> שמשמשות למציאת אירועים, גילוי חריגות, ותחקור התקפות.</a:t>
            </a:r>
          </a:p>
          <a:p>
            <a:endParaRPr lang="he-IL" dirty="0"/>
          </a:p>
        </p:txBody>
      </p:sp>
    </p:spTree>
    <p:extLst>
      <p:ext uri="{BB962C8B-B14F-4D97-AF65-F5344CB8AC3E}">
        <p14:creationId xmlns:p14="http://schemas.microsoft.com/office/powerpoint/2010/main" val="103922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3D9A21D-580F-4914-9A30-5D5AF39D7F23}"/>
              </a:ext>
            </a:extLst>
          </p:cNvPr>
          <p:cNvSpPr>
            <a:spLocks noGrp="1"/>
          </p:cNvSpPr>
          <p:nvPr>
            <p:ph type="title"/>
          </p:nvPr>
        </p:nvSpPr>
        <p:spPr>
          <a:xfrm>
            <a:off x="2851355" y="618518"/>
            <a:ext cx="8196056" cy="1478570"/>
          </a:xfrm>
        </p:spPr>
        <p:txBody>
          <a:bodyPr/>
          <a:lstStyle/>
          <a:p>
            <a:r>
              <a:rPr lang="he-IL" dirty="0"/>
              <a:t>עקרונות אבטחת מידע (</a:t>
            </a:r>
            <a:r>
              <a:rPr lang="en-US" dirty="0"/>
              <a:t>CIA</a:t>
            </a:r>
            <a:r>
              <a:rPr lang="he-IL" dirty="0"/>
              <a:t>) – בסיס לאבטחת מידע</a:t>
            </a:r>
          </a:p>
        </p:txBody>
      </p:sp>
      <p:sp>
        <p:nvSpPr>
          <p:cNvPr id="3" name="מציין מיקום תוכן 2">
            <a:extLst>
              <a:ext uri="{FF2B5EF4-FFF2-40B4-BE49-F238E27FC236}">
                <a16:creationId xmlns:a16="http://schemas.microsoft.com/office/drawing/2014/main" id="{5793F8B3-E784-4F3B-825F-79A00A5E0AA4}"/>
              </a:ext>
            </a:extLst>
          </p:cNvPr>
          <p:cNvSpPr>
            <a:spLocks noGrp="1"/>
          </p:cNvSpPr>
          <p:nvPr>
            <p:ph idx="1"/>
          </p:nvPr>
        </p:nvSpPr>
        <p:spPr/>
        <p:txBody>
          <a:bodyPr/>
          <a:lstStyle/>
          <a:p>
            <a:r>
              <a:rPr lang="he-IL" dirty="0"/>
              <a:t>סודיות </a:t>
            </a:r>
            <a:r>
              <a:rPr lang="en-US" dirty="0"/>
              <a:t>Confidentiality</a:t>
            </a:r>
            <a:r>
              <a:rPr lang="he-IL" dirty="0"/>
              <a:t> - שמירה על פרטיות המידע כך שרק אנשים מורשים יוכלו לגשת אליו ולעשות בו שימוש, כמו לדוגמא שנוכל להצפין קבצים ע"י </a:t>
            </a:r>
            <a:r>
              <a:rPr lang="en-US" dirty="0"/>
              <a:t>SSL</a:t>
            </a:r>
            <a:r>
              <a:rPr lang="he-IL" dirty="0"/>
              <a:t>. </a:t>
            </a:r>
          </a:p>
          <a:p>
            <a:r>
              <a:rPr lang="he-IL" dirty="0"/>
              <a:t>שלמות </a:t>
            </a:r>
            <a:r>
              <a:rPr lang="en-US" dirty="0"/>
              <a:t>Integrity</a:t>
            </a:r>
            <a:r>
              <a:rPr lang="he-IL" dirty="0"/>
              <a:t> - הבטחה שהמידע לא ישתנה ובנוסף גם לא יפגע ע"י גורמים שאינם מורשים, וזה ע"י חתימה דיגיטלית.</a:t>
            </a:r>
          </a:p>
          <a:p>
            <a:r>
              <a:rPr lang="he-IL" dirty="0"/>
              <a:t>זמינות </a:t>
            </a:r>
            <a:r>
              <a:rPr lang="en-US" dirty="0"/>
              <a:t>Availability</a:t>
            </a:r>
            <a:r>
              <a:rPr lang="he-IL" dirty="0"/>
              <a:t> - הבטחה שהמידע ושירותי המערכת יהיו זמינים למשתמשים המורשים בזמן שהם זקוקים להם.</a:t>
            </a:r>
          </a:p>
        </p:txBody>
      </p:sp>
    </p:spTree>
    <p:extLst>
      <p:ext uri="{BB962C8B-B14F-4D97-AF65-F5344CB8AC3E}">
        <p14:creationId xmlns:p14="http://schemas.microsoft.com/office/powerpoint/2010/main" val="858242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763C245-B8B8-4E42-9D0F-2CF587CC3618}"/>
              </a:ext>
            </a:extLst>
          </p:cNvPr>
          <p:cNvSpPr>
            <a:spLocks noGrp="1"/>
          </p:cNvSpPr>
          <p:nvPr>
            <p:ph type="title"/>
          </p:nvPr>
        </p:nvSpPr>
        <p:spPr>
          <a:xfrm>
            <a:off x="6095999" y="244892"/>
            <a:ext cx="4951411" cy="1478570"/>
          </a:xfrm>
        </p:spPr>
        <p:txBody>
          <a:bodyPr/>
          <a:lstStyle/>
          <a:p>
            <a:r>
              <a:rPr lang="he-IL" dirty="0"/>
              <a:t>סודיות</a:t>
            </a:r>
            <a:r>
              <a:rPr lang="en-US" dirty="0"/>
              <a:t> Confidentiality </a:t>
            </a:r>
            <a:endParaRPr lang="he-IL" dirty="0"/>
          </a:p>
        </p:txBody>
      </p:sp>
      <p:sp>
        <p:nvSpPr>
          <p:cNvPr id="3" name="מציין מיקום תוכן 2">
            <a:extLst>
              <a:ext uri="{FF2B5EF4-FFF2-40B4-BE49-F238E27FC236}">
                <a16:creationId xmlns:a16="http://schemas.microsoft.com/office/drawing/2014/main" id="{7BB89A55-E959-4289-9FC5-DA0E72F38C79}"/>
              </a:ext>
            </a:extLst>
          </p:cNvPr>
          <p:cNvSpPr>
            <a:spLocks noGrp="1"/>
          </p:cNvSpPr>
          <p:nvPr>
            <p:ph idx="1"/>
          </p:nvPr>
        </p:nvSpPr>
        <p:spPr>
          <a:xfrm>
            <a:off x="1141412" y="1592824"/>
            <a:ext cx="9905999" cy="4552337"/>
          </a:xfrm>
        </p:spPr>
        <p:txBody>
          <a:bodyPr>
            <a:normAutofit/>
          </a:bodyPr>
          <a:lstStyle/>
          <a:p>
            <a:r>
              <a:rPr lang="he-IL" dirty="0"/>
              <a:t>שאלה: מה היא סודיות?</a:t>
            </a:r>
          </a:p>
          <a:p>
            <a:r>
              <a:rPr lang="he-IL" dirty="0"/>
              <a:t>תשובה: סודיות היא העיקרון הראשון של שמירה על פרטיות המידע כך שרק אנשים בעלי הרשאה יוכלו לגשת אליו, כלומר אנו רוצים להבטיח שמידע רגיש לא ייחשף לאנשים שאינם צריכים להיחשף.</a:t>
            </a:r>
          </a:p>
          <a:p>
            <a:r>
              <a:rPr lang="he-IL" dirty="0"/>
              <a:t>דוגמאות: </a:t>
            </a:r>
          </a:p>
          <a:p>
            <a:r>
              <a:rPr lang="he-IL" b="1" dirty="0"/>
              <a:t>הצפנת קבצים:</a:t>
            </a:r>
            <a:r>
              <a:rPr lang="he-IL" dirty="0"/>
              <a:t> נניח שאתה רוצה לשלוח מייל עם קובץ שמכיל מידע מסווג (כרטיס אשראי), בכדי להגן על המידע, אתה מצפין את הקובץ, מה שעושה ההצפנה היא בעצם מקודדת את המידע כך שרק מי שיש לו את המפתח המתאים יוכל לפענח ולקרוא את הקובץ.</a:t>
            </a:r>
          </a:p>
          <a:p>
            <a:r>
              <a:rPr lang="he-IL" b="1" dirty="0"/>
              <a:t>שימוש בסיסמאות חזקות:</a:t>
            </a:r>
            <a:r>
              <a:rPr lang="he-IL" dirty="0"/>
              <a:t> באתר בנק הפועלים, אתה נכנס לחשבון שלך עם שם משתמש וסיסמה. הסיסמה היא שכבת הגנה שמבטיחה שרק אתה יוכלו לגשת למידע החשבון שלך.</a:t>
            </a:r>
          </a:p>
          <a:p>
            <a:r>
              <a:rPr lang="he-IL" b="1" dirty="0"/>
              <a:t>אימות דו-שלבי: </a:t>
            </a:r>
            <a:r>
              <a:rPr lang="he-IL" dirty="0"/>
              <a:t>כדי להוסיף עוד שכבת אבטחה, ישנם אתרים הדורשים גם אימות נוסף כמו קוד שנשלח לטלפון שלך, או קוד שנשלח למייל שלך, וכל זה בנוסף לסיסמה. כך, גם אם מישהו יגלה את הסיסמה שלך, הוא עדיין יצטרך את הקוד כדי להיכנס לחשבון.</a:t>
            </a:r>
          </a:p>
          <a:p>
            <a:endParaRPr lang="he-IL" dirty="0"/>
          </a:p>
        </p:txBody>
      </p:sp>
    </p:spTree>
    <p:extLst>
      <p:ext uri="{BB962C8B-B14F-4D97-AF65-F5344CB8AC3E}">
        <p14:creationId xmlns:p14="http://schemas.microsoft.com/office/powerpoint/2010/main" val="1436340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3EE211-C56A-42F1-A3C5-EF2543CECC81}"/>
              </a:ext>
            </a:extLst>
          </p:cNvPr>
          <p:cNvSpPr>
            <a:spLocks noGrp="1"/>
          </p:cNvSpPr>
          <p:nvPr>
            <p:ph type="title"/>
          </p:nvPr>
        </p:nvSpPr>
        <p:spPr>
          <a:xfrm>
            <a:off x="7619999" y="535400"/>
            <a:ext cx="3427411" cy="1478570"/>
          </a:xfrm>
        </p:spPr>
        <p:txBody>
          <a:bodyPr/>
          <a:lstStyle/>
          <a:p>
            <a:r>
              <a:rPr lang="he-IL" dirty="0"/>
              <a:t>שלמות </a:t>
            </a:r>
            <a:r>
              <a:rPr lang="en-US" dirty="0"/>
              <a:t>Integrity</a:t>
            </a:r>
            <a:endParaRPr lang="he-IL" dirty="0"/>
          </a:p>
        </p:txBody>
      </p:sp>
      <p:sp>
        <p:nvSpPr>
          <p:cNvPr id="3" name="מציין מיקום תוכן 2">
            <a:extLst>
              <a:ext uri="{FF2B5EF4-FFF2-40B4-BE49-F238E27FC236}">
                <a16:creationId xmlns:a16="http://schemas.microsoft.com/office/drawing/2014/main" id="{705401E3-1D9E-459D-9795-E8805FA22A27}"/>
              </a:ext>
            </a:extLst>
          </p:cNvPr>
          <p:cNvSpPr>
            <a:spLocks noGrp="1"/>
          </p:cNvSpPr>
          <p:nvPr>
            <p:ph idx="1"/>
          </p:nvPr>
        </p:nvSpPr>
        <p:spPr>
          <a:xfrm>
            <a:off x="1141413" y="2041601"/>
            <a:ext cx="9905999" cy="3541714"/>
          </a:xfrm>
        </p:spPr>
        <p:txBody>
          <a:bodyPr>
            <a:normAutofit/>
          </a:bodyPr>
          <a:lstStyle/>
          <a:p>
            <a:r>
              <a:rPr lang="he-IL" dirty="0"/>
              <a:t>שאלה: מה היא שלמות?</a:t>
            </a:r>
          </a:p>
          <a:p>
            <a:r>
              <a:rPr lang="he-IL" dirty="0"/>
              <a:t>תשובה: שלמות היא העיקרון של שמירה על כך שהמידע לא ישתנה או ייפגע על ידי גורמים שאינם מורשים. היינו רוצים להבטיח שהמידע יישאר נכון ומדויק ושלא יעשו בו שינויים שאין אנו רוצים.</a:t>
            </a:r>
          </a:p>
          <a:p>
            <a:r>
              <a:rPr lang="he-IL" dirty="0"/>
              <a:t>דוגמאות:</a:t>
            </a:r>
          </a:p>
          <a:p>
            <a:r>
              <a:rPr lang="he-IL" b="1" dirty="0"/>
              <a:t>חתימה דיגיטלית:</a:t>
            </a:r>
            <a:r>
              <a:rPr lang="he-IL" dirty="0"/>
              <a:t> נניח שאתה מקבל חוזה במייל, החתימה הדיגיטלית שיש על החוזה מבטיחה לך שהחוזה לא שונה מאז שנחתם. כל שינוי במסמך יבטל את החתימה הדיגיטלית ויתגלה מיד.,</a:t>
            </a:r>
          </a:p>
          <a:p>
            <a:r>
              <a:rPr lang="he-IL" b="1" dirty="0"/>
              <a:t>בדיקות שהנתונים שלמים ולא שונו:</a:t>
            </a:r>
            <a:r>
              <a:rPr lang="he-IL" dirty="0"/>
              <a:t> בארגון גדול כמו </a:t>
            </a:r>
            <a:r>
              <a:rPr lang="he-IL" dirty="0" err="1"/>
              <a:t>קרית</a:t>
            </a:r>
            <a:r>
              <a:rPr lang="he-IL" dirty="0"/>
              <a:t> נוער בסיס הנתונים שלה הוא גדול, יש מערכות שבודקות את הנתונים בכדי לראות שהם לא נפגעו או שונו. לדוגמה, אם רשומות הלקוחות משתנות, המערכת תשלח התראה.</a:t>
            </a:r>
          </a:p>
          <a:p>
            <a:endParaRPr lang="he-IL" dirty="0"/>
          </a:p>
        </p:txBody>
      </p:sp>
    </p:spTree>
    <p:extLst>
      <p:ext uri="{BB962C8B-B14F-4D97-AF65-F5344CB8AC3E}">
        <p14:creationId xmlns:p14="http://schemas.microsoft.com/office/powerpoint/2010/main" val="2843791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8334DD2-9ECF-4D89-BE27-2C1E346F071D}"/>
              </a:ext>
            </a:extLst>
          </p:cNvPr>
          <p:cNvSpPr>
            <a:spLocks noGrp="1"/>
          </p:cNvSpPr>
          <p:nvPr>
            <p:ph type="title"/>
          </p:nvPr>
        </p:nvSpPr>
        <p:spPr>
          <a:xfrm>
            <a:off x="7148051" y="618518"/>
            <a:ext cx="3899359" cy="1478570"/>
          </a:xfrm>
        </p:spPr>
        <p:txBody>
          <a:bodyPr/>
          <a:lstStyle/>
          <a:p>
            <a:r>
              <a:rPr lang="he-IL" dirty="0"/>
              <a:t>זמינות </a:t>
            </a:r>
            <a:r>
              <a:rPr lang="en-US" dirty="0"/>
              <a:t>Availability</a:t>
            </a:r>
            <a:endParaRPr lang="he-IL" dirty="0"/>
          </a:p>
        </p:txBody>
      </p:sp>
      <p:sp>
        <p:nvSpPr>
          <p:cNvPr id="3" name="מציין מיקום תוכן 2">
            <a:extLst>
              <a:ext uri="{FF2B5EF4-FFF2-40B4-BE49-F238E27FC236}">
                <a16:creationId xmlns:a16="http://schemas.microsoft.com/office/drawing/2014/main" id="{34B16A57-2858-4C78-BEE2-76E3FF9F0A69}"/>
              </a:ext>
            </a:extLst>
          </p:cNvPr>
          <p:cNvSpPr>
            <a:spLocks noGrp="1"/>
          </p:cNvSpPr>
          <p:nvPr>
            <p:ph idx="1"/>
          </p:nvPr>
        </p:nvSpPr>
        <p:spPr/>
        <p:txBody>
          <a:bodyPr>
            <a:normAutofit/>
          </a:bodyPr>
          <a:lstStyle/>
          <a:p>
            <a:r>
              <a:rPr lang="he-IL" dirty="0"/>
              <a:t>שאלה: מה היא זמינות?</a:t>
            </a:r>
          </a:p>
          <a:p>
            <a:r>
              <a:rPr lang="he-IL" dirty="0"/>
              <a:t>תשובה: זמינות היא העיקרון של הבטחת הגישה למידע ולשירותים בזמן ובמקום הרצוי, כלומר אנו רוצים לוודא שהמערכות והמידע יהיו זמינים למשתמשים המורשים בכל עת וזמן שירצו.</a:t>
            </a:r>
          </a:p>
          <a:p>
            <a:r>
              <a:rPr lang="he-IL" dirty="0"/>
              <a:t>דוגמאות:</a:t>
            </a:r>
          </a:p>
          <a:p>
            <a:r>
              <a:rPr lang="he-IL" b="1" dirty="0"/>
              <a:t>מערכות גיבוי ואחסון נתונים:</a:t>
            </a:r>
            <a:r>
              <a:rPr lang="he-IL" dirty="0"/>
              <a:t> חברות רבות משתמשות במערכות גיבוי כדי להבטיח שאם יש תקלה במערכת הראשית, המידע עדיין יהיה זמין. לדוגמה, אם יש בעיה במערכת השרתים, מערכת גיבוי </a:t>
            </a:r>
            <a:r>
              <a:rPr lang="he-IL" dirty="0" err="1"/>
              <a:t>תיהיה</a:t>
            </a:r>
            <a:r>
              <a:rPr lang="he-IL" dirty="0"/>
              <a:t> אחראית לכך שהמידע לא יאבד ויהיה זמין לעובדים.</a:t>
            </a:r>
          </a:p>
          <a:p>
            <a:r>
              <a:rPr lang="he-IL" b="1" dirty="0"/>
              <a:t>התקפות מניעת שירות </a:t>
            </a:r>
            <a:r>
              <a:rPr lang="en-US" b="1" dirty="0"/>
              <a:t>DDoS</a:t>
            </a:r>
            <a:r>
              <a:rPr lang="en-US" dirty="0"/>
              <a:t> </a:t>
            </a:r>
            <a:r>
              <a:rPr lang="he-IL" dirty="0"/>
              <a:t>: כשמתקפה מסוג </a:t>
            </a:r>
            <a:r>
              <a:rPr lang="en-US" dirty="0"/>
              <a:t>DDoS </a:t>
            </a:r>
            <a:r>
              <a:rPr lang="he-IL" dirty="0"/>
              <a:t> מנסה להפיל אתר או שירות מקוון על ידי שליחת בקשות רבות, מערכות הגנה מיוחדות מופעלות כדי לסנן את הבקשות ובך להבטיח שהשירות יישאר זמין למשתמשים.</a:t>
            </a:r>
          </a:p>
        </p:txBody>
      </p:sp>
    </p:spTree>
    <p:extLst>
      <p:ext uri="{BB962C8B-B14F-4D97-AF65-F5344CB8AC3E}">
        <p14:creationId xmlns:p14="http://schemas.microsoft.com/office/powerpoint/2010/main" val="1925718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8221001-A280-4082-88CD-9E602B75C738}"/>
              </a:ext>
            </a:extLst>
          </p:cNvPr>
          <p:cNvSpPr>
            <a:spLocks noGrp="1"/>
          </p:cNvSpPr>
          <p:nvPr>
            <p:ph type="title"/>
          </p:nvPr>
        </p:nvSpPr>
        <p:spPr>
          <a:xfrm>
            <a:off x="7364361" y="618518"/>
            <a:ext cx="3683050" cy="1478570"/>
          </a:xfrm>
        </p:spPr>
        <p:txBody>
          <a:bodyPr/>
          <a:lstStyle/>
          <a:p>
            <a:r>
              <a:rPr lang="he-IL" dirty="0"/>
              <a:t>שאלה על עיקרון </a:t>
            </a:r>
            <a:r>
              <a:rPr lang="en-US" dirty="0"/>
              <a:t>CIA</a:t>
            </a:r>
            <a:endParaRPr lang="he-IL" dirty="0"/>
          </a:p>
        </p:txBody>
      </p:sp>
      <p:sp>
        <p:nvSpPr>
          <p:cNvPr id="3" name="מציין מיקום תוכן 2">
            <a:extLst>
              <a:ext uri="{FF2B5EF4-FFF2-40B4-BE49-F238E27FC236}">
                <a16:creationId xmlns:a16="http://schemas.microsoft.com/office/drawing/2014/main" id="{86DB8D9E-5134-4E06-90D3-015E577C9B40}"/>
              </a:ext>
            </a:extLst>
          </p:cNvPr>
          <p:cNvSpPr>
            <a:spLocks noGrp="1"/>
          </p:cNvSpPr>
          <p:nvPr>
            <p:ph idx="1"/>
          </p:nvPr>
        </p:nvSpPr>
        <p:spPr/>
        <p:txBody>
          <a:bodyPr>
            <a:normAutofit/>
          </a:bodyPr>
          <a:lstStyle/>
          <a:p>
            <a:r>
              <a:rPr lang="he-IL" dirty="0"/>
              <a:t>בארגון גדול, ישנה מחלקה בשם </a:t>
            </a:r>
            <a:r>
              <a:rPr lang="en-US" dirty="0"/>
              <a:t> Y</a:t>
            </a:r>
            <a:r>
              <a:rPr lang="en-GB" dirty="0" err="1"/>
              <a:t>aniv</a:t>
            </a:r>
            <a:r>
              <a:rPr lang="en-GB" dirty="0"/>
              <a:t> </a:t>
            </a:r>
            <a:r>
              <a:rPr lang="he-IL" dirty="0"/>
              <a:t>המיישמת מדיניות אבטחת מידע מחמירה וכל זה בכדי להגן על הנתונים הרגישים של החברה. הסבר כיצד כל אחד מהעקרונות הבאים - סודיות, שלמות וזמינות באים לידי ביטוי במדיניות אבטחת המידע של הארגון:</a:t>
            </a:r>
          </a:p>
          <a:p>
            <a:r>
              <a:rPr lang="he-IL" b="1" dirty="0"/>
              <a:t>סודיות: </a:t>
            </a:r>
            <a:r>
              <a:rPr lang="he-IL" dirty="0"/>
              <a:t>כיצד הארגון מבטיח שרק אנשים מורשים יכולים לגשת למידע רגיש?</a:t>
            </a:r>
          </a:p>
          <a:p>
            <a:r>
              <a:rPr lang="he-IL" b="1" dirty="0"/>
              <a:t>שלמות: </a:t>
            </a:r>
            <a:r>
              <a:rPr lang="he-IL" dirty="0"/>
              <a:t>איזה אמצעים נעשים בכדי להבטיח שהמידע נשאר נכון ומדויק ולא משתנה ללא הרשאה?</a:t>
            </a:r>
          </a:p>
          <a:p>
            <a:r>
              <a:rPr lang="he-IL" b="1" dirty="0"/>
              <a:t>זמינות: </a:t>
            </a:r>
            <a:r>
              <a:rPr lang="he-IL" dirty="0"/>
              <a:t>אילו צעדים ננקטים כדי להבטיח שהמידע והשירותים יהיו זמינים למשתמשים המורשים בכל זמן שירצו?</a:t>
            </a:r>
          </a:p>
        </p:txBody>
      </p:sp>
    </p:spTree>
    <p:extLst>
      <p:ext uri="{BB962C8B-B14F-4D97-AF65-F5344CB8AC3E}">
        <p14:creationId xmlns:p14="http://schemas.microsoft.com/office/powerpoint/2010/main" val="606802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E98AD9E-6ED2-4A1F-BF1F-C5605C535303}"/>
              </a:ext>
            </a:extLst>
          </p:cNvPr>
          <p:cNvSpPr>
            <a:spLocks noGrp="1"/>
          </p:cNvSpPr>
          <p:nvPr>
            <p:ph type="title"/>
          </p:nvPr>
        </p:nvSpPr>
        <p:spPr>
          <a:xfrm>
            <a:off x="7914967" y="618518"/>
            <a:ext cx="3132443" cy="1478570"/>
          </a:xfrm>
        </p:spPr>
        <p:txBody>
          <a:bodyPr/>
          <a:lstStyle/>
          <a:p>
            <a:r>
              <a:rPr lang="he-IL" dirty="0"/>
              <a:t>(א) תשובה - </a:t>
            </a:r>
            <a:r>
              <a:rPr lang="en-US" dirty="0"/>
              <a:t>CIA</a:t>
            </a:r>
            <a:endParaRPr lang="he-IL" dirty="0"/>
          </a:p>
        </p:txBody>
      </p:sp>
      <p:sp>
        <p:nvSpPr>
          <p:cNvPr id="3" name="מציין מיקום תוכן 2">
            <a:extLst>
              <a:ext uri="{FF2B5EF4-FFF2-40B4-BE49-F238E27FC236}">
                <a16:creationId xmlns:a16="http://schemas.microsoft.com/office/drawing/2014/main" id="{74E85842-A17C-4933-AC7A-004DB0049432}"/>
              </a:ext>
            </a:extLst>
          </p:cNvPr>
          <p:cNvSpPr>
            <a:spLocks noGrp="1"/>
          </p:cNvSpPr>
          <p:nvPr>
            <p:ph idx="1"/>
          </p:nvPr>
        </p:nvSpPr>
        <p:spPr/>
        <p:txBody>
          <a:bodyPr/>
          <a:lstStyle/>
          <a:p>
            <a:r>
              <a:rPr lang="he-IL" b="1" dirty="0"/>
              <a:t>סודיות - </a:t>
            </a:r>
            <a:r>
              <a:rPr lang="he-IL" dirty="0"/>
              <a:t>הארגון מיישם מערכת בקרה שמאוד מקפידה ובנוסף מבטיחה שרק עובדים מורשים יכולים לגשת למידע רגיש. כל משתמש חייב להיכנס עם שם משתמש וסיסמה ייחודיים, ולעיתים קרובות גם עם אימות דו-שלבי.</a:t>
            </a:r>
            <a:endParaRPr lang="en-US" dirty="0"/>
          </a:p>
          <a:p>
            <a:r>
              <a:rPr lang="he-IL" dirty="0"/>
              <a:t>בנוסף, המידע הרגיש מוצפן </a:t>
            </a:r>
            <a:r>
              <a:rPr lang="he-IL" b="1" u="sng" dirty="0"/>
              <a:t>תמיד</a:t>
            </a:r>
            <a:r>
              <a:rPr lang="he-IL" dirty="0"/>
              <a:t> (במנוחה וגם בתנועה), כך שגם אם הפורץ מצליח להשיג גישה למערכת, הוא לא יוכלו לקרוא את המידע ללא המפתח המתאים.</a:t>
            </a:r>
          </a:p>
          <a:p>
            <a:endParaRPr lang="he-IL" dirty="0"/>
          </a:p>
        </p:txBody>
      </p:sp>
    </p:spTree>
    <p:extLst>
      <p:ext uri="{BB962C8B-B14F-4D97-AF65-F5344CB8AC3E}">
        <p14:creationId xmlns:p14="http://schemas.microsoft.com/office/powerpoint/2010/main" val="1453208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7C0567B-B04B-4220-BD61-ED387428F57B}"/>
              </a:ext>
            </a:extLst>
          </p:cNvPr>
          <p:cNvSpPr>
            <a:spLocks noGrp="1"/>
          </p:cNvSpPr>
          <p:nvPr>
            <p:ph type="title"/>
          </p:nvPr>
        </p:nvSpPr>
        <p:spPr>
          <a:xfrm>
            <a:off x="8131277" y="618518"/>
            <a:ext cx="2917722" cy="1478570"/>
          </a:xfrm>
        </p:spPr>
        <p:txBody>
          <a:bodyPr/>
          <a:lstStyle/>
          <a:p>
            <a:r>
              <a:rPr lang="he-IL" dirty="0"/>
              <a:t>(ב) תשובה -</a:t>
            </a:r>
            <a:r>
              <a:rPr lang="en-US" dirty="0"/>
              <a:t>CIA</a:t>
            </a:r>
            <a:endParaRPr lang="he-IL" dirty="0"/>
          </a:p>
        </p:txBody>
      </p:sp>
      <p:sp>
        <p:nvSpPr>
          <p:cNvPr id="3" name="מציין מיקום תוכן 2">
            <a:extLst>
              <a:ext uri="{FF2B5EF4-FFF2-40B4-BE49-F238E27FC236}">
                <a16:creationId xmlns:a16="http://schemas.microsoft.com/office/drawing/2014/main" id="{D34210F9-24F1-400F-943D-930E0ECF7A31}"/>
              </a:ext>
            </a:extLst>
          </p:cNvPr>
          <p:cNvSpPr>
            <a:spLocks noGrp="1"/>
          </p:cNvSpPr>
          <p:nvPr>
            <p:ph idx="1"/>
          </p:nvPr>
        </p:nvSpPr>
        <p:spPr/>
        <p:txBody>
          <a:bodyPr/>
          <a:lstStyle/>
          <a:p>
            <a:r>
              <a:rPr lang="he-IL" b="1" dirty="0"/>
              <a:t>שלמות - </a:t>
            </a:r>
            <a:r>
              <a:rPr lang="he-IL" dirty="0"/>
              <a:t>הארגון משתמש בחתימות דיגיטליות כדי להבטיח שהמסמכים והנתונים לא שונו לאחר יצירתם או חתימתם. כל שינוי במסמך מבטל את החתימה הדיגיטלית ומצביע על כך שהמידע שונה.</a:t>
            </a:r>
          </a:p>
          <a:p>
            <a:r>
              <a:rPr lang="he-IL" dirty="0"/>
              <a:t>בנוסף מערכת לניהול גרסאות ותיעוד שינויים מתבצעות בכל פעם שמסמך נערך, כך שניתן לעקוב אחר כל השינויים ולחזור </a:t>
            </a:r>
            <a:r>
              <a:rPr lang="he-IL" dirty="0" err="1"/>
              <a:t>לגירסה</a:t>
            </a:r>
            <a:r>
              <a:rPr lang="he-IL" dirty="0"/>
              <a:t> הקודמת במקרה של שינויים בלתי מורשים.</a:t>
            </a:r>
          </a:p>
          <a:p>
            <a:endParaRPr lang="he-IL" dirty="0"/>
          </a:p>
        </p:txBody>
      </p:sp>
    </p:spTree>
    <p:extLst>
      <p:ext uri="{BB962C8B-B14F-4D97-AF65-F5344CB8AC3E}">
        <p14:creationId xmlns:p14="http://schemas.microsoft.com/office/powerpoint/2010/main" val="1650970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6BB2EEC-A80A-480C-8E5F-5C0D60F459EF}"/>
              </a:ext>
            </a:extLst>
          </p:cNvPr>
          <p:cNvSpPr>
            <a:spLocks noGrp="1"/>
          </p:cNvSpPr>
          <p:nvPr>
            <p:ph type="title"/>
          </p:nvPr>
        </p:nvSpPr>
        <p:spPr>
          <a:xfrm>
            <a:off x="8091947" y="618518"/>
            <a:ext cx="2955463" cy="1478570"/>
          </a:xfrm>
        </p:spPr>
        <p:txBody>
          <a:bodyPr/>
          <a:lstStyle/>
          <a:p>
            <a:r>
              <a:rPr lang="he-IL" dirty="0"/>
              <a:t>(ג) תשובה –</a:t>
            </a:r>
            <a:r>
              <a:rPr lang="en-US" dirty="0"/>
              <a:t>CIA </a:t>
            </a:r>
            <a:endParaRPr lang="he-IL" dirty="0"/>
          </a:p>
        </p:txBody>
      </p:sp>
      <p:sp>
        <p:nvSpPr>
          <p:cNvPr id="3" name="מציין מיקום תוכן 2">
            <a:extLst>
              <a:ext uri="{FF2B5EF4-FFF2-40B4-BE49-F238E27FC236}">
                <a16:creationId xmlns:a16="http://schemas.microsoft.com/office/drawing/2014/main" id="{C6BA2697-58C9-4655-B0AD-92DB9CA76B33}"/>
              </a:ext>
            </a:extLst>
          </p:cNvPr>
          <p:cNvSpPr>
            <a:spLocks noGrp="1"/>
          </p:cNvSpPr>
          <p:nvPr>
            <p:ph idx="1"/>
          </p:nvPr>
        </p:nvSpPr>
        <p:spPr/>
        <p:txBody>
          <a:bodyPr/>
          <a:lstStyle/>
          <a:p>
            <a:r>
              <a:rPr lang="he-IL" b="1" dirty="0"/>
              <a:t>זמינות</a:t>
            </a:r>
            <a:r>
              <a:rPr lang="en-US" b="1" dirty="0"/>
              <a:t> - </a:t>
            </a:r>
            <a:r>
              <a:rPr lang="he-IL" dirty="0"/>
              <a:t>הארגון מיישם מערכות גיבוי ושחזור נתונים כדי להבטיח שהמידע זמין גם במקרה של כשל במערכת הראשית. הגיבויים מתבצעים תמיד ונשמרים במקום בטוח.</a:t>
            </a:r>
          </a:p>
          <a:p>
            <a:r>
              <a:rPr lang="he-IL" dirty="0"/>
              <a:t>בנוסף הארגון משתמש בעוד סוגי רשתות וגם במערכת המפחיתה את העומס וזה בכדי לוודא שהשירותים יישארו זמינים גם במקרה של עליה חדה בעומס או תקלה מסוימת במערכת.</a:t>
            </a:r>
          </a:p>
          <a:p>
            <a:endParaRPr lang="he-IL" dirty="0"/>
          </a:p>
        </p:txBody>
      </p:sp>
    </p:spTree>
    <p:extLst>
      <p:ext uri="{BB962C8B-B14F-4D97-AF65-F5344CB8AC3E}">
        <p14:creationId xmlns:p14="http://schemas.microsoft.com/office/powerpoint/2010/main" val="2310525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BDA338E-41E0-4AF2-87C8-9CED10FF252F}"/>
              </a:ext>
            </a:extLst>
          </p:cNvPr>
          <p:cNvSpPr>
            <a:spLocks noGrp="1"/>
          </p:cNvSpPr>
          <p:nvPr>
            <p:ph type="title"/>
          </p:nvPr>
        </p:nvSpPr>
        <p:spPr>
          <a:xfrm>
            <a:off x="4876799" y="618518"/>
            <a:ext cx="6170611" cy="1478570"/>
          </a:xfrm>
        </p:spPr>
        <p:txBody>
          <a:bodyPr/>
          <a:lstStyle/>
          <a:p>
            <a:r>
              <a:rPr lang="he-IL" dirty="0"/>
              <a:t>גורמים שיוצרים סיכון לאבטחת מידע</a:t>
            </a:r>
          </a:p>
        </p:txBody>
      </p:sp>
      <p:sp>
        <p:nvSpPr>
          <p:cNvPr id="3" name="מציין מיקום תוכן 2">
            <a:extLst>
              <a:ext uri="{FF2B5EF4-FFF2-40B4-BE49-F238E27FC236}">
                <a16:creationId xmlns:a16="http://schemas.microsoft.com/office/drawing/2014/main" id="{2FD45A8E-FA1E-4D80-823C-9FBC3E5CE6F8}"/>
              </a:ext>
            </a:extLst>
          </p:cNvPr>
          <p:cNvSpPr>
            <a:spLocks noGrp="1"/>
          </p:cNvSpPr>
          <p:nvPr>
            <p:ph idx="1"/>
          </p:nvPr>
        </p:nvSpPr>
        <p:spPr/>
        <p:txBody>
          <a:bodyPr/>
          <a:lstStyle/>
          <a:p>
            <a:r>
              <a:rPr lang="he-IL" b="1" u="sng" dirty="0"/>
              <a:t>הקדמה: </a:t>
            </a:r>
            <a:r>
              <a:rPr lang="he-IL" dirty="0"/>
              <a:t>גורמים שיוצרים לי סיכון באבטחת מידע הם הגורמים שיכולים להשפיע על הסיכון הכולל לארגון בנוגע לאבטחת המידע שלו. וחשוב מאוד להבין ולהעריך גורמים אלו לצורך זיהוי איומים, הערכת סיכונים, ותכנון השלבים הבאים המתאימות לניהול ולצמצום הסיכונים. להלן בשקופיות הבאות נראה מספר גורמי מרכיבי סיכון מרכזיים</a:t>
            </a:r>
          </a:p>
          <a:p>
            <a:pPr marL="0" indent="0">
              <a:buNone/>
            </a:pPr>
            <a:endParaRPr lang="he-IL" dirty="0"/>
          </a:p>
        </p:txBody>
      </p:sp>
    </p:spTree>
    <p:extLst>
      <p:ext uri="{BB962C8B-B14F-4D97-AF65-F5344CB8AC3E}">
        <p14:creationId xmlns:p14="http://schemas.microsoft.com/office/powerpoint/2010/main" val="2307668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AFCC3F-CEDF-4147-9723-58C3C683FB1D}"/>
              </a:ext>
            </a:extLst>
          </p:cNvPr>
          <p:cNvSpPr>
            <a:spLocks noGrp="1"/>
          </p:cNvSpPr>
          <p:nvPr>
            <p:ph type="title"/>
          </p:nvPr>
        </p:nvSpPr>
        <p:spPr>
          <a:xfrm>
            <a:off x="8003458" y="618518"/>
            <a:ext cx="3456908" cy="1478570"/>
          </a:xfrm>
        </p:spPr>
        <p:txBody>
          <a:bodyPr/>
          <a:lstStyle/>
          <a:p>
            <a:r>
              <a:rPr lang="he-IL" dirty="0"/>
              <a:t>איומים </a:t>
            </a:r>
            <a:r>
              <a:rPr lang="en-US" dirty="0"/>
              <a:t>Threats</a:t>
            </a:r>
            <a:endParaRPr lang="he-IL" dirty="0"/>
          </a:p>
        </p:txBody>
      </p:sp>
      <p:sp>
        <p:nvSpPr>
          <p:cNvPr id="3" name="מציין מיקום תוכן 2">
            <a:extLst>
              <a:ext uri="{FF2B5EF4-FFF2-40B4-BE49-F238E27FC236}">
                <a16:creationId xmlns:a16="http://schemas.microsoft.com/office/drawing/2014/main" id="{5C5EAA88-9F89-476A-98F1-4ACF5363F50D}"/>
              </a:ext>
            </a:extLst>
          </p:cNvPr>
          <p:cNvSpPr>
            <a:spLocks noGrp="1"/>
          </p:cNvSpPr>
          <p:nvPr>
            <p:ph idx="1"/>
          </p:nvPr>
        </p:nvSpPr>
        <p:spPr/>
        <p:txBody>
          <a:bodyPr/>
          <a:lstStyle/>
          <a:p>
            <a:r>
              <a:rPr lang="he-IL" dirty="0"/>
              <a:t>איומים הם פעולות שעלולים לגרום נזק למידע או למערכת המידע שלנו.</a:t>
            </a:r>
          </a:p>
          <a:p>
            <a:r>
              <a:rPr lang="he-IL" b="1" dirty="0"/>
              <a:t>דוגמאות:</a:t>
            </a:r>
            <a:endParaRPr lang="he-IL" dirty="0"/>
          </a:p>
          <a:p>
            <a:r>
              <a:rPr lang="he-IL" dirty="0"/>
              <a:t>התקפות סייבר, כמו </a:t>
            </a:r>
            <a:r>
              <a:rPr lang="he-IL" dirty="0" err="1"/>
              <a:t>פישינג</a:t>
            </a:r>
            <a:r>
              <a:rPr lang="he-IL" dirty="0"/>
              <a:t>, מתקפות מניעת שירות </a:t>
            </a:r>
            <a:r>
              <a:rPr lang="en-US" dirty="0"/>
              <a:t> DDoS </a:t>
            </a:r>
            <a:r>
              <a:rPr lang="he-IL" dirty="0"/>
              <a:t>ותוכנות זדוניות.</a:t>
            </a:r>
          </a:p>
          <a:p>
            <a:r>
              <a:rPr lang="he-IL" dirty="0"/>
              <a:t>גורמים פנימיים, כמו עובדים לא מרוצים, טעויות אנוש.</a:t>
            </a:r>
          </a:p>
          <a:p>
            <a:r>
              <a:rPr lang="he-IL" dirty="0"/>
              <a:t>גורמים טבעיים, כנו שריפות, שיטפונות, רעידות אדמה.</a:t>
            </a:r>
          </a:p>
          <a:p>
            <a:endParaRPr lang="he-IL" dirty="0"/>
          </a:p>
        </p:txBody>
      </p:sp>
    </p:spTree>
    <p:extLst>
      <p:ext uri="{BB962C8B-B14F-4D97-AF65-F5344CB8AC3E}">
        <p14:creationId xmlns:p14="http://schemas.microsoft.com/office/powerpoint/2010/main" val="29624842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4639CBA-0118-4F22-8887-3AF45AE28FAD}"/>
              </a:ext>
            </a:extLst>
          </p:cNvPr>
          <p:cNvSpPr>
            <a:spLocks noGrp="1"/>
          </p:cNvSpPr>
          <p:nvPr>
            <p:ph type="title"/>
          </p:nvPr>
        </p:nvSpPr>
        <p:spPr>
          <a:xfrm>
            <a:off x="6095999" y="618518"/>
            <a:ext cx="4951411" cy="1478570"/>
          </a:xfrm>
        </p:spPr>
        <p:txBody>
          <a:bodyPr/>
          <a:lstStyle/>
          <a:p>
            <a:r>
              <a:rPr lang="he-IL" dirty="0"/>
              <a:t>פגיעות </a:t>
            </a:r>
            <a:r>
              <a:rPr lang="en-US" dirty="0"/>
              <a:t>Vulnerabilities</a:t>
            </a:r>
            <a:endParaRPr lang="he-IL" dirty="0"/>
          </a:p>
        </p:txBody>
      </p:sp>
      <p:sp>
        <p:nvSpPr>
          <p:cNvPr id="3" name="מציין מיקום תוכן 2">
            <a:extLst>
              <a:ext uri="{FF2B5EF4-FFF2-40B4-BE49-F238E27FC236}">
                <a16:creationId xmlns:a16="http://schemas.microsoft.com/office/drawing/2014/main" id="{41443DD8-ACB2-4478-B602-F28576865D3D}"/>
              </a:ext>
            </a:extLst>
          </p:cNvPr>
          <p:cNvSpPr>
            <a:spLocks noGrp="1"/>
          </p:cNvSpPr>
          <p:nvPr>
            <p:ph idx="1"/>
          </p:nvPr>
        </p:nvSpPr>
        <p:spPr/>
        <p:txBody>
          <a:bodyPr/>
          <a:lstStyle/>
          <a:p>
            <a:r>
              <a:rPr lang="he-IL" dirty="0"/>
              <a:t>פגיעות הם חולשה במערכת כך שיכולות להיות מנוצלות על ידי איומים כדי לגרום </a:t>
            </a:r>
            <a:r>
              <a:rPr lang="he-IL" dirty="0" err="1"/>
              <a:t>לבאלגן</a:t>
            </a:r>
            <a:r>
              <a:rPr lang="he-IL" dirty="0"/>
              <a:t>.</a:t>
            </a:r>
          </a:p>
          <a:p>
            <a:r>
              <a:rPr lang="he-IL" b="1" dirty="0"/>
              <a:t>דוגמאות:</a:t>
            </a:r>
            <a:endParaRPr lang="he-IL" dirty="0"/>
          </a:p>
          <a:p>
            <a:r>
              <a:rPr lang="he-IL" dirty="0"/>
              <a:t>חולשות תוכנה, למשל באגים, פגיעות אבטחה.</a:t>
            </a:r>
          </a:p>
          <a:p>
            <a:r>
              <a:rPr lang="he-IL" dirty="0"/>
              <a:t>נהלים לקויים, כמו סיסמאות חלשות, ניהול גישה לא נכון.</a:t>
            </a:r>
          </a:p>
          <a:p>
            <a:r>
              <a:rPr lang="he-IL" dirty="0"/>
              <a:t>תשתיות לא מאובטחות, כמו רשתות לא מוצפנות.</a:t>
            </a:r>
          </a:p>
          <a:p>
            <a:endParaRPr lang="he-IL" dirty="0"/>
          </a:p>
        </p:txBody>
      </p:sp>
    </p:spTree>
    <p:extLst>
      <p:ext uri="{BB962C8B-B14F-4D97-AF65-F5344CB8AC3E}">
        <p14:creationId xmlns:p14="http://schemas.microsoft.com/office/powerpoint/2010/main" val="30005889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834E87A-1B29-429E-B4E3-AF7723DF1137}"/>
              </a:ext>
            </a:extLst>
          </p:cNvPr>
          <p:cNvSpPr>
            <a:spLocks noGrp="1"/>
          </p:cNvSpPr>
          <p:nvPr>
            <p:ph type="title"/>
          </p:nvPr>
        </p:nvSpPr>
        <p:spPr>
          <a:xfrm>
            <a:off x="7364361" y="618518"/>
            <a:ext cx="3683050" cy="1478570"/>
          </a:xfrm>
        </p:spPr>
        <p:txBody>
          <a:bodyPr/>
          <a:lstStyle/>
          <a:p>
            <a:r>
              <a:rPr lang="he-IL" dirty="0"/>
              <a:t>חשיפה </a:t>
            </a:r>
            <a:r>
              <a:rPr lang="en-US" dirty="0"/>
              <a:t>Exposure</a:t>
            </a:r>
            <a:endParaRPr lang="he-IL" dirty="0"/>
          </a:p>
        </p:txBody>
      </p:sp>
      <p:sp>
        <p:nvSpPr>
          <p:cNvPr id="3" name="מציין מיקום תוכן 2">
            <a:extLst>
              <a:ext uri="{FF2B5EF4-FFF2-40B4-BE49-F238E27FC236}">
                <a16:creationId xmlns:a16="http://schemas.microsoft.com/office/drawing/2014/main" id="{C7155EE7-87A6-44F0-B176-808341DB39FC}"/>
              </a:ext>
            </a:extLst>
          </p:cNvPr>
          <p:cNvSpPr>
            <a:spLocks noGrp="1"/>
          </p:cNvSpPr>
          <p:nvPr>
            <p:ph idx="1"/>
          </p:nvPr>
        </p:nvSpPr>
        <p:spPr/>
        <p:txBody>
          <a:bodyPr/>
          <a:lstStyle/>
          <a:p>
            <a:r>
              <a:rPr lang="he-IL" dirty="0"/>
              <a:t>חשיפה מתארת את האפשרות שבה המידע או המערכות חשופים לאיומים ולפגיעות.</a:t>
            </a:r>
          </a:p>
          <a:p>
            <a:r>
              <a:rPr lang="he-IL" b="1" dirty="0"/>
              <a:t>דוגמאות:</a:t>
            </a:r>
            <a:endParaRPr lang="he-IL" dirty="0"/>
          </a:p>
          <a:p>
            <a:r>
              <a:rPr lang="he-IL" dirty="0"/>
              <a:t>גישה פיזית לא מאובטחת למערכות המחשוב.</a:t>
            </a:r>
          </a:p>
          <a:p>
            <a:r>
              <a:rPr lang="he-IL" dirty="0"/>
              <a:t>חיבורים לא מאובטחים לרשתות חיצוניות.</a:t>
            </a:r>
          </a:p>
          <a:p>
            <a:r>
              <a:rPr lang="he-IL" dirty="0"/>
              <a:t>שימוש בשירותי ענן ללא אמצעי אבטחה מתאימים.</a:t>
            </a:r>
          </a:p>
          <a:p>
            <a:endParaRPr lang="he-IL" dirty="0"/>
          </a:p>
        </p:txBody>
      </p:sp>
    </p:spTree>
    <p:extLst>
      <p:ext uri="{BB962C8B-B14F-4D97-AF65-F5344CB8AC3E}">
        <p14:creationId xmlns:p14="http://schemas.microsoft.com/office/powerpoint/2010/main" val="3500487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0C029E7-C263-4C88-A573-DCFA3F0296FD}"/>
              </a:ext>
            </a:extLst>
          </p:cNvPr>
          <p:cNvSpPr>
            <a:spLocks noGrp="1"/>
          </p:cNvSpPr>
          <p:nvPr>
            <p:ph type="title"/>
          </p:nvPr>
        </p:nvSpPr>
        <p:spPr>
          <a:xfrm>
            <a:off x="7423355" y="618518"/>
            <a:ext cx="3624056" cy="1478570"/>
          </a:xfrm>
        </p:spPr>
        <p:txBody>
          <a:bodyPr/>
          <a:lstStyle/>
          <a:p>
            <a:r>
              <a:rPr lang="he-IL" dirty="0"/>
              <a:t>השלכות </a:t>
            </a:r>
            <a:r>
              <a:rPr lang="en-US" dirty="0"/>
              <a:t>Impacts</a:t>
            </a:r>
            <a:endParaRPr lang="he-IL" dirty="0"/>
          </a:p>
        </p:txBody>
      </p:sp>
      <p:sp>
        <p:nvSpPr>
          <p:cNvPr id="3" name="מציין מיקום תוכן 2">
            <a:extLst>
              <a:ext uri="{FF2B5EF4-FFF2-40B4-BE49-F238E27FC236}">
                <a16:creationId xmlns:a16="http://schemas.microsoft.com/office/drawing/2014/main" id="{67F8D21A-7919-44EF-9F7C-72AD8FFFCDC5}"/>
              </a:ext>
            </a:extLst>
          </p:cNvPr>
          <p:cNvSpPr>
            <a:spLocks noGrp="1"/>
          </p:cNvSpPr>
          <p:nvPr>
            <p:ph idx="1"/>
          </p:nvPr>
        </p:nvSpPr>
        <p:spPr/>
        <p:txBody>
          <a:bodyPr/>
          <a:lstStyle/>
          <a:p>
            <a:r>
              <a:rPr lang="he-IL" dirty="0"/>
              <a:t>השלכות הן התוצאה שניתן יהיה אפשר לקבל לאחר שהיה אירוע אבטחה מוצלח, כולל הנזק שנגרם.</a:t>
            </a:r>
          </a:p>
          <a:p>
            <a:r>
              <a:rPr lang="he-IL" b="1" dirty="0"/>
              <a:t>דוגמאות:</a:t>
            </a:r>
            <a:endParaRPr lang="he-IL" dirty="0"/>
          </a:p>
          <a:p>
            <a:r>
              <a:rPr lang="he-IL" dirty="0"/>
              <a:t>אובדן מידע, כמו אובדן מסמכים חשובים, נתוני לקוחות.</a:t>
            </a:r>
          </a:p>
          <a:p>
            <a:r>
              <a:rPr lang="he-IL" dirty="0"/>
              <a:t>נזק פיננסי, כמו הפסדים כלכליים, קנסות.</a:t>
            </a:r>
          </a:p>
          <a:p>
            <a:r>
              <a:rPr lang="he-IL" dirty="0"/>
              <a:t>פגיעה במוניטין, כמו אובדן אמון לקוחות.</a:t>
            </a:r>
          </a:p>
          <a:p>
            <a:endParaRPr lang="he-IL" dirty="0"/>
          </a:p>
        </p:txBody>
      </p:sp>
    </p:spTree>
    <p:extLst>
      <p:ext uri="{BB962C8B-B14F-4D97-AF65-F5344CB8AC3E}">
        <p14:creationId xmlns:p14="http://schemas.microsoft.com/office/powerpoint/2010/main" val="33402876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63FDD4-1D65-4E26-BDF9-ACF88FF0E1D8}"/>
              </a:ext>
            </a:extLst>
          </p:cNvPr>
          <p:cNvSpPr>
            <a:spLocks noGrp="1"/>
          </p:cNvSpPr>
          <p:nvPr>
            <p:ph type="title"/>
          </p:nvPr>
        </p:nvSpPr>
        <p:spPr>
          <a:xfrm>
            <a:off x="5791199" y="618518"/>
            <a:ext cx="5256211" cy="1478570"/>
          </a:xfrm>
        </p:spPr>
        <p:txBody>
          <a:bodyPr/>
          <a:lstStyle/>
          <a:p>
            <a:r>
              <a:rPr lang="he-IL" dirty="0"/>
              <a:t>גורמי מרכיבי סיכון -  בתהליכים</a:t>
            </a:r>
          </a:p>
        </p:txBody>
      </p:sp>
      <p:sp>
        <p:nvSpPr>
          <p:cNvPr id="3" name="מציין מיקום תוכן 2">
            <a:extLst>
              <a:ext uri="{FF2B5EF4-FFF2-40B4-BE49-F238E27FC236}">
                <a16:creationId xmlns:a16="http://schemas.microsoft.com/office/drawing/2014/main" id="{643D3B07-9278-4836-BAF0-D7B94DFD5E94}"/>
              </a:ext>
            </a:extLst>
          </p:cNvPr>
          <p:cNvSpPr>
            <a:spLocks noGrp="1"/>
          </p:cNvSpPr>
          <p:nvPr>
            <p:ph idx="1"/>
          </p:nvPr>
        </p:nvSpPr>
        <p:spPr/>
        <p:txBody>
          <a:bodyPr>
            <a:normAutofit/>
          </a:bodyPr>
          <a:lstStyle/>
          <a:p>
            <a:r>
              <a:rPr lang="he-IL" dirty="0"/>
              <a:t>קודם כל נסביר מהם תהליכים (תלמדו בהמשך עם ד"ר יחזקאל גיא): תהליכים הם כללים ונהלים שהארגון מגדיר כדי לנהל ולתחזק את מערכות המידע שלו. גורמי סיכון בתהליכים נובעים מחולשות או כשלים בתהליכים אלו.</a:t>
            </a:r>
          </a:p>
          <a:p>
            <a:r>
              <a:rPr lang="he-IL" b="1" dirty="0"/>
              <a:t>דוגמאות:</a:t>
            </a:r>
          </a:p>
          <a:p>
            <a:r>
              <a:rPr lang="he-IL" dirty="0"/>
              <a:t>נהלי עבודה לא מתאימים - אם הארגון לא מגדיר נהלים ברורים לאבטחת מידע, כמו מדיניות סיסמאות חזקות או ניהול גישה למידע רגיש, ייתכן שיהיו חורים בתהליך האבטחה.</a:t>
            </a:r>
          </a:p>
          <a:p>
            <a:r>
              <a:rPr lang="he-IL" dirty="0"/>
              <a:t>חוסר בבקרות ותיעוד - אם לא מתעדים שינויים במערכות ולא מבצעים בקרות שוטפות, יכול להיות שלא ישימו לב לשינויים בלתי מורשים או בבעיות שנוצרות.</a:t>
            </a:r>
          </a:p>
          <a:p>
            <a:r>
              <a:rPr lang="he-IL" dirty="0"/>
              <a:t>תהליכי גיבוי ושחזור לא יעילים - תהליך גיבוי ושחזור לא נכון או לא מתורגל יכול לגרום לאובדן מידע קריטי בזמן חירום.</a:t>
            </a:r>
          </a:p>
          <a:p>
            <a:endParaRPr lang="he-IL" dirty="0"/>
          </a:p>
        </p:txBody>
      </p:sp>
    </p:spTree>
    <p:extLst>
      <p:ext uri="{BB962C8B-B14F-4D97-AF65-F5344CB8AC3E}">
        <p14:creationId xmlns:p14="http://schemas.microsoft.com/office/powerpoint/2010/main" val="2583691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C7C8B7D-657B-428F-8816-E43F7D2400F2}"/>
              </a:ext>
            </a:extLst>
          </p:cNvPr>
          <p:cNvSpPr>
            <a:spLocks noGrp="1"/>
          </p:cNvSpPr>
          <p:nvPr>
            <p:ph type="title"/>
          </p:nvPr>
        </p:nvSpPr>
        <p:spPr>
          <a:xfrm>
            <a:off x="5574891" y="618518"/>
            <a:ext cx="5472520" cy="1478570"/>
          </a:xfrm>
        </p:spPr>
        <p:txBody>
          <a:bodyPr/>
          <a:lstStyle/>
          <a:p>
            <a:r>
              <a:rPr lang="he-IL" dirty="0"/>
              <a:t>גורמי מרכיבי סיכון - בטכנולוגיות</a:t>
            </a:r>
          </a:p>
        </p:txBody>
      </p:sp>
      <p:sp>
        <p:nvSpPr>
          <p:cNvPr id="3" name="מציין מיקום תוכן 2">
            <a:extLst>
              <a:ext uri="{FF2B5EF4-FFF2-40B4-BE49-F238E27FC236}">
                <a16:creationId xmlns:a16="http://schemas.microsoft.com/office/drawing/2014/main" id="{3BF3CA4D-1996-4E37-98D2-C6773E0C5FBC}"/>
              </a:ext>
            </a:extLst>
          </p:cNvPr>
          <p:cNvSpPr>
            <a:spLocks noGrp="1"/>
          </p:cNvSpPr>
          <p:nvPr>
            <p:ph idx="1"/>
          </p:nvPr>
        </p:nvSpPr>
        <p:spPr/>
        <p:txBody>
          <a:bodyPr>
            <a:normAutofit/>
          </a:bodyPr>
          <a:lstStyle/>
          <a:p>
            <a:r>
              <a:rPr lang="he-IL" dirty="0"/>
              <a:t>טכנולוגיות הן הכלים שהארגון משתמש בהם וזה </a:t>
            </a:r>
            <a:r>
              <a:rPr lang="he-IL" dirty="0" err="1"/>
              <a:t>בישביל</a:t>
            </a:r>
            <a:r>
              <a:rPr lang="he-IL" dirty="0"/>
              <a:t> לנהל ולאבטח את מערכות המידע. גורמי סיכון בטכנולוגיות נובעים מפגיעות במערכות או משימוש לא נכון בטכנולוגיות.</a:t>
            </a:r>
          </a:p>
          <a:p>
            <a:r>
              <a:rPr lang="he-IL" b="1" dirty="0"/>
              <a:t>דוגמאות:</a:t>
            </a:r>
          </a:p>
          <a:p>
            <a:r>
              <a:rPr lang="he-IL" dirty="0"/>
              <a:t>חולשות תוכנה - מערכות הפעלה ותוכנות יכולות להכיל פגיעות שגורמות לחשיפת מידע או פריצה למערכת.</a:t>
            </a:r>
          </a:p>
          <a:p>
            <a:r>
              <a:rPr lang="he-IL" dirty="0"/>
              <a:t>תשתיות לא מאובטחות - רשתות תקשורת לא מאובטחות או חוסר הצפנה (סימטרי או אסימטרי) יכולים לאפשר האזנה או גניבת מידע.</a:t>
            </a:r>
          </a:p>
          <a:p>
            <a:r>
              <a:rPr lang="he-IL" dirty="0"/>
              <a:t>חוסר עדכונים ותיקונים - אם לא מעדכנים את התוכנות באופן תדירי, הן נשארות פגיעות לפרצות אבטחה ידועות.</a:t>
            </a:r>
          </a:p>
          <a:p>
            <a:endParaRPr lang="he-IL" dirty="0"/>
          </a:p>
        </p:txBody>
      </p:sp>
    </p:spTree>
    <p:extLst>
      <p:ext uri="{BB962C8B-B14F-4D97-AF65-F5344CB8AC3E}">
        <p14:creationId xmlns:p14="http://schemas.microsoft.com/office/powerpoint/2010/main" val="4048303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BEF1FB-895B-4B42-8E6D-FED6A5212D4C}"/>
              </a:ext>
            </a:extLst>
          </p:cNvPr>
          <p:cNvSpPr>
            <a:spLocks noGrp="1"/>
          </p:cNvSpPr>
          <p:nvPr>
            <p:ph type="title"/>
          </p:nvPr>
        </p:nvSpPr>
        <p:spPr>
          <a:xfrm>
            <a:off x="6253316" y="618518"/>
            <a:ext cx="4794095" cy="1478570"/>
          </a:xfrm>
        </p:spPr>
        <p:txBody>
          <a:bodyPr/>
          <a:lstStyle/>
          <a:p>
            <a:r>
              <a:rPr lang="he-IL" dirty="0"/>
              <a:t>גורמי מרכיבי סיכון - אנושיים</a:t>
            </a:r>
          </a:p>
        </p:txBody>
      </p:sp>
      <p:sp>
        <p:nvSpPr>
          <p:cNvPr id="3" name="מציין מיקום תוכן 2">
            <a:extLst>
              <a:ext uri="{FF2B5EF4-FFF2-40B4-BE49-F238E27FC236}">
                <a16:creationId xmlns:a16="http://schemas.microsoft.com/office/drawing/2014/main" id="{DAD4CE79-EA66-4E7D-8BE0-76F7052CDF10}"/>
              </a:ext>
            </a:extLst>
          </p:cNvPr>
          <p:cNvSpPr>
            <a:spLocks noGrp="1"/>
          </p:cNvSpPr>
          <p:nvPr>
            <p:ph idx="1"/>
          </p:nvPr>
        </p:nvSpPr>
        <p:spPr/>
        <p:txBody>
          <a:bodyPr>
            <a:normAutofit/>
          </a:bodyPr>
          <a:lstStyle/>
          <a:p>
            <a:r>
              <a:rPr lang="he-IL" dirty="0"/>
              <a:t>הגורם האנושי הוא אחד הגורמים החשובים ביותר בכל סוגיית אבטחת המידע. מרכיבי סיכון אנושיים נגזרים מההתנהגות, ידע של האנשים בחברה.</a:t>
            </a:r>
          </a:p>
          <a:p>
            <a:r>
              <a:rPr lang="he-IL" b="1" dirty="0"/>
              <a:t>דוגמאות:</a:t>
            </a:r>
          </a:p>
          <a:p>
            <a:r>
              <a:rPr lang="he-IL" dirty="0"/>
              <a:t>טעויות אנוש - עובדים יכולים בטעות להזין מידע שגוי, לשכוח לעדכן סיסמאות, או ללחוץ על קישורים זדוניים.</a:t>
            </a:r>
          </a:p>
          <a:p>
            <a:r>
              <a:rPr lang="he-IL" dirty="0"/>
              <a:t>חוסר מודעות - עובדים שלא מודעים לסיכונים באינטרנט עשויים ליפול למלכודות </a:t>
            </a:r>
            <a:r>
              <a:rPr lang="he-IL" dirty="0" err="1"/>
              <a:t>פישינג</a:t>
            </a:r>
            <a:r>
              <a:rPr lang="he-IL" dirty="0"/>
              <a:t> או להוריד תוכנות זדוניות (</a:t>
            </a:r>
            <a:r>
              <a:rPr lang="en-US" dirty="0"/>
              <a:t>XSS</a:t>
            </a:r>
            <a:r>
              <a:rPr lang="he-IL" dirty="0"/>
              <a:t>).</a:t>
            </a:r>
            <a:endParaRPr lang="en-US" dirty="0"/>
          </a:p>
          <a:p>
            <a:r>
              <a:rPr lang="he-IL" dirty="0"/>
              <a:t>גורמים זדוניים פנימיים</a:t>
            </a:r>
            <a:r>
              <a:rPr lang="en-US" dirty="0"/>
              <a:t> - </a:t>
            </a:r>
            <a:r>
              <a:rPr lang="he-IL" dirty="0"/>
              <a:t>עובדים לא מרוצים או כאלו שיש להם גישה למידע רגיש יכולים לנצל את הגישה שלהם כדי לגרום נזק</a:t>
            </a:r>
            <a:r>
              <a:rPr lang="en-US" dirty="0"/>
              <a:t> </a:t>
            </a:r>
            <a:r>
              <a:rPr lang="he-IL" dirty="0"/>
              <a:t>מתוך נקמה למקום, או ממקום של איומים.</a:t>
            </a:r>
            <a:endParaRPr lang="he-IL" b="1" dirty="0"/>
          </a:p>
        </p:txBody>
      </p:sp>
    </p:spTree>
    <p:extLst>
      <p:ext uri="{BB962C8B-B14F-4D97-AF65-F5344CB8AC3E}">
        <p14:creationId xmlns:p14="http://schemas.microsoft.com/office/powerpoint/2010/main" val="13670016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D2995ED-2AB1-4270-A042-2F410AD2DFF4}"/>
              </a:ext>
            </a:extLst>
          </p:cNvPr>
          <p:cNvSpPr>
            <a:spLocks noGrp="1"/>
          </p:cNvSpPr>
          <p:nvPr>
            <p:ph type="title"/>
          </p:nvPr>
        </p:nvSpPr>
        <p:spPr>
          <a:xfrm>
            <a:off x="6282813" y="618518"/>
            <a:ext cx="4764598" cy="1478570"/>
          </a:xfrm>
        </p:spPr>
        <p:txBody>
          <a:bodyPr/>
          <a:lstStyle/>
          <a:p>
            <a:r>
              <a:rPr lang="he-IL" dirty="0"/>
              <a:t>שאלה על גורמי מרכיבי סיכון</a:t>
            </a:r>
          </a:p>
        </p:txBody>
      </p:sp>
      <p:sp>
        <p:nvSpPr>
          <p:cNvPr id="3" name="מציין מיקום תוכן 2">
            <a:extLst>
              <a:ext uri="{FF2B5EF4-FFF2-40B4-BE49-F238E27FC236}">
                <a16:creationId xmlns:a16="http://schemas.microsoft.com/office/drawing/2014/main" id="{21E28B83-BABD-407C-919D-89B12E5F9819}"/>
              </a:ext>
            </a:extLst>
          </p:cNvPr>
          <p:cNvSpPr>
            <a:spLocks noGrp="1"/>
          </p:cNvSpPr>
          <p:nvPr>
            <p:ph idx="1"/>
          </p:nvPr>
        </p:nvSpPr>
        <p:spPr>
          <a:xfrm>
            <a:off x="1141412" y="2249486"/>
            <a:ext cx="9905999" cy="4151313"/>
          </a:xfrm>
        </p:spPr>
        <p:txBody>
          <a:bodyPr>
            <a:normAutofit/>
          </a:bodyPr>
          <a:lstStyle/>
          <a:p>
            <a:r>
              <a:rPr lang="he-IL" dirty="0"/>
              <a:t>חברת </a:t>
            </a:r>
            <a:r>
              <a:rPr lang="he-IL" dirty="0" err="1"/>
              <a:t>קרית</a:t>
            </a:r>
            <a:r>
              <a:rPr lang="he-IL" dirty="0"/>
              <a:t> נוער החליטה לבצע הערכת סיכונים מקיפה למערכות המידע שלהם. במסגרת ההערכה, זוהו מספר פגיעות, איומים וחשיפות במערכות השונות. בהתבסס על המידע הבא, נתח את הסיכונים המוצגים והתאם לכל אחד מהם את גורמי הסיכון הרלוונטיים - תהליכים, טכנולוגיות ואנושיים.</a:t>
            </a:r>
          </a:p>
          <a:p>
            <a:r>
              <a:rPr lang="he-IL" dirty="0"/>
              <a:t>א. פגיעות - חוסר עדכון קבוע של מערכות הפעלה ותוכנות על שרתים. נהלי גיבוי ושחזור נתונים אינם מתורגלים באופן קבוע ואינם מתועדים כמו שצריך.</a:t>
            </a:r>
          </a:p>
          <a:p>
            <a:r>
              <a:rPr lang="he-IL" dirty="0"/>
              <a:t>ב. איומים - התקפות </a:t>
            </a:r>
            <a:r>
              <a:rPr lang="he-IL" dirty="0" err="1"/>
              <a:t>פישינג</a:t>
            </a:r>
            <a:r>
              <a:rPr lang="he-IL" dirty="0"/>
              <a:t> שמכוונות לעובדי הארגון, שמטרתן לגנוב אישורי גישה למערכות פנימיות. תוכנות זדוניות שמופצות ברשת הפנימית עקב הורדות בלתי מבוקרות של קבצים מהאינטרנט.</a:t>
            </a:r>
          </a:p>
          <a:p>
            <a:r>
              <a:rPr lang="he-IL" dirty="0"/>
              <a:t>ג. חשיפות - רשת אלחוטית פנימית שאינה מוצפנת ואינה מאובטחת כראוי. גישה פיזית בלתי מוגבלת לחדרי שרתים ואזורי עבודה מאוד מאוד רגישים.</a:t>
            </a:r>
          </a:p>
          <a:p>
            <a:r>
              <a:rPr lang="he-IL" b="1" dirty="0"/>
              <a:t>לאחר שקבלת את המידע הנ"ל:</a:t>
            </a:r>
            <a:r>
              <a:rPr lang="he-IL" dirty="0"/>
              <a:t> עליך סטודנט יקר לפרט את גורמי הסיכון המיוחסים לכל פגיעות, איומים וחשיפות. הסבר כיצד ניתן לצמצם או לנהל כל אחד מהסיכונים המוזכרים.</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3282326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0477F89-3D81-4177-92F3-12F8955F26B1}"/>
              </a:ext>
            </a:extLst>
          </p:cNvPr>
          <p:cNvSpPr>
            <a:spLocks noGrp="1"/>
          </p:cNvSpPr>
          <p:nvPr>
            <p:ph type="title"/>
          </p:nvPr>
        </p:nvSpPr>
        <p:spPr>
          <a:xfrm>
            <a:off x="6341805" y="618518"/>
            <a:ext cx="4705605" cy="1478570"/>
          </a:xfrm>
        </p:spPr>
        <p:txBody>
          <a:bodyPr/>
          <a:lstStyle/>
          <a:p>
            <a:r>
              <a:rPr lang="he-IL" dirty="0"/>
              <a:t>תשובה – גורמי מרכיבי סיכון</a:t>
            </a:r>
          </a:p>
        </p:txBody>
      </p:sp>
      <p:sp>
        <p:nvSpPr>
          <p:cNvPr id="6" name="TextBox 5">
            <a:extLst>
              <a:ext uri="{FF2B5EF4-FFF2-40B4-BE49-F238E27FC236}">
                <a16:creationId xmlns:a16="http://schemas.microsoft.com/office/drawing/2014/main" id="{A8665765-AC42-46BB-9CF8-0235DF5732CF}"/>
              </a:ext>
            </a:extLst>
          </p:cNvPr>
          <p:cNvSpPr txBox="1"/>
          <p:nvPr/>
        </p:nvSpPr>
        <p:spPr>
          <a:xfrm>
            <a:off x="1425677" y="2097088"/>
            <a:ext cx="9621733" cy="5909310"/>
          </a:xfrm>
          <a:prstGeom prst="rect">
            <a:avLst/>
          </a:prstGeom>
          <a:noFill/>
        </p:spPr>
        <p:txBody>
          <a:bodyPr wrap="square" rtlCol="1">
            <a:spAutoFit/>
          </a:bodyPr>
          <a:lstStyle/>
          <a:p>
            <a:pPr algn="r"/>
            <a:r>
              <a:rPr lang="he-IL" b="1" u="sng" dirty="0"/>
              <a:t>על בעיית</a:t>
            </a:r>
            <a:r>
              <a:rPr lang="he-IL" b="1" dirty="0"/>
              <a:t> - </a:t>
            </a:r>
            <a:r>
              <a:rPr lang="he-IL" dirty="0"/>
              <a:t>חוסר עדכון קבוע של מערכות הפעלה </a:t>
            </a:r>
            <a:r>
              <a:rPr lang="he-IL"/>
              <a:t>ותוכנות על השרתים</a:t>
            </a:r>
            <a:r>
              <a:rPr lang="he-IL" dirty="0"/>
              <a:t>.</a:t>
            </a:r>
            <a:endParaRPr lang="he-IL" b="1" u="sng" dirty="0"/>
          </a:p>
          <a:p>
            <a:pPr algn="r"/>
            <a:endParaRPr lang="he-IL" b="1" u="sng" dirty="0"/>
          </a:p>
          <a:p>
            <a:pPr algn="r"/>
            <a:r>
              <a:rPr lang="he-IL" b="1" u="sng" dirty="0"/>
              <a:t>גורם סיכון</a:t>
            </a:r>
            <a:r>
              <a:rPr lang="he-IL" dirty="0"/>
              <a:t> - טכנולוגיות</a:t>
            </a:r>
          </a:p>
          <a:p>
            <a:pPr algn="r"/>
            <a:endParaRPr lang="he-IL" dirty="0"/>
          </a:p>
          <a:p>
            <a:pPr algn="r"/>
            <a:r>
              <a:rPr lang="he-IL" b="1" dirty="0"/>
              <a:t>פתרון -</a:t>
            </a:r>
            <a:r>
              <a:rPr lang="he-IL" dirty="0"/>
              <a:t> יש להפעיל מצב של עדכונים אוטומטיים למערכות ההפעלה והתוכנות על השרתים. בנוסף יש לעקוב אחרי ההודעות על עדכוני אבטחה מיצרני התוכנה ולהתקין אותם ללא אפשרות דחיה.</a:t>
            </a:r>
          </a:p>
          <a:p>
            <a:pPr algn="r"/>
            <a:endParaRPr lang="he-IL" dirty="0"/>
          </a:p>
          <a:p>
            <a:pPr algn="r"/>
            <a:endParaRPr lang="he-IL" dirty="0"/>
          </a:p>
          <a:p>
            <a:pPr algn="r"/>
            <a:endParaRPr lang="he-IL" dirty="0"/>
          </a:p>
          <a:p>
            <a:pPr algn="r"/>
            <a:r>
              <a:rPr lang="he-IL" b="1" u="sng" dirty="0"/>
              <a:t>על בעיית</a:t>
            </a:r>
            <a:r>
              <a:rPr lang="he-IL" dirty="0"/>
              <a:t> - רשת אלחוטית פנימית שאינה מוצפנת ואינה מאובטחת.</a:t>
            </a:r>
          </a:p>
          <a:p>
            <a:pPr algn="r"/>
            <a:endParaRPr lang="he-IL" dirty="0"/>
          </a:p>
          <a:p>
            <a:pPr algn="r"/>
            <a:r>
              <a:rPr lang="he-IL" dirty="0"/>
              <a:t>גורם סיכון – טכנולוגיות</a:t>
            </a:r>
          </a:p>
          <a:p>
            <a:pPr algn="r"/>
            <a:endParaRPr lang="he-IL" dirty="0"/>
          </a:p>
          <a:p>
            <a:pPr algn="r"/>
            <a:r>
              <a:rPr lang="he-IL" dirty="0"/>
              <a:t>פתרון – כדאי להפעיל הצפנה חזקה על הרשת האלחוטית, ובנוסף ולהשתמש בשיטות אימות חזקות. </a:t>
            </a:r>
          </a:p>
          <a:p>
            <a:pPr algn="r"/>
            <a:endParaRPr lang="he-IL" dirty="0"/>
          </a:p>
          <a:p>
            <a:pPr algn="r"/>
            <a:endParaRPr lang="he-IL" dirty="0"/>
          </a:p>
          <a:p>
            <a:pPr algn="r"/>
            <a:endParaRPr lang="he-IL" dirty="0"/>
          </a:p>
          <a:p>
            <a:pPr algn="r"/>
            <a:endParaRPr lang="he-IL" dirty="0"/>
          </a:p>
          <a:p>
            <a:pPr algn="r"/>
            <a:endParaRPr lang="he-IL" dirty="0"/>
          </a:p>
          <a:p>
            <a:pPr algn="r"/>
            <a:endParaRPr lang="he-IL" dirty="0"/>
          </a:p>
          <a:p>
            <a:pPr algn="r"/>
            <a:endParaRPr lang="he-IL" dirty="0"/>
          </a:p>
        </p:txBody>
      </p:sp>
    </p:spTree>
    <p:extLst>
      <p:ext uri="{BB962C8B-B14F-4D97-AF65-F5344CB8AC3E}">
        <p14:creationId xmlns:p14="http://schemas.microsoft.com/office/powerpoint/2010/main" val="21347174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E83F957-93EC-4B73-AD4B-F3BD1859E415}"/>
              </a:ext>
            </a:extLst>
          </p:cNvPr>
          <p:cNvSpPr>
            <a:spLocks noGrp="1"/>
          </p:cNvSpPr>
          <p:nvPr>
            <p:ph type="title"/>
          </p:nvPr>
        </p:nvSpPr>
        <p:spPr>
          <a:xfrm>
            <a:off x="6272981" y="618518"/>
            <a:ext cx="4774430" cy="1478570"/>
          </a:xfrm>
        </p:spPr>
        <p:txBody>
          <a:bodyPr/>
          <a:lstStyle/>
          <a:p>
            <a:r>
              <a:rPr lang="he-IL" dirty="0"/>
              <a:t>תשובה – גורמי מרכיבי סיכון</a:t>
            </a:r>
          </a:p>
        </p:txBody>
      </p:sp>
      <p:sp>
        <p:nvSpPr>
          <p:cNvPr id="3" name="מציין מיקום תוכן 2">
            <a:extLst>
              <a:ext uri="{FF2B5EF4-FFF2-40B4-BE49-F238E27FC236}">
                <a16:creationId xmlns:a16="http://schemas.microsoft.com/office/drawing/2014/main" id="{A4C80C8F-0111-420B-8567-BB71AB0B9533}"/>
              </a:ext>
            </a:extLst>
          </p:cNvPr>
          <p:cNvSpPr>
            <a:spLocks noGrp="1"/>
          </p:cNvSpPr>
          <p:nvPr>
            <p:ph idx="1"/>
          </p:nvPr>
        </p:nvSpPr>
        <p:spPr/>
        <p:txBody>
          <a:bodyPr/>
          <a:lstStyle/>
          <a:p>
            <a:r>
              <a:rPr lang="he-IL" b="1" u="sng" dirty="0"/>
              <a:t>על בעיית </a:t>
            </a:r>
            <a:r>
              <a:rPr lang="he-IL" dirty="0"/>
              <a:t>- נהלי גיבוי ושחזור נתונים אינם מתורגלים ואינם מתועדים כראוי.</a:t>
            </a:r>
          </a:p>
          <a:p>
            <a:r>
              <a:rPr lang="he-IL" b="1" u="sng" dirty="0"/>
              <a:t>גורם סיכון </a:t>
            </a:r>
            <a:r>
              <a:rPr lang="he-IL" dirty="0"/>
              <a:t>– תהליכים.</a:t>
            </a:r>
          </a:p>
          <a:p>
            <a:r>
              <a:rPr lang="he-IL" b="1" u="sng" dirty="0"/>
              <a:t>פתרון</a:t>
            </a:r>
            <a:r>
              <a:rPr lang="he-IL" dirty="0"/>
              <a:t> - צריך לייצר נהלי גיבוי ושחזור מסודרים ולבדוק שהם מתועדים ומתורגלים באופן סדיר. זה כולל ביצוע בדיקות תקופתיות לוודא שהגיבויים מתבצעים בצורה נכונה וששחזור נתונים מתבצע כמו שצריך.</a:t>
            </a:r>
          </a:p>
          <a:p>
            <a:endParaRPr lang="he-IL" dirty="0"/>
          </a:p>
        </p:txBody>
      </p:sp>
    </p:spTree>
    <p:extLst>
      <p:ext uri="{BB962C8B-B14F-4D97-AF65-F5344CB8AC3E}">
        <p14:creationId xmlns:p14="http://schemas.microsoft.com/office/powerpoint/2010/main" val="441102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F6A28F3-F667-4903-8522-963DDF7F2322}"/>
              </a:ext>
            </a:extLst>
          </p:cNvPr>
          <p:cNvSpPr>
            <a:spLocks noGrp="1"/>
          </p:cNvSpPr>
          <p:nvPr>
            <p:ph type="title"/>
          </p:nvPr>
        </p:nvSpPr>
        <p:spPr>
          <a:xfrm>
            <a:off x="6243483" y="618518"/>
            <a:ext cx="4803927" cy="1478570"/>
          </a:xfrm>
        </p:spPr>
        <p:txBody>
          <a:bodyPr/>
          <a:lstStyle/>
          <a:p>
            <a:r>
              <a:rPr lang="he-IL" dirty="0"/>
              <a:t>תשובה – גורמי מרכיבי סיכון</a:t>
            </a:r>
          </a:p>
        </p:txBody>
      </p:sp>
      <p:sp>
        <p:nvSpPr>
          <p:cNvPr id="3" name="מציין מיקום תוכן 2">
            <a:extLst>
              <a:ext uri="{FF2B5EF4-FFF2-40B4-BE49-F238E27FC236}">
                <a16:creationId xmlns:a16="http://schemas.microsoft.com/office/drawing/2014/main" id="{A2838521-B1DB-4F4C-91C6-0FF47C0ADA8F}"/>
              </a:ext>
            </a:extLst>
          </p:cNvPr>
          <p:cNvSpPr>
            <a:spLocks noGrp="1"/>
          </p:cNvSpPr>
          <p:nvPr>
            <p:ph idx="1"/>
          </p:nvPr>
        </p:nvSpPr>
        <p:spPr/>
        <p:txBody>
          <a:bodyPr/>
          <a:lstStyle/>
          <a:p>
            <a:r>
              <a:rPr lang="he-IL" dirty="0"/>
              <a:t>על בעיית – התקפות של </a:t>
            </a:r>
            <a:r>
              <a:rPr lang="he-IL" dirty="0" err="1"/>
              <a:t>פישינג</a:t>
            </a:r>
            <a:r>
              <a:rPr lang="he-IL" dirty="0"/>
              <a:t> שמכוונות לעובדי החברה.</a:t>
            </a:r>
          </a:p>
          <a:p>
            <a:r>
              <a:rPr lang="he-IL" dirty="0"/>
              <a:t>גורם סיכון – אנושיים</a:t>
            </a:r>
          </a:p>
          <a:p>
            <a:r>
              <a:rPr lang="he-IL" dirty="0"/>
              <a:t>פתרון - צריך לקיים הדרכות לעובדים בנוגע להתמודדות עם התקפות של </a:t>
            </a:r>
            <a:r>
              <a:rPr lang="he-IL" dirty="0" err="1"/>
              <a:t>פישינג</a:t>
            </a:r>
            <a:r>
              <a:rPr lang="he-IL" dirty="0"/>
              <a:t>, בנוסף יש להפעיל מערכות לסינון מיילים כדי להוריד את הסיכויים שהודעות </a:t>
            </a:r>
            <a:r>
              <a:rPr lang="he-IL" dirty="0" err="1"/>
              <a:t>פישינג</a:t>
            </a:r>
            <a:r>
              <a:rPr lang="he-IL" dirty="0"/>
              <a:t> יגיעו לתיבות למיילים של העובדים של העובדים.</a:t>
            </a:r>
          </a:p>
        </p:txBody>
      </p:sp>
    </p:spTree>
    <p:extLst>
      <p:ext uri="{BB962C8B-B14F-4D97-AF65-F5344CB8AC3E}">
        <p14:creationId xmlns:p14="http://schemas.microsoft.com/office/powerpoint/2010/main" val="40216275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סבון</Template>
  <TotalTime>144</TotalTime>
  <Words>2205</Words>
  <Application>Microsoft Office PowerPoint</Application>
  <PresentationFormat>מסך רחב</PresentationFormat>
  <Paragraphs>145</Paragraphs>
  <Slides>30</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30</vt:i4>
      </vt:variant>
    </vt:vector>
  </HeadingPairs>
  <TitlesOfParts>
    <vt:vector size="34" baseType="lpstr">
      <vt:lpstr>Century Gothic</vt:lpstr>
      <vt:lpstr>Garamond</vt:lpstr>
      <vt:lpstr>Gisha</vt:lpstr>
      <vt:lpstr>סבון</vt:lpstr>
      <vt:lpstr>הרצאה 1</vt:lpstr>
      <vt:lpstr>קורס:Information security and cyber</vt:lpstr>
      <vt:lpstr>מרכיבי הציון בקורס:</vt:lpstr>
      <vt:lpstr>מבוא לסייבר?</vt:lpstr>
      <vt:lpstr>היסטוריה של סייבר</vt:lpstr>
      <vt:lpstr>חשיבות הסייבר בעולם כיום</vt:lpstr>
      <vt:lpstr>סוגי איומי סייבר:</vt:lpstr>
      <vt:lpstr>דוגמאות מהעולם האמיתי:</vt:lpstr>
      <vt:lpstr>כלים וטכנולוגיות להגנה בסייבר</vt:lpstr>
      <vt:lpstr>המשך כלים וטכנולוגיות להגנה בסייבר</vt:lpstr>
      <vt:lpstr>עקרונות אבטחת מידע (CIA) – בסיס לאבטחת מידע</vt:lpstr>
      <vt:lpstr>סודיות Confidentiality </vt:lpstr>
      <vt:lpstr>שלמות Integrity</vt:lpstr>
      <vt:lpstr>זמינות Availability</vt:lpstr>
      <vt:lpstr>שאלה על עיקרון CIA</vt:lpstr>
      <vt:lpstr>(א) תשובה - CIA</vt:lpstr>
      <vt:lpstr>(ב) תשובה -CIA</vt:lpstr>
      <vt:lpstr>(ג) תשובה –CIA </vt:lpstr>
      <vt:lpstr>גורמים שיוצרים סיכון לאבטחת מידע</vt:lpstr>
      <vt:lpstr>איומים Threats</vt:lpstr>
      <vt:lpstr>פגיעות Vulnerabilities</vt:lpstr>
      <vt:lpstr>חשיפה Exposure</vt:lpstr>
      <vt:lpstr>השלכות Impacts</vt:lpstr>
      <vt:lpstr>גורמי מרכיבי סיכון -  בתהליכים</vt:lpstr>
      <vt:lpstr>גורמי מרכיבי סיכון - בטכנולוגיות</vt:lpstr>
      <vt:lpstr>גורמי מרכיבי סיכון - אנושיים</vt:lpstr>
      <vt:lpstr>שאלה על גורמי מרכיבי סיכון</vt:lpstr>
      <vt:lpstr>תשובה – גורמי מרכיבי סיכון</vt:lpstr>
      <vt:lpstr>תשובה – גורמי מרכיבי סיכון</vt:lpstr>
      <vt:lpstr>תשובה – גורמי מרכיבי סיכון</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1</dc:title>
  <dc:creator>itest</dc:creator>
  <cp:lastModifiedBy>itest</cp:lastModifiedBy>
  <cp:revision>23</cp:revision>
  <dcterms:created xsi:type="dcterms:W3CDTF">2024-06-27T09:55:25Z</dcterms:created>
  <dcterms:modified xsi:type="dcterms:W3CDTF">2024-09-09T10:13:38Z</dcterms:modified>
</cp:coreProperties>
</file>