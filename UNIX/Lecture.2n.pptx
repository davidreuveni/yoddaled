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27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5.xml.rels" ContentType="application/vnd.openxmlformats-package.relationshi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media/image3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8.jpeg" ContentType="image/jpeg"/>
  <Override PartName="/ppt/media/image7.png" ContentType="image/png"/>
  <Override PartName="/ppt/media/image9.png" ContentType="image/png"/>
  <Override PartName="/ppt/media/image4.png" ContentType="image/png"/>
  <Override PartName="/ppt/media/image11.jpeg" ContentType="image/jpeg"/>
  <Override PartName="/ppt/media/image2.jpeg" ContentType="image/jpeg"/>
  <Override PartName="/ppt/media/image10.gif" ContentType="image/gi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0E6D62-8945-406F-BC2A-BE74E10404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A58A6-8F71-46B0-9F23-5D3ADBF9B3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E8565E-28F8-42ED-97DF-CBB63506FC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0FD317-EE12-42CD-9606-393EF552E4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E8AE7-2661-494A-B41C-2937B1B132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E59AAF-EC75-4C82-BDAE-3E3BF6CEF7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F250B-C269-41F7-9A2C-C06C233BE3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15DB81-923E-4B97-89D7-BACDE3F76F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C62085-164E-451F-82A3-D019BCF50C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B85BA8-8A80-460C-8515-9603B89A7A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320F9-1AB6-4E16-8B05-150FD83555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מבנים במערכות מחשב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אמצעי קלט/פלט הם הציוד ההיקפי שמחובר למחשב. תפקידם הוא להציג מידע למשתמש ולקבל מידע מהמשתמש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מסך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מקלדת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עכבר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מדפסת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כונן קשיח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3" descr=""/>
          <p:cNvPicPr/>
          <p:nvPr/>
        </p:nvPicPr>
        <p:blipFill>
          <a:blip r:embed="rId1"/>
          <a:stretch/>
        </p:blipFill>
        <p:spPr>
          <a:xfrm>
            <a:off x="1169640" y="2432880"/>
            <a:ext cx="2515680" cy="374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ישנם מספר שכבות ברמת מערכת ההפעלה כדי לטפל בקלט/פלט: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ספריות משתמש: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מספקות ממשק פשוט לתוכנה כדי לבצע קלט פלט. למשל –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stdio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היא ספרייה בשפת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c/c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++.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ספריות ליבה: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ספריות ברמת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כדוגמת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drivers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כדי לבצע אינטרקציה עם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controller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ההתקן.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חומרה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שכבה הכוללת את החומרה ואת בקר החומרה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עלינו לדאוג שהפעולות שאנו מבצעים אינן תלויות בהתקן. למשל – קריאה מקובץ אמורה לקרוא קובץ מכל התקן שהוא –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HD, USB, DISK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ללא צורך לבצע שינויים בקוד.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97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I/O Softwares"/>
          <p:cNvPicPr/>
          <p:nvPr/>
        </p:nvPicPr>
        <p:blipFill>
          <a:blip r:embed="rId1"/>
          <a:stretch/>
        </p:blipFill>
        <p:spPr>
          <a:xfrm>
            <a:off x="2527200" y="971280"/>
            <a:ext cx="7137000" cy="588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Driver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(מנהל התקן)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ספריות תוכנה שמתחברות למערכת ההפעלה כדי לנהל התקן מסויים. הספריות נותנות למערכת ההפעלה את הפקודות כדי לתקשר עם ההתקן.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מבצע את הפעולות הבאות: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לקבל בקשה מתוכנת ההתקן אל ההתקן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מבצע אינטרקציה עם בקר ההתקן כדי לקבל קלט/פלט ומבצע טיפול בשגיאות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מוודא שהבקשה התבצעה בהצלחה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וההתקן תפוס, מנהל ההתקן מכניס את הבקשה לתור ע"מ שתבוצע לאחר מכן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980240" y="1690560"/>
            <a:ext cx="6373080" cy="44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Device independent I/O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מבצע פעולות קלט/פלט משותפות לכמה התקנים ומספק ממשק למשתמש.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דוגמאות לפונקציות: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שחרור והקצאה של התקנים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Buffering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אחסון מידע כאשר ההתקן תפוס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הגנה על התקן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טיפול בשגיאות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2" descr="I/O Softwares"/>
          <p:cNvPicPr/>
          <p:nvPr/>
        </p:nvPicPr>
        <p:blipFill>
          <a:blip r:embed="rId1"/>
          <a:stretch/>
        </p:blipFill>
        <p:spPr>
          <a:xfrm>
            <a:off x="203400" y="1690560"/>
            <a:ext cx="4579560" cy="377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: Rounded Corners 4"/>
          <p:cNvSpPr/>
          <p:nvPr/>
        </p:nvSpPr>
        <p:spPr>
          <a:xfrm>
            <a:off x="1055160" y="2546280"/>
            <a:ext cx="3741480" cy="900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קלט/פלט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I/O Subsystem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אחראית לספק שירותים הקשורים לקלט/פלט.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Scheduling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הליבה מתכננת רצף של בקשות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I/O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כדי להחליט באיזה סדר נכון יותר לבצע אותן. כל בקשה מועברת לתור של התקן מסויים ומערכת ההפעלה מסדרת את הבקשה כדי לשפר את היעילות של ההתקן.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Buffering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מערכת ההפעלה מנהלת מרחב זיכרון הנקרא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buffer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שמאחסן מידע המועבר בין שני התקנים, או בין התקן לתוכנת מחשב. מתבצע כאשר ישנן הבדלי מהירות בין מעביר למקבל המידע וצריך לאחסן את המידע במקום ביניים.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Caching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מערכת ההפעלה מנהלת זיכרון מטמון המהיר יותר מזיכרון ההתקן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Spolling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סוג של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buffer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(חוצץ) ששומר את פלט של התקן, כמו מדפסת, כאשר אינה יכולה לקבל בקשות משולבות. שולחת את הנתונים למדפסת אחד אחרי השני.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Error Handling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הליבה שומרת על ההתקנים והזכרון מפני שגיאות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היא איתות ל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מעבד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מבוצעת ע"י החומרה או התוכנה, המסמלת אירוע שדורש התייחסות מיוחדת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הפסיקה מאותתת למעבד להפסיק את הפעולה הנוכחית שהוא מבצע.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המעבד שומר את המצב הנוכחי שלו, ומבצע את פונקצית הפסיקה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ISR – interrupt service routine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הפסיקה היא פעולה זמנית, ולאחריה המעבד חוזר לפעולה סדירה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ישנן שתי סוגי פסיקות: פסיקות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חומרה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ופסיקות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פסיקות חומרה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נוצרות ע"י התקן חומרה, כאשר הוא רוצה התייחסות ממערכת ההפעלה. הפסיקות לא ממומשות ע"י קוד תוכנה אלא על ידי מנגנון חומרה – פולסים אלקטרומגנטיים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פסיקות חומרה הם א-סינכרוניות – יכולות להתעורר בכל רגע נתון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2" dur="indefinite" restart="never" nodeType="tmRoot">
          <p:childTnLst>
            <p:seq>
              <p:cTn id="133" dur="indefinite" nodeType="mainSeq">
                <p:childTnLst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פסיקות תוכנה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נוצרות ע"י </a:t>
            </a:r>
            <a:r>
              <a:rPr b="0" lang="he-IL" sz="2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חריגה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בפקודות המעבד שלא ניתנות לטיפול בקוד עצמו, או ע"י </a:t>
            </a:r>
            <a:r>
              <a:rPr b="0" lang="he-IL" sz="2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הוראה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מיוחדת </a:t>
            </a:r>
            <a:r>
              <a:rPr b="0" lang="he-IL" sz="28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בקוד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שגורמת לפסיקה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למשל, חלוקה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היא פסיקת תוכנה-מעבד שנוצרה כחריגה בקוד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קריאת מערכת היא פסיקת תוכנה רגילה שלא נגרמה משגיאה בקוד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2" dur="indefinite" restart="never" nodeType="tmRoot">
          <p:childTnLst>
            <p:seq>
              <p:cTn id="143" dur="indefinite" nodeType="mainSeq">
                <p:childTnLst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ישנן שתי דרכים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ניהול פסיקות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Polling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המערכת סורקת ללא הפסקה בסדר מסויים וקבוע את כל ההתקנים וכאשר היא נתקלת בפסיקה היא מטפלת בה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Vectored interrupt system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 פעם כשמתעוררת פסיקה המערכת שומרת אותה בתוך מערך מיוחד, המאחסן את כל הפסיקות, והטיפול מתבצע לפי הסדר.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6" dur="indefinite" restart="never" nodeType="tmRoot">
          <p:childTnLst>
            <p:seq>
              <p:cTn id="157" dur="indefinite" nodeType="mainSeq">
                <p:childTnLst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פסיקה קיימת פונקציית שירות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ISR – interrupt system routine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האחראית לטפל בפסיקה.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פסיקה יש מספר, שהוא מייצג הפסיקה. למערכת ההפעלה יש טבלת פסיקות 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Interrupt Vector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ולפי הטבלה מופעלת הפונקציה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הנדרשת.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 ניתן לקבל פסיקה בזמן ביצוע פסיקה אחרת. לשם כך ישנו "תור פסיקות" כדי לטפל בפסיקות אחת אחרי השניה.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הטיפול בפסיקה: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החומרה / התוכנה מעבירה את הבקרה למערכת ההפעלה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שמירת מצב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ע"י שמירת ערכי הרגיסטרים וה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program counter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קביעת סוג הפסיקה שהתקבלה, באמצעות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Interrupt Vector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הפעלה הקוד המתאים לטיפול בפסיקה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חזרה לקוד הרגיל שהמעבד הריץ בשלב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4" dur="indefinite" restart="never" nodeType="tmRoot">
          <p:childTnLst>
            <p:seq>
              <p:cTn id="185" dur="indefinite" nodeType="mainSeq">
                <p:childTnLst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94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פסיקות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2" descr="https://upload.wikimedia.org/wikipedia/commons/c/cf/Interrupt_Process.PNG"/>
          <p:cNvPicPr/>
          <p:nvPr/>
        </p:nvPicPr>
        <p:blipFill>
          <a:blip r:embed="rId1"/>
          <a:stretch/>
        </p:blipFill>
        <p:spPr>
          <a:xfrm>
            <a:off x="3613680" y="934200"/>
            <a:ext cx="4964760" cy="592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Content Placeholder 2"/>
          <p:cNvSpPr/>
          <p:nvPr/>
        </p:nvSpPr>
        <p:spPr>
          <a:xfrm>
            <a:off x="990720" y="1978200"/>
            <a:ext cx="105152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ישנן מספר אמצעי אחסון במערכות מחשב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הזיכרון הראשי – הזיכרון הגדול היחיד איתו המעבד יכול לעבוד. על הזיכרון הזה רצות התוכניות.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גישה אקראית – כל תוכנית מקבל מקום שונה בכל פעם ונמחקת לאחר מכן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מתחלק לשני סוגים: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ROM – Read Only Memory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זמין לקריאה בלבד. מכיל מידע הדרוש למערכת ההפעלה ע"מ להעלות את המחשב. הזכרון הזה לא נמחק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RAM – Random Access Memory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זיכרון חשמלי, נמחק עם כיבוי המחשב.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זיכרון משני – הרחבות של הזיכרון הראשי 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 rtl="1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0" dur="indefinite" restart="never" nodeType="tmRoot">
          <p:childTnLst>
            <p:seq>
              <p:cTn id="211" dur="indefinite" nodeType="mainSeq">
                <p:childTnLst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921600" y="1978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זיכרון משני – הרחבות של הזיכרון הראשי. זיכרון שאינו נמחק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דיסק קשיח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Hard Disk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– דיסק מתכתי ששומר מידע מגנטי.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הדיסק מחולק למסלולים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Tracks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וכל מסלול מחולק לסקטור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דיסק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SSD – Solid State Drive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דיסק יותר מהיר, לא מכני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9" descr=""/>
          <p:cNvPicPr/>
          <p:nvPr/>
        </p:nvPicPr>
        <p:blipFill>
          <a:blip r:embed="rId1"/>
          <a:stretch/>
        </p:blipFill>
        <p:spPr>
          <a:xfrm>
            <a:off x="514800" y="2749680"/>
            <a:ext cx="3866400" cy="38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2" descr=""/>
          <p:cNvPicPr/>
          <p:nvPr/>
        </p:nvPicPr>
        <p:blipFill>
          <a:blip r:embed="rId2"/>
          <a:stretch/>
        </p:blipFill>
        <p:spPr>
          <a:xfrm>
            <a:off x="1060560" y="3958560"/>
            <a:ext cx="10234440" cy="253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0" dur="indefinite" restart="never" nodeType="tmRoot">
          <p:childTnLst>
            <p:seq>
              <p:cTn id="241" dur="indefinite" nodeType="mainSeq">
                <p:childTnLst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Content Placeholder 2"/>
          <p:cNvSpPr/>
          <p:nvPr/>
        </p:nvSpPr>
        <p:spPr>
          <a:xfrm>
            <a:off x="990720" y="1978200"/>
            <a:ext cx="105152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היררכית האיחסון: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Registers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אוגרי המעבד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Cache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זכרון זמני מהיר המשמש לשמירת המידע שהמעבד משתמש בו באופן תדיר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הזיכרון הראשי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SSD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Hard Disk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דיסק אופטי – כונני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CD, DVD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דיסק מגנטי – קיבולת גדולה, איטי</a:t>
            </a: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 rtl="1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358680" y="1825560"/>
            <a:ext cx="49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Caching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העתקת מידע מרכיב זכרון לרכיב זיכרון מהיר יותר (לאו דווקא אל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cache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עצמו.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למשל, הזיכרון הראשי יכול להוות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cache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עבור דיסק מגנטי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3" descr=""/>
          <p:cNvPicPr/>
          <p:nvPr/>
        </p:nvPicPr>
        <p:blipFill>
          <a:blip r:embed="rId1"/>
          <a:srcRect l="5353" t="512" r="5737" b="512"/>
          <a:stretch/>
        </p:blipFill>
        <p:spPr>
          <a:xfrm>
            <a:off x="112680" y="1578240"/>
            <a:ext cx="6114240" cy="5105160"/>
          </a:xfrm>
          <a:prstGeom prst="rect">
            <a:avLst/>
          </a:prstGeom>
          <a:noFill/>
          <a:ln w="38100">
            <a:solidFill>
              <a:srgbClr val="cc66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Content Placeholder 2"/>
          <p:cNvSpPr/>
          <p:nvPr/>
        </p:nvSpPr>
        <p:spPr>
          <a:xfrm>
            <a:off x="990720" y="1978200"/>
            <a:ext cx="105152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90000"/>
              </a:lnSpc>
              <a:spcBef>
                <a:spcPts val="1001"/>
              </a:spcBef>
            </a:pPr>
            <a:endParaRPr b="0" lang="en-I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 rtl="1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4" descr=""/>
          <p:cNvPicPr/>
          <p:nvPr/>
        </p:nvPicPr>
        <p:blipFill>
          <a:blip r:embed="rId1"/>
          <a:srcRect l="591" t="23099" r="786" b="22833"/>
          <a:stretch/>
        </p:blipFill>
        <p:spPr>
          <a:xfrm>
            <a:off x="1189440" y="1983960"/>
            <a:ext cx="9812520" cy="4034520"/>
          </a:xfrm>
          <a:prstGeom prst="rect">
            <a:avLst/>
          </a:prstGeom>
          <a:noFill/>
          <a:ln w="38100">
            <a:solidFill>
              <a:srgbClr val="cc66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DMA – Direct Memory Access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רכיב חומרה המעביר מידע מהזיכרון להתקן חומרה אחר ולהיפך.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המטרה היא לאפשר למעבד לעבוד על תהליכים אחרים בזמן שהמידע עובר, ולא להעביר את המידע בעצמו.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DMA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עובד מול הזכרון, המעבד מפסיק לעבוד מול הזכרון.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מעביר כמות גדולה של מידע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עבודה עם המעבד – פסיקה לכל ביט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עבודה עם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DMA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פסיקה לכל בלוק של מידע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8" dur="indefinite" restart="never" nodeType="tmRoot">
          <p:childTnLst>
            <p:seq>
              <p:cTn id="269" dur="indefinite" nodeType="mainSeq">
                <p:childTnLst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אחסון נתונים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DMA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2" descr=""/>
          <p:cNvPicPr/>
          <p:nvPr/>
        </p:nvPicPr>
        <p:blipFill>
          <a:blip r:embed="rId1"/>
          <a:stretch/>
        </p:blipFill>
        <p:spPr>
          <a:xfrm>
            <a:off x="2813400" y="1661040"/>
            <a:ext cx="6529680" cy="519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ההפעלה מספקת מספר הגנות על משאבים קריטיים במערכת: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Dual mode operation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הגנה על מערכת ההפעלה ושאר רכיבי המערכת. ישנם שני מצבים: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mode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הרצה של תוכניות המשתמש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הרצה של פקודות מערכת ההפעלה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 bit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שמסופק ע"י החומרה, משתנה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בהתאם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/ kernel mode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חלק מהפקודות מוגבלות לרוץ רק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איזור הקוד של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מוגן בזכרון ונמצא בכתובות נמוכות בזכרון.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4" dur="indefinite" restart="never" nodeType="tmRoot">
          <p:childTnLst>
            <p:seq>
              <p:cTn id="295" dur="indefinite" nodeType="mainSeq">
                <p:childTnLst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מעבר בין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mode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3" descr=""/>
          <p:cNvPicPr/>
          <p:nvPr/>
        </p:nvPicPr>
        <p:blipFill>
          <a:blip r:embed="rId1"/>
          <a:stretch/>
        </p:blipFill>
        <p:spPr>
          <a:xfrm>
            <a:off x="1217160" y="2495520"/>
            <a:ext cx="9757440" cy="301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I/O protection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 פעולות קלט/פלט מוגנות. כל גישה לפעולת קלט/פלט עוברת דרך מערכת ההפעלה, במעבר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mode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גישה לפעולות קלט פלט עוברת דרך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call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Memory Protection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הגנה על זיכרון. לכל תהליך מוקצה שטח בזכרון וזהו השטח היחיד אליו הוא יכול לגשת אליו. גישה לכתובת לא חוקית תגרום לשגיאה.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שני משתנים לבדיקת הזיכרון של תהליך: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Base Register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מציין עבור התוכנית מאיזה מקום היא תיטען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Limit Register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מכיל את הגודל המקסימום שמוקצה לתוכנית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תוכנית יכולה לגשת רק לאיזור הזיכרון שלה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4" dur="indefinite" restart="never" nodeType="tmRoot">
          <p:childTnLst>
            <p:seq>
              <p:cTn id="325" dur="indefinite" nodeType="mainSeq">
                <p:childTnLst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2" descr="https://people.engr.ncsu.edu/efg/501/f98/lectures/notes/Image60.gif"/>
          <p:cNvPicPr/>
          <p:nvPr/>
        </p:nvPicPr>
        <p:blipFill>
          <a:blip r:embed="rId1"/>
          <a:stretch/>
        </p:blipFill>
        <p:spPr>
          <a:xfrm>
            <a:off x="4163760" y="1325520"/>
            <a:ext cx="3864240" cy="545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2" descr="תוצאת תמונה עבור ‪base register and limit register‬‏"/>
          <p:cNvPicPr/>
          <p:nvPr/>
        </p:nvPicPr>
        <p:blipFill>
          <a:blip r:embed="rId1"/>
          <a:stretch/>
        </p:blipFill>
        <p:spPr>
          <a:xfrm>
            <a:off x="1521000" y="1690560"/>
            <a:ext cx="9149400" cy="413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3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מבנים במערכות מחשב – חומרה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Protection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יש צורך להגן על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כדי למנוע מתהליכים להשתלט על המעבד (למשל, בלולאה אינסופית)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שמטרתו להגביל תהליכים משימוש "חזירי" במשאבים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תהליך ישנו פלח זמן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 Slice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כאשר הזמן נגמר מתבצעת פסיקה להעביר תהליך אחר למעבד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מאותחל לפני ביצוע תהליך, כדי לסיים תוכנית שחרגה ממגבלות הזמן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השעון הוא רכיב חומרה ומנוהל ע"י 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0" dur="indefinite" restart="never" nodeType="tmRoot">
          <p:childTnLst>
            <p:seq>
              <p:cTn id="351" dur="indefinite" nodeType="mainSeq">
                <p:childTnLst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Application>LibreOffice/25.8.1.1$Linux_X86_64 LibreOffice_project/580$Build-1</Application>
  <AppVersion>15.0000</AppVersion>
  <Words>1426</Words>
  <Paragraphs>138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2017-05-07T13:45:55Z</dcterms:created>
  <dc:creator>Yechezkel</dc:creator>
  <dc:description/>
  <dc:language>en-IL</dc:language>
  <cp:lastModifiedBy>Guy Yechezkel</cp:lastModifiedBy>
  <dcterms:modified xsi:type="dcterms:W3CDTF">2025-03-26T09:45:27Z</dcterms:modified>
  <cp:revision>39</cp:revision>
  <dc:subject/>
  <dc:title>מערכות הפעלה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מסך רחב</vt:lpwstr>
  </property>
  <property fmtid="{D5CDD505-2E9C-101B-9397-08002B2CF9AE}" pid="3" name="Slides">
    <vt:i4>27</vt:i4>
  </property>
</Properties>
</file>