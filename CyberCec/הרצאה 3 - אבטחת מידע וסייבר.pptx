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987" autoAdjust="0"/>
    <p:restoredTop sz="94660"/>
  </p:normalViewPr>
  <p:slideViewPr>
    <p:cSldViewPr snapToGrid="0">
      <p:cViewPr varScale="1">
        <p:scale>
          <a:sx n="79" d="100"/>
          <a:sy n="79" d="100"/>
        </p:scale>
        <p:origin x="120" y="1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949FCB19-CE05-4C51-83FF-E9464F3AA146}" type="datetimeFigureOut">
              <a:rPr lang="he-IL" smtClean="0"/>
              <a:t>י"ט/אלול/תשפ"ד</a:t>
            </a:fld>
            <a:endParaRPr lang="he-IL"/>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he-IL"/>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290209C5-088B-4FB0-914A-073FA4C05F94}" type="slidenum">
              <a:rPr lang="he-IL" smtClean="0"/>
              <a:t>‹#›</a:t>
            </a:fld>
            <a:endParaRPr lang="he-IL"/>
          </a:p>
        </p:txBody>
      </p:sp>
    </p:spTree>
    <p:extLst>
      <p:ext uri="{BB962C8B-B14F-4D97-AF65-F5344CB8AC3E}">
        <p14:creationId xmlns:p14="http://schemas.microsoft.com/office/powerpoint/2010/main" val="186327949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949FCB19-CE05-4C51-83FF-E9464F3AA146}" type="datetimeFigureOut">
              <a:rPr lang="he-IL" smtClean="0"/>
              <a:t>י"ט/אלול/תשפ"ד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290209C5-088B-4FB0-914A-073FA4C05F94}" type="slidenum">
              <a:rPr lang="he-IL" smtClean="0"/>
              <a:t>‹#›</a:t>
            </a:fld>
            <a:endParaRPr lang="he-IL"/>
          </a:p>
        </p:txBody>
      </p:sp>
    </p:spTree>
    <p:extLst>
      <p:ext uri="{BB962C8B-B14F-4D97-AF65-F5344CB8AC3E}">
        <p14:creationId xmlns:p14="http://schemas.microsoft.com/office/powerpoint/2010/main" val="531943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949FCB19-CE05-4C51-83FF-E9464F3AA146}" type="datetimeFigureOut">
              <a:rPr lang="he-IL" smtClean="0"/>
              <a:t>י"ט/אלול/תשפ"ד</a:t>
            </a:fld>
            <a:endParaRPr lang="he-IL"/>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he-IL"/>
          </a:p>
        </p:txBody>
      </p:sp>
      <p:sp>
        <p:nvSpPr>
          <p:cNvPr id="6" name="Slide Number Placeholder 5"/>
          <p:cNvSpPr>
            <a:spLocks noGrp="1"/>
          </p:cNvSpPr>
          <p:nvPr>
            <p:ph type="sldNum" sz="quarter" idx="12"/>
          </p:nvPr>
        </p:nvSpPr>
        <p:spPr>
          <a:xfrm>
            <a:off x="8604504" y="5211060"/>
            <a:ext cx="2112264" cy="228600"/>
          </a:xfrm>
        </p:spPr>
        <p:txBody>
          <a:bodyPr/>
          <a:lstStyle/>
          <a:p>
            <a:fld id="{290209C5-088B-4FB0-914A-073FA4C05F94}" type="slidenum">
              <a:rPr lang="he-IL" smtClean="0"/>
              <a:t>‹#›</a:t>
            </a:fld>
            <a:endParaRPr lang="he-IL"/>
          </a:p>
        </p:txBody>
      </p:sp>
    </p:spTree>
    <p:extLst>
      <p:ext uri="{BB962C8B-B14F-4D97-AF65-F5344CB8AC3E}">
        <p14:creationId xmlns:p14="http://schemas.microsoft.com/office/powerpoint/2010/main" val="21251417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949FCB19-CE05-4C51-83FF-E9464F3AA146}" type="datetimeFigureOut">
              <a:rPr lang="he-IL" smtClean="0"/>
              <a:t>י"ט/אלול/תשפ"ד</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290209C5-088B-4FB0-914A-073FA4C05F94}" type="slidenum">
              <a:rPr lang="he-IL" smtClean="0"/>
              <a:t>‹#›</a:t>
            </a:fld>
            <a:endParaRPr lang="he-IL"/>
          </a:p>
        </p:txBody>
      </p:sp>
    </p:spTree>
    <p:extLst>
      <p:ext uri="{BB962C8B-B14F-4D97-AF65-F5344CB8AC3E}">
        <p14:creationId xmlns:p14="http://schemas.microsoft.com/office/powerpoint/2010/main" val="283908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949FCB19-CE05-4C51-83FF-E9464F3AA146}" type="datetimeFigureOut">
              <a:rPr lang="he-IL" smtClean="0"/>
              <a:t>י"ט/אלול/תשפ"ד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290209C5-088B-4FB0-914A-073FA4C05F94}" type="slidenum">
              <a:rPr lang="he-IL" smtClean="0"/>
              <a:t>‹#›</a:t>
            </a:fld>
            <a:endParaRPr lang="he-IL"/>
          </a:p>
        </p:txBody>
      </p:sp>
    </p:spTree>
    <p:extLst>
      <p:ext uri="{BB962C8B-B14F-4D97-AF65-F5344CB8AC3E}">
        <p14:creationId xmlns:p14="http://schemas.microsoft.com/office/powerpoint/2010/main" val="753830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949FCB19-CE05-4C51-83FF-E9464F3AA146}" type="datetimeFigureOut">
              <a:rPr lang="he-IL" smtClean="0"/>
              <a:t>י"ט/אלול/תשפ"ד</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290209C5-088B-4FB0-914A-073FA4C05F94}" type="slidenum">
              <a:rPr lang="he-IL" smtClean="0"/>
              <a:t>‹#›</a:t>
            </a:fld>
            <a:endParaRPr lang="he-IL"/>
          </a:p>
        </p:txBody>
      </p:sp>
    </p:spTree>
    <p:extLst>
      <p:ext uri="{BB962C8B-B14F-4D97-AF65-F5344CB8AC3E}">
        <p14:creationId xmlns:p14="http://schemas.microsoft.com/office/powerpoint/2010/main" val="198545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9FCB19-CE05-4C51-83FF-E9464F3AA146}" type="datetimeFigureOut">
              <a:rPr lang="he-IL" smtClean="0"/>
              <a:t>י"ט/אלול/תשפ"ד</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290209C5-088B-4FB0-914A-073FA4C05F94}" type="slidenum">
              <a:rPr lang="he-IL" smtClean="0"/>
              <a:t>‹#›</a:t>
            </a:fld>
            <a:endParaRPr lang="he-IL"/>
          </a:p>
        </p:txBody>
      </p:sp>
    </p:spTree>
    <p:extLst>
      <p:ext uri="{BB962C8B-B14F-4D97-AF65-F5344CB8AC3E}">
        <p14:creationId xmlns:p14="http://schemas.microsoft.com/office/powerpoint/2010/main" val="280293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8" name="Date Placeholder 7"/>
          <p:cNvSpPr>
            <a:spLocks noGrp="1"/>
          </p:cNvSpPr>
          <p:nvPr>
            <p:ph type="dt" sz="half" idx="10"/>
          </p:nvPr>
        </p:nvSpPr>
        <p:spPr/>
        <p:txBody>
          <a:bodyPr/>
          <a:lstStyle/>
          <a:p>
            <a:fld id="{949FCB19-CE05-4C51-83FF-E9464F3AA146}" type="datetimeFigureOut">
              <a:rPr lang="he-IL" smtClean="0"/>
              <a:t>י"ט/אלול/תשפ"ד</a:t>
            </a:fld>
            <a:endParaRPr lang="he-IL"/>
          </a:p>
        </p:txBody>
      </p:sp>
      <p:sp>
        <p:nvSpPr>
          <p:cNvPr id="9" name="Footer Placeholder 8"/>
          <p:cNvSpPr>
            <a:spLocks noGrp="1"/>
          </p:cNvSpPr>
          <p:nvPr>
            <p:ph type="ftr" sz="quarter" idx="11"/>
          </p:nvPr>
        </p:nvSpPr>
        <p:spPr/>
        <p:txBody>
          <a:bodyPr/>
          <a:lstStyle>
            <a:lvl1pPr algn="r">
              <a:defRPr/>
            </a:lvl1pPr>
          </a:lstStyle>
          <a:p>
            <a:endParaRPr lang="he-IL"/>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290209C5-088B-4FB0-914A-073FA4C05F94}" type="slidenum">
              <a:rPr lang="he-IL" smtClean="0"/>
              <a:t>‹#›</a:t>
            </a:fld>
            <a:endParaRPr lang="he-IL"/>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61017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949FCB19-CE05-4C51-83FF-E9464F3AA146}" type="datetimeFigureOut">
              <a:rPr lang="he-IL" smtClean="0"/>
              <a:t>י"ט/אלול/תשפ"ד</a:t>
            </a:fld>
            <a:endParaRPr lang="he-IL"/>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he-IL"/>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290209C5-088B-4FB0-914A-073FA4C05F94}" type="slidenum">
              <a:rPr lang="he-IL" smtClean="0"/>
              <a:t>‹#›</a:t>
            </a:fld>
            <a:endParaRPr lang="he-IL"/>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09278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949FCB19-CE05-4C51-83FF-E9464F3AA146}" type="datetimeFigureOut">
              <a:rPr lang="he-IL" smtClean="0"/>
              <a:t>י"ט/אלול/תשפ"ד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290209C5-088B-4FB0-914A-073FA4C05F94}" type="slidenum">
              <a:rPr lang="he-IL" smtClean="0"/>
              <a:t>‹#›</a:t>
            </a:fld>
            <a:endParaRPr lang="he-IL"/>
          </a:p>
        </p:txBody>
      </p:sp>
    </p:spTree>
    <p:extLst>
      <p:ext uri="{BB962C8B-B14F-4D97-AF65-F5344CB8AC3E}">
        <p14:creationId xmlns:p14="http://schemas.microsoft.com/office/powerpoint/2010/main" val="257857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949FCB19-CE05-4C51-83FF-E9464F3AA146}" type="datetimeFigureOut">
              <a:rPr lang="he-IL" smtClean="0"/>
              <a:t>י"ט/אלול/תשפ"ד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290209C5-088B-4FB0-914A-073FA4C05F94}" type="slidenum">
              <a:rPr lang="he-IL" smtClean="0"/>
              <a:t>‹#›</a:t>
            </a:fld>
            <a:endParaRPr lang="he-IL"/>
          </a:p>
        </p:txBody>
      </p:sp>
    </p:spTree>
    <p:extLst>
      <p:ext uri="{BB962C8B-B14F-4D97-AF65-F5344CB8AC3E}">
        <p14:creationId xmlns:p14="http://schemas.microsoft.com/office/powerpoint/2010/main" val="3992579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949FCB19-CE05-4C51-83FF-E9464F3AA146}" type="datetimeFigureOut">
              <a:rPr lang="he-IL" smtClean="0"/>
              <a:t>י"ט/אלול/תשפ"ד</a:t>
            </a:fld>
            <a:endParaRPr lang="he-IL"/>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he-IL"/>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290209C5-088B-4FB0-914A-073FA4C05F94}" type="slidenum">
              <a:rPr lang="he-IL" smtClean="0"/>
              <a:t>‹#›</a:t>
            </a:fld>
            <a:endParaRPr lang="he-IL"/>
          </a:p>
        </p:txBody>
      </p:sp>
    </p:spTree>
    <p:extLst>
      <p:ext uri="{BB962C8B-B14F-4D97-AF65-F5344CB8AC3E}">
        <p14:creationId xmlns:p14="http://schemas.microsoft.com/office/powerpoint/2010/main" val="15736759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r" defTabSz="914400" rtl="1"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7BF8B16-4223-492A-8822-63405E9B8EB6}"/>
              </a:ext>
            </a:extLst>
          </p:cNvPr>
          <p:cNvSpPr>
            <a:spLocks noGrp="1"/>
          </p:cNvSpPr>
          <p:nvPr>
            <p:ph type="ctrTitle"/>
          </p:nvPr>
        </p:nvSpPr>
        <p:spPr/>
        <p:txBody>
          <a:bodyPr/>
          <a:lstStyle/>
          <a:p>
            <a:r>
              <a:rPr lang="he-IL" dirty="0"/>
              <a:t>הרצאה 3</a:t>
            </a:r>
          </a:p>
        </p:txBody>
      </p:sp>
      <p:sp>
        <p:nvSpPr>
          <p:cNvPr id="3" name="כותרת משנה 2">
            <a:extLst>
              <a:ext uri="{FF2B5EF4-FFF2-40B4-BE49-F238E27FC236}">
                <a16:creationId xmlns:a16="http://schemas.microsoft.com/office/drawing/2014/main" id="{7D02C3EB-DD10-49D1-BAFC-305DC5955F23}"/>
              </a:ext>
            </a:extLst>
          </p:cNvPr>
          <p:cNvSpPr>
            <a:spLocks noGrp="1"/>
          </p:cNvSpPr>
          <p:nvPr>
            <p:ph type="subTitle" idx="1"/>
          </p:nvPr>
        </p:nvSpPr>
        <p:spPr/>
        <p:txBody>
          <a:bodyPr/>
          <a:lstStyle/>
          <a:p>
            <a:r>
              <a:rPr lang="he-IL" dirty="0"/>
              <a:t>מרצה: יניב </a:t>
            </a:r>
            <a:r>
              <a:rPr lang="he-IL" dirty="0" err="1"/>
              <a:t>מורדוב</a:t>
            </a:r>
            <a:endParaRPr lang="he-IL" dirty="0"/>
          </a:p>
        </p:txBody>
      </p:sp>
    </p:spTree>
    <p:extLst>
      <p:ext uri="{BB962C8B-B14F-4D97-AF65-F5344CB8AC3E}">
        <p14:creationId xmlns:p14="http://schemas.microsoft.com/office/powerpoint/2010/main" val="455279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1D7F7A8-A750-4197-8B41-849E1330C28F}"/>
              </a:ext>
            </a:extLst>
          </p:cNvPr>
          <p:cNvSpPr>
            <a:spLocks noGrp="1"/>
          </p:cNvSpPr>
          <p:nvPr>
            <p:ph type="title"/>
          </p:nvPr>
        </p:nvSpPr>
        <p:spPr>
          <a:xfrm>
            <a:off x="5834270" y="365125"/>
            <a:ext cx="5519530" cy="1325563"/>
          </a:xfrm>
        </p:spPr>
        <p:txBody>
          <a:bodyPr>
            <a:normAutofit fontScale="90000"/>
          </a:bodyPr>
          <a:lstStyle/>
          <a:p>
            <a:r>
              <a:rPr lang="he-IL" dirty="0"/>
              <a:t>אבטחת תשתיות מחשוב</a:t>
            </a:r>
          </a:p>
        </p:txBody>
      </p:sp>
      <p:sp>
        <p:nvSpPr>
          <p:cNvPr id="3" name="מציין מיקום תוכן 2">
            <a:extLst>
              <a:ext uri="{FF2B5EF4-FFF2-40B4-BE49-F238E27FC236}">
                <a16:creationId xmlns:a16="http://schemas.microsoft.com/office/drawing/2014/main" id="{7F9467D4-84E4-440B-9ABD-601FD2E405D8}"/>
              </a:ext>
            </a:extLst>
          </p:cNvPr>
          <p:cNvSpPr>
            <a:spLocks noGrp="1"/>
          </p:cNvSpPr>
          <p:nvPr>
            <p:ph idx="1"/>
          </p:nvPr>
        </p:nvSpPr>
        <p:spPr/>
        <p:txBody>
          <a:bodyPr/>
          <a:lstStyle/>
          <a:p>
            <a:r>
              <a:rPr lang="he-IL" dirty="0"/>
              <a:t>אבטחת תשתיות מחשוב עוסקת בהגנה על כל המרכיבים הפיזיים והווירטואליים של מערכות מחשוב, לדוגמא: מחשבים, שרתים, רשתות ואמצעי אחסון. האבטחה כוללת אמצעים להגנה מפני איומים פנימיים וחיצוניים, תוך שמירה על זמינות סודיות ושלמות המידע </a:t>
            </a:r>
            <a:r>
              <a:rPr lang="en-US" dirty="0"/>
              <a:t>(CIA)</a:t>
            </a:r>
            <a:r>
              <a:rPr lang="he-IL" dirty="0"/>
              <a:t>.</a:t>
            </a:r>
            <a:endParaRPr lang="en-US" dirty="0"/>
          </a:p>
          <a:p>
            <a:r>
              <a:rPr lang="he-IL" dirty="0"/>
              <a:t>לאבטחת תשתיות מחשוב ישנם מספר צדדים, כרגע אנו נתמקד בסוגית </a:t>
            </a:r>
            <a:r>
              <a:rPr lang="he-IL" b="1" dirty="0"/>
              <a:t>אבטחה על מחשב בודד!</a:t>
            </a:r>
          </a:p>
        </p:txBody>
      </p:sp>
    </p:spTree>
    <p:extLst>
      <p:ext uri="{BB962C8B-B14F-4D97-AF65-F5344CB8AC3E}">
        <p14:creationId xmlns:p14="http://schemas.microsoft.com/office/powerpoint/2010/main" val="877795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9A9BE47-4787-47A1-AE31-4FE180FF02D7}"/>
              </a:ext>
            </a:extLst>
          </p:cNvPr>
          <p:cNvSpPr>
            <a:spLocks noGrp="1"/>
          </p:cNvSpPr>
          <p:nvPr>
            <p:ph type="title"/>
          </p:nvPr>
        </p:nvSpPr>
        <p:spPr>
          <a:xfrm>
            <a:off x="5049078" y="642594"/>
            <a:ext cx="6076122" cy="1371600"/>
          </a:xfrm>
        </p:spPr>
        <p:txBody>
          <a:bodyPr/>
          <a:lstStyle/>
          <a:p>
            <a:r>
              <a:rPr lang="he-IL" dirty="0"/>
              <a:t>אבטחה על מחשב בודד</a:t>
            </a:r>
          </a:p>
        </p:txBody>
      </p:sp>
      <p:sp>
        <p:nvSpPr>
          <p:cNvPr id="3" name="מציין מיקום תוכן 2">
            <a:extLst>
              <a:ext uri="{FF2B5EF4-FFF2-40B4-BE49-F238E27FC236}">
                <a16:creationId xmlns:a16="http://schemas.microsoft.com/office/drawing/2014/main" id="{345EA214-4B28-41FC-BA9E-22353A76158F}"/>
              </a:ext>
            </a:extLst>
          </p:cNvPr>
          <p:cNvSpPr>
            <a:spLocks noGrp="1"/>
          </p:cNvSpPr>
          <p:nvPr>
            <p:ph idx="1"/>
          </p:nvPr>
        </p:nvSpPr>
        <p:spPr/>
        <p:txBody>
          <a:bodyPr/>
          <a:lstStyle/>
          <a:p>
            <a:r>
              <a:rPr lang="he-IL" dirty="0"/>
              <a:t>אבטחת מחשב בודד מחולקת להרבה תחומים ואלו הן:</a:t>
            </a:r>
          </a:p>
          <a:p>
            <a:r>
              <a:rPr lang="he-IL" dirty="0"/>
              <a:t>1. התקנת מערכת הפעלה מאובטחת - התקן מערכת הפעלה מעודכנת ונתמכת כמו:</a:t>
            </a:r>
            <a:r>
              <a:rPr lang="en-US" dirty="0"/>
              <a:t> Linux, Windows 10 </a:t>
            </a:r>
            <a:r>
              <a:rPr lang="he-IL" dirty="0"/>
              <a:t>וגם צריך לבדוק שהמערכת מעודכנת עם כל העדכונים האחרונים.</a:t>
            </a:r>
          </a:p>
          <a:p>
            <a:r>
              <a:rPr lang="he-IL" dirty="0"/>
              <a:t>2. הגנה באמצעות סיסמא - קבע סיסמאות חזקות לכל החשבונות במחשב, וגם השתמש באימות דו שלבי כאשר אפשרי, ובנוסף אל תשמור סיסמאות בצורה גלויה במחשב שלך.</a:t>
            </a:r>
          </a:p>
          <a:p>
            <a:r>
              <a:rPr lang="he-IL" dirty="0"/>
              <a:t>3. תוכנות אבטחה - התקן אנטי וירוס ואנטי תוכנה זדונית, בכדי להגן על המחשב מפני וירוסים ותוכנות זדוניות וטוב גם לבדוק שהתוכנה מעודכנת ומתבצעות סריקות כל פרק זמן מסוים.</a:t>
            </a:r>
          </a:p>
          <a:p>
            <a:r>
              <a:rPr lang="he-IL" dirty="0"/>
              <a:t>4. </a:t>
            </a:r>
            <a:r>
              <a:rPr lang="he-IL" dirty="0" err="1"/>
              <a:t>פיירוול</a:t>
            </a:r>
            <a:r>
              <a:rPr lang="he-IL" dirty="0"/>
              <a:t> </a:t>
            </a:r>
            <a:r>
              <a:rPr lang="en-US" dirty="0"/>
              <a:t>Firewall</a:t>
            </a:r>
            <a:r>
              <a:rPr lang="he-IL" dirty="0"/>
              <a:t> - הפעל את </a:t>
            </a:r>
            <a:r>
              <a:rPr lang="he-IL" dirty="0" err="1"/>
              <a:t>הפיירוול</a:t>
            </a:r>
            <a:r>
              <a:rPr lang="he-IL" dirty="0"/>
              <a:t> המובנה במערכת ההפעלה כדי להגן על המחשב מפני גישה בלתי מורשית, ואם אתה כל כך רוצה או צריך התקן </a:t>
            </a:r>
            <a:r>
              <a:rPr lang="he-IL" dirty="0" err="1"/>
              <a:t>פיירוול</a:t>
            </a:r>
            <a:r>
              <a:rPr lang="he-IL" dirty="0"/>
              <a:t> נוסף להגדלת רמת ההגנה.</a:t>
            </a:r>
          </a:p>
          <a:p>
            <a:r>
              <a:rPr lang="he-IL" dirty="0"/>
              <a:t>5. הצפנת נתונים - הצפן את הדיסק הקשיח באמצעות כלי הצפנה כמו </a:t>
            </a:r>
            <a:r>
              <a:rPr lang="en-US" dirty="0"/>
              <a:t> BitLocker </a:t>
            </a:r>
            <a:r>
              <a:rPr lang="he-IL" dirty="0"/>
              <a:t>ב-</a:t>
            </a:r>
            <a:r>
              <a:rPr lang="en-US" dirty="0"/>
              <a:t> Windows </a:t>
            </a:r>
            <a:r>
              <a:rPr lang="he-IL" dirty="0"/>
              <a:t>או </a:t>
            </a:r>
            <a:r>
              <a:rPr lang="en-US" dirty="0" err="1"/>
              <a:t>FileVault</a:t>
            </a:r>
            <a:r>
              <a:rPr lang="en-US" dirty="0"/>
              <a:t> </a:t>
            </a:r>
            <a:r>
              <a:rPr lang="he-IL" dirty="0"/>
              <a:t> ב-</a:t>
            </a:r>
            <a:r>
              <a:rPr lang="en-US" dirty="0"/>
              <a:t>macOS</a:t>
            </a:r>
            <a:r>
              <a:rPr lang="he-IL" dirty="0"/>
              <a:t> . (מאוד מומלץ), וגם טוב להשתמש בהצפנת קבצים עבור נתונים אישיים.</a:t>
            </a:r>
          </a:p>
        </p:txBody>
      </p:sp>
    </p:spTree>
    <p:extLst>
      <p:ext uri="{BB962C8B-B14F-4D97-AF65-F5344CB8AC3E}">
        <p14:creationId xmlns:p14="http://schemas.microsoft.com/office/powerpoint/2010/main" val="171490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A15217-68A3-4BFB-B40F-63F637910067}"/>
              </a:ext>
            </a:extLst>
          </p:cNvPr>
          <p:cNvSpPr>
            <a:spLocks noGrp="1"/>
          </p:cNvSpPr>
          <p:nvPr>
            <p:ph type="title"/>
          </p:nvPr>
        </p:nvSpPr>
        <p:spPr>
          <a:xfrm>
            <a:off x="2425148" y="642594"/>
            <a:ext cx="8700052" cy="1371600"/>
          </a:xfrm>
        </p:spPr>
        <p:txBody>
          <a:bodyPr/>
          <a:lstStyle/>
          <a:p>
            <a:r>
              <a:rPr lang="he-IL" dirty="0"/>
              <a:t>המשך דרכי אבטחה על מחשב בודד</a:t>
            </a:r>
          </a:p>
        </p:txBody>
      </p:sp>
      <p:sp>
        <p:nvSpPr>
          <p:cNvPr id="3" name="מציין מיקום תוכן 2">
            <a:extLst>
              <a:ext uri="{FF2B5EF4-FFF2-40B4-BE49-F238E27FC236}">
                <a16:creationId xmlns:a16="http://schemas.microsoft.com/office/drawing/2014/main" id="{8C23D583-1630-404A-8AE5-AB456B9C31D7}"/>
              </a:ext>
            </a:extLst>
          </p:cNvPr>
          <p:cNvSpPr>
            <a:spLocks noGrp="1"/>
          </p:cNvSpPr>
          <p:nvPr>
            <p:ph idx="1"/>
          </p:nvPr>
        </p:nvSpPr>
        <p:spPr/>
        <p:txBody>
          <a:bodyPr/>
          <a:lstStyle/>
          <a:p>
            <a:r>
              <a:rPr lang="he-IL" dirty="0"/>
              <a:t>6. גיבויים – יש לבצע גיבויים סדירים של הנתונים החשובים במחשב, וגם לשמור גיבויים במיקום בטוח </a:t>
            </a:r>
            <a:r>
              <a:rPr lang="he-IL" u="sng" dirty="0"/>
              <a:t>ונפרד מהמחשב</a:t>
            </a:r>
            <a:r>
              <a:rPr lang="he-IL" dirty="0"/>
              <a:t> לדוגמא: כונן חיצוני או שירות ענן.</a:t>
            </a:r>
          </a:p>
          <a:p>
            <a:r>
              <a:rPr lang="he-IL" dirty="0"/>
              <a:t>7. עדכוני תוכנה – לבדוק שכל התוכנות המותקנות במחשב מעודכנות לגרסה האחרונה, ובנוסף יש להפעיל עדכונים אוטומטיים בכדי לקבל את כל התיקונים והעדכונים הנדרשים בזמנם.</a:t>
            </a:r>
          </a:p>
          <a:p>
            <a:r>
              <a:rPr lang="he-IL" dirty="0"/>
              <a:t>8. מודעות והדרכה - ללמד את המשתמשים על נהלי אבטחה, כמו זיהוי </a:t>
            </a:r>
            <a:r>
              <a:rPr lang="he-IL" dirty="0" err="1"/>
              <a:t>פישינג</a:t>
            </a:r>
            <a:r>
              <a:rPr lang="he-IL" dirty="0"/>
              <a:t>, אי פתיחת קבצים מצורפים לא מזוהים, ולא להוריד תוכנות ממקורות לא אמינים.</a:t>
            </a:r>
          </a:p>
          <a:p>
            <a:r>
              <a:rPr lang="he-IL" dirty="0"/>
              <a:t>9. הרשאות וגישה - להגדיר הרשאות גישה מתאימות לכל המשתמשים במחשב, היינו להשתמש בחשבונות משתמש עם הרשאות מוגבלות לעבודה, והשתמש בחשבון מנהל רק כאשר יש צורך בכך.</a:t>
            </a:r>
          </a:p>
          <a:p>
            <a:r>
              <a:rPr lang="he-IL" dirty="0"/>
              <a:t>10. ניטור ותגובה לאיומים - להתקין כלי בכדי לעקוב אחרי פעולות חשודות במחשב, וגם תתכונן להגיב לאירועי אבטחה במהירות.</a:t>
            </a:r>
          </a:p>
        </p:txBody>
      </p:sp>
    </p:spTree>
    <p:extLst>
      <p:ext uri="{BB962C8B-B14F-4D97-AF65-F5344CB8AC3E}">
        <p14:creationId xmlns:p14="http://schemas.microsoft.com/office/powerpoint/2010/main" val="2534252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1B1D7C9-38C4-46E5-A0C2-6A8EACBA7354}"/>
              </a:ext>
            </a:extLst>
          </p:cNvPr>
          <p:cNvSpPr>
            <a:spLocks noGrp="1"/>
          </p:cNvSpPr>
          <p:nvPr>
            <p:ph type="title"/>
          </p:nvPr>
        </p:nvSpPr>
        <p:spPr>
          <a:xfrm>
            <a:off x="7176052" y="642594"/>
            <a:ext cx="3949147" cy="1371600"/>
          </a:xfrm>
        </p:spPr>
        <p:txBody>
          <a:bodyPr/>
          <a:lstStyle/>
          <a:p>
            <a:r>
              <a:rPr lang="he-IL" dirty="0"/>
              <a:t>אבטחת חומרה</a:t>
            </a:r>
          </a:p>
        </p:txBody>
      </p:sp>
      <p:sp>
        <p:nvSpPr>
          <p:cNvPr id="3" name="מציין מיקום תוכן 2">
            <a:extLst>
              <a:ext uri="{FF2B5EF4-FFF2-40B4-BE49-F238E27FC236}">
                <a16:creationId xmlns:a16="http://schemas.microsoft.com/office/drawing/2014/main" id="{5C40DFE8-29EF-4907-9F2F-F7087BDF1AC8}"/>
              </a:ext>
            </a:extLst>
          </p:cNvPr>
          <p:cNvSpPr>
            <a:spLocks noGrp="1"/>
          </p:cNvSpPr>
          <p:nvPr>
            <p:ph idx="1"/>
          </p:nvPr>
        </p:nvSpPr>
        <p:spPr>
          <a:xfrm>
            <a:off x="1066800" y="2283486"/>
            <a:ext cx="10058400" cy="3931920"/>
          </a:xfrm>
        </p:spPr>
        <p:txBody>
          <a:bodyPr/>
          <a:lstStyle/>
          <a:p>
            <a:r>
              <a:rPr lang="he-IL" dirty="0"/>
              <a:t>מה היא חומרה? חומרה הם כל הרכיבים הפיזיים במחשב, היינו מעבד, זיכרון, כונן הקשיח, לוח האם, ועוד. אבטחת חומרה מתמקדת בהגנה על רכיבים אלה מפני נזקים פיזיים, כמו: גניבה, ושימוש ללא הסכמה.</a:t>
            </a:r>
          </a:p>
        </p:txBody>
      </p:sp>
    </p:spTree>
    <p:extLst>
      <p:ext uri="{BB962C8B-B14F-4D97-AF65-F5344CB8AC3E}">
        <p14:creationId xmlns:p14="http://schemas.microsoft.com/office/powerpoint/2010/main" val="3688177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04DA263-6734-4D9A-8235-A4B2175CD9F5}"/>
              </a:ext>
            </a:extLst>
          </p:cNvPr>
          <p:cNvSpPr>
            <a:spLocks noGrp="1"/>
          </p:cNvSpPr>
          <p:nvPr>
            <p:ph type="title"/>
          </p:nvPr>
        </p:nvSpPr>
        <p:spPr>
          <a:xfrm>
            <a:off x="5695122" y="642594"/>
            <a:ext cx="5430078" cy="1371600"/>
          </a:xfrm>
        </p:spPr>
        <p:txBody>
          <a:bodyPr/>
          <a:lstStyle/>
          <a:p>
            <a:r>
              <a:rPr lang="he-IL" dirty="0"/>
              <a:t>כיצד לאבטח חומרה?</a:t>
            </a:r>
          </a:p>
        </p:txBody>
      </p:sp>
      <p:sp>
        <p:nvSpPr>
          <p:cNvPr id="3" name="מציין מיקום תוכן 2">
            <a:extLst>
              <a:ext uri="{FF2B5EF4-FFF2-40B4-BE49-F238E27FC236}">
                <a16:creationId xmlns:a16="http://schemas.microsoft.com/office/drawing/2014/main" id="{3F3C7B5E-DF25-4FB2-8C8D-2AE0477E43D2}"/>
              </a:ext>
            </a:extLst>
          </p:cNvPr>
          <p:cNvSpPr>
            <a:spLocks noGrp="1"/>
          </p:cNvSpPr>
          <p:nvPr>
            <p:ph idx="1"/>
          </p:nvPr>
        </p:nvSpPr>
        <p:spPr/>
        <p:txBody>
          <a:bodyPr/>
          <a:lstStyle/>
          <a:p>
            <a:r>
              <a:rPr lang="he-IL" dirty="0"/>
              <a:t>1. מנעולים פיזיים - שימוש בכבלים ומנעולים פיזיים בכדי להבטיח שהמחשב לא </a:t>
            </a:r>
            <a:r>
              <a:rPr lang="he-IL" dirty="0" err="1"/>
              <a:t>יגנב</a:t>
            </a:r>
            <a:r>
              <a:rPr lang="he-IL" dirty="0"/>
              <a:t>. והוא הדין גם בנעילת חדרי שרתים וחדרים המכילים מחשבים.</a:t>
            </a:r>
          </a:p>
          <a:p>
            <a:r>
              <a:rPr lang="he-IL" dirty="0"/>
              <a:t>2. גדרות ומצלמות אבטחה - התקנת מצלמות אבטחה וגדרות בכדי להגן על אזורים שדורשים שמירה והגנה, וגם מעקב אחר פעילות חשודה במקומות שבהם נמצאת החומרה שלנו.</a:t>
            </a:r>
          </a:p>
          <a:p>
            <a:r>
              <a:rPr lang="he-IL" dirty="0"/>
              <a:t>3. שמירה על הסביבה הפיזית - שמירה על סביבה מתאימה, וזה בא לידי ביטוי בטמפרטורה, לחות וכל זה  בכדי למנוע נזקים לרכיבים שונים.</a:t>
            </a:r>
          </a:p>
          <a:p>
            <a:r>
              <a:rPr lang="he-IL" dirty="0"/>
              <a:t>* טוב להתקין מערכות גיבוי חשמל כמו</a:t>
            </a:r>
            <a:r>
              <a:rPr lang="en-US" dirty="0"/>
              <a:t> UPS </a:t>
            </a:r>
            <a:r>
              <a:rPr lang="he-IL" dirty="0"/>
              <a:t>כדי למנוע נזקים כתוצאה מהפסקות חשמל.</a:t>
            </a:r>
          </a:p>
        </p:txBody>
      </p:sp>
    </p:spTree>
    <p:extLst>
      <p:ext uri="{BB962C8B-B14F-4D97-AF65-F5344CB8AC3E}">
        <p14:creationId xmlns:p14="http://schemas.microsoft.com/office/powerpoint/2010/main" val="2100303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C64D4D-0782-4F40-A3CA-12C1345843E4}"/>
              </a:ext>
            </a:extLst>
          </p:cNvPr>
          <p:cNvSpPr>
            <a:spLocks noGrp="1"/>
          </p:cNvSpPr>
          <p:nvPr>
            <p:ph type="title"/>
          </p:nvPr>
        </p:nvSpPr>
        <p:spPr>
          <a:xfrm>
            <a:off x="7046842" y="642594"/>
            <a:ext cx="4078357" cy="1371600"/>
          </a:xfrm>
        </p:spPr>
        <p:txBody>
          <a:bodyPr/>
          <a:lstStyle/>
          <a:p>
            <a:r>
              <a:rPr lang="he-IL" dirty="0"/>
              <a:t>אבטחת </a:t>
            </a:r>
            <a:r>
              <a:rPr lang="he-IL" dirty="0" err="1"/>
              <a:t>קושחה</a:t>
            </a:r>
            <a:endParaRPr lang="he-IL" dirty="0"/>
          </a:p>
        </p:txBody>
      </p:sp>
      <p:sp>
        <p:nvSpPr>
          <p:cNvPr id="3" name="מציין מיקום תוכן 2">
            <a:extLst>
              <a:ext uri="{FF2B5EF4-FFF2-40B4-BE49-F238E27FC236}">
                <a16:creationId xmlns:a16="http://schemas.microsoft.com/office/drawing/2014/main" id="{4FC12805-4CF3-4697-A67B-9758D98AE945}"/>
              </a:ext>
            </a:extLst>
          </p:cNvPr>
          <p:cNvSpPr>
            <a:spLocks noGrp="1"/>
          </p:cNvSpPr>
          <p:nvPr>
            <p:ph idx="1"/>
          </p:nvPr>
        </p:nvSpPr>
        <p:spPr>
          <a:xfrm>
            <a:off x="1066799" y="2490746"/>
            <a:ext cx="10058400" cy="3931920"/>
          </a:xfrm>
        </p:spPr>
        <p:txBody>
          <a:bodyPr/>
          <a:lstStyle/>
          <a:p>
            <a:r>
              <a:rPr lang="he-IL" dirty="0"/>
              <a:t>מה היא </a:t>
            </a:r>
            <a:r>
              <a:rPr lang="he-IL" dirty="0" err="1"/>
              <a:t>קושחה</a:t>
            </a:r>
            <a:r>
              <a:rPr lang="he-IL" dirty="0"/>
              <a:t>? </a:t>
            </a:r>
            <a:r>
              <a:rPr lang="he-IL" dirty="0" err="1"/>
              <a:t>קושחה</a:t>
            </a:r>
            <a:r>
              <a:rPr lang="he-IL" dirty="0"/>
              <a:t> </a:t>
            </a:r>
            <a:r>
              <a:rPr lang="en-US" dirty="0"/>
              <a:t>Firmware</a:t>
            </a:r>
            <a:r>
              <a:rPr lang="he-IL" dirty="0"/>
              <a:t> היא התוכנה המובנית בתוך רכיבי החומרה, כמו ה-</a:t>
            </a:r>
            <a:r>
              <a:rPr lang="en-US" dirty="0"/>
              <a:t>BIOS </a:t>
            </a:r>
            <a:r>
              <a:rPr lang="he-IL" dirty="0"/>
              <a:t> או ה-</a:t>
            </a:r>
            <a:r>
              <a:rPr lang="en-US" dirty="0"/>
              <a:t>UEFI </a:t>
            </a:r>
            <a:r>
              <a:rPr lang="he-IL" dirty="0"/>
              <a:t>בלוח האם, תוכנת הבקרה במעבדים, בקרי רשת, ועוד. אבטחת </a:t>
            </a:r>
            <a:r>
              <a:rPr lang="he-IL" dirty="0" err="1"/>
              <a:t>קושחה</a:t>
            </a:r>
            <a:r>
              <a:rPr lang="he-IL" dirty="0"/>
              <a:t> תפקידה בהגנה על תוכנה זו מפני התקפות שעלולות לשנות את פעולתה או לנצל פרצות אבטחה שבה הוכחה מחישוביות.</a:t>
            </a:r>
          </a:p>
        </p:txBody>
      </p:sp>
    </p:spTree>
    <p:extLst>
      <p:ext uri="{BB962C8B-B14F-4D97-AF65-F5344CB8AC3E}">
        <p14:creationId xmlns:p14="http://schemas.microsoft.com/office/powerpoint/2010/main" val="4214870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76521F1-1A1E-4B8D-B0DE-E2F4DE0558BA}"/>
              </a:ext>
            </a:extLst>
          </p:cNvPr>
          <p:cNvSpPr>
            <a:spLocks noGrp="1"/>
          </p:cNvSpPr>
          <p:nvPr>
            <p:ph type="title"/>
          </p:nvPr>
        </p:nvSpPr>
        <p:spPr>
          <a:xfrm>
            <a:off x="5764696" y="642594"/>
            <a:ext cx="5360504" cy="1371600"/>
          </a:xfrm>
        </p:spPr>
        <p:txBody>
          <a:bodyPr/>
          <a:lstStyle/>
          <a:p>
            <a:r>
              <a:rPr lang="he-IL" dirty="0"/>
              <a:t>כיצד לאבטח </a:t>
            </a:r>
            <a:r>
              <a:rPr lang="he-IL" dirty="0" err="1"/>
              <a:t>קושחה</a:t>
            </a:r>
            <a:endParaRPr lang="he-IL" dirty="0"/>
          </a:p>
        </p:txBody>
      </p:sp>
      <p:sp>
        <p:nvSpPr>
          <p:cNvPr id="3" name="מציין מיקום תוכן 2">
            <a:extLst>
              <a:ext uri="{FF2B5EF4-FFF2-40B4-BE49-F238E27FC236}">
                <a16:creationId xmlns:a16="http://schemas.microsoft.com/office/drawing/2014/main" id="{E7DCF15C-B331-4BF2-8868-D2ACC6BEC21D}"/>
              </a:ext>
            </a:extLst>
          </p:cNvPr>
          <p:cNvSpPr>
            <a:spLocks noGrp="1"/>
          </p:cNvSpPr>
          <p:nvPr>
            <p:ph idx="1"/>
          </p:nvPr>
        </p:nvSpPr>
        <p:spPr/>
        <p:txBody>
          <a:bodyPr/>
          <a:lstStyle/>
          <a:p>
            <a:r>
              <a:rPr lang="he-IL" dirty="0"/>
              <a:t>1. עדכוני </a:t>
            </a:r>
            <a:r>
              <a:rPr lang="he-IL" dirty="0" err="1"/>
              <a:t>קושחה</a:t>
            </a:r>
            <a:r>
              <a:rPr lang="he-IL" dirty="0"/>
              <a:t> - התקנת עדכוני </a:t>
            </a:r>
            <a:r>
              <a:rPr lang="he-IL" dirty="0" err="1"/>
              <a:t>קושחה</a:t>
            </a:r>
            <a:r>
              <a:rPr lang="he-IL" dirty="0"/>
              <a:t> מיצרן החומרה כדי לתקן פרצות אבטחה שהתגלו לאחר זמן, ובנוסף בדיקה תקופתית של עדכונים חדשים והתקנתם באופן תדירי.</a:t>
            </a:r>
          </a:p>
          <a:p>
            <a:r>
              <a:rPr lang="he-IL" dirty="0"/>
              <a:t>2. הגנה על </a:t>
            </a:r>
            <a:r>
              <a:rPr lang="en-US" dirty="0"/>
              <a:t>BIOS ,UEFI</a:t>
            </a:r>
            <a:r>
              <a:rPr lang="he-IL" dirty="0"/>
              <a:t> - להגדיר סיסמא להגנה על ה-</a:t>
            </a:r>
            <a:r>
              <a:rPr lang="en-US" dirty="0"/>
              <a:t>BIOS, UEFI </a:t>
            </a:r>
            <a:r>
              <a:rPr lang="he-IL" dirty="0"/>
              <a:t> בכדי למנוע גישה לבלתי מורשים.</a:t>
            </a:r>
          </a:p>
          <a:p>
            <a:r>
              <a:rPr lang="he-IL" dirty="0"/>
              <a:t>3. הצפנה ואימות – לינתן להשתמש בטכנולוגיות הצפנה ואימות </a:t>
            </a:r>
            <a:r>
              <a:rPr lang="he-IL" dirty="0" err="1"/>
              <a:t>בקושחה</a:t>
            </a:r>
            <a:r>
              <a:rPr lang="he-IL" dirty="0"/>
              <a:t> בכדי למנוע שינוי בלתי מורשה או הזרקת קוד זדוני </a:t>
            </a:r>
            <a:r>
              <a:rPr lang="en-US" dirty="0"/>
              <a:t>INJECTION</a:t>
            </a:r>
            <a:r>
              <a:rPr lang="he-IL" dirty="0"/>
              <a:t> וגם לבדוק </a:t>
            </a:r>
            <a:r>
              <a:rPr lang="he-IL" dirty="0" err="1"/>
              <a:t>שהקושחה</a:t>
            </a:r>
            <a:r>
              <a:rPr lang="he-IL" dirty="0"/>
              <a:t> חתומה דיגיטלית בעת התקנתה.</a:t>
            </a:r>
          </a:p>
          <a:p>
            <a:r>
              <a:rPr lang="he-IL" dirty="0"/>
              <a:t>4. גיבוי ושחזור - גיבוי </a:t>
            </a:r>
            <a:r>
              <a:rPr lang="he-IL" dirty="0" err="1"/>
              <a:t>הקושחה</a:t>
            </a:r>
            <a:r>
              <a:rPr lang="he-IL" dirty="0"/>
              <a:t> חשובה כדי לאפשר שחזור במקרה של תקלה או שינוי של התוקף, וכמובן שמירה על גיבויים במיקום מאובטח ונפרד מהמחשב.</a:t>
            </a:r>
          </a:p>
          <a:p>
            <a:r>
              <a:rPr lang="he-IL" dirty="0"/>
              <a:t>5. ניטור פעילות חריגה - להתקין כלי חיפוש לזיהוי פעילות חריגה </a:t>
            </a:r>
            <a:r>
              <a:rPr lang="he-IL" dirty="0" err="1"/>
              <a:t>בקושחה</a:t>
            </a:r>
            <a:r>
              <a:rPr lang="he-IL" dirty="0"/>
              <a:t>, כגון שינוי בלתי מורשה בהגדרות ה-</a:t>
            </a:r>
            <a:r>
              <a:rPr lang="en-US" dirty="0"/>
              <a:t>BIOS, UEFI</a:t>
            </a:r>
            <a:r>
              <a:rPr lang="he-IL" dirty="0"/>
              <a:t>.</a:t>
            </a:r>
          </a:p>
        </p:txBody>
      </p:sp>
    </p:spTree>
    <p:extLst>
      <p:ext uri="{BB962C8B-B14F-4D97-AF65-F5344CB8AC3E}">
        <p14:creationId xmlns:p14="http://schemas.microsoft.com/office/powerpoint/2010/main" val="3393195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CD23762-49B9-433D-AF93-189E1D77FAAD}"/>
              </a:ext>
            </a:extLst>
          </p:cNvPr>
          <p:cNvSpPr>
            <a:spLocks noGrp="1"/>
          </p:cNvSpPr>
          <p:nvPr>
            <p:ph type="title"/>
          </p:nvPr>
        </p:nvSpPr>
        <p:spPr>
          <a:xfrm>
            <a:off x="1779104" y="642594"/>
            <a:ext cx="9346097" cy="1371600"/>
          </a:xfrm>
        </p:spPr>
        <p:txBody>
          <a:bodyPr>
            <a:normAutofit/>
          </a:bodyPr>
          <a:lstStyle/>
          <a:p>
            <a:r>
              <a:rPr lang="he-IL" sz="3600" dirty="0"/>
              <a:t>*(למעוניינים) במידה ואתם שמים סיסמה ב- </a:t>
            </a:r>
            <a:r>
              <a:rPr lang="en-US" sz="3600" dirty="0"/>
              <a:t>:BIOS</a:t>
            </a:r>
            <a:endParaRPr lang="he-IL" sz="3600" dirty="0"/>
          </a:p>
        </p:txBody>
      </p:sp>
      <p:sp>
        <p:nvSpPr>
          <p:cNvPr id="3" name="מציין מיקום תוכן 2">
            <a:extLst>
              <a:ext uri="{FF2B5EF4-FFF2-40B4-BE49-F238E27FC236}">
                <a16:creationId xmlns:a16="http://schemas.microsoft.com/office/drawing/2014/main" id="{A5733B03-CA34-4CB8-8BF3-E020F2D4D584}"/>
              </a:ext>
            </a:extLst>
          </p:cNvPr>
          <p:cNvSpPr>
            <a:spLocks noGrp="1"/>
          </p:cNvSpPr>
          <p:nvPr>
            <p:ph idx="1"/>
          </p:nvPr>
        </p:nvSpPr>
        <p:spPr/>
        <p:txBody>
          <a:bodyPr/>
          <a:lstStyle/>
          <a:p>
            <a:r>
              <a:rPr lang="he-IL" b="1" dirty="0"/>
              <a:t>שמור את הסיסמה במקום בטוח:</a:t>
            </a:r>
            <a:r>
              <a:rPr lang="he-IL" dirty="0"/>
              <a:t> אם תשכח את הסיסמה, יהיה קשה מאוד לשחזר אותה, ולפעמים תצטרך ליצור קשר עם התמיכה הטכנית של היצרן.</a:t>
            </a:r>
          </a:p>
          <a:p>
            <a:r>
              <a:rPr lang="he-IL" b="1" dirty="0"/>
              <a:t>עדכן את הסיסמה באופן תקופתי:</a:t>
            </a:r>
            <a:r>
              <a:rPr lang="he-IL" dirty="0"/>
              <a:t> עדכון תקופתי של הסיסמה מגביר את רמת האבטחה.</a:t>
            </a:r>
          </a:p>
          <a:p>
            <a:r>
              <a:rPr lang="he-IL" b="1" dirty="0"/>
              <a:t>השתמש בסיסמה חזקה:</a:t>
            </a:r>
            <a:r>
              <a:rPr lang="he-IL" dirty="0"/>
              <a:t> השתמש בשילוב של אותיות, מספרים וסימנים מיוחדים.</a:t>
            </a:r>
          </a:p>
          <a:p>
            <a:endParaRPr lang="he-IL" dirty="0"/>
          </a:p>
        </p:txBody>
      </p:sp>
    </p:spTree>
    <p:extLst>
      <p:ext uri="{BB962C8B-B14F-4D97-AF65-F5344CB8AC3E}">
        <p14:creationId xmlns:p14="http://schemas.microsoft.com/office/powerpoint/2010/main" val="638483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359B33E-AD41-403E-BD11-DE4AC1560F1B}"/>
              </a:ext>
            </a:extLst>
          </p:cNvPr>
          <p:cNvSpPr>
            <a:spLocks noGrp="1"/>
          </p:cNvSpPr>
          <p:nvPr>
            <p:ph type="title"/>
          </p:nvPr>
        </p:nvSpPr>
        <p:spPr>
          <a:xfrm>
            <a:off x="2345634" y="642594"/>
            <a:ext cx="8779565" cy="1371600"/>
          </a:xfrm>
        </p:spPr>
        <p:txBody>
          <a:bodyPr/>
          <a:lstStyle/>
          <a:p>
            <a:r>
              <a:rPr lang="he-IL" dirty="0"/>
              <a:t>שאלה על אבטחת חומרה </a:t>
            </a:r>
            <a:r>
              <a:rPr lang="he-IL" dirty="0" err="1"/>
              <a:t>וקושחה</a:t>
            </a:r>
            <a:r>
              <a:rPr lang="he-IL" dirty="0"/>
              <a:t>:</a:t>
            </a:r>
          </a:p>
        </p:txBody>
      </p:sp>
      <p:sp>
        <p:nvSpPr>
          <p:cNvPr id="3" name="מציין מיקום תוכן 2">
            <a:extLst>
              <a:ext uri="{FF2B5EF4-FFF2-40B4-BE49-F238E27FC236}">
                <a16:creationId xmlns:a16="http://schemas.microsoft.com/office/drawing/2014/main" id="{8FEF9270-0533-410A-B304-5C56B87CC2E2}"/>
              </a:ext>
            </a:extLst>
          </p:cNvPr>
          <p:cNvSpPr>
            <a:spLocks noGrp="1"/>
          </p:cNvSpPr>
          <p:nvPr>
            <p:ph idx="1"/>
          </p:nvPr>
        </p:nvSpPr>
        <p:spPr/>
        <p:txBody>
          <a:bodyPr/>
          <a:lstStyle/>
          <a:p>
            <a:r>
              <a:rPr lang="he-IL" dirty="0"/>
              <a:t>שאלה: חברת תוכנה בשם </a:t>
            </a:r>
            <a:r>
              <a:rPr lang="en-US" dirty="0"/>
              <a:t>DANIEL.COM</a:t>
            </a:r>
            <a:r>
              <a:rPr lang="he-IL" dirty="0"/>
              <a:t> החליטה להקשיח את מערך המחשוב שלה בעקבות מתקפות סייבר חוזרות </a:t>
            </a:r>
            <a:r>
              <a:rPr lang="he-IL" dirty="0" err="1"/>
              <a:t>ונישנות</a:t>
            </a:r>
            <a:r>
              <a:rPr lang="he-IL" dirty="0"/>
              <a:t>. כחלק מהתהליך, החברה רוצה להבטיח שאף אחד לא יוכל לשנות את הגדרות ה-</a:t>
            </a:r>
            <a:r>
              <a:rPr lang="en-US" dirty="0"/>
              <a:t>    BIOS </a:t>
            </a:r>
            <a:r>
              <a:rPr lang="he-IL" dirty="0"/>
              <a:t> או להעלות מערכת הפעלה לא מאומתת. </a:t>
            </a:r>
          </a:p>
          <a:p>
            <a:r>
              <a:rPr lang="he-IL" dirty="0"/>
              <a:t>1. הסבר כיצד ניתן להגן על הגדרות ה-</a:t>
            </a:r>
            <a:r>
              <a:rPr lang="en-US" dirty="0"/>
              <a:t>BIOS/UEFI </a:t>
            </a:r>
            <a:r>
              <a:rPr lang="he-IL" dirty="0"/>
              <a:t> מפני גישה בלתי מורשית?</a:t>
            </a:r>
          </a:p>
          <a:p>
            <a:r>
              <a:rPr lang="he-IL" dirty="0"/>
              <a:t>2. וגם מדוע חשוב להפעיל אפשרות של </a:t>
            </a:r>
            <a:r>
              <a:rPr lang="en-US" dirty="0"/>
              <a:t>Secure Boot </a:t>
            </a:r>
            <a:r>
              <a:rPr lang="he-IL" dirty="0"/>
              <a:t>?</a:t>
            </a:r>
          </a:p>
        </p:txBody>
      </p:sp>
    </p:spTree>
    <p:extLst>
      <p:ext uri="{BB962C8B-B14F-4D97-AF65-F5344CB8AC3E}">
        <p14:creationId xmlns:p14="http://schemas.microsoft.com/office/powerpoint/2010/main" val="1164482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0251A24-0D94-4AC6-B803-F6312EEA5E31}"/>
              </a:ext>
            </a:extLst>
          </p:cNvPr>
          <p:cNvSpPr>
            <a:spLocks noGrp="1"/>
          </p:cNvSpPr>
          <p:nvPr>
            <p:ph type="title"/>
          </p:nvPr>
        </p:nvSpPr>
        <p:spPr>
          <a:xfrm>
            <a:off x="9024730" y="642594"/>
            <a:ext cx="2100470" cy="1371600"/>
          </a:xfrm>
        </p:spPr>
        <p:txBody>
          <a:bodyPr/>
          <a:lstStyle/>
          <a:p>
            <a:r>
              <a:rPr lang="he-IL" dirty="0"/>
              <a:t>תשובה:</a:t>
            </a:r>
          </a:p>
        </p:txBody>
      </p:sp>
      <p:sp>
        <p:nvSpPr>
          <p:cNvPr id="3" name="מציין מיקום תוכן 2">
            <a:extLst>
              <a:ext uri="{FF2B5EF4-FFF2-40B4-BE49-F238E27FC236}">
                <a16:creationId xmlns:a16="http://schemas.microsoft.com/office/drawing/2014/main" id="{5195BCAE-23B5-45A0-85EC-E610252F0CD1}"/>
              </a:ext>
            </a:extLst>
          </p:cNvPr>
          <p:cNvSpPr>
            <a:spLocks noGrp="1"/>
          </p:cNvSpPr>
          <p:nvPr>
            <p:ph idx="1"/>
          </p:nvPr>
        </p:nvSpPr>
        <p:spPr/>
        <p:txBody>
          <a:bodyPr/>
          <a:lstStyle/>
          <a:p>
            <a:r>
              <a:rPr lang="he-IL" dirty="0"/>
              <a:t>1. הגדרת סיסמה ל-</a:t>
            </a:r>
            <a:r>
              <a:rPr lang="en-US" dirty="0"/>
              <a:t>BIOS/UEFI </a:t>
            </a:r>
            <a:r>
              <a:rPr lang="he-IL" dirty="0"/>
              <a:t> : כדי להגן על הגדרות ה-</a:t>
            </a:r>
            <a:r>
              <a:rPr lang="en-US" dirty="0"/>
              <a:t>BIOS/UEFI </a:t>
            </a:r>
            <a:r>
              <a:rPr lang="he-IL" dirty="0"/>
              <a:t> יש להגדיר סיסמת מנהל מערכת </a:t>
            </a:r>
            <a:r>
              <a:rPr lang="en-US" dirty="0"/>
              <a:t>    Administrator Password </a:t>
            </a:r>
            <a:r>
              <a:rPr lang="he-IL" dirty="0"/>
              <a:t> ואנו צריכים סיסמה זו בכדי לגשת ולשנות את הגדרות ה-</a:t>
            </a:r>
            <a:r>
              <a:rPr lang="en-US" dirty="0"/>
              <a:t>BIOS/UEFI</a:t>
            </a:r>
            <a:r>
              <a:rPr lang="he-IL" dirty="0"/>
              <a:t>. ובנוסף ניתן להגדיר סיסמת משתמש שתידרש בעת אתחול המחשב, כך שרק מי שמכיר את הסיסמה יוכל לאתחל את המחשב.</a:t>
            </a:r>
          </a:p>
          <a:p>
            <a:r>
              <a:rPr lang="he-IL" dirty="0"/>
              <a:t>2. </a:t>
            </a:r>
            <a:r>
              <a:rPr lang="en-US" dirty="0"/>
              <a:t>Secure Boot </a:t>
            </a:r>
            <a:r>
              <a:rPr lang="he-IL" dirty="0"/>
              <a:t> מוודא שרק תוכנות מערכת הפעלה מאומתות וחתומות דיגיטלית על ידי היצרן ייטענו במהלך אתחול המחשב ולא דברים אחרים. ובנוסף זה מונע מתוכנות זדוניות להיטען ולהשיג שליטה על המחשב עוד לפני שמערכת ההפעלה נטענת וחושב גם לדעת שהפעלת </a:t>
            </a:r>
            <a:r>
              <a:rPr lang="en-US" dirty="0"/>
              <a:t>Secure Boot </a:t>
            </a:r>
            <a:r>
              <a:rPr lang="he-IL" dirty="0"/>
              <a:t> מסייעת בהגנה על שלמות מערכת האתחול ומפחיתה את הסיכון לניצול פגיעות קריטיות במערכת.</a:t>
            </a:r>
          </a:p>
          <a:p>
            <a:endParaRPr lang="he-IL" dirty="0"/>
          </a:p>
        </p:txBody>
      </p:sp>
    </p:spTree>
    <p:extLst>
      <p:ext uri="{BB962C8B-B14F-4D97-AF65-F5344CB8AC3E}">
        <p14:creationId xmlns:p14="http://schemas.microsoft.com/office/powerpoint/2010/main" val="4115563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DB01D74-21DE-4CF0-8E33-F93E82D925AE}"/>
              </a:ext>
            </a:extLst>
          </p:cNvPr>
          <p:cNvSpPr>
            <a:spLocks noGrp="1"/>
          </p:cNvSpPr>
          <p:nvPr>
            <p:ph type="title"/>
          </p:nvPr>
        </p:nvSpPr>
        <p:spPr>
          <a:xfrm>
            <a:off x="4780722" y="642594"/>
            <a:ext cx="6344478" cy="1371600"/>
          </a:xfrm>
        </p:spPr>
        <p:txBody>
          <a:bodyPr/>
          <a:lstStyle/>
          <a:p>
            <a:r>
              <a:rPr lang="he-IL" dirty="0"/>
              <a:t>הקשחת מערכת ההפעלה</a:t>
            </a:r>
          </a:p>
        </p:txBody>
      </p:sp>
      <p:sp>
        <p:nvSpPr>
          <p:cNvPr id="3" name="מציין מיקום תוכן 2">
            <a:extLst>
              <a:ext uri="{FF2B5EF4-FFF2-40B4-BE49-F238E27FC236}">
                <a16:creationId xmlns:a16="http://schemas.microsoft.com/office/drawing/2014/main" id="{B3F4E0B9-EFF6-4B8F-8397-406EB52E9BDE}"/>
              </a:ext>
            </a:extLst>
          </p:cNvPr>
          <p:cNvSpPr>
            <a:spLocks noGrp="1"/>
          </p:cNvSpPr>
          <p:nvPr>
            <p:ph idx="1"/>
          </p:nvPr>
        </p:nvSpPr>
        <p:spPr/>
        <p:txBody>
          <a:bodyPr/>
          <a:lstStyle/>
          <a:p>
            <a:r>
              <a:rPr lang="he-IL" dirty="0"/>
              <a:t>מהי הקשחת מערכת ההפעלה? </a:t>
            </a:r>
          </a:p>
          <a:p>
            <a:r>
              <a:rPr lang="he-IL" dirty="0"/>
              <a:t>הקשחת מערכת ההפעלה</a:t>
            </a:r>
            <a:r>
              <a:rPr lang="en-US" dirty="0"/>
              <a:t>Operating System Hardening </a:t>
            </a:r>
            <a:r>
              <a:rPr lang="he-IL" dirty="0"/>
              <a:t> (</a:t>
            </a:r>
            <a:r>
              <a:rPr lang="en-US" dirty="0"/>
              <a:t> (OSH</a:t>
            </a:r>
            <a:r>
              <a:rPr lang="he-IL" dirty="0"/>
              <a:t>היא תהליך של חיזוק </a:t>
            </a:r>
            <a:r>
              <a:rPr lang="he-IL" dirty="0" err="1"/>
              <a:t>ההגנות</a:t>
            </a:r>
            <a:r>
              <a:rPr lang="he-IL" dirty="0"/>
              <a:t> והקטנת הפגיעות של מערכת ההפעלה מפני התקפות וסיכונים. תפקידנו להפחית את מספר הנקודות </a:t>
            </a:r>
            <a:r>
              <a:rPr lang="he-IL"/>
              <a:t>הפגיעות שבמערכת </a:t>
            </a:r>
            <a:r>
              <a:rPr lang="he-IL" dirty="0"/>
              <a:t>שיכולות להיות מנוצלות על ידי תוקפים ובכך להבטיח שמערכת ההפעלה תהיה כמה שיותר מאובטחת ולא פגיעה.</a:t>
            </a:r>
          </a:p>
        </p:txBody>
      </p:sp>
    </p:spTree>
    <p:extLst>
      <p:ext uri="{BB962C8B-B14F-4D97-AF65-F5344CB8AC3E}">
        <p14:creationId xmlns:p14="http://schemas.microsoft.com/office/powerpoint/2010/main" val="1849754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713AE5-B9F0-40C7-8B14-82872580419C}"/>
              </a:ext>
            </a:extLst>
          </p:cNvPr>
          <p:cNvSpPr>
            <a:spLocks noGrp="1"/>
          </p:cNvSpPr>
          <p:nvPr>
            <p:ph type="title"/>
          </p:nvPr>
        </p:nvSpPr>
        <p:spPr>
          <a:xfrm>
            <a:off x="2126974" y="642594"/>
            <a:ext cx="8998226" cy="1371600"/>
          </a:xfrm>
        </p:spPr>
        <p:txBody>
          <a:bodyPr/>
          <a:lstStyle/>
          <a:p>
            <a:r>
              <a:rPr lang="he-IL" dirty="0"/>
              <a:t>השלבים להקשחת מערכת ההפעלה:</a:t>
            </a:r>
          </a:p>
        </p:txBody>
      </p:sp>
      <p:sp>
        <p:nvSpPr>
          <p:cNvPr id="3" name="מציין מיקום תוכן 2">
            <a:extLst>
              <a:ext uri="{FF2B5EF4-FFF2-40B4-BE49-F238E27FC236}">
                <a16:creationId xmlns:a16="http://schemas.microsoft.com/office/drawing/2014/main" id="{41A0FDE9-7BC3-4CB1-8979-D49F2A24A7B5}"/>
              </a:ext>
            </a:extLst>
          </p:cNvPr>
          <p:cNvSpPr>
            <a:spLocks noGrp="1"/>
          </p:cNvSpPr>
          <p:nvPr>
            <p:ph idx="1"/>
          </p:nvPr>
        </p:nvSpPr>
        <p:spPr/>
        <p:txBody>
          <a:bodyPr/>
          <a:lstStyle/>
          <a:p>
            <a:r>
              <a:rPr lang="he-IL" dirty="0"/>
              <a:t>1. עדכונים ותיקונים </a:t>
            </a:r>
            <a:r>
              <a:rPr lang="en-US" dirty="0"/>
              <a:t>Patching</a:t>
            </a:r>
            <a:r>
              <a:rPr lang="he-IL" dirty="0"/>
              <a:t>: צריכים אנו לוודות שכל העדכונים והתיקונים האחרונים של מערכת ההפעלה מותקנים </a:t>
            </a:r>
            <a:r>
              <a:rPr lang="he-IL" dirty="0" err="1"/>
              <a:t>אצלינו</a:t>
            </a:r>
            <a:r>
              <a:rPr lang="he-IL" dirty="0"/>
              <a:t>, ובנוסף הפעל עדכונים אוטומטיים כדי לקבל תיקונים חדשים באופן עכשווי. </a:t>
            </a:r>
          </a:p>
          <a:p>
            <a:r>
              <a:rPr lang="he-IL" dirty="0"/>
              <a:t>2. הגדרות אבטחה </a:t>
            </a:r>
            <a:r>
              <a:rPr lang="en-US" dirty="0"/>
              <a:t>Security Settings</a:t>
            </a:r>
            <a:r>
              <a:rPr lang="he-IL" dirty="0"/>
              <a:t>: עדכן את הגדרות האבטחה המובנות של מערכת ההפעלה, וגם תוודא שהגדרות האבטחה המומלצות מיושמות.</a:t>
            </a:r>
          </a:p>
          <a:p>
            <a:r>
              <a:rPr lang="he-IL" dirty="0"/>
              <a:t>3. הגנה על חשבונות משתמש: השתמש בסיסמאות חזקות לכל החשבונות, וטוב גם להשתמש  באימות דו שלבי עבור חשבונות המשתמשים.</a:t>
            </a:r>
          </a:p>
          <a:p>
            <a:r>
              <a:rPr lang="he-IL" dirty="0"/>
              <a:t>4. כיבוי שירותים ותכונות לא נחוצים: נטרל שירותים ותכונות שלא בשימוש בכדי לצמצם את שטח התקיפה.</a:t>
            </a:r>
          </a:p>
          <a:p>
            <a:r>
              <a:rPr lang="he-IL" dirty="0"/>
              <a:t>5. </a:t>
            </a:r>
            <a:r>
              <a:rPr lang="he-IL" dirty="0" err="1"/>
              <a:t>פיירוול</a:t>
            </a:r>
            <a:r>
              <a:rPr lang="he-IL" dirty="0"/>
              <a:t> </a:t>
            </a:r>
            <a:r>
              <a:rPr lang="en-US" dirty="0"/>
              <a:t>Firewall</a:t>
            </a:r>
            <a:r>
              <a:rPr lang="he-IL" dirty="0"/>
              <a:t>: הפעל את </a:t>
            </a:r>
            <a:r>
              <a:rPr lang="he-IL" dirty="0" err="1"/>
              <a:t>הפיירוול</a:t>
            </a:r>
            <a:r>
              <a:rPr lang="he-IL" dirty="0"/>
              <a:t> המובנה במערכת ההפעלה, ובנוסף הגדר כללים מגבילים לגישה מרשתות חיצוניות.</a:t>
            </a:r>
          </a:p>
          <a:p>
            <a:r>
              <a:rPr lang="he-IL" dirty="0"/>
              <a:t>6. אנטי-וירוס ואנטי תוכנה זדונית: התקן תוכנות אנטי-וירוס ואנטי-תוכנה זדונית, ובנוסף </a:t>
            </a:r>
            <a:r>
              <a:rPr lang="he-IL" dirty="0" err="1"/>
              <a:t>תודא</a:t>
            </a:r>
            <a:r>
              <a:rPr lang="he-IL" dirty="0"/>
              <a:t> שהתוכנות מעודכנות ומתבצעות סריקות בצורה תדירית.</a:t>
            </a:r>
          </a:p>
        </p:txBody>
      </p:sp>
    </p:spTree>
    <p:extLst>
      <p:ext uri="{BB962C8B-B14F-4D97-AF65-F5344CB8AC3E}">
        <p14:creationId xmlns:p14="http://schemas.microsoft.com/office/powerpoint/2010/main" val="3674410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FBAE7A4-1962-40CB-88CC-8E3FBA39BF1A}"/>
              </a:ext>
            </a:extLst>
          </p:cNvPr>
          <p:cNvSpPr>
            <a:spLocks noGrp="1"/>
          </p:cNvSpPr>
          <p:nvPr>
            <p:ph type="title"/>
          </p:nvPr>
        </p:nvSpPr>
        <p:spPr>
          <a:xfrm>
            <a:off x="1848678" y="642594"/>
            <a:ext cx="9276522" cy="1371600"/>
          </a:xfrm>
        </p:spPr>
        <p:txBody>
          <a:bodyPr>
            <a:normAutofit fontScale="90000"/>
          </a:bodyPr>
          <a:lstStyle/>
          <a:p>
            <a:r>
              <a:rPr lang="he-IL" dirty="0"/>
              <a:t>המשך- שלבים להקשחת מערכת ההפעלה</a:t>
            </a:r>
          </a:p>
        </p:txBody>
      </p:sp>
      <p:sp>
        <p:nvSpPr>
          <p:cNvPr id="3" name="מציין מיקום תוכן 2">
            <a:extLst>
              <a:ext uri="{FF2B5EF4-FFF2-40B4-BE49-F238E27FC236}">
                <a16:creationId xmlns:a16="http://schemas.microsoft.com/office/drawing/2014/main" id="{1DBC992B-E4BA-4940-8709-9700C0362299}"/>
              </a:ext>
            </a:extLst>
          </p:cNvPr>
          <p:cNvSpPr>
            <a:spLocks noGrp="1"/>
          </p:cNvSpPr>
          <p:nvPr>
            <p:ph idx="1"/>
          </p:nvPr>
        </p:nvSpPr>
        <p:spPr/>
        <p:txBody>
          <a:bodyPr/>
          <a:lstStyle/>
          <a:p>
            <a:r>
              <a:rPr lang="he-IL" dirty="0"/>
              <a:t>7. הצפנה: הצפן את הכונן הקשיח באמצעות </a:t>
            </a:r>
            <a:r>
              <a:rPr lang="en-US" dirty="0"/>
              <a:t>BitLocker </a:t>
            </a:r>
            <a:r>
              <a:rPr lang="he-IL" dirty="0"/>
              <a:t> ב-</a:t>
            </a:r>
            <a:r>
              <a:rPr lang="en-US" dirty="0"/>
              <a:t>Windows</a:t>
            </a:r>
            <a:r>
              <a:rPr lang="he-IL" dirty="0"/>
              <a:t> (וכל מערכת ההפעלה ההצפנה תהיה ע"י תוכנה שונה), ובנוסף השתמש בהצפנת קבצים עבור נתונים רגישים.</a:t>
            </a:r>
          </a:p>
          <a:p>
            <a:r>
              <a:rPr lang="he-IL" dirty="0"/>
              <a:t>8. ניהול עדיפויות </a:t>
            </a:r>
            <a:r>
              <a:rPr lang="en-US" dirty="0"/>
              <a:t>Permissions Management</a:t>
            </a:r>
            <a:r>
              <a:rPr lang="he-IL" dirty="0"/>
              <a:t> - הגבל את הגישה לקבצים ותיקיות רגישות, ובנוסף הגדר הרשאות גישה מתאימות למשתמשים ולתוכנות ספציפיות.</a:t>
            </a:r>
          </a:p>
          <a:p>
            <a:r>
              <a:rPr lang="he-IL" dirty="0"/>
              <a:t>9. הגנה על רשת: השתמש ב-</a:t>
            </a:r>
            <a:r>
              <a:rPr lang="en-US" dirty="0"/>
              <a:t>VPN </a:t>
            </a:r>
            <a:r>
              <a:rPr lang="he-IL" dirty="0"/>
              <a:t> לגישה מרחוק, ובנוסף </a:t>
            </a:r>
            <a:r>
              <a:rPr lang="he-IL" dirty="0" err="1"/>
              <a:t>תודא</a:t>
            </a:r>
            <a:r>
              <a:rPr lang="he-IL" dirty="0"/>
              <a:t> שמכשירים מחוברים לרשת מאובטחת.</a:t>
            </a:r>
          </a:p>
          <a:p>
            <a:r>
              <a:rPr lang="he-IL" dirty="0"/>
              <a:t>10. ניטור ובקרה: התקן כלי ניטור לזיהוי פעילות חריגה, ובנוסף הקם מערכת התראות להתראה </a:t>
            </a:r>
            <a:r>
              <a:rPr lang="he-IL" dirty="0" err="1"/>
              <a:t>מיידית</a:t>
            </a:r>
            <a:r>
              <a:rPr lang="he-IL" dirty="0"/>
              <a:t> על אירועי אבטחה.</a:t>
            </a:r>
          </a:p>
          <a:p>
            <a:r>
              <a:rPr lang="he-IL" dirty="0"/>
              <a:t>11. בקרת גישה: השתמש ב-</a:t>
            </a:r>
            <a:r>
              <a:rPr lang="en-US" dirty="0"/>
              <a:t>Access Control Lists (ACLs) </a:t>
            </a:r>
            <a:r>
              <a:rPr lang="he-IL" dirty="0"/>
              <a:t> לניהול גישה לקבצים ותיקיות.</a:t>
            </a:r>
          </a:p>
        </p:txBody>
      </p:sp>
    </p:spTree>
    <p:extLst>
      <p:ext uri="{BB962C8B-B14F-4D97-AF65-F5344CB8AC3E}">
        <p14:creationId xmlns:p14="http://schemas.microsoft.com/office/powerpoint/2010/main" val="2071642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C448DA9-5574-4FC4-B081-96A0B811471E}"/>
              </a:ext>
            </a:extLst>
          </p:cNvPr>
          <p:cNvSpPr>
            <a:spLocks noGrp="1"/>
          </p:cNvSpPr>
          <p:nvPr>
            <p:ph type="title"/>
          </p:nvPr>
        </p:nvSpPr>
        <p:spPr>
          <a:xfrm>
            <a:off x="2176670" y="642594"/>
            <a:ext cx="8948530" cy="1371600"/>
          </a:xfrm>
        </p:spPr>
        <p:txBody>
          <a:bodyPr/>
          <a:lstStyle/>
          <a:p>
            <a:r>
              <a:rPr lang="he-IL" dirty="0"/>
              <a:t>שאלה על הקשחת מערכת ההפעלה:</a:t>
            </a:r>
          </a:p>
        </p:txBody>
      </p:sp>
      <p:sp>
        <p:nvSpPr>
          <p:cNvPr id="3" name="מציין מיקום תוכן 2">
            <a:extLst>
              <a:ext uri="{FF2B5EF4-FFF2-40B4-BE49-F238E27FC236}">
                <a16:creationId xmlns:a16="http://schemas.microsoft.com/office/drawing/2014/main" id="{C0EA2AD9-29BE-4BAA-8938-67A8DE881D50}"/>
              </a:ext>
            </a:extLst>
          </p:cNvPr>
          <p:cNvSpPr>
            <a:spLocks noGrp="1"/>
          </p:cNvSpPr>
          <p:nvPr>
            <p:ph idx="1"/>
          </p:nvPr>
        </p:nvSpPr>
        <p:spPr>
          <a:xfrm>
            <a:off x="1066800" y="2103120"/>
            <a:ext cx="10058400" cy="1325880"/>
          </a:xfrm>
        </p:spPr>
        <p:txBody>
          <a:bodyPr>
            <a:normAutofit/>
          </a:bodyPr>
          <a:lstStyle/>
          <a:p>
            <a:r>
              <a:rPr lang="he-IL" dirty="0"/>
              <a:t>שאלה: כתובת</a:t>
            </a:r>
            <a:r>
              <a:rPr lang="en-US" dirty="0"/>
              <a:t> IP </a:t>
            </a:r>
            <a:r>
              <a:rPr lang="he-IL" dirty="0"/>
              <a:t>מסוימת מנסה באופן חוזר לגשת למערכת שלך ומציגה התנהגות חשודה. כדי להקשיח את מערכת ההפעלה שלך, עליך לחסום את הגישה מכתובת </a:t>
            </a:r>
            <a:r>
              <a:rPr lang="en-US" dirty="0"/>
              <a:t>IP </a:t>
            </a:r>
            <a:r>
              <a:rPr lang="he-IL" dirty="0"/>
              <a:t> זו באמצעות </a:t>
            </a:r>
            <a:r>
              <a:rPr lang="he-IL" dirty="0" err="1"/>
              <a:t>פיירוול</a:t>
            </a:r>
            <a:r>
              <a:rPr lang="he-IL" dirty="0"/>
              <a:t>. כתוב סקריפט פשוט ב-</a:t>
            </a:r>
            <a:r>
              <a:rPr lang="en-US" dirty="0"/>
              <a:t> </a:t>
            </a:r>
            <a:r>
              <a:rPr lang="he-IL" dirty="0"/>
              <a:t>  </a:t>
            </a:r>
            <a:r>
              <a:rPr lang="en-US" dirty="0"/>
              <a:t>Bash </a:t>
            </a:r>
            <a:r>
              <a:rPr lang="he-IL" dirty="0"/>
              <a:t>עבור מערכת הפעלה לינוקס [המשתמש ב-</a:t>
            </a:r>
            <a:r>
              <a:rPr lang="en-US" dirty="0"/>
              <a:t>iptables </a:t>
            </a:r>
            <a:r>
              <a:rPr lang="he-IL" dirty="0"/>
              <a:t> כדי לחסום את הגישה מכתובת ה-</a:t>
            </a:r>
            <a:r>
              <a:rPr lang="en-US" dirty="0"/>
              <a:t>IP</a:t>
            </a:r>
            <a:r>
              <a:rPr lang="he-IL" dirty="0"/>
              <a:t> 192.168.1.100]</a:t>
            </a:r>
          </a:p>
        </p:txBody>
      </p:sp>
      <p:sp>
        <p:nvSpPr>
          <p:cNvPr id="5" name="TextBox 4">
            <a:extLst>
              <a:ext uri="{FF2B5EF4-FFF2-40B4-BE49-F238E27FC236}">
                <a16:creationId xmlns:a16="http://schemas.microsoft.com/office/drawing/2014/main" id="{119BC7B6-4105-4BC5-88E2-056DAC370C5F}"/>
              </a:ext>
            </a:extLst>
          </p:cNvPr>
          <p:cNvSpPr txBox="1"/>
          <p:nvPr/>
        </p:nvSpPr>
        <p:spPr>
          <a:xfrm>
            <a:off x="1066800" y="3319670"/>
            <a:ext cx="4959626" cy="2154436"/>
          </a:xfrm>
          <a:prstGeom prst="rect">
            <a:avLst/>
          </a:prstGeom>
          <a:noFill/>
        </p:spPr>
        <p:txBody>
          <a:bodyPr wrap="square" rtlCol="1">
            <a:spAutoFit/>
          </a:bodyPr>
          <a:lstStyle/>
          <a:p>
            <a:endParaRPr lang="en-US" dirty="0"/>
          </a:p>
          <a:p>
            <a:endParaRPr lang="en-US" dirty="0"/>
          </a:p>
          <a:p>
            <a:r>
              <a:rPr lang="en-US" sz="1400" dirty="0"/>
              <a:t>IP_TO_BLOCK="192.168.1.100"</a:t>
            </a:r>
          </a:p>
          <a:p>
            <a:endParaRPr lang="en-US" sz="1400" dirty="0"/>
          </a:p>
          <a:p>
            <a:r>
              <a:rPr lang="en-US" sz="1400" dirty="0" err="1"/>
              <a:t>sudo</a:t>
            </a:r>
            <a:r>
              <a:rPr lang="en-US" sz="1400" dirty="0"/>
              <a:t> iptables -A INPUT -s $IP_TO_BLOCK -j DROP</a:t>
            </a:r>
          </a:p>
          <a:p>
            <a:endParaRPr lang="en-US" sz="1400" dirty="0"/>
          </a:p>
          <a:p>
            <a:r>
              <a:rPr lang="en-US" sz="1400" dirty="0"/>
              <a:t># </a:t>
            </a:r>
            <a:r>
              <a:rPr lang="he-IL" sz="1400" dirty="0"/>
              <a:t>שמירת החוקים כך שישרדו אתחול מחדש של המערכת</a:t>
            </a:r>
          </a:p>
          <a:p>
            <a:r>
              <a:rPr lang="en-US" sz="1400" dirty="0" err="1"/>
              <a:t>sudo</a:t>
            </a:r>
            <a:r>
              <a:rPr lang="en-US" sz="1400" dirty="0"/>
              <a:t> </a:t>
            </a:r>
            <a:r>
              <a:rPr lang="en-US" sz="1400" dirty="0" err="1"/>
              <a:t>sh</a:t>
            </a:r>
            <a:r>
              <a:rPr lang="en-US" sz="1400" dirty="0"/>
              <a:t> -c "iptables-save &gt; /</a:t>
            </a:r>
            <a:r>
              <a:rPr lang="en-US" sz="1400" dirty="0" err="1"/>
              <a:t>etc</a:t>
            </a:r>
            <a:r>
              <a:rPr lang="en-US" sz="1400" dirty="0"/>
              <a:t>/iptables/rules.v4"</a:t>
            </a:r>
          </a:p>
          <a:p>
            <a:endParaRPr lang="en-US" sz="1400" dirty="0"/>
          </a:p>
        </p:txBody>
      </p:sp>
      <p:sp>
        <p:nvSpPr>
          <p:cNvPr id="6" name="TextBox 5">
            <a:extLst>
              <a:ext uri="{FF2B5EF4-FFF2-40B4-BE49-F238E27FC236}">
                <a16:creationId xmlns:a16="http://schemas.microsoft.com/office/drawing/2014/main" id="{ADD406E8-68C2-4B5A-A2B2-BF46E0C58847}"/>
              </a:ext>
            </a:extLst>
          </p:cNvPr>
          <p:cNvSpPr txBox="1"/>
          <p:nvPr/>
        </p:nvSpPr>
        <p:spPr>
          <a:xfrm>
            <a:off x="5186570" y="3319670"/>
            <a:ext cx="5506278" cy="1200329"/>
          </a:xfrm>
          <a:prstGeom prst="rect">
            <a:avLst/>
          </a:prstGeom>
          <a:noFill/>
        </p:spPr>
        <p:txBody>
          <a:bodyPr wrap="square" rtlCol="1">
            <a:spAutoFit/>
          </a:bodyPr>
          <a:lstStyle/>
          <a:p>
            <a:pPr algn="r"/>
            <a:r>
              <a:rPr lang="he-IL" dirty="0"/>
              <a:t> אנחנו רוצים לחסום את הכתובת הנ"ל, ואנו נציב אותה במשתנה, ומיד אח"כ אנו משתמשים בפקודה בכדי לחסום את </a:t>
            </a:r>
            <a:r>
              <a:rPr lang="he-IL" dirty="0" err="1"/>
              <a:t>הכתוהת</a:t>
            </a:r>
            <a:r>
              <a:rPr lang="he-IL" dirty="0"/>
              <a:t> הנ"ל וכמובן גם כל תנועה מאותה הכתובת אנו חוסמים, אנו ניגע בפקודות הללו שנגיע </a:t>
            </a:r>
            <a:r>
              <a:rPr lang="he-IL" dirty="0" err="1"/>
              <a:t>לפירוול</a:t>
            </a:r>
            <a:endParaRPr lang="he-IL" dirty="0"/>
          </a:p>
        </p:txBody>
      </p:sp>
      <p:sp>
        <p:nvSpPr>
          <p:cNvPr id="10" name="Rectangle 5">
            <a:extLst>
              <a:ext uri="{FF2B5EF4-FFF2-40B4-BE49-F238E27FC236}">
                <a16:creationId xmlns:a16="http://schemas.microsoft.com/office/drawing/2014/main" id="{0759C111-7D64-4576-BD34-2D0168894945}"/>
              </a:ext>
            </a:extLst>
          </p:cNvPr>
          <p:cNvSpPr>
            <a:spLocks noChangeArrowheads="1"/>
          </p:cNvSpPr>
          <p:nvPr/>
        </p:nvSpPr>
        <p:spPr bwMode="auto">
          <a:xfrm>
            <a:off x="0" y="-184666"/>
            <a:ext cx="37096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אנחנו משתמשים בפקודת </a:t>
            </a:r>
            <a:r>
              <a:rPr kumimoji="0" lang="he-IL" altLang="he-IL" sz="900" b="0" i="0" u="none" strike="noStrike" cap="none" normalizeH="0" baseline="0" dirty="0">
                <a:ln>
                  <a:noFill/>
                </a:ln>
                <a:solidFill>
                  <a:schemeClr val="tx1"/>
                </a:solidFill>
                <a:effectLst/>
                <a:cs typeface="Arial" panose="020B0604020202020204" pitchFamily="34" charset="0"/>
              </a:rPr>
              <a:t>את התנועה מכתובת ה</a:t>
            </a:r>
            <a:r>
              <a:rPr kumimoji="0" lang="he-IL" altLang="he-IL" sz="900" b="0" i="0" u="none" strike="noStrike" cap="none" normalizeH="0" baseline="0" dirty="0">
                <a:ln>
                  <a:noFill/>
                </a:ln>
                <a:solidFill>
                  <a:schemeClr val="tx1"/>
                </a:solidFill>
                <a:effectLst/>
              </a:rPr>
              <a:t>-IP. </a:t>
            </a:r>
            <a:endParaRPr kumimoji="0" lang="he-IL" altLang="he-I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7630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172447C-DC72-4017-91CD-69686D6385CB}"/>
              </a:ext>
            </a:extLst>
          </p:cNvPr>
          <p:cNvSpPr>
            <a:spLocks noGrp="1"/>
          </p:cNvSpPr>
          <p:nvPr>
            <p:ph type="title"/>
          </p:nvPr>
        </p:nvSpPr>
        <p:spPr>
          <a:xfrm>
            <a:off x="1639956" y="642594"/>
            <a:ext cx="9485243" cy="1371600"/>
          </a:xfrm>
        </p:spPr>
        <p:txBody>
          <a:bodyPr>
            <a:normAutofit fontScale="90000"/>
          </a:bodyPr>
          <a:lstStyle/>
          <a:p>
            <a:r>
              <a:rPr lang="he-IL" dirty="0"/>
              <a:t>שאלה עיונית – דומה לשאלות בחינה סופית</a:t>
            </a:r>
          </a:p>
        </p:txBody>
      </p:sp>
      <p:sp>
        <p:nvSpPr>
          <p:cNvPr id="3" name="מציין מיקום תוכן 2">
            <a:extLst>
              <a:ext uri="{FF2B5EF4-FFF2-40B4-BE49-F238E27FC236}">
                <a16:creationId xmlns:a16="http://schemas.microsoft.com/office/drawing/2014/main" id="{7E60030E-445E-45B7-B627-27C025F4675D}"/>
              </a:ext>
            </a:extLst>
          </p:cNvPr>
          <p:cNvSpPr>
            <a:spLocks noGrp="1"/>
          </p:cNvSpPr>
          <p:nvPr>
            <p:ph idx="1"/>
          </p:nvPr>
        </p:nvSpPr>
        <p:spPr/>
        <p:txBody>
          <a:bodyPr/>
          <a:lstStyle/>
          <a:p>
            <a:r>
              <a:rPr lang="he-IL" dirty="0"/>
              <a:t>שאלה: מהי הטכניקה של "</a:t>
            </a:r>
            <a:r>
              <a:rPr lang="en-US" dirty="0"/>
              <a:t> Least Privilege" </a:t>
            </a:r>
            <a:r>
              <a:rPr lang="he-IL" dirty="0"/>
              <a:t>וכיצד היא תורמת להקשחת מערכת ההפעלה?</a:t>
            </a:r>
          </a:p>
          <a:p>
            <a:r>
              <a:rPr lang="he-IL" dirty="0"/>
              <a:t>תשובה: טכניקת </a:t>
            </a:r>
            <a:r>
              <a:rPr lang="en-US" dirty="0"/>
              <a:t>Least Privilege </a:t>
            </a:r>
            <a:r>
              <a:rPr lang="he-IL" dirty="0"/>
              <a:t> שזה בעצם ההרשאות המינימליות, היא כוללת הגבלת ההרשאות של משתמשים ותוכנות למינימום ההרשאות הנחוצות לביצוע תפקידם. הדבר הזה תורם להקשחת מערכת ההפעלה על ידי צמצום הסיכוי לניצול הרשאות יתר במקרה של פריצה או תקלה, וכך מגביר את האבטחה ומפחית את הנזק הפוטנציאלי מתוכנות זדוניות או ממשתמשים בלתי מורשים.</a:t>
            </a:r>
          </a:p>
        </p:txBody>
      </p:sp>
    </p:spTree>
    <p:extLst>
      <p:ext uri="{BB962C8B-B14F-4D97-AF65-F5344CB8AC3E}">
        <p14:creationId xmlns:p14="http://schemas.microsoft.com/office/powerpoint/2010/main" val="4174692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49B6A9-A9D4-4C77-8EC7-DAB989AD97F8}"/>
              </a:ext>
            </a:extLst>
          </p:cNvPr>
          <p:cNvSpPr>
            <a:spLocks noGrp="1"/>
          </p:cNvSpPr>
          <p:nvPr>
            <p:ph type="title"/>
          </p:nvPr>
        </p:nvSpPr>
        <p:spPr>
          <a:xfrm>
            <a:off x="7633252" y="642594"/>
            <a:ext cx="3491948" cy="1371600"/>
          </a:xfrm>
        </p:spPr>
        <p:txBody>
          <a:bodyPr/>
          <a:lstStyle/>
          <a:p>
            <a:r>
              <a:rPr lang="he-IL" dirty="0"/>
              <a:t>שאלה נוספת:</a:t>
            </a:r>
          </a:p>
        </p:txBody>
      </p:sp>
      <p:sp>
        <p:nvSpPr>
          <p:cNvPr id="3" name="מציין מיקום תוכן 2">
            <a:extLst>
              <a:ext uri="{FF2B5EF4-FFF2-40B4-BE49-F238E27FC236}">
                <a16:creationId xmlns:a16="http://schemas.microsoft.com/office/drawing/2014/main" id="{E0D1AE98-DEC5-4485-A7A7-CE262E7733CC}"/>
              </a:ext>
            </a:extLst>
          </p:cNvPr>
          <p:cNvSpPr>
            <a:spLocks noGrp="1"/>
          </p:cNvSpPr>
          <p:nvPr>
            <p:ph idx="1"/>
          </p:nvPr>
        </p:nvSpPr>
        <p:spPr/>
        <p:txBody>
          <a:bodyPr/>
          <a:lstStyle/>
          <a:p>
            <a:r>
              <a:rPr lang="he-IL" dirty="0"/>
              <a:t>שאלה: יוסי עובד כאיש </a:t>
            </a:r>
            <a:r>
              <a:rPr lang="he-IL" dirty="0" err="1"/>
              <a:t>סיסטם</a:t>
            </a:r>
            <a:r>
              <a:rPr lang="he-IL" dirty="0"/>
              <a:t> בחברת פיתוח תוכנה גדולה. לאחרונה, הוא קיבל דיווחים על כך שמערכות החברה סובלות מהתקפות חוזרות ונשנות של תוכנות זדוניות.</a:t>
            </a:r>
            <a:r>
              <a:rPr lang="en-US" dirty="0"/>
              <a:t> </a:t>
            </a:r>
            <a:r>
              <a:rPr lang="he-IL" dirty="0"/>
              <a:t>בהערכת מצב הבטיחות של המערכות, הוא שם לב שחלק מהמחשבים מריצים יישומים שונים בהרשאות מנהל, בעקבות כך יוסי החליט לבצע הקשחת מערכת ההפעלה כדי להגן על המחשבים והשרתים של החברה.</a:t>
            </a:r>
          </a:p>
          <a:p>
            <a:r>
              <a:rPr lang="he-IL" dirty="0"/>
              <a:t>כחלק מהפעולות להקשחת מערכת ההפעלה, יוסי החליט להפעיל את מנגנון ה-</a:t>
            </a:r>
            <a:r>
              <a:rPr lang="en-US" dirty="0"/>
              <a:t>UAC </a:t>
            </a:r>
            <a:r>
              <a:rPr lang="he-IL" dirty="0"/>
              <a:t> (בקרה על המשתמשים) במחשבי החברה. הסבר מהו מנגנון ה-</a:t>
            </a:r>
            <a:r>
              <a:rPr lang="en-US" dirty="0"/>
              <a:t>UAC </a:t>
            </a:r>
            <a:r>
              <a:rPr lang="he-IL" dirty="0"/>
              <a:t> וכיצד הוא תורם להקשחת מערכת ההפעלה ולהגנה מפני תוכנות זדוניות.</a:t>
            </a:r>
          </a:p>
        </p:txBody>
      </p:sp>
    </p:spTree>
    <p:extLst>
      <p:ext uri="{BB962C8B-B14F-4D97-AF65-F5344CB8AC3E}">
        <p14:creationId xmlns:p14="http://schemas.microsoft.com/office/powerpoint/2010/main" val="1503096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BAA5A40-0681-4251-A2E0-EFC8B350EEF8}"/>
              </a:ext>
            </a:extLst>
          </p:cNvPr>
          <p:cNvSpPr>
            <a:spLocks noGrp="1"/>
          </p:cNvSpPr>
          <p:nvPr>
            <p:ph type="title"/>
          </p:nvPr>
        </p:nvSpPr>
        <p:spPr>
          <a:xfrm>
            <a:off x="9074426" y="642594"/>
            <a:ext cx="2050774" cy="1371600"/>
          </a:xfrm>
        </p:spPr>
        <p:txBody>
          <a:bodyPr/>
          <a:lstStyle/>
          <a:p>
            <a:r>
              <a:rPr lang="he-IL" dirty="0"/>
              <a:t>תשובה:</a:t>
            </a:r>
          </a:p>
        </p:txBody>
      </p:sp>
      <p:sp>
        <p:nvSpPr>
          <p:cNvPr id="3" name="מציין מיקום תוכן 2">
            <a:extLst>
              <a:ext uri="{FF2B5EF4-FFF2-40B4-BE49-F238E27FC236}">
                <a16:creationId xmlns:a16="http://schemas.microsoft.com/office/drawing/2014/main" id="{00FB7B7D-0C9A-411F-8AC9-0EB112CCE897}"/>
              </a:ext>
            </a:extLst>
          </p:cNvPr>
          <p:cNvSpPr>
            <a:spLocks noGrp="1"/>
          </p:cNvSpPr>
          <p:nvPr>
            <p:ph idx="1"/>
          </p:nvPr>
        </p:nvSpPr>
        <p:spPr/>
        <p:txBody>
          <a:bodyPr/>
          <a:lstStyle/>
          <a:p>
            <a:r>
              <a:rPr lang="he-IL" dirty="0"/>
              <a:t>מנגנון ה-</a:t>
            </a:r>
            <a:r>
              <a:rPr lang="en-US" dirty="0"/>
              <a:t>UAC (User Account Control) </a:t>
            </a:r>
            <a:r>
              <a:rPr lang="he-IL" dirty="0"/>
              <a:t> הוא תכונת אבטחה במערכות הפעלה</a:t>
            </a:r>
            <a:r>
              <a:rPr lang="en-US" dirty="0"/>
              <a:t>Windows </a:t>
            </a:r>
            <a:r>
              <a:rPr lang="he-IL" dirty="0"/>
              <a:t> שמטרתה להגביל את ההרשאות של תוכנות ומשתמשים, על מנת להפחית את הסיכון לנזקים ממקור תוכנות זדוניות ושגיאות משתמש.</a:t>
            </a:r>
          </a:p>
          <a:p>
            <a:r>
              <a:rPr lang="he-IL" dirty="0"/>
              <a:t>ה-</a:t>
            </a:r>
            <a:r>
              <a:rPr lang="en-US" dirty="0"/>
              <a:t>UAC </a:t>
            </a:r>
            <a:r>
              <a:rPr lang="he-IL" dirty="0"/>
              <a:t> תורם להקשחת מערכת ההפעלה ולהגנה מפני תוכנות זדוניות על ידי:</a:t>
            </a:r>
          </a:p>
          <a:p>
            <a:r>
              <a:rPr lang="he-IL" dirty="0"/>
              <a:t>1. בקרת הרשאות: </a:t>
            </a:r>
            <a:r>
              <a:rPr lang="en-US" dirty="0"/>
              <a:t> UAC</a:t>
            </a:r>
            <a:r>
              <a:rPr lang="he-IL" dirty="0"/>
              <a:t>דורש אישור מהמשתמש לפני הרצת יישומים שדורשים הרשאות מנהל, מה שמקשה על תוכנות זדוניות לבצע פעולות מזיקות ללא ידיעת המשתמש.</a:t>
            </a:r>
          </a:p>
          <a:p>
            <a:r>
              <a:rPr lang="he-IL" dirty="0"/>
              <a:t>2. הרצת יישומים בהרשאות מוגבלות: כברירת מחדל, יישומים רצים בהרשאות משתמש רגיל, וההרשאות מוגבלות מורידות את הסיכון לניצול פרצות בתוכנה.</a:t>
            </a:r>
          </a:p>
          <a:p>
            <a:r>
              <a:rPr lang="he-IL" dirty="0"/>
              <a:t>3. מניעת התקנות לא מורשות: </a:t>
            </a:r>
            <a:r>
              <a:rPr lang="en-US" dirty="0"/>
              <a:t>UAC </a:t>
            </a:r>
            <a:r>
              <a:rPr lang="he-IL" dirty="0"/>
              <a:t> מקשה על התקנת תוכנות חדשות ללא אישור מפורש של המשתמש עם הרשאות מתאימות.</a:t>
            </a:r>
          </a:p>
        </p:txBody>
      </p:sp>
    </p:spTree>
    <p:extLst>
      <p:ext uri="{BB962C8B-B14F-4D97-AF65-F5344CB8AC3E}">
        <p14:creationId xmlns:p14="http://schemas.microsoft.com/office/powerpoint/2010/main" val="3674948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E24DAA8-E4FC-4BCF-9958-6DA0EB4A03B0}"/>
              </a:ext>
            </a:extLst>
          </p:cNvPr>
          <p:cNvSpPr>
            <a:spLocks noGrp="1"/>
          </p:cNvSpPr>
          <p:nvPr>
            <p:ph type="title"/>
          </p:nvPr>
        </p:nvSpPr>
        <p:spPr>
          <a:xfrm>
            <a:off x="5287616" y="642594"/>
            <a:ext cx="5837583" cy="1371600"/>
          </a:xfrm>
        </p:spPr>
        <p:txBody>
          <a:bodyPr/>
          <a:lstStyle/>
          <a:p>
            <a:r>
              <a:rPr lang="he-IL" dirty="0"/>
              <a:t>הקשחת רכיבי תקשורת</a:t>
            </a:r>
          </a:p>
        </p:txBody>
      </p:sp>
      <p:sp>
        <p:nvSpPr>
          <p:cNvPr id="3" name="מציין מיקום תוכן 2">
            <a:extLst>
              <a:ext uri="{FF2B5EF4-FFF2-40B4-BE49-F238E27FC236}">
                <a16:creationId xmlns:a16="http://schemas.microsoft.com/office/drawing/2014/main" id="{E6ACBDC1-7713-4B83-BEC9-A13CCFBD7B5D}"/>
              </a:ext>
            </a:extLst>
          </p:cNvPr>
          <p:cNvSpPr>
            <a:spLocks noGrp="1"/>
          </p:cNvSpPr>
          <p:nvPr>
            <p:ph idx="1"/>
          </p:nvPr>
        </p:nvSpPr>
        <p:spPr/>
        <p:txBody>
          <a:bodyPr/>
          <a:lstStyle/>
          <a:p>
            <a:r>
              <a:rPr lang="he-IL" dirty="0"/>
              <a:t>חברת </a:t>
            </a:r>
            <a:r>
              <a:rPr lang="en-US" dirty="0"/>
              <a:t> YANIC.COM</a:t>
            </a:r>
            <a:r>
              <a:rPr lang="he-IL" dirty="0"/>
              <a:t>היא חברת טכנולוגיה עם משרדים רבים ברחבי העולם. יום אחד, צוות האבטחה גילה שיש תנועה בלתי רגילה ברשת החברה. חקירה מהירה העלתה ששרתים רבים במשרד המרכזי החלו לשלוח נתונים גדולים לכתובת</a:t>
            </a:r>
            <a:r>
              <a:rPr lang="en-US" dirty="0"/>
              <a:t> IP </a:t>
            </a:r>
            <a:r>
              <a:rPr lang="he-IL" dirty="0"/>
              <a:t>זרה.</a:t>
            </a:r>
          </a:p>
          <a:p>
            <a:r>
              <a:rPr lang="he-IL" dirty="0"/>
              <a:t>צוות האבטחה הבין במהירות שמדובר בפריצה רצינית, והחל בניתוח האירוע. הסתבר שתוקפים הצליחו לפרוץ לנתב מרכזי שהיה מוגדר עם סיסמת ברירת מחדל. לאחר הפריצה, התוקפים יכלו להקשיב לכל התעבורה ברשת ולשלוט בה.</a:t>
            </a:r>
          </a:p>
          <a:p>
            <a:r>
              <a:rPr lang="he-IL" dirty="0"/>
              <a:t>ובגלל הבעיה בנתב, שהנתב הינו רכיב תקשורת אנו צריכים להקשיח.</a:t>
            </a:r>
          </a:p>
        </p:txBody>
      </p:sp>
    </p:spTree>
    <p:extLst>
      <p:ext uri="{BB962C8B-B14F-4D97-AF65-F5344CB8AC3E}">
        <p14:creationId xmlns:p14="http://schemas.microsoft.com/office/powerpoint/2010/main" val="2090522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567966D-477C-4C71-A57A-6BCBA0E9D8B4}"/>
              </a:ext>
            </a:extLst>
          </p:cNvPr>
          <p:cNvSpPr>
            <a:spLocks noGrp="1"/>
          </p:cNvSpPr>
          <p:nvPr>
            <p:ph type="title"/>
          </p:nvPr>
        </p:nvSpPr>
        <p:spPr>
          <a:xfrm>
            <a:off x="3409122" y="642594"/>
            <a:ext cx="7716078" cy="1371600"/>
          </a:xfrm>
        </p:spPr>
        <p:txBody>
          <a:bodyPr/>
          <a:lstStyle/>
          <a:p>
            <a:r>
              <a:rPr lang="he-IL" dirty="0"/>
              <a:t>כיצד מקשיחים רכיבי תקשורת:</a:t>
            </a:r>
          </a:p>
        </p:txBody>
      </p:sp>
      <p:sp>
        <p:nvSpPr>
          <p:cNvPr id="3" name="מציין מיקום תוכן 2">
            <a:extLst>
              <a:ext uri="{FF2B5EF4-FFF2-40B4-BE49-F238E27FC236}">
                <a16:creationId xmlns:a16="http://schemas.microsoft.com/office/drawing/2014/main" id="{5523FA5A-80FD-481D-ADAD-BEA15D308A6C}"/>
              </a:ext>
            </a:extLst>
          </p:cNvPr>
          <p:cNvSpPr>
            <a:spLocks noGrp="1"/>
          </p:cNvSpPr>
          <p:nvPr>
            <p:ph idx="1"/>
          </p:nvPr>
        </p:nvSpPr>
        <p:spPr/>
        <p:txBody>
          <a:bodyPr>
            <a:normAutofit fontScale="92500" lnSpcReduction="10000"/>
          </a:bodyPr>
          <a:lstStyle/>
          <a:p>
            <a:r>
              <a:rPr lang="he-IL" dirty="0"/>
              <a:t>1. שינוי סיסמאות ברירת מחדל: במקרים רבים, תוקפים מצליחים לחדור לרשתות פשוט על ידי שימוש בסיסמאות ברירת מחדל של רכיבי הרשת. לדוגמה, תוקף שהצליח להיכנס למתג רשת במפעל גדול, הצליח להשתלט על כל תעבורת הרשת פשוט על ידי כניסה עם סיסמת ברירת המחדל.</a:t>
            </a:r>
          </a:p>
          <a:p>
            <a:r>
              <a:rPr lang="he-IL" dirty="0"/>
              <a:t>אז מה עושים? יש לשנות את סיסמאות ברירת המחדל של כל רכיבי התקשורת לסיסמאות חזקות וייחודיות מיד עם התקנתם.</a:t>
            </a:r>
          </a:p>
          <a:p>
            <a:r>
              <a:rPr lang="he-IL" dirty="0"/>
              <a:t>2. עדכוני תוכנה </a:t>
            </a:r>
            <a:r>
              <a:rPr lang="he-IL" dirty="0" err="1"/>
              <a:t>וקושחה</a:t>
            </a:r>
            <a:r>
              <a:rPr lang="he-IL" dirty="0"/>
              <a:t> </a:t>
            </a:r>
            <a:r>
              <a:rPr lang="en-US" dirty="0"/>
              <a:t>Firmware</a:t>
            </a:r>
            <a:r>
              <a:rPr lang="he-IL" dirty="0"/>
              <a:t>: בשנת 2018, פרצה נחשפה </a:t>
            </a:r>
            <a:r>
              <a:rPr lang="he-IL" dirty="0" err="1"/>
              <a:t>בקושחת</a:t>
            </a:r>
            <a:r>
              <a:rPr lang="he-IL" dirty="0"/>
              <a:t> נתב פופולרי, שמאפשרת לתוקפים להשתלט על הנתב מרחוק. התקפות רבות ניצלו את הפרצה עד שיצרן הנתב פרסם עדכון </a:t>
            </a:r>
            <a:r>
              <a:rPr lang="he-IL" dirty="0" err="1"/>
              <a:t>קושחה</a:t>
            </a:r>
            <a:r>
              <a:rPr lang="he-IL" dirty="0"/>
              <a:t> שתיקן את הבעיה.</a:t>
            </a:r>
          </a:p>
          <a:p>
            <a:r>
              <a:rPr lang="he-IL" dirty="0"/>
              <a:t>אז מה עושים? יש לעדכן את </a:t>
            </a:r>
            <a:r>
              <a:rPr lang="he-IL" dirty="0" err="1"/>
              <a:t>הקושחה</a:t>
            </a:r>
            <a:r>
              <a:rPr lang="he-IL" dirty="0"/>
              <a:t> והתוכנה של רכיבי התקשורת באופן קבוע. עדכונים אלו כוללים לעיתים קרובות תיקוני אבטחה לחולשות שהתגלו.</a:t>
            </a:r>
          </a:p>
          <a:p>
            <a:r>
              <a:rPr lang="he-IL" dirty="0"/>
              <a:t>3. ניהול גישה והרשאות: חברת ייעוץ גלובלית גילתה שתוקף הצליח להשתלט על חשבון מנהל מערכת של מתגי הרשת</a:t>
            </a:r>
            <a:r>
              <a:rPr lang="en-US" dirty="0"/>
              <a:t> </a:t>
            </a:r>
            <a:r>
              <a:rPr lang="he-IL" dirty="0"/>
              <a:t>התוקף השיג גישה דרך חשבון עם הרשאות גבוהות שלא היה צריך להיות פעיל.</a:t>
            </a:r>
          </a:p>
          <a:p>
            <a:r>
              <a:rPr lang="he-IL" dirty="0"/>
              <a:t>אז מה עושים? יש להגדיר הרשאות מינימליות</a:t>
            </a:r>
            <a:r>
              <a:rPr lang="en-US" dirty="0"/>
              <a:t>Least Privilege </a:t>
            </a:r>
            <a:r>
              <a:rPr lang="he-IL" dirty="0"/>
              <a:t> לכל משתמש ויישום, ולוודא שרק מי שצריך גישה יקבל אותה.</a:t>
            </a:r>
          </a:p>
        </p:txBody>
      </p:sp>
    </p:spTree>
    <p:extLst>
      <p:ext uri="{BB962C8B-B14F-4D97-AF65-F5344CB8AC3E}">
        <p14:creationId xmlns:p14="http://schemas.microsoft.com/office/powerpoint/2010/main" val="3243655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F167846-D9AE-4322-9433-1342A9946729}"/>
              </a:ext>
            </a:extLst>
          </p:cNvPr>
          <p:cNvSpPr>
            <a:spLocks noGrp="1"/>
          </p:cNvSpPr>
          <p:nvPr>
            <p:ph type="title"/>
          </p:nvPr>
        </p:nvSpPr>
        <p:spPr>
          <a:xfrm>
            <a:off x="3568148" y="268358"/>
            <a:ext cx="7557052" cy="1302026"/>
          </a:xfrm>
        </p:spPr>
        <p:txBody>
          <a:bodyPr/>
          <a:lstStyle/>
          <a:p>
            <a:r>
              <a:rPr lang="he-IL" dirty="0"/>
              <a:t>המשך הקשחת רכיבי תקשורת:</a:t>
            </a:r>
          </a:p>
        </p:txBody>
      </p:sp>
      <p:sp>
        <p:nvSpPr>
          <p:cNvPr id="3" name="מציין מיקום תוכן 2">
            <a:extLst>
              <a:ext uri="{FF2B5EF4-FFF2-40B4-BE49-F238E27FC236}">
                <a16:creationId xmlns:a16="http://schemas.microsoft.com/office/drawing/2014/main" id="{2ECE7096-F4CE-49A4-9A10-C33B13CED89E}"/>
              </a:ext>
            </a:extLst>
          </p:cNvPr>
          <p:cNvSpPr>
            <a:spLocks noGrp="1"/>
          </p:cNvSpPr>
          <p:nvPr>
            <p:ph idx="1"/>
          </p:nvPr>
        </p:nvSpPr>
        <p:spPr>
          <a:xfrm>
            <a:off x="1066800" y="1570384"/>
            <a:ext cx="10058400" cy="5019258"/>
          </a:xfrm>
        </p:spPr>
        <p:txBody>
          <a:bodyPr>
            <a:normAutofit fontScale="85000" lnSpcReduction="10000"/>
          </a:bodyPr>
          <a:lstStyle/>
          <a:p>
            <a:r>
              <a:rPr lang="he-IL" dirty="0"/>
              <a:t>4. הגבלת גישה מרחוק: במתקפה על בנק מקומי, התוקפים השתמשו בפרוטוקול </a:t>
            </a:r>
            <a:r>
              <a:rPr lang="en-US" dirty="0"/>
              <a:t> Telnet </a:t>
            </a:r>
            <a:r>
              <a:rPr lang="he-IL" dirty="0"/>
              <a:t>כדי לגשת לנתבים ולשנות את הגדרותיהם, מה </a:t>
            </a:r>
            <a:r>
              <a:rPr lang="he-IL" dirty="0" err="1"/>
              <a:t>שאיפשר</a:t>
            </a:r>
            <a:r>
              <a:rPr lang="he-IL" dirty="0"/>
              <a:t> להם ליירט תעבורה ולגנוב נתונים רגישים.</a:t>
            </a:r>
          </a:p>
          <a:p>
            <a:r>
              <a:rPr lang="he-IL" dirty="0"/>
              <a:t>מה עלינו לעשות? יש להגביל את הגישה מרחוק לרכיבי הרשת ולהשתמש בשיטות גישה מאובטחות כמו </a:t>
            </a:r>
            <a:r>
              <a:rPr lang="en-US" dirty="0"/>
              <a:t>VPN </a:t>
            </a:r>
            <a:r>
              <a:rPr lang="he-IL" dirty="0"/>
              <a:t>ו-</a:t>
            </a:r>
            <a:r>
              <a:rPr lang="en-US" dirty="0"/>
              <a:t> SSH </a:t>
            </a:r>
            <a:r>
              <a:rPr lang="he-IL" dirty="0"/>
              <a:t>במקום פרוטוקולים פחות מאובטחים כמו </a:t>
            </a:r>
            <a:r>
              <a:rPr lang="en-US" dirty="0"/>
              <a:t>Telnet</a:t>
            </a:r>
            <a:r>
              <a:rPr lang="he-IL" dirty="0"/>
              <a:t> .</a:t>
            </a:r>
          </a:p>
          <a:p>
            <a:r>
              <a:rPr lang="he-IL" dirty="0"/>
              <a:t>5. שימוש בפרוטוקולי תקשורת מאובטחים: ארגון רפואי גילה שהתקפות </a:t>
            </a:r>
            <a:r>
              <a:rPr lang="en-US" dirty="0"/>
              <a:t> MITM (Man-in-the-Middle) </a:t>
            </a:r>
            <a:r>
              <a:rPr lang="he-IL" dirty="0"/>
              <a:t>מתבצעות על התקשורת שלהם, משום שהם השתמשו בפרוטוקול </a:t>
            </a:r>
            <a:r>
              <a:rPr lang="en-US" dirty="0"/>
              <a:t>HTTP </a:t>
            </a:r>
            <a:r>
              <a:rPr lang="he-IL" dirty="0"/>
              <a:t> לא מוצפן לשליחת נתונים בין שרתים.</a:t>
            </a:r>
          </a:p>
          <a:p>
            <a:r>
              <a:rPr lang="he-IL" dirty="0"/>
              <a:t>מה עלינו לעשות? יש להשתמש בפרוטוקולים מאובטחים כמו </a:t>
            </a:r>
            <a:r>
              <a:rPr lang="en-US" dirty="0"/>
              <a:t> HTTPS </a:t>
            </a:r>
            <a:r>
              <a:rPr lang="he-IL" dirty="0"/>
              <a:t>במקום </a:t>
            </a:r>
            <a:r>
              <a:rPr lang="en-US" dirty="0"/>
              <a:t>HTTP, </a:t>
            </a:r>
            <a:r>
              <a:rPr lang="he-IL" dirty="0"/>
              <a:t> ו-</a:t>
            </a:r>
            <a:r>
              <a:rPr lang="en-US" dirty="0"/>
              <a:t> SNMPv3 </a:t>
            </a:r>
            <a:r>
              <a:rPr lang="he-IL" dirty="0"/>
              <a:t>במקום גרסאות ישנות יותר של </a:t>
            </a:r>
            <a:r>
              <a:rPr lang="en-US" dirty="0"/>
              <a:t>SNMP</a:t>
            </a:r>
            <a:r>
              <a:rPr lang="he-IL" dirty="0"/>
              <a:t> .</a:t>
            </a:r>
          </a:p>
          <a:p>
            <a:r>
              <a:rPr lang="he-IL" dirty="0"/>
              <a:t>6. יישום בקרות גישה מבוססות כתובת </a:t>
            </a:r>
            <a:r>
              <a:rPr lang="en-US" dirty="0"/>
              <a:t>IP (ACLs)</a:t>
            </a:r>
            <a:r>
              <a:rPr lang="he-IL" dirty="0"/>
              <a:t>: חברת לוגיסטיקה הצליחה למנוע מתקפת סייבר כשהשתמשו ב-</a:t>
            </a:r>
            <a:r>
              <a:rPr lang="en-US" dirty="0"/>
              <a:t>ACLs </a:t>
            </a:r>
            <a:r>
              <a:rPr lang="he-IL" dirty="0"/>
              <a:t> כדי לחסום תעבורה חשודה מכתובות </a:t>
            </a:r>
            <a:r>
              <a:rPr lang="en-US" dirty="0"/>
              <a:t>IP </a:t>
            </a:r>
            <a:r>
              <a:rPr lang="he-IL" dirty="0"/>
              <a:t> זרות שזוהו בניסיונות גישה לא מורשים.</a:t>
            </a:r>
          </a:p>
          <a:p>
            <a:r>
              <a:rPr lang="he-IL" dirty="0"/>
              <a:t>ולכן יש להגדיר </a:t>
            </a:r>
            <a:r>
              <a:rPr lang="en-US" dirty="0"/>
              <a:t>ACLs </a:t>
            </a:r>
            <a:r>
              <a:rPr lang="he-IL" dirty="0"/>
              <a:t> כך שיגבילו את הגישה לרכיבי הרשת על פי כתובות </a:t>
            </a:r>
            <a:r>
              <a:rPr lang="en-US" dirty="0"/>
              <a:t>IP </a:t>
            </a:r>
            <a:r>
              <a:rPr lang="he-IL" dirty="0"/>
              <a:t>מאושרות בלבד.</a:t>
            </a:r>
          </a:p>
          <a:p>
            <a:r>
              <a:rPr lang="he-IL" dirty="0"/>
              <a:t>7. ניטור והתרעה: בית חולים גילה מתקפה על מערכותיו רק לאחר שהמערכות התריעו על תעבורה חריגה לשרתים חיצוניים בשעות הלילה. בזכות מערכות הניטור, הצליחו להפסיק את ההתקפה בזמן.</a:t>
            </a:r>
          </a:p>
          <a:p>
            <a:r>
              <a:rPr lang="he-IL" dirty="0"/>
              <a:t>ולכן טוב מאוד להטמיע מערכות לניטור והתרעה</a:t>
            </a:r>
            <a:r>
              <a:rPr lang="en-US" dirty="0"/>
              <a:t> SIEM </a:t>
            </a:r>
            <a:r>
              <a:rPr lang="he-IL" dirty="0"/>
              <a:t>שיתריעו על פעילות חריגה ויאפשרו תגובה מהירה לאירועים חשודים.</a:t>
            </a:r>
          </a:p>
          <a:p>
            <a:r>
              <a:rPr lang="he-IL" dirty="0"/>
              <a:t>8. פיצול רשת: חברת ייצור הצליחה לצמצם את הנזק מהתקפת כופרה </a:t>
            </a:r>
            <a:r>
              <a:rPr lang="en-US" dirty="0"/>
              <a:t> (</a:t>
            </a:r>
            <a:r>
              <a:rPr lang="en-US" dirty="0" err="1"/>
              <a:t>vlan</a:t>
            </a:r>
            <a:r>
              <a:rPr lang="en-US" dirty="0"/>
              <a:t>) Ransomware </a:t>
            </a:r>
            <a:r>
              <a:rPr lang="he-IL" dirty="0"/>
              <a:t>על ידי פיצול הרשת שלה כך שההתקפה לא יכלה להתפשט למקטעים קריטיים אחרים של הרשת.</a:t>
            </a:r>
          </a:p>
          <a:p>
            <a:r>
              <a:rPr lang="he-IL" dirty="0"/>
              <a:t>ולכן יש לפצל את הרשת למקטעים שונים כך שהגישה בין המקטעים תהיה מוגבלת ותתבצע דרך נקודות פיקוח מאובטחות. זה מקשה על תוקף לנוע ברחבי הרשת אם הצליח לפרוץ לאחד המקטעים.</a:t>
            </a:r>
          </a:p>
        </p:txBody>
      </p:sp>
    </p:spTree>
    <p:extLst>
      <p:ext uri="{BB962C8B-B14F-4D97-AF65-F5344CB8AC3E}">
        <p14:creationId xmlns:p14="http://schemas.microsoft.com/office/powerpoint/2010/main" val="3258303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981324-05DF-4ACF-9DF0-6DF0817C452F}"/>
              </a:ext>
            </a:extLst>
          </p:cNvPr>
          <p:cNvSpPr>
            <a:spLocks noGrp="1"/>
          </p:cNvSpPr>
          <p:nvPr>
            <p:ph type="title"/>
          </p:nvPr>
        </p:nvSpPr>
        <p:spPr>
          <a:xfrm>
            <a:off x="9283148" y="642594"/>
            <a:ext cx="1842052" cy="1371600"/>
          </a:xfrm>
        </p:spPr>
        <p:txBody>
          <a:bodyPr/>
          <a:lstStyle/>
          <a:p>
            <a:r>
              <a:rPr lang="he-IL" dirty="0"/>
              <a:t>שאלה </a:t>
            </a:r>
          </a:p>
        </p:txBody>
      </p:sp>
      <p:sp>
        <p:nvSpPr>
          <p:cNvPr id="3" name="מציין מיקום תוכן 2">
            <a:extLst>
              <a:ext uri="{FF2B5EF4-FFF2-40B4-BE49-F238E27FC236}">
                <a16:creationId xmlns:a16="http://schemas.microsoft.com/office/drawing/2014/main" id="{17C7F182-9CBC-4176-A54C-D3101927D2FE}"/>
              </a:ext>
            </a:extLst>
          </p:cNvPr>
          <p:cNvSpPr>
            <a:spLocks noGrp="1"/>
          </p:cNvSpPr>
          <p:nvPr>
            <p:ph idx="1"/>
          </p:nvPr>
        </p:nvSpPr>
        <p:spPr/>
        <p:txBody>
          <a:bodyPr/>
          <a:lstStyle/>
          <a:p>
            <a:r>
              <a:rPr lang="he-IL" dirty="0"/>
              <a:t>בחברת </a:t>
            </a:r>
            <a:r>
              <a:rPr lang="en-US" dirty="0"/>
              <a:t>ELIRAN</a:t>
            </a:r>
            <a:r>
              <a:rPr lang="he-IL" dirty="0"/>
              <a:t>_</a:t>
            </a:r>
            <a:r>
              <a:rPr lang="en-US" dirty="0"/>
              <a:t>AND_DANIEL</a:t>
            </a:r>
            <a:r>
              <a:rPr lang="he-IL" dirty="0"/>
              <a:t> עבד צוות</a:t>
            </a:r>
            <a:r>
              <a:rPr lang="en-US" dirty="0"/>
              <a:t>IT </a:t>
            </a:r>
            <a:r>
              <a:rPr lang="he-IL" dirty="0"/>
              <a:t> שהשקיע רבות באבטחת הרשת. יום אחד, המנכ"ל קיבל דוא"ל אנונימי שטען כי מערכת הרשת של החברה פגיעה וחשופה לתקיפות. הדוא"ל הכיל פרטים על מספר רכיבי תקשורת שהיו בשימוש החברה עם סיסמאות ברירת מחדל.</a:t>
            </a:r>
          </a:p>
          <a:p>
            <a:r>
              <a:rPr lang="he-IL" dirty="0"/>
              <a:t>יניב הוא מנהל אבטחת המידע הוא גילה שמתגי הרשת במשרדים הראשיים עדיין השתמשו בסיסמאות ברירת מחדל שהיו ידועות לכל. יניב הבין שעליו להקשיח את רכיבי התקשורת בצורה </a:t>
            </a:r>
            <a:r>
              <a:rPr lang="he-IL" dirty="0" err="1"/>
              <a:t>מיידית</a:t>
            </a:r>
            <a:r>
              <a:rPr lang="he-IL" dirty="0"/>
              <a:t>!!</a:t>
            </a:r>
          </a:p>
          <a:p>
            <a:r>
              <a:rPr lang="he-IL" dirty="0"/>
              <a:t>תן 5 הצעדים העיקריים שיניב יכול לנקוט להקשחת רכיבי התקשורת של החברה, וכיצד שינוי סיסמאות ברירת מחדל יכול למנוע התקפות בעתיד?</a:t>
            </a:r>
          </a:p>
          <a:p>
            <a:endParaRPr lang="he-IL" dirty="0"/>
          </a:p>
        </p:txBody>
      </p:sp>
    </p:spTree>
    <p:extLst>
      <p:ext uri="{BB962C8B-B14F-4D97-AF65-F5344CB8AC3E}">
        <p14:creationId xmlns:p14="http://schemas.microsoft.com/office/powerpoint/2010/main" val="2360938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FEE94C-CD71-419A-BFD4-6B177FF88B48}"/>
              </a:ext>
            </a:extLst>
          </p:cNvPr>
          <p:cNvSpPr>
            <a:spLocks noGrp="1"/>
          </p:cNvSpPr>
          <p:nvPr>
            <p:ph type="title"/>
          </p:nvPr>
        </p:nvSpPr>
        <p:spPr>
          <a:xfrm>
            <a:off x="9213574" y="642594"/>
            <a:ext cx="1911626" cy="1371600"/>
          </a:xfrm>
        </p:spPr>
        <p:txBody>
          <a:bodyPr/>
          <a:lstStyle/>
          <a:p>
            <a:r>
              <a:rPr lang="he-IL" dirty="0"/>
              <a:t>תשובה</a:t>
            </a:r>
          </a:p>
        </p:txBody>
      </p:sp>
      <p:sp>
        <p:nvSpPr>
          <p:cNvPr id="3" name="מציין מיקום תוכן 2">
            <a:extLst>
              <a:ext uri="{FF2B5EF4-FFF2-40B4-BE49-F238E27FC236}">
                <a16:creationId xmlns:a16="http://schemas.microsoft.com/office/drawing/2014/main" id="{93CB8EAE-2F48-4C26-BC1D-211C096362EC}"/>
              </a:ext>
            </a:extLst>
          </p:cNvPr>
          <p:cNvSpPr>
            <a:spLocks noGrp="1"/>
          </p:cNvSpPr>
          <p:nvPr>
            <p:ph idx="1"/>
          </p:nvPr>
        </p:nvSpPr>
        <p:spPr/>
        <p:txBody>
          <a:bodyPr>
            <a:normAutofit fontScale="85000" lnSpcReduction="10000"/>
          </a:bodyPr>
          <a:lstStyle/>
          <a:p>
            <a:r>
              <a:rPr lang="he-IL" dirty="0"/>
              <a:t>על יניב לעשות את הצעדים הבאים:</a:t>
            </a:r>
          </a:p>
          <a:p>
            <a:r>
              <a:rPr lang="he-IL" dirty="0"/>
              <a:t>1. שינוי סיסמאות ברירת מחדל: אחד הצעדים הראשונים והחשובים ביותר הוא לשנות את סיסמאות ברירת המחדל של כל רכיבי התקשורת לסיסמאות חזקות וייחודיות. פעולה זו תמנע מתוקפים להשתמש בסיסמאות ידועות כדי לגשת לרכיבים.</a:t>
            </a:r>
          </a:p>
          <a:p>
            <a:r>
              <a:rPr lang="he-IL" dirty="0"/>
              <a:t>2. עדכוני תוכנה </a:t>
            </a:r>
            <a:r>
              <a:rPr lang="he-IL" dirty="0" err="1"/>
              <a:t>וקושחה</a:t>
            </a:r>
            <a:r>
              <a:rPr lang="he-IL" dirty="0"/>
              <a:t>: יש לוודא שכל רכיבי התקשורת מעודכנים לגרסאות התוכנה </a:t>
            </a:r>
            <a:r>
              <a:rPr lang="he-IL" dirty="0" err="1"/>
              <a:t>והקושחה</a:t>
            </a:r>
            <a:r>
              <a:rPr lang="he-IL" dirty="0"/>
              <a:t> האחרונות, אשר כוללות תיקוני אבטחה לחולשות שהתגלו.</a:t>
            </a:r>
          </a:p>
          <a:p>
            <a:r>
              <a:rPr lang="he-IL" dirty="0"/>
              <a:t>3. ניהול גישה והרשאות: הגדרת הרשאות מינימליות למשתמשים ורכיבים כך שכל משתמש יקבל גישה רק למשאבים הנחוצים לו.</a:t>
            </a:r>
          </a:p>
          <a:p>
            <a:r>
              <a:rPr lang="he-IL" dirty="0"/>
              <a:t>4. הגבלת גישה מרחוק: שימוש בשיטות גישה מאובטחות כמו</a:t>
            </a:r>
            <a:r>
              <a:rPr lang="en-US" dirty="0"/>
              <a:t> VPN </a:t>
            </a:r>
            <a:r>
              <a:rPr lang="he-IL" dirty="0"/>
              <a:t>ו-</a:t>
            </a:r>
            <a:r>
              <a:rPr lang="en-US" dirty="0"/>
              <a:t> SSH </a:t>
            </a:r>
            <a:r>
              <a:rPr lang="he-IL" dirty="0"/>
              <a:t>במקום פרוטוקולים פחות מאובטחים כמו </a:t>
            </a:r>
            <a:r>
              <a:rPr lang="en-US" dirty="0"/>
              <a:t>Telnet</a:t>
            </a:r>
            <a:r>
              <a:rPr lang="he-IL" dirty="0"/>
              <a:t> והגבלת הגישה מרחוק רק למשתמשים מורשים.</a:t>
            </a:r>
          </a:p>
          <a:p>
            <a:r>
              <a:rPr lang="he-IL" dirty="0"/>
              <a:t>5. שימוש בפרוטוקולי תקשורת מאובטחים: יש להפעיל פרוטוקולים מאובטחים כמו </a:t>
            </a:r>
            <a:r>
              <a:rPr lang="en-US" dirty="0"/>
              <a:t>HTTPS </a:t>
            </a:r>
            <a:r>
              <a:rPr lang="he-IL" dirty="0"/>
              <a:t> ו-</a:t>
            </a:r>
            <a:r>
              <a:rPr lang="en-US" dirty="0"/>
              <a:t>SNMPv3 </a:t>
            </a:r>
            <a:r>
              <a:rPr lang="he-IL" dirty="0"/>
              <a:t> על רכיבי התקשורת.</a:t>
            </a:r>
          </a:p>
          <a:p>
            <a:r>
              <a:rPr lang="he-IL" dirty="0"/>
              <a:t>6. ועוד..</a:t>
            </a:r>
          </a:p>
          <a:p>
            <a:r>
              <a:rPr lang="he-IL" dirty="0"/>
              <a:t>* וחשוב להדגיש ששינוי סיסמאות ברירת מחדל לרכיבי התקשורת הוא קריטי משום שסיסמאות ברירת מחדל ידועות לציבור ויכולות לשמש תוקפים לגישה לא מורשית לרשת. על ידי שינוי הסיסמאות, יניב מצמצם את הסיכון להתרחשות התקפות נוספות.</a:t>
            </a:r>
          </a:p>
        </p:txBody>
      </p:sp>
    </p:spTree>
    <p:extLst>
      <p:ext uri="{BB962C8B-B14F-4D97-AF65-F5344CB8AC3E}">
        <p14:creationId xmlns:p14="http://schemas.microsoft.com/office/powerpoint/2010/main" val="13267755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9DF1ED2-641E-47A6-B48A-1ABF2DCCB349}"/>
              </a:ext>
            </a:extLst>
          </p:cNvPr>
          <p:cNvSpPr>
            <a:spLocks noGrp="1"/>
          </p:cNvSpPr>
          <p:nvPr>
            <p:ph type="title"/>
          </p:nvPr>
        </p:nvSpPr>
        <p:spPr>
          <a:xfrm>
            <a:off x="5396948" y="642594"/>
            <a:ext cx="5728252" cy="1371600"/>
          </a:xfrm>
        </p:spPr>
        <p:txBody>
          <a:bodyPr/>
          <a:lstStyle/>
          <a:p>
            <a:r>
              <a:rPr lang="he-IL" dirty="0"/>
              <a:t>כלי חשוב שראינו לעיל</a:t>
            </a:r>
          </a:p>
        </p:txBody>
      </p:sp>
      <p:sp>
        <p:nvSpPr>
          <p:cNvPr id="3" name="מציין מיקום תוכן 2">
            <a:extLst>
              <a:ext uri="{FF2B5EF4-FFF2-40B4-BE49-F238E27FC236}">
                <a16:creationId xmlns:a16="http://schemas.microsoft.com/office/drawing/2014/main" id="{AFD655FB-44B5-49FA-BB45-0157ACC10ECA}"/>
              </a:ext>
            </a:extLst>
          </p:cNvPr>
          <p:cNvSpPr>
            <a:spLocks noGrp="1"/>
          </p:cNvSpPr>
          <p:nvPr>
            <p:ph idx="1"/>
          </p:nvPr>
        </p:nvSpPr>
        <p:spPr/>
        <p:txBody>
          <a:bodyPr/>
          <a:lstStyle/>
          <a:p>
            <a:r>
              <a:rPr lang="he-IL" dirty="0"/>
              <a:t> </a:t>
            </a:r>
            <a:r>
              <a:rPr lang="en-US" dirty="0"/>
              <a:t>iptables</a:t>
            </a:r>
            <a:r>
              <a:rPr lang="he-IL" dirty="0"/>
              <a:t> - כדי להגן על הרשת ניתן להשתמש בפקודה הזאת בכדי לחסום את כל התנועה הנכנסת מכתובת ה-</a:t>
            </a:r>
            <a:r>
              <a:rPr lang="en-US" dirty="0"/>
              <a:t>IP </a:t>
            </a:r>
            <a:r>
              <a:rPr lang="he-IL" dirty="0"/>
              <a:t> הזו.</a:t>
            </a:r>
          </a:p>
          <a:p>
            <a:pPr algn="l"/>
            <a:r>
              <a:rPr lang="he-IL" dirty="0"/>
              <a:t>לדוגמא: </a:t>
            </a:r>
            <a:r>
              <a:rPr lang="en-US" dirty="0" err="1"/>
              <a:t>sudo</a:t>
            </a:r>
            <a:r>
              <a:rPr lang="en-US" dirty="0"/>
              <a:t> iptables -A INPUT -s 192.168.1.100 -j DROP</a:t>
            </a:r>
          </a:p>
          <a:p>
            <a:r>
              <a:rPr lang="he-IL" dirty="0"/>
              <a:t>אנו בעצם בשורת קוד הזאת בלינוקס נוכל לעצור את כל התעבורה מהכתובת </a:t>
            </a:r>
            <a:r>
              <a:rPr lang="en-US" dirty="0"/>
              <a:t>IP</a:t>
            </a:r>
            <a:r>
              <a:rPr lang="he-IL" dirty="0"/>
              <a:t> הבאה: 192.168.1.100</a:t>
            </a:r>
          </a:p>
        </p:txBody>
      </p:sp>
    </p:spTree>
    <p:extLst>
      <p:ext uri="{BB962C8B-B14F-4D97-AF65-F5344CB8AC3E}">
        <p14:creationId xmlns:p14="http://schemas.microsoft.com/office/powerpoint/2010/main" val="1065595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CFD8C2-F1A1-4A24-BB18-CD51E1D50178}"/>
              </a:ext>
            </a:extLst>
          </p:cNvPr>
          <p:cNvSpPr>
            <a:spLocks noGrp="1"/>
          </p:cNvSpPr>
          <p:nvPr>
            <p:ph type="title"/>
          </p:nvPr>
        </p:nvSpPr>
        <p:spPr>
          <a:xfrm>
            <a:off x="5784574" y="642594"/>
            <a:ext cx="5340626" cy="1371600"/>
          </a:xfrm>
        </p:spPr>
        <p:txBody>
          <a:bodyPr/>
          <a:lstStyle/>
          <a:p>
            <a:r>
              <a:rPr lang="he-IL" dirty="0"/>
              <a:t>הקשחת מסדי נתונים</a:t>
            </a:r>
          </a:p>
        </p:txBody>
      </p:sp>
      <p:sp>
        <p:nvSpPr>
          <p:cNvPr id="3" name="מציין מיקום תוכן 2">
            <a:extLst>
              <a:ext uri="{FF2B5EF4-FFF2-40B4-BE49-F238E27FC236}">
                <a16:creationId xmlns:a16="http://schemas.microsoft.com/office/drawing/2014/main" id="{663A9614-FE5D-496A-99EA-3E08D9975055}"/>
              </a:ext>
            </a:extLst>
          </p:cNvPr>
          <p:cNvSpPr>
            <a:spLocks noGrp="1"/>
          </p:cNvSpPr>
          <p:nvPr>
            <p:ph idx="1"/>
          </p:nvPr>
        </p:nvSpPr>
        <p:spPr/>
        <p:txBody>
          <a:bodyPr/>
          <a:lstStyle/>
          <a:p>
            <a:r>
              <a:rPr lang="he-IL" dirty="0"/>
              <a:t>מסדי נתונים הם חלק חיוני מכל מערכת מידע, ומשמשים לאחסון וניהול כמויות גדולות של נתונים. אבטחת מסדי נתונים היא קריטית להגנה על המידע הרגיש של הארגון מפני איומים פנימיים וחיצוניים.</a:t>
            </a:r>
          </a:p>
          <a:p>
            <a:r>
              <a:rPr lang="he-IL" dirty="0"/>
              <a:t>חברת </a:t>
            </a:r>
            <a:r>
              <a:rPr lang="en-US" dirty="0"/>
              <a:t> kIRYAT.nOAR.jERUSALEM</a:t>
            </a:r>
            <a:r>
              <a:rPr lang="he-IL" dirty="0"/>
              <a:t>היא ספקית שירותים המחזיקה מסדי נתונים עם מידע רגיש של לקוחותיה. באחד הימים, תוקף הצליח לחדור למערכת החברה באמצעות מתקפת </a:t>
            </a:r>
            <a:r>
              <a:rPr lang="en-US" dirty="0"/>
              <a:t>SQL Injection</a:t>
            </a:r>
            <a:r>
              <a:rPr lang="he-IL" dirty="0"/>
              <a:t> (שאותה נלמד </a:t>
            </a:r>
            <a:r>
              <a:rPr lang="he-IL"/>
              <a:t>לבצע בהמשך </a:t>
            </a:r>
            <a:r>
              <a:rPr lang="he-IL" dirty="0"/>
              <a:t>הקורס) בה הוא הזריק פקודות זדוניות לטופס חיפוש באתר החברה. דרך כך, התוקף השיג גישה בלתי מורשית למידע של אלפי לקוחות.</a:t>
            </a:r>
          </a:p>
          <a:p>
            <a:r>
              <a:rPr lang="he-IL" dirty="0"/>
              <a:t>ולכן מחמת הבעיה הזאת אנו ציריכם להקשיח את מסדי הנתונים שלנו. </a:t>
            </a:r>
          </a:p>
        </p:txBody>
      </p:sp>
    </p:spTree>
    <p:extLst>
      <p:ext uri="{BB962C8B-B14F-4D97-AF65-F5344CB8AC3E}">
        <p14:creationId xmlns:p14="http://schemas.microsoft.com/office/powerpoint/2010/main" val="2570256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307D5D6-BD7B-46B0-9BD3-E90100352DD0}"/>
              </a:ext>
            </a:extLst>
          </p:cNvPr>
          <p:cNvSpPr>
            <a:spLocks noGrp="1"/>
          </p:cNvSpPr>
          <p:nvPr>
            <p:ph type="title"/>
          </p:nvPr>
        </p:nvSpPr>
        <p:spPr>
          <a:xfrm>
            <a:off x="1808922" y="642594"/>
            <a:ext cx="9316278" cy="1371600"/>
          </a:xfrm>
        </p:spPr>
        <p:txBody>
          <a:bodyPr>
            <a:normAutofit fontScale="90000"/>
          </a:bodyPr>
          <a:lstStyle/>
          <a:p>
            <a:r>
              <a:rPr lang="he-IL" dirty="0"/>
              <a:t>מה עלינו לעשות בהקשחת מסדי הנתונים:</a:t>
            </a:r>
          </a:p>
        </p:txBody>
      </p:sp>
      <p:sp>
        <p:nvSpPr>
          <p:cNvPr id="3" name="מציין מיקום תוכן 2">
            <a:extLst>
              <a:ext uri="{FF2B5EF4-FFF2-40B4-BE49-F238E27FC236}">
                <a16:creationId xmlns:a16="http://schemas.microsoft.com/office/drawing/2014/main" id="{D5A0E732-ACD8-4882-A78E-526DF1518C4B}"/>
              </a:ext>
            </a:extLst>
          </p:cNvPr>
          <p:cNvSpPr>
            <a:spLocks noGrp="1"/>
          </p:cNvSpPr>
          <p:nvPr>
            <p:ph idx="1"/>
          </p:nvPr>
        </p:nvSpPr>
        <p:spPr/>
        <p:txBody>
          <a:bodyPr>
            <a:normAutofit lnSpcReduction="10000"/>
          </a:bodyPr>
          <a:lstStyle/>
          <a:p>
            <a:r>
              <a:rPr lang="he-IL" dirty="0"/>
              <a:t>1. אימות וניהול משתמשים: בחברת </a:t>
            </a:r>
            <a:r>
              <a:rPr lang="en-US" dirty="0"/>
              <a:t> YANIV.COM</a:t>
            </a:r>
            <a:r>
              <a:rPr lang="he-IL" dirty="0"/>
              <a:t>חשבון מנהל מסד נתונים היה מוגדר ללא סיסמה חזקה, ותוקף הצליח לנחש את הסיסמה ולגשת למידע הרגיש.</a:t>
            </a:r>
            <a:endParaRPr lang="en-US" dirty="0"/>
          </a:p>
          <a:p>
            <a:r>
              <a:rPr lang="he-IL" dirty="0"/>
              <a:t>הקשחה: שימוש בסיסמאות חזקות ומורכבות לכל המשתמשים, וגם הטמעת אימות דו-שלבי לגישה למסד הנתונים, ובנוסף הקצאת הרשאות מינימליות על פי תפקיד המשתמש.</a:t>
            </a:r>
          </a:p>
          <a:p>
            <a:r>
              <a:rPr lang="he-IL" dirty="0"/>
              <a:t>2. חברת אינטל איבדה מחשב נייד שכלל גיבוי של מסד נתונים עם מידע רפואי רגיש שלא היה מוצפן. המידע נגנב והדליף לציבור.</a:t>
            </a:r>
          </a:p>
          <a:p>
            <a:r>
              <a:rPr lang="he-IL" dirty="0"/>
              <a:t>הקשחה: הצפנת נתונים במנוחה ובתנועה וכל זה בכדי להגן על מידע רגיש, ובנוסף שימוש בתעודות </a:t>
            </a:r>
            <a:r>
              <a:rPr lang="en-US" dirty="0"/>
              <a:t>SSL/TLS </a:t>
            </a:r>
            <a:r>
              <a:rPr lang="he-IL" dirty="0"/>
              <a:t>להבטחת תקשורת מוצפנת בין השרתים והלקוחות.</a:t>
            </a:r>
          </a:p>
          <a:p>
            <a:r>
              <a:rPr lang="he-IL" dirty="0"/>
              <a:t>3. הגנה מפני </a:t>
            </a:r>
            <a:r>
              <a:rPr lang="en-US" dirty="0"/>
              <a:t>SQL Injection</a:t>
            </a:r>
            <a:r>
              <a:rPr lang="he-IL" dirty="0"/>
              <a:t>: חברת </a:t>
            </a:r>
            <a:r>
              <a:rPr lang="en-US" dirty="0"/>
              <a:t> CISCO</a:t>
            </a:r>
            <a:r>
              <a:rPr lang="he-IL" dirty="0"/>
              <a:t>נפגעה ממתקפת </a:t>
            </a:r>
            <a:r>
              <a:rPr lang="en-US" dirty="0"/>
              <a:t> SQL Injection </a:t>
            </a:r>
            <a:r>
              <a:rPr lang="he-IL" dirty="0"/>
              <a:t>שחשפה את פרטי הלקוחות שלה. המתקפה התבצעה על ידי הזרקת פקודות </a:t>
            </a:r>
            <a:r>
              <a:rPr lang="en-US" dirty="0"/>
              <a:t>SQL  </a:t>
            </a:r>
            <a:r>
              <a:rPr lang="he-IL" dirty="0"/>
              <a:t>זדוניות </a:t>
            </a:r>
            <a:r>
              <a:rPr lang="he-IL" dirty="0" err="1"/>
              <a:t>לטפסי</a:t>
            </a:r>
            <a:r>
              <a:rPr lang="he-IL" dirty="0"/>
              <a:t> הזמנות מקוונים.</a:t>
            </a:r>
            <a:endParaRPr lang="en-US" dirty="0"/>
          </a:p>
          <a:p>
            <a:r>
              <a:rPr lang="he-IL" dirty="0"/>
              <a:t>הקשחה: שימוש בפרמטרים ואובייקטים מאובטחים של </a:t>
            </a:r>
            <a:r>
              <a:rPr lang="en-US" dirty="0"/>
              <a:t> SQL </a:t>
            </a:r>
            <a:r>
              <a:rPr lang="he-IL" dirty="0"/>
              <a:t>למניעת הזרקות, ובנוסף הטמעת ספריות </a:t>
            </a:r>
            <a:r>
              <a:rPr lang="en-US" dirty="0"/>
              <a:t>ORM (Object-Relational Mapping) </a:t>
            </a:r>
            <a:r>
              <a:rPr lang="he-IL" dirty="0"/>
              <a:t> כמו </a:t>
            </a:r>
            <a:r>
              <a:rPr lang="en-US" dirty="0"/>
              <a:t>Hibernate </a:t>
            </a:r>
            <a:r>
              <a:rPr lang="he-IL" dirty="0"/>
              <a:t> או </a:t>
            </a:r>
            <a:r>
              <a:rPr lang="en-US" dirty="0"/>
              <a:t>Entity Framework</a:t>
            </a:r>
            <a:r>
              <a:rPr lang="he-IL" dirty="0"/>
              <a:t> (נדבר בהמשך הקורס)</a:t>
            </a:r>
          </a:p>
          <a:p>
            <a:endParaRPr lang="he-IL" dirty="0"/>
          </a:p>
        </p:txBody>
      </p:sp>
    </p:spTree>
    <p:extLst>
      <p:ext uri="{BB962C8B-B14F-4D97-AF65-F5344CB8AC3E}">
        <p14:creationId xmlns:p14="http://schemas.microsoft.com/office/powerpoint/2010/main" val="2998635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B75FD1-4AA3-494B-A262-B580E0EA9116}"/>
              </a:ext>
            </a:extLst>
          </p:cNvPr>
          <p:cNvSpPr>
            <a:spLocks noGrp="1"/>
          </p:cNvSpPr>
          <p:nvPr>
            <p:ph type="title"/>
          </p:nvPr>
        </p:nvSpPr>
        <p:spPr>
          <a:xfrm>
            <a:off x="626165" y="602838"/>
            <a:ext cx="11201400" cy="1371600"/>
          </a:xfrm>
        </p:spPr>
        <p:txBody>
          <a:bodyPr>
            <a:normAutofit fontScale="90000"/>
          </a:bodyPr>
          <a:lstStyle/>
          <a:p>
            <a:r>
              <a:rPr lang="he-IL" dirty="0"/>
              <a:t>המשך – מה עלינו לעשות בהקשחת מסדי הנתונים:</a:t>
            </a:r>
          </a:p>
        </p:txBody>
      </p:sp>
      <p:sp>
        <p:nvSpPr>
          <p:cNvPr id="3" name="מציין מיקום תוכן 2">
            <a:extLst>
              <a:ext uri="{FF2B5EF4-FFF2-40B4-BE49-F238E27FC236}">
                <a16:creationId xmlns:a16="http://schemas.microsoft.com/office/drawing/2014/main" id="{B04EDFD5-1F85-461A-8C0E-A0EEF5C246EF}"/>
              </a:ext>
            </a:extLst>
          </p:cNvPr>
          <p:cNvSpPr>
            <a:spLocks noGrp="1"/>
          </p:cNvSpPr>
          <p:nvPr>
            <p:ph idx="1"/>
          </p:nvPr>
        </p:nvSpPr>
        <p:spPr/>
        <p:txBody>
          <a:bodyPr>
            <a:normAutofit lnSpcReduction="10000"/>
          </a:bodyPr>
          <a:lstStyle/>
          <a:p>
            <a:r>
              <a:rPr lang="he-IL" dirty="0"/>
              <a:t>4. ניהול עדכונים וטלאי אבטחה: בחברת </a:t>
            </a:r>
            <a:r>
              <a:rPr lang="en-US" dirty="0"/>
              <a:t>ELIRAN.COM</a:t>
            </a:r>
            <a:r>
              <a:rPr lang="he-IL" dirty="0"/>
              <a:t>מסד הנתונים לא עודכן לגרסה האחרונה, ונמצאה בו חולשת אבטחה קריטית. תוקפים ניצלו את החולשה לגנוב מידע של סטודנטים.</a:t>
            </a:r>
            <a:endParaRPr lang="en-US" dirty="0"/>
          </a:p>
          <a:p>
            <a:r>
              <a:rPr lang="he-IL" dirty="0"/>
              <a:t>הקשחה:</a:t>
            </a:r>
            <a:r>
              <a:rPr lang="en-US" b="1" dirty="0"/>
              <a:t> </a:t>
            </a:r>
            <a:r>
              <a:rPr lang="he-IL" dirty="0"/>
              <a:t>עדכון שוטף של גרסאות מסד הנתונים והטמעת טלאי אבטחה ובנוסף שימוש בתהליכי </a:t>
            </a:r>
            <a:r>
              <a:rPr lang="en-US" dirty="0"/>
              <a:t>CI/CD</a:t>
            </a:r>
            <a:r>
              <a:rPr lang="he-IL" dirty="0"/>
              <a:t> לבדיקת אבטחה ויישום עדכונים באופן מתמיד.</a:t>
            </a:r>
          </a:p>
          <a:p>
            <a:r>
              <a:rPr lang="he-IL" dirty="0"/>
              <a:t>5. גיבוי ושחזור נתונים: חברת </a:t>
            </a:r>
            <a:r>
              <a:rPr lang="en-US" dirty="0"/>
              <a:t>ULIEL.CO.IL</a:t>
            </a:r>
            <a:r>
              <a:rPr lang="he-IL" dirty="0"/>
              <a:t> חוותה מתקפת שבה הושבתו מסדי הנתונים שלה. בגלל שלא היו גיבויים עדכניים, החברה איבדה נתונים קריטיים והייתה צריכה לשלם כופר גבוה.</a:t>
            </a:r>
          </a:p>
          <a:p>
            <a:r>
              <a:rPr lang="he-IL" dirty="0"/>
              <a:t>הקשחה: גיבוי נתונים באופן קבוע ושמירת גיבויים במיקום מאובטח. בדיקה תקופתית של תהליך השחזור כדי לוודא שניתן לשחזר את הנתונים במהירות במקרה של איבוד נתונים.</a:t>
            </a:r>
          </a:p>
          <a:p>
            <a:r>
              <a:rPr lang="he-IL" dirty="0"/>
              <a:t>6. ניטור והתרעה: חברת </a:t>
            </a:r>
            <a:r>
              <a:rPr lang="en-US" dirty="0"/>
              <a:t>NOAN.AC</a:t>
            </a:r>
            <a:r>
              <a:rPr lang="he-IL" dirty="0"/>
              <a:t> הצליחה למנוע גניבת מידע לאחר שמערכות הניטור שלה זיהו פעילות חשודה במסד הנתונים. התוקף ניסה לשאוב כמות גדולה של נתונים בצורה לא רגילה.</a:t>
            </a:r>
          </a:p>
          <a:p>
            <a:r>
              <a:rPr lang="he-IL" dirty="0"/>
              <a:t>הקשחה: הטמעת מערכות ניטור והתרעה </a:t>
            </a:r>
            <a:r>
              <a:rPr lang="en-US" dirty="0"/>
              <a:t>SIEM </a:t>
            </a:r>
            <a:r>
              <a:rPr lang="he-IL" dirty="0"/>
              <a:t> לניטור תעבורת מסד הנתונים וזיהוי פעילות חריגה, ובנוסף צריך לעשות ניתוח לוגי בכדי לזהות ולהגיב במהירות לאירועי אבטחה.</a:t>
            </a:r>
          </a:p>
          <a:p>
            <a:endParaRPr lang="he-IL" dirty="0"/>
          </a:p>
          <a:p>
            <a:endParaRPr lang="he-IL" dirty="0"/>
          </a:p>
          <a:p>
            <a:endParaRPr lang="he-IL" dirty="0"/>
          </a:p>
        </p:txBody>
      </p:sp>
    </p:spTree>
    <p:extLst>
      <p:ext uri="{BB962C8B-B14F-4D97-AF65-F5344CB8AC3E}">
        <p14:creationId xmlns:p14="http://schemas.microsoft.com/office/powerpoint/2010/main" val="2239351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03E47A4-6FEF-484D-9914-8E97DC1E9572}"/>
              </a:ext>
            </a:extLst>
          </p:cNvPr>
          <p:cNvSpPr>
            <a:spLocks noGrp="1"/>
          </p:cNvSpPr>
          <p:nvPr>
            <p:ph type="title"/>
          </p:nvPr>
        </p:nvSpPr>
        <p:spPr>
          <a:xfrm>
            <a:off x="3101008" y="642594"/>
            <a:ext cx="8024191" cy="1371600"/>
          </a:xfrm>
        </p:spPr>
        <p:txBody>
          <a:bodyPr/>
          <a:lstStyle/>
          <a:p>
            <a:r>
              <a:rPr lang="he-IL" dirty="0"/>
              <a:t>שאלות על הקשחת מסדי נתונים:</a:t>
            </a:r>
          </a:p>
        </p:txBody>
      </p:sp>
      <p:sp>
        <p:nvSpPr>
          <p:cNvPr id="3" name="מציין מיקום תוכן 2">
            <a:extLst>
              <a:ext uri="{FF2B5EF4-FFF2-40B4-BE49-F238E27FC236}">
                <a16:creationId xmlns:a16="http://schemas.microsoft.com/office/drawing/2014/main" id="{6E29CDDF-91C3-4B16-BF1D-86DA4F28B753}"/>
              </a:ext>
            </a:extLst>
          </p:cNvPr>
          <p:cNvSpPr>
            <a:spLocks noGrp="1"/>
          </p:cNvSpPr>
          <p:nvPr>
            <p:ph idx="1"/>
          </p:nvPr>
        </p:nvSpPr>
        <p:spPr/>
        <p:txBody>
          <a:bodyPr/>
          <a:lstStyle/>
          <a:p>
            <a:r>
              <a:rPr lang="he-IL" dirty="0"/>
              <a:t>1. מה היתרונות של שימוש באימות דו שלבי במסדי נתונים?</a:t>
            </a:r>
          </a:p>
          <a:p>
            <a:r>
              <a:rPr lang="he-IL" dirty="0"/>
              <a:t>2. מהי מתקפת </a:t>
            </a:r>
            <a:r>
              <a:rPr lang="en-US" dirty="0"/>
              <a:t> SQL Injection </a:t>
            </a:r>
            <a:r>
              <a:rPr lang="he-IL" dirty="0"/>
              <a:t>וכיצד ניתן למנוע אותה?</a:t>
            </a:r>
          </a:p>
          <a:p>
            <a:r>
              <a:rPr lang="he-IL" dirty="0"/>
              <a:t>3. מדוע חשוב לעדכן גרסאות מסדי נתונים באופן קבוע ולהטמיע טלאי אבטחה?</a:t>
            </a:r>
          </a:p>
          <a:p>
            <a:r>
              <a:rPr lang="he-IL" dirty="0"/>
              <a:t>4. מהן הפעולות שיש לבצע כדי לוודא שניתן לשחזר את הנתונים מגיבויים במקרה של אובדן נתונים?</a:t>
            </a:r>
          </a:p>
          <a:p>
            <a:r>
              <a:rPr lang="he-IL" dirty="0"/>
              <a:t>5. כיצד מערכות ניטור והתרעה יכולות לסייע בזיהוי ומניעת מתקפות על מסדי נתונים?</a:t>
            </a:r>
          </a:p>
          <a:p>
            <a:endParaRPr lang="he-IL" dirty="0"/>
          </a:p>
        </p:txBody>
      </p:sp>
    </p:spTree>
    <p:extLst>
      <p:ext uri="{BB962C8B-B14F-4D97-AF65-F5344CB8AC3E}">
        <p14:creationId xmlns:p14="http://schemas.microsoft.com/office/powerpoint/2010/main" val="2658265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7BAE20D-28E6-4B01-9B5B-D65F1C28CF07}"/>
              </a:ext>
            </a:extLst>
          </p:cNvPr>
          <p:cNvSpPr>
            <a:spLocks noGrp="1"/>
          </p:cNvSpPr>
          <p:nvPr>
            <p:ph type="title"/>
          </p:nvPr>
        </p:nvSpPr>
        <p:spPr>
          <a:xfrm>
            <a:off x="3269974" y="642594"/>
            <a:ext cx="7855226" cy="1371600"/>
          </a:xfrm>
        </p:spPr>
        <p:txBody>
          <a:bodyPr/>
          <a:lstStyle/>
          <a:p>
            <a:r>
              <a:rPr lang="he-IL" dirty="0"/>
              <a:t>תשובות על הקשחת מדי נתונים:</a:t>
            </a:r>
          </a:p>
        </p:txBody>
      </p:sp>
      <p:sp>
        <p:nvSpPr>
          <p:cNvPr id="3" name="מציין מיקום תוכן 2">
            <a:extLst>
              <a:ext uri="{FF2B5EF4-FFF2-40B4-BE49-F238E27FC236}">
                <a16:creationId xmlns:a16="http://schemas.microsoft.com/office/drawing/2014/main" id="{B9599B4E-91E4-484C-A060-C17DDB82109E}"/>
              </a:ext>
            </a:extLst>
          </p:cNvPr>
          <p:cNvSpPr>
            <a:spLocks noGrp="1"/>
          </p:cNvSpPr>
          <p:nvPr>
            <p:ph idx="1"/>
          </p:nvPr>
        </p:nvSpPr>
        <p:spPr/>
        <p:txBody>
          <a:bodyPr>
            <a:normAutofit fontScale="92500" lnSpcReduction="20000"/>
          </a:bodyPr>
          <a:lstStyle/>
          <a:p>
            <a:r>
              <a:rPr lang="he-IL" dirty="0"/>
              <a:t>1. אימות דו שלבי מוסיף שכבת אבטחה נוספת מעבר לסיסמה. כדי לגשת למערכת, יש צורך גם בפריט נוסף הדבר מקשה על התוקפים, ואפילו אם הם משיגים את הסיסמה בגלל שהם עדיין זקוקים לאותו פריט נוסף.</a:t>
            </a:r>
          </a:p>
          <a:p>
            <a:r>
              <a:rPr lang="he-IL" dirty="0"/>
              <a:t>2. מתקפת</a:t>
            </a:r>
            <a:r>
              <a:rPr lang="en-US" dirty="0"/>
              <a:t>SQL Injection </a:t>
            </a:r>
            <a:r>
              <a:rPr lang="he-IL" dirty="0"/>
              <a:t> מתרחשת כאשר תוקף מחדיר פקודות</a:t>
            </a:r>
            <a:r>
              <a:rPr lang="en-US" dirty="0"/>
              <a:t>SQL </a:t>
            </a:r>
            <a:r>
              <a:rPr lang="he-IL" dirty="0"/>
              <a:t> זדוניות לתוך שאילתה של מסד הנתונים דרך קלט משתמש לא מסונן. ולכן ניתן למנוע מתקפות כאלה על ידי שימוש בפרמטרים בשאילתות </a:t>
            </a:r>
            <a:r>
              <a:rPr lang="en-US" dirty="0"/>
              <a:t>Prepared Statements </a:t>
            </a:r>
            <a:r>
              <a:rPr lang="he-IL" dirty="0"/>
              <a:t> או על ידי הטמעת ספריות </a:t>
            </a:r>
            <a:r>
              <a:rPr lang="en-US" dirty="0"/>
              <a:t>ORM (Object-Relational Mapping) </a:t>
            </a:r>
            <a:r>
              <a:rPr lang="he-IL" dirty="0"/>
              <a:t> שמטפלות באבטחת השאילתות באופן אוטומטי.</a:t>
            </a:r>
          </a:p>
          <a:p>
            <a:r>
              <a:rPr lang="he-IL" dirty="0"/>
              <a:t>3. עדכונים וטלאי אבטחה כוללים תיקונים לחולשות שהתגלו בגרסאות קודמות. השארת מערכת לא מעודכנת חושפת את המערכת לסיכונים והתקפות שעלולות לנצל את החולשות הללו. לכן, חשוב לעדכן את המערכת ולשמור על אבטחתה.</a:t>
            </a:r>
          </a:p>
          <a:p>
            <a:r>
              <a:rPr lang="he-IL" dirty="0"/>
              <a:t>4. יש לגבות נתונים באופן קבוע ולשמור את הגיבויים במיקום מאובטח, לבדוק באופן תקופתי את תהליך השחזור כדי לוודא שהוא פועל כראוי, ולהיות מוכנים עם </a:t>
            </a:r>
            <a:r>
              <a:rPr lang="he-IL" dirty="0" err="1"/>
              <a:t>תוכנית</a:t>
            </a:r>
            <a:r>
              <a:rPr lang="he-IL" dirty="0"/>
              <a:t> שחזור שמפרטת את הצעדים לשחזור הנתונים במקרה של איבוד.</a:t>
            </a:r>
          </a:p>
          <a:p>
            <a:r>
              <a:rPr lang="he-IL" dirty="0"/>
              <a:t>5. מערכות </a:t>
            </a:r>
            <a:r>
              <a:rPr lang="en-US" dirty="0"/>
              <a:t>SIEM (Security Information and Event Management) </a:t>
            </a:r>
            <a:r>
              <a:rPr lang="he-IL" dirty="0"/>
              <a:t> מנטרות את התעבורה והפעילות במסד הנתונים, מנתחות לוגי וגם מזהות פעילות חריגה או חשודה בנוסף הם יכולות לשלוח התרעות בזמן אמת ולהפעיל תהליכים אוטומטיים לטיפול באירועי אבטחה, ובכך לסייע במניעת מתקפות או זיהוי מוקדם שלהן.</a:t>
            </a:r>
          </a:p>
        </p:txBody>
      </p:sp>
    </p:spTree>
    <p:extLst>
      <p:ext uri="{BB962C8B-B14F-4D97-AF65-F5344CB8AC3E}">
        <p14:creationId xmlns:p14="http://schemas.microsoft.com/office/powerpoint/2010/main" val="3932483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C03B424-87E5-48EB-A255-9D6E111B5BF5}"/>
              </a:ext>
            </a:extLst>
          </p:cNvPr>
          <p:cNvSpPr>
            <a:spLocks noGrp="1"/>
          </p:cNvSpPr>
          <p:nvPr>
            <p:ph type="title"/>
          </p:nvPr>
        </p:nvSpPr>
        <p:spPr>
          <a:xfrm>
            <a:off x="1838738" y="642594"/>
            <a:ext cx="9286461" cy="1371600"/>
          </a:xfrm>
        </p:spPr>
        <p:txBody>
          <a:bodyPr/>
          <a:lstStyle/>
          <a:p>
            <a:r>
              <a:rPr lang="he-IL" dirty="0"/>
              <a:t>דוגמא של קוד המונע </a:t>
            </a:r>
            <a:r>
              <a:rPr lang="en-US" dirty="0"/>
              <a:t>SQL Injection</a:t>
            </a:r>
            <a:r>
              <a:rPr lang="he-IL" dirty="0"/>
              <a:t> </a:t>
            </a:r>
          </a:p>
        </p:txBody>
      </p:sp>
      <p:sp>
        <p:nvSpPr>
          <p:cNvPr id="3" name="מציין מיקום תוכן 2">
            <a:extLst>
              <a:ext uri="{FF2B5EF4-FFF2-40B4-BE49-F238E27FC236}">
                <a16:creationId xmlns:a16="http://schemas.microsoft.com/office/drawing/2014/main" id="{78838601-42F8-4BE5-B499-5A987B5AB8F2}"/>
              </a:ext>
            </a:extLst>
          </p:cNvPr>
          <p:cNvSpPr>
            <a:spLocks noGrp="1"/>
          </p:cNvSpPr>
          <p:nvPr>
            <p:ph idx="1"/>
          </p:nvPr>
        </p:nvSpPr>
        <p:spPr/>
        <p:txBody>
          <a:bodyPr/>
          <a:lstStyle/>
          <a:p>
            <a:pPr algn="l"/>
            <a:r>
              <a:rPr lang="en-US" dirty="0"/>
              <a:t>query = 'INSERT INTO users (username, password) VALUES (?, ?)’</a:t>
            </a:r>
          </a:p>
          <a:p>
            <a:pPr algn="l"/>
            <a:r>
              <a:rPr lang="pt-BR" dirty="0"/>
              <a:t>cursor.</a:t>
            </a:r>
            <a:r>
              <a:rPr lang="pt-BR" b="1" dirty="0">
                <a:highlight>
                  <a:srgbClr val="FFFF00"/>
                </a:highlight>
              </a:rPr>
              <a:t>execute</a:t>
            </a:r>
            <a:r>
              <a:rPr lang="pt-BR" dirty="0"/>
              <a:t>(query, (username, password))</a:t>
            </a:r>
            <a:endParaRPr lang="he-IL" dirty="0"/>
          </a:p>
          <a:p>
            <a:r>
              <a:rPr lang="he-IL" dirty="0"/>
              <a:t>השתמשנו בפרמטרים בכדי למנוע </a:t>
            </a:r>
            <a:r>
              <a:rPr lang="en-US" dirty="0"/>
              <a:t>SQL Injection</a:t>
            </a:r>
            <a:r>
              <a:rPr lang="he-IL" dirty="0"/>
              <a:t> וע"י הפקודה הנ"ל מקבלת השאילתה את הפרמטרים </a:t>
            </a:r>
            <a:r>
              <a:rPr lang="he-IL" dirty="0" err="1"/>
              <a:t>כטאפלים</a:t>
            </a:r>
            <a:r>
              <a:rPr lang="he-IL" dirty="0"/>
              <a:t>, מה שמונע הזרקת </a:t>
            </a:r>
            <a:r>
              <a:rPr lang="en-US" dirty="0"/>
              <a:t>SQL.</a:t>
            </a:r>
            <a:endParaRPr lang="he-IL" dirty="0"/>
          </a:p>
          <a:p>
            <a:r>
              <a:rPr lang="he-IL" dirty="0" err="1"/>
              <a:t>הבשמך</a:t>
            </a:r>
            <a:r>
              <a:rPr lang="he-IL" dirty="0"/>
              <a:t> אנו נלמד בעיון איך וכיצד מזריקים – אל תדאגו </a:t>
            </a:r>
            <a:r>
              <a:rPr lang="he-IL" dirty="0" err="1"/>
              <a:t>הכל</a:t>
            </a:r>
            <a:r>
              <a:rPr lang="he-IL" dirty="0"/>
              <a:t> יהיה בסדר</a:t>
            </a:r>
          </a:p>
        </p:txBody>
      </p:sp>
    </p:spTree>
    <p:extLst>
      <p:ext uri="{BB962C8B-B14F-4D97-AF65-F5344CB8AC3E}">
        <p14:creationId xmlns:p14="http://schemas.microsoft.com/office/powerpoint/2010/main" val="3618799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FB338B0-D284-413D-9EF9-004B0E51D318}"/>
              </a:ext>
            </a:extLst>
          </p:cNvPr>
          <p:cNvSpPr>
            <a:spLocks noGrp="1"/>
          </p:cNvSpPr>
          <p:nvPr>
            <p:ph type="title"/>
          </p:nvPr>
        </p:nvSpPr>
        <p:spPr>
          <a:xfrm>
            <a:off x="5148470" y="642594"/>
            <a:ext cx="5976730" cy="1371600"/>
          </a:xfrm>
        </p:spPr>
        <p:txBody>
          <a:bodyPr/>
          <a:lstStyle/>
          <a:p>
            <a:r>
              <a:rPr lang="he-IL" dirty="0"/>
              <a:t>אבטחת מכשירים ניידים</a:t>
            </a:r>
          </a:p>
        </p:txBody>
      </p:sp>
      <p:sp>
        <p:nvSpPr>
          <p:cNvPr id="3" name="מציין מיקום תוכן 2">
            <a:extLst>
              <a:ext uri="{FF2B5EF4-FFF2-40B4-BE49-F238E27FC236}">
                <a16:creationId xmlns:a16="http://schemas.microsoft.com/office/drawing/2014/main" id="{70F03B00-D6C9-4278-B8E3-60AF95D506B2}"/>
              </a:ext>
            </a:extLst>
          </p:cNvPr>
          <p:cNvSpPr>
            <a:spLocks noGrp="1"/>
          </p:cNvSpPr>
          <p:nvPr>
            <p:ph idx="1"/>
          </p:nvPr>
        </p:nvSpPr>
        <p:spPr/>
        <p:txBody>
          <a:bodyPr/>
          <a:lstStyle/>
          <a:p>
            <a:r>
              <a:rPr lang="he-IL" dirty="0"/>
              <a:t>פתיחה לחכמה: מכשירים ניידים כמו טלפונים חכמים </a:t>
            </a:r>
            <a:r>
              <a:rPr lang="he-IL" dirty="0" err="1"/>
              <a:t>וטאבלטים</a:t>
            </a:r>
            <a:r>
              <a:rPr lang="he-IL" dirty="0"/>
              <a:t> הם חלק בלתי נפרד מחיינו. אנו משתמשים בהם לאחסון מידע אישי ועסקי רגיש, מה שמעמיד אותם כיעד מרכזי למתקפות סייבר. אבטחת מכשירים ניידים חיונית בכדי להגן על המידע שלנו מפני איומים שונים.</a:t>
            </a:r>
          </a:p>
          <a:p>
            <a:r>
              <a:rPr lang="he-IL" dirty="0" err="1"/>
              <a:t>שויש</a:t>
            </a:r>
            <a:r>
              <a:rPr lang="he-IL" dirty="0"/>
              <a:t>, מנכ"לית חברת הייטק, השתמשה בטלפון שלה לניהול ענייני עבודה חשובים. יום אחד, הטלפון שלה נגנב והמידע העסקי הרגיש שנמצא בו דלף למתחרים. המידע כלל תכניות עסקיות סודיות ומידע פיננסי, מה שגרם לנזק כלכלי ותדמיתי לחברה, ופנתה היא בשאלה לרב יניב, מה כבודו ממליץ לנו לעשות??</a:t>
            </a:r>
          </a:p>
          <a:p>
            <a:r>
              <a:rPr lang="he-IL" dirty="0"/>
              <a:t>ואמרתי לה שיש מספר דברים שעליה לעשות בכדי לאבטח את המכשיר לה.</a:t>
            </a:r>
          </a:p>
        </p:txBody>
      </p:sp>
    </p:spTree>
    <p:extLst>
      <p:ext uri="{BB962C8B-B14F-4D97-AF65-F5344CB8AC3E}">
        <p14:creationId xmlns:p14="http://schemas.microsoft.com/office/powerpoint/2010/main" val="4170073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D78724C-760B-4BAA-9BFE-14D3497067D0}"/>
              </a:ext>
            </a:extLst>
          </p:cNvPr>
          <p:cNvSpPr>
            <a:spLocks noGrp="1"/>
          </p:cNvSpPr>
          <p:nvPr>
            <p:ph type="title"/>
          </p:nvPr>
        </p:nvSpPr>
        <p:spPr>
          <a:xfrm>
            <a:off x="2991678" y="642594"/>
            <a:ext cx="8133522" cy="1371600"/>
          </a:xfrm>
        </p:spPr>
        <p:txBody>
          <a:bodyPr/>
          <a:lstStyle/>
          <a:p>
            <a:r>
              <a:rPr lang="he-IL" dirty="0"/>
              <a:t>צעדים לאבטחת מכשירים ניידים:</a:t>
            </a:r>
          </a:p>
        </p:txBody>
      </p:sp>
      <p:sp>
        <p:nvSpPr>
          <p:cNvPr id="3" name="מציין מיקום תוכן 2">
            <a:extLst>
              <a:ext uri="{FF2B5EF4-FFF2-40B4-BE49-F238E27FC236}">
                <a16:creationId xmlns:a16="http://schemas.microsoft.com/office/drawing/2014/main" id="{6F36E73B-FBA4-4AD1-96CB-E5FECEAC4378}"/>
              </a:ext>
            </a:extLst>
          </p:cNvPr>
          <p:cNvSpPr>
            <a:spLocks noGrp="1"/>
          </p:cNvSpPr>
          <p:nvPr>
            <p:ph idx="1"/>
          </p:nvPr>
        </p:nvSpPr>
        <p:spPr/>
        <p:txBody>
          <a:bodyPr>
            <a:normAutofit/>
          </a:bodyPr>
          <a:lstStyle/>
          <a:p>
            <a:r>
              <a:rPr lang="he-IL" dirty="0"/>
              <a:t>1. שימוש בסיסמאות חזקות: קביעת קוד גישה בן 6 ספרות לפחות או סיסמה חזקה לטלפון, וטוב גל להשתמש בסיסמאות מורכבות הכוללות אותיות, מספרים ותווים מיוחדים, וכמובן הגדרת קוד גישה שונה לאפליקציות רגישות כמו בנקאות ומייל.</a:t>
            </a:r>
          </a:p>
          <a:p>
            <a:r>
              <a:rPr lang="he-IL" dirty="0"/>
              <a:t>2. הצפנת נתונים: טלפון המוצפן מגן על המידע שבו, היינו גם אם המכשיר נגנב, ולכן ברוב המכשירים ניתן להפעיל הצפנה דרך הגדרות האבטחה, וזאת ההצפנה מגנה על הקבצים והמידע מפני גישה בלתי מורשית.</a:t>
            </a:r>
          </a:p>
          <a:p>
            <a:r>
              <a:rPr lang="he-IL" dirty="0"/>
              <a:t>3. עדכוני תוכנה: גברת ריקה התקינה עדכון אבטחה שהופץ על ידי יצרן הטלפון, שסגר פרצת אבטחה חמורה, ולכן חשוב לעדכן את מערכת ההפעלה והאפליקציות באופן שוטף, וחושב לדעת שעדכונים אלו כוללים תיקוני אבטחה שמגנים מפני חולשות שהתגלו.</a:t>
            </a:r>
          </a:p>
          <a:p>
            <a:r>
              <a:rPr lang="he-IL" dirty="0"/>
              <a:t>4. התקנת אפליקציות ממקורות מהימנים: הורדת אפליקציות רק מחנויות רשמיות כמו </a:t>
            </a:r>
            <a:r>
              <a:rPr lang="en-US" dirty="0"/>
              <a:t> Google Play </a:t>
            </a:r>
            <a:r>
              <a:rPr lang="he-IL" dirty="0"/>
              <a:t>או </a:t>
            </a:r>
            <a:r>
              <a:rPr lang="en-US" dirty="0"/>
              <a:t> </a:t>
            </a:r>
            <a:r>
              <a:rPr lang="he-IL" dirty="0"/>
              <a:t>  </a:t>
            </a:r>
            <a:r>
              <a:rPr lang="en-US" dirty="0"/>
              <a:t>App Store</a:t>
            </a:r>
            <a:r>
              <a:rPr lang="he-IL" dirty="0"/>
              <a:t> וכמובן יש להימנע מהתקנת אפליקציות ממקורות לא ידועים שעלולות להכיל קוד זדוני, וטוב לאפשר בדיקת הרשאות שהאפליקציה מבקשת לפני ההתקנה.</a:t>
            </a:r>
          </a:p>
          <a:p>
            <a:endParaRPr lang="he-IL" dirty="0"/>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24223231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FA1CBB-B948-48D1-955B-F9B17913CDC8}"/>
              </a:ext>
            </a:extLst>
          </p:cNvPr>
          <p:cNvSpPr>
            <a:spLocks noGrp="1"/>
          </p:cNvSpPr>
          <p:nvPr>
            <p:ph type="title"/>
          </p:nvPr>
        </p:nvSpPr>
        <p:spPr>
          <a:xfrm>
            <a:off x="1381538" y="642594"/>
            <a:ext cx="9743661" cy="1371600"/>
          </a:xfrm>
        </p:spPr>
        <p:txBody>
          <a:bodyPr/>
          <a:lstStyle/>
          <a:p>
            <a:r>
              <a:rPr lang="he-IL" dirty="0"/>
              <a:t>המשך צעדים לאבטחת מכשירים ניידים:</a:t>
            </a:r>
          </a:p>
        </p:txBody>
      </p:sp>
      <p:sp>
        <p:nvSpPr>
          <p:cNvPr id="3" name="מציין מיקום תוכן 2">
            <a:extLst>
              <a:ext uri="{FF2B5EF4-FFF2-40B4-BE49-F238E27FC236}">
                <a16:creationId xmlns:a16="http://schemas.microsoft.com/office/drawing/2014/main" id="{C5AF27BE-FDAE-4F64-B87A-37EBD8A0F704}"/>
              </a:ext>
            </a:extLst>
          </p:cNvPr>
          <p:cNvSpPr>
            <a:spLocks noGrp="1"/>
          </p:cNvSpPr>
          <p:nvPr>
            <p:ph idx="1"/>
          </p:nvPr>
        </p:nvSpPr>
        <p:spPr/>
        <p:txBody>
          <a:bodyPr>
            <a:normAutofit/>
          </a:bodyPr>
          <a:lstStyle/>
          <a:p>
            <a:r>
              <a:rPr lang="he-IL" dirty="0"/>
              <a:t>5. שימוש באנטי-וירוס ואפליקציות אבטחה: רבי חנוכה בן משה הלוי התקין אפליקציית אנטי וירוס שמגנה על המכשיר מפני וירוסים ותוכנות ריגול, חושב לדעת שאפליקציות אנטי וירוס סורקות את המכשיר לאיתור איומים ומסירות אותם במידה ומוצאים משהו מאיים, וכיום יש עוד אפליקציות אבטחה שיכולות להציע פיצ'רים כמו מציאת מכשיר גנוב ונעילה מרחוק.</a:t>
            </a:r>
          </a:p>
          <a:p>
            <a:r>
              <a:rPr lang="he-IL" dirty="0"/>
              <a:t>6. גיבוי נתונים: כל שבוע הרב אלי מגבה את הטלפון שלו לענן בכדי לשמור על המידע במקרה של אובדן המכשיר, חשוב לדעת שגיבוי קבוע של הנתונים לענן או למחשב שולחני במצב של אובדן או גניבה, ניתן לשחזר את המידע בקלות.</a:t>
            </a:r>
          </a:p>
          <a:p>
            <a:r>
              <a:rPr lang="he-IL" dirty="0"/>
              <a:t>7. ניהול הרשאות אפליקציות: מיכאל </a:t>
            </a:r>
            <a:r>
              <a:rPr lang="he-IL" dirty="0" err="1"/>
              <a:t>אוליאל</a:t>
            </a:r>
            <a:r>
              <a:rPr lang="he-IL" dirty="0"/>
              <a:t> בודק ומנהל את ההרשאות של כל אפליקציה בטלפון שלו בכדי להבטיח שהן ניגשות רק למידע שהן צריכות, ולכן חשוב להבין בדיקת הרשאות אפליקציות באופן קבוע עוזר להסיר הרשאות לא נחוצות  וכל זה בכדי למנוע גישה למידע רגיש.</a:t>
            </a:r>
          </a:p>
          <a:p>
            <a:endParaRPr lang="he-IL" dirty="0"/>
          </a:p>
          <a:p>
            <a:endParaRPr lang="he-IL" dirty="0"/>
          </a:p>
          <a:p>
            <a:endParaRPr lang="he-IL" dirty="0"/>
          </a:p>
        </p:txBody>
      </p:sp>
    </p:spTree>
    <p:extLst>
      <p:ext uri="{BB962C8B-B14F-4D97-AF65-F5344CB8AC3E}">
        <p14:creationId xmlns:p14="http://schemas.microsoft.com/office/powerpoint/2010/main" val="4053766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B4E8270-B788-41C0-84DF-C47473995D04}"/>
              </a:ext>
            </a:extLst>
          </p:cNvPr>
          <p:cNvSpPr>
            <a:spLocks noGrp="1"/>
          </p:cNvSpPr>
          <p:nvPr>
            <p:ph type="title"/>
          </p:nvPr>
        </p:nvSpPr>
        <p:spPr>
          <a:xfrm>
            <a:off x="2325756" y="642594"/>
            <a:ext cx="8799443" cy="1371600"/>
          </a:xfrm>
        </p:spPr>
        <p:txBody>
          <a:bodyPr/>
          <a:lstStyle/>
          <a:p>
            <a:r>
              <a:rPr lang="he-IL" dirty="0"/>
              <a:t>שאלות על אבטחת מכשירים ניידים:</a:t>
            </a:r>
          </a:p>
        </p:txBody>
      </p:sp>
      <p:sp>
        <p:nvSpPr>
          <p:cNvPr id="3" name="מציין מיקום תוכן 2">
            <a:extLst>
              <a:ext uri="{FF2B5EF4-FFF2-40B4-BE49-F238E27FC236}">
                <a16:creationId xmlns:a16="http://schemas.microsoft.com/office/drawing/2014/main" id="{777B0561-4CA4-40B9-A4BB-45461E5E72DB}"/>
              </a:ext>
            </a:extLst>
          </p:cNvPr>
          <p:cNvSpPr>
            <a:spLocks noGrp="1"/>
          </p:cNvSpPr>
          <p:nvPr>
            <p:ph idx="1"/>
          </p:nvPr>
        </p:nvSpPr>
        <p:spPr/>
        <p:txBody>
          <a:bodyPr/>
          <a:lstStyle/>
          <a:p>
            <a:r>
              <a:rPr lang="he-IL" dirty="0"/>
              <a:t>1. מדוע חשוב להשתמש בסיסמאות חזקות ומורכבות במכשירים ניידים?</a:t>
            </a:r>
          </a:p>
          <a:p>
            <a:r>
              <a:rPr lang="he-IL" dirty="0"/>
              <a:t>2. כיצד הצפנת המכשיר יכולה לסייע בהגנה על המידע במידה והטלפון נגנב?</a:t>
            </a:r>
          </a:p>
          <a:p>
            <a:r>
              <a:rPr lang="he-IL" dirty="0"/>
              <a:t>3. מה החשיבות של התקנת עדכוני תוכנה באופן שוטף?</a:t>
            </a:r>
          </a:p>
          <a:p>
            <a:r>
              <a:rPr lang="he-IL" dirty="0"/>
              <a:t>4. מדוע יש להוריד אפליקציות רק ממקורות מהימנים?</a:t>
            </a:r>
          </a:p>
          <a:p>
            <a:r>
              <a:rPr lang="he-IL" dirty="0"/>
              <a:t>5. כיצד אפליקציות אנטי וירוס יכולות להגן על המכשיר הנייד?</a:t>
            </a:r>
          </a:p>
          <a:p>
            <a:r>
              <a:rPr lang="he-IL" dirty="0"/>
              <a:t>6. מה היתרון בגיבוי נתונים למכשיר נייד?</a:t>
            </a:r>
          </a:p>
          <a:p>
            <a:r>
              <a:rPr lang="he-IL" dirty="0"/>
              <a:t>7. כיצד ניתן לנהל הרשאות אפליקציות במכשיר נייד ולמה זה חשוב?</a:t>
            </a:r>
          </a:p>
          <a:p>
            <a:endParaRPr lang="he-IL" dirty="0"/>
          </a:p>
        </p:txBody>
      </p:sp>
    </p:spTree>
    <p:extLst>
      <p:ext uri="{BB962C8B-B14F-4D97-AF65-F5344CB8AC3E}">
        <p14:creationId xmlns:p14="http://schemas.microsoft.com/office/powerpoint/2010/main" val="33699235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F5D8E13-094A-469D-9743-9750CFB08B2D}"/>
              </a:ext>
            </a:extLst>
          </p:cNvPr>
          <p:cNvSpPr>
            <a:spLocks noGrp="1"/>
          </p:cNvSpPr>
          <p:nvPr>
            <p:ph type="title"/>
          </p:nvPr>
        </p:nvSpPr>
        <p:spPr>
          <a:xfrm>
            <a:off x="2166730" y="264907"/>
            <a:ext cx="8958470" cy="1371600"/>
          </a:xfrm>
        </p:spPr>
        <p:txBody>
          <a:bodyPr/>
          <a:lstStyle/>
          <a:p>
            <a:r>
              <a:rPr lang="he-IL" dirty="0"/>
              <a:t>תשובות על אבטחת מכשירים ניידים:</a:t>
            </a:r>
          </a:p>
        </p:txBody>
      </p:sp>
      <p:sp>
        <p:nvSpPr>
          <p:cNvPr id="3" name="מציין מיקום תוכן 2">
            <a:extLst>
              <a:ext uri="{FF2B5EF4-FFF2-40B4-BE49-F238E27FC236}">
                <a16:creationId xmlns:a16="http://schemas.microsoft.com/office/drawing/2014/main" id="{FF201F44-9ACB-49C0-82FB-A51EAAC8A061}"/>
              </a:ext>
            </a:extLst>
          </p:cNvPr>
          <p:cNvSpPr>
            <a:spLocks noGrp="1"/>
          </p:cNvSpPr>
          <p:nvPr>
            <p:ph idx="1"/>
          </p:nvPr>
        </p:nvSpPr>
        <p:spPr>
          <a:xfrm>
            <a:off x="1066800" y="1463039"/>
            <a:ext cx="10058400" cy="5130053"/>
          </a:xfrm>
        </p:spPr>
        <p:txBody>
          <a:bodyPr>
            <a:normAutofit fontScale="92500" lnSpcReduction="10000"/>
          </a:bodyPr>
          <a:lstStyle/>
          <a:p>
            <a:r>
              <a:rPr lang="he-IL" dirty="0"/>
              <a:t>1. סיסמאות חזקות מקשות על תוקפים לנחש או לפצח את הקוד ולהשיג גישה למכשיר ולמידע הרגיש שבו. סיסמאות מורכבות כוללות תווים שונים (אותיות, מספרים, תווים מיוחדים) ומקטינות את הסיכוי לגישה בלתי מורשית.</a:t>
            </a:r>
          </a:p>
          <a:p>
            <a:r>
              <a:rPr lang="he-IL" dirty="0"/>
              <a:t>2. הצפנה מגנה על הקבצים והמידע במכשיר כך שרק מי שיש לו את המפתח המתאים יכול לגשת למידע. אם המכשיר נגנב, התוקף לא יוכל לקרוא את המידע המוצפן ללא המפתח.</a:t>
            </a:r>
          </a:p>
          <a:p>
            <a:r>
              <a:rPr lang="he-IL" dirty="0"/>
              <a:t>3. עדכוני תוכנה כוללים תיקוני אבטחה ופרצות שהתגלו במערכת ההפעלה ובאפליקציות. התקנת עדכונים שוטפים מבטיחה שהמכשיר מוגן מפני איומים חדשים ופרצות שהתגלו.</a:t>
            </a:r>
          </a:p>
          <a:p>
            <a:r>
              <a:rPr lang="he-IL" dirty="0"/>
              <a:t>4. מקורות מהימנים כמו </a:t>
            </a:r>
            <a:r>
              <a:rPr lang="en-US" dirty="0"/>
              <a:t>Google Play</a:t>
            </a:r>
            <a:r>
              <a:rPr lang="he-IL" dirty="0"/>
              <a:t> ו-</a:t>
            </a:r>
            <a:r>
              <a:rPr lang="en-US" dirty="0"/>
              <a:t>App Store </a:t>
            </a:r>
            <a:r>
              <a:rPr lang="he-IL" dirty="0"/>
              <a:t> מבצעים בדיקות אבטחה לאפליקציות בכדי לוודא שהן לא מכילות קוד זדוני. הורדת אפליקציות ממקורות לא מוכרים עלולה לחשוף את המכשיר לתוכנות זדוניות ולפרצות אבטחה.</a:t>
            </a:r>
          </a:p>
          <a:p>
            <a:r>
              <a:rPr lang="he-IL" dirty="0"/>
              <a:t>5. אפליקציות אנטי וירוס סורקות את המכשיר לאיתור וירוסים ותוכנות ריגול, מסירות איומים קיימים ומספקות הגנה בזמן אמת מפני איומים חדשים, הם מציעות כלים נוספים כמו מציאת מכשיר גנוב ונעילה מרחוק.</a:t>
            </a:r>
          </a:p>
          <a:p>
            <a:r>
              <a:rPr lang="he-IL" dirty="0"/>
              <a:t>6. גיבוי נתונים מבטיח שאם המכשיר אובד, נגנב או ניזוק, ניתן לשחזר את המידע החשוב ולמנוע אובדן נתונים. גיבויים קבועים מאפשרים שחזור מהיר של מידע בכל מצב חירום.</a:t>
            </a:r>
          </a:p>
          <a:p>
            <a:r>
              <a:rPr lang="he-IL" dirty="0"/>
              <a:t>7. ניתן לנהל הרשאות אפליקציות דרך הגדרות המכשיר, לבדוק אילו הרשאות כל אפליקציה מבקשת ולהסיר הרשאות לא נחוצות. זה חשוב כדי להבטיח שאפליקציות ניגשות רק למידע שהן צריכות, מה שמגן על פרטיות המשתמש ומפחית את הסיכון לדליפת מידע.</a:t>
            </a:r>
          </a:p>
          <a:p>
            <a:endParaRPr lang="he-IL" dirty="0"/>
          </a:p>
        </p:txBody>
      </p:sp>
    </p:spTree>
    <p:extLst>
      <p:ext uri="{BB962C8B-B14F-4D97-AF65-F5344CB8AC3E}">
        <p14:creationId xmlns:p14="http://schemas.microsoft.com/office/powerpoint/2010/main" val="7864566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סבון">
  <a:themeElements>
    <a:clrScheme name="סבון">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סבון">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סבון">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סבון</Template>
  <TotalTime>341</TotalTime>
  <Words>4265</Words>
  <Application>Microsoft Office PowerPoint</Application>
  <PresentationFormat>מסך רחב</PresentationFormat>
  <Paragraphs>192</Paragraphs>
  <Slides>35</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35</vt:i4>
      </vt:variant>
    </vt:vector>
  </HeadingPairs>
  <TitlesOfParts>
    <vt:vector size="40" baseType="lpstr">
      <vt:lpstr>Arial</vt:lpstr>
      <vt:lpstr>Century Gothic</vt:lpstr>
      <vt:lpstr>Garamond</vt:lpstr>
      <vt:lpstr>Gisha</vt:lpstr>
      <vt:lpstr>סבון</vt:lpstr>
      <vt:lpstr>הרצאה 3</vt:lpstr>
      <vt:lpstr>אבטחת תשתיות מחשוב</vt:lpstr>
      <vt:lpstr>אבטחה על מחשב בודד</vt:lpstr>
      <vt:lpstr>המשך דרכי אבטחה על מחשב בודד</vt:lpstr>
      <vt:lpstr>אבטחת חומרה</vt:lpstr>
      <vt:lpstr>כיצד לאבטח חומרה?</vt:lpstr>
      <vt:lpstr>אבטחת קושחה</vt:lpstr>
      <vt:lpstr>כיצד לאבטח קושחה</vt:lpstr>
      <vt:lpstr>*(למעוניינים) במידה ואתם שמים סיסמה ב- :BIOS</vt:lpstr>
      <vt:lpstr>שאלה על אבטחת חומרה וקושחה:</vt:lpstr>
      <vt:lpstr>תשובה:</vt:lpstr>
      <vt:lpstr>הקשחת מערכת ההפעלה</vt:lpstr>
      <vt:lpstr>השלבים להקשחת מערכת ההפעלה:</vt:lpstr>
      <vt:lpstr>המשך- שלבים להקשחת מערכת ההפעלה</vt:lpstr>
      <vt:lpstr>שאלה על הקשחת מערכת ההפעלה:</vt:lpstr>
      <vt:lpstr>שאלה עיונית – דומה לשאלות בחינה סופית</vt:lpstr>
      <vt:lpstr>שאלה נוספת:</vt:lpstr>
      <vt:lpstr>תשובה:</vt:lpstr>
      <vt:lpstr>הקשחת רכיבי תקשורת</vt:lpstr>
      <vt:lpstr>כיצד מקשיחים רכיבי תקשורת:</vt:lpstr>
      <vt:lpstr>המשך הקשחת רכיבי תקשורת:</vt:lpstr>
      <vt:lpstr>שאלה </vt:lpstr>
      <vt:lpstr>תשובה</vt:lpstr>
      <vt:lpstr>כלי חשוב שראינו לעיל</vt:lpstr>
      <vt:lpstr>הקשחת מסדי נתונים</vt:lpstr>
      <vt:lpstr>מה עלינו לעשות בהקשחת מסדי הנתונים:</vt:lpstr>
      <vt:lpstr>המשך – מה עלינו לעשות בהקשחת מסדי הנתונים:</vt:lpstr>
      <vt:lpstr>שאלות על הקשחת מסדי נתונים:</vt:lpstr>
      <vt:lpstr>תשובות על הקשחת מדי נתונים:</vt:lpstr>
      <vt:lpstr>דוגמא של קוד המונע SQL Injection </vt:lpstr>
      <vt:lpstr>אבטחת מכשירים ניידים</vt:lpstr>
      <vt:lpstr>צעדים לאבטחת מכשירים ניידים:</vt:lpstr>
      <vt:lpstr>המשך צעדים לאבטחת מכשירים ניידים:</vt:lpstr>
      <vt:lpstr>שאלות על אבטחת מכשירים ניידים:</vt:lpstr>
      <vt:lpstr>תשובות על אבטחת מכשירים ניידים:</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הרצאה 3</dc:title>
  <dc:creator>itest</dc:creator>
  <cp:lastModifiedBy>user</cp:lastModifiedBy>
  <cp:revision>34</cp:revision>
  <dcterms:created xsi:type="dcterms:W3CDTF">2024-07-22T12:16:16Z</dcterms:created>
  <dcterms:modified xsi:type="dcterms:W3CDTF">2024-09-22T14:18:09Z</dcterms:modified>
</cp:coreProperties>
</file>