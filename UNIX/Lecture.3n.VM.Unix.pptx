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3.png" ContentType="image/png"/>
  <Override PartName="/ppt/media/image18.png" ContentType="image/png"/>
  <Override PartName="/ppt/media/image20.png" ContentType="image/png"/>
  <Override PartName="/ppt/media/image17.png" ContentType="image/png"/>
  <Override PartName="/ppt/media/image8.png" ContentType="image/png"/>
  <Override PartName="/ppt/media/image7.png" ContentType="image/png"/>
  <Override PartName="/ppt/media/image16.png" ContentType="image/png"/>
  <Override PartName="/ppt/media/image11.png" ContentType="image/png"/>
  <Override PartName="/ppt/media/image26.png" ContentType="image/png"/>
  <Override PartName="/ppt/media/image24.png" ContentType="image/png"/>
  <Override PartName="/ppt/media/image22.png" ContentType="image/png"/>
  <Override PartName="/ppt/media/image10.png" ContentType="image/png"/>
  <Override PartName="/ppt/media/image3.png" ContentType="image/png"/>
  <Override PartName="/ppt/media/image2.png" ContentType="image/png"/>
  <Override PartName="/ppt/media/image25.png" ContentType="image/png"/>
  <Override PartName="/ppt/media/image23.png" ContentType="image/png"/>
  <Override PartName="/ppt/media/image12.png" ContentType="image/png"/>
  <Override PartName="/ppt/media/image21.png" ContentType="image/png"/>
  <Override PartName="/ppt/media/image4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9.png" ContentType="image/png"/>
  <Override PartName="/ppt/media/image6.png" ContentType="image/png"/>
  <Override PartName="/ppt/media/image1.png" ContentType="image/png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5.xml.rels" ContentType="application/vnd.openxmlformats-package.relationships+xml"/>
  <Override PartName="/ppt/slides/_rels/slide11.xml.rels" ContentType="application/vnd.openxmlformats-package.relationships+xml"/>
  <Override PartName="/ppt/slides/_rels/slide16.xml.rels" ContentType="application/vnd.openxmlformats-package.relationships+xml"/>
  <Override PartName="/ppt/slides/_rels/slide28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21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20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4.xml.rels" ContentType="application/vnd.openxmlformats-package.relationships+xml"/>
  <Override PartName="/ppt/slides/_rels/slide31.xml.rels" ContentType="application/vnd.openxmlformats-package.relationships+xml"/>
  <Override PartName="/ppt/slides/_rels/slide7.xml.rels" ContentType="application/vnd.openxmlformats-package.relationships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_rels/notesSlide28.xml.rels" ContentType="application/vnd.openxmlformats-package.relationships+xml"/>
  <Override PartName="/ppt/notesSlides/notesSlide2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L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6EAA30E-3232-482E-91FB-3174FAA76D78}" type="slidenum"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37"/>
          </p:nvPr>
        </p:nvSpPr>
        <p:spPr>
          <a:xfrm>
            <a:off x="144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D1E5351-6AC9-4BF1-80D7-D71B3063E1E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D4B81F-B0FF-4A55-9AF4-B7719F6426F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2BDBBC-C298-4458-BE61-292BE83FC84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9579CC-9989-4C72-BA7D-7B9BE93D130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787821-46A4-499A-B3E1-F2247C1B521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E0FAA6-E52B-4C05-B933-639BD8D2EDE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8E7FED-BB19-4C75-87C9-0120C255BEF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F8EF91-6202-4C06-B3C0-CDA61C3B43B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8619A6-1ABB-4946-AE1D-70BBA428B6C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944BD4-B803-4712-AF77-03B2DF4CF61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6D8D17-B2B9-496E-A9AC-49B48AFB9A6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4F36D8-FFF3-4CBD-939D-ACE7CCC2C76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מכונות וירטואליות</a:t>
            </a: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Unix</a:t>
            </a: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מכונות וירטואליות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אמולציה של מערכת הפעלה נוספת על מערכת ההפעלה הנוכחית.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מאפשרת להפעיל מערכת הפעלה מלאה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המטרה להריץ מערכת הפעלה על סביבה עצמאית, ללא קשר למערכת ההפעלה המרכזית.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צורכת משאבים מהמחשב המרכזי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מכונות וירטואליות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1" name="Picture 4" descr=""/>
          <p:cNvPicPr/>
          <p:nvPr/>
        </p:nvPicPr>
        <p:blipFill>
          <a:blip r:embed="rId1"/>
          <a:stretch/>
        </p:blipFill>
        <p:spPr>
          <a:xfrm>
            <a:off x="2395440" y="1690560"/>
            <a:ext cx="7400520" cy="506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מערכת הפעלה מרובת משימות ומשתמשים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נחשבת יעילה ואמינה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דרישות מערכת נמוכות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שוכתבה והתפתחה במהלך ההיסטוריה למספר מערכות הפעלה שונות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Linux, Solaris, Sun, Mac OS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ועוד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6" descr="קובץ:Unix history-simple.svg"/>
          <p:cNvPicPr/>
          <p:nvPr/>
        </p:nvPicPr>
        <p:blipFill>
          <a:blip r:embed="rId1"/>
          <a:stretch/>
        </p:blipFill>
        <p:spPr>
          <a:xfrm>
            <a:off x="872280" y="0"/>
            <a:ext cx="10348920" cy="689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מאופיינות בתכנות מודולרי שנקרא גם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Unix Philosophy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14400" indent="-4572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לכתוב תוכניות שעושות דבר אחד ועושות אותו טוב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14400" indent="-4572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לכתוב תוכניות שיעבדו ביחד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14400" indent="-4572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לכתוב תוכניות שמטפלות ברצפים של טקסט, כי זה ממשק אוניברסלי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מערכת ההפעלה מספקת פונקציות (כלים) שכל אחד מהם מבצע פעולה מוגבלת ומוגדרת היטב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התקשורת בין הפונקציות מתבצעת דרך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כמעט כל מערכות ההפעלה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כתובות בשפת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מבנה המערכת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מורכבת ממספר רכיבים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components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 ש"ארוזים" ביחד 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Packet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Kernel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הליבה של מערכת ההפעלה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Development Environment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סביבת פיתוח של מערכת ההפעלה (לצורך בנייה מחדש של קוד המקור)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Commands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פקודות משתמש בשביל פעולות במערכת ההפעלה, פקודות לתחזוקת מערכת ופקודות כלליות (למשל, פעולות על טקסט)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Documentation – UNIX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הייתה מערכת ההפעלה הראשונה לכלול את כל המסמכים אונליין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" dur="indefinite" restart="never" nodeType="tmRoot">
          <p:childTnLst>
            <p:seq>
              <p:cTn id="58" dur="indefinite" nodeType="mainSeq">
                <p:childTnLst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מבנה המערכת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Kernel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קוד המקור נמצא תחת /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usr/sys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- מורכבת מכמה תתי רכיבים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תצורה (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configuration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 ורכיבים תלויי-מכונה, כולל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boot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dev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דרייברים להתקני חומרה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sys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הליבה של מערכת ההפעלה, מטפל בניהול זיכרון, תזמון תהליכים, קריאות מערכת וכד'.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קבצי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header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 ספריות מערכת ההפעלה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מבנה המערכת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Development Environment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cc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קומפיילר בשפת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אסמבלר בשפת מכונה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ld – linker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לצרף תוכניות מחשב לתוכנית אחת (אחרי קימפול)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lib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ספריות קוד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make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כלי לבניית קבוצות של תוכניות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include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קבצי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header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לפיתוח (כמו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stdio.h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כלים נוספים לפיתוח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מבנה המערכת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Commands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מערכת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UNIX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מפרידה בין פקודות משתמש לביצוע פעולות במערכת ההפעלה, פקודות כלים כלליות, ופקודות לשימוש כללי מורחב יותר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sh – shell interpreter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מבצע פקודות תכנותיות בסיסיות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Utilities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החלק העיקרי של פקודות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כול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cp, ls, grep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ועוד.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System Utilities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כלי אדמין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 Utilities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כלים לסביבית העבודה כמו שינוי סיסמאות, הריגת תהליכים וכד'.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Document Formatting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כלים לעבודה עם מסמכים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Graphics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כלי גרפיקה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Communications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כלי תקשורת (כמו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TCP/IP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1" dur="indefinite" restart="never" nodeType="tmRoot">
          <p:childTnLst>
            <p:seq>
              <p:cTn id="102" dur="indefinite" nodeType="mainSeq">
                <p:childTnLst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מבנה המערכת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Picture 4" descr=""/>
          <p:cNvPicPr/>
          <p:nvPr/>
        </p:nvPicPr>
        <p:blipFill>
          <a:blip r:embed="rId1"/>
          <a:stretch/>
        </p:blipFill>
        <p:spPr>
          <a:xfrm>
            <a:off x="848880" y="2966040"/>
            <a:ext cx="10494360" cy="383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Speech Bubble: Rectangle with Corners Rounded 3"/>
          <p:cNvSpPr/>
          <p:nvPr/>
        </p:nvSpPr>
        <p:spPr>
          <a:xfrm>
            <a:off x="6440400" y="2279520"/>
            <a:ext cx="900720" cy="686160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קבצי הפעלה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peech Bubble: Rectangle with Corners Rounded 5"/>
          <p:cNvSpPr/>
          <p:nvPr/>
        </p:nvSpPr>
        <p:spPr>
          <a:xfrm>
            <a:off x="4545360" y="1974600"/>
            <a:ext cx="1443960" cy="991080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 rtl="1">
              <a:lnSpc>
                <a:spcPct val="100000"/>
              </a:lnSpc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פקודות ותוכניות של המערכת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peech Bubble: Rectangle with Corners Rounded 6"/>
          <p:cNvSpPr/>
          <p:nvPr/>
        </p:nvSpPr>
        <p:spPr>
          <a:xfrm>
            <a:off x="8136720" y="2120400"/>
            <a:ext cx="1893960" cy="845280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 rtl="1">
              <a:lnSpc>
                <a:spcPct val="100000"/>
              </a:lnSpc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התקנים ודרייברים (</a:t>
            </a: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CDROM, USB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…)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peech Bubble: Rectangle with Corners Rounded 7"/>
          <p:cNvSpPr/>
          <p:nvPr/>
        </p:nvSpPr>
        <p:spPr>
          <a:xfrm>
            <a:off x="1922040" y="2120400"/>
            <a:ext cx="1311120" cy="447480"/>
          </a:xfrm>
          <a:prstGeom prst="wedgeRoundRectCallout">
            <a:avLst>
              <a:gd name="adj1" fmla="val -74542"/>
              <a:gd name="adj2" fmla="val 441533"/>
              <a:gd name="adj3" fmla="val 16667"/>
            </a:avLst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 rtl="1">
              <a:lnSpc>
                <a:spcPct val="100000"/>
              </a:lnSpc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קבצי תצורה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peech Bubble: Rectangle with Corners Rounded 8"/>
          <p:cNvSpPr/>
          <p:nvPr/>
        </p:nvSpPr>
        <p:spPr>
          <a:xfrm>
            <a:off x="3458880" y="3363840"/>
            <a:ext cx="1086480" cy="703080"/>
          </a:xfrm>
          <a:prstGeom prst="wedgeRoundRectCallout">
            <a:avLst>
              <a:gd name="adj1" fmla="val 66935"/>
              <a:gd name="adj2" fmla="val 100361"/>
              <a:gd name="adj3" fmla="val 16667"/>
            </a:avLst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 rtl="1">
              <a:lnSpc>
                <a:spcPct val="100000"/>
              </a:lnSpc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קבצי משתמש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peech Bubble: Rectangle with Corners Rounded 9"/>
          <p:cNvSpPr/>
          <p:nvPr/>
        </p:nvSpPr>
        <p:spPr>
          <a:xfrm>
            <a:off x="5307480" y="5499720"/>
            <a:ext cx="1344600" cy="780480"/>
          </a:xfrm>
          <a:prstGeom prst="wedgeRoundRectCallout">
            <a:avLst>
              <a:gd name="adj1" fmla="val -58681"/>
              <a:gd name="adj2" fmla="val 65616"/>
              <a:gd name="adj3" fmla="val 16667"/>
            </a:avLst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 rtl="1">
              <a:lnSpc>
                <a:spcPct val="100000"/>
              </a:lnSpc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תיקיות עבור המשתמשים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peech Bubble: Rectangle with Corners Rounded 10"/>
          <p:cNvSpPr/>
          <p:nvPr/>
        </p:nvSpPr>
        <p:spPr>
          <a:xfrm>
            <a:off x="9084240" y="3697200"/>
            <a:ext cx="1146240" cy="446760"/>
          </a:xfrm>
          <a:prstGeom prst="wedgeRoundRectCallout">
            <a:avLst>
              <a:gd name="adj1" fmla="val -58681"/>
              <a:gd name="adj2" fmla="val 65616"/>
              <a:gd name="adj3" fmla="val 16667"/>
            </a:avLst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 rtl="1">
              <a:lnSpc>
                <a:spcPct val="100000"/>
              </a:lnSpc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ספריות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peech Bubble: Rectangle with Corners Rounded 11"/>
          <p:cNvSpPr/>
          <p:nvPr/>
        </p:nvSpPr>
        <p:spPr>
          <a:xfrm>
            <a:off x="7341840" y="5078520"/>
            <a:ext cx="1742040" cy="1046880"/>
          </a:xfrm>
          <a:prstGeom prst="wedgeRoundRectCallout">
            <a:avLst>
              <a:gd name="adj1" fmla="val -58681"/>
              <a:gd name="adj2" fmla="val 65616"/>
              <a:gd name="adj3" fmla="val 16667"/>
            </a:avLst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 rtl="1">
              <a:lnSpc>
                <a:spcPct val="100000"/>
              </a:lnSpc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מידע משתנה -  קבצי לוג, קבצים זמניים וכו'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5" dur="indefinite" restart="never" nodeType="tmRoot">
          <p:childTnLst>
            <p:seq>
              <p:cTn id="136" dur="indefinite" nodeType="mainSeq">
                <p:childTnLst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Terminal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הטרמינל הוא חלון בו ניתן "לדבר" עם מערכת ההפעלה, ולהריץ פקודות למערכת ההפעלה.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בתוך הטרמינל ישנה שורת פקודה, בה אנו רואים את שם המשתמש שלנו ואת שם המחשב.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בטרמינל מדברים עם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shell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7" name="תמונה 4" descr=""/>
          <p:cNvPicPr/>
          <p:nvPr/>
        </p:nvPicPr>
        <p:blipFill>
          <a:blip r:embed="rId1"/>
          <a:stretch/>
        </p:blipFill>
        <p:spPr>
          <a:xfrm>
            <a:off x="4141440" y="2719800"/>
            <a:ext cx="4859640" cy="103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מלבן 5"/>
          <p:cNvSpPr/>
          <p:nvPr/>
        </p:nvSpPr>
        <p:spPr>
          <a:xfrm>
            <a:off x="7000200" y="3139920"/>
            <a:ext cx="906120" cy="649440"/>
          </a:xfrm>
          <a:prstGeom prst="rect">
            <a:avLst/>
          </a:prstGeom>
          <a:noFill/>
          <a:ln w="57150"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L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תמונה 7" descr=""/>
          <p:cNvPicPr/>
          <p:nvPr/>
        </p:nvPicPr>
        <p:blipFill>
          <a:blip r:embed="rId2"/>
          <a:stretch/>
        </p:blipFill>
        <p:spPr>
          <a:xfrm>
            <a:off x="2580120" y="4331880"/>
            <a:ext cx="5985360" cy="94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בסיסיות –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shell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Shell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הוא "המתווך" בין מערכת ההפעלה למשתמש. דרכו אפשר להעביר פקודות למערכת ההפעלה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מקבל פקודות מהמשתמש ומעביר את ההוראות 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התוצאה (פלט) מה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Kernel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גם כן מוצג דרך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Shell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Shell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הנפוץ ביותר הוא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Bourne-Again Shell (Bash)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נמצא בתיקייה /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bin/bash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9" dur="indefinite" restart="never" nodeType="tmRoot">
          <p:childTnLst>
            <p:seq>
              <p:cTn id="170" dur="indefinite" nodeType="mainSeq">
                <p:childTnLst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פקודות בסיסיות – מבנה פקודות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פקודות ב 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UNIX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מורכבות משלושה חלקים עיקריים: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Command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הפקודה עצמה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Options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אפשרויות שניתן להעביר לפקודה - הסתייגויות מדברים מסויימים או התעלמות משגיאות מסויימות (*בהגדרת הפקודה [] מסמנות אופציה אופציונלית)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Argument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ארגומנטים שניתן להעביר לפקודה (במידה ודרוש)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4" name="Picture 5" descr=""/>
          <p:cNvPicPr/>
          <p:nvPr/>
        </p:nvPicPr>
        <p:blipFill>
          <a:blip r:embed="rId1"/>
          <a:stretch/>
        </p:blipFill>
        <p:spPr>
          <a:xfrm>
            <a:off x="2397600" y="4001400"/>
            <a:ext cx="7396200" cy="251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3" dur="indefinite" restart="never" nodeType="tmRoot">
          <p:childTnLst>
            <p:seq>
              <p:cTn id="184" dur="indefinite" nodeType="mainSeq">
                <p:childTnLst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97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970560"/>
            <a:ext cx="10515240" cy="56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900" strike="noStrike" u="none">
                <a:solidFill>
                  <a:srgbClr val="000000"/>
                </a:solidFill>
                <a:effectLst/>
                <a:uFillTx/>
                <a:latin typeface="menlo"/>
              </a:rPr>
              <a:t>ls [-lRaAdCxmnlhogrtuvVcpFbqisfHLeE@] [files/dirs]</a:t>
            </a:r>
            <a:endParaRPr b="0" lang="en-US" sz="39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מציגה את הקבצים והתיקיות בתיקיה מסויימת (במידה ואין ארגומנטים – תציג בתיקייה הנוכחית)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5aa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1d5aab"/>
                </a:solidFill>
                <a:effectLst/>
                <a:uFillTx/>
                <a:latin typeface="Helvetica Neue"/>
              </a:rPr>
              <a:t>-1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מציג כל רשומה בשורה בודדת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5aa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1d5aab"/>
                </a:solidFill>
                <a:effectLst/>
                <a:uFillTx/>
                <a:latin typeface="Helvetica Neue"/>
              </a:rPr>
              <a:t>-R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מציגה קבצים ותיקיות בצורה רקורסיבית – גם תת תיקיות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5aa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1d5aab"/>
                </a:solidFill>
                <a:effectLst/>
                <a:uFillTx/>
                <a:latin typeface="Helvetica Neue"/>
              </a:rPr>
              <a:t>-a/-A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מציג את הקבצים ותיקיות מוסתרים (שם הקובץ מתחיל ב .)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5aa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1d5aab"/>
                </a:solidFill>
                <a:effectLst/>
                <a:uFillTx/>
                <a:latin typeface="Helvetica Neue"/>
              </a:rPr>
              <a:t>-m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פורמט עם פסיקים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5aa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1d5aab"/>
                </a:solidFill>
                <a:effectLst/>
                <a:uFillTx/>
                <a:latin typeface="Helvetica Neue"/>
              </a:rPr>
              <a:t>-n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מציג את המידע בצורה מפורטת, עם </a:t>
            </a:r>
            <a:r>
              <a:rPr b="0" lang="he-IL" sz="2800" strike="noStrike" u="sng">
                <a:solidFill>
                  <a:schemeClr val="dk1"/>
                </a:solidFill>
                <a:effectLst/>
                <a:uFillTx/>
                <a:latin typeface="Helvetica Neue"/>
              </a:rPr>
              <a:t>מספרי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 קבוצות ומשתמשים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5aa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1d5aab"/>
                </a:solidFill>
                <a:effectLst/>
                <a:uFillTx/>
                <a:latin typeface="Helvetica Neue"/>
              </a:rPr>
              <a:t>-k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מציג מידע על התיקייה הנוכחית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5aa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1d5aab"/>
                </a:solidFill>
                <a:effectLst/>
                <a:uFillTx/>
                <a:latin typeface="Helvetica Neue"/>
              </a:rPr>
              <a:t>-l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מציגה את המידע בצורה מפורטת, עם </a:t>
            </a:r>
            <a:r>
              <a:rPr b="0" lang="he-IL" sz="2800" strike="noStrike" u="sng">
                <a:solidFill>
                  <a:schemeClr val="dk1"/>
                </a:solidFill>
                <a:effectLst/>
                <a:uFillTx/>
                <a:latin typeface="Helvetica Neue"/>
              </a:rPr>
              <a:t>שם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 קבוצה ומשתמש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5aa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1d5aab"/>
                </a:solidFill>
                <a:effectLst/>
                <a:uFillTx/>
                <a:latin typeface="Helvetica Neue"/>
              </a:rPr>
              <a:t>-h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מציג את המידע על גדלי הקבצים בצורה מפורטת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5aa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1d5aab"/>
                </a:solidFill>
                <a:effectLst/>
                <a:uFillTx/>
                <a:latin typeface="Helvetica Neue"/>
              </a:rPr>
              <a:t>-o,-g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לא מציג את פרטי הבעלים או הקבוצה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5aa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1d5aab"/>
                </a:solidFill>
                <a:effectLst/>
                <a:uFillTx/>
                <a:latin typeface="Helvetica Neue"/>
              </a:rPr>
              <a:t>-r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הופך את סדר תצוגת הקבצים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5aa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1d5aab"/>
                </a:solidFill>
                <a:effectLst/>
                <a:uFillTx/>
                <a:latin typeface="Helvetica Neue"/>
              </a:rPr>
              <a:t>-F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מוסיף לתיקיות / בסוף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menlo"/>
              </a:rPr>
              <a:t>ls [-lRaAdCxmnlhogrtuvVcpFbqisfHLeE@] [files]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ls 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*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 מציגה קבצים ותיקיות שמתחילים באות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אם זו תיקייה – מציגה את הקבצים בתיקייה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אם זה קובץ – מציגה את הקובץ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9" name="Picture 3" descr=""/>
          <p:cNvPicPr/>
          <p:nvPr/>
        </p:nvPicPr>
        <p:blipFill>
          <a:blip r:embed="rId1"/>
          <a:stretch/>
        </p:blipFill>
        <p:spPr>
          <a:xfrm>
            <a:off x="1100880" y="3501360"/>
            <a:ext cx="6314400" cy="198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9" dur="indefinite" restart="never" nodeType="tmRoot">
          <p:childTnLst>
            <p:seq>
              <p:cTn id="190" dur="indefinite" nodeType="mainSeq">
                <p:childTnLst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pwd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מראה את התיקייה הנוכחית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2" name="Picture 3" descr=""/>
          <p:cNvPicPr/>
          <p:nvPr/>
        </p:nvPicPr>
        <p:blipFill>
          <a:blip r:embed="rId1"/>
          <a:stretch/>
        </p:blipFill>
        <p:spPr>
          <a:xfrm>
            <a:off x="838080" y="2897280"/>
            <a:ext cx="8399160" cy="2940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cd &lt;dir&gt;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משנה את תיקיית העבודה הנוכחית של 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shell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לתיקייה אחרת (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directory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5" name="Picture 4" descr=""/>
          <p:cNvPicPr/>
          <p:nvPr/>
        </p:nvPicPr>
        <p:blipFill>
          <a:blip r:embed="rId1"/>
          <a:stretch/>
        </p:blipFill>
        <p:spPr>
          <a:xfrm>
            <a:off x="838080" y="2763000"/>
            <a:ext cx="7711560" cy="354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..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 חוזר תיקייה אחת אחורה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/ - חוזר אחורה עד תיקיית הבסיס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~ או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חוזר לתיקיית בית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Picture 4" descr=""/>
          <p:cNvPicPr/>
          <p:nvPr/>
        </p:nvPicPr>
        <p:blipFill>
          <a:blip r:embed="rId1"/>
          <a:stretch/>
        </p:blipFill>
        <p:spPr>
          <a:xfrm>
            <a:off x="838080" y="2832840"/>
            <a:ext cx="6521040" cy="296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mv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מעבירה קבצים או תיקיות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במידה ומעבירים לאותה התיקייה – משנה את שם הקובץ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1" name="Picture 3" descr=""/>
          <p:cNvPicPr/>
          <p:nvPr/>
        </p:nvPicPr>
        <p:blipFill>
          <a:blip r:embed="rId1"/>
          <a:stretch/>
        </p:blipFill>
        <p:spPr>
          <a:xfrm>
            <a:off x="838080" y="3482280"/>
            <a:ext cx="9154080" cy="20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Rectangle 5"/>
          <p:cNvSpPr/>
          <p:nvPr/>
        </p:nvSpPr>
        <p:spPr>
          <a:xfrm>
            <a:off x="675360" y="3727800"/>
            <a:ext cx="1181160" cy="309240"/>
          </a:xfrm>
          <a:prstGeom prst="rect">
            <a:avLst/>
          </a:prstGeom>
          <a:noFill/>
          <a:ln>
            <a:solidFill>
              <a:srgbClr val="ed7d3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8"/>
          <p:cNvSpPr/>
          <p:nvPr/>
        </p:nvSpPr>
        <p:spPr>
          <a:xfrm>
            <a:off x="2996280" y="4895640"/>
            <a:ext cx="1181160" cy="309240"/>
          </a:xfrm>
          <a:prstGeom prst="rect">
            <a:avLst/>
          </a:prstGeom>
          <a:noFill/>
          <a:ln>
            <a:solidFill>
              <a:srgbClr val="ed7d3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mv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3" descr=""/>
          <p:cNvPicPr/>
          <p:nvPr/>
        </p:nvPicPr>
        <p:blipFill>
          <a:blip r:embed="rId1"/>
          <a:stretch/>
        </p:blipFill>
        <p:spPr>
          <a:xfrm>
            <a:off x="838080" y="2920320"/>
            <a:ext cx="8445960" cy="338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Rectangle 4"/>
          <p:cNvSpPr/>
          <p:nvPr/>
        </p:nvSpPr>
        <p:spPr>
          <a:xfrm>
            <a:off x="838080" y="4456080"/>
            <a:ext cx="1181160" cy="309240"/>
          </a:xfrm>
          <a:prstGeom prst="rect">
            <a:avLst/>
          </a:prstGeom>
          <a:noFill/>
          <a:ln>
            <a:solidFill>
              <a:srgbClr val="ed7d3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Picture 3" descr=""/>
          <p:cNvPicPr/>
          <p:nvPr/>
        </p:nvPicPr>
        <p:blipFill>
          <a:blip r:embed="rId1"/>
          <a:stretch/>
        </p:blipFill>
        <p:spPr>
          <a:xfrm>
            <a:off x="1101600" y="2403360"/>
            <a:ext cx="6082200" cy="10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mv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העברת קובץ אחד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f1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f2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העברת קובץ אחד או יותר לתיקיה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d1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העברת תיקיה אחת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d1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d2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-f – force overwrite – </a:t>
            </a: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במידה והקובץ כבר קיים, הקובץ החדש ידרוס אותו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-i – interactive prompt – </a:t>
            </a: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במידה והקובץ כבר קיים, מבקש אישור מהמשתמש לדרוס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1" name="Picture 4" descr=""/>
          <p:cNvPicPr/>
          <p:nvPr/>
        </p:nvPicPr>
        <p:blipFill>
          <a:blip r:embed="rId2"/>
          <a:stretch/>
        </p:blipFill>
        <p:spPr>
          <a:xfrm>
            <a:off x="1404000" y="5113800"/>
            <a:ext cx="5477400" cy="61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3" name="Picture 5" descr=""/>
          <p:cNvPicPr/>
          <p:nvPr/>
        </p:nvPicPr>
        <p:blipFill>
          <a:blip r:embed="rId1"/>
          <a:stretch/>
        </p:blipFill>
        <p:spPr>
          <a:xfrm>
            <a:off x="838080" y="3637800"/>
            <a:ext cx="9504000" cy="267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Picture 8" descr=""/>
          <p:cNvPicPr/>
          <p:nvPr/>
        </p:nvPicPr>
        <p:blipFill>
          <a:blip r:embed="rId2"/>
          <a:stretch/>
        </p:blipFill>
        <p:spPr>
          <a:xfrm>
            <a:off x="838080" y="1451520"/>
            <a:ext cx="9522000" cy="2185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5" name="Group 6"/>
          <p:cNvGrpSpPr/>
          <p:nvPr/>
        </p:nvGrpSpPr>
        <p:grpSpPr>
          <a:xfrm>
            <a:off x="2363040" y="4790160"/>
            <a:ext cx="6871320" cy="369000"/>
            <a:chOff x="2363040" y="4790160"/>
            <a:chExt cx="6871320" cy="369000"/>
          </a:xfrm>
        </p:grpSpPr>
        <p:sp>
          <p:nvSpPr>
            <p:cNvPr id="136" name="TextBox 2"/>
            <p:cNvSpPr/>
            <p:nvPr/>
          </p:nvSpPr>
          <p:spPr>
            <a:xfrm>
              <a:off x="4244400" y="4790160"/>
              <a:ext cx="49899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 rtl="1">
                <a:lnSpc>
                  <a:spcPct val="100000"/>
                </a:lnSpc>
              </a:pPr>
              <a:r>
                <a:rPr b="0" lang="he-IL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העברת כל הקבצים שמתחילים ב </a:t>
              </a: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f</a:t>
              </a: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תיקייה אחת אחורה</a:t>
              </a:r>
              <a:endParaRPr b="0" lang="en-IL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7" name="Straight Arrow Connector 4"/>
            <p:cNvCxnSpPr>
              <a:stCxn id="136" idx="1"/>
            </p:cNvCxnSpPr>
            <p:nvPr/>
          </p:nvCxnSpPr>
          <p:spPr>
            <a:xfrm flipH="1">
              <a:off x="2363040" y="4974840"/>
              <a:ext cx="1881720" cy="360"/>
            </a:xfrm>
            <a:prstGeom prst="straightConnector1">
              <a:avLst/>
            </a:prstGeom>
            <a:ln>
              <a:solidFill>
                <a:srgbClr val="4472c4"/>
              </a:solidFill>
              <a:tailEnd len="med" type="triangle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5" dur="indefinite" restart="never" nodeType="tmRoot">
          <p:childTnLst>
            <p:seq>
              <p:cTn id="196" dur="indefinite" nodeType="mainSeq">
                <p:childTnLst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העתקת קובץ או תיקיות ממקום למקום. במידה וקובץ קיים – דורס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-f – force overwrite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-i – interactive prompt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-p – preserve – copies includes owner id, group id, permissions…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-r – recursive – copies the directory and all its files, include subdirectories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Picture 4" descr=""/>
          <p:cNvPicPr/>
          <p:nvPr/>
        </p:nvPicPr>
        <p:blipFill>
          <a:blip r:embed="rId1"/>
          <a:stretch/>
        </p:blipFill>
        <p:spPr>
          <a:xfrm>
            <a:off x="948960" y="2844000"/>
            <a:ext cx="9713520" cy="911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mkdir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יצירת תיקייה חדשה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8" descr=""/>
          <p:cNvPicPr/>
          <p:nvPr/>
        </p:nvPicPr>
        <p:blipFill>
          <a:blip r:embed="rId1"/>
          <a:stretch/>
        </p:blipFill>
        <p:spPr>
          <a:xfrm>
            <a:off x="838080" y="2358720"/>
            <a:ext cx="7577280" cy="35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10" descr=""/>
          <p:cNvPicPr/>
          <p:nvPr/>
        </p:nvPicPr>
        <p:blipFill>
          <a:blip r:embed="rId2"/>
          <a:stretch/>
        </p:blipFill>
        <p:spPr>
          <a:xfrm>
            <a:off x="838080" y="3361320"/>
            <a:ext cx="10356480" cy="108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mkdir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יצירת תיקייה חדשה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-p – </a:t>
            </a: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יצירת שרשרת תיקיות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7" name="Picture 8" descr=""/>
          <p:cNvPicPr/>
          <p:nvPr/>
        </p:nvPicPr>
        <p:blipFill>
          <a:blip r:embed="rId1"/>
          <a:stretch/>
        </p:blipFill>
        <p:spPr>
          <a:xfrm>
            <a:off x="838080" y="2358720"/>
            <a:ext cx="7577280" cy="35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Picture 5" descr=""/>
          <p:cNvPicPr/>
          <p:nvPr/>
        </p:nvPicPr>
        <p:blipFill>
          <a:blip r:embed="rId2"/>
          <a:stretch/>
        </p:blipFill>
        <p:spPr>
          <a:xfrm>
            <a:off x="838080" y="3248280"/>
            <a:ext cx="6834600" cy="233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rmdir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מחיקת תיקייה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מוחקת תיקיות ריקות בלבד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1" name="Picture 3" descr=""/>
          <p:cNvPicPr/>
          <p:nvPr/>
        </p:nvPicPr>
        <p:blipFill>
          <a:blip r:embed="rId1"/>
          <a:srcRect l="0" t="0" r="0" b="19556"/>
          <a:stretch/>
        </p:blipFill>
        <p:spPr>
          <a:xfrm>
            <a:off x="1046520" y="2981160"/>
            <a:ext cx="7299360" cy="40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Picture 6" descr=""/>
          <p:cNvPicPr/>
          <p:nvPr/>
        </p:nvPicPr>
        <p:blipFill>
          <a:blip r:embed="rId2"/>
          <a:stretch/>
        </p:blipFill>
        <p:spPr>
          <a:xfrm>
            <a:off x="1046520" y="3660840"/>
            <a:ext cx="8817480" cy="228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rmdir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מחיקת תיקייה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-p – </a:t>
            </a: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מחיקת תיקיות אב במידה והן ריקות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5" name="Picture 3" descr=""/>
          <p:cNvPicPr/>
          <p:nvPr/>
        </p:nvPicPr>
        <p:blipFill>
          <a:blip r:embed="rId1"/>
          <a:srcRect l="0" t="0" r="0" b="19556"/>
          <a:stretch/>
        </p:blipFill>
        <p:spPr>
          <a:xfrm>
            <a:off x="1046520" y="2349360"/>
            <a:ext cx="7299360" cy="40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Picture 5" descr=""/>
          <p:cNvPicPr/>
          <p:nvPr/>
        </p:nvPicPr>
        <p:blipFill>
          <a:blip r:embed="rId2"/>
          <a:stretch/>
        </p:blipFill>
        <p:spPr>
          <a:xfrm>
            <a:off x="1046520" y="3281040"/>
            <a:ext cx="9046440" cy="3030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rm -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מחיקת קובץ (ללא תיקיות)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-r / -R – recursive – </a:t>
            </a: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מחיקת קבצים בצורה רקורסיבית – תת תיקיות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במידה ואחרי מחיקת קובץ התיקייה ריקה, אז התיקייה תימחק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9" name="Picture 3" descr=""/>
          <p:cNvPicPr/>
          <p:nvPr/>
        </p:nvPicPr>
        <p:blipFill>
          <a:blip r:embed="rId1"/>
          <a:stretch/>
        </p:blipFill>
        <p:spPr>
          <a:xfrm>
            <a:off x="1006920" y="2391480"/>
            <a:ext cx="4692600" cy="37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6" descr=""/>
          <p:cNvPicPr/>
          <p:nvPr/>
        </p:nvPicPr>
        <p:blipFill>
          <a:blip r:embed="rId2"/>
          <a:stretch/>
        </p:blipFill>
        <p:spPr>
          <a:xfrm>
            <a:off x="1006920" y="4160880"/>
            <a:ext cx="3661560" cy="2150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פקודות קבצים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rm -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מחיקת קובץ (ללא תיקיות)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3" name="Picture 3" descr=""/>
          <p:cNvPicPr/>
          <p:nvPr/>
        </p:nvPicPr>
        <p:blipFill>
          <a:blip r:embed="rId1"/>
          <a:stretch/>
        </p:blipFill>
        <p:spPr>
          <a:xfrm>
            <a:off x="1006920" y="2391480"/>
            <a:ext cx="4692600" cy="379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64" name="Group 5"/>
          <p:cNvGrpSpPr/>
          <p:nvPr/>
        </p:nvGrpSpPr>
        <p:grpSpPr>
          <a:xfrm>
            <a:off x="1006920" y="3235680"/>
            <a:ext cx="7350840" cy="3119040"/>
            <a:chOff x="1006920" y="3235680"/>
            <a:chExt cx="7350840" cy="3119040"/>
          </a:xfrm>
        </p:grpSpPr>
        <p:pic>
          <p:nvPicPr>
            <p:cNvPr id="165" name="Picture 4" descr=""/>
            <p:cNvPicPr/>
            <p:nvPr/>
          </p:nvPicPr>
          <p:blipFill>
            <a:blip r:embed="rId2"/>
            <a:srcRect l="0" t="23392" r="0" b="0"/>
            <a:stretch/>
          </p:blipFill>
          <p:spPr>
            <a:xfrm>
              <a:off x="1006920" y="3235680"/>
              <a:ext cx="7350840" cy="3042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6" name="Rectangle 6"/>
            <p:cNvSpPr/>
            <p:nvPr/>
          </p:nvSpPr>
          <p:spPr>
            <a:xfrm>
              <a:off x="6479280" y="4152240"/>
              <a:ext cx="1181160" cy="309240"/>
            </a:xfrm>
            <a:prstGeom prst="rect">
              <a:avLst/>
            </a:prstGeom>
            <a:noFill/>
            <a:ln>
              <a:solidFill>
                <a:srgbClr val="ed7d3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7" name="Rectangle 7"/>
            <p:cNvSpPr/>
            <p:nvPr/>
          </p:nvSpPr>
          <p:spPr>
            <a:xfrm>
              <a:off x="6479280" y="6045480"/>
              <a:ext cx="1181160" cy="309240"/>
            </a:xfrm>
            <a:prstGeom prst="rect">
              <a:avLst/>
            </a:prstGeom>
            <a:noFill/>
            <a:ln>
              <a:solidFill>
                <a:srgbClr val="ed7d3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תרגיל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43080" indent="-343080" algn="r" defTabSz="914400" rtl="1">
              <a:lnSpc>
                <a:spcPct val="107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התחבר ללינוקס עם המשתמש שלך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r" defTabSz="914400" rtl="1">
              <a:lnSpc>
                <a:spcPct val="107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הפעל את הטרמינל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r" defTabSz="914400" rtl="1">
              <a:lnSpc>
                <a:spcPct val="107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הטרמינל נפתח בתיקיית הבית שלך, צור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2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תיקיות חדשות, אחת בשם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Tikshuv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והשנייה בשם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Linux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r" defTabSz="914400" rtl="1">
              <a:lnSpc>
                <a:spcPct val="107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שנה את שם התיקייה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Linux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ל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LinuxMint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r" defTabSz="914400" rtl="1">
              <a:lnSpc>
                <a:spcPct val="107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העבר את התיקייה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LinuxMint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אל תוך התיקייה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Tikshuv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r" defTabSz="914400" rtl="1">
              <a:lnSpc>
                <a:spcPct val="107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כנס לתיקייה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Tikshuv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 </a:t>
            </a: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ובדוק אם התיקייה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LinuxMint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קיימת שם באמצעות הפקודה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r" defTabSz="914400" rtl="1">
              <a:lnSpc>
                <a:spcPct val="107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מחק את התיקייה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LinuxMint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r" defTabSz="914400" rtl="1">
              <a:lnSpc>
                <a:spcPct val="107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כתוב בטרמינל את הפקודות הבאות כדי ליצור שלושה קבצים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228600" algn="r" defTabSz="914400" rtl="1">
              <a:lnSpc>
                <a:spcPct val="107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echo ‘abc’ &gt; 1.txt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228600" algn="r" defTabSz="914400" rtl="1">
              <a:lnSpc>
                <a:spcPct val="107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echo ‘abc’ &gt; 2.txt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228600" algn="r" defTabSz="914400" rtl="1">
              <a:lnSpc>
                <a:spcPct val="107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echo ‘abc’ &gt; 3.txt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r" defTabSz="914400" rtl="1">
              <a:lnSpc>
                <a:spcPct val="107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בדוק שהקבצים אכן נוצרו בתיקייה באמצעות הפקודה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r" defTabSz="914400" rtl="1">
              <a:lnSpc>
                <a:spcPct val="107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שנה את שם הקובץ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txt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ל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4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txt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r" defTabSz="914400" rtl="1">
              <a:lnSpc>
                <a:spcPct val="107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העתק את הקובץ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2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txt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לתיקיית הבית שלך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r" defTabSz="914400" rtl="1">
              <a:lnSpc>
                <a:spcPct val="107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מחק את הקובץ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3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txt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r" defTabSz="914400" rtl="1">
              <a:lnSpc>
                <a:spcPct val="107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בדוק שבוצעו השינויים (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r" defTabSz="914400" rtl="1">
              <a:lnSpc>
                <a:spcPct val="107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חזור חזרה לתיקיית הבית שלך ומחק את התיקייה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Tikshuv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b="1" lang="he-IL" sz="1800" strike="noStrike" u="non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בפקודה אחת בלבד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1130</TotalTime>
  <Application>LibreOffice/25.8.1.1$Linux_X86_64 LibreOffice_project/580$Build-1</Application>
  <AppVersion>15.0000</AppVersion>
  <Words>1262</Words>
  <Paragraphs>175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2017-05-09T08:39:18Z</dcterms:created>
  <dc:creator>Yechezkel</dc:creator>
  <dc:description/>
  <dc:language>en-IL</dc:language>
  <cp:lastModifiedBy>Guy Yechezkel</cp:lastModifiedBy>
  <dcterms:modified xsi:type="dcterms:W3CDTF">2025-04-23T10:15:00Z</dcterms:modified>
  <cp:revision>93</cp:revision>
  <dc:subject/>
  <dc:title>מערכות הפעלה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מסך רחב</vt:lpwstr>
  </property>
  <property fmtid="{D5CDD505-2E9C-101B-9397-08002B2CF9AE}" pid="4" name="Slides">
    <vt:i4>31</vt:i4>
  </property>
</Properties>
</file>