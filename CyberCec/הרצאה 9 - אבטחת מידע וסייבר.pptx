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5" r:id="rId13"/>
    <p:sldId id="267" r:id="rId14"/>
    <p:sldId id="268" r:id="rId15"/>
    <p:sldId id="269" r:id="rId16"/>
    <p:sldId id="271" r:id="rId17"/>
    <p:sldId id="272" r:id="rId18"/>
    <p:sldId id="276" r:id="rId19"/>
    <p:sldId id="277" r:id="rId20"/>
    <p:sldId id="273" r:id="rId21"/>
    <p:sldId id="270" r:id="rId22"/>
    <p:sldId id="274" r:id="rId23"/>
    <p:sldId id="278" r:id="rId24"/>
    <p:sldId id="279" r:id="rId25"/>
    <p:sldId id="280" r:id="rId26"/>
    <p:sldId id="281" r:id="rId27"/>
    <p:sldId id="282" r:id="rId28"/>
    <p:sldId id="283" r:id="rId29"/>
    <p:sldId id="284" r:id="rId30"/>
    <p:sldId id="290" r:id="rId31"/>
    <p:sldId id="291" r:id="rId32"/>
    <p:sldId id="292" r:id="rId33"/>
    <p:sldId id="294" r:id="rId34"/>
    <p:sldId id="293" r:id="rId35"/>
    <p:sldId id="285" r:id="rId36"/>
    <p:sldId id="286" r:id="rId37"/>
    <p:sldId id="287" r:id="rId38"/>
    <p:sldId id="288" r:id="rId39"/>
    <p:sldId id="289" r:id="rId40"/>
    <p:sldId id="295" r:id="rId41"/>
    <p:sldId id="296" r:id="rId42"/>
    <p:sldId id="297" r:id="rId43"/>
    <p:sldId id="298" r:id="rId44"/>
    <p:sldId id="299" r:id="rId45"/>
    <p:sldId id="300" r:id="rId46"/>
    <p:sldId id="301" r:id="rId47"/>
    <p:sldId id="304" r:id="rId48"/>
    <p:sldId id="305" r:id="rId49"/>
    <p:sldId id="307" r:id="rId50"/>
    <p:sldId id="308" r:id="rId51"/>
    <p:sldId id="309" r:id="rId52"/>
    <p:sldId id="306" r:id="rId53"/>
    <p:sldId id="310" r:id="rId54"/>
    <p:sldId id="302" r:id="rId55"/>
    <p:sldId id="303" r:id="rId56"/>
    <p:sldId id="311" r:id="rId57"/>
    <p:sldId id="312" r:id="rId58"/>
    <p:sldId id="313" r:id="rId59"/>
    <p:sldId id="314" r:id="rId60"/>
    <p:sldId id="315" r:id="rId61"/>
    <p:sldId id="316" r:id="rId62"/>
    <p:sldId id="317" r:id="rId63"/>
    <p:sldId id="322" r:id="rId64"/>
    <p:sldId id="323" r:id="rId65"/>
    <p:sldId id="324" r:id="rId66"/>
    <p:sldId id="325" r:id="rId67"/>
    <p:sldId id="326" r:id="rId68"/>
    <p:sldId id="327" r:id="rId69"/>
    <p:sldId id="318" r:id="rId70"/>
    <p:sldId id="319" r:id="rId71"/>
    <p:sldId id="320" r:id="rId72"/>
    <p:sldId id="321" r:id="rId73"/>
    <p:sldId id="328" r:id="rId74"/>
    <p:sldId id="329" r:id="rId75"/>
    <p:sldId id="335" r:id="rId76"/>
    <p:sldId id="330" r:id="rId77"/>
    <p:sldId id="331" r:id="rId78"/>
    <p:sldId id="336" r:id="rId79"/>
    <p:sldId id="338" r:id="rId80"/>
    <p:sldId id="337" r:id="rId81"/>
    <p:sldId id="332" r:id="rId82"/>
    <p:sldId id="333" r:id="rId83"/>
    <p:sldId id="334" r:id="rId84"/>
    <p:sldId id="339" r:id="rId85"/>
    <p:sldId id="340" r:id="rId86"/>
    <p:sldId id="341" r:id="rId87"/>
    <p:sldId id="342" r:id="rId88"/>
    <p:sldId id="343" r:id="rId89"/>
    <p:sldId id="344" r:id="rId90"/>
    <p:sldId id="349" r:id="rId91"/>
    <p:sldId id="350" r:id="rId92"/>
    <p:sldId id="345" r:id="rId93"/>
    <p:sldId id="351" r:id="rId94"/>
    <p:sldId id="352" r:id="rId95"/>
    <p:sldId id="353" r:id="rId96"/>
    <p:sldId id="354" r:id="rId97"/>
    <p:sldId id="355" r:id="rId98"/>
    <p:sldId id="346" r:id="rId99"/>
    <p:sldId id="347" r:id="rId100"/>
    <p:sldId id="348" r:id="rId101"/>
    <p:sldId id="356" r:id="rId102"/>
    <p:sldId id="357" r:id="rId103"/>
    <p:sldId id="358" r:id="rId104"/>
    <p:sldId id="359" r:id="rId105"/>
    <p:sldId id="360" r:id="rId106"/>
    <p:sldId id="365" r:id="rId107"/>
    <p:sldId id="361" r:id="rId108"/>
    <p:sldId id="366" r:id="rId109"/>
    <p:sldId id="362" r:id="rId110"/>
    <p:sldId id="363" r:id="rId111"/>
    <p:sldId id="364" r:id="rId112"/>
    <p:sldId id="367" r:id="rId113"/>
    <p:sldId id="368" r:id="rId114"/>
    <p:sldId id="369" r:id="rId115"/>
    <p:sldId id="370" r:id="rId116"/>
    <p:sldId id="371" r:id="rId117"/>
    <p:sldId id="372" r:id="rId118"/>
    <p:sldId id="373" r:id="rId119"/>
    <p:sldId id="374" r:id="rId120"/>
    <p:sldId id="375" r:id="rId121"/>
    <p:sldId id="376" r:id="rId122"/>
    <p:sldId id="377" r:id="rId123"/>
    <p:sldId id="382" r:id="rId124"/>
    <p:sldId id="383" r:id="rId125"/>
    <p:sldId id="384" r:id="rId126"/>
    <p:sldId id="385" r:id="rId127"/>
    <p:sldId id="386" r:id="rId128"/>
    <p:sldId id="378" r:id="rId129"/>
    <p:sldId id="379" r:id="rId130"/>
    <p:sldId id="380" r:id="rId131"/>
    <p:sldId id="381" r:id="rId132"/>
    <p:sldId id="387" r:id="rId133"/>
    <p:sldId id="388" r:id="rId134"/>
    <p:sldId id="393" r:id="rId135"/>
    <p:sldId id="400" r:id="rId136"/>
    <p:sldId id="401" r:id="rId137"/>
    <p:sldId id="402" r:id="rId138"/>
    <p:sldId id="403" r:id="rId139"/>
    <p:sldId id="404" r:id="rId140"/>
    <p:sldId id="394" r:id="rId141"/>
    <p:sldId id="395" r:id="rId142"/>
    <p:sldId id="398" r:id="rId143"/>
    <p:sldId id="396" r:id="rId144"/>
    <p:sldId id="405" r:id="rId145"/>
    <p:sldId id="397" r:id="rId146"/>
    <p:sldId id="399" r:id="rId147"/>
    <p:sldId id="406" r:id="rId148"/>
    <p:sldId id="407" r:id="rId149"/>
    <p:sldId id="408" r:id="rId150"/>
    <p:sldId id="416" r:id="rId151"/>
    <p:sldId id="417" r:id="rId152"/>
    <p:sldId id="409" r:id="rId153"/>
    <p:sldId id="410" r:id="rId154"/>
    <p:sldId id="411" r:id="rId155"/>
    <p:sldId id="412" r:id="rId156"/>
    <p:sldId id="413" r:id="rId157"/>
    <p:sldId id="414" r:id="rId158"/>
    <p:sldId id="415" r:id="rId159"/>
    <p:sldId id="418" r:id="rId160"/>
    <p:sldId id="430" r:id="rId161"/>
    <p:sldId id="420" r:id="rId162"/>
    <p:sldId id="421" r:id="rId163"/>
    <p:sldId id="422" r:id="rId164"/>
    <p:sldId id="423" r:id="rId165"/>
    <p:sldId id="424" r:id="rId166"/>
    <p:sldId id="427" r:id="rId167"/>
    <p:sldId id="425" r:id="rId168"/>
    <p:sldId id="428" r:id="rId169"/>
    <p:sldId id="429" r:id="rId170"/>
    <p:sldId id="426" r:id="rId171"/>
    <p:sldId id="431" r:id="rId172"/>
    <p:sldId id="432" r:id="rId173"/>
    <p:sldId id="433" r:id="rId174"/>
    <p:sldId id="434" r:id="rId175"/>
    <p:sldId id="436" r:id="rId176"/>
    <p:sldId id="437" r:id="rId177"/>
    <p:sldId id="438" r:id="rId178"/>
    <p:sldId id="439" r:id="rId179"/>
    <p:sldId id="440" r:id="rId180"/>
    <p:sldId id="441" r:id="rId181"/>
    <p:sldId id="435" r:id="rId182"/>
    <p:sldId id="442" r:id="rId183"/>
    <p:sldId id="443" r:id="rId184"/>
    <p:sldId id="444" r:id="rId185"/>
    <p:sldId id="445" r:id="rId186"/>
    <p:sldId id="447" r:id="rId187"/>
    <p:sldId id="448" r:id="rId188"/>
    <p:sldId id="449" r:id="rId189"/>
    <p:sldId id="446" r:id="rId190"/>
    <p:sldId id="451" r:id="rId191"/>
    <p:sldId id="452" r:id="rId192"/>
    <p:sldId id="453" r:id="rId193"/>
    <p:sldId id="450" r:id="rId194"/>
    <p:sldId id="454" r:id="rId195"/>
    <p:sldId id="455" r:id="rId196"/>
    <p:sldId id="456" r:id="rId197"/>
    <p:sldId id="457" r:id="rId198"/>
    <p:sldId id="458" r:id="rId199"/>
    <p:sldId id="459" r:id="rId200"/>
    <p:sldId id="461" r:id="rId201"/>
    <p:sldId id="462" r:id="rId202"/>
    <p:sldId id="463" r:id="rId203"/>
    <p:sldId id="460" r:id="rId204"/>
    <p:sldId id="464" r:id="rId205"/>
    <p:sldId id="465" r:id="rId206"/>
    <p:sldId id="466" r:id="rId207"/>
    <p:sldId id="467" r:id="rId208"/>
    <p:sldId id="469" r:id="rId209"/>
    <p:sldId id="472" r:id="rId210"/>
    <p:sldId id="473" r:id="rId211"/>
    <p:sldId id="474" r:id="rId212"/>
    <p:sldId id="475" r:id="rId213"/>
    <p:sldId id="489" r:id="rId214"/>
    <p:sldId id="470" r:id="rId215"/>
    <p:sldId id="471" r:id="rId216"/>
    <p:sldId id="476" r:id="rId217"/>
    <p:sldId id="477" r:id="rId218"/>
    <p:sldId id="468" r:id="rId219"/>
    <p:sldId id="478" r:id="rId220"/>
    <p:sldId id="479" r:id="rId221"/>
    <p:sldId id="480" r:id="rId222"/>
    <p:sldId id="487" r:id="rId223"/>
    <p:sldId id="484" r:id="rId224"/>
    <p:sldId id="485" r:id="rId225"/>
    <p:sldId id="486" r:id="rId226"/>
    <p:sldId id="490" r:id="rId227"/>
    <p:sldId id="481" r:id="rId228"/>
    <p:sldId id="482" r:id="rId229"/>
    <p:sldId id="488" r:id="rId230"/>
    <p:sldId id="483" r:id="rId231"/>
    <p:sldId id="491" r:id="rId232"/>
    <p:sldId id="492" r:id="rId233"/>
    <p:sldId id="493" r:id="rId234"/>
    <p:sldId id="496" r:id="rId235"/>
    <p:sldId id="494" r:id="rId236"/>
    <p:sldId id="497" r:id="rId237"/>
    <p:sldId id="502" r:id="rId238"/>
    <p:sldId id="503" r:id="rId239"/>
    <p:sldId id="495" r:id="rId240"/>
    <p:sldId id="498" r:id="rId241"/>
    <p:sldId id="499" r:id="rId242"/>
    <p:sldId id="500" r:id="rId243"/>
    <p:sldId id="501" r:id="rId244"/>
    <p:sldId id="504" r:id="rId245"/>
    <p:sldId id="505" r:id="rId246"/>
    <p:sldId id="506" r:id="rId247"/>
    <p:sldId id="507" r:id="rId248"/>
    <p:sldId id="510" r:id="rId249"/>
    <p:sldId id="511" r:id="rId250"/>
    <p:sldId id="512" r:id="rId251"/>
    <p:sldId id="508" r:id="rId252"/>
    <p:sldId id="509" r:id="rId253"/>
    <p:sldId id="513" r:id="rId254"/>
    <p:sldId id="514" r:id="rId255"/>
    <p:sldId id="515" r:id="rId256"/>
    <p:sldId id="518" r:id="rId257"/>
    <p:sldId id="519" r:id="rId258"/>
    <p:sldId id="520" r:id="rId259"/>
    <p:sldId id="521" r:id="rId260"/>
    <p:sldId id="522" r:id="rId261"/>
    <p:sldId id="516" r:id="rId262"/>
    <p:sldId id="517" r:id="rId263"/>
    <p:sldId id="523" r:id="rId2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slide" Target="slides/slide259.xml"/><Relationship Id="rId265"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slide" Target="slides/slide260.xml"/><Relationship Id="rId266" Type="http://schemas.openxmlformats.org/officeDocument/2006/relationships/viewProps" Target="viewProps.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DA51639-B2D6-4652-B8C3-1B4C224A7BAF}" type="datetimeFigureOut">
              <a:rPr lang="en-US" dirty="0"/>
              <a:t>2/1/2026</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82FF5DD9-2C52-442D-92E2-8072C0C3D7CD}" type="datetimeFigureOut">
              <a:rPr lang="en-US" dirty="0"/>
              <a:t>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44961B7-6B89-48AB-966F-622E2788EECC}" type="datetimeFigureOut">
              <a:rPr lang="en-US" dirty="0"/>
              <a:t>2/1/2026</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dirty="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dirty="0"/>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9512B3E8-48F1-4B23-8498-D8A04A81EC9C}" type="datetimeFigureOut">
              <a:rPr lang="en-US" dirty="0"/>
              <a:t>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dirty="0"/>
              <a:t>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dirty="0"/>
              <a:t>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8" name="Date Placeholder 7"/>
          <p:cNvSpPr>
            <a:spLocks noGrp="1"/>
          </p:cNvSpPr>
          <p:nvPr>
            <p:ph type="dt" sz="half" idx="10"/>
          </p:nvPr>
        </p:nvSpPr>
        <p:spPr/>
        <p:txBody>
          <a:bodyPr/>
          <a:lstStyle/>
          <a:p>
            <a:fld id="{1CF131DD-A141-4471-BCF9-C6073EDD7E20}" type="datetimeFigureOut">
              <a:rPr lang="en-US" dirty="0"/>
              <a:t>2/1/2026</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B334A90-EB03-42F3-8859-2C2B2724C058}" type="datetimeFigureOut">
              <a:rPr lang="en-US" dirty="0"/>
              <a:t>2/1/2026</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dirty="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dirty="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dirty="0"/>
              <a:t>2/1/2026</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914400" rtl="1"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r" defTabSz="914400" rtl="1"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p:txBody>
          <a:bodyPr/>
          <a:lstStyle/>
          <a:p>
            <a:r>
              <a:rPr lang="he-IL" dirty="0"/>
              <a:t>הרצאה מס' 9</a:t>
            </a:r>
          </a:p>
        </p:txBody>
      </p:sp>
      <p:sp>
        <p:nvSpPr>
          <p:cNvPr id="3" name="כותרת משנה 2"/>
          <p:cNvSpPr>
            <a:spLocks noGrp="1"/>
          </p:cNvSpPr>
          <p:nvPr>
            <p:ph type="subTitle" idx="1"/>
          </p:nvPr>
        </p:nvSpPr>
        <p:spPr/>
        <p:txBody>
          <a:bodyPr/>
          <a:lstStyle/>
          <a:p>
            <a:r>
              <a:rPr lang="he-IL" dirty="0"/>
              <a:t>מרצה: יניב </a:t>
            </a:r>
            <a:r>
              <a:rPr lang="he-IL" dirty="0" err="1"/>
              <a:t>מורדוב</a:t>
            </a:r>
            <a:endParaRPr lang="he-IL" dirty="0"/>
          </a:p>
        </p:txBody>
      </p:sp>
    </p:spTree>
    <p:extLst>
      <p:ext uri="{BB962C8B-B14F-4D97-AF65-F5344CB8AC3E}">
        <p14:creationId xmlns:p14="http://schemas.microsoft.com/office/powerpoint/2010/main" val="6952631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p:txBody>
          <a:bodyPr>
            <a:normAutofit/>
          </a:bodyPr>
          <a:lstStyle/>
          <a:p>
            <a:pPr algn="ctr"/>
            <a:r>
              <a:rPr lang="he-IL" sz="9600" dirty="0"/>
              <a:t>קריפטוגרפיה</a:t>
            </a:r>
          </a:p>
        </p:txBody>
      </p:sp>
    </p:spTree>
    <p:extLst>
      <p:ext uri="{BB962C8B-B14F-4D97-AF65-F5344CB8AC3E}">
        <p14:creationId xmlns:p14="http://schemas.microsoft.com/office/powerpoint/2010/main" val="7623334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842953"/>
            <a:ext cx="10058400" cy="3931920"/>
          </a:xfrm>
        </p:spPr>
        <p:txBody>
          <a:bodyPr>
            <a:normAutofit/>
          </a:bodyPr>
          <a:lstStyle/>
          <a:p>
            <a:pPr algn="ctr"/>
            <a:r>
              <a:rPr lang="he-IL" sz="6000" dirty="0"/>
              <a:t>הצפנה סימטרית</a:t>
            </a:r>
          </a:p>
        </p:txBody>
      </p:sp>
    </p:spTree>
    <p:extLst>
      <p:ext uri="{BB962C8B-B14F-4D97-AF65-F5344CB8AC3E}">
        <p14:creationId xmlns:p14="http://schemas.microsoft.com/office/powerpoint/2010/main" val="27822031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511338" y="642594"/>
            <a:ext cx="5613862" cy="1371600"/>
          </a:xfrm>
        </p:spPr>
        <p:txBody>
          <a:bodyPr/>
          <a:lstStyle/>
          <a:p>
            <a:r>
              <a:rPr lang="he-IL" dirty="0"/>
              <a:t>מהי הצפנה סימטרית?</a:t>
            </a:r>
          </a:p>
        </p:txBody>
      </p:sp>
      <p:sp>
        <p:nvSpPr>
          <p:cNvPr id="3" name="מציין מיקום תוכן 2"/>
          <p:cNvSpPr>
            <a:spLocks noGrp="1"/>
          </p:cNvSpPr>
          <p:nvPr>
            <p:ph idx="1"/>
          </p:nvPr>
        </p:nvSpPr>
        <p:spPr/>
        <p:txBody>
          <a:bodyPr/>
          <a:lstStyle/>
          <a:p>
            <a:r>
              <a:rPr lang="he-IL" dirty="0"/>
              <a:t>הצפנה סימטרית היא שיטה להצפנה שבה נעשה שימוש במפתח אחד בלבד לצורך הצפנה וגם לצורך פענוח של המידע. כלומר, אותו מפתח משמש גם לנעול את המידע (הפיכתו לבלתי קריא) וגם לפתוח אותו (להחזירו לפורמט המקורי).</a:t>
            </a:r>
          </a:p>
        </p:txBody>
      </p:sp>
    </p:spTree>
    <p:extLst>
      <p:ext uri="{BB962C8B-B14F-4D97-AF65-F5344CB8AC3E}">
        <p14:creationId xmlns:p14="http://schemas.microsoft.com/office/powerpoint/2010/main" val="30328814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423264" y="642594"/>
            <a:ext cx="3701935" cy="1371600"/>
          </a:xfrm>
        </p:spPr>
        <p:txBody>
          <a:bodyPr/>
          <a:lstStyle/>
          <a:p>
            <a:r>
              <a:rPr lang="he-IL" dirty="0"/>
              <a:t>שלב 1: הצפנה</a:t>
            </a:r>
          </a:p>
        </p:txBody>
      </p:sp>
      <p:sp>
        <p:nvSpPr>
          <p:cNvPr id="3" name="מציין מיקום תוכן 2"/>
          <p:cNvSpPr>
            <a:spLocks noGrp="1"/>
          </p:cNvSpPr>
          <p:nvPr>
            <p:ph idx="1"/>
          </p:nvPr>
        </p:nvSpPr>
        <p:spPr/>
        <p:txBody>
          <a:bodyPr/>
          <a:lstStyle/>
          <a:p>
            <a:r>
              <a:rPr lang="he-IL" dirty="0"/>
              <a:t>1. </a:t>
            </a:r>
            <a:r>
              <a:rPr lang="he-IL" b="1" dirty="0"/>
              <a:t>מהו טקסט קריא </a:t>
            </a:r>
            <a:r>
              <a:rPr lang="en-US" b="1" dirty="0"/>
              <a:t>Plaintext</a:t>
            </a:r>
            <a:r>
              <a:rPr lang="he-IL" b="1" dirty="0"/>
              <a:t>?</a:t>
            </a:r>
            <a:endParaRPr lang="en-US" b="1" dirty="0"/>
          </a:p>
          <a:p>
            <a:r>
              <a:rPr lang="he-IL" dirty="0"/>
              <a:t>זהו המידע המקורי שאנו רוצים להגן עליו. למשל:</a:t>
            </a:r>
          </a:p>
          <a:p>
            <a:r>
              <a:rPr lang="he-IL" dirty="0"/>
              <a:t>הודעה טקסטואלית: "שלום, איך אתה?"</a:t>
            </a:r>
          </a:p>
          <a:p>
            <a:r>
              <a:rPr lang="he-IL" dirty="0"/>
              <a:t>מסמך רגיש.</a:t>
            </a:r>
          </a:p>
          <a:p>
            <a:r>
              <a:rPr lang="he-IL" dirty="0"/>
              <a:t>פרטי משתמשים, כמו סיסמאות או מספרי אשראי.</a:t>
            </a:r>
          </a:p>
          <a:p>
            <a:r>
              <a:rPr lang="he-IL" dirty="0"/>
              <a:t>2. </a:t>
            </a:r>
            <a:r>
              <a:rPr lang="he-IL" b="1" dirty="0"/>
              <a:t>מפתח ההצפנה </a:t>
            </a:r>
            <a:r>
              <a:rPr lang="en-US" b="1" dirty="0"/>
              <a:t>Key</a:t>
            </a:r>
            <a:r>
              <a:rPr lang="he-IL" b="1" dirty="0"/>
              <a:t>:</a:t>
            </a:r>
            <a:endParaRPr lang="en-US" b="1" dirty="0"/>
          </a:p>
          <a:p>
            <a:r>
              <a:rPr lang="he-IL" dirty="0"/>
              <a:t>המפתח הוא רצף של ביטים (מספרים בינאריים) והוא זה שמאפשר את הפיכת הטקסט הקריא לטקסט מוצפן.</a:t>
            </a:r>
          </a:p>
          <a:p>
            <a:r>
              <a:rPr lang="he-IL" dirty="0"/>
              <a:t>אורך המפתח (למשל, 128, 192 או 256 ביטים ב-</a:t>
            </a:r>
            <a:r>
              <a:rPr lang="en-US" dirty="0"/>
              <a:t> (AES </a:t>
            </a:r>
            <a:r>
              <a:rPr lang="he-IL" dirty="0"/>
              <a:t>משפיע על רמת האבטחה: ככל שהמפתח ארוך יותר, כך קשה יותר לפרוץ את ההצפנה.</a:t>
            </a:r>
          </a:p>
          <a:p>
            <a:endParaRPr lang="he-IL" dirty="0"/>
          </a:p>
          <a:p>
            <a:endParaRPr lang="he-IL" dirty="0"/>
          </a:p>
        </p:txBody>
      </p:sp>
    </p:spTree>
    <p:extLst>
      <p:ext uri="{BB962C8B-B14F-4D97-AF65-F5344CB8AC3E}">
        <p14:creationId xmlns:p14="http://schemas.microsoft.com/office/powerpoint/2010/main" val="11432477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295207" y="118892"/>
            <a:ext cx="5829993" cy="1371600"/>
          </a:xfrm>
        </p:spPr>
        <p:txBody>
          <a:bodyPr/>
          <a:lstStyle/>
          <a:p>
            <a:r>
              <a:rPr lang="he-IL" dirty="0"/>
              <a:t>המשך - שלב 1: הצפנה</a:t>
            </a:r>
          </a:p>
        </p:txBody>
      </p:sp>
      <p:sp>
        <p:nvSpPr>
          <p:cNvPr id="3" name="מציין מיקום תוכן 2"/>
          <p:cNvSpPr>
            <a:spLocks noGrp="1"/>
          </p:cNvSpPr>
          <p:nvPr>
            <p:ph idx="1"/>
          </p:nvPr>
        </p:nvSpPr>
        <p:spPr>
          <a:xfrm>
            <a:off x="1066800" y="1490492"/>
            <a:ext cx="10058400" cy="4910308"/>
          </a:xfrm>
        </p:spPr>
        <p:txBody>
          <a:bodyPr>
            <a:normAutofit/>
          </a:bodyPr>
          <a:lstStyle/>
          <a:p>
            <a:r>
              <a:rPr lang="he-IL" dirty="0"/>
              <a:t>3. </a:t>
            </a:r>
            <a:r>
              <a:rPr lang="he-IL" b="1" dirty="0"/>
              <a:t>אלגוריתם ההצפנה:</a:t>
            </a:r>
          </a:p>
          <a:p>
            <a:r>
              <a:rPr lang="he-IL" dirty="0"/>
              <a:t>האלגוריתם הוא המתמטיקה שמאחורי ההצפנה. הוא מבצע סדרה מורכבת של פעולות על הטקסט הקריא והמפתח כדי ליצור טקסט מוצפן.</a:t>
            </a:r>
          </a:p>
          <a:p>
            <a:r>
              <a:rPr lang="he-IL" dirty="0"/>
              <a:t>דוגמה לפעולות:</a:t>
            </a:r>
          </a:p>
          <a:p>
            <a:pPr lvl="1"/>
            <a:r>
              <a:rPr lang="he-IL" dirty="0"/>
              <a:t>חלוקת הטקסט לחלקים קטנים (נקראים בלוקים).</a:t>
            </a:r>
          </a:p>
          <a:p>
            <a:pPr lvl="1"/>
            <a:r>
              <a:rPr lang="he-IL" dirty="0"/>
              <a:t>ערבוב של הנתונים.</a:t>
            </a:r>
          </a:p>
          <a:p>
            <a:pPr lvl="1"/>
            <a:r>
              <a:rPr lang="he-IL" dirty="0"/>
              <a:t>החלפה של ביטים לפי כללים מסוימים.</a:t>
            </a:r>
          </a:p>
          <a:p>
            <a:pPr lvl="1"/>
            <a:r>
              <a:rPr lang="he-IL" dirty="0"/>
              <a:t>שילוב המידע עם המפתח באמצעות פעולות מתמטיות.</a:t>
            </a:r>
          </a:p>
          <a:p>
            <a:r>
              <a:rPr lang="he-IL" dirty="0"/>
              <a:t>4. </a:t>
            </a:r>
            <a:r>
              <a:rPr lang="he-IL" b="1" dirty="0"/>
              <a:t>טקסט מוצפן </a:t>
            </a:r>
            <a:r>
              <a:rPr lang="en-US" b="1" dirty="0" err="1"/>
              <a:t>Ciphertext</a:t>
            </a:r>
            <a:r>
              <a:rPr lang="he-IL" b="1" dirty="0"/>
              <a:t>:</a:t>
            </a:r>
            <a:endParaRPr lang="en-US" b="1" dirty="0"/>
          </a:p>
          <a:p>
            <a:r>
              <a:rPr lang="he-IL" dirty="0"/>
              <a:t>זהו הפלט של ההצפנה: גרסה בלתי קריאה של המידע המקורי.</a:t>
            </a:r>
          </a:p>
          <a:p>
            <a:r>
              <a:rPr lang="he-IL" dirty="0"/>
              <a:t>לדוגמה, אם הטקסט המקורי היה "שלום, איך אתה?", לאחר הצפנה זה עשוי להיראות כמו:</a:t>
            </a:r>
          </a:p>
          <a:p>
            <a:pPr algn="l"/>
            <a:r>
              <a:rPr lang="en-US" dirty="0"/>
              <a:t>7Fg5$4n@Q3pZ!9&amp;</a:t>
            </a:r>
          </a:p>
          <a:p>
            <a:r>
              <a:rPr lang="he-IL" dirty="0"/>
              <a:t>ללא המפתח והאלגוריתם המתאימים, אי אפשר לשחזר את המידע המקורי.</a:t>
            </a:r>
          </a:p>
        </p:txBody>
      </p:sp>
    </p:spTree>
    <p:extLst>
      <p:ext uri="{BB962C8B-B14F-4D97-AF65-F5344CB8AC3E}">
        <p14:creationId xmlns:p14="http://schemas.microsoft.com/office/powerpoint/2010/main" val="11173794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589520" y="384900"/>
            <a:ext cx="3535680" cy="1371600"/>
          </a:xfrm>
        </p:spPr>
        <p:txBody>
          <a:bodyPr/>
          <a:lstStyle/>
          <a:p>
            <a:r>
              <a:rPr lang="he-IL" dirty="0"/>
              <a:t>שלב 2: פענוח</a:t>
            </a:r>
          </a:p>
        </p:txBody>
      </p:sp>
      <p:sp>
        <p:nvSpPr>
          <p:cNvPr id="3" name="מציין מיקום תוכן 2"/>
          <p:cNvSpPr>
            <a:spLocks noGrp="1"/>
          </p:cNvSpPr>
          <p:nvPr>
            <p:ph idx="1"/>
          </p:nvPr>
        </p:nvSpPr>
        <p:spPr>
          <a:xfrm>
            <a:off x="1066800" y="1756500"/>
            <a:ext cx="10058400" cy="4278540"/>
          </a:xfrm>
        </p:spPr>
        <p:txBody>
          <a:bodyPr>
            <a:normAutofit fontScale="92500" lnSpcReduction="10000"/>
          </a:bodyPr>
          <a:lstStyle/>
          <a:p>
            <a:r>
              <a:rPr lang="he-IL" dirty="0"/>
              <a:t>1. </a:t>
            </a:r>
            <a:r>
              <a:rPr lang="he-IL" b="1" dirty="0"/>
              <a:t>שימוש באותו מפתח:</a:t>
            </a:r>
          </a:p>
          <a:p>
            <a:r>
              <a:rPr lang="he-IL" dirty="0"/>
              <a:t>בתהליך הפענוח, הצד המקבל חייב להחזיק באותו מפתח ששימש להצפנה.</a:t>
            </a:r>
          </a:p>
          <a:p>
            <a:r>
              <a:rPr lang="he-IL" dirty="0"/>
              <a:t>חשוב מאוד: המפתח חייב להישמר בסוד! אם מישהו מצליח להשיג אותו, הוא יכול לפענח את המידע.</a:t>
            </a:r>
          </a:p>
          <a:p>
            <a:endParaRPr lang="he-IL" dirty="0"/>
          </a:p>
          <a:p>
            <a:r>
              <a:rPr lang="he-IL" dirty="0"/>
              <a:t>2. </a:t>
            </a:r>
            <a:r>
              <a:rPr lang="he-IL" b="1" dirty="0"/>
              <a:t>אלגוריתם הפענוח:</a:t>
            </a:r>
          </a:p>
          <a:p>
            <a:r>
              <a:rPr lang="he-IL" dirty="0"/>
              <a:t>זהו תהליך מתמטי הפוך שמבצע את הפעולות ההפוכות לאלו שבוצעו בהצפנה:</a:t>
            </a:r>
          </a:p>
          <a:p>
            <a:pPr lvl="1"/>
            <a:r>
              <a:rPr lang="he-IL" dirty="0"/>
              <a:t>פירוק הטקסט המוצפן לבלוקים.</a:t>
            </a:r>
          </a:p>
          <a:p>
            <a:pPr lvl="1"/>
            <a:r>
              <a:rPr lang="he-IL" dirty="0"/>
              <a:t>ביצוע הפעולות ההפוכות של ערבוב, החלפה ושילוב.</a:t>
            </a:r>
          </a:p>
          <a:p>
            <a:pPr lvl="1"/>
            <a:r>
              <a:rPr lang="he-IL" dirty="0"/>
              <a:t>שחזור המידע המקורי.</a:t>
            </a:r>
          </a:p>
          <a:p>
            <a:endParaRPr lang="he-IL" dirty="0"/>
          </a:p>
          <a:p>
            <a:r>
              <a:rPr lang="he-IL" dirty="0"/>
              <a:t>3. </a:t>
            </a:r>
            <a:r>
              <a:rPr lang="he-IL" b="1" dirty="0"/>
              <a:t>התוצאה:</a:t>
            </a:r>
          </a:p>
          <a:p>
            <a:r>
              <a:rPr lang="he-IL" dirty="0"/>
              <a:t>אם המפתח נכון ותהליך הפענוח בוצע בצורה מדויקת, נקבל את הטקסט המקורי בדיוק כפי שהוא היה לפני ההצפנה.</a:t>
            </a:r>
          </a:p>
          <a:p>
            <a:endParaRPr lang="he-IL" dirty="0"/>
          </a:p>
          <a:p>
            <a:endParaRPr lang="he-IL" dirty="0"/>
          </a:p>
        </p:txBody>
      </p:sp>
    </p:spTree>
    <p:extLst>
      <p:ext uri="{BB962C8B-B14F-4D97-AF65-F5344CB8AC3E}">
        <p14:creationId xmlns:p14="http://schemas.microsoft.com/office/powerpoint/2010/main" val="38557905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920240" y="241069"/>
            <a:ext cx="9204960" cy="1332550"/>
          </a:xfrm>
        </p:spPr>
        <p:txBody>
          <a:bodyPr/>
          <a:lstStyle/>
          <a:p>
            <a:r>
              <a:rPr lang="he-IL" dirty="0"/>
              <a:t>דוגמה פשוטה לתהליך הצפנה ופענוח</a:t>
            </a:r>
          </a:p>
        </p:txBody>
      </p:sp>
      <p:sp>
        <p:nvSpPr>
          <p:cNvPr id="3" name="מציין מיקום תוכן 2"/>
          <p:cNvSpPr>
            <a:spLocks noGrp="1"/>
          </p:cNvSpPr>
          <p:nvPr>
            <p:ph idx="1"/>
          </p:nvPr>
        </p:nvSpPr>
        <p:spPr>
          <a:xfrm>
            <a:off x="1000298" y="1573619"/>
            <a:ext cx="10058400" cy="4494672"/>
          </a:xfrm>
        </p:spPr>
        <p:txBody>
          <a:bodyPr>
            <a:normAutofit lnSpcReduction="10000"/>
          </a:bodyPr>
          <a:lstStyle/>
          <a:p>
            <a:r>
              <a:rPr lang="he-IL" b="1" dirty="0"/>
              <a:t>נניח:</a:t>
            </a:r>
          </a:p>
          <a:p>
            <a:r>
              <a:rPr lang="he-IL" dirty="0"/>
              <a:t>טקסט קריא </a:t>
            </a:r>
            <a:r>
              <a:rPr lang="en-US" dirty="0"/>
              <a:t>Plaintext</a:t>
            </a:r>
            <a:r>
              <a:rPr lang="he-IL" dirty="0"/>
              <a:t>: "שלום"</a:t>
            </a:r>
          </a:p>
          <a:p>
            <a:r>
              <a:rPr lang="he-IL" dirty="0"/>
              <a:t>מפתח: </a:t>
            </a:r>
            <a:r>
              <a:rPr lang="en-US" dirty="0"/>
              <a:t>"12345"</a:t>
            </a:r>
          </a:p>
          <a:p>
            <a:r>
              <a:rPr lang="he-IL" dirty="0"/>
              <a:t>אלגוריתם: </a:t>
            </a:r>
            <a:r>
              <a:rPr lang="en-US" dirty="0"/>
              <a:t>XOR </a:t>
            </a:r>
            <a:r>
              <a:rPr lang="he-IL" dirty="0"/>
              <a:t> פשוט (חישוב מתמטי שמשווה ביטים).</a:t>
            </a:r>
          </a:p>
          <a:p>
            <a:r>
              <a:rPr lang="he-IL" b="1" dirty="0"/>
              <a:t>הצפנה:</a:t>
            </a:r>
          </a:p>
          <a:p>
            <a:r>
              <a:rPr lang="he-IL" dirty="0"/>
              <a:t>1. הופכים את הטקסט הקריא לקוד בינארי:</a:t>
            </a:r>
          </a:p>
          <a:p>
            <a:r>
              <a:rPr lang="he-IL" dirty="0"/>
              <a:t>"שלום" = 10100011 10101011 10100110 10101111</a:t>
            </a:r>
          </a:p>
          <a:p>
            <a:r>
              <a:rPr lang="he-IL" dirty="0"/>
              <a:t>2. משלבים את המפתח (גם הוא בבינארי) עם הטקסט בעזרת </a:t>
            </a:r>
            <a:r>
              <a:rPr lang="en-US" dirty="0"/>
              <a:t>:XOR</a:t>
            </a:r>
            <a:r>
              <a:rPr lang="he-IL" dirty="0"/>
              <a:t> </a:t>
            </a:r>
          </a:p>
          <a:p>
            <a:r>
              <a:rPr lang="he-IL" dirty="0"/>
              <a:t>לדוגמה, אם המפתח הוא 11110000, נוצרת תוצאה חדשה של ביטים.</a:t>
            </a:r>
          </a:p>
          <a:p>
            <a:r>
              <a:rPr lang="he-IL" b="1" dirty="0"/>
              <a:t>פענוח:</a:t>
            </a:r>
          </a:p>
          <a:p>
            <a:r>
              <a:rPr lang="he-IL" dirty="0"/>
              <a:t>לוקחים את הטקסט המוצפן ומבצעים עליו </a:t>
            </a:r>
            <a:r>
              <a:rPr lang="en-US" dirty="0"/>
              <a:t>XOR </a:t>
            </a:r>
            <a:r>
              <a:rPr lang="he-IL" dirty="0"/>
              <a:t>עם אותו מפתח בדיוק.</a:t>
            </a:r>
          </a:p>
          <a:p>
            <a:r>
              <a:rPr lang="he-IL" dirty="0"/>
              <a:t>הפעולה ההפוכה משחזרת את הטקסט המקורי.</a:t>
            </a:r>
          </a:p>
          <a:p>
            <a:endParaRPr lang="he-IL" dirty="0"/>
          </a:p>
          <a:p>
            <a:endParaRPr lang="he-IL" dirty="0"/>
          </a:p>
          <a:p>
            <a:pPr lvl="1"/>
            <a:endParaRPr lang="he-IL" dirty="0"/>
          </a:p>
          <a:p>
            <a:endParaRPr lang="he-IL" dirty="0"/>
          </a:p>
          <a:p>
            <a:endParaRPr lang="he-IL" dirty="0"/>
          </a:p>
        </p:txBody>
      </p:sp>
    </p:spTree>
    <p:extLst>
      <p:ext uri="{BB962C8B-B14F-4D97-AF65-F5344CB8AC3E}">
        <p14:creationId xmlns:p14="http://schemas.microsoft.com/office/powerpoint/2010/main" val="15878275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73484" y="642594"/>
            <a:ext cx="7151716" cy="1371600"/>
          </a:xfrm>
        </p:spPr>
        <p:txBody>
          <a:bodyPr/>
          <a:lstStyle/>
          <a:p>
            <a:r>
              <a:rPr lang="he-IL" dirty="0"/>
              <a:t>מפתח חשוב: ביטחון המפתח</a:t>
            </a:r>
          </a:p>
        </p:txBody>
      </p:sp>
      <p:sp>
        <p:nvSpPr>
          <p:cNvPr id="3" name="מציין מיקום תוכן 2"/>
          <p:cNvSpPr>
            <a:spLocks noGrp="1"/>
          </p:cNvSpPr>
          <p:nvPr>
            <p:ph idx="1"/>
          </p:nvPr>
        </p:nvSpPr>
        <p:spPr/>
        <p:txBody>
          <a:bodyPr/>
          <a:lstStyle/>
          <a:p>
            <a:r>
              <a:rPr lang="he-IL" b="1" dirty="0"/>
              <a:t>שמירת המפתח בסוד:</a:t>
            </a:r>
            <a:r>
              <a:rPr lang="he-IL" dirty="0"/>
              <a:t> אסור לשתף אותו בערוצים לא מאובטחים.</a:t>
            </a:r>
          </a:p>
          <a:p>
            <a:endParaRPr lang="he-IL" dirty="0"/>
          </a:p>
          <a:p>
            <a:r>
              <a:rPr lang="he-IL" b="1" dirty="0"/>
              <a:t>חילופי מפתחות מאובטחים:</a:t>
            </a:r>
            <a:r>
              <a:rPr lang="he-IL" dirty="0"/>
              <a:t> כשמשתמשים בהצפנה סימטרית, יש צורך בשיטות בטוחות כדי להעביר את המפתח (למשל, באמצעות הצפנה אסימטרית כמו </a:t>
            </a:r>
            <a:r>
              <a:rPr lang="en-US" dirty="0"/>
              <a:t>RSA</a:t>
            </a:r>
            <a:endParaRPr lang="he-IL" dirty="0"/>
          </a:p>
        </p:txBody>
      </p:sp>
    </p:spTree>
    <p:extLst>
      <p:ext uri="{BB962C8B-B14F-4D97-AF65-F5344CB8AC3E}">
        <p14:creationId xmlns:p14="http://schemas.microsoft.com/office/powerpoint/2010/main" val="26399745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626822"/>
            <a:ext cx="10058400" cy="3931920"/>
          </a:xfrm>
        </p:spPr>
        <p:txBody>
          <a:bodyPr>
            <a:normAutofit/>
          </a:bodyPr>
          <a:lstStyle/>
          <a:p>
            <a:pPr algn="ctr"/>
            <a:r>
              <a:rPr lang="he-IL" sz="6000" dirty="0"/>
              <a:t>צופן בלוקים</a:t>
            </a:r>
          </a:p>
        </p:txBody>
      </p:sp>
    </p:spTree>
    <p:extLst>
      <p:ext uri="{BB962C8B-B14F-4D97-AF65-F5344CB8AC3E}">
        <p14:creationId xmlns:p14="http://schemas.microsoft.com/office/powerpoint/2010/main" val="40067121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533804" y="642594"/>
            <a:ext cx="4591396" cy="1371600"/>
          </a:xfrm>
        </p:spPr>
        <p:txBody>
          <a:bodyPr/>
          <a:lstStyle/>
          <a:p>
            <a:r>
              <a:rPr lang="he-IL" dirty="0"/>
              <a:t>מהו צופן בלוקים?</a:t>
            </a:r>
          </a:p>
        </p:txBody>
      </p:sp>
      <p:sp>
        <p:nvSpPr>
          <p:cNvPr id="3" name="מציין מיקום תוכן 2"/>
          <p:cNvSpPr>
            <a:spLocks noGrp="1"/>
          </p:cNvSpPr>
          <p:nvPr>
            <p:ph idx="1"/>
          </p:nvPr>
        </p:nvSpPr>
        <p:spPr/>
        <p:txBody>
          <a:bodyPr/>
          <a:lstStyle/>
          <a:p>
            <a:r>
              <a:rPr lang="he-IL" dirty="0"/>
              <a:t>צופן בלוקים הוא סוג של אלגוריתם להצפנה סימטרית שבו הטקסט הקריא</a:t>
            </a:r>
            <a:r>
              <a:rPr lang="en-US" dirty="0"/>
              <a:t>plaintext </a:t>
            </a:r>
            <a:r>
              <a:rPr lang="he-IL" dirty="0"/>
              <a:t> מחולק ליחידות בגודל קבוע שנקראות </a:t>
            </a:r>
            <a:r>
              <a:rPr lang="he-IL" b="1" dirty="0"/>
              <a:t>בלוקים</a:t>
            </a:r>
            <a:r>
              <a:rPr lang="he-IL" dirty="0"/>
              <a:t>. כל בלוק מוצפן בנפרד באמצעות אותו אלגוריתם ומפתח. למשל, אם הטקסט הוא באורך 200 ביטים, ואלגוריתם ההצפנה עובד עם בלוקים בגודל 64 ביטים, הטקסט יחולק ל-3 בלוקים של 64 ביטים, כאשר היתרה תושלם באמצעות </a:t>
            </a:r>
            <a:r>
              <a:rPr lang="he-IL" b="1" dirty="0"/>
              <a:t>ריפוד</a:t>
            </a:r>
            <a:r>
              <a:rPr lang="he-IL" dirty="0"/>
              <a:t> </a:t>
            </a:r>
            <a:r>
              <a:rPr lang="en-US" dirty="0"/>
              <a:t>padding</a:t>
            </a:r>
            <a:r>
              <a:rPr lang="he-IL" dirty="0"/>
              <a:t>.</a:t>
            </a:r>
          </a:p>
          <a:p>
            <a:r>
              <a:rPr lang="he-IL" dirty="0"/>
              <a:t>העבודה בבלוקים מאפשרת לשפר את האבטחה ולהקשות על זיהוי דפוסים בטקסט המקורי, מה שחשוב מאוד במניעת פריצות.</a:t>
            </a:r>
          </a:p>
        </p:txBody>
      </p:sp>
    </p:spTree>
    <p:extLst>
      <p:ext uri="{BB962C8B-B14F-4D97-AF65-F5344CB8AC3E}">
        <p14:creationId xmlns:p14="http://schemas.microsoft.com/office/powerpoint/2010/main" val="30604257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234544" y="642594"/>
            <a:ext cx="4890655" cy="1371600"/>
          </a:xfrm>
        </p:spPr>
        <p:txBody>
          <a:bodyPr/>
          <a:lstStyle/>
          <a:p>
            <a:r>
              <a:rPr lang="he-IL" dirty="0"/>
              <a:t>מושג הבלוק </a:t>
            </a:r>
            <a:r>
              <a:rPr lang="en-US" dirty="0"/>
              <a:t>Block</a:t>
            </a:r>
            <a:endParaRPr lang="he-IL" dirty="0"/>
          </a:p>
        </p:txBody>
      </p:sp>
      <p:sp>
        <p:nvSpPr>
          <p:cNvPr id="3" name="מציין מיקום תוכן 2"/>
          <p:cNvSpPr>
            <a:spLocks noGrp="1"/>
          </p:cNvSpPr>
          <p:nvPr>
            <p:ph idx="1"/>
          </p:nvPr>
        </p:nvSpPr>
        <p:spPr/>
        <p:txBody>
          <a:bodyPr/>
          <a:lstStyle/>
          <a:p>
            <a:r>
              <a:rPr lang="he-IL" dirty="0"/>
              <a:t>צופן בלוקים עובד על נתונים בגודל קבוע מראש, שנקרא </a:t>
            </a:r>
            <a:r>
              <a:rPr lang="he-IL" b="1" dirty="0"/>
              <a:t>בלוק</a:t>
            </a:r>
            <a:r>
              <a:rPr lang="he-IL" dirty="0"/>
              <a:t>.</a:t>
            </a:r>
          </a:p>
          <a:p>
            <a:pPr lvl="1"/>
            <a:r>
              <a:rPr lang="he-IL" dirty="0"/>
              <a:t>לדוגמה: ב-</a:t>
            </a:r>
            <a:r>
              <a:rPr lang="en-US" dirty="0"/>
              <a:t> AES </a:t>
            </a:r>
            <a:r>
              <a:rPr lang="he-IL" dirty="0"/>
              <a:t>הבלוק תמיד בגודל </a:t>
            </a:r>
            <a:r>
              <a:rPr lang="he-IL" b="1" dirty="0"/>
              <a:t>128 ביטים</a:t>
            </a:r>
            <a:r>
              <a:rPr lang="he-IL" dirty="0"/>
              <a:t>.</a:t>
            </a:r>
          </a:p>
          <a:p>
            <a:r>
              <a:rPr lang="he-IL" dirty="0"/>
              <a:t>אם גודל הקלט (הטקסט הקריא) אינו מתחלק באופן מושלם בגודל הבלוק, נעשה שימוש בטכניקת </a:t>
            </a:r>
            <a:r>
              <a:rPr lang="he-IL" b="1" dirty="0"/>
              <a:t>ריפוד</a:t>
            </a:r>
            <a:r>
              <a:rPr lang="en-US" b="1" dirty="0"/>
              <a:t>Padding </a:t>
            </a:r>
            <a:endParaRPr lang="en-US" dirty="0"/>
          </a:p>
          <a:p>
            <a:r>
              <a:rPr lang="he-IL" b="1" dirty="0"/>
              <a:t>דוגמת ריפוד:</a:t>
            </a:r>
          </a:p>
          <a:p>
            <a:r>
              <a:rPr lang="he-IL" dirty="0"/>
              <a:t>אם הבלוק הוא בגודל 16 בתים (128 ביטים), והטקסט הוא "שלום עולם" (10 בתים), נדרשים עוד 6 בתים כדי להשלים בלוק מלא. משתמשים בתווים מיוחדים או סכמה מוגדרת למילוי החסר.</a:t>
            </a:r>
          </a:p>
          <a:p>
            <a:endParaRPr lang="he-IL" dirty="0"/>
          </a:p>
        </p:txBody>
      </p:sp>
    </p:spTree>
    <p:extLst>
      <p:ext uri="{BB962C8B-B14F-4D97-AF65-F5344CB8AC3E}">
        <p14:creationId xmlns:p14="http://schemas.microsoft.com/office/powerpoint/2010/main" val="40812417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772400" y="642594"/>
            <a:ext cx="3352800" cy="1371600"/>
          </a:xfrm>
        </p:spPr>
        <p:txBody>
          <a:bodyPr/>
          <a:lstStyle/>
          <a:p>
            <a:r>
              <a:rPr lang="he-IL" dirty="0"/>
              <a:t>איך זה עובד?</a:t>
            </a:r>
          </a:p>
        </p:txBody>
      </p:sp>
      <p:sp>
        <p:nvSpPr>
          <p:cNvPr id="3" name="מציין מיקום תוכן 2"/>
          <p:cNvSpPr>
            <a:spLocks noGrp="1"/>
          </p:cNvSpPr>
          <p:nvPr>
            <p:ph idx="1"/>
          </p:nvPr>
        </p:nvSpPr>
        <p:spPr/>
        <p:txBody>
          <a:bodyPr/>
          <a:lstStyle/>
          <a:p>
            <a:r>
              <a:rPr lang="he-IL" dirty="0"/>
              <a:t>צופן בלוקים עובד בשלושה שלבים עיקריים:</a:t>
            </a:r>
          </a:p>
          <a:p>
            <a:r>
              <a:rPr lang="he-IL" b="1" dirty="0"/>
              <a:t>1. חלוקה לבלוקים:</a:t>
            </a:r>
            <a:r>
              <a:rPr lang="he-IL" dirty="0"/>
              <a:t> הטקסט הקריא מחולק ליחידות בגודל קבוע. לדוגמה, אם הבלוק הוא בגודל 128 ביטים והטקסט הוא "</a:t>
            </a:r>
            <a:r>
              <a:rPr lang="en-US" dirty="0"/>
              <a:t> “HelloWorld</a:t>
            </a:r>
            <a:r>
              <a:rPr lang="he-IL" dirty="0"/>
              <a:t>האלגוריתם יתאים אותו כך שיכיל בלוקים בגודל מתאים.</a:t>
            </a:r>
          </a:p>
          <a:p>
            <a:endParaRPr lang="he-IL" dirty="0"/>
          </a:p>
          <a:p>
            <a:r>
              <a:rPr lang="he-IL" b="1" dirty="0"/>
              <a:t>2. הצפנה של כל בלוק:</a:t>
            </a:r>
            <a:r>
              <a:rPr lang="he-IL" dirty="0"/>
              <a:t> כל בלוק מוצפן בנפרד באמצעות המפתח, לפי סדרה של פעולות מתמטיות כמו </a:t>
            </a:r>
            <a:r>
              <a:rPr lang="en-US" dirty="0"/>
              <a:t> XOR</a:t>
            </a:r>
            <a:r>
              <a:rPr lang="he-IL" dirty="0"/>
              <a:t> החלפות ושינויים בסדר הביטים.</a:t>
            </a:r>
          </a:p>
          <a:p>
            <a:endParaRPr lang="he-IL" dirty="0"/>
          </a:p>
          <a:p>
            <a:endParaRPr lang="he-IL" dirty="0"/>
          </a:p>
          <a:p>
            <a:r>
              <a:rPr lang="he-IL" b="1" dirty="0"/>
              <a:t>3. חיבור הבלוקים המוצפנים:</a:t>
            </a:r>
            <a:r>
              <a:rPr lang="he-IL" dirty="0"/>
              <a:t> כל הבלוקים מוצפנים בנפרד, והתוצאה היא רצף של בלוקים מוצפנים שמתחברים ליצירת הטקסט המוצפן </a:t>
            </a:r>
            <a:r>
              <a:rPr lang="en-US" dirty="0" err="1"/>
              <a:t>ciphertext</a:t>
            </a:r>
            <a:r>
              <a:rPr lang="he-IL" dirty="0"/>
              <a:t>.</a:t>
            </a:r>
            <a:endParaRPr lang="en-US" dirty="0"/>
          </a:p>
          <a:p>
            <a:endParaRPr lang="he-IL" dirty="0"/>
          </a:p>
        </p:txBody>
      </p:sp>
      <p:pic>
        <p:nvPicPr>
          <p:cNvPr id="4" name="תמונה 3"/>
          <p:cNvPicPr>
            <a:picLocks noChangeAspect="1"/>
          </p:cNvPicPr>
          <p:nvPr/>
        </p:nvPicPr>
        <p:blipFill>
          <a:blip r:embed="rId2"/>
          <a:stretch>
            <a:fillRect/>
          </a:stretch>
        </p:blipFill>
        <p:spPr>
          <a:xfrm>
            <a:off x="444222" y="3124322"/>
            <a:ext cx="1010505" cy="1845269"/>
          </a:xfrm>
          <a:prstGeom prst="rect">
            <a:avLst/>
          </a:prstGeom>
        </p:spPr>
      </p:pic>
    </p:spTree>
    <p:extLst>
      <p:ext uri="{BB962C8B-B14F-4D97-AF65-F5344CB8AC3E}">
        <p14:creationId xmlns:p14="http://schemas.microsoft.com/office/powerpoint/2010/main" val="41530659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503025" y="457200"/>
            <a:ext cx="5622173" cy="1556994"/>
          </a:xfrm>
        </p:spPr>
        <p:txBody>
          <a:bodyPr>
            <a:normAutofit/>
          </a:bodyPr>
          <a:lstStyle/>
          <a:p>
            <a:r>
              <a:rPr lang="he-IL" dirty="0"/>
              <a:t>אלגוריתם צופן בלוקים</a:t>
            </a:r>
          </a:p>
        </p:txBody>
      </p:sp>
      <p:sp>
        <p:nvSpPr>
          <p:cNvPr id="3" name="מציין מיקום תוכן 2"/>
          <p:cNvSpPr>
            <a:spLocks noGrp="1"/>
          </p:cNvSpPr>
          <p:nvPr>
            <p:ph idx="1"/>
          </p:nvPr>
        </p:nvSpPr>
        <p:spPr/>
        <p:txBody>
          <a:bodyPr/>
          <a:lstStyle/>
          <a:p>
            <a:r>
              <a:rPr lang="he-IL" dirty="0"/>
              <a:t>אלגוריתם פופולרי מאוד שמיישם צופן בלוקים הוא </a:t>
            </a:r>
            <a:r>
              <a:rPr lang="en-US" b="1" dirty="0"/>
              <a:t>AES (Advanced Encryption Standard)</a:t>
            </a:r>
            <a:r>
              <a:rPr lang="he-IL" dirty="0"/>
              <a:t>.</a:t>
            </a:r>
            <a:endParaRPr lang="en-US" dirty="0"/>
          </a:p>
          <a:p>
            <a:r>
              <a:rPr lang="he-IL" dirty="0"/>
              <a:t>ב-</a:t>
            </a:r>
            <a:r>
              <a:rPr lang="en-US" dirty="0"/>
              <a:t> AES </a:t>
            </a:r>
            <a:r>
              <a:rPr lang="he-IL" dirty="0"/>
              <a:t>הבלוק הוא בגודל קבוע של 128 ביטים, והמפתח יכול להיות באורך 128, 192 או 256 ביטים. האלגוריתם מבצע מספר סבבים</a:t>
            </a:r>
            <a:r>
              <a:rPr lang="en-US" dirty="0"/>
              <a:t>rounds </a:t>
            </a:r>
            <a:r>
              <a:rPr lang="he-IL" dirty="0"/>
              <a:t> של פעולות כדי להצפין כל בלוק. ככל שהמפתח ארוך יותר, כך מספר הסבבים גדול יותר:</a:t>
            </a:r>
          </a:p>
          <a:p>
            <a:r>
              <a:rPr lang="he-IL" dirty="0"/>
              <a:t>מפתח 128 ביטים → 10 סבבים.</a:t>
            </a:r>
          </a:p>
          <a:p>
            <a:r>
              <a:rPr lang="he-IL" dirty="0"/>
              <a:t>מפתח 192 ביטים → 12 סבבים.</a:t>
            </a:r>
          </a:p>
          <a:p>
            <a:r>
              <a:rPr lang="he-IL" dirty="0"/>
              <a:t>מפתח 256 ביטים → 14 סבבים.</a:t>
            </a:r>
          </a:p>
          <a:p>
            <a:endParaRPr lang="he-IL" dirty="0"/>
          </a:p>
        </p:txBody>
      </p:sp>
    </p:spTree>
    <p:extLst>
      <p:ext uri="{BB962C8B-B14F-4D97-AF65-F5344CB8AC3E}">
        <p14:creationId xmlns:p14="http://schemas.microsoft.com/office/powerpoint/2010/main" val="20885847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169622" y="642594"/>
            <a:ext cx="8955578" cy="1371600"/>
          </a:xfrm>
        </p:spPr>
        <p:txBody>
          <a:bodyPr/>
          <a:lstStyle/>
          <a:p>
            <a:r>
              <a:rPr lang="he-IL" dirty="0"/>
              <a:t>מה קורה בכל סבב של צופן בלוקים?</a:t>
            </a:r>
          </a:p>
        </p:txBody>
      </p:sp>
      <p:sp>
        <p:nvSpPr>
          <p:cNvPr id="3" name="מציין מיקום תוכן 2"/>
          <p:cNvSpPr>
            <a:spLocks noGrp="1"/>
          </p:cNvSpPr>
          <p:nvPr>
            <p:ph idx="1"/>
          </p:nvPr>
        </p:nvSpPr>
        <p:spPr/>
        <p:txBody>
          <a:bodyPr/>
          <a:lstStyle/>
          <a:p>
            <a:r>
              <a:rPr lang="he-IL" dirty="0"/>
              <a:t>בכל סבב, האלגוריתם מבצע את הפעולות הבאות:</a:t>
            </a:r>
          </a:p>
          <a:p>
            <a:r>
              <a:rPr lang="he-IL" b="1" dirty="0"/>
              <a:t>1. ערבוב</a:t>
            </a:r>
            <a:r>
              <a:rPr lang="en-US" b="1" dirty="0"/>
              <a:t>Substitution</a:t>
            </a:r>
            <a:r>
              <a:rPr lang="en-US" dirty="0"/>
              <a:t> </a:t>
            </a:r>
            <a:r>
              <a:rPr lang="he-IL" dirty="0"/>
              <a:t>: כל חלק מהטקסט מוחלף לפי טבלה קבועה מראש שנקראת </a:t>
            </a:r>
            <a:r>
              <a:rPr lang="en-US" dirty="0"/>
              <a:t>S-box</a:t>
            </a:r>
            <a:r>
              <a:rPr lang="he-IL" dirty="0"/>
              <a:t> קיצור של </a:t>
            </a:r>
            <a:r>
              <a:rPr lang="en-US" dirty="0"/>
              <a:t>Substitution Box</a:t>
            </a:r>
            <a:r>
              <a:rPr lang="he-IL" dirty="0"/>
              <a:t>.</a:t>
            </a:r>
            <a:endParaRPr lang="en-US" dirty="0"/>
          </a:p>
          <a:p>
            <a:r>
              <a:rPr lang="he-IL" b="1" dirty="0"/>
              <a:t>2. שחלוף</a:t>
            </a:r>
            <a:r>
              <a:rPr lang="en-US" b="1" dirty="0"/>
              <a:t>:Permutation</a:t>
            </a:r>
            <a:r>
              <a:rPr lang="en-US" dirty="0"/>
              <a:t> </a:t>
            </a:r>
            <a:r>
              <a:rPr lang="he-IL" dirty="0"/>
              <a:t> שינויים במיקום של הביטים כדי לפזר את המידע ולהקשות על ניתוח.</a:t>
            </a:r>
          </a:p>
          <a:p>
            <a:r>
              <a:rPr lang="he-IL" b="1" dirty="0"/>
              <a:t>3. שילוב עם מפתח</a:t>
            </a:r>
            <a:r>
              <a:rPr lang="en-US" b="1" dirty="0"/>
              <a:t>Key Mixing</a:t>
            </a:r>
            <a:r>
              <a:rPr lang="he-IL" b="1" dirty="0"/>
              <a:t>:</a:t>
            </a:r>
            <a:r>
              <a:rPr lang="en-US" dirty="0"/>
              <a:t> </a:t>
            </a:r>
            <a:r>
              <a:rPr lang="he-IL" dirty="0"/>
              <a:t>כל בלוק מחובר עם המפתח באמצעות פעולת </a:t>
            </a:r>
            <a:r>
              <a:rPr lang="en-US" dirty="0"/>
              <a:t>XOR</a:t>
            </a:r>
            <a:r>
              <a:rPr lang="he-IL" dirty="0"/>
              <a:t>.</a:t>
            </a:r>
            <a:endParaRPr lang="en-US" dirty="0"/>
          </a:p>
          <a:p>
            <a:r>
              <a:rPr lang="he-IL" b="1" dirty="0"/>
              <a:t>4. חוזר על הפעולות:</a:t>
            </a:r>
            <a:r>
              <a:rPr lang="he-IL" dirty="0"/>
              <a:t> הפעולות הללו חוזרות מספר פעמים בהתאם לאורך המפתח.</a:t>
            </a:r>
          </a:p>
          <a:p>
            <a:r>
              <a:rPr lang="he-IL" dirty="0"/>
              <a:t>לדוגמה:</a:t>
            </a:r>
          </a:p>
          <a:p>
            <a:r>
              <a:rPr lang="he-IL" dirty="0"/>
              <a:t>הטקסט המקורי </a:t>
            </a:r>
            <a:r>
              <a:rPr lang="en-US" dirty="0"/>
              <a:t>plaintext</a:t>
            </a:r>
            <a:r>
              <a:rPr lang="he-IL" dirty="0"/>
              <a:t> הוא </a:t>
            </a:r>
            <a:r>
              <a:rPr lang="en-US" dirty="0"/>
              <a:t>HELLO</a:t>
            </a:r>
            <a:endParaRPr lang="he-IL" dirty="0"/>
          </a:p>
          <a:p>
            <a:r>
              <a:rPr lang="he-IL" dirty="0"/>
              <a:t>המפתח הוא </a:t>
            </a:r>
            <a:r>
              <a:rPr lang="en-US" dirty="0"/>
              <a:t>KEY123</a:t>
            </a:r>
            <a:endParaRPr lang="he-IL" dirty="0"/>
          </a:p>
          <a:p>
            <a:r>
              <a:rPr lang="he-IL" dirty="0"/>
              <a:t>התוצאה אחרי מספר סבבים היא טקסט מוצפן שנראה כמו </a:t>
            </a:r>
            <a:r>
              <a:rPr lang="en-US" dirty="0"/>
              <a:t>D12F3A</a:t>
            </a:r>
            <a:endParaRPr lang="he-IL" dirty="0"/>
          </a:p>
          <a:p>
            <a:endParaRPr lang="he-IL" dirty="0"/>
          </a:p>
          <a:p>
            <a:endParaRPr lang="he-IL" dirty="0"/>
          </a:p>
        </p:txBody>
      </p:sp>
    </p:spTree>
    <p:extLst>
      <p:ext uri="{BB962C8B-B14F-4D97-AF65-F5344CB8AC3E}">
        <p14:creationId xmlns:p14="http://schemas.microsoft.com/office/powerpoint/2010/main" val="23536386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907876" y="642594"/>
            <a:ext cx="4217323" cy="1371600"/>
          </a:xfrm>
        </p:spPr>
        <p:txBody>
          <a:bodyPr/>
          <a:lstStyle/>
          <a:p>
            <a:r>
              <a:rPr lang="he-IL" dirty="0"/>
              <a:t>ריפוד </a:t>
            </a:r>
            <a:r>
              <a:rPr lang="en-US" dirty="0"/>
              <a:t>Padding</a:t>
            </a:r>
            <a:endParaRPr lang="he-IL" dirty="0"/>
          </a:p>
        </p:txBody>
      </p:sp>
      <p:sp>
        <p:nvSpPr>
          <p:cNvPr id="3" name="מציין מיקום תוכן 2"/>
          <p:cNvSpPr>
            <a:spLocks noGrp="1"/>
          </p:cNvSpPr>
          <p:nvPr>
            <p:ph idx="1"/>
          </p:nvPr>
        </p:nvSpPr>
        <p:spPr/>
        <p:txBody>
          <a:bodyPr/>
          <a:lstStyle/>
          <a:p>
            <a:r>
              <a:rPr lang="he-IL" dirty="0"/>
              <a:t>אם גודל הטקסט אינו מתחלק בגודל הבלוק, מוסיפים תווים מיותרים כדי להשלים את הבלוק האחרון. לדוגמה, אם גודל הבלוק הוא 128 ביטים, אבל הטקסט הוא באורך 200 ביטים:</a:t>
            </a:r>
          </a:p>
          <a:p>
            <a:r>
              <a:rPr lang="he-IL" dirty="0"/>
              <a:t>128 ביטים → בלוק ראשון.</a:t>
            </a:r>
          </a:p>
          <a:p>
            <a:r>
              <a:rPr lang="he-IL" dirty="0"/>
              <a:t>72 ביטים → בלוק שני → הוספת 56 ביטים של ריפוד כדי להשלים ל-128 ביטים.</a:t>
            </a:r>
          </a:p>
          <a:p>
            <a:endParaRPr lang="he-IL" dirty="0"/>
          </a:p>
        </p:txBody>
      </p:sp>
    </p:spTree>
    <p:extLst>
      <p:ext uri="{BB962C8B-B14F-4D97-AF65-F5344CB8AC3E}">
        <p14:creationId xmlns:p14="http://schemas.microsoft.com/office/powerpoint/2010/main" val="1491941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023360" y="642594"/>
            <a:ext cx="7101840" cy="1371600"/>
          </a:xfrm>
        </p:spPr>
        <p:txBody>
          <a:bodyPr/>
          <a:lstStyle/>
          <a:p>
            <a:r>
              <a:rPr lang="he-IL" dirty="0"/>
              <a:t>מצבי פעולה של צופן בלוקים</a:t>
            </a:r>
          </a:p>
        </p:txBody>
      </p:sp>
      <p:sp>
        <p:nvSpPr>
          <p:cNvPr id="3" name="מציין מיקום תוכן 2"/>
          <p:cNvSpPr>
            <a:spLocks noGrp="1"/>
          </p:cNvSpPr>
          <p:nvPr>
            <p:ph idx="1"/>
          </p:nvPr>
        </p:nvSpPr>
        <p:spPr/>
        <p:txBody>
          <a:bodyPr>
            <a:normAutofit lnSpcReduction="10000"/>
          </a:bodyPr>
          <a:lstStyle/>
          <a:p>
            <a:r>
              <a:rPr lang="he-IL" dirty="0"/>
              <a:t>כשמשתמשים בצופן בלוקים, יש דרכים שונות לטפל בבלוקים כדי להבטיח אבטחה גבוהה יותר. הנה המצבים הנפוצים:</a:t>
            </a:r>
          </a:p>
          <a:p>
            <a:r>
              <a:rPr lang="en-US" b="1" dirty="0"/>
              <a:t>ECB (Electronic Codebook) .1</a:t>
            </a:r>
            <a:r>
              <a:rPr lang="he-IL" b="1" dirty="0"/>
              <a:t>:</a:t>
            </a:r>
            <a:endParaRPr lang="en-US" dirty="0"/>
          </a:p>
          <a:p>
            <a:pPr lvl="1"/>
            <a:r>
              <a:rPr lang="he-IL" dirty="0"/>
              <a:t>כל בלוק מוצפן בנפרד.</a:t>
            </a:r>
          </a:p>
          <a:p>
            <a:pPr lvl="1"/>
            <a:r>
              <a:rPr lang="he-IL" dirty="0"/>
              <a:t>חסרון: אם יש בלוקים זהים בטקסט המקורי, הם יישארו זהים גם בטקסט המוצפן, מה שמאפשר לזהות דפוסים.</a:t>
            </a:r>
          </a:p>
          <a:p>
            <a:r>
              <a:rPr lang="en-US" b="1" dirty="0"/>
              <a:t>CBC (Cipher Block Chaining) .2</a:t>
            </a:r>
            <a:r>
              <a:rPr lang="he-IL" b="1" dirty="0"/>
              <a:t>:</a:t>
            </a:r>
            <a:endParaRPr lang="en-US" dirty="0"/>
          </a:p>
          <a:p>
            <a:pPr lvl="1"/>
            <a:r>
              <a:rPr lang="he-IL" dirty="0"/>
              <a:t>כל בלוק מוצפן תוך שימוש בבלוק הקודם, כך שאותו בלוק בטקסט המקורי יפיק בלוק מוצפן שונה.</a:t>
            </a:r>
          </a:p>
          <a:p>
            <a:pPr lvl="1"/>
            <a:r>
              <a:rPr lang="he-IL" dirty="0"/>
              <a:t>מצריך וקטור ייזום </a:t>
            </a:r>
            <a:r>
              <a:rPr lang="en-US" dirty="0"/>
              <a:t> IV - Initialization Vector</a:t>
            </a:r>
            <a:r>
              <a:rPr lang="he-IL" dirty="0"/>
              <a:t>כדי להתחיל את התהליך.</a:t>
            </a:r>
          </a:p>
          <a:p>
            <a:r>
              <a:rPr lang="en-US" b="1" dirty="0"/>
              <a:t>CTR (Counter Mode) .3</a:t>
            </a:r>
            <a:r>
              <a:rPr lang="he-IL" b="1" dirty="0"/>
              <a:t>:</a:t>
            </a:r>
            <a:r>
              <a:rPr lang="he-IL" dirty="0"/>
              <a:t> הופך את צופן הבלוקים לצופן זרם, מהיר וגמיש לשימוש.</a:t>
            </a:r>
          </a:p>
          <a:p>
            <a:r>
              <a:rPr lang="he-IL" dirty="0"/>
              <a:t>4. </a:t>
            </a:r>
            <a:r>
              <a:rPr lang="en-US" b="1" dirty="0"/>
              <a:t>GCM (Galois/Counter Mode)</a:t>
            </a:r>
            <a:r>
              <a:rPr lang="he-IL" b="1" dirty="0"/>
              <a:t>:</a:t>
            </a:r>
            <a:endParaRPr lang="en-US" dirty="0"/>
          </a:p>
          <a:p>
            <a:r>
              <a:rPr lang="he-IL" dirty="0"/>
              <a:t>משלב הצפנה עם אימות נתונים </a:t>
            </a:r>
            <a:r>
              <a:rPr lang="en-US" dirty="0"/>
              <a:t>Authentication</a:t>
            </a:r>
          </a:p>
          <a:p>
            <a:r>
              <a:rPr lang="he-IL" dirty="0"/>
              <a:t>נפוץ מאוד בפרוטוקולים מאובטחים כמו </a:t>
            </a:r>
            <a:r>
              <a:rPr lang="en-US" dirty="0"/>
              <a:t>TLS</a:t>
            </a:r>
          </a:p>
          <a:p>
            <a:endParaRPr lang="he-IL" dirty="0"/>
          </a:p>
          <a:p>
            <a:pPr lvl="1"/>
            <a:endParaRPr lang="he-IL" dirty="0"/>
          </a:p>
          <a:p>
            <a:endParaRPr lang="he-IL" dirty="0"/>
          </a:p>
        </p:txBody>
      </p:sp>
    </p:spTree>
    <p:extLst>
      <p:ext uri="{BB962C8B-B14F-4D97-AF65-F5344CB8AC3E}">
        <p14:creationId xmlns:p14="http://schemas.microsoft.com/office/powerpoint/2010/main" val="30614669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139738" y="642594"/>
            <a:ext cx="6985462" cy="1371600"/>
          </a:xfrm>
        </p:spPr>
        <p:txBody>
          <a:bodyPr/>
          <a:lstStyle/>
          <a:p>
            <a:r>
              <a:rPr lang="he-IL" dirty="0"/>
              <a:t>מבנה פנימי של צופן בלוקים</a:t>
            </a:r>
          </a:p>
        </p:txBody>
      </p:sp>
      <p:sp>
        <p:nvSpPr>
          <p:cNvPr id="3" name="מציין מיקום תוכן 2"/>
          <p:cNvSpPr>
            <a:spLocks noGrp="1"/>
          </p:cNvSpPr>
          <p:nvPr>
            <p:ph idx="1"/>
          </p:nvPr>
        </p:nvSpPr>
        <p:spPr/>
        <p:txBody>
          <a:bodyPr/>
          <a:lstStyle/>
          <a:p>
            <a:r>
              <a:rPr lang="he-IL" dirty="0"/>
              <a:t>צופן בלוקים מבוסס לרוב על אחד משני מבנים עיקריים:</a:t>
            </a:r>
          </a:p>
          <a:p>
            <a:r>
              <a:rPr lang="he-IL" b="1" dirty="0"/>
              <a:t>1. רשת </a:t>
            </a:r>
            <a:r>
              <a:rPr lang="he-IL" b="1" dirty="0" err="1"/>
              <a:t>פייסטל</a:t>
            </a:r>
            <a:r>
              <a:rPr lang="he-IL" b="1" dirty="0"/>
              <a:t> </a:t>
            </a:r>
            <a:r>
              <a:rPr lang="en-US" b="1" dirty="0" err="1"/>
              <a:t>Feistel</a:t>
            </a:r>
            <a:r>
              <a:rPr lang="en-US" b="1" dirty="0"/>
              <a:t> Network</a:t>
            </a:r>
            <a:r>
              <a:rPr lang="he-IL" b="1" dirty="0"/>
              <a:t>:</a:t>
            </a:r>
            <a:endParaRPr lang="he-IL" dirty="0"/>
          </a:p>
          <a:p>
            <a:r>
              <a:rPr lang="he-IL" dirty="0"/>
              <a:t>מחלק את הבלוק לשני חלקים</a:t>
            </a:r>
            <a:r>
              <a:rPr lang="en-US" dirty="0"/>
              <a:t> Left </a:t>
            </a:r>
            <a:r>
              <a:rPr lang="he-IL" dirty="0"/>
              <a:t>ו-</a:t>
            </a:r>
            <a:r>
              <a:rPr lang="en-US" dirty="0"/>
              <a:t>Right </a:t>
            </a:r>
          </a:p>
          <a:p>
            <a:r>
              <a:rPr lang="he-IL" dirty="0"/>
              <a:t>מבצע הצפנה רק על חלק אחד בכל סבב, ומשלב את התוצאה בחלק השני.</a:t>
            </a:r>
          </a:p>
          <a:p>
            <a:r>
              <a:rPr lang="he-IL" dirty="0"/>
              <a:t>קל יחסית למימוש, ולכן נפוץ באלגוריתמים ישנים יותר, כמו </a:t>
            </a:r>
            <a:r>
              <a:rPr lang="en-US" b="1" dirty="0"/>
              <a:t>DES</a:t>
            </a:r>
            <a:endParaRPr lang="en-US" dirty="0"/>
          </a:p>
          <a:p>
            <a:r>
              <a:rPr lang="he-IL" b="1" dirty="0"/>
              <a:t>2. רשת החלפה-שחלוף </a:t>
            </a:r>
            <a:r>
              <a:rPr lang="en-US" b="1" dirty="0"/>
              <a:t>Substitution-Permutation Network</a:t>
            </a:r>
            <a:r>
              <a:rPr lang="he-IL" b="1" dirty="0"/>
              <a:t>:</a:t>
            </a:r>
            <a:endParaRPr lang="he-IL" dirty="0"/>
          </a:p>
          <a:p>
            <a:r>
              <a:rPr lang="he-IL" dirty="0"/>
              <a:t>מבצע סדרת החלפות ושחלופים על כל הבלוק.</a:t>
            </a:r>
          </a:p>
          <a:p>
            <a:r>
              <a:rPr lang="he-IL" dirty="0"/>
              <a:t>נפוץ באלגוריתמים מודרניים, כמו </a:t>
            </a:r>
            <a:r>
              <a:rPr lang="en-US" b="1" dirty="0"/>
              <a:t>AES</a:t>
            </a:r>
            <a:endParaRPr lang="en-US" dirty="0"/>
          </a:p>
          <a:p>
            <a:endParaRPr lang="he-IL" dirty="0"/>
          </a:p>
        </p:txBody>
      </p:sp>
    </p:spTree>
    <p:extLst>
      <p:ext uri="{BB962C8B-B14F-4D97-AF65-F5344CB8AC3E}">
        <p14:creationId xmlns:p14="http://schemas.microsoft.com/office/powerpoint/2010/main" val="1895176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790604" y="642594"/>
            <a:ext cx="7334596" cy="1371600"/>
          </a:xfrm>
        </p:spPr>
        <p:txBody>
          <a:bodyPr/>
          <a:lstStyle/>
          <a:p>
            <a:r>
              <a:rPr lang="he-IL" dirty="0"/>
              <a:t>חוזק אבטחה של צופן בלוקים</a:t>
            </a:r>
          </a:p>
        </p:txBody>
      </p:sp>
      <p:sp>
        <p:nvSpPr>
          <p:cNvPr id="3" name="מציין מיקום תוכן 2"/>
          <p:cNvSpPr>
            <a:spLocks noGrp="1"/>
          </p:cNvSpPr>
          <p:nvPr>
            <p:ph idx="1"/>
          </p:nvPr>
        </p:nvSpPr>
        <p:spPr/>
        <p:txBody>
          <a:bodyPr>
            <a:normAutofit lnSpcReduction="10000"/>
          </a:bodyPr>
          <a:lstStyle/>
          <a:p>
            <a:r>
              <a:rPr lang="he-IL" b="1" dirty="0"/>
              <a:t>חוזק אבטחה של צופן בלוקים</a:t>
            </a:r>
          </a:p>
          <a:p>
            <a:r>
              <a:rPr lang="he-IL" b="1" dirty="0"/>
              <a:t>פרמטרים שמשפיעים על רמת האבטחה:</a:t>
            </a:r>
          </a:p>
          <a:p>
            <a:r>
              <a:rPr lang="he-IL" b="1" dirty="0"/>
              <a:t>1. אורך המפתח:</a:t>
            </a:r>
            <a:endParaRPr lang="he-IL" dirty="0"/>
          </a:p>
          <a:p>
            <a:pPr lvl="1"/>
            <a:r>
              <a:rPr lang="he-IL" dirty="0"/>
              <a:t>ככל שאורך המפתח ארוך יותר, כך קשה יותר לפרוץ את ההצפנה.</a:t>
            </a:r>
          </a:p>
          <a:p>
            <a:pPr lvl="1"/>
            <a:r>
              <a:rPr lang="he-IL" dirty="0"/>
              <a:t>לדוגמה:</a:t>
            </a:r>
          </a:p>
          <a:p>
            <a:pPr lvl="2"/>
            <a:r>
              <a:rPr lang="he-IL" dirty="0"/>
              <a:t>מפתח באורך 128 ביטים → דורש 128^2 ניסיונות במתקפת כוח גס.</a:t>
            </a:r>
          </a:p>
          <a:p>
            <a:pPr lvl="2"/>
            <a:r>
              <a:rPr lang="he-IL" dirty="0"/>
              <a:t>מפתח באורך 256 ביטים → דורש 256^2 ניסיונות.</a:t>
            </a:r>
          </a:p>
          <a:p>
            <a:r>
              <a:rPr lang="he-IL" b="1" dirty="0"/>
              <a:t>2. עמידות למתקפות:</a:t>
            </a:r>
            <a:endParaRPr lang="he-IL" dirty="0"/>
          </a:p>
          <a:p>
            <a:pPr lvl="1"/>
            <a:r>
              <a:rPr lang="he-IL" b="1" dirty="0"/>
              <a:t>מתקפת כוח גס </a:t>
            </a:r>
            <a:r>
              <a:rPr lang="en-US" b="1" dirty="0"/>
              <a:t>Brute Force</a:t>
            </a:r>
            <a:r>
              <a:rPr lang="he-IL" b="1" dirty="0"/>
              <a:t>: </a:t>
            </a:r>
            <a:r>
              <a:rPr lang="he-IL" dirty="0"/>
              <a:t>ניסיון לבדוק את כל המפתחות האפשריים.</a:t>
            </a:r>
          </a:p>
          <a:p>
            <a:pPr lvl="1"/>
            <a:r>
              <a:rPr lang="he-IL" b="1" dirty="0"/>
              <a:t>ניתוח דפוסים </a:t>
            </a:r>
            <a:r>
              <a:rPr lang="en-US" b="1" dirty="0"/>
              <a:t> :Pattern Analysis</a:t>
            </a:r>
            <a:r>
              <a:rPr lang="he-IL" dirty="0"/>
              <a:t>ניסיון לזהות דפוסים בטקסט המוצפן.</a:t>
            </a:r>
          </a:p>
          <a:p>
            <a:r>
              <a:rPr lang="he-IL" b="1" dirty="0"/>
              <a:t>3. מניעת זליגת מידע:</a:t>
            </a:r>
            <a:endParaRPr lang="he-IL" dirty="0"/>
          </a:p>
          <a:p>
            <a:pPr lvl="1"/>
            <a:r>
              <a:rPr lang="he-IL" dirty="0"/>
              <a:t>השימוש במצבי פעולה מתקדמים כמו </a:t>
            </a:r>
            <a:r>
              <a:rPr lang="en-US" dirty="0"/>
              <a:t>CBC</a:t>
            </a:r>
            <a:r>
              <a:rPr lang="he-IL" dirty="0"/>
              <a:t> או </a:t>
            </a:r>
            <a:r>
              <a:rPr lang="en-US" dirty="0"/>
              <a:t> GCM</a:t>
            </a:r>
            <a:r>
              <a:rPr lang="he-IL" dirty="0"/>
              <a:t>מגן על המידע ומונע דליפת דפוסים.</a:t>
            </a:r>
          </a:p>
          <a:p>
            <a:endParaRPr lang="he-IL" dirty="0"/>
          </a:p>
        </p:txBody>
      </p:sp>
    </p:spTree>
    <p:extLst>
      <p:ext uri="{BB962C8B-B14F-4D97-AF65-F5344CB8AC3E}">
        <p14:creationId xmlns:p14="http://schemas.microsoft.com/office/powerpoint/2010/main" val="14568341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265324" y="642594"/>
            <a:ext cx="3859876" cy="1371600"/>
          </a:xfrm>
        </p:spPr>
        <p:txBody>
          <a:bodyPr/>
          <a:lstStyle/>
          <a:p>
            <a:r>
              <a:rPr lang="he-IL" dirty="0"/>
              <a:t>דוגמה מוחשית</a:t>
            </a:r>
          </a:p>
        </p:txBody>
      </p:sp>
      <p:sp>
        <p:nvSpPr>
          <p:cNvPr id="3" name="מציין מיקום תוכן 2"/>
          <p:cNvSpPr>
            <a:spLocks noGrp="1"/>
          </p:cNvSpPr>
          <p:nvPr>
            <p:ph idx="1"/>
          </p:nvPr>
        </p:nvSpPr>
        <p:spPr/>
        <p:txBody>
          <a:bodyPr/>
          <a:lstStyle/>
          <a:p>
            <a:r>
              <a:rPr lang="he-IL" dirty="0"/>
              <a:t>נניח שאתה רוצה להצפין את המשפט הבא: </a:t>
            </a:r>
            <a:r>
              <a:rPr lang="he-IL" b="1" dirty="0"/>
              <a:t>"שלום עולם"</a:t>
            </a:r>
            <a:endParaRPr lang="he-IL" dirty="0"/>
          </a:p>
          <a:p>
            <a:r>
              <a:rPr lang="he-IL" b="1" dirty="0"/>
              <a:t>שלב 1:</a:t>
            </a:r>
            <a:r>
              <a:rPr lang="he-IL" dirty="0"/>
              <a:t> המרת הטקסט לייצוג בינארי (לדוגמה, </a:t>
            </a:r>
            <a:r>
              <a:rPr lang="en-US" dirty="0"/>
              <a:t>UTF-8</a:t>
            </a:r>
            <a:r>
              <a:rPr lang="he-IL" dirty="0"/>
              <a:t>)</a:t>
            </a:r>
          </a:p>
          <a:p>
            <a:endParaRPr lang="en-US" dirty="0"/>
          </a:p>
          <a:p>
            <a:r>
              <a:rPr lang="he-IL" b="1" dirty="0"/>
              <a:t>שלב 2:</a:t>
            </a:r>
            <a:r>
              <a:rPr lang="he-IL" dirty="0"/>
              <a:t> חלוקה לבלוקים בגודל 128 ביטים.</a:t>
            </a:r>
          </a:p>
          <a:p>
            <a:endParaRPr lang="he-IL" dirty="0"/>
          </a:p>
          <a:p>
            <a:r>
              <a:rPr lang="he-IL" b="1" dirty="0"/>
              <a:t>שלב 3:</a:t>
            </a:r>
            <a:r>
              <a:rPr lang="he-IL" dirty="0"/>
              <a:t> ביצוע פעולות מתמטיות על כל בלוק בנפרד לפי האלגוריתם (</a:t>
            </a:r>
            <a:r>
              <a:rPr lang="en-US" dirty="0"/>
              <a:t> AES</a:t>
            </a:r>
            <a:r>
              <a:rPr lang="he-IL" dirty="0"/>
              <a:t>לדוגמה).</a:t>
            </a:r>
          </a:p>
          <a:p>
            <a:endParaRPr lang="he-IL" dirty="0"/>
          </a:p>
          <a:p>
            <a:r>
              <a:rPr lang="he-IL" b="1" dirty="0"/>
              <a:t>תוצאה:</a:t>
            </a:r>
            <a:r>
              <a:rPr lang="he-IL" dirty="0"/>
              <a:t> הטקסט המוצפן יהיה מחרוזת של תווים או מספרים שנראים אקראיים, כמו </a:t>
            </a:r>
            <a:r>
              <a:rPr lang="en-US" dirty="0"/>
              <a:t>7d1e9a4bcf</a:t>
            </a:r>
            <a:endParaRPr lang="he-IL" dirty="0"/>
          </a:p>
          <a:p>
            <a:endParaRPr lang="he-IL" dirty="0"/>
          </a:p>
        </p:txBody>
      </p:sp>
    </p:spTree>
    <p:extLst>
      <p:ext uri="{BB962C8B-B14F-4D97-AF65-F5344CB8AC3E}">
        <p14:creationId xmlns:p14="http://schemas.microsoft.com/office/powerpoint/2010/main" val="21060085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718262" y="642594"/>
            <a:ext cx="8406938" cy="1371600"/>
          </a:xfrm>
        </p:spPr>
        <p:txBody>
          <a:bodyPr/>
          <a:lstStyle/>
          <a:p>
            <a:r>
              <a:rPr lang="he-IL" dirty="0"/>
              <a:t>יתרונות וחסרונות של צופן בלוקים</a:t>
            </a:r>
          </a:p>
        </p:txBody>
      </p:sp>
      <p:sp>
        <p:nvSpPr>
          <p:cNvPr id="3" name="מציין מיקום תוכן 2"/>
          <p:cNvSpPr>
            <a:spLocks noGrp="1"/>
          </p:cNvSpPr>
          <p:nvPr>
            <p:ph idx="1"/>
          </p:nvPr>
        </p:nvSpPr>
        <p:spPr/>
        <p:txBody>
          <a:bodyPr/>
          <a:lstStyle/>
          <a:p>
            <a:r>
              <a:rPr lang="he-IL" b="1" dirty="0"/>
              <a:t>יתרונות:</a:t>
            </a:r>
          </a:p>
          <a:p>
            <a:r>
              <a:rPr lang="he-IL" b="1" dirty="0"/>
              <a:t>1. אבטחה חזקה:</a:t>
            </a:r>
            <a:r>
              <a:rPr lang="he-IL" dirty="0"/>
              <a:t> מתאים להצפנת נתונים רגישים.</a:t>
            </a:r>
          </a:p>
          <a:p>
            <a:r>
              <a:rPr lang="he-IL" b="1" dirty="0"/>
              <a:t>2. עמידות גבוהה למתקפות:</a:t>
            </a:r>
            <a:r>
              <a:rPr lang="he-IL" dirty="0"/>
              <a:t> בזכות סבבים מרובים ומבנים מורכבים.</a:t>
            </a:r>
          </a:p>
          <a:p>
            <a:r>
              <a:rPr lang="he-IL" b="1" dirty="0"/>
              <a:t>3. תמיכה במגוון מצבי פעולה:</a:t>
            </a:r>
            <a:r>
              <a:rPr lang="he-IL" dirty="0"/>
              <a:t> מאפשר גמישות בהתאמה ליישומים שונים.</a:t>
            </a:r>
          </a:p>
          <a:p>
            <a:endParaRPr lang="he-IL" dirty="0"/>
          </a:p>
          <a:p>
            <a:r>
              <a:rPr lang="he-IL" b="1" dirty="0"/>
              <a:t>חסרונות:</a:t>
            </a:r>
          </a:p>
          <a:p>
            <a:r>
              <a:rPr lang="he-IL" b="1" dirty="0"/>
              <a:t>1. תלות בגודל הבלוק:</a:t>
            </a:r>
            <a:r>
              <a:rPr lang="he-IL" dirty="0"/>
              <a:t> אם גודל הבלוק לא מתאים, נדרשת הוספת ריפוד.</a:t>
            </a:r>
          </a:p>
          <a:p>
            <a:r>
              <a:rPr lang="he-IL" b="1" dirty="0"/>
              <a:t>2. רגישות למצב פעולה לא נכון:</a:t>
            </a:r>
            <a:r>
              <a:rPr lang="he-IL" dirty="0"/>
              <a:t> בחירה שגויה של מצב פעולה עלולה לחשוף מידע.</a:t>
            </a:r>
          </a:p>
          <a:p>
            <a:endParaRPr lang="he-IL" dirty="0"/>
          </a:p>
        </p:txBody>
      </p:sp>
    </p:spTree>
    <p:extLst>
      <p:ext uri="{BB962C8B-B14F-4D97-AF65-F5344CB8AC3E}">
        <p14:creationId xmlns:p14="http://schemas.microsoft.com/office/powerpoint/2010/main" val="28381712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632662" y="642594"/>
            <a:ext cx="7492537" cy="1371600"/>
          </a:xfrm>
        </p:spPr>
        <p:txBody>
          <a:bodyPr/>
          <a:lstStyle/>
          <a:p>
            <a:r>
              <a:rPr lang="he-IL" dirty="0"/>
              <a:t>שימושים נפוצים בצופן בלוקים</a:t>
            </a:r>
          </a:p>
        </p:txBody>
      </p:sp>
      <p:sp>
        <p:nvSpPr>
          <p:cNvPr id="3" name="מציין מיקום תוכן 2"/>
          <p:cNvSpPr>
            <a:spLocks noGrp="1"/>
          </p:cNvSpPr>
          <p:nvPr>
            <p:ph idx="1"/>
          </p:nvPr>
        </p:nvSpPr>
        <p:spPr/>
        <p:txBody>
          <a:bodyPr>
            <a:normAutofit/>
          </a:bodyPr>
          <a:lstStyle/>
          <a:p>
            <a:r>
              <a:rPr lang="he-IL" b="1" dirty="0"/>
              <a:t>פרוטוקולי רשת:</a:t>
            </a:r>
            <a:r>
              <a:rPr lang="he-IL" dirty="0"/>
              <a:t> </a:t>
            </a:r>
            <a:r>
              <a:rPr lang="en-US" dirty="0"/>
              <a:t>TLS ,SSH ,</a:t>
            </a:r>
            <a:r>
              <a:rPr lang="en-US" dirty="0" err="1"/>
              <a:t>Ipsec</a:t>
            </a:r>
            <a:endParaRPr lang="he-IL" dirty="0"/>
          </a:p>
          <a:p>
            <a:endParaRPr lang="en-US" dirty="0"/>
          </a:p>
          <a:p>
            <a:r>
              <a:rPr lang="he-IL" b="1" dirty="0"/>
              <a:t>הצפנת מסדי נתונים:</a:t>
            </a:r>
            <a:r>
              <a:rPr lang="he-IL" dirty="0"/>
              <a:t> אבטחת מידע רגיש.</a:t>
            </a:r>
          </a:p>
          <a:p>
            <a:endParaRPr lang="he-IL" dirty="0"/>
          </a:p>
          <a:p>
            <a:r>
              <a:rPr lang="he-IL" b="1" dirty="0"/>
              <a:t>הצפנת דיסקים:</a:t>
            </a:r>
            <a:r>
              <a:rPr lang="he-IL" dirty="0"/>
              <a:t> </a:t>
            </a:r>
            <a:r>
              <a:rPr lang="en-US" dirty="0"/>
              <a:t>BitLocker ,</a:t>
            </a:r>
            <a:r>
              <a:rPr lang="en-US" dirty="0" err="1"/>
              <a:t>FileVault</a:t>
            </a:r>
            <a:endParaRPr lang="he-IL" dirty="0"/>
          </a:p>
          <a:p>
            <a:endParaRPr lang="en-US" dirty="0"/>
          </a:p>
          <a:p>
            <a:r>
              <a:rPr lang="he-IL" b="1" dirty="0"/>
              <a:t>מערכות אחסון בענן:</a:t>
            </a:r>
            <a:r>
              <a:rPr lang="he-IL" dirty="0"/>
              <a:t> הגנה על נתוני משתמשים.</a:t>
            </a:r>
          </a:p>
          <a:p>
            <a:endParaRPr lang="he-IL" dirty="0"/>
          </a:p>
        </p:txBody>
      </p:sp>
    </p:spTree>
    <p:extLst>
      <p:ext uri="{BB962C8B-B14F-4D97-AF65-F5344CB8AC3E}">
        <p14:creationId xmlns:p14="http://schemas.microsoft.com/office/powerpoint/2010/main" val="351230612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596044" y="642594"/>
            <a:ext cx="9529156" cy="1371600"/>
          </a:xfrm>
        </p:spPr>
        <p:txBody>
          <a:bodyPr/>
          <a:lstStyle/>
          <a:p>
            <a:r>
              <a:rPr lang="he-IL" dirty="0"/>
              <a:t>חשוב לזכור למבחן הגמר שלכם </a:t>
            </a:r>
            <a:r>
              <a:rPr lang="he-IL" dirty="0" smtClean="0"/>
              <a:t>ב</a:t>
            </a:r>
            <a:r>
              <a:rPr lang="en-US" smtClean="0"/>
              <a:t>16/3</a:t>
            </a:r>
            <a:endParaRPr lang="he-IL" dirty="0"/>
          </a:p>
        </p:txBody>
      </p:sp>
      <p:sp>
        <p:nvSpPr>
          <p:cNvPr id="3" name="מציין מיקום תוכן 2"/>
          <p:cNvSpPr>
            <a:spLocks noGrp="1"/>
          </p:cNvSpPr>
          <p:nvPr>
            <p:ph idx="1"/>
          </p:nvPr>
        </p:nvSpPr>
        <p:spPr/>
        <p:txBody>
          <a:bodyPr/>
          <a:lstStyle/>
          <a:p>
            <a:r>
              <a:rPr lang="he-IL" dirty="0"/>
              <a:t>צופן בלוקים הוא שיטה להצפנה סימטרית שבה עובדים עם יחידות בגודל קבוע.</a:t>
            </a:r>
          </a:p>
          <a:p>
            <a:endParaRPr lang="he-IL" dirty="0"/>
          </a:p>
          <a:p>
            <a:r>
              <a:rPr lang="he-IL" dirty="0"/>
              <a:t>הוא משתמש במבנים מתמטיים מורכבים כדי להבטיח אבטחה.</a:t>
            </a:r>
          </a:p>
          <a:p>
            <a:endParaRPr lang="he-IL" dirty="0"/>
          </a:p>
          <a:p>
            <a:r>
              <a:rPr lang="he-IL" dirty="0"/>
              <a:t>מצבי פעולה כמו </a:t>
            </a:r>
            <a:r>
              <a:rPr lang="en-US" dirty="0"/>
              <a:t>CBC</a:t>
            </a:r>
            <a:r>
              <a:rPr lang="he-IL" dirty="0"/>
              <a:t> ו-</a:t>
            </a:r>
            <a:r>
              <a:rPr lang="en-US" dirty="0"/>
              <a:t> GCM </a:t>
            </a:r>
            <a:r>
              <a:rPr lang="he-IL" dirty="0"/>
              <a:t>מונעים דליפת מידע.</a:t>
            </a:r>
          </a:p>
          <a:p>
            <a:endParaRPr lang="he-IL" dirty="0"/>
          </a:p>
          <a:p>
            <a:r>
              <a:rPr lang="he-IL" dirty="0"/>
              <a:t>אלגוריתמים מודרניים כמו </a:t>
            </a:r>
            <a:r>
              <a:rPr lang="en-US" dirty="0"/>
              <a:t>AES</a:t>
            </a:r>
            <a:r>
              <a:rPr lang="he-IL" dirty="0"/>
              <a:t> הם סטנדרטיים ונפוצים במגוון מערכות.</a:t>
            </a:r>
          </a:p>
          <a:p>
            <a:endParaRPr lang="he-IL" dirty="0"/>
          </a:p>
        </p:txBody>
      </p:sp>
    </p:spTree>
    <p:extLst>
      <p:ext uri="{BB962C8B-B14F-4D97-AF65-F5344CB8AC3E}">
        <p14:creationId xmlns:p14="http://schemas.microsoft.com/office/powerpoint/2010/main" val="15185996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44000" y="642594"/>
            <a:ext cx="1981200"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מהו צופן בלוקים, ומה ההבדל בינו לבין צופן זרם?</a:t>
            </a:r>
          </a:p>
          <a:p>
            <a:r>
              <a:rPr lang="he-IL" dirty="0"/>
              <a:t>2. מהו גודל הבלוק הסטנדרטי של </a:t>
            </a:r>
            <a:r>
              <a:rPr lang="en-US" dirty="0"/>
              <a:t>AES</a:t>
            </a:r>
            <a:r>
              <a:rPr lang="he-IL" dirty="0"/>
              <a:t>?</a:t>
            </a:r>
          </a:p>
          <a:p>
            <a:r>
              <a:rPr lang="he-IL" dirty="0"/>
              <a:t>3. מהי המטרה של ריפוד</a:t>
            </a:r>
            <a:r>
              <a:rPr lang="en-US" dirty="0"/>
              <a:t>Padding </a:t>
            </a:r>
            <a:r>
              <a:rPr lang="he-IL" dirty="0"/>
              <a:t> בצופן בלוקים?</a:t>
            </a:r>
          </a:p>
          <a:p>
            <a:r>
              <a:rPr lang="he-IL" dirty="0"/>
              <a:t>4. מה ההבדל בין טקסט קריא</a:t>
            </a:r>
            <a:r>
              <a:rPr lang="en-US" dirty="0"/>
              <a:t>Plaintext </a:t>
            </a:r>
            <a:r>
              <a:rPr lang="he-IL" dirty="0"/>
              <a:t> לטקסט מוצפן </a:t>
            </a:r>
            <a:r>
              <a:rPr lang="en-US" dirty="0" err="1"/>
              <a:t>Ciphertext</a:t>
            </a:r>
            <a:r>
              <a:rPr lang="he-IL" dirty="0"/>
              <a:t>?</a:t>
            </a:r>
          </a:p>
          <a:p>
            <a:r>
              <a:rPr lang="he-IL" dirty="0"/>
              <a:t>5. איזה מצב פעולה </a:t>
            </a:r>
            <a:r>
              <a:rPr lang="en-US" dirty="0"/>
              <a:t>Mode of Operation</a:t>
            </a:r>
            <a:r>
              <a:rPr lang="he-IL" dirty="0"/>
              <a:t> בצופן בלוקים </a:t>
            </a:r>
            <a:r>
              <a:rPr lang="he-IL" b="1" dirty="0"/>
              <a:t>לא מומלץ</a:t>
            </a:r>
            <a:r>
              <a:rPr lang="he-IL" dirty="0"/>
              <a:t> בגלל שהוא חושף דפוסים בטקסט המוצפן?</a:t>
            </a:r>
          </a:p>
          <a:p>
            <a:r>
              <a:rPr lang="he-IL" dirty="0"/>
              <a:t>6. מהו וקטור ייזום</a:t>
            </a:r>
            <a:r>
              <a:rPr lang="en-US" dirty="0"/>
              <a:t> IV </a:t>
            </a:r>
            <a:r>
              <a:rPr lang="he-IL" dirty="0"/>
              <a:t>ובאיזה מצב פעולה הוא נדרש?</a:t>
            </a:r>
          </a:p>
          <a:p>
            <a:endParaRPr lang="he-IL" dirty="0"/>
          </a:p>
        </p:txBody>
      </p:sp>
    </p:spTree>
    <p:extLst>
      <p:ext uri="{BB962C8B-B14F-4D97-AF65-F5344CB8AC3E}">
        <p14:creationId xmlns:p14="http://schemas.microsoft.com/office/powerpoint/2010/main" val="39370348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69433" y="226958"/>
            <a:ext cx="2155767" cy="1371600"/>
          </a:xfrm>
        </p:spPr>
        <p:txBody>
          <a:bodyPr/>
          <a:lstStyle/>
          <a:p>
            <a:r>
              <a:rPr lang="he-IL" dirty="0"/>
              <a:t>תשובות</a:t>
            </a:r>
          </a:p>
        </p:txBody>
      </p:sp>
      <p:sp>
        <p:nvSpPr>
          <p:cNvPr id="3" name="מציין מיקום תוכן 2"/>
          <p:cNvSpPr>
            <a:spLocks noGrp="1"/>
          </p:cNvSpPr>
          <p:nvPr>
            <p:ph idx="1"/>
          </p:nvPr>
        </p:nvSpPr>
        <p:spPr>
          <a:xfrm>
            <a:off x="1066800" y="1396537"/>
            <a:ext cx="10058400" cy="4971011"/>
          </a:xfrm>
        </p:spPr>
        <p:txBody>
          <a:bodyPr>
            <a:normAutofit/>
          </a:bodyPr>
          <a:lstStyle/>
          <a:p>
            <a:r>
              <a:rPr lang="he-IL" dirty="0"/>
              <a:t>1. צופן בלוקים הוא שיטת הצפנה שבה הנתונים מחולקים לבלוקים בגודל קבוע (למשל 128 ביטים) וכל בלוק מוצפן בנפרד.</a:t>
            </a:r>
            <a:br>
              <a:rPr lang="he-IL" dirty="0"/>
            </a:br>
            <a:r>
              <a:rPr lang="he-IL" dirty="0"/>
              <a:t>לעומת זאת, </a:t>
            </a:r>
            <a:r>
              <a:rPr lang="he-IL" b="1" dirty="0"/>
              <a:t>צופן זרם</a:t>
            </a:r>
            <a:r>
              <a:rPr lang="en-US" b="1" dirty="0"/>
              <a:t> Stream Cipher</a:t>
            </a:r>
            <a:r>
              <a:rPr lang="en-US" dirty="0"/>
              <a:t> </a:t>
            </a:r>
            <a:r>
              <a:rPr lang="he-IL" dirty="0"/>
              <a:t>מצפין את הנתונים </a:t>
            </a:r>
            <a:r>
              <a:rPr lang="he-IL" b="1" dirty="0"/>
              <a:t>בזרימה ביט אחר ביט או בתים בודדים</a:t>
            </a:r>
            <a:r>
              <a:rPr lang="he-IL" dirty="0"/>
              <a:t>, ללא חלוקה לבלוקים קבועים.</a:t>
            </a:r>
          </a:p>
          <a:p>
            <a:r>
              <a:rPr lang="he-IL" dirty="0"/>
              <a:t>2. ב-</a:t>
            </a:r>
            <a:r>
              <a:rPr lang="en-US" dirty="0"/>
              <a:t> AES </a:t>
            </a:r>
            <a:r>
              <a:rPr lang="he-IL" dirty="0"/>
              <a:t>הבלוק תמיד בגודל </a:t>
            </a:r>
            <a:r>
              <a:rPr lang="he-IL" b="1" dirty="0"/>
              <a:t>128 ביטים</a:t>
            </a:r>
            <a:r>
              <a:rPr lang="he-IL" dirty="0"/>
              <a:t> (16 בתים).</a:t>
            </a:r>
          </a:p>
          <a:p>
            <a:r>
              <a:rPr lang="he-IL" dirty="0"/>
              <a:t>3. אם הטקסט הקריא</a:t>
            </a:r>
            <a:r>
              <a:rPr lang="en-US" dirty="0"/>
              <a:t> plaintext </a:t>
            </a:r>
            <a:r>
              <a:rPr lang="he-IL" dirty="0"/>
              <a:t>אינו מתחלק בצורה מושלמת בגודל הבלוק, יש להוסיף </a:t>
            </a:r>
            <a:r>
              <a:rPr lang="he-IL" b="1" dirty="0"/>
              <a:t>ריפוד</a:t>
            </a:r>
            <a:r>
              <a:rPr lang="he-IL" dirty="0"/>
              <a:t> כדי להשלים את הבלוק האחרון לגודל הנדרש.</a:t>
            </a:r>
            <a:br>
              <a:rPr lang="he-IL" dirty="0"/>
            </a:br>
            <a:r>
              <a:rPr lang="he-IL" dirty="0"/>
              <a:t>למשל, אם גודל הבלוק הוא 128 ביטים והטקסט הוא 90 ביטים, נוסיף 38 ביטים של ריפוד.</a:t>
            </a:r>
          </a:p>
          <a:p>
            <a:r>
              <a:rPr lang="he-IL" dirty="0"/>
              <a:t>4.</a:t>
            </a:r>
            <a:r>
              <a:rPr lang="en-US" b="1" dirty="0"/>
              <a:t>Plaintext </a:t>
            </a:r>
            <a:r>
              <a:rPr lang="he-IL" dirty="0"/>
              <a:t>:</a:t>
            </a:r>
            <a:r>
              <a:rPr lang="en-US" dirty="0"/>
              <a:t> </a:t>
            </a:r>
            <a:r>
              <a:rPr lang="he-IL" dirty="0"/>
              <a:t>המידע המקורי לפני ההצפנה, ניתן לקריאה.</a:t>
            </a:r>
          </a:p>
          <a:p>
            <a:r>
              <a:rPr lang="en-US" b="1" dirty="0" err="1"/>
              <a:t>Ciphertext</a:t>
            </a:r>
            <a:r>
              <a:rPr lang="he-IL" dirty="0"/>
              <a:t>: המידע לאחר ההצפנה, נראה אקראי ואינו ניתן לקריאה ללא מפתח הפענוח.</a:t>
            </a:r>
          </a:p>
          <a:p>
            <a:r>
              <a:rPr lang="he-IL" dirty="0"/>
              <a:t>5. מצב הפעולה</a:t>
            </a:r>
            <a:r>
              <a:rPr lang="en-US" b="1" dirty="0"/>
              <a:t>ECB (Electronic Codebook)</a:t>
            </a:r>
            <a:r>
              <a:rPr lang="en-US" dirty="0"/>
              <a:t> </a:t>
            </a:r>
            <a:r>
              <a:rPr lang="he-IL" dirty="0"/>
              <a:t> אינו מומלץ, כי הוא מצפין כל בלוק בנפרד, כך שבלוקים זהים בטקסט הקריא יישארו זהים בטקסט המוצפן, מה שחושף דפוסים מסוכנים.</a:t>
            </a:r>
          </a:p>
          <a:p>
            <a:r>
              <a:rPr lang="he-IL" dirty="0"/>
              <a:t>6. </a:t>
            </a:r>
            <a:r>
              <a:rPr lang="he-IL" b="1" dirty="0"/>
              <a:t>וקטור ייזום</a:t>
            </a:r>
            <a:r>
              <a:rPr lang="en-US" b="1" dirty="0"/>
              <a:t>Initialization Vector - IV</a:t>
            </a:r>
            <a:r>
              <a:rPr lang="en-US" dirty="0"/>
              <a:t> </a:t>
            </a:r>
            <a:r>
              <a:rPr lang="he-IL" dirty="0"/>
              <a:t> הוא ערך אקראי שמתווסף לבלוק הראשון כדי למנוע </a:t>
            </a:r>
            <a:r>
              <a:rPr lang="he-IL" dirty="0" err="1"/>
              <a:t>חזרתיות</a:t>
            </a:r>
            <a:r>
              <a:rPr lang="he-IL" dirty="0"/>
              <a:t> ולשפר אבטחה.</a:t>
            </a:r>
            <a:br>
              <a:rPr lang="he-IL" dirty="0"/>
            </a:br>
            <a:r>
              <a:rPr lang="he-IL" dirty="0"/>
              <a:t>הוא נדרש במצבי פעולה כמו </a:t>
            </a:r>
            <a:r>
              <a:rPr lang="en-US" dirty="0"/>
              <a:t> ,</a:t>
            </a:r>
            <a:r>
              <a:rPr lang="en-US" b="1" dirty="0"/>
              <a:t>CBC ,CFB ,OFB</a:t>
            </a:r>
            <a:r>
              <a:rPr lang="he-IL" b="1" dirty="0"/>
              <a:t>ו-</a:t>
            </a:r>
            <a:r>
              <a:rPr lang="en-US" b="1" dirty="0"/>
              <a:t>GCM</a:t>
            </a:r>
            <a:r>
              <a:rPr lang="en-US" dirty="0"/>
              <a:t> </a:t>
            </a:r>
            <a:endParaRPr lang="he-IL" dirty="0"/>
          </a:p>
        </p:txBody>
      </p:sp>
    </p:spTree>
    <p:extLst>
      <p:ext uri="{BB962C8B-B14F-4D97-AF65-F5344CB8AC3E}">
        <p14:creationId xmlns:p14="http://schemas.microsoft.com/office/powerpoint/2010/main" val="12885178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460568"/>
            <a:ext cx="10058400" cy="3931920"/>
          </a:xfrm>
        </p:spPr>
        <p:txBody>
          <a:bodyPr>
            <a:normAutofit/>
          </a:bodyPr>
          <a:lstStyle/>
          <a:p>
            <a:pPr algn="ctr"/>
            <a:r>
              <a:rPr lang="he-IL" sz="6600" dirty="0"/>
              <a:t>צופן זרם</a:t>
            </a:r>
          </a:p>
        </p:txBody>
      </p:sp>
    </p:spTree>
    <p:extLst>
      <p:ext uri="{BB962C8B-B14F-4D97-AF65-F5344CB8AC3E}">
        <p14:creationId xmlns:p14="http://schemas.microsoft.com/office/powerpoint/2010/main" val="24485262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007628" y="642594"/>
            <a:ext cx="4117571" cy="1371600"/>
          </a:xfrm>
        </p:spPr>
        <p:txBody>
          <a:bodyPr/>
          <a:lstStyle/>
          <a:p>
            <a:r>
              <a:rPr lang="he-IL" dirty="0"/>
              <a:t>מבוא לצופן זרם</a:t>
            </a:r>
          </a:p>
        </p:txBody>
      </p:sp>
      <p:sp>
        <p:nvSpPr>
          <p:cNvPr id="3" name="מציין מיקום תוכן 2"/>
          <p:cNvSpPr>
            <a:spLocks noGrp="1"/>
          </p:cNvSpPr>
          <p:nvPr>
            <p:ph idx="1"/>
          </p:nvPr>
        </p:nvSpPr>
        <p:spPr/>
        <p:txBody>
          <a:bodyPr/>
          <a:lstStyle/>
          <a:p>
            <a:r>
              <a:rPr lang="he-IL" b="1" dirty="0"/>
              <a:t>צופן זרם</a:t>
            </a:r>
            <a:r>
              <a:rPr lang="he-IL" dirty="0"/>
              <a:t> הוא סוג של הצפנה סימטרית שבו המידע מוצפן </a:t>
            </a:r>
            <a:r>
              <a:rPr lang="he-IL" b="1" dirty="0"/>
              <a:t>בזרימה רציפה של ביטים או בתים</a:t>
            </a:r>
            <a:r>
              <a:rPr lang="he-IL" dirty="0"/>
              <a:t> (ולא בבלוקים קבועים כמו בצופן בלוקים).</a:t>
            </a:r>
            <a:br>
              <a:rPr lang="he-IL" dirty="0"/>
            </a:br>
            <a:r>
              <a:rPr lang="he-IL" dirty="0"/>
              <a:t>במקום לחלק את הנתונים לבלוקים, צופן זרם משתמש </a:t>
            </a:r>
            <a:r>
              <a:rPr lang="he-IL" b="1" dirty="0"/>
              <a:t>במחולל מפתח</a:t>
            </a:r>
            <a:r>
              <a:rPr lang="en-US" b="1" dirty="0"/>
              <a:t> Keystream Generator</a:t>
            </a:r>
            <a:r>
              <a:rPr lang="en-US" dirty="0"/>
              <a:t> </a:t>
            </a:r>
            <a:r>
              <a:rPr lang="he-IL" dirty="0"/>
              <a:t>שמייצר זרם ביטים אקראי</a:t>
            </a:r>
            <a:r>
              <a:rPr lang="en-US" dirty="0"/>
              <a:t> Keystream </a:t>
            </a:r>
            <a:r>
              <a:rPr lang="he-IL" dirty="0"/>
              <a:t>ואז משלב אותו עם הנתונים בטכניקת </a:t>
            </a:r>
            <a:r>
              <a:rPr lang="en-US" b="1" dirty="0"/>
              <a:t>XOR</a:t>
            </a:r>
            <a:r>
              <a:rPr lang="he-IL" dirty="0"/>
              <a:t>.</a:t>
            </a:r>
          </a:p>
        </p:txBody>
      </p:sp>
    </p:spTree>
    <p:extLst>
      <p:ext uri="{BB962C8B-B14F-4D97-AF65-F5344CB8AC3E}">
        <p14:creationId xmlns:p14="http://schemas.microsoft.com/office/powerpoint/2010/main" val="12284117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912822" y="642594"/>
            <a:ext cx="6212378" cy="1371600"/>
          </a:xfrm>
        </p:spPr>
        <p:txBody>
          <a:bodyPr/>
          <a:lstStyle/>
          <a:p>
            <a:r>
              <a:rPr lang="he-IL" dirty="0"/>
              <a:t>דוגמה פשוטה לצופן זרם:</a:t>
            </a:r>
          </a:p>
        </p:txBody>
      </p:sp>
      <p:sp>
        <p:nvSpPr>
          <p:cNvPr id="3" name="מציין מיקום תוכן 2"/>
          <p:cNvSpPr>
            <a:spLocks noGrp="1"/>
          </p:cNvSpPr>
          <p:nvPr>
            <p:ph idx="1"/>
          </p:nvPr>
        </p:nvSpPr>
        <p:spPr>
          <a:xfrm>
            <a:off x="1066800" y="2103119"/>
            <a:ext cx="10058400" cy="4305993"/>
          </a:xfrm>
        </p:spPr>
        <p:txBody>
          <a:bodyPr>
            <a:normAutofit fontScale="92500" lnSpcReduction="10000"/>
          </a:bodyPr>
          <a:lstStyle/>
          <a:p>
            <a:r>
              <a:rPr lang="he-IL" dirty="0"/>
              <a:t>נניח שיש לנו את הטקסט הקריא </a:t>
            </a:r>
            <a:r>
              <a:rPr lang="en-US" dirty="0"/>
              <a:t>plaintext</a:t>
            </a:r>
            <a:r>
              <a:rPr lang="he-IL" dirty="0"/>
              <a:t>:</a:t>
            </a:r>
          </a:p>
          <a:p>
            <a:pPr algn="l"/>
            <a:r>
              <a:rPr lang="en-US" dirty="0"/>
              <a:t>HELLO</a:t>
            </a:r>
          </a:p>
          <a:p>
            <a:r>
              <a:rPr lang="he-IL" dirty="0"/>
              <a:t>והמחולל מייצר את זרם המפתח </a:t>
            </a:r>
            <a:r>
              <a:rPr lang="en-US" dirty="0"/>
              <a:t>keystream</a:t>
            </a:r>
            <a:r>
              <a:rPr lang="he-IL" dirty="0"/>
              <a:t>:</a:t>
            </a:r>
          </a:p>
          <a:p>
            <a:pPr algn="l"/>
            <a:r>
              <a:rPr lang="en-US" dirty="0"/>
              <a:t>XMCKL</a:t>
            </a:r>
          </a:p>
          <a:p>
            <a:r>
              <a:rPr lang="he-IL" dirty="0"/>
              <a:t>אם נבצע </a:t>
            </a:r>
            <a:r>
              <a:rPr lang="en-US" dirty="0"/>
              <a:t> XOR</a:t>
            </a:r>
            <a:r>
              <a:rPr lang="he-IL" dirty="0"/>
              <a:t>בין כל אות בטקסט לבין האות המתאימה בזרם המפתח, נקבל את הטקסט המוצפן.</a:t>
            </a:r>
            <a:br>
              <a:rPr lang="he-IL" dirty="0"/>
            </a:br>
            <a:r>
              <a:rPr lang="he-IL" dirty="0"/>
              <a:t>למשל:</a:t>
            </a:r>
          </a:p>
          <a:p>
            <a:pPr algn="l"/>
            <a:r>
              <a:rPr lang="en-US" dirty="0"/>
              <a:t> = H ⊕ X </a:t>
            </a:r>
            <a:r>
              <a:rPr lang="he-IL" dirty="0"/>
              <a:t>טקסט מוצפן</a:t>
            </a:r>
          </a:p>
          <a:p>
            <a:pPr algn="l"/>
            <a:r>
              <a:rPr lang="en-US" dirty="0"/>
              <a:t>= E ⊕ M </a:t>
            </a:r>
            <a:r>
              <a:rPr lang="he-IL" dirty="0"/>
              <a:t> טקסט מוצפן</a:t>
            </a:r>
          </a:p>
          <a:p>
            <a:pPr algn="l"/>
            <a:r>
              <a:rPr lang="en-US" dirty="0"/>
              <a:t> = L ⊕ C </a:t>
            </a:r>
            <a:r>
              <a:rPr lang="he-IL" dirty="0"/>
              <a:t>טקסט מוצפן</a:t>
            </a:r>
          </a:p>
          <a:p>
            <a:pPr algn="l"/>
            <a:r>
              <a:rPr lang="en-US" dirty="0"/>
              <a:t>= L ⊕ K </a:t>
            </a:r>
            <a:r>
              <a:rPr lang="he-IL" dirty="0"/>
              <a:t> טקסט מוצפן</a:t>
            </a:r>
          </a:p>
          <a:p>
            <a:pPr algn="l"/>
            <a:r>
              <a:rPr lang="en-US" dirty="0"/>
              <a:t>= O ⊕ L </a:t>
            </a:r>
            <a:r>
              <a:rPr lang="he-IL" dirty="0"/>
              <a:t> טקסט מוצפן</a:t>
            </a:r>
          </a:p>
          <a:p>
            <a:r>
              <a:rPr lang="he-IL" dirty="0"/>
              <a:t>הפענוח מתבצע באותה דרך, על ידי חיבור הזרם המוצפן שוב עם אותו </a:t>
            </a:r>
            <a:r>
              <a:rPr lang="en-US" dirty="0"/>
              <a:t>keystream</a:t>
            </a:r>
            <a:endParaRPr lang="he-IL" dirty="0"/>
          </a:p>
          <a:p>
            <a:pPr algn="l"/>
            <a:endParaRPr lang="he-IL" dirty="0"/>
          </a:p>
        </p:txBody>
      </p:sp>
    </p:spTree>
    <p:extLst>
      <p:ext uri="{BB962C8B-B14F-4D97-AF65-F5344CB8AC3E}">
        <p14:creationId xmlns:p14="http://schemas.microsoft.com/office/powerpoint/2010/main" val="22034299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176356" y="642594"/>
            <a:ext cx="4948844" cy="1371600"/>
          </a:xfrm>
        </p:spPr>
        <p:txBody>
          <a:bodyPr/>
          <a:lstStyle/>
          <a:p>
            <a:r>
              <a:rPr lang="he-IL" dirty="0"/>
              <a:t>איך פועל צופן זרם?</a:t>
            </a:r>
          </a:p>
        </p:txBody>
      </p:sp>
      <p:sp>
        <p:nvSpPr>
          <p:cNvPr id="3" name="מציין מיקום תוכן 2"/>
          <p:cNvSpPr>
            <a:spLocks noGrp="1"/>
          </p:cNvSpPr>
          <p:nvPr>
            <p:ph idx="1"/>
          </p:nvPr>
        </p:nvSpPr>
        <p:spPr/>
        <p:txBody>
          <a:bodyPr/>
          <a:lstStyle/>
          <a:p>
            <a:r>
              <a:rPr lang="he-IL" dirty="0"/>
              <a:t>1. </a:t>
            </a:r>
            <a:r>
              <a:rPr lang="he-IL" b="1" dirty="0"/>
              <a:t>יצירת זרם המפתח </a:t>
            </a:r>
            <a:r>
              <a:rPr lang="en-US" b="1" dirty="0"/>
              <a:t>Keystream Generation</a:t>
            </a:r>
          </a:p>
          <a:p>
            <a:r>
              <a:rPr lang="he-IL" dirty="0"/>
              <a:t>מחולל זרם המפתח </a:t>
            </a:r>
            <a:r>
              <a:rPr lang="he-IL" b="1" dirty="0"/>
              <a:t>מייצר רצף ביטים </a:t>
            </a:r>
            <a:r>
              <a:rPr lang="he-IL" b="1" dirty="0" err="1"/>
              <a:t>פסאודו</a:t>
            </a:r>
            <a:r>
              <a:rPr lang="he-IL" b="1" dirty="0"/>
              <a:t>-אקראי</a:t>
            </a:r>
            <a:r>
              <a:rPr lang="he-IL" dirty="0"/>
              <a:t> באותו אורך של הטקסט המקורי.</a:t>
            </a:r>
          </a:p>
          <a:p>
            <a:r>
              <a:rPr lang="he-IL" dirty="0"/>
              <a:t>כל ביט בטקסט הקריא מוצפן </a:t>
            </a:r>
            <a:r>
              <a:rPr lang="he-IL" b="1" dirty="0"/>
              <a:t>באופן נפרד</a:t>
            </a:r>
            <a:r>
              <a:rPr lang="he-IL" dirty="0"/>
              <a:t>, מה שמקנה גמישות בצופן.</a:t>
            </a:r>
          </a:p>
          <a:p>
            <a:r>
              <a:rPr lang="he-IL" dirty="0"/>
              <a:t>זרם המפתח </a:t>
            </a:r>
            <a:r>
              <a:rPr lang="he-IL" b="1" dirty="0"/>
              <a:t>לעולם לא חוזר על עצמו</a:t>
            </a:r>
            <a:r>
              <a:rPr lang="he-IL" dirty="0"/>
              <a:t>, אחרת תוקף יוכל לשחזר את הנתונים.</a:t>
            </a:r>
          </a:p>
          <a:p>
            <a:r>
              <a:rPr lang="he-IL" dirty="0"/>
              <a:t>2. שימוש ב-</a:t>
            </a:r>
            <a:r>
              <a:rPr lang="en-US" dirty="0"/>
              <a:t>XOR </a:t>
            </a:r>
            <a:r>
              <a:rPr lang="he-IL" dirty="0"/>
              <a:t> להצפנה ופענוח</a:t>
            </a:r>
          </a:p>
          <a:p>
            <a:r>
              <a:rPr lang="he-IL" dirty="0"/>
              <a:t>הצפנה:</a:t>
            </a:r>
          </a:p>
          <a:p>
            <a:r>
              <a:rPr lang="en-US" dirty="0" err="1"/>
              <a:t>Ciphertext</a:t>
            </a:r>
            <a:r>
              <a:rPr lang="en-US" dirty="0"/>
              <a:t> = Plaintext ⊕ Keystream</a:t>
            </a:r>
          </a:p>
          <a:p>
            <a:r>
              <a:rPr lang="he-IL" dirty="0"/>
              <a:t>פענוח (היפוך ההצפנה):</a:t>
            </a:r>
          </a:p>
          <a:p>
            <a:r>
              <a:rPr lang="en-US" dirty="0"/>
              <a:t>Plaintext = </a:t>
            </a:r>
            <a:r>
              <a:rPr lang="en-US" dirty="0" err="1"/>
              <a:t>Ciphertext</a:t>
            </a:r>
            <a:r>
              <a:rPr lang="en-US" dirty="0"/>
              <a:t> ⊕ Keystream</a:t>
            </a:r>
            <a:endParaRPr lang="he-IL" dirty="0"/>
          </a:p>
          <a:p>
            <a:r>
              <a:rPr lang="he-IL" dirty="0"/>
              <a:t>מכיוון ש-</a:t>
            </a:r>
            <a:r>
              <a:rPr lang="en-US" dirty="0"/>
              <a:t> XOR </a:t>
            </a:r>
            <a:r>
              <a:rPr lang="he-IL" dirty="0"/>
              <a:t>היא פעולה הפיכה, ניתן לקבל חזרה את המידע המקורי אם זרם המפתח ידוע.</a:t>
            </a:r>
            <a:endParaRPr lang="en-US" dirty="0"/>
          </a:p>
          <a:p>
            <a:endParaRPr lang="he-IL" dirty="0"/>
          </a:p>
        </p:txBody>
      </p:sp>
    </p:spTree>
    <p:extLst>
      <p:ext uri="{BB962C8B-B14F-4D97-AF65-F5344CB8AC3E}">
        <p14:creationId xmlns:p14="http://schemas.microsoft.com/office/powerpoint/2010/main" val="20210470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308464" y="642594"/>
            <a:ext cx="7816735" cy="1371600"/>
          </a:xfrm>
        </p:spPr>
        <p:txBody>
          <a:bodyPr/>
          <a:lstStyle/>
          <a:p>
            <a:r>
              <a:rPr lang="he-IL" dirty="0"/>
              <a:t>צופן זרם אסינכרוני / תלוי מצב </a:t>
            </a:r>
          </a:p>
        </p:txBody>
      </p:sp>
      <p:sp>
        <p:nvSpPr>
          <p:cNvPr id="3" name="מציין מיקום תוכן 2"/>
          <p:cNvSpPr>
            <a:spLocks noGrp="1"/>
          </p:cNvSpPr>
          <p:nvPr>
            <p:ph idx="1"/>
          </p:nvPr>
        </p:nvSpPr>
        <p:spPr/>
        <p:txBody>
          <a:bodyPr/>
          <a:lstStyle/>
          <a:p>
            <a:r>
              <a:rPr lang="he-IL" dirty="0"/>
              <a:t>כל ביט מוצפן </a:t>
            </a:r>
            <a:r>
              <a:rPr lang="he-IL" b="1" dirty="0"/>
              <a:t>מושפע מהביטים שהוצפנו לפניו</a:t>
            </a:r>
            <a:r>
              <a:rPr lang="he-IL" dirty="0"/>
              <a:t>.</a:t>
            </a:r>
          </a:p>
          <a:p>
            <a:r>
              <a:rPr lang="he-IL" dirty="0"/>
              <a:t>הטקסט המוצפן נשמר במצב פנימי של האלגוריתם, ולכן ניתן לשחזר את הסנכרון במקרה של שיבוש.</a:t>
            </a:r>
          </a:p>
          <a:p>
            <a:r>
              <a:rPr lang="he-IL" dirty="0"/>
              <a:t>דוגמה: </a:t>
            </a:r>
            <a:r>
              <a:rPr lang="en-US" b="1" dirty="0"/>
              <a:t>CIFB (Cipher Feedback Mode) ,OFB (Output Feedback Mode)</a:t>
            </a:r>
            <a:endParaRPr lang="en-US" dirty="0"/>
          </a:p>
          <a:p>
            <a:r>
              <a:rPr lang="he-IL" b="1" dirty="0"/>
              <a:t>יתרון:</a:t>
            </a:r>
            <a:endParaRPr lang="he-IL" dirty="0"/>
          </a:p>
          <a:p>
            <a:r>
              <a:rPr lang="he-IL" dirty="0"/>
              <a:t>אם חלק מהטקסט המוצפן משתבש, ההצפנה תחזור לפעול נכון אחרי כמה ביטים.</a:t>
            </a:r>
          </a:p>
          <a:p>
            <a:r>
              <a:rPr lang="he-IL" b="1" dirty="0"/>
              <a:t>חיסרון:</a:t>
            </a:r>
            <a:endParaRPr lang="he-IL" dirty="0"/>
          </a:p>
          <a:p>
            <a:r>
              <a:rPr lang="he-IL" dirty="0"/>
              <a:t>רמת האבטחה תלויה ברגישות המצב הפנימי של המחולל.</a:t>
            </a:r>
          </a:p>
          <a:p>
            <a:endParaRPr lang="he-IL" dirty="0"/>
          </a:p>
        </p:txBody>
      </p:sp>
    </p:spTree>
    <p:extLst>
      <p:ext uri="{BB962C8B-B14F-4D97-AF65-F5344CB8AC3E}">
        <p14:creationId xmlns:p14="http://schemas.microsoft.com/office/powerpoint/2010/main" val="19978546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57447" y="642594"/>
            <a:ext cx="11563004" cy="1371600"/>
          </a:xfrm>
        </p:spPr>
        <p:txBody>
          <a:bodyPr>
            <a:normAutofit fontScale="90000"/>
          </a:bodyPr>
          <a:lstStyle/>
          <a:p>
            <a:r>
              <a:rPr lang="he-IL" dirty="0"/>
              <a:t>מחוללי מספרים </a:t>
            </a:r>
            <a:r>
              <a:rPr lang="he-IL" dirty="0" err="1"/>
              <a:t>פסאודו</a:t>
            </a:r>
            <a:r>
              <a:rPr lang="he-IL" dirty="0"/>
              <a:t>-אקראיים</a:t>
            </a:r>
            <a:r>
              <a:rPr lang="en-US" dirty="0"/>
              <a:t> PRNG </a:t>
            </a:r>
            <a:r>
              <a:rPr lang="he-IL" dirty="0"/>
              <a:t>בצופן זרם</a:t>
            </a:r>
          </a:p>
        </p:txBody>
      </p:sp>
      <p:sp>
        <p:nvSpPr>
          <p:cNvPr id="3" name="מציין מיקום תוכן 2"/>
          <p:cNvSpPr>
            <a:spLocks noGrp="1"/>
          </p:cNvSpPr>
          <p:nvPr>
            <p:ph idx="1"/>
          </p:nvPr>
        </p:nvSpPr>
        <p:spPr/>
        <p:txBody>
          <a:bodyPr/>
          <a:lstStyle/>
          <a:p>
            <a:r>
              <a:rPr lang="he-IL" b="1" dirty="0"/>
              <a:t>מחוללי מספרים </a:t>
            </a:r>
            <a:r>
              <a:rPr lang="he-IL" b="1" dirty="0" err="1"/>
              <a:t>פסאודו</a:t>
            </a:r>
            <a:r>
              <a:rPr lang="he-IL" b="1" dirty="0"/>
              <a:t>-אקראיים</a:t>
            </a:r>
            <a:r>
              <a:rPr lang="en-US" b="1" dirty="0"/>
              <a:t>PRNG </a:t>
            </a:r>
            <a:r>
              <a:rPr lang="he-IL" b="1" dirty="0"/>
              <a:t>בצופן זרם</a:t>
            </a:r>
          </a:p>
          <a:p>
            <a:r>
              <a:rPr lang="en-US" b="1" dirty="0"/>
              <a:t> PRNG (Pseudorandom Number Generator)</a:t>
            </a:r>
            <a:r>
              <a:rPr lang="en-US" dirty="0"/>
              <a:t> </a:t>
            </a:r>
            <a:r>
              <a:rPr lang="he-IL" dirty="0"/>
              <a:t>הוא רכיב קריטי בצופן זרם, המשמש להפקת זרם מפתח חזק.</a:t>
            </a:r>
            <a:br>
              <a:rPr lang="he-IL" dirty="0"/>
            </a:br>
            <a:r>
              <a:rPr lang="he-IL" dirty="0"/>
              <a:t>אם המחולל אינו אקראי מספיק, ניתן לפרוץ את ההצפנה.</a:t>
            </a:r>
          </a:p>
          <a:p>
            <a:r>
              <a:rPr lang="he-IL" dirty="0"/>
              <a:t>🔹 </a:t>
            </a:r>
            <a:r>
              <a:rPr lang="he-IL" b="1" dirty="0"/>
              <a:t>דוגמאות למחוללי מספרים </a:t>
            </a:r>
            <a:r>
              <a:rPr lang="he-IL" b="1" dirty="0" err="1"/>
              <a:t>פסאודו</a:t>
            </a:r>
            <a:r>
              <a:rPr lang="he-IL" b="1" dirty="0"/>
              <a:t>-אקראיים נפוצים:</a:t>
            </a:r>
            <a:endParaRPr lang="he-IL" dirty="0"/>
          </a:p>
          <a:p>
            <a:r>
              <a:rPr lang="en-US" b="1" dirty="0"/>
              <a:t>LFSR (Linear Feedback Shift Register)</a:t>
            </a:r>
            <a:r>
              <a:rPr lang="en-US" dirty="0"/>
              <a:t> .1</a:t>
            </a:r>
            <a:r>
              <a:rPr lang="he-IL" dirty="0"/>
              <a:t>: נפוץ בצפנים ישנים, אך ניתן לחיזוי בקלות. </a:t>
            </a:r>
          </a:p>
          <a:p>
            <a:r>
              <a:rPr lang="en-US" b="1" dirty="0"/>
              <a:t> :RC4 PRNG</a:t>
            </a:r>
            <a:r>
              <a:rPr lang="en-US" dirty="0"/>
              <a:t> .2 </a:t>
            </a:r>
            <a:r>
              <a:rPr lang="he-IL" dirty="0"/>
              <a:t>היה בשימוש ב-</a:t>
            </a:r>
            <a:r>
              <a:rPr lang="en-US" dirty="0"/>
              <a:t> WEP </a:t>
            </a:r>
            <a:r>
              <a:rPr lang="he-IL" dirty="0"/>
              <a:t>אך יש בו חולשות </a:t>
            </a:r>
            <a:r>
              <a:rPr lang="he-IL" dirty="0" err="1"/>
              <a:t>קריפטוגרפיות</a:t>
            </a:r>
            <a:r>
              <a:rPr lang="he-IL" dirty="0"/>
              <a:t>.</a:t>
            </a:r>
          </a:p>
          <a:p>
            <a:r>
              <a:rPr lang="en-US" b="1" dirty="0" err="1"/>
              <a:t>ChaCha</a:t>
            </a:r>
            <a:r>
              <a:rPr lang="en-US" b="1" dirty="0"/>
              <a:t> PRNG</a:t>
            </a:r>
            <a:r>
              <a:rPr lang="en-US" dirty="0"/>
              <a:t> .3 </a:t>
            </a:r>
            <a:r>
              <a:rPr lang="he-IL" dirty="0"/>
              <a:t>: בטוח ומהיר, נמצא בשימוש ב-</a:t>
            </a:r>
            <a:r>
              <a:rPr lang="en-US" dirty="0"/>
              <a:t> TLS 1.3 </a:t>
            </a:r>
            <a:r>
              <a:rPr lang="he-IL" dirty="0"/>
              <a:t>וב-</a:t>
            </a:r>
            <a:r>
              <a:rPr lang="en-US" dirty="0"/>
              <a:t>SSH</a:t>
            </a:r>
          </a:p>
          <a:p>
            <a:r>
              <a:rPr lang="he-IL" b="1" dirty="0"/>
              <a:t>בעיות של</a:t>
            </a:r>
            <a:r>
              <a:rPr lang="en-US" b="1" dirty="0"/>
              <a:t>PRNG </a:t>
            </a:r>
            <a:r>
              <a:rPr lang="he-IL" b="1" dirty="0"/>
              <a:t> חלש:</a:t>
            </a:r>
            <a:r>
              <a:rPr lang="he-IL" dirty="0"/>
              <a:t/>
            </a:r>
            <a:br>
              <a:rPr lang="he-IL" dirty="0"/>
            </a:br>
            <a:r>
              <a:rPr lang="he-IL" dirty="0"/>
              <a:t>אם </a:t>
            </a:r>
            <a:r>
              <a:rPr lang="en-US" dirty="0"/>
              <a:t> PRNG</a:t>
            </a:r>
            <a:r>
              <a:rPr lang="he-IL" dirty="0"/>
              <a:t>יוצר</a:t>
            </a:r>
            <a:r>
              <a:rPr lang="en-US" dirty="0"/>
              <a:t> keystream </a:t>
            </a:r>
            <a:r>
              <a:rPr lang="he-IL" dirty="0"/>
              <a:t>שחוזר על עצמו (מחזוריות), התוקף יכול </a:t>
            </a:r>
            <a:r>
              <a:rPr lang="he-IL" b="1" dirty="0"/>
              <a:t>לנחש את המפתח ולפענח את ההצפנה!</a:t>
            </a:r>
            <a:endParaRPr lang="he-IL" dirty="0"/>
          </a:p>
          <a:p>
            <a:endParaRPr lang="he-IL" dirty="0"/>
          </a:p>
        </p:txBody>
      </p:sp>
    </p:spTree>
    <p:extLst>
      <p:ext uri="{BB962C8B-B14F-4D97-AF65-F5344CB8AC3E}">
        <p14:creationId xmlns:p14="http://schemas.microsoft.com/office/powerpoint/2010/main" val="1268564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793970" y="642594"/>
            <a:ext cx="5331229" cy="1371600"/>
          </a:xfrm>
        </p:spPr>
        <p:txBody>
          <a:bodyPr/>
          <a:lstStyle/>
          <a:p>
            <a:r>
              <a:rPr lang="he-IL" dirty="0"/>
              <a:t>מתקפות על צופן זרם</a:t>
            </a:r>
          </a:p>
        </p:txBody>
      </p:sp>
      <p:sp>
        <p:nvSpPr>
          <p:cNvPr id="3" name="מציין מיקום תוכן 2"/>
          <p:cNvSpPr>
            <a:spLocks noGrp="1"/>
          </p:cNvSpPr>
          <p:nvPr>
            <p:ph idx="1"/>
          </p:nvPr>
        </p:nvSpPr>
        <p:spPr/>
        <p:txBody>
          <a:bodyPr/>
          <a:lstStyle/>
          <a:p>
            <a:r>
              <a:rPr lang="he-IL" b="1" dirty="0"/>
              <a:t>מתקפת שימוש חוזר של </a:t>
            </a:r>
            <a:r>
              <a:rPr lang="en-US" b="1" dirty="0"/>
              <a:t>keystream</a:t>
            </a:r>
          </a:p>
          <a:p>
            <a:r>
              <a:rPr lang="he-IL" dirty="0"/>
              <a:t>אם שני מסרים שונים מוצפנים עם </a:t>
            </a:r>
            <a:r>
              <a:rPr lang="he-IL" b="1" dirty="0"/>
              <a:t>אותו </a:t>
            </a:r>
            <a:r>
              <a:rPr lang="en-US" b="1" dirty="0"/>
              <a:t> keystream</a:t>
            </a:r>
            <a:r>
              <a:rPr lang="he-IL" dirty="0"/>
              <a:t>ניתן לבצע </a:t>
            </a:r>
            <a:r>
              <a:rPr lang="en-US" dirty="0"/>
              <a:t> XOR</a:t>
            </a:r>
            <a:r>
              <a:rPr lang="he-IL" dirty="0"/>
              <a:t>ביניהם ולקבל:</a:t>
            </a:r>
          </a:p>
          <a:p>
            <a:r>
              <a:rPr lang="en-US" dirty="0"/>
              <a:t>C1 ⊕ C2 = P1 ⊕ P2 </a:t>
            </a:r>
            <a:r>
              <a:rPr lang="he-IL" dirty="0"/>
              <a:t> התוצאה היא </a:t>
            </a:r>
            <a:r>
              <a:rPr lang="en-US" dirty="0"/>
              <a:t> </a:t>
            </a:r>
            <a:r>
              <a:rPr lang="en-US" b="1" dirty="0"/>
              <a:t>XOR </a:t>
            </a:r>
            <a:r>
              <a:rPr lang="he-IL" b="1" dirty="0"/>
              <a:t>בין שני הטקסטים הקריאים</a:t>
            </a:r>
            <a:r>
              <a:rPr lang="he-IL" dirty="0"/>
              <a:t>, מה שמאפשר ניתוח סטטיסטי ושחזור המידע.</a:t>
            </a:r>
          </a:p>
          <a:p>
            <a:r>
              <a:rPr lang="he-IL" b="1" dirty="0"/>
              <a:t>דוגמה היסטורית:</a:t>
            </a:r>
            <a:r>
              <a:rPr lang="he-IL" dirty="0"/>
              <a:t/>
            </a:r>
            <a:br>
              <a:rPr lang="he-IL" dirty="0"/>
            </a:br>
            <a:r>
              <a:rPr lang="he-IL" dirty="0"/>
              <a:t>במהלך מלחמת העולם השנייה, הסובייטים השתמשו </a:t>
            </a:r>
            <a:r>
              <a:rPr lang="he-IL" b="1" dirty="0"/>
              <a:t>ב-</a:t>
            </a:r>
            <a:r>
              <a:rPr lang="en-US" b="1" dirty="0"/>
              <a:t> One-Time Pad (OTP)</a:t>
            </a:r>
            <a:r>
              <a:rPr lang="en-US" dirty="0"/>
              <a:t> </a:t>
            </a:r>
            <a:r>
              <a:rPr lang="he-IL" dirty="0"/>
              <a:t>בצורה לא נכונה (שימוש חוזר ב-</a:t>
            </a:r>
            <a:r>
              <a:rPr lang="en-US" dirty="0"/>
              <a:t>keystream </a:t>
            </a:r>
            <a:r>
              <a:rPr lang="he-IL" dirty="0"/>
              <a:t> ואנשי הקריפטוגרפיה האמריקאים הצליחו לפענח הודעות סודיות.</a:t>
            </a:r>
          </a:p>
          <a:p>
            <a:endParaRPr lang="he-IL" dirty="0"/>
          </a:p>
        </p:txBody>
      </p:sp>
    </p:spTree>
    <p:extLst>
      <p:ext uri="{BB962C8B-B14F-4D97-AF65-F5344CB8AC3E}">
        <p14:creationId xmlns:p14="http://schemas.microsoft.com/office/powerpoint/2010/main" val="31885220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5898" y="102266"/>
            <a:ext cx="12020204" cy="1371600"/>
          </a:xfrm>
        </p:spPr>
        <p:txBody>
          <a:bodyPr>
            <a:normAutofit fontScale="90000"/>
          </a:bodyPr>
          <a:lstStyle/>
          <a:p>
            <a:r>
              <a:rPr lang="he-IL" dirty="0"/>
              <a:t>מה הבעיה עם שימוש חוזר ב-</a:t>
            </a:r>
            <a:r>
              <a:rPr lang="en-US" dirty="0"/>
              <a:t> keystream </a:t>
            </a:r>
            <a:r>
              <a:rPr lang="he-IL" dirty="0"/>
              <a:t>בצופן זרם?</a:t>
            </a:r>
          </a:p>
        </p:txBody>
      </p:sp>
      <p:sp>
        <p:nvSpPr>
          <p:cNvPr id="3" name="מציין מיקום תוכן 2"/>
          <p:cNvSpPr>
            <a:spLocks noGrp="1"/>
          </p:cNvSpPr>
          <p:nvPr>
            <p:ph idx="1"/>
          </p:nvPr>
        </p:nvSpPr>
        <p:spPr>
          <a:xfrm>
            <a:off x="1066800" y="1238597"/>
            <a:ext cx="10058400" cy="5403272"/>
          </a:xfrm>
        </p:spPr>
        <p:txBody>
          <a:bodyPr>
            <a:normAutofit/>
          </a:bodyPr>
          <a:lstStyle/>
          <a:p>
            <a:r>
              <a:rPr lang="he-IL" dirty="0"/>
              <a:t>נזכור שצופן זרם </a:t>
            </a:r>
            <a:r>
              <a:rPr lang="he-IL" b="1" dirty="0"/>
              <a:t>מצפין כל ביט בנפרד</a:t>
            </a:r>
            <a:r>
              <a:rPr lang="he-IL" dirty="0"/>
              <a:t> על ידי </a:t>
            </a:r>
            <a:r>
              <a:rPr lang="en-US" dirty="0"/>
              <a:t> </a:t>
            </a:r>
            <a:r>
              <a:rPr lang="en-US" b="1" dirty="0"/>
              <a:t>XOR</a:t>
            </a:r>
            <a:r>
              <a:rPr lang="en-US" dirty="0"/>
              <a:t> </a:t>
            </a:r>
            <a:r>
              <a:rPr lang="he-IL" dirty="0"/>
              <a:t>עם זרם מפתח </a:t>
            </a:r>
            <a:r>
              <a:rPr lang="en-US" dirty="0"/>
              <a:t>keystream</a:t>
            </a:r>
          </a:p>
          <a:p>
            <a:r>
              <a:rPr lang="he-IL" dirty="0"/>
              <a:t>אם משתמשים </a:t>
            </a:r>
            <a:r>
              <a:rPr lang="he-IL" b="1" dirty="0"/>
              <a:t>באותו זרם מפתח</a:t>
            </a:r>
            <a:r>
              <a:rPr lang="he-IL" dirty="0"/>
              <a:t> כדי להצפין </a:t>
            </a:r>
            <a:r>
              <a:rPr lang="he-IL" b="1" dirty="0"/>
              <a:t>שני מסרים שונים</a:t>
            </a:r>
            <a:r>
              <a:rPr lang="he-IL" dirty="0"/>
              <a:t>, אפשר לגלות מידע חשוב עליהם!</a:t>
            </a:r>
          </a:p>
          <a:p>
            <a:r>
              <a:rPr lang="he-IL" b="1" dirty="0"/>
              <a:t>איך זה עובד? בוא נפרק את זה שלב אחרי שלב:</a:t>
            </a:r>
          </a:p>
          <a:p>
            <a:r>
              <a:rPr lang="he-IL" dirty="0"/>
              <a:t>1. יש לנו שני מסרים </a:t>
            </a:r>
            <a:r>
              <a:rPr lang="he-IL" b="1" dirty="0"/>
              <a:t>שונים</a:t>
            </a:r>
            <a:r>
              <a:rPr lang="he-IL" dirty="0"/>
              <a:t>:</a:t>
            </a:r>
          </a:p>
          <a:p>
            <a:pPr lvl="1"/>
            <a:r>
              <a:rPr lang="he-IL" dirty="0"/>
              <a:t>מסר 1: </a:t>
            </a:r>
            <a:r>
              <a:rPr lang="en-US" b="1" dirty="0"/>
              <a:t>P1</a:t>
            </a:r>
            <a:endParaRPr lang="en-US" dirty="0"/>
          </a:p>
          <a:p>
            <a:pPr lvl="1"/>
            <a:r>
              <a:rPr lang="he-IL" dirty="0"/>
              <a:t>מסר 2: </a:t>
            </a:r>
            <a:r>
              <a:rPr lang="en-US" b="1" dirty="0"/>
              <a:t>P2</a:t>
            </a:r>
            <a:endParaRPr lang="en-US" dirty="0"/>
          </a:p>
          <a:p>
            <a:r>
              <a:rPr lang="he-IL" dirty="0"/>
              <a:t>2. הצפנה בצופן זרם מתבצעת כך:</a:t>
            </a:r>
          </a:p>
          <a:p>
            <a:pPr lvl="1"/>
            <a:r>
              <a:rPr lang="he-IL" dirty="0"/>
              <a:t>מצפינים את המסר הראשון: </a:t>
            </a:r>
            <a:r>
              <a:rPr lang="en-US" dirty="0"/>
              <a:t>C1=P1 ⊕ Keystream</a:t>
            </a:r>
          </a:p>
          <a:p>
            <a:pPr lvl="1"/>
            <a:r>
              <a:rPr lang="he-IL" dirty="0"/>
              <a:t>מצפינים את המסר השני עם </a:t>
            </a:r>
            <a:r>
              <a:rPr lang="he-IL" b="1" dirty="0"/>
              <a:t>אותו </a:t>
            </a:r>
            <a:r>
              <a:rPr lang="en-US" b="1" dirty="0"/>
              <a:t>keystream</a:t>
            </a:r>
            <a:r>
              <a:rPr lang="he-IL" dirty="0"/>
              <a:t> וזו הטעות הקריטית!: </a:t>
            </a:r>
            <a:r>
              <a:rPr lang="en-US" dirty="0"/>
              <a:t>C2 =P2 ⊕ Keystream</a:t>
            </a:r>
          </a:p>
          <a:p>
            <a:r>
              <a:rPr lang="he-IL" dirty="0"/>
              <a:t>3. עכשיו, אם תוקף מצליח להשיג </a:t>
            </a:r>
            <a:r>
              <a:rPr lang="en-US" dirty="0"/>
              <a:t> </a:t>
            </a:r>
            <a:r>
              <a:rPr lang="en-US" b="1" dirty="0"/>
              <a:t>C1</a:t>
            </a:r>
            <a:r>
              <a:rPr lang="he-IL" dirty="0"/>
              <a:t>ו-</a:t>
            </a:r>
            <a:r>
              <a:rPr lang="en-US" dirty="0"/>
              <a:t> </a:t>
            </a:r>
            <a:r>
              <a:rPr lang="en-US" b="1" dirty="0"/>
              <a:t>C2</a:t>
            </a:r>
            <a:r>
              <a:rPr lang="en-US" dirty="0"/>
              <a:t> </a:t>
            </a:r>
            <a:r>
              <a:rPr lang="he-IL" dirty="0"/>
              <a:t>הוא יכול לחשב:</a:t>
            </a:r>
          </a:p>
          <a:p>
            <a:r>
              <a:rPr lang="en-US" dirty="0">
                <a:solidFill>
                  <a:srgbClr val="FF0000"/>
                </a:solidFill>
              </a:rPr>
              <a:t> C1⊕C2=(P1⊕Keystream)⊕(P2⊕Keystream) </a:t>
            </a:r>
            <a:r>
              <a:rPr lang="he-IL" dirty="0"/>
              <a:t>כיוון ש-</a:t>
            </a:r>
            <a:r>
              <a:rPr lang="en-US" dirty="0"/>
              <a:t> XOR </a:t>
            </a:r>
            <a:r>
              <a:rPr lang="he-IL" dirty="0"/>
              <a:t>עם אותו ערך פעמיים מבטל אותו, נשאר לנו:</a:t>
            </a:r>
          </a:p>
          <a:p>
            <a:r>
              <a:rPr lang="en-US" dirty="0"/>
              <a:t>P1 ⊕ P2 </a:t>
            </a:r>
            <a:r>
              <a:rPr lang="he-IL" dirty="0"/>
              <a:t> כלומר, </a:t>
            </a:r>
            <a:r>
              <a:rPr lang="he-IL" b="1" dirty="0"/>
              <a:t>התוקף קיבל את ה-</a:t>
            </a:r>
            <a:r>
              <a:rPr lang="en-US" b="1" dirty="0"/>
              <a:t> XOR </a:t>
            </a:r>
            <a:r>
              <a:rPr lang="he-IL" b="1" dirty="0"/>
              <a:t>בין שני הטקסטים הקריאים </a:t>
            </a:r>
            <a:r>
              <a:rPr lang="en-US" b="1" dirty="0"/>
              <a:t>P1</a:t>
            </a:r>
            <a:r>
              <a:rPr lang="he-IL" b="1" dirty="0"/>
              <a:t> ו-</a:t>
            </a:r>
            <a:r>
              <a:rPr lang="en-US" b="1" dirty="0"/>
              <a:t>P2 </a:t>
            </a:r>
            <a:endParaRPr lang="en-US" dirty="0"/>
          </a:p>
          <a:p>
            <a:r>
              <a:rPr lang="he-IL" dirty="0"/>
              <a:t>4. מכאן, אם המסרים מספיק צפויים (למשל, הודעות טקסט באנגלית או קודים בינאריים), אפשר </a:t>
            </a:r>
            <a:r>
              <a:rPr lang="he-IL" b="1" dirty="0"/>
              <a:t>לנחש חלקים מהמסרים</a:t>
            </a:r>
            <a:r>
              <a:rPr lang="he-IL" dirty="0"/>
              <a:t>, להשלים מילים נפוצות, ולהצליח לשחזר את המסרים המקוריים.</a:t>
            </a:r>
          </a:p>
          <a:p>
            <a:endParaRPr lang="he-IL" dirty="0"/>
          </a:p>
        </p:txBody>
      </p:sp>
    </p:spTree>
    <p:extLst>
      <p:ext uri="{BB962C8B-B14F-4D97-AF65-F5344CB8AC3E}">
        <p14:creationId xmlns:p14="http://schemas.microsoft.com/office/powerpoint/2010/main" val="34316008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585258" y="642594"/>
            <a:ext cx="8539942" cy="1371600"/>
          </a:xfrm>
        </p:spPr>
        <p:txBody>
          <a:bodyPr/>
          <a:lstStyle/>
          <a:p>
            <a:r>
              <a:rPr lang="he-IL" dirty="0"/>
              <a:t>השוואה בין צופן זרם לצופן בלוקים</a:t>
            </a:r>
          </a:p>
        </p:txBody>
      </p:sp>
      <p:pic>
        <p:nvPicPr>
          <p:cNvPr id="4" name="מציין מיקום תוכן 3"/>
          <p:cNvPicPr>
            <a:picLocks noGrp="1" noChangeAspect="1"/>
          </p:cNvPicPr>
          <p:nvPr>
            <p:ph idx="1"/>
          </p:nvPr>
        </p:nvPicPr>
        <p:blipFill>
          <a:blip r:embed="rId2"/>
          <a:stretch>
            <a:fillRect/>
          </a:stretch>
        </p:blipFill>
        <p:spPr>
          <a:xfrm>
            <a:off x="2125646" y="1756499"/>
            <a:ext cx="8856722" cy="3021979"/>
          </a:xfrm>
          <a:prstGeom prst="rect">
            <a:avLst/>
          </a:prstGeom>
        </p:spPr>
      </p:pic>
      <p:sp>
        <p:nvSpPr>
          <p:cNvPr id="5" name="TextBox 4"/>
          <p:cNvSpPr txBox="1"/>
          <p:nvPr/>
        </p:nvSpPr>
        <p:spPr>
          <a:xfrm>
            <a:off x="7456516" y="5004262"/>
            <a:ext cx="3275215" cy="1200329"/>
          </a:xfrm>
          <a:prstGeom prst="rect">
            <a:avLst/>
          </a:prstGeom>
          <a:noFill/>
        </p:spPr>
        <p:txBody>
          <a:bodyPr wrap="square" rtlCol="1">
            <a:spAutoFit/>
          </a:bodyPr>
          <a:lstStyle/>
          <a:p>
            <a:r>
              <a:rPr lang="he-IL" b="1" dirty="0"/>
              <a:t>אם צריך אבטחה גבוהה יותר – משתמשים בצופן בלוקים.</a:t>
            </a:r>
            <a:r>
              <a:rPr lang="he-IL" dirty="0"/>
              <a:t/>
            </a:r>
            <a:br>
              <a:rPr lang="he-IL" dirty="0"/>
            </a:br>
            <a:r>
              <a:rPr lang="he-IL" b="1" dirty="0"/>
              <a:t>אם צריך מהירות גבוהה – צופן זרם עדיף.</a:t>
            </a:r>
            <a:endParaRPr lang="he-IL" dirty="0"/>
          </a:p>
        </p:txBody>
      </p:sp>
    </p:spTree>
    <p:extLst>
      <p:ext uri="{BB962C8B-B14F-4D97-AF65-F5344CB8AC3E}">
        <p14:creationId xmlns:p14="http://schemas.microsoft.com/office/powerpoint/2010/main" val="22924939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599410" y="642594"/>
            <a:ext cx="7525789" cy="1371600"/>
          </a:xfrm>
        </p:spPr>
        <p:txBody>
          <a:bodyPr/>
          <a:lstStyle/>
          <a:p>
            <a:r>
              <a:rPr lang="he-IL" dirty="0"/>
              <a:t>יתרונות וחסרונות של צופן זרם</a:t>
            </a:r>
          </a:p>
        </p:txBody>
      </p:sp>
      <p:sp>
        <p:nvSpPr>
          <p:cNvPr id="3" name="מציין מיקום תוכן 2"/>
          <p:cNvSpPr>
            <a:spLocks noGrp="1"/>
          </p:cNvSpPr>
          <p:nvPr>
            <p:ph idx="1"/>
          </p:nvPr>
        </p:nvSpPr>
        <p:spPr/>
        <p:txBody>
          <a:bodyPr/>
          <a:lstStyle/>
          <a:p>
            <a:r>
              <a:rPr lang="he-IL" b="1" dirty="0"/>
              <a:t>יתרונות:</a:t>
            </a:r>
          </a:p>
          <a:p>
            <a:r>
              <a:rPr lang="he-IL" b="1" dirty="0"/>
              <a:t>1. מהירות גבוהה</a:t>
            </a:r>
            <a:r>
              <a:rPr lang="he-IL" dirty="0"/>
              <a:t> – ההצפנה מתבצעת ביט אחר ביט, ולכן היא מהירה מאוד.</a:t>
            </a:r>
          </a:p>
          <a:p>
            <a:r>
              <a:rPr lang="he-IL" b="1" dirty="0"/>
              <a:t>2. מתאים להצפנת תקשורת בזמן אמת</a:t>
            </a:r>
            <a:r>
              <a:rPr lang="he-IL" dirty="0"/>
              <a:t> – משמש בפרוטוקולים כמו </a:t>
            </a:r>
            <a:r>
              <a:rPr lang="en-US" dirty="0"/>
              <a:t> ,Wi-Fi (WEP) ,Bluetooth, </a:t>
            </a:r>
            <a:r>
              <a:rPr lang="he-IL" dirty="0"/>
              <a:t>ו-</a:t>
            </a:r>
            <a:r>
              <a:rPr lang="en-US" dirty="0"/>
              <a:t>TLS </a:t>
            </a:r>
          </a:p>
          <a:p>
            <a:r>
              <a:rPr lang="he-IL" b="1" dirty="0"/>
              <a:t>3. חסכוני בזיכרון</a:t>
            </a:r>
            <a:r>
              <a:rPr lang="he-IL" dirty="0"/>
              <a:t> – אין צורך לאחסן בלוקים של נתונים, מה שהופך אותו ליעיל במכשירים קטנים כמו </a:t>
            </a:r>
            <a:r>
              <a:rPr lang="en-US" dirty="0" err="1"/>
              <a:t>IoT</a:t>
            </a:r>
            <a:endParaRPr lang="en-US" dirty="0"/>
          </a:p>
          <a:p>
            <a:endParaRPr lang="en-US" dirty="0"/>
          </a:p>
          <a:p>
            <a:r>
              <a:rPr lang="he-IL" b="1" dirty="0"/>
              <a:t>חסרונות:</a:t>
            </a:r>
          </a:p>
          <a:p>
            <a:r>
              <a:rPr lang="he-IL" b="1" dirty="0"/>
              <a:t>1. רגישות לשימוש חוזר של </a:t>
            </a:r>
            <a:r>
              <a:rPr lang="en-US" b="1" dirty="0"/>
              <a:t>keystream</a:t>
            </a:r>
            <a:r>
              <a:rPr lang="en-US" dirty="0"/>
              <a:t> – </a:t>
            </a:r>
            <a:r>
              <a:rPr lang="he-IL" dirty="0"/>
              <a:t> אם משתמשים באותו זרם מפתח לשני מסרים, קל לחשוף את המידע.</a:t>
            </a:r>
          </a:p>
          <a:p>
            <a:r>
              <a:rPr lang="he-IL" b="1" dirty="0"/>
              <a:t>2. פחות עמיד בפני מתקפות מסוימות</a:t>
            </a:r>
            <a:r>
              <a:rPr lang="he-IL" dirty="0"/>
              <a:t> – דורש ייצור זרם אקראי מאוד חזק.</a:t>
            </a:r>
          </a:p>
          <a:p>
            <a:r>
              <a:rPr lang="he-IL" b="1" dirty="0"/>
              <a:t>3. אם זרם המפתח אינו באמת אקראי, אפשר לפצח את ההצפנה</a:t>
            </a:r>
            <a:r>
              <a:rPr lang="he-IL" dirty="0"/>
              <a:t>.</a:t>
            </a:r>
          </a:p>
          <a:p>
            <a:endParaRPr lang="en-US" dirty="0"/>
          </a:p>
          <a:p>
            <a:endParaRPr lang="he-IL" dirty="0"/>
          </a:p>
        </p:txBody>
      </p:sp>
    </p:spTree>
    <p:extLst>
      <p:ext uri="{BB962C8B-B14F-4D97-AF65-F5344CB8AC3E}">
        <p14:creationId xmlns:p14="http://schemas.microsoft.com/office/powerpoint/2010/main" val="32000124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042458" y="642594"/>
            <a:ext cx="8082742" cy="1371600"/>
          </a:xfrm>
        </p:spPr>
        <p:txBody>
          <a:bodyPr/>
          <a:lstStyle/>
          <a:p>
            <a:r>
              <a:rPr lang="he-IL" dirty="0"/>
              <a:t>אלגוריתמים נפוצים של צופן זרם</a:t>
            </a:r>
          </a:p>
        </p:txBody>
      </p:sp>
      <p:pic>
        <p:nvPicPr>
          <p:cNvPr id="4" name="מציין מיקום תוכן 3"/>
          <p:cNvPicPr>
            <a:picLocks noGrp="1" noChangeAspect="1"/>
          </p:cNvPicPr>
          <p:nvPr>
            <p:ph idx="1"/>
          </p:nvPr>
        </p:nvPicPr>
        <p:blipFill>
          <a:blip r:embed="rId2"/>
          <a:stretch>
            <a:fillRect/>
          </a:stretch>
        </p:blipFill>
        <p:spPr>
          <a:xfrm>
            <a:off x="976860" y="2014194"/>
            <a:ext cx="10692604" cy="1891020"/>
          </a:xfrm>
          <a:prstGeom prst="rect">
            <a:avLst/>
          </a:prstGeom>
        </p:spPr>
      </p:pic>
    </p:spTree>
    <p:extLst>
      <p:ext uri="{BB962C8B-B14F-4D97-AF65-F5344CB8AC3E}">
        <p14:creationId xmlns:p14="http://schemas.microsoft.com/office/powerpoint/2010/main" val="24224610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808124" y="642594"/>
            <a:ext cx="4317076" cy="1371600"/>
          </a:xfrm>
        </p:spPr>
        <p:txBody>
          <a:bodyPr/>
          <a:lstStyle/>
          <a:p>
            <a:r>
              <a:rPr lang="he-IL" dirty="0"/>
              <a:t>דוגמאות מעשיות</a:t>
            </a:r>
          </a:p>
        </p:txBody>
      </p:sp>
      <p:sp>
        <p:nvSpPr>
          <p:cNvPr id="3" name="מציין מיקום תוכן 2"/>
          <p:cNvSpPr>
            <a:spLocks noGrp="1"/>
          </p:cNvSpPr>
          <p:nvPr>
            <p:ph idx="1"/>
          </p:nvPr>
        </p:nvSpPr>
        <p:spPr/>
        <p:txBody>
          <a:bodyPr/>
          <a:lstStyle/>
          <a:p>
            <a:r>
              <a:rPr lang="he-IL" dirty="0"/>
              <a:t>1. </a:t>
            </a:r>
            <a:r>
              <a:rPr lang="he-IL" b="1" dirty="0"/>
              <a:t>דוגמה עם </a:t>
            </a:r>
            <a:r>
              <a:rPr lang="en-US" b="1" dirty="0"/>
              <a:t>RC4</a:t>
            </a:r>
            <a:r>
              <a:rPr lang="he-IL" b="1" dirty="0"/>
              <a:t> פשוטה </a:t>
            </a:r>
          </a:p>
          <a:p>
            <a:r>
              <a:rPr lang="he-IL" dirty="0"/>
              <a:t>נניח שיש לנו טקסט:</a:t>
            </a:r>
          </a:p>
          <a:p>
            <a:pPr algn="l"/>
            <a:r>
              <a:rPr lang="en-US" dirty="0"/>
              <a:t>HELLO</a:t>
            </a:r>
          </a:p>
          <a:p>
            <a:r>
              <a:rPr lang="he-IL" dirty="0"/>
              <a:t>ונבחר מפתח </a:t>
            </a:r>
            <a:r>
              <a:rPr lang="en-US" b="1" dirty="0"/>
              <a:t>KEY = "SECRET"</a:t>
            </a:r>
            <a:r>
              <a:rPr lang="en-US" dirty="0"/>
              <a:t/>
            </a:r>
            <a:br>
              <a:rPr lang="en-US" dirty="0"/>
            </a:br>
            <a:r>
              <a:rPr lang="he-IL" dirty="0"/>
              <a:t>המחולל של </a:t>
            </a:r>
            <a:r>
              <a:rPr lang="en-US" dirty="0"/>
              <a:t> RC4</a:t>
            </a:r>
            <a:r>
              <a:rPr lang="he-IL" dirty="0"/>
              <a:t>ייצור זרם מפתח (</a:t>
            </a:r>
            <a:r>
              <a:rPr lang="en-US" dirty="0"/>
              <a:t>Keystream) </a:t>
            </a:r>
            <a:r>
              <a:rPr lang="he-IL" dirty="0"/>
              <a:t>שנשתמש בו כדי לבצע </a:t>
            </a:r>
            <a:r>
              <a:rPr lang="en-US" b="1" dirty="0"/>
              <a:t>XOR</a:t>
            </a:r>
            <a:r>
              <a:rPr lang="he-IL" dirty="0"/>
              <a:t> מול הטקסט המקורי.</a:t>
            </a:r>
          </a:p>
          <a:p>
            <a:pPr algn="l"/>
            <a:r>
              <a:rPr lang="en-US" dirty="0"/>
              <a:t>Plaintext:  HELLO</a:t>
            </a:r>
          </a:p>
          <a:p>
            <a:pPr algn="l"/>
            <a:r>
              <a:rPr lang="en-US" dirty="0"/>
              <a:t>Keystream:  XMCKL</a:t>
            </a:r>
          </a:p>
          <a:p>
            <a:pPr algn="l"/>
            <a:r>
              <a:rPr lang="en-US" dirty="0" err="1"/>
              <a:t>Ciphertext</a:t>
            </a:r>
            <a:r>
              <a:rPr lang="en-US" dirty="0"/>
              <a:t>: ? ? ? ? ?</a:t>
            </a:r>
          </a:p>
          <a:p>
            <a:r>
              <a:rPr lang="he-IL" dirty="0"/>
              <a:t>(התוצאה תהיה טקסט מוצפן, ולא ניתן לקריאה בלי המפתח).</a:t>
            </a:r>
          </a:p>
        </p:txBody>
      </p:sp>
    </p:spTree>
    <p:extLst>
      <p:ext uri="{BB962C8B-B14F-4D97-AF65-F5344CB8AC3E}">
        <p14:creationId xmlns:p14="http://schemas.microsoft.com/office/powerpoint/2010/main" val="29373473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671752" y="642594"/>
            <a:ext cx="6453447" cy="1371600"/>
          </a:xfrm>
        </p:spPr>
        <p:txBody>
          <a:bodyPr/>
          <a:lstStyle/>
          <a:p>
            <a:r>
              <a:rPr lang="he-IL" dirty="0"/>
              <a:t>המשך - דוגמאות מעשיות</a:t>
            </a:r>
          </a:p>
        </p:txBody>
      </p:sp>
      <p:sp>
        <p:nvSpPr>
          <p:cNvPr id="3" name="מציין מיקום תוכן 2"/>
          <p:cNvSpPr>
            <a:spLocks noGrp="1"/>
          </p:cNvSpPr>
          <p:nvPr>
            <p:ph idx="1"/>
          </p:nvPr>
        </p:nvSpPr>
        <p:spPr/>
        <p:txBody>
          <a:bodyPr/>
          <a:lstStyle/>
          <a:p>
            <a:r>
              <a:rPr lang="he-IL" dirty="0"/>
              <a:t>2. </a:t>
            </a:r>
            <a:r>
              <a:rPr lang="he-IL" b="1" dirty="0"/>
              <a:t>דוגמה לשבירת צופן זרם עם שימוש חוזר בזרם המפתח</a:t>
            </a:r>
          </a:p>
          <a:p>
            <a:r>
              <a:rPr lang="he-IL" dirty="0"/>
              <a:t>נניח ששני מסרים שונים מוצפנים עם אותו זרם מפתח:</a:t>
            </a:r>
          </a:p>
          <a:p>
            <a:pPr algn="l"/>
            <a:r>
              <a:rPr lang="en-US" dirty="0"/>
              <a:t>C1 = P1 ⊕ Keystream</a:t>
            </a:r>
          </a:p>
          <a:p>
            <a:pPr algn="l"/>
            <a:r>
              <a:rPr lang="en-US" dirty="0"/>
              <a:t>C2 = P2 ⊕ Keystream</a:t>
            </a:r>
          </a:p>
          <a:p>
            <a:r>
              <a:rPr lang="he-IL" dirty="0"/>
              <a:t>אם תוקף יודע</a:t>
            </a:r>
            <a:r>
              <a:rPr lang="en-US" b="1" dirty="0"/>
              <a:t>C1</a:t>
            </a:r>
            <a:r>
              <a:rPr lang="en-US" dirty="0"/>
              <a:t> </a:t>
            </a:r>
            <a:r>
              <a:rPr lang="he-IL" dirty="0"/>
              <a:t> ו-</a:t>
            </a:r>
            <a:r>
              <a:rPr lang="en-US" dirty="0"/>
              <a:t> </a:t>
            </a:r>
            <a:r>
              <a:rPr lang="en-US" b="1" dirty="0"/>
              <a:t>C2</a:t>
            </a:r>
            <a:r>
              <a:rPr lang="en-US" dirty="0"/>
              <a:t> </a:t>
            </a:r>
            <a:r>
              <a:rPr lang="he-IL" dirty="0"/>
              <a:t>הוא יכול לבצע:</a:t>
            </a:r>
          </a:p>
          <a:p>
            <a:pPr algn="l"/>
            <a:r>
              <a:rPr lang="en-US" dirty="0"/>
              <a:t>C1 ⊕ C2 = (P1 ⊕ Keystream) ⊕ (P2 ⊕ Keystream)</a:t>
            </a:r>
          </a:p>
          <a:p>
            <a:pPr algn="l"/>
            <a:r>
              <a:rPr lang="en-US" dirty="0"/>
              <a:t>         = P1 ⊕ P2</a:t>
            </a:r>
          </a:p>
          <a:p>
            <a:r>
              <a:rPr lang="he-IL" dirty="0"/>
              <a:t>כלומר, ה-</a:t>
            </a:r>
            <a:r>
              <a:rPr lang="en-US" dirty="0"/>
              <a:t>keystream </a:t>
            </a:r>
            <a:r>
              <a:rPr lang="he-IL" dirty="0"/>
              <a:t> מתבטל, והתוקף יכול לזהות דפוסים בין שני המסרים!</a:t>
            </a:r>
            <a:br>
              <a:rPr lang="he-IL" dirty="0"/>
            </a:br>
            <a:r>
              <a:rPr lang="he-IL" b="1" dirty="0"/>
              <a:t>זו הסיבה שאסור להשתמש באותו </a:t>
            </a:r>
            <a:r>
              <a:rPr lang="en-US" b="1" dirty="0"/>
              <a:t>keystream</a:t>
            </a:r>
            <a:r>
              <a:rPr lang="he-IL" b="1" dirty="0"/>
              <a:t> פעמיים!</a:t>
            </a:r>
          </a:p>
          <a:p>
            <a:endParaRPr lang="he-IL" dirty="0"/>
          </a:p>
        </p:txBody>
      </p:sp>
    </p:spTree>
    <p:extLst>
      <p:ext uri="{BB962C8B-B14F-4D97-AF65-F5344CB8AC3E}">
        <p14:creationId xmlns:p14="http://schemas.microsoft.com/office/powerpoint/2010/main" val="3569744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99532" y="290945"/>
            <a:ext cx="12048067" cy="1723249"/>
          </a:xfrm>
        </p:spPr>
        <p:txBody>
          <a:bodyPr>
            <a:normAutofit/>
          </a:bodyPr>
          <a:lstStyle/>
          <a:p>
            <a:r>
              <a:rPr lang="he-IL" sz="4000" dirty="0"/>
              <a:t>דוגמה פשוטה: הצפנת שתי מילים עם אותו </a:t>
            </a:r>
            <a:r>
              <a:rPr lang="en-US" sz="4000" dirty="0"/>
              <a:t>keystream</a:t>
            </a:r>
            <a:endParaRPr lang="he-IL" sz="4000" dirty="0"/>
          </a:p>
        </p:txBody>
      </p:sp>
      <p:sp>
        <p:nvSpPr>
          <p:cNvPr id="3" name="מציין מיקום תוכן 2"/>
          <p:cNvSpPr>
            <a:spLocks noGrp="1"/>
          </p:cNvSpPr>
          <p:nvPr>
            <p:ph idx="1"/>
          </p:nvPr>
        </p:nvSpPr>
        <p:spPr>
          <a:xfrm>
            <a:off x="1066800" y="1670858"/>
            <a:ext cx="10058400" cy="4364182"/>
          </a:xfrm>
        </p:spPr>
        <p:txBody>
          <a:bodyPr>
            <a:normAutofit fontScale="92500" lnSpcReduction="20000"/>
          </a:bodyPr>
          <a:lstStyle/>
          <a:p>
            <a:r>
              <a:rPr lang="he-IL" dirty="0"/>
              <a:t>נניח שאנחנו מצפינים את שתי המילים</a:t>
            </a:r>
            <a:r>
              <a:rPr lang="en-US" b="1" dirty="0"/>
              <a:t> HELLO</a:t>
            </a:r>
            <a:r>
              <a:rPr lang="en-US" dirty="0"/>
              <a:t> </a:t>
            </a:r>
            <a:r>
              <a:rPr lang="he-IL" dirty="0"/>
              <a:t>ו-</a:t>
            </a:r>
            <a:r>
              <a:rPr lang="en-US" b="1" dirty="0"/>
              <a:t> WORLD</a:t>
            </a:r>
            <a:r>
              <a:rPr lang="en-US" dirty="0"/>
              <a:t> </a:t>
            </a:r>
            <a:r>
              <a:rPr lang="he-IL" dirty="0"/>
              <a:t>עם אותו </a:t>
            </a:r>
            <a:r>
              <a:rPr lang="en-US" dirty="0"/>
              <a:t>keystream</a:t>
            </a:r>
            <a:endParaRPr lang="he-IL" dirty="0"/>
          </a:p>
          <a:p>
            <a:r>
              <a:rPr lang="he-IL" dirty="0"/>
              <a:t>1. יצירת ההצפנה:</a:t>
            </a:r>
          </a:p>
          <a:p>
            <a:pPr algn="l"/>
            <a:r>
              <a:rPr lang="en-US" dirty="0"/>
              <a:t>P1 (HELLO) =  01001000 01000101 01001100 01001100 01001111</a:t>
            </a:r>
          </a:p>
          <a:p>
            <a:pPr algn="l"/>
            <a:r>
              <a:rPr lang="en-US" dirty="0"/>
              <a:t>P2 (WORLD) =  01010111 01001111 01010010 01001100 01000100</a:t>
            </a:r>
          </a:p>
          <a:p>
            <a:pPr algn="l"/>
            <a:r>
              <a:rPr lang="en-US" dirty="0"/>
              <a:t>Keystream  =  10111001 11001011 10110100 01110110 11101100</a:t>
            </a:r>
          </a:p>
          <a:p>
            <a:r>
              <a:rPr lang="he-IL" dirty="0"/>
              <a:t>נחשב את ה-</a:t>
            </a:r>
            <a:r>
              <a:rPr lang="en-US" dirty="0"/>
              <a:t>C1 </a:t>
            </a:r>
            <a:r>
              <a:rPr lang="he-IL" dirty="0"/>
              <a:t> וה- </a:t>
            </a:r>
            <a:r>
              <a:rPr lang="en-US" dirty="0"/>
              <a:t>C2</a:t>
            </a:r>
            <a:r>
              <a:rPr lang="he-IL" dirty="0"/>
              <a:t>:</a:t>
            </a:r>
          </a:p>
          <a:p>
            <a:pPr algn="l"/>
            <a:r>
              <a:rPr lang="en-US" dirty="0"/>
              <a:t>C1 = P1 ⊕ Keystream =  11110001 10001110 11111000 00111010 10100011</a:t>
            </a:r>
          </a:p>
          <a:p>
            <a:pPr algn="l"/>
            <a:r>
              <a:rPr lang="en-US" dirty="0"/>
              <a:t>C2 = P2 ⊕ Keystream =  11101110 10000100 11100110 00111010 00001000</a:t>
            </a:r>
          </a:p>
          <a:p>
            <a:r>
              <a:rPr lang="he-IL" dirty="0"/>
              <a:t>2. מתקפה: חישוב</a:t>
            </a:r>
            <a:r>
              <a:rPr lang="en-US" dirty="0"/>
              <a:t>XOR </a:t>
            </a:r>
            <a:r>
              <a:rPr lang="he-IL" dirty="0"/>
              <a:t> בין </a:t>
            </a:r>
            <a:r>
              <a:rPr lang="en-US" dirty="0"/>
              <a:t> C1</a:t>
            </a:r>
            <a:r>
              <a:rPr lang="he-IL" dirty="0"/>
              <a:t>ו- </a:t>
            </a:r>
            <a:r>
              <a:rPr lang="en-US" dirty="0"/>
              <a:t>C2</a:t>
            </a:r>
            <a:r>
              <a:rPr lang="he-IL" dirty="0"/>
              <a:t>:</a:t>
            </a:r>
          </a:p>
          <a:p>
            <a:pPr algn="l"/>
            <a:r>
              <a:rPr lang="en-US" dirty="0"/>
              <a:t>C1 ⊕ C2 = (P1 ⊕ Keystream) ⊕ (P2 ⊕ Keystream)</a:t>
            </a:r>
          </a:p>
          <a:p>
            <a:pPr algn="l"/>
            <a:r>
              <a:rPr lang="en-US" dirty="0"/>
              <a:t>        = P1 ⊕ P2</a:t>
            </a:r>
          </a:p>
          <a:p>
            <a:r>
              <a:rPr lang="he-IL" dirty="0"/>
              <a:t>וזה ייתן לנו:</a:t>
            </a:r>
          </a:p>
          <a:p>
            <a:pPr algn="l"/>
            <a:r>
              <a:rPr lang="en-US" dirty="0"/>
              <a:t>P1 ⊕ P2 = 00011111 00001010 00011110 00000000 10101011</a:t>
            </a:r>
          </a:p>
          <a:p>
            <a:pPr algn="l"/>
            <a:endParaRPr lang="he-IL" dirty="0"/>
          </a:p>
        </p:txBody>
      </p:sp>
    </p:spTree>
    <p:extLst>
      <p:ext uri="{BB962C8B-B14F-4D97-AF65-F5344CB8AC3E}">
        <p14:creationId xmlns:p14="http://schemas.microsoft.com/office/powerpoint/2010/main" val="25738674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93876" y="642594"/>
            <a:ext cx="1931324"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מהו צופן זרם, ובמה הוא שונה מצופן בלוקים?</a:t>
            </a:r>
          </a:p>
          <a:p>
            <a:r>
              <a:rPr lang="he-IL" dirty="0"/>
              <a:t>2. כיצד מתבצע תהליך ההצפנה בצופן זרם?</a:t>
            </a:r>
          </a:p>
          <a:p>
            <a:r>
              <a:rPr lang="he-IL" dirty="0"/>
              <a:t>3. מהי הפעולה המתמטית העיקרית שמשמשת בצופן זרם?</a:t>
            </a:r>
          </a:p>
          <a:p>
            <a:r>
              <a:rPr lang="he-IL" dirty="0"/>
              <a:t>4. למה חשוב לא להשתמש באותו זרם מפתח</a:t>
            </a:r>
            <a:r>
              <a:rPr lang="en-US" dirty="0"/>
              <a:t>Keystream </a:t>
            </a:r>
            <a:r>
              <a:rPr lang="he-IL" dirty="0"/>
              <a:t> פעמיים?</a:t>
            </a:r>
          </a:p>
          <a:p>
            <a:r>
              <a:rPr lang="he-IL" dirty="0"/>
              <a:t>5. מהם היתרונות של צופן זרם?</a:t>
            </a:r>
          </a:p>
          <a:p>
            <a:endParaRPr lang="he-IL" dirty="0"/>
          </a:p>
        </p:txBody>
      </p:sp>
    </p:spTree>
    <p:extLst>
      <p:ext uri="{BB962C8B-B14F-4D97-AF65-F5344CB8AC3E}">
        <p14:creationId xmlns:p14="http://schemas.microsoft.com/office/powerpoint/2010/main" val="42620448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19309" y="0"/>
            <a:ext cx="2105891" cy="1371600"/>
          </a:xfrm>
        </p:spPr>
        <p:txBody>
          <a:bodyPr/>
          <a:lstStyle/>
          <a:p>
            <a:r>
              <a:rPr lang="he-IL" dirty="0"/>
              <a:t>תשובות</a:t>
            </a:r>
          </a:p>
        </p:txBody>
      </p:sp>
      <p:sp>
        <p:nvSpPr>
          <p:cNvPr id="3" name="מציין מיקום תוכן 2"/>
          <p:cNvSpPr>
            <a:spLocks noGrp="1"/>
          </p:cNvSpPr>
          <p:nvPr>
            <p:ph idx="1"/>
          </p:nvPr>
        </p:nvSpPr>
        <p:spPr>
          <a:xfrm>
            <a:off x="1066800" y="1197033"/>
            <a:ext cx="10058400" cy="5228705"/>
          </a:xfrm>
        </p:spPr>
        <p:txBody>
          <a:bodyPr>
            <a:normAutofit fontScale="92500" lnSpcReduction="10000"/>
          </a:bodyPr>
          <a:lstStyle/>
          <a:p>
            <a:r>
              <a:rPr lang="he-IL" dirty="0"/>
              <a:t>1. </a:t>
            </a:r>
            <a:r>
              <a:rPr lang="he-IL" b="1" dirty="0"/>
              <a:t>צופן זרם</a:t>
            </a:r>
            <a:r>
              <a:rPr lang="he-IL" dirty="0"/>
              <a:t> מצפין את המידע </a:t>
            </a:r>
            <a:r>
              <a:rPr lang="he-IL" b="1" dirty="0"/>
              <a:t>ביט אחר ביט</a:t>
            </a:r>
            <a:r>
              <a:rPr lang="he-IL" dirty="0"/>
              <a:t> או </a:t>
            </a:r>
            <a:r>
              <a:rPr lang="he-IL" b="1" dirty="0"/>
              <a:t>בית אחר בית</a:t>
            </a:r>
            <a:r>
              <a:rPr lang="he-IL" dirty="0"/>
              <a:t> באופן רציף, בעוד </a:t>
            </a:r>
            <a:r>
              <a:rPr lang="he-IL" b="1" dirty="0"/>
              <a:t>צופן בלוקים</a:t>
            </a:r>
            <a:r>
              <a:rPr lang="he-IL" dirty="0"/>
              <a:t> מצפין </a:t>
            </a:r>
            <a:r>
              <a:rPr lang="he-IL" b="1" dirty="0"/>
              <a:t>קבוצות קבועות של ביטים (בלוקים), למשל 128 ביטים ב-</a:t>
            </a:r>
            <a:r>
              <a:rPr lang="en-US" b="1" dirty="0"/>
              <a:t>AES</a:t>
            </a:r>
            <a:r>
              <a:rPr lang="en-US" dirty="0"/>
              <a:t> </a:t>
            </a:r>
            <a:r>
              <a:rPr lang="he-IL" dirty="0"/>
              <a:t>. בנוסף צופן זרם </a:t>
            </a:r>
            <a:r>
              <a:rPr lang="he-IL" b="1" dirty="0"/>
              <a:t>מהיר יותר</a:t>
            </a:r>
            <a:r>
              <a:rPr lang="he-IL" dirty="0"/>
              <a:t> ומתאים לתקשורת בזמן אמת, בעוד צופן בלוקים מתאים להצפנת קבצים ונתונים גדולים.</a:t>
            </a:r>
          </a:p>
          <a:p>
            <a:r>
              <a:rPr lang="he-IL" dirty="0"/>
              <a:t>2. צופן זרם </a:t>
            </a:r>
            <a:r>
              <a:rPr lang="he-IL" b="1" dirty="0"/>
              <a:t>יוצר זרם מפתח</a:t>
            </a:r>
            <a:r>
              <a:rPr lang="en-US" b="1" dirty="0"/>
              <a:t>Keystream </a:t>
            </a:r>
            <a:r>
              <a:rPr lang="he-IL" b="1" dirty="0"/>
              <a:t> </a:t>
            </a:r>
            <a:r>
              <a:rPr lang="he-IL" b="1" dirty="0" err="1"/>
              <a:t>פסאודו</a:t>
            </a:r>
            <a:r>
              <a:rPr lang="he-IL" b="1" dirty="0"/>
              <a:t>-אקראי</a:t>
            </a:r>
            <a:r>
              <a:rPr lang="he-IL" dirty="0"/>
              <a:t>, ואז מבצע</a:t>
            </a:r>
            <a:r>
              <a:rPr lang="en-US" b="1" dirty="0"/>
              <a:t>XOR</a:t>
            </a:r>
            <a:r>
              <a:rPr lang="en-US" dirty="0"/>
              <a:t> </a:t>
            </a:r>
            <a:r>
              <a:rPr lang="he-IL" dirty="0"/>
              <a:t> בין הזרם לבין הטקסט הקריא </a:t>
            </a:r>
            <a:r>
              <a:rPr lang="en-US" dirty="0"/>
              <a:t>Plaintext</a:t>
            </a:r>
          </a:p>
          <a:p>
            <a:r>
              <a:rPr lang="en-US" dirty="0" err="1"/>
              <a:t>Ciphertext</a:t>
            </a:r>
            <a:r>
              <a:rPr lang="en-US" dirty="0"/>
              <a:t> = Plaintext ⊕ Keystream </a:t>
            </a:r>
            <a:r>
              <a:rPr lang="he-IL" dirty="0"/>
              <a:t>  הפענוח נעשה על ידי ביצוע </a:t>
            </a:r>
            <a:r>
              <a:rPr lang="en-US" dirty="0"/>
              <a:t> </a:t>
            </a:r>
            <a:r>
              <a:rPr lang="en-US" b="1" dirty="0"/>
              <a:t>XOR</a:t>
            </a:r>
            <a:r>
              <a:rPr lang="he-IL" b="1" dirty="0"/>
              <a:t>חוזר</a:t>
            </a:r>
            <a:r>
              <a:rPr lang="he-IL" dirty="0"/>
              <a:t> עם אותו זרם מפתח:</a:t>
            </a:r>
          </a:p>
          <a:p>
            <a:r>
              <a:rPr lang="en-US" dirty="0"/>
              <a:t>Plaintext=</a:t>
            </a:r>
            <a:r>
              <a:rPr lang="en-US" dirty="0" err="1"/>
              <a:t>Ciphertext⊕Keystream</a:t>
            </a:r>
            <a:endParaRPr lang="he-IL" dirty="0"/>
          </a:p>
          <a:p>
            <a:r>
              <a:rPr lang="he-IL" dirty="0"/>
              <a:t>3. הפעולה העיקרית היא </a:t>
            </a:r>
            <a:r>
              <a:rPr lang="en-US" dirty="0"/>
              <a:t> </a:t>
            </a:r>
            <a:r>
              <a:rPr lang="en-US" b="1" dirty="0"/>
              <a:t>XOR</a:t>
            </a:r>
            <a:r>
              <a:rPr lang="he-IL" dirty="0"/>
              <a:t>המסומנת ב-⊕.</a:t>
            </a:r>
            <a:br>
              <a:rPr lang="he-IL" dirty="0"/>
            </a:br>
            <a:r>
              <a:rPr lang="he-IL" dirty="0"/>
              <a:t>היתרון של </a:t>
            </a:r>
            <a:r>
              <a:rPr lang="en-US" dirty="0"/>
              <a:t>XOR</a:t>
            </a:r>
            <a:r>
              <a:rPr lang="he-IL" dirty="0"/>
              <a:t> הוא שהפעלה חוזרת מחזירה את הנתון המקורי:</a:t>
            </a:r>
          </a:p>
          <a:p>
            <a:r>
              <a:rPr lang="en-US" dirty="0"/>
              <a:t>A⊕B)⊕B=A</a:t>
            </a:r>
            <a:r>
              <a:rPr lang="he-IL" dirty="0"/>
              <a:t>)</a:t>
            </a:r>
          </a:p>
          <a:p>
            <a:r>
              <a:rPr lang="he-IL" dirty="0"/>
              <a:t>4. אם נשתמש באותו </a:t>
            </a:r>
            <a:r>
              <a:rPr lang="en-US" dirty="0"/>
              <a:t>keystream</a:t>
            </a:r>
            <a:r>
              <a:rPr lang="he-IL" dirty="0"/>
              <a:t> להצפין </a:t>
            </a:r>
            <a:r>
              <a:rPr lang="he-IL" b="1" dirty="0"/>
              <a:t>שני מסרים שונים</a:t>
            </a:r>
            <a:r>
              <a:rPr lang="he-IL" dirty="0"/>
              <a:t>, ניתן לבצע</a:t>
            </a:r>
            <a:r>
              <a:rPr lang="en-US" b="1" dirty="0"/>
              <a:t>XOR </a:t>
            </a:r>
            <a:r>
              <a:rPr lang="he-IL" b="1" dirty="0"/>
              <a:t> ביניהם</a:t>
            </a:r>
            <a:r>
              <a:rPr lang="he-IL" dirty="0"/>
              <a:t>, מה שעלול לגלות מידע על הטקסטים המקוריים מתקפת שימוש חוזר ב-</a:t>
            </a:r>
            <a:r>
              <a:rPr lang="en-US" dirty="0"/>
              <a:t>keystream </a:t>
            </a:r>
            <a:endParaRPr lang="he-IL" dirty="0"/>
          </a:p>
          <a:p>
            <a:r>
              <a:rPr lang="he-IL" dirty="0"/>
              <a:t>5. </a:t>
            </a:r>
            <a:r>
              <a:rPr lang="he-IL" b="1" dirty="0"/>
              <a:t>מהירות גבוהה</a:t>
            </a:r>
            <a:r>
              <a:rPr lang="he-IL" dirty="0"/>
              <a:t> – מכיוון שהוא מצפין ביטים או בתים באופן רציף, הוא מהיר יותר מצופן בלוקים.</a:t>
            </a:r>
            <a:br>
              <a:rPr lang="he-IL" dirty="0"/>
            </a:br>
            <a:r>
              <a:rPr lang="he-IL" b="1" dirty="0"/>
              <a:t>מתאים לתקשורת בזמן אמת</a:t>
            </a:r>
            <a:r>
              <a:rPr lang="he-IL" dirty="0"/>
              <a:t> – משמש בפרוטוקולים כמו</a:t>
            </a:r>
            <a:r>
              <a:rPr lang="en-US" dirty="0"/>
              <a:t> TLS SSL </a:t>
            </a:r>
            <a:r>
              <a:rPr lang="he-IL" dirty="0"/>
              <a:t>והצפנת שידורים אלחוטיים.</a:t>
            </a:r>
            <a:br>
              <a:rPr lang="he-IL" dirty="0"/>
            </a:br>
            <a:r>
              <a:rPr lang="he-IL" b="1" dirty="0"/>
              <a:t>פועל על כמויות מידע קטנות</a:t>
            </a:r>
            <a:r>
              <a:rPr lang="he-IL" dirty="0"/>
              <a:t> – אפשר להצפין כל תו מיד כשהוא מתקבל, בניגוד לצופן בלוקים שמחכה לבלוק שלם.</a:t>
            </a:r>
            <a:br>
              <a:rPr lang="he-IL" dirty="0"/>
            </a:br>
            <a:r>
              <a:rPr lang="he-IL" b="1" dirty="0"/>
              <a:t>מונע נפילה של כל הנתונים במקרה של טעות קטנה</a:t>
            </a:r>
            <a:r>
              <a:rPr lang="he-IL" dirty="0"/>
              <a:t> (תלוי בסוג הצופן).</a:t>
            </a:r>
          </a:p>
          <a:p>
            <a:endParaRPr lang="he-IL" dirty="0"/>
          </a:p>
        </p:txBody>
      </p:sp>
    </p:spTree>
    <p:extLst>
      <p:ext uri="{BB962C8B-B14F-4D97-AF65-F5344CB8AC3E}">
        <p14:creationId xmlns:p14="http://schemas.microsoft.com/office/powerpoint/2010/main" val="23972947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510444"/>
            <a:ext cx="10058400" cy="3931920"/>
          </a:xfrm>
        </p:spPr>
        <p:txBody>
          <a:bodyPr>
            <a:normAutofit/>
          </a:bodyPr>
          <a:lstStyle/>
          <a:p>
            <a:pPr algn="ctr"/>
            <a:r>
              <a:rPr lang="en-US" sz="8000" dirty="0"/>
              <a:t>AES</a:t>
            </a:r>
            <a:endParaRPr lang="he-IL" sz="8000" dirty="0"/>
          </a:p>
        </p:txBody>
      </p:sp>
    </p:spTree>
    <p:extLst>
      <p:ext uri="{BB962C8B-B14F-4D97-AF65-F5344CB8AC3E}">
        <p14:creationId xmlns:p14="http://schemas.microsoft.com/office/powerpoint/2010/main" val="112810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66255" y="642594"/>
            <a:ext cx="11829010" cy="1371600"/>
          </a:xfrm>
        </p:spPr>
        <p:txBody>
          <a:bodyPr>
            <a:normAutofit fontScale="90000"/>
          </a:bodyPr>
          <a:lstStyle/>
          <a:p>
            <a:r>
              <a:rPr lang="he-IL" dirty="0"/>
              <a:t>הצפנת </a:t>
            </a:r>
            <a:r>
              <a:rPr lang="en-US" dirty="0"/>
              <a:t>AES – Advanced Encryption Standard</a:t>
            </a:r>
            <a:endParaRPr lang="he-IL" dirty="0"/>
          </a:p>
        </p:txBody>
      </p:sp>
      <p:sp>
        <p:nvSpPr>
          <p:cNvPr id="3" name="מציין מיקום תוכן 2"/>
          <p:cNvSpPr>
            <a:spLocks noGrp="1"/>
          </p:cNvSpPr>
          <p:nvPr>
            <p:ph idx="1"/>
          </p:nvPr>
        </p:nvSpPr>
        <p:spPr/>
        <p:txBody>
          <a:bodyPr/>
          <a:lstStyle/>
          <a:p>
            <a:r>
              <a:rPr lang="he-IL" dirty="0"/>
              <a:t>הצפנת </a:t>
            </a:r>
            <a:r>
              <a:rPr lang="en-US" dirty="0"/>
              <a:t> AES</a:t>
            </a:r>
            <a:r>
              <a:rPr lang="he-IL" dirty="0"/>
              <a:t>ראשי תיבות של </a:t>
            </a:r>
            <a:r>
              <a:rPr lang="en-US" dirty="0"/>
              <a:t> </a:t>
            </a:r>
            <a:r>
              <a:rPr lang="en-US" b="1" dirty="0"/>
              <a:t>Advanced Encryption Standard</a:t>
            </a:r>
            <a:r>
              <a:rPr lang="he-IL" dirty="0"/>
              <a:t>היא אחת משיטות ההצפנה החשובות והנפוצות ביותר בעולם. היא משמשת </a:t>
            </a:r>
            <a:r>
              <a:rPr lang="he-IL" b="1" dirty="0"/>
              <a:t>לאבטחת מידע רגיש</a:t>
            </a:r>
            <a:r>
              <a:rPr lang="he-IL" dirty="0"/>
              <a:t>, כולל נתונים ממשלתיים, עסקיים ופרטיים.</a:t>
            </a:r>
          </a:p>
          <a:p>
            <a:r>
              <a:rPr lang="he-IL" b="1" dirty="0"/>
              <a:t>🔹 רקע היסטורי</a:t>
            </a:r>
          </a:p>
          <a:p>
            <a:r>
              <a:rPr lang="en-US" dirty="0"/>
              <a:t> AES</a:t>
            </a:r>
            <a:r>
              <a:rPr lang="he-IL" dirty="0"/>
              <a:t>נבחר כסטנדרט ההצפנה הרשמי של ממשלת ארה"ב בשנת </a:t>
            </a:r>
            <a:r>
              <a:rPr lang="he-IL" b="1" dirty="0"/>
              <a:t>2001</a:t>
            </a:r>
            <a:r>
              <a:rPr lang="he-IL" dirty="0"/>
              <a:t> על ידי ה-</a:t>
            </a:r>
            <a:r>
              <a:rPr lang="en-US" dirty="0"/>
              <a:t> NIST </a:t>
            </a:r>
            <a:r>
              <a:rPr lang="he-IL" dirty="0"/>
              <a:t>המכון הלאומי לתקנים וטכנולוגיה). הוא החליף את תקן </a:t>
            </a:r>
            <a:r>
              <a:rPr lang="en-US" dirty="0"/>
              <a:t> </a:t>
            </a:r>
            <a:r>
              <a:rPr lang="en-US" b="1" dirty="0"/>
              <a:t>DES</a:t>
            </a:r>
            <a:r>
              <a:rPr lang="he-IL" dirty="0"/>
              <a:t>שהיה כבר לא בטוח בגלל אורכו הקצר של המפתח (56 ביטים).</a:t>
            </a:r>
            <a:br>
              <a:rPr lang="he-IL" dirty="0"/>
            </a:br>
            <a:r>
              <a:rPr lang="en-US" dirty="0"/>
              <a:t> AES</a:t>
            </a:r>
            <a:r>
              <a:rPr lang="he-IL" dirty="0"/>
              <a:t>מבוסס על האלגוריתם </a:t>
            </a:r>
            <a:r>
              <a:rPr lang="en-US" dirty="0"/>
              <a:t> </a:t>
            </a:r>
            <a:r>
              <a:rPr lang="en-US" b="1" dirty="0" err="1"/>
              <a:t>Rijndael</a:t>
            </a:r>
            <a:r>
              <a:rPr lang="he-IL" dirty="0"/>
              <a:t>שפותח על ידי שני קריפטוגרפים בלגיים: </a:t>
            </a:r>
            <a:r>
              <a:rPr lang="en-US" dirty="0"/>
              <a:t> </a:t>
            </a:r>
            <a:r>
              <a:rPr lang="en-US" b="1" dirty="0"/>
              <a:t>Joan </a:t>
            </a:r>
            <a:r>
              <a:rPr lang="en-US" b="1" dirty="0" err="1"/>
              <a:t>Daemen</a:t>
            </a:r>
            <a:r>
              <a:rPr lang="he-IL" dirty="0"/>
              <a:t>ו-</a:t>
            </a:r>
            <a:r>
              <a:rPr lang="en-US" b="1" dirty="0"/>
              <a:t>Vincent </a:t>
            </a:r>
            <a:r>
              <a:rPr lang="en-US" b="1" dirty="0" err="1"/>
              <a:t>Rijmen</a:t>
            </a:r>
            <a:r>
              <a:rPr lang="he-IL" b="1" dirty="0"/>
              <a:t>.</a:t>
            </a:r>
            <a:endParaRPr lang="en-US" dirty="0"/>
          </a:p>
          <a:p>
            <a:endParaRPr lang="he-IL" dirty="0"/>
          </a:p>
        </p:txBody>
      </p:sp>
    </p:spTree>
    <p:extLst>
      <p:ext uri="{BB962C8B-B14F-4D97-AF65-F5344CB8AC3E}">
        <p14:creationId xmlns:p14="http://schemas.microsoft.com/office/powerpoint/2010/main" val="34398474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830588" y="642594"/>
            <a:ext cx="3294611" cy="1371600"/>
          </a:xfrm>
        </p:spPr>
        <p:txBody>
          <a:bodyPr/>
          <a:lstStyle/>
          <a:p>
            <a:r>
              <a:rPr lang="he-IL" dirty="0"/>
              <a:t>מאפייני </a:t>
            </a:r>
            <a:r>
              <a:rPr lang="en-US" dirty="0"/>
              <a:t>AES</a:t>
            </a:r>
            <a:endParaRPr lang="he-IL" dirty="0"/>
          </a:p>
        </p:txBody>
      </p:sp>
      <p:sp>
        <p:nvSpPr>
          <p:cNvPr id="3" name="מציין מיקום תוכן 2"/>
          <p:cNvSpPr>
            <a:spLocks noGrp="1"/>
          </p:cNvSpPr>
          <p:nvPr>
            <p:ph idx="1"/>
          </p:nvPr>
        </p:nvSpPr>
        <p:spPr/>
        <p:txBody>
          <a:bodyPr/>
          <a:lstStyle/>
          <a:p>
            <a:r>
              <a:rPr lang="he-IL" b="1" dirty="0"/>
              <a:t>צופן בלוקים</a:t>
            </a:r>
            <a:r>
              <a:rPr lang="en-US" b="1" dirty="0"/>
              <a:t> :Block Cipher</a:t>
            </a:r>
            <a:r>
              <a:rPr lang="en-US" dirty="0"/>
              <a:t> </a:t>
            </a:r>
            <a:r>
              <a:rPr lang="he-IL" dirty="0"/>
              <a:t>מצפין מידע בבלוקים בגודל </a:t>
            </a:r>
            <a:r>
              <a:rPr lang="he-IL" b="1" dirty="0"/>
              <a:t>128 ביטים</a:t>
            </a:r>
            <a:r>
              <a:rPr lang="he-IL" dirty="0"/>
              <a:t>.</a:t>
            </a:r>
            <a:br>
              <a:rPr lang="he-IL" dirty="0"/>
            </a:br>
            <a:r>
              <a:rPr lang="he-IL" b="1" dirty="0"/>
              <a:t>מפתח משתנה:</a:t>
            </a:r>
            <a:r>
              <a:rPr lang="he-IL" dirty="0"/>
              <a:t> תומך באורכי מפתח של </a:t>
            </a:r>
            <a:r>
              <a:rPr lang="he-IL" b="1" dirty="0"/>
              <a:t>128, 192, ו-256 ביטים</a:t>
            </a:r>
            <a:r>
              <a:rPr lang="he-IL" dirty="0"/>
              <a:t>.</a:t>
            </a:r>
            <a:br>
              <a:rPr lang="he-IL" dirty="0"/>
            </a:br>
            <a:r>
              <a:rPr lang="he-IL" b="1" dirty="0"/>
              <a:t>מספר סבבים</a:t>
            </a:r>
            <a:r>
              <a:rPr lang="en-US" b="1" dirty="0"/>
              <a:t> :Rounds</a:t>
            </a:r>
            <a:r>
              <a:rPr lang="en-US" dirty="0"/>
              <a:t> </a:t>
            </a:r>
            <a:r>
              <a:rPr lang="he-IL" dirty="0"/>
              <a:t>מספר הסבבים תלוי באורך המפתח:</a:t>
            </a:r>
          </a:p>
          <a:p>
            <a:r>
              <a:rPr lang="en-US" b="1" dirty="0"/>
              <a:t>AES-128</a:t>
            </a:r>
            <a:r>
              <a:rPr lang="en-US" dirty="0"/>
              <a:t> – 10 </a:t>
            </a:r>
            <a:r>
              <a:rPr lang="he-IL" dirty="0"/>
              <a:t> סבבים</a:t>
            </a:r>
          </a:p>
          <a:p>
            <a:r>
              <a:rPr lang="en-US" b="1" dirty="0"/>
              <a:t>AES-192</a:t>
            </a:r>
            <a:r>
              <a:rPr lang="en-US" dirty="0"/>
              <a:t> – 12 </a:t>
            </a:r>
            <a:r>
              <a:rPr lang="he-IL" dirty="0"/>
              <a:t> סבבים</a:t>
            </a:r>
          </a:p>
          <a:p>
            <a:r>
              <a:rPr lang="en-US" b="1" dirty="0"/>
              <a:t>AES-256</a:t>
            </a:r>
            <a:r>
              <a:rPr lang="en-US" dirty="0"/>
              <a:t> – 14 </a:t>
            </a:r>
            <a:r>
              <a:rPr lang="he-IL" dirty="0"/>
              <a:t> סבבים</a:t>
            </a:r>
          </a:p>
          <a:p>
            <a:r>
              <a:rPr lang="he-IL" dirty="0"/>
              <a:t/>
            </a:r>
            <a:br>
              <a:rPr lang="he-IL" dirty="0"/>
            </a:br>
            <a:r>
              <a:rPr lang="he-IL" b="1" dirty="0"/>
              <a:t>בטיחות גבוהה</a:t>
            </a:r>
            <a:r>
              <a:rPr lang="he-IL" dirty="0"/>
              <a:t> – נחשב בטוח לשימוש ומאוד עמיד בפני התקפות </a:t>
            </a:r>
            <a:r>
              <a:rPr lang="he-IL" dirty="0" err="1"/>
              <a:t>קריפטוגרפיות</a:t>
            </a:r>
            <a:r>
              <a:rPr lang="he-IL" dirty="0"/>
              <a:t>.</a:t>
            </a:r>
          </a:p>
          <a:p>
            <a:endParaRPr lang="he-IL" dirty="0"/>
          </a:p>
        </p:txBody>
      </p:sp>
    </p:spTree>
    <p:extLst>
      <p:ext uri="{BB962C8B-B14F-4D97-AF65-F5344CB8AC3E}">
        <p14:creationId xmlns:p14="http://schemas.microsoft.com/office/powerpoint/2010/main" val="35694363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959331" y="-72300"/>
            <a:ext cx="8165869" cy="1371600"/>
          </a:xfrm>
        </p:spPr>
        <p:txBody>
          <a:bodyPr/>
          <a:lstStyle/>
          <a:p>
            <a:r>
              <a:rPr lang="he-IL" dirty="0"/>
              <a:t>איך</a:t>
            </a:r>
            <a:r>
              <a:rPr lang="en-US" dirty="0"/>
              <a:t> AES </a:t>
            </a:r>
            <a:r>
              <a:rPr lang="he-IL" dirty="0"/>
              <a:t>עובד? – שלבי ההצפנה</a:t>
            </a:r>
          </a:p>
        </p:txBody>
      </p:sp>
      <p:sp>
        <p:nvSpPr>
          <p:cNvPr id="3" name="מציין מיקום תוכן 2"/>
          <p:cNvSpPr>
            <a:spLocks noGrp="1"/>
          </p:cNvSpPr>
          <p:nvPr>
            <p:ph idx="1"/>
          </p:nvPr>
        </p:nvSpPr>
        <p:spPr>
          <a:xfrm>
            <a:off x="1066800" y="997528"/>
            <a:ext cx="10058400" cy="5760720"/>
          </a:xfrm>
        </p:spPr>
        <p:txBody>
          <a:bodyPr>
            <a:normAutofit lnSpcReduction="10000"/>
          </a:bodyPr>
          <a:lstStyle/>
          <a:p>
            <a:r>
              <a:rPr lang="en-US" dirty="0"/>
              <a:t> AES </a:t>
            </a:r>
            <a:r>
              <a:rPr lang="he-IL" dirty="0"/>
              <a:t>עובד לפי עקרון של </a:t>
            </a:r>
            <a:r>
              <a:rPr lang="he-IL" b="1" dirty="0"/>
              <a:t>תחליפים </a:t>
            </a:r>
            <a:r>
              <a:rPr lang="he-IL" b="1" dirty="0" err="1"/>
              <a:t>וטרנספוזיציות</a:t>
            </a:r>
            <a:r>
              <a:rPr lang="he-IL" dirty="0"/>
              <a:t> </a:t>
            </a:r>
            <a:r>
              <a:rPr lang="en-US" dirty="0"/>
              <a:t>Substitution-Permutation Network</a:t>
            </a:r>
            <a:br>
              <a:rPr lang="en-US" dirty="0"/>
            </a:br>
            <a:r>
              <a:rPr lang="he-IL" dirty="0"/>
              <a:t>ההצפנה מתבצעת ב</a:t>
            </a:r>
            <a:r>
              <a:rPr lang="he-IL" b="1" dirty="0"/>
              <a:t>סבבים</a:t>
            </a:r>
            <a:r>
              <a:rPr lang="he-IL" dirty="0"/>
              <a:t> </a:t>
            </a:r>
            <a:r>
              <a:rPr lang="en-US" dirty="0"/>
              <a:t> Rounds</a:t>
            </a:r>
            <a:r>
              <a:rPr lang="he-IL" dirty="0"/>
              <a:t>ובכל סבב יש ארבעה שלבים עיקריים:</a:t>
            </a:r>
          </a:p>
          <a:p>
            <a:r>
              <a:rPr lang="he-IL" b="1" dirty="0"/>
              <a:t>1. שלב ראשון – </a:t>
            </a:r>
            <a:r>
              <a:rPr lang="en-US" b="1" dirty="0" err="1"/>
              <a:t>SubBytes</a:t>
            </a:r>
            <a:r>
              <a:rPr lang="en-US" b="1" dirty="0"/>
              <a:t> </a:t>
            </a:r>
            <a:r>
              <a:rPr lang="he-IL" b="1" dirty="0"/>
              <a:t> תיבות תחליף: </a:t>
            </a:r>
          </a:p>
          <a:p>
            <a:r>
              <a:rPr lang="he-IL" dirty="0"/>
              <a:t>כל בית </a:t>
            </a:r>
            <a:r>
              <a:rPr lang="en-US" dirty="0"/>
              <a:t> Byte</a:t>
            </a:r>
            <a:r>
              <a:rPr lang="he-IL" dirty="0"/>
              <a:t>במטריצה </a:t>
            </a:r>
            <a:r>
              <a:rPr lang="he-IL" b="1" dirty="0"/>
              <a:t>מוחלף בערך אחר</a:t>
            </a:r>
            <a:r>
              <a:rPr lang="he-IL" dirty="0"/>
              <a:t> לפי טבלה שנקראת </a:t>
            </a:r>
            <a:r>
              <a:rPr lang="en-US" b="1" dirty="0"/>
              <a:t>S-Box</a:t>
            </a:r>
            <a:r>
              <a:rPr lang="he-IL" dirty="0"/>
              <a:t>.</a:t>
            </a:r>
            <a:r>
              <a:rPr lang="en-US" dirty="0"/>
              <a:t/>
            </a:r>
            <a:br>
              <a:rPr lang="en-US" dirty="0"/>
            </a:br>
            <a:r>
              <a:rPr lang="he-IL" dirty="0"/>
              <a:t>זה יוצר </a:t>
            </a:r>
            <a:r>
              <a:rPr lang="he-IL" b="1" dirty="0"/>
              <a:t>בלבול</a:t>
            </a:r>
            <a:r>
              <a:rPr lang="en-US" b="1" dirty="0"/>
              <a:t> </a:t>
            </a:r>
            <a:r>
              <a:rPr lang="en-US" dirty="0"/>
              <a:t>Confusion </a:t>
            </a:r>
            <a:r>
              <a:rPr lang="he-IL" dirty="0"/>
              <a:t>במידע, כך שאי אפשר לנחש את הקלט מהפלט.</a:t>
            </a:r>
          </a:p>
          <a:p>
            <a:r>
              <a:rPr lang="he-IL" b="1" dirty="0"/>
              <a:t>2. שלב שני – </a:t>
            </a:r>
            <a:r>
              <a:rPr lang="en-US" b="1" dirty="0"/>
              <a:t> </a:t>
            </a:r>
            <a:r>
              <a:rPr lang="en-US" b="1" dirty="0" err="1"/>
              <a:t>ShiftRows</a:t>
            </a:r>
            <a:r>
              <a:rPr lang="en-US" b="1" dirty="0"/>
              <a:t> </a:t>
            </a:r>
            <a:r>
              <a:rPr lang="he-IL" b="1" dirty="0"/>
              <a:t>הזזת שורות:</a:t>
            </a:r>
          </a:p>
          <a:p>
            <a:r>
              <a:rPr lang="he-IL" dirty="0"/>
              <a:t>כל שורה במטריצת הבלוק </a:t>
            </a:r>
            <a:r>
              <a:rPr lang="he-IL" b="1" dirty="0"/>
              <a:t>מוזזת מספר צעדים שמאלה</a:t>
            </a:r>
            <a:r>
              <a:rPr lang="he-IL" dirty="0"/>
              <a:t>.</a:t>
            </a:r>
            <a:br>
              <a:rPr lang="he-IL" dirty="0"/>
            </a:br>
            <a:r>
              <a:rPr lang="he-IL" dirty="0"/>
              <a:t>השורה הראשונה לא זזה, השנייה מוזזת מקום אחד, השלישית שניים, והרביעית שלושה מקומות.</a:t>
            </a:r>
            <a:br>
              <a:rPr lang="he-IL" dirty="0"/>
            </a:br>
            <a:r>
              <a:rPr lang="he-IL" dirty="0"/>
              <a:t>זה יוצר </a:t>
            </a:r>
            <a:r>
              <a:rPr lang="he-IL" b="1" dirty="0"/>
              <a:t>פיזור</a:t>
            </a:r>
            <a:r>
              <a:rPr lang="he-IL" dirty="0"/>
              <a:t> </a:t>
            </a:r>
            <a:r>
              <a:rPr lang="en-US" dirty="0"/>
              <a:t>Diffusion</a:t>
            </a:r>
            <a:r>
              <a:rPr lang="he-IL" dirty="0"/>
              <a:t> של הנתונים בתוך הבלוק.</a:t>
            </a:r>
          </a:p>
          <a:p>
            <a:r>
              <a:rPr lang="he-IL" b="1" dirty="0"/>
              <a:t>3. שלב שלישי – </a:t>
            </a:r>
            <a:r>
              <a:rPr lang="en-US" b="1" dirty="0" err="1"/>
              <a:t>MixColumns</a:t>
            </a:r>
            <a:r>
              <a:rPr lang="en-US" b="1" dirty="0"/>
              <a:t> </a:t>
            </a:r>
            <a:r>
              <a:rPr lang="he-IL" b="1" dirty="0"/>
              <a:t> ערבוב עמודות:</a:t>
            </a:r>
          </a:p>
          <a:p>
            <a:r>
              <a:rPr lang="he-IL" dirty="0"/>
              <a:t>כל עמודה במטריצה </a:t>
            </a:r>
            <a:r>
              <a:rPr lang="he-IL" b="1" dirty="0"/>
              <a:t>מעורבבת עם עצמה</a:t>
            </a:r>
            <a:r>
              <a:rPr lang="he-IL" dirty="0"/>
              <a:t> באמצעות חישובים מתמטיים על מספרים בגוף </a:t>
            </a:r>
            <a:r>
              <a:rPr lang="he-IL" dirty="0" err="1"/>
              <a:t>גלואה</a:t>
            </a:r>
            <a:r>
              <a:rPr lang="he-IL" dirty="0"/>
              <a:t> </a:t>
            </a:r>
            <a:r>
              <a:rPr lang="en-US" dirty="0"/>
              <a:t>Galois Field</a:t>
            </a:r>
            <a:br>
              <a:rPr lang="en-US" dirty="0"/>
            </a:br>
            <a:r>
              <a:rPr lang="he-IL" dirty="0"/>
              <a:t>השלב הזה מוסיף </a:t>
            </a:r>
            <a:r>
              <a:rPr lang="he-IL" b="1" dirty="0"/>
              <a:t>פיזור נוסף</a:t>
            </a:r>
            <a:r>
              <a:rPr lang="he-IL" dirty="0"/>
              <a:t> במידע, כך שאם שינוי קטן בנתונים יגרום לשינוי משמעותי בפלט.</a:t>
            </a:r>
            <a:br>
              <a:rPr lang="he-IL" dirty="0"/>
            </a:br>
            <a:r>
              <a:rPr lang="he-IL" dirty="0"/>
              <a:t>שלב זה </a:t>
            </a:r>
            <a:r>
              <a:rPr lang="he-IL" b="1" dirty="0"/>
              <a:t>לא מתבצע בסבב האחרון</a:t>
            </a:r>
            <a:r>
              <a:rPr lang="he-IL" dirty="0"/>
              <a:t>, כדי לאפשר תהליך פענוח תקין.</a:t>
            </a:r>
          </a:p>
          <a:p>
            <a:r>
              <a:rPr lang="he-IL" b="1" dirty="0"/>
              <a:t>4. שלב רביעי – </a:t>
            </a:r>
            <a:r>
              <a:rPr lang="en-US" b="1" dirty="0" err="1"/>
              <a:t>AddRoundKey</a:t>
            </a:r>
            <a:r>
              <a:rPr lang="en-US" b="1" dirty="0"/>
              <a:t> </a:t>
            </a:r>
            <a:r>
              <a:rPr lang="he-IL" b="1" dirty="0"/>
              <a:t> הוספת מפתח סבב:</a:t>
            </a:r>
          </a:p>
          <a:p>
            <a:r>
              <a:rPr lang="he-IL" dirty="0"/>
              <a:t>מבצעים</a:t>
            </a:r>
            <a:r>
              <a:rPr lang="en-US" dirty="0"/>
              <a:t> </a:t>
            </a:r>
            <a:r>
              <a:rPr lang="en-US" b="1" dirty="0"/>
              <a:t>XOR</a:t>
            </a:r>
            <a:r>
              <a:rPr lang="en-US" dirty="0"/>
              <a:t> </a:t>
            </a:r>
            <a:r>
              <a:rPr lang="he-IL" dirty="0"/>
              <a:t>בין הבלוק הנוכחי לבין </a:t>
            </a:r>
            <a:r>
              <a:rPr lang="he-IL" b="1" dirty="0"/>
              <a:t>מפתח הסבב</a:t>
            </a:r>
            <a:r>
              <a:rPr lang="he-IL" dirty="0"/>
              <a:t> שהופק מאלגוריתם הרחבת המפתח </a:t>
            </a:r>
            <a:r>
              <a:rPr lang="en-US" dirty="0"/>
              <a:t>Key Expansion</a:t>
            </a:r>
            <a:br>
              <a:rPr lang="en-US" dirty="0"/>
            </a:br>
            <a:r>
              <a:rPr lang="he-IL" dirty="0"/>
              <a:t>זה מוסיף ביטחון, מכיוון שכל סבב משתמש במפתח אחר.</a:t>
            </a:r>
          </a:p>
          <a:p>
            <a:r>
              <a:rPr lang="he-IL" dirty="0"/>
              <a:t>כל ארבעת השלבים חוזרים על עצמם </a:t>
            </a:r>
            <a:r>
              <a:rPr lang="he-IL" b="1" dirty="0"/>
              <a:t>עד לסבב האחרון</a:t>
            </a:r>
            <a:r>
              <a:rPr lang="he-IL" dirty="0"/>
              <a:t>, שבו </a:t>
            </a:r>
            <a:r>
              <a:rPr lang="he-IL" b="1" dirty="0"/>
              <a:t>לא מתבצע </a:t>
            </a:r>
            <a:r>
              <a:rPr lang="en-US" b="1" dirty="0" err="1"/>
              <a:t>MixColumns</a:t>
            </a:r>
            <a:r>
              <a:rPr lang="he-IL" dirty="0"/>
              <a:t>.</a:t>
            </a:r>
            <a:endParaRPr lang="en-US" dirty="0"/>
          </a:p>
          <a:p>
            <a:endParaRPr lang="he-IL" dirty="0"/>
          </a:p>
        </p:txBody>
      </p:sp>
    </p:spTree>
    <p:extLst>
      <p:ext uri="{BB962C8B-B14F-4D97-AF65-F5344CB8AC3E}">
        <p14:creationId xmlns:p14="http://schemas.microsoft.com/office/powerpoint/2010/main" val="23603489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73484" y="642594"/>
            <a:ext cx="7151716" cy="1371600"/>
          </a:xfrm>
        </p:spPr>
        <p:txBody>
          <a:bodyPr/>
          <a:lstStyle/>
          <a:p>
            <a:r>
              <a:rPr lang="he-IL" dirty="0"/>
              <a:t>דוגמה מספרית לתהליך </a:t>
            </a:r>
            <a:r>
              <a:rPr lang="en-US" dirty="0"/>
              <a:t>AES</a:t>
            </a:r>
            <a:endParaRPr lang="he-IL" dirty="0"/>
          </a:p>
        </p:txBody>
      </p:sp>
      <p:sp>
        <p:nvSpPr>
          <p:cNvPr id="3" name="מציין מיקום תוכן 2"/>
          <p:cNvSpPr>
            <a:spLocks noGrp="1"/>
          </p:cNvSpPr>
          <p:nvPr>
            <p:ph idx="1"/>
          </p:nvPr>
        </p:nvSpPr>
        <p:spPr/>
        <p:txBody>
          <a:bodyPr/>
          <a:lstStyle/>
          <a:p>
            <a:r>
              <a:rPr lang="he-IL" dirty="0"/>
              <a:t>ניקח בלוק טקסט לדוגמה:</a:t>
            </a:r>
            <a:endParaRPr lang="en-US" dirty="0"/>
          </a:p>
          <a:p>
            <a:pPr algn="l"/>
            <a:r>
              <a:rPr lang="en-US" dirty="0"/>
              <a:t>"HELLO123WORLD456"</a:t>
            </a:r>
          </a:p>
          <a:p>
            <a:r>
              <a:rPr lang="he-IL" dirty="0"/>
              <a:t>נתרגם אותו לערכים בינאריים ונצפין בעזרת </a:t>
            </a:r>
            <a:r>
              <a:rPr lang="en-US" dirty="0"/>
              <a:t>AES-128</a:t>
            </a:r>
            <a:r>
              <a:rPr lang="he-IL" dirty="0"/>
              <a:t> עם מפתח הצפנה.</a:t>
            </a:r>
            <a:br>
              <a:rPr lang="he-IL" dirty="0"/>
            </a:br>
            <a:r>
              <a:rPr lang="he-IL" dirty="0"/>
              <a:t>בכל סבב, התוכן של הבלוק ישתנה בעקבות ארבעת השלבים שהסברנו.</a:t>
            </a:r>
            <a:br>
              <a:rPr lang="he-IL" dirty="0"/>
            </a:br>
            <a:r>
              <a:rPr lang="he-IL" dirty="0"/>
              <a:t>לבסוף, נקבל </a:t>
            </a:r>
            <a:r>
              <a:rPr lang="he-IL" b="1" dirty="0"/>
              <a:t>טקסט מוצפן בלתי קריא</a:t>
            </a:r>
            <a:r>
              <a:rPr lang="he-IL" dirty="0"/>
              <a:t>.</a:t>
            </a:r>
          </a:p>
          <a:p>
            <a:endParaRPr lang="he-IL" dirty="0"/>
          </a:p>
          <a:p>
            <a:r>
              <a:rPr lang="he-IL" dirty="0"/>
              <a:t>כדי לפענח את ההודעה, מבצעים את </a:t>
            </a:r>
            <a:r>
              <a:rPr lang="he-IL" b="1" dirty="0"/>
              <a:t>אותם השלבים בסדר הפוך</a:t>
            </a:r>
            <a:r>
              <a:rPr lang="he-IL" dirty="0"/>
              <a:t>, עם אותם המפתחות.</a:t>
            </a:r>
          </a:p>
          <a:p>
            <a:endParaRPr lang="he-IL" dirty="0"/>
          </a:p>
        </p:txBody>
      </p:sp>
    </p:spTree>
    <p:extLst>
      <p:ext uri="{BB962C8B-B14F-4D97-AF65-F5344CB8AC3E}">
        <p14:creationId xmlns:p14="http://schemas.microsoft.com/office/powerpoint/2010/main" val="14119436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719156" y="642594"/>
            <a:ext cx="5406044" cy="1371600"/>
          </a:xfrm>
        </p:spPr>
        <p:txBody>
          <a:bodyPr/>
          <a:lstStyle/>
          <a:p>
            <a:r>
              <a:rPr lang="he-IL" dirty="0"/>
              <a:t>הרחבה על שלבי </a:t>
            </a:r>
            <a:r>
              <a:rPr lang="en-US" dirty="0"/>
              <a:t>AES</a:t>
            </a:r>
            <a:endParaRPr lang="he-IL" dirty="0"/>
          </a:p>
        </p:txBody>
      </p:sp>
      <p:sp>
        <p:nvSpPr>
          <p:cNvPr id="3" name="מציין מיקום תוכן 2"/>
          <p:cNvSpPr>
            <a:spLocks noGrp="1"/>
          </p:cNvSpPr>
          <p:nvPr>
            <p:ph idx="1"/>
          </p:nvPr>
        </p:nvSpPr>
        <p:spPr/>
        <p:txBody>
          <a:bodyPr/>
          <a:lstStyle/>
          <a:p>
            <a:r>
              <a:rPr lang="en-US" b="1" dirty="0"/>
              <a:t> </a:t>
            </a:r>
            <a:r>
              <a:rPr lang="en-US" sz="3200" b="1" dirty="0" err="1"/>
              <a:t>SubBytes</a:t>
            </a:r>
            <a:r>
              <a:rPr lang="en-US" sz="3200" b="1" dirty="0"/>
              <a:t> .1 </a:t>
            </a:r>
            <a:r>
              <a:rPr lang="he-IL" sz="3200" b="1" dirty="0"/>
              <a:t>תחליף בתים </a:t>
            </a:r>
            <a:r>
              <a:rPr lang="en-US" sz="3200" b="1" dirty="0"/>
              <a:t>S-Box</a:t>
            </a:r>
          </a:p>
          <a:p>
            <a:r>
              <a:rPr lang="he-IL" dirty="0"/>
              <a:t>בכל סבב, כל בית</a:t>
            </a:r>
            <a:r>
              <a:rPr lang="en-US" dirty="0"/>
              <a:t> Byte </a:t>
            </a:r>
            <a:r>
              <a:rPr lang="he-IL" dirty="0"/>
              <a:t>מוחלף בערך חדש מתוך </a:t>
            </a:r>
            <a:r>
              <a:rPr lang="he-IL" b="1" dirty="0"/>
              <a:t>טבלה קבועה</a:t>
            </a:r>
            <a:r>
              <a:rPr lang="he-IL" dirty="0"/>
              <a:t> שנקראת </a:t>
            </a:r>
            <a:r>
              <a:rPr lang="en-US" dirty="0"/>
              <a:t> </a:t>
            </a:r>
            <a:r>
              <a:rPr lang="en-US" b="1" dirty="0"/>
              <a:t>S-Box</a:t>
            </a:r>
            <a:r>
              <a:rPr lang="he-IL" dirty="0"/>
              <a:t>תיבת תחליף.</a:t>
            </a:r>
            <a:br>
              <a:rPr lang="he-IL" dirty="0"/>
            </a:br>
            <a:r>
              <a:rPr lang="he-IL" dirty="0"/>
              <a:t>מטרת השלב היא </a:t>
            </a:r>
            <a:r>
              <a:rPr lang="he-IL" b="1" dirty="0"/>
              <a:t>למנוע קשר ישיר בין הקלט לפלט</a:t>
            </a:r>
            <a:r>
              <a:rPr lang="he-IL" dirty="0"/>
              <a:t>, כדי למנוע ניתוח סטטיסטי של ההצפנה.</a:t>
            </a:r>
            <a:br>
              <a:rPr lang="he-IL" dirty="0"/>
            </a:br>
            <a:r>
              <a:rPr lang="he-IL" dirty="0"/>
              <a:t>ה-</a:t>
            </a:r>
            <a:r>
              <a:rPr lang="en-US" dirty="0"/>
              <a:t> S-Box </a:t>
            </a:r>
            <a:r>
              <a:rPr lang="he-IL" dirty="0"/>
              <a:t>נבנה כך ש</a:t>
            </a:r>
            <a:r>
              <a:rPr lang="he-IL" b="1" dirty="0"/>
              <a:t>יהיה עמיד בפני התקפות מתמטיות</a:t>
            </a:r>
            <a:r>
              <a:rPr lang="he-IL" dirty="0"/>
              <a:t>.</a:t>
            </a:r>
            <a:endParaRPr lang="en-US" dirty="0"/>
          </a:p>
          <a:p>
            <a:r>
              <a:rPr lang="he-IL" dirty="0"/>
              <a:t>דוגמה לתיבת </a:t>
            </a:r>
            <a:r>
              <a:rPr lang="en-US" dirty="0"/>
              <a:t>S-Box</a:t>
            </a:r>
            <a:r>
              <a:rPr lang="he-IL" dirty="0"/>
              <a:t> חלקית:</a:t>
            </a:r>
          </a:p>
          <a:p>
            <a:endParaRPr lang="he-IL" dirty="0"/>
          </a:p>
          <a:p>
            <a:endParaRPr lang="he-IL" dirty="0"/>
          </a:p>
        </p:txBody>
      </p:sp>
      <p:pic>
        <p:nvPicPr>
          <p:cNvPr id="4" name="תמונה 3"/>
          <p:cNvPicPr>
            <a:picLocks noChangeAspect="1"/>
          </p:cNvPicPr>
          <p:nvPr/>
        </p:nvPicPr>
        <p:blipFill>
          <a:blip r:embed="rId2"/>
          <a:stretch>
            <a:fillRect/>
          </a:stretch>
        </p:blipFill>
        <p:spPr>
          <a:xfrm>
            <a:off x="2301245" y="3902214"/>
            <a:ext cx="8232491" cy="1467808"/>
          </a:xfrm>
          <a:prstGeom prst="rect">
            <a:avLst/>
          </a:prstGeom>
        </p:spPr>
      </p:pic>
    </p:spTree>
    <p:extLst>
      <p:ext uri="{BB962C8B-B14F-4D97-AF65-F5344CB8AC3E}">
        <p14:creationId xmlns:p14="http://schemas.microsoft.com/office/powerpoint/2010/main" val="11950414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682538" y="0"/>
            <a:ext cx="7442662" cy="1371600"/>
          </a:xfrm>
        </p:spPr>
        <p:txBody>
          <a:bodyPr/>
          <a:lstStyle/>
          <a:p>
            <a:r>
              <a:rPr lang="he-IL" dirty="0"/>
              <a:t>המשך - הרחבה על שלבי </a:t>
            </a:r>
            <a:r>
              <a:rPr lang="en-US" dirty="0"/>
              <a:t>AES</a:t>
            </a:r>
            <a:endParaRPr lang="he-IL" dirty="0"/>
          </a:p>
        </p:txBody>
      </p:sp>
      <p:sp>
        <p:nvSpPr>
          <p:cNvPr id="3" name="מציין מיקום תוכן 2"/>
          <p:cNvSpPr>
            <a:spLocks noGrp="1"/>
          </p:cNvSpPr>
          <p:nvPr>
            <p:ph idx="1"/>
          </p:nvPr>
        </p:nvSpPr>
        <p:spPr>
          <a:xfrm>
            <a:off x="1008611" y="1221970"/>
            <a:ext cx="10058400" cy="5153891"/>
          </a:xfrm>
        </p:spPr>
        <p:txBody>
          <a:bodyPr>
            <a:normAutofit fontScale="85000" lnSpcReduction="10000"/>
          </a:bodyPr>
          <a:lstStyle/>
          <a:p>
            <a:r>
              <a:rPr lang="en-US" sz="3200" b="1" dirty="0"/>
              <a:t> </a:t>
            </a:r>
            <a:r>
              <a:rPr lang="en-US" sz="3200" b="1" dirty="0" err="1"/>
              <a:t>ShiftRows</a:t>
            </a:r>
            <a:r>
              <a:rPr lang="en-US" sz="3200" b="1" dirty="0"/>
              <a:t> .2</a:t>
            </a:r>
            <a:r>
              <a:rPr lang="he-IL" sz="3200" b="1" dirty="0"/>
              <a:t>הזזת שורות:</a:t>
            </a:r>
          </a:p>
          <a:p>
            <a:r>
              <a:rPr lang="he-IL" dirty="0"/>
              <a:t>מטרת שלב זה היא </a:t>
            </a:r>
            <a:r>
              <a:rPr lang="he-IL" b="1" dirty="0"/>
              <a:t>לפזר מידע על פני הבלוק</a:t>
            </a:r>
            <a:r>
              <a:rPr lang="he-IL" dirty="0"/>
              <a:t>.</a:t>
            </a:r>
          </a:p>
          <a:p>
            <a:r>
              <a:rPr lang="he-IL" dirty="0"/>
              <a:t> השורה הראשונה נשארת במקום, השנייה מוזזת שמאלה ב</a:t>
            </a:r>
            <a:r>
              <a:rPr lang="he-IL" b="1" dirty="0"/>
              <a:t>מקום אחד</a:t>
            </a:r>
            <a:r>
              <a:rPr lang="he-IL" dirty="0"/>
              <a:t>, השלישית ב</a:t>
            </a:r>
            <a:r>
              <a:rPr lang="he-IL" b="1" dirty="0"/>
              <a:t>שני מקומות</a:t>
            </a:r>
            <a:r>
              <a:rPr lang="he-IL" dirty="0"/>
              <a:t>, והרביעית ב</a:t>
            </a:r>
            <a:r>
              <a:rPr lang="he-IL" b="1" dirty="0"/>
              <a:t>שלושה מקומות</a:t>
            </a:r>
            <a:r>
              <a:rPr lang="he-IL" dirty="0"/>
              <a:t>.</a:t>
            </a:r>
          </a:p>
          <a:p>
            <a:r>
              <a:rPr lang="he-IL" dirty="0"/>
              <a:t>פעולה זו </a:t>
            </a:r>
            <a:r>
              <a:rPr lang="he-IL" b="1" dirty="0"/>
              <a:t>מונעת קשר ישיר בין בתים סמוכים</a:t>
            </a:r>
            <a:r>
              <a:rPr lang="he-IL" dirty="0"/>
              <a:t> בתוך הבלוק.</a:t>
            </a:r>
          </a:p>
          <a:p>
            <a:r>
              <a:rPr lang="he-IL" b="1" dirty="0"/>
              <a:t>דוגמה להזזת שורות</a:t>
            </a:r>
          </a:p>
          <a:p>
            <a:r>
              <a:rPr lang="he-IL" dirty="0"/>
              <a:t>לפני ההזזה:</a:t>
            </a:r>
          </a:p>
          <a:p>
            <a:pPr algn="l"/>
            <a:r>
              <a:rPr lang="pt-BR" dirty="0"/>
              <a:t>A  B  C  D  </a:t>
            </a:r>
          </a:p>
          <a:p>
            <a:pPr algn="l"/>
            <a:r>
              <a:rPr lang="pt-BR" dirty="0"/>
              <a:t>E  F  G  H  </a:t>
            </a:r>
          </a:p>
          <a:p>
            <a:pPr algn="l"/>
            <a:r>
              <a:rPr lang="pt-BR" dirty="0"/>
              <a:t>I  J  K  L  </a:t>
            </a:r>
          </a:p>
          <a:p>
            <a:pPr algn="l"/>
            <a:r>
              <a:rPr lang="pt-BR" dirty="0"/>
              <a:t>M  N  O  P </a:t>
            </a:r>
            <a:endParaRPr lang="he-IL" dirty="0"/>
          </a:p>
          <a:p>
            <a:r>
              <a:rPr lang="he-IL" dirty="0"/>
              <a:t>אחרי ההזזה:</a:t>
            </a:r>
          </a:p>
          <a:p>
            <a:pPr algn="l"/>
            <a:r>
              <a:rPr lang="pt-BR" dirty="0"/>
              <a:t>A  B  C  D  </a:t>
            </a:r>
          </a:p>
          <a:p>
            <a:pPr algn="l"/>
            <a:r>
              <a:rPr lang="pt-BR" dirty="0"/>
              <a:t>F  G  H  E  </a:t>
            </a:r>
          </a:p>
          <a:p>
            <a:pPr algn="l"/>
            <a:r>
              <a:rPr lang="pt-BR" dirty="0"/>
              <a:t>K  L  I  J  </a:t>
            </a:r>
          </a:p>
          <a:p>
            <a:pPr algn="l"/>
            <a:r>
              <a:rPr lang="pt-BR" dirty="0"/>
              <a:t>P  M  N  O </a:t>
            </a:r>
            <a:endParaRPr lang="he-IL" dirty="0"/>
          </a:p>
        </p:txBody>
      </p:sp>
    </p:spTree>
    <p:extLst>
      <p:ext uri="{BB962C8B-B14F-4D97-AF65-F5344CB8AC3E}">
        <p14:creationId xmlns:p14="http://schemas.microsoft.com/office/powerpoint/2010/main" val="40349035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674225" y="85642"/>
            <a:ext cx="7450975" cy="1371600"/>
          </a:xfrm>
        </p:spPr>
        <p:txBody>
          <a:bodyPr/>
          <a:lstStyle/>
          <a:p>
            <a:r>
              <a:rPr lang="he-IL" dirty="0"/>
              <a:t>המשך - הרחבה על שלבי </a:t>
            </a:r>
            <a:r>
              <a:rPr lang="en-US" dirty="0"/>
              <a:t>AES</a:t>
            </a:r>
            <a:endParaRPr lang="he-IL" dirty="0"/>
          </a:p>
        </p:txBody>
      </p:sp>
      <p:sp>
        <p:nvSpPr>
          <p:cNvPr id="3" name="מציין מיקום תוכן 2"/>
          <p:cNvSpPr>
            <a:spLocks noGrp="1"/>
          </p:cNvSpPr>
          <p:nvPr>
            <p:ph idx="1"/>
          </p:nvPr>
        </p:nvSpPr>
        <p:spPr>
          <a:xfrm>
            <a:off x="1066800" y="1457242"/>
            <a:ext cx="10058400" cy="4976808"/>
          </a:xfrm>
        </p:spPr>
        <p:txBody>
          <a:bodyPr>
            <a:normAutofit lnSpcReduction="10000"/>
          </a:bodyPr>
          <a:lstStyle/>
          <a:p>
            <a:r>
              <a:rPr lang="en-US" sz="3200" b="1" dirty="0"/>
              <a:t> </a:t>
            </a:r>
            <a:r>
              <a:rPr lang="en-US" sz="3200" b="1" dirty="0" err="1"/>
              <a:t>MixColumns</a:t>
            </a:r>
            <a:r>
              <a:rPr lang="en-US" sz="3200" b="1" dirty="0"/>
              <a:t> .3</a:t>
            </a:r>
            <a:r>
              <a:rPr lang="he-IL" sz="3200" b="1" dirty="0"/>
              <a:t>ערבוב עמודות:</a:t>
            </a:r>
          </a:p>
          <a:p>
            <a:r>
              <a:rPr lang="he-IL" dirty="0"/>
              <a:t>בשלב זה, כל עמודה של המטריצה </a:t>
            </a:r>
            <a:r>
              <a:rPr lang="he-IL" b="1" dirty="0"/>
              <a:t>מוכפלת במטריצה קבועה</a:t>
            </a:r>
            <a:r>
              <a:rPr lang="he-IL" dirty="0"/>
              <a:t> מעל </a:t>
            </a:r>
            <a:r>
              <a:rPr lang="he-IL" b="1" dirty="0"/>
              <a:t>שדה </a:t>
            </a:r>
            <a:r>
              <a:rPr lang="he-IL" b="1" dirty="0" err="1"/>
              <a:t>גלואה</a:t>
            </a:r>
            <a:r>
              <a:rPr lang="he-IL" b="1" dirty="0"/>
              <a:t> </a:t>
            </a:r>
            <a:r>
              <a:rPr lang="en-US" b="1" dirty="0"/>
              <a:t>Galois Field 2^8</a:t>
            </a:r>
            <a:endParaRPr lang="en-US" dirty="0"/>
          </a:p>
          <a:p>
            <a:r>
              <a:rPr lang="he-IL" dirty="0"/>
              <a:t>מטרת הפעולה היא </a:t>
            </a:r>
            <a:r>
              <a:rPr lang="he-IL" b="1" dirty="0"/>
              <a:t>להגביר את הפיזור של המידע</a:t>
            </a:r>
            <a:r>
              <a:rPr lang="he-IL" dirty="0"/>
              <a:t>, כך ששינוי קטן בקלט ישפיע על כל הביטים של הפלט.</a:t>
            </a:r>
          </a:p>
          <a:p>
            <a:r>
              <a:rPr lang="he-IL" b="1" dirty="0"/>
              <a:t>לא מבוצע בסבב האחרון</a:t>
            </a:r>
            <a:r>
              <a:rPr lang="he-IL" dirty="0"/>
              <a:t>, כדי להקל על תהליך הפענוח.</a:t>
            </a:r>
          </a:p>
          <a:p>
            <a:r>
              <a:rPr lang="he-IL" b="1" dirty="0"/>
              <a:t>חישוב דוגמתי של </a:t>
            </a:r>
            <a:r>
              <a:rPr lang="en-US" b="1" dirty="0" err="1"/>
              <a:t>MixColumns</a:t>
            </a:r>
            <a:endParaRPr lang="en-US" b="1" dirty="0"/>
          </a:p>
          <a:p>
            <a:r>
              <a:rPr lang="he-IL" dirty="0"/>
              <a:t>אם ניקח עמודה במטריצה:</a:t>
            </a:r>
          </a:p>
          <a:p>
            <a:pPr algn="l"/>
            <a:r>
              <a:rPr lang="en-US" dirty="0"/>
              <a:t>[A, B, C, D]</a:t>
            </a:r>
          </a:p>
          <a:p>
            <a:r>
              <a:rPr lang="he-IL" dirty="0"/>
              <a:t>נכפיל אותה במטריצה קבועה:</a:t>
            </a:r>
          </a:p>
          <a:p>
            <a:pPr algn="l"/>
            <a:r>
              <a:rPr lang="he-IL" dirty="0"/>
              <a:t>[2, 3, 1, 1]  </a:t>
            </a:r>
          </a:p>
          <a:p>
            <a:pPr algn="l"/>
            <a:r>
              <a:rPr lang="he-IL" dirty="0"/>
              <a:t>[1, 2, 3, 1]  </a:t>
            </a:r>
          </a:p>
          <a:p>
            <a:pPr algn="l"/>
            <a:r>
              <a:rPr lang="he-IL" dirty="0"/>
              <a:t>[1, 1, 2, 3]  </a:t>
            </a:r>
          </a:p>
          <a:p>
            <a:pPr algn="l"/>
            <a:r>
              <a:rPr lang="he-IL" dirty="0"/>
              <a:t>[3, 1, 1, 2]</a:t>
            </a:r>
          </a:p>
          <a:p>
            <a:r>
              <a:rPr lang="he-IL" dirty="0"/>
              <a:t>ונקבל עמודה חדשה מוצפנת.</a:t>
            </a:r>
          </a:p>
          <a:p>
            <a:endParaRPr lang="he-IL" dirty="0"/>
          </a:p>
        </p:txBody>
      </p:sp>
    </p:spTree>
    <p:extLst>
      <p:ext uri="{BB962C8B-B14F-4D97-AF65-F5344CB8AC3E}">
        <p14:creationId xmlns:p14="http://schemas.microsoft.com/office/powerpoint/2010/main" val="32912376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682538" y="642594"/>
            <a:ext cx="7442662" cy="1371600"/>
          </a:xfrm>
        </p:spPr>
        <p:txBody>
          <a:bodyPr/>
          <a:lstStyle/>
          <a:p>
            <a:r>
              <a:rPr lang="he-IL" dirty="0"/>
              <a:t>המשך - הרחבה על שלבי </a:t>
            </a:r>
            <a:r>
              <a:rPr lang="en-US" dirty="0"/>
              <a:t>AES</a:t>
            </a:r>
            <a:endParaRPr lang="he-IL" dirty="0"/>
          </a:p>
        </p:txBody>
      </p:sp>
      <p:sp>
        <p:nvSpPr>
          <p:cNvPr id="3" name="מציין מיקום תוכן 2"/>
          <p:cNvSpPr>
            <a:spLocks noGrp="1"/>
          </p:cNvSpPr>
          <p:nvPr>
            <p:ph idx="1"/>
          </p:nvPr>
        </p:nvSpPr>
        <p:spPr/>
        <p:txBody>
          <a:bodyPr>
            <a:normAutofit/>
          </a:bodyPr>
          <a:lstStyle/>
          <a:p>
            <a:r>
              <a:rPr lang="en-US" sz="3200" b="1" dirty="0"/>
              <a:t> </a:t>
            </a:r>
            <a:r>
              <a:rPr lang="en-US" sz="3200" b="1" dirty="0" err="1"/>
              <a:t>AddRoundKey</a:t>
            </a:r>
            <a:r>
              <a:rPr lang="en-US" sz="3200" b="1" dirty="0"/>
              <a:t> .4</a:t>
            </a:r>
            <a:r>
              <a:rPr lang="he-IL" sz="3200" b="1" dirty="0"/>
              <a:t>הוספת מפתח סבב:</a:t>
            </a:r>
          </a:p>
          <a:p>
            <a:r>
              <a:rPr lang="he-IL" dirty="0"/>
              <a:t>בשלב זה, מבצעים </a:t>
            </a:r>
            <a:r>
              <a:rPr lang="en-US" dirty="0"/>
              <a:t> </a:t>
            </a:r>
            <a:r>
              <a:rPr lang="en-US" b="1" dirty="0"/>
              <a:t>XOR</a:t>
            </a:r>
            <a:r>
              <a:rPr lang="he-IL" dirty="0"/>
              <a:t>בין הבלוק הנוכחי לבין </a:t>
            </a:r>
            <a:r>
              <a:rPr lang="he-IL" b="1" dirty="0"/>
              <a:t>מפתח הסבב</a:t>
            </a:r>
            <a:r>
              <a:rPr lang="he-IL" dirty="0"/>
              <a:t> שהופק מהתהליך של הרחבת מפתחות.</a:t>
            </a:r>
          </a:p>
          <a:p>
            <a:r>
              <a:rPr lang="he-IL" dirty="0"/>
              <a:t> הפעולה הזאת קושרת את כל שלבי ההצפנה למפתח ומבטיחה </a:t>
            </a:r>
            <a:r>
              <a:rPr lang="he-IL" b="1" dirty="0"/>
              <a:t>שכל שינוי במפתח ישפיע על כל הביטים של ההודעה</a:t>
            </a:r>
            <a:r>
              <a:rPr lang="he-IL" dirty="0"/>
              <a:t>.</a:t>
            </a:r>
          </a:p>
          <a:p>
            <a:r>
              <a:rPr lang="he-IL" dirty="0"/>
              <a:t> </a:t>
            </a:r>
            <a:r>
              <a:rPr lang="he-IL" b="1" dirty="0"/>
              <a:t>מפתח חדש נוצר לכל סבב</a:t>
            </a:r>
            <a:r>
              <a:rPr lang="he-IL" dirty="0"/>
              <a:t>, בעזרת פונקציית הרחבת המפתחות </a:t>
            </a:r>
            <a:r>
              <a:rPr lang="en-US" dirty="0"/>
              <a:t>Key Expansion</a:t>
            </a:r>
            <a:r>
              <a:rPr lang="he-IL" dirty="0"/>
              <a:t>.</a:t>
            </a:r>
          </a:p>
        </p:txBody>
      </p:sp>
    </p:spTree>
    <p:extLst>
      <p:ext uri="{BB962C8B-B14F-4D97-AF65-F5344CB8AC3E}">
        <p14:creationId xmlns:p14="http://schemas.microsoft.com/office/powerpoint/2010/main" val="18323981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493818" y="642594"/>
            <a:ext cx="8631382" cy="1371600"/>
          </a:xfrm>
        </p:spPr>
        <p:txBody>
          <a:bodyPr/>
          <a:lstStyle/>
          <a:p>
            <a:r>
              <a:rPr lang="he-IL" dirty="0"/>
              <a:t>הרחבת מפתחות </a:t>
            </a:r>
            <a:r>
              <a:rPr lang="en-US" dirty="0"/>
              <a:t>Key Expansion</a:t>
            </a:r>
            <a:endParaRPr lang="he-IL" dirty="0"/>
          </a:p>
        </p:txBody>
      </p:sp>
      <p:sp>
        <p:nvSpPr>
          <p:cNvPr id="3" name="מציין מיקום תוכן 2"/>
          <p:cNvSpPr>
            <a:spLocks noGrp="1"/>
          </p:cNvSpPr>
          <p:nvPr>
            <p:ph idx="1"/>
          </p:nvPr>
        </p:nvSpPr>
        <p:spPr/>
        <p:txBody>
          <a:bodyPr/>
          <a:lstStyle/>
          <a:p>
            <a:r>
              <a:rPr lang="he-IL" dirty="0"/>
              <a:t>כדי שכל סבב ישתמש במפתח אחר </a:t>
            </a:r>
            <a:r>
              <a:rPr lang="en-US" dirty="0"/>
              <a:t>AES</a:t>
            </a:r>
            <a:r>
              <a:rPr lang="he-IL" dirty="0"/>
              <a:t> </a:t>
            </a:r>
            <a:r>
              <a:rPr lang="he-IL" b="1" dirty="0"/>
              <a:t>יוצר סדרת מפתחות מתוך המפתח המקורי</a:t>
            </a:r>
            <a:r>
              <a:rPr lang="he-IL" dirty="0"/>
              <a:t>.</a:t>
            </a:r>
            <a:br>
              <a:rPr lang="he-IL" dirty="0"/>
            </a:br>
            <a:r>
              <a:rPr lang="he-IL" dirty="0"/>
              <a:t>התהליך הזה מבוצע ע"י:</a:t>
            </a:r>
          </a:p>
          <a:p>
            <a:r>
              <a:rPr lang="he-IL" dirty="0"/>
              <a:t>חלוקת המפתח הראשוני למילים</a:t>
            </a:r>
            <a:r>
              <a:rPr lang="en-US" dirty="0"/>
              <a:t>Words </a:t>
            </a:r>
            <a:r>
              <a:rPr lang="he-IL" dirty="0"/>
              <a:t> של 32 ביטים.</a:t>
            </a:r>
          </a:p>
          <a:p>
            <a:r>
              <a:rPr lang="he-IL" dirty="0"/>
              <a:t>שימוש בפונקציה</a:t>
            </a:r>
            <a:r>
              <a:rPr lang="en-US" b="1" dirty="0" err="1"/>
              <a:t>RotWord</a:t>
            </a:r>
            <a:r>
              <a:rPr lang="en-US" dirty="0"/>
              <a:t> </a:t>
            </a:r>
            <a:r>
              <a:rPr lang="he-IL" dirty="0"/>
              <a:t> שמסובבת בתים במפתח.</a:t>
            </a:r>
          </a:p>
          <a:p>
            <a:r>
              <a:rPr lang="he-IL" dirty="0"/>
              <a:t>שימוש בפונקציה </a:t>
            </a:r>
            <a:r>
              <a:rPr lang="en-US" dirty="0"/>
              <a:t> </a:t>
            </a:r>
            <a:r>
              <a:rPr lang="en-US" b="1" dirty="0" err="1"/>
              <a:t>SubWord</a:t>
            </a:r>
            <a:r>
              <a:rPr lang="he-IL" dirty="0"/>
              <a:t>שמחליפה כל בית בעזרת </a:t>
            </a:r>
            <a:r>
              <a:rPr lang="en-US" b="1" dirty="0"/>
              <a:t>S-Box</a:t>
            </a:r>
            <a:r>
              <a:rPr lang="he-IL" dirty="0"/>
              <a:t>.</a:t>
            </a:r>
            <a:endParaRPr lang="en-US" dirty="0"/>
          </a:p>
          <a:p>
            <a:r>
              <a:rPr lang="he-IL" dirty="0"/>
              <a:t>שילוב ערכים קבועים הנקראים </a:t>
            </a:r>
            <a:r>
              <a:rPr lang="en-US" b="1" dirty="0"/>
              <a:t>RCON (Round Constants)</a:t>
            </a:r>
            <a:r>
              <a:rPr lang="he-IL" dirty="0"/>
              <a:t>.</a:t>
            </a:r>
            <a:endParaRPr lang="en-US" dirty="0"/>
          </a:p>
          <a:p>
            <a:r>
              <a:rPr lang="he-IL" dirty="0"/>
              <a:t>חיבור</a:t>
            </a:r>
            <a:r>
              <a:rPr lang="en-US" dirty="0"/>
              <a:t> XOR </a:t>
            </a:r>
            <a:r>
              <a:rPr lang="he-IL" dirty="0"/>
              <a:t>עם המפתחות הקודמים.</a:t>
            </a:r>
          </a:p>
          <a:p>
            <a:r>
              <a:rPr lang="he-IL" dirty="0"/>
              <a:t>תהליך זה </a:t>
            </a:r>
            <a:r>
              <a:rPr lang="he-IL" b="1" dirty="0"/>
              <a:t>מונע קשר ישיר בין סבבי ההצפנה</a:t>
            </a:r>
            <a:r>
              <a:rPr lang="he-IL" dirty="0"/>
              <a:t>.</a:t>
            </a:r>
            <a:br>
              <a:rPr lang="he-IL" dirty="0"/>
            </a:br>
            <a:r>
              <a:rPr lang="he-IL" dirty="0"/>
              <a:t>משפר את </a:t>
            </a:r>
            <a:r>
              <a:rPr lang="he-IL" b="1" dirty="0"/>
              <a:t>עמידות האלגוריתם בפני התקפות </a:t>
            </a:r>
            <a:r>
              <a:rPr lang="he-IL" b="1" dirty="0" err="1"/>
              <a:t>קריפטוגרפיות</a:t>
            </a:r>
            <a:r>
              <a:rPr lang="he-IL" dirty="0"/>
              <a:t>.</a:t>
            </a:r>
          </a:p>
          <a:p>
            <a:endParaRPr lang="he-IL" dirty="0"/>
          </a:p>
        </p:txBody>
      </p:sp>
    </p:spTree>
    <p:extLst>
      <p:ext uri="{BB962C8B-B14F-4D97-AF65-F5344CB8AC3E}">
        <p14:creationId xmlns:p14="http://schemas.microsoft.com/office/powerpoint/2010/main" val="41373766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513811" y="642594"/>
            <a:ext cx="6611388" cy="1371600"/>
          </a:xfrm>
        </p:spPr>
        <p:txBody>
          <a:bodyPr/>
          <a:lstStyle/>
          <a:p>
            <a:r>
              <a:rPr lang="he-IL" dirty="0"/>
              <a:t>התקפות אפשריות על </a:t>
            </a:r>
            <a:r>
              <a:rPr lang="en-US" dirty="0"/>
              <a:t>AES</a:t>
            </a:r>
            <a:endParaRPr lang="he-IL" dirty="0"/>
          </a:p>
        </p:txBody>
      </p:sp>
      <p:sp>
        <p:nvSpPr>
          <p:cNvPr id="3" name="מציין מיקום תוכן 2"/>
          <p:cNvSpPr>
            <a:spLocks noGrp="1"/>
          </p:cNvSpPr>
          <p:nvPr>
            <p:ph idx="1"/>
          </p:nvPr>
        </p:nvSpPr>
        <p:spPr>
          <a:xfrm>
            <a:off x="1066800" y="2103119"/>
            <a:ext cx="10058400" cy="4264429"/>
          </a:xfrm>
        </p:spPr>
        <p:txBody>
          <a:bodyPr>
            <a:normAutofit/>
          </a:bodyPr>
          <a:lstStyle/>
          <a:p>
            <a:r>
              <a:rPr lang="he-IL" dirty="0"/>
              <a:t>למרות שאי אפשר לשבור את </a:t>
            </a:r>
            <a:r>
              <a:rPr lang="en-US" dirty="0"/>
              <a:t> AES</a:t>
            </a:r>
            <a:r>
              <a:rPr lang="he-IL" dirty="0"/>
              <a:t>עם </a:t>
            </a:r>
            <a:r>
              <a:rPr lang="en-US" dirty="0"/>
              <a:t> </a:t>
            </a:r>
            <a:r>
              <a:rPr lang="en-US" b="1" dirty="0"/>
              <a:t>Brute-Force</a:t>
            </a:r>
            <a:r>
              <a:rPr lang="he-IL" dirty="0"/>
              <a:t>ישנן התקפות מתקדמות שמנסות לנצל חולשות אלגוריתמיות או טעויות ביישום.</a:t>
            </a:r>
          </a:p>
          <a:p>
            <a:r>
              <a:rPr lang="he-IL" b="1" dirty="0"/>
              <a:t>התקפות עיקריות על </a:t>
            </a:r>
            <a:r>
              <a:rPr lang="en-US" b="1" dirty="0"/>
              <a:t>AES</a:t>
            </a:r>
          </a:p>
          <a:p>
            <a:r>
              <a:rPr lang="he-IL" b="1" dirty="0"/>
              <a:t>התקפת ערוץ צדדי </a:t>
            </a:r>
            <a:r>
              <a:rPr lang="en-US" b="1" dirty="0"/>
              <a:t>Side-Channel Attack</a:t>
            </a:r>
            <a:r>
              <a:rPr lang="he-IL" b="1" dirty="0"/>
              <a:t>:</a:t>
            </a:r>
            <a:endParaRPr lang="he-IL" dirty="0"/>
          </a:p>
          <a:p>
            <a:r>
              <a:rPr lang="he-IL" dirty="0"/>
              <a:t>במקום לנסות לפענח ישירות את</a:t>
            </a:r>
            <a:r>
              <a:rPr lang="en-US" dirty="0"/>
              <a:t>AES </a:t>
            </a:r>
            <a:r>
              <a:rPr lang="he-IL" dirty="0"/>
              <a:t> תוקפים </a:t>
            </a:r>
            <a:r>
              <a:rPr lang="he-IL" b="1" dirty="0"/>
              <a:t>מודדים צריכת חשמל, זמן ריצה, ופליטת קרינה</a:t>
            </a:r>
            <a:r>
              <a:rPr lang="he-IL" dirty="0"/>
              <a:t> כדי להסיק מידע על המפתח.</a:t>
            </a:r>
          </a:p>
          <a:p>
            <a:r>
              <a:rPr lang="he-IL" b="1" dirty="0"/>
              <a:t>התקפת טבלת חיפוש </a:t>
            </a:r>
            <a:r>
              <a:rPr lang="en-US" b="1" dirty="0"/>
              <a:t>Lookup Table Attack</a:t>
            </a:r>
            <a:r>
              <a:rPr lang="he-IL" b="1" dirty="0"/>
              <a:t>:</a:t>
            </a:r>
            <a:endParaRPr lang="he-IL" dirty="0"/>
          </a:p>
          <a:p>
            <a:r>
              <a:rPr lang="he-IL" dirty="0"/>
              <a:t>אם</a:t>
            </a:r>
            <a:r>
              <a:rPr lang="en-US" dirty="0"/>
              <a:t> AES </a:t>
            </a:r>
            <a:r>
              <a:rPr lang="he-IL" dirty="0"/>
              <a:t>מיושם בצורה לא בטוחה (למשל באמצעות טבלאות חיפוש בזיכרון), תוקף יכול </a:t>
            </a:r>
            <a:r>
              <a:rPr lang="he-IL" b="1" dirty="0"/>
              <a:t>לנחש חלקים מהמפתח</a:t>
            </a:r>
            <a:r>
              <a:rPr lang="he-IL" dirty="0"/>
              <a:t> בעזרת גישה לזיכרון המטמון.</a:t>
            </a:r>
          </a:p>
          <a:p>
            <a:r>
              <a:rPr lang="he-IL" b="1" dirty="0"/>
              <a:t>התקפת מפתחות חלשים </a:t>
            </a:r>
            <a:r>
              <a:rPr lang="en-US" b="1" dirty="0"/>
              <a:t>Related-Key Attack</a:t>
            </a:r>
            <a:r>
              <a:rPr lang="he-IL" b="1" dirty="0"/>
              <a:t>:</a:t>
            </a:r>
            <a:endParaRPr lang="he-IL" dirty="0"/>
          </a:p>
          <a:p>
            <a:r>
              <a:rPr lang="he-IL" dirty="0"/>
              <a:t>תוקפים מנסים </a:t>
            </a:r>
            <a:r>
              <a:rPr lang="he-IL" b="1" dirty="0"/>
              <a:t>למצוא קשרים מתמטיים בין מפתחות שונים</a:t>
            </a:r>
            <a:r>
              <a:rPr lang="he-IL" dirty="0"/>
              <a:t> כדי להפחית את המורכבות של שבירת ההצפנה.</a:t>
            </a:r>
          </a:p>
          <a:p>
            <a:endParaRPr lang="he-IL" dirty="0"/>
          </a:p>
        </p:txBody>
      </p:sp>
    </p:spTree>
    <p:extLst>
      <p:ext uri="{BB962C8B-B14F-4D97-AF65-F5344CB8AC3E}">
        <p14:creationId xmlns:p14="http://schemas.microsoft.com/office/powerpoint/2010/main" val="3274502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370022" y="642594"/>
            <a:ext cx="5755178" cy="1371600"/>
          </a:xfrm>
        </p:spPr>
        <p:txBody>
          <a:bodyPr>
            <a:normAutofit/>
          </a:bodyPr>
          <a:lstStyle/>
          <a:p>
            <a:r>
              <a:rPr lang="he-IL" dirty="0"/>
              <a:t>למה </a:t>
            </a:r>
            <a:r>
              <a:rPr lang="en-US" dirty="0"/>
              <a:t> AES</a:t>
            </a:r>
            <a:r>
              <a:rPr lang="he-IL" dirty="0"/>
              <a:t>נחשב בטוח?</a:t>
            </a:r>
          </a:p>
        </p:txBody>
      </p:sp>
      <p:sp>
        <p:nvSpPr>
          <p:cNvPr id="3" name="מציין מיקום תוכן 2"/>
          <p:cNvSpPr>
            <a:spLocks noGrp="1"/>
          </p:cNvSpPr>
          <p:nvPr>
            <p:ph idx="1"/>
          </p:nvPr>
        </p:nvSpPr>
        <p:spPr/>
        <p:txBody>
          <a:bodyPr/>
          <a:lstStyle/>
          <a:p>
            <a:r>
              <a:rPr lang="he-IL" dirty="0"/>
              <a:t>אין שום התקפה יעילה ששוברת את </a:t>
            </a:r>
            <a:r>
              <a:rPr lang="en-US" dirty="0"/>
              <a:t> .AES-128 ,AES-192</a:t>
            </a:r>
            <a:r>
              <a:rPr lang="he-IL" dirty="0"/>
              <a:t>או </a:t>
            </a:r>
            <a:r>
              <a:rPr lang="en-US" dirty="0"/>
              <a:t> AES-256</a:t>
            </a:r>
            <a:r>
              <a:rPr lang="he-IL" dirty="0"/>
              <a:t>בזמן מעשי.</a:t>
            </a:r>
          </a:p>
          <a:p>
            <a:r>
              <a:rPr lang="he-IL" dirty="0"/>
              <a:t>אפילו עם מחשבים קוונטיים,</a:t>
            </a:r>
            <a:r>
              <a:rPr lang="en-US" dirty="0"/>
              <a:t> AES-256 </a:t>
            </a:r>
            <a:r>
              <a:rPr lang="he-IL" dirty="0"/>
              <a:t>יישאר </a:t>
            </a:r>
            <a:r>
              <a:rPr lang="he-IL" b="1" dirty="0"/>
              <a:t>מאובטח מאוד</a:t>
            </a:r>
            <a:r>
              <a:rPr lang="he-IL" dirty="0"/>
              <a:t> בגלל אורך המפתח הארוך.</a:t>
            </a:r>
          </a:p>
          <a:p>
            <a:r>
              <a:rPr lang="he-IL" dirty="0"/>
              <a:t>הוא </a:t>
            </a:r>
            <a:r>
              <a:rPr lang="he-IL" b="1" dirty="0"/>
              <a:t>סטנדרט גלובלי</a:t>
            </a:r>
            <a:r>
              <a:rPr lang="he-IL" dirty="0"/>
              <a:t> ונמצא בשימוש בכל התעשיות – בנקים, ממשלות, </a:t>
            </a:r>
            <a:r>
              <a:rPr lang="en-US" dirty="0"/>
              <a:t> </a:t>
            </a:r>
            <a:r>
              <a:rPr lang="en-US" dirty="0" err="1"/>
              <a:t>WiFi</a:t>
            </a:r>
            <a:r>
              <a:rPr lang="en-US" dirty="0"/>
              <a:t> ,VPNs</a:t>
            </a:r>
            <a:r>
              <a:rPr lang="he-IL" dirty="0"/>
              <a:t>ועוד.</a:t>
            </a:r>
          </a:p>
          <a:p>
            <a:endParaRPr lang="he-IL" dirty="0"/>
          </a:p>
          <a:p>
            <a:r>
              <a:rPr lang="he-IL" b="1" u="sng" dirty="0"/>
              <a:t>יוצא מכל האמור הלכה למעשה – נקודות לבחינת גמר:</a:t>
            </a:r>
          </a:p>
          <a:p>
            <a:r>
              <a:rPr lang="he-IL" dirty="0"/>
              <a:t>הוא מהיר ויעיל לעיבוד מידע גדול.</a:t>
            </a:r>
          </a:p>
          <a:p>
            <a:r>
              <a:rPr lang="he-IL" dirty="0"/>
              <a:t>הוא מאובטח מאוד נגד התקפות </a:t>
            </a:r>
            <a:r>
              <a:rPr lang="he-IL" dirty="0" err="1"/>
              <a:t>קריפטוגרפיות</a:t>
            </a:r>
            <a:r>
              <a:rPr lang="he-IL" dirty="0"/>
              <a:t>.</a:t>
            </a:r>
          </a:p>
          <a:p>
            <a:r>
              <a:rPr lang="he-IL" dirty="0"/>
              <a:t> הוא נמצא </a:t>
            </a:r>
            <a:r>
              <a:rPr lang="he-IL" b="1" dirty="0"/>
              <a:t>כמעט בכל מערכת אבטחת מידע מודרנית</a:t>
            </a:r>
            <a:r>
              <a:rPr lang="he-IL" dirty="0"/>
              <a:t>.</a:t>
            </a:r>
          </a:p>
          <a:p>
            <a:r>
              <a:rPr lang="he-IL" dirty="0"/>
              <a:t> הוא ניתן למימוש בחומרה ובתוכנה בקלות.</a:t>
            </a:r>
          </a:p>
          <a:p>
            <a:pPr marL="0" indent="0">
              <a:buNone/>
            </a:pPr>
            <a:r>
              <a:rPr lang="en-US" dirty="0"/>
              <a:t> AES ****** </a:t>
            </a:r>
            <a:r>
              <a:rPr lang="he-IL" dirty="0"/>
              <a:t>הוא </a:t>
            </a:r>
            <a:r>
              <a:rPr lang="he-IL" b="1" dirty="0"/>
              <a:t>עמוד השדרה של אבטחת מידע בעולם הדיגיטלי</a:t>
            </a:r>
            <a:r>
              <a:rPr lang="he-IL" dirty="0"/>
              <a:t>. </a:t>
            </a:r>
          </a:p>
          <a:p>
            <a:endParaRPr lang="he-IL" dirty="0"/>
          </a:p>
        </p:txBody>
      </p:sp>
    </p:spTree>
    <p:extLst>
      <p:ext uri="{BB962C8B-B14F-4D97-AF65-F5344CB8AC3E}">
        <p14:creationId xmlns:p14="http://schemas.microsoft.com/office/powerpoint/2010/main" val="36197727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68938" y="642594"/>
            <a:ext cx="1956262"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מהו </a:t>
            </a:r>
            <a:r>
              <a:rPr lang="en-US" dirty="0"/>
              <a:t> AES</a:t>
            </a:r>
            <a:r>
              <a:rPr lang="he-IL" dirty="0"/>
              <a:t>ומה מטרתו?</a:t>
            </a:r>
          </a:p>
          <a:p>
            <a:r>
              <a:rPr lang="he-IL" dirty="0"/>
              <a:t>2. מה הגודל של הבלוקים ש-</a:t>
            </a:r>
            <a:r>
              <a:rPr lang="en-US" dirty="0"/>
              <a:t> AES </a:t>
            </a:r>
            <a:r>
              <a:rPr lang="he-IL" dirty="0"/>
              <a:t>מצפין?</a:t>
            </a:r>
          </a:p>
          <a:p>
            <a:r>
              <a:rPr lang="he-IL" dirty="0"/>
              <a:t>3. אילו אורכי מפתחות אפשריים ב-</a:t>
            </a:r>
            <a:r>
              <a:rPr lang="en-US" dirty="0"/>
              <a:t>AES</a:t>
            </a:r>
            <a:r>
              <a:rPr lang="he-IL" dirty="0"/>
              <a:t>?</a:t>
            </a:r>
          </a:p>
          <a:p>
            <a:r>
              <a:rPr lang="he-IL" dirty="0"/>
              <a:t>4. מהם ארבעת השלבים שמתרחשים בכל סבב של </a:t>
            </a:r>
            <a:r>
              <a:rPr lang="en-US" dirty="0"/>
              <a:t>AES</a:t>
            </a:r>
            <a:r>
              <a:rPr lang="he-IL" dirty="0"/>
              <a:t>?</a:t>
            </a:r>
          </a:p>
          <a:p>
            <a:r>
              <a:rPr lang="he-IL" dirty="0"/>
              <a:t>5. מהי מטרת שלב </a:t>
            </a:r>
            <a:r>
              <a:rPr lang="en-US" b="1" dirty="0" err="1"/>
              <a:t>MixColumns</a:t>
            </a:r>
            <a:r>
              <a:rPr lang="he-IL" dirty="0"/>
              <a:t>?</a:t>
            </a:r>
          </a:p>
          <a:p>
            <a:r>
              <a:rPr lang="he-IL" dirty="0"/>
              <a:t>6. למה </a:t>
            </a:r>
            <a:r>
              <a:rPr lang="en-US" dirty="0"/>
              <a:t> AES</a:t>
            </a:r>
            <a:r>
              <a:rPr lang="he-IL" dirty="0"/>
              <a:t>נחשב בטוח?</a:t>
            </a:r>
          </a:p>
        </p:txBody>
      </p:sp>
    </p:spTree>
    <p:extLst>
      <p:ext uri="{BB962C8B-B14F-4D97-AF65-F5344CB8AC3E}">
        <p14:creationId xmlns:p14="http://schemas.microsoft.com/office/powerpoint/2010/main" val="36735499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61120" y="642594"/>
            <a:ext cx="2164080" cy="1371600"/>
          </a:xfrm>
        </p:spPr>
        <p:txBody>
          <a:bodyPr/>
          <a:lstStyle/>
          <a:p>
            <a:r>
              <a:rPr lang="he-IL" dirty="0"/>
              <a:t>תשובות</a:t>
            </a:r>
          </a:p>
        </p:txBody>
      </p:sp>
      <p:sp>
        <p:nvSpPr>
          <p:cNvPr id="3" name="מציין מיקום תוכן 2"/>
          <p:cNvSpPr>
            <a:spLocks noGrp="1"/>
          </p:cNvSpPr>
          <p:nvPr>
            <p:ph idx="1"/>
          </p:nvPr>
        </p:nvSpPr>
        <p:spPr>
          <a:xfrm>
            <a:off x="1066800" y="2103119"/>
            <a:ext cx="10058400" cy="4372495"/>
          </a:xfrm>
        </p:spPr>
        <p:txBody>
          <a:bodyPr>
            <a:normAutofit fontScale="92500" lnSpcReduction="20000"/>
          </a:bodyPr>
          <a:lstStyle/>
          <a:p>
            <a:r>
              <a:rPr lang="he-IL" dirty="0"/>
              <a:t>1.</a:t>
            </a:r>
            <a:r>
              <a:rPr lang="en-US" dirty="0"/>
              <a:t> AES (Advanced Encryption Standard) </a:t>
            </a:r>
            <a:r>
              <a:rPr lang="he-IL" dirty="0"/>
              <a:t>הוא </a:t>
            </a:r>
            <a:r>
              <a:rPr lang="he-IL" b="1" dirty="0"/>
              <a:t>צופן בלוקים סימטרי</a:t>
            </a:r>
            <a:r>
              <a:rPr lang="he-IL" dirty="0"/>
              <a:t>, המשמש להצפנה ופענוח של מידע רגיש.</a:t>
            </a:r>
          </a:p>
          <a:p>
            <a:r>
              <a:rPr lang="he-IL" dirty="0"/>
              <a:t>2. כל בלוק הוא </a:t>
            </a:r>
            <a:r>
              <a:rPr lang="he-IL" b="1" dirty="0"/>
              <a:t>128 ביטים</a:t>
            </a:r>
            <a:r>
              <a:rPr lang="he-IL" dirty="0"/>
              <a:t> (16 בתים).</a:t>
            </a:r>
          </a:p>
          <a:p>
            <a:r>
              <a:rPr lang="he-IL" dirty="0"/>
              <a:t>3. </a:t>
            </a:r>
            <a:r>
              <a:rPr lang="he-IL" b="1" dirty="0"/>
              <a:t>128, 192, ו-256 ביטים</a:t>
            </a:r>
            <a:r>
              <a:rPr lang="he-IL" dirty="0"/>
              <a:t>.</a:t>
            </a:r>
          </a:p>
          <a:p>
            <a:r>
              <a:rPr lang="he-IL" dirty="0"/>
              <a:t>4.</a:t>
            </a:r>
          </a:p>
          <a:p>
            <a:pPr marL="0" indent="0">
              <a:buNone/>
            </a:pPr>
            <a:r>
              <a:rPr lang="he-IL" dirty="0"/>
              <a:t> </a:t>
            </a:r>
            <a:r>
              <a:rPr lang="en-US" dirty="0"/>
              <a:t> :</a:t>
            </a:r>
            <a:r>
              <a:rPr lang="en-US" b="1" dirty="0" err="1"/>
              <a:t>SubBytes</a:t>
            </a:r>
            <a:r>
              <a:rPr lang="en-US" dirty="0"/>
              <a:t> –   </a:t>
            </a:r>
            <a:r>
              <a:rPr lang="he-IL" dirty="0"/>
              <a:t>החלפת בתים בטבלת </a:t>
            </a:r>
            <a:r>
              <a:rPr lang="en-US" dirty="0"/>
              <a:t>S-Box</a:t>
            </a:r>
          </a:p>
          <a:p>
            <a:r>
              <a:rPr lang="en-US" b="1" dirty="0" err="1"/>
              <a:t>ShiftRows</a:t>
            </a:r>
            <a:r>
              <a:rPr lang="en-US" dirty="0"/>
              <a:t> – </a:t>
            </a:r>
            <a:r>
              <a:rPr lang="he-IL" dirty="0"/>
              <a:t>: הזזת שורות במטריצה</a:t>
            </a:r>
          </a:p>
          <a:p>
            <a:r>
              <a:rPr lang="en-US" b="1" dirty="0"/>
              <a:t> :</a:t>
            </a:r>
            <a:r>
              <a:rPr lang="en-US" b="1" dirty="0" err="1"/>
              <a:t>MixColumns</a:t>
            </a:r>
            <a:r>
              <a:rPr lang="en-US" dirty="0"/>
              <a:t> – </a:t>
            </a:r>
            <a:r>
              <a:rPr lang="he-IL" dirty="0"/>
              <a:t>ערבוב עמודות (למעט בסבב האחרון)</a:t>
            </a:r>
          </a:p>
          <a:p>
            <a:r>
              <a:rPr lang="en-US" b="1" dirty="0"/>
              <a:t> :</a:t>
            </a:r>
            <a:r>
              <a:rPr lang="en-US" b="1" dirty="0" err="1"/>
              <a:t>AddRoundKey</a:t>
            </a:r>
            <a:r>
              <a:rPr lang="en-US" dirty="0"/>
              <a:t> – </a:t>
            </a:r>
            <a:r>
              <a:rPr lang="he-IL" dirty="0"/>
              <a:t>הוספת מפתח סבב</a:t>
            </a:r>
          </a:p>
          <a:p>
            <a:r>
              <a:rPr lang="he-IL" dirty="0"/>
              <a:t>5. להוסיף </a:t>
            </a:r>
            <a:r>
              <a:rPr lang="he-IL" b="1" dirty="0"/>
              <a:t>פיזור</a:t>
            </a:r>
            <a:r>
              <a:rPr lang="en-US" dirty="0"/>
              <a:t>Diffusion </a:t>
            </a:r>
            <a:r>
              <a:rPr lang="he-IL" dirty="0"/>
              <a:t> במידע כך שאפילו שינוי קטן בנתונים המקוריים ישפיע על כל הבלוק.</a:t>
            </a:r>
          </a:p>
          <a:p>
            <a:r>
              <a:rPr lang="he-IL" dirty="0"/>
              <a:t>6. יש לו </a:t>
            </a:r>
            <a:r>
              <a:rPr lang="he-IL" b="1" dirty="0"/>
              <a:t>מפתחות ארוכים (128-256 ביטים)</a:t>
            </a:r>
            <a:r>
              <a:rPr lang="he-IL" dirty="0"/>
              <a:t>, שמקשים על פריצה בכוח גס </a:t>
            </a:r>
            <a:r>
              <a:rPr lang="en-US" dirty="0"/>
              <a:t>Brute-Force</a:t>
            </a:r>
          </a:p>
          <a:p>
            <a:r>
              <a:rPr lang="he-IL" dirty="0"/>
              <a:t>הוא </a:t>
            </a:r>
            <a:r>
              <a:rPr lang="he-IL" b="1" dirty="0"/>
              <a:t>מבצע בלבול ופיזור</a:t>
            </a:r>
            <a:r>
              <a:rPr lang="he-IL" dirty="0"/>
              <a:t> על הנתונים </a:t>
            </a:r>
            <a:r>
              <a:rPr lang="en-US" dirty="0"/>
              <a:t>Confusion &amp; Diffusion</a:t>
            </a:r>
          </a:p>
          <a:p>
            <a:r>
              <a:rPr lang="he-IL" dirty="0"/>
              <a:t>הוא </a:t>
            </a:r>
            <a:r>
              <a:rPr lang="he-IL" b="1" dirty="0"/>
              <a:t>עמיד בפני התקפות ידועות</a:t>
            </a:r>
            <a:r>
              <a:rPr lang="he-IL" dirty="0"/>
              <a:t> כמו התקפת גלוי-טקסט נבחר.</a:t>
            </a:r>
          </a:p>
          <a:p>
            <a:endParaRPr lang="he-IL" dirty="0"/>
          </a:p>
        </p:txBody>
      </p:sp>
    </p:spTree>
    <p:extLst>
      <p:ext uri="{BB962C8B-B14F-4D97-AF65-F5344CB8AC3E}">
        <p14:creationId xmlns:p14="http://schemas.microsoft.com/office/powerpoint/2010/main" val="41081436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493818"/>
            <a:ext cx="10058400" cy="3931920"/>
          </a:xfrm>
        </p:spPr>
        <p:txBody>
          <a:bodyPr>
            <a:normAutofit/>
          </a:bodyPr>
          <a:lstStyle/>
          <a:p>
            <a:pPr algn="ctr"/>
            <a:r>
              <a:rPr lang="en-US" sz="8000" dirty="0"/>
              <a:t>DES</a:t>
            </a:r>
            <a:endParaRPr lang="he-IL" sz="8000" dirty="0"/>
          </a:p>
        </p:txBody>
      </p:sp>
    </p:spTree>
    <p:extLst>
      <p:ext uri="{BB962C8B-B14F-4D97-AF65-F5344CB8AC3E}">
        <p14:creationId xmlns:p14="http://schemas.microsoft.com/office/powerpoint/2010/main" val="28761399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48544" y="642594"/>
            <a:ext cx="7176655" cy="1371600"/>
          </a:xfrm>
        </p:spPr>
        <p:txBody>
          <a:bodyPr/>
          <a:lstStyle/>
          <a:p>
            <a:r>
              <a:rPr lang="he-IL" dirty="0"/>
              <a:t>מה זה</a:t>
            </a:r>
            <a:r>
              <a:rPr lang="en-US" dirty="0"/>
              <a:t>DES </a:t>
            </a:r>
            <a:r>
              <a:rPr lang="he-IL" dirty="0"/>
              <a:t> ולמה הוא פותח?</a:t>
            </a:r>
          </a:p>
        </p:txBody>
      </p:sp>
      <p:sp>
        <p:nvSpPr>
          <p:cNvPr id="3" name="מציין מיקום תוכן 2"/>
          <p:cNvSpPr>
            <a:spLocks noGrp="1"/>
          </p:cNvSpPr>
          <p:nvPr>
            <p:ph idx="1"/>
          </p:nvPr>
        </p:nvSpPr>
        <p:spPr/>
        <p:txBody>
          <a:bodyPr/>
          <a:lstStyle/>
          <a:p>
            <a:r>
              <a:rPr lang="en-US" dirty="0"/>
              <a:t> DES </a:t>
            </a:r>
            <a:r>
              <a:rPr lang="he-IL" dirty="0"/>
              <a:t>פותח בשנות ה-70 על ידי</a:t>
            </a:r>
            <a:r>
              <a:rPr lang="en-US" b="1" dirty="0"/>
              <a:t>IBM</a:t>
            </a:r>
            <a:r>
              <a:rPr lang="en-US" dirty="0"/>
              <a:t> </a:t>
            </a:r>
            <a:r>
              <a:rPr lang="he-IL" dirty="0"/>
              <a:t> ואומץ על ידי הממשל האמריקאי בשנת 1977 כתקן להצפנה של מידע רגיש.</a:t>
            </a:r>
          </a:p>
          <a:p>
            <a:r>
              <a:rPr lang="he-IL" dirty="0"/>
              <a:t>הוא </a:t>
            </a:r>
            <a:r>
              <a:rPr lang="he-IL" b="1" dirty="0"/>
              <a:t>צופן בלוקים</a:t>
            </a:r>
            <a:r>
              <a:rPr lang="he-IL" dirty="0"/>
              <a:t> שפועל על </a:t>
            </a:r>
            <a:r>
              <a:rPr lang="he-IL" b="1" dirty="0"/>
              <a:t>64 ביטים בכל בלוק</a:t>
            </a:r>
            <a:endParaRPr lang="he-IL" dirty="0"/>
          </a:p>
          <a:p>
            <a:r>
              <a:rPr lang="he-IL" dirty="0"/>
              <a:t>הוא </a:t>
            </a:r>
            <a:r>
              <a:rPr lang="he-IL" b="1" dirty="0"/>
              <a:t>סימטרי</a:t>
            </a:r>
            <a:r>
              <a:rPr lang="he-IL" dirty="0"/>
              <a:t> – אותו מפתח משמש להצפנה ולפענוח</a:t>
            </a:r>
          </a:p>
          <a:p>
            <a:r>
              <a:rPr lang="he-IL" dirty="0"/>
              <a:t>הוא משתמש </a:t>
            </a:r>
            <a:r>
              <a:rPr lang="he-IL" b="1" dirty="0"/>
              <a:t>במפתח של 56 ביטים</a:t>
            </a:r>
            <a:r>
              <a:rPr lang="he-IL" dirty="0"/>
              <a:t> (המקור הוא 64 ביטים, אך 8 ביטים משמשים לבדיקה)</a:t>
            </a:r>
          </a:p>
          <a:p>
            <a:r>
              <a:rPr lang="he-IL" b="1" dirty="0"/>
              <a:t>למה </a:t>
            </a:r>
            <a:r>
              <a:rPr lang="en-US" b="1" dirty="0"/>
              <a:t>DES</a:t>
            </a:r>
            <a:r>
              <a:rPr lang="he-IL" b="1" dirty="0"/>
              <a:t> כבר לא מספיק מאובטח?</a:t>
            </a:r>
            <a:endParaRPr lang="he-IL" dirty="0"/>
          </a:p>
          <a:p>
            <a:r>
              <a:rPr lang="he-IL" b="1" dirty="0"/>
              <a:t>אורך המפתח קצר מדי</a:t>
            </a:r>
            <a:r>
              <a:rPr lang="he-IL" dirty="0"/>
              <a:t> – ניתן לשבור אותו בכוח גס</a:t>
            </a:r>
            <a:r>
              <a:rPr lang="en-US" dirty="0"/>
              <a:t> Brute-Force </a:t>
            </a:r>
            <a:r>
              <a:rPr lang="he-IL" dirty="0"/>
              <a:t>תוך מספר שעות.</a:t>
            </a:r>
          </a:p>
          <a:p>
            <a:r>
              <a:rPr lang="he-IL" b="1" dirty="0"/>
              <a:t>התקפות </a:t>
            </a:r>
            <a:r>
              <a:rPr lang="he-IL" b="1" dirty="0" err="1"/>
              <a:t>קריפטוגרפיות</a:t>
            </a:r>
            <a:r>
              <a:rPr lang="he-IL" dirty="0"/>
              <a:t> חדשות (למשל התקפת "התקפה דיפרנציאלית") מצאו חולשות במבנה שלו.</a:t>
            </a:r>
          </a:p>
          <a:p>
            <a:r>
              <a:rPr lang="he-IL" b="1" dirty="0"/>
              <a:t>מה החליף אותו?</a:t>
            </a:r>
            <a:r>
              <a:rPr lang="he-IL" dirty="0"/>
              <a:t/>
            </a:r>
            <a:br>
              <a:rPr lang="he-IL" dirty="0"/>
            </a:br>
            <a:r>
              <a:rPr lang="en-US" b="1" dirty="0"/>
              <a:t>AES</a:t>
            </a:r>
            <a:r>
              <a:rPr lang="he-IL" dirty="0"/>
              <a:t>: הצפנה מודרנית עם מפתחות של 128, 192 או 256 ביטים.</a:t>
            </a:r>
            <a:br>
              <a:rPr lang="he-IL" dirty="0"/>
            </a:br>
            <a:r>
              <a:rPr lang="en-US" dirty="0"/>
              <a:t> :</a:t>
            </a:r>
            <a:r>
              <a:rPr lang="en-US" b="1" dirty="0"/>
              <a:t>Triple DES (3DES)</a:t>
            </a:r>
            <a:r>
              <a:rPr lang="he-IL" dirty="0"/>
              <a:t>גרסה מאובטחת יותר המשתמשת ב-</a:t>
            </a:r>
            <a:r>
              <a:rPr lang="en-US" dirty="0"/>
              <a:t>DES </a:t>
            </a:r>
            <a:r>
              <a:rPr lang="he-IL" dirty="0"/>
              <a:t> שלוש פעמים ברצף.</a:t>
            </a:r>
          </a:p>
          <a:p>
            <a:endParaRPr lang="he-IL" dirty="0"/>
          </a:p>
        </p:txBody>
      </p:sp>
    </p:spTree>
    <p:extLst>
      <p:ext uri="{BB962C8B-B14F-4D97-AF65-F5344CB8AC3E}">
        <p14:creationId xmlns:p14="http://schemas.microsoft.com/office/powerpoint/2010/main" val="19759126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248698" y="642594"/>
            <a:ext cx="3876502" cy="1371600"/>
          </a:xfrm>
        </p:spPr>
        <p:txBody>
          <a:bodyPr/>
          <a:lstStyle/>
          <a:p>
            <a:r>
              <a:rPr lang="he-IL" dirty="0"/>
              <a:t>איך עובד </a:t>
            </a:r>
            <a:r>
              <a:rPr lang="en-US" dirty="0"/>
              <a:t>DES</a:t>
            </a:r>
            <a:r>
              <a:rPr lang="he-IL" dirty="0"/>
              <a:t>?</a:t>
            </a:r>
          </a:p>
        </p:txBody>
      </p:sp>
      <p:sp>
        <p:nvSpPr>
          <p:cNvPr id="3" name="מציין מיקום תוכן 2"/>
          <p:cNvSpPr>
            <a:spLocks noGrp="1"/>
          </p:cNvSpPr>
          <p:nvPr>
            <p:ph idx="1"/>
          </p:nvPr>
        </p:nvSpPr>
        <p:spPr/>
        <p:txBody>
          <a:bodyPr/>
          <a:lstStyle/>
          <a:p>
            <a:r>
              <a:rPr lang="en-US" dirty="0"/>
              <a:t> DES </a:t>
            </a:r>
            <a:r>
              <a:rPr lang="he-IL" dirty="0"/>
              <a:t>מבוסס על </a:t>
            </a:r>
            <a:r>
              <a:rPr lang="he-IL" b="1" dirty="0"/>
              <a:t>מבנה </a:t>
            </a:r>
            <a:r>
              <a:rPr lang="he-IL" b="1" dirty="0" err="1"/>
              <a:t>פייסטל</a:t>
            </a:r>
            <a:r>
              <a:rPr lang="en-US" b="1" dirty="0" err="1"/>
              <a:t>Feistel</a:t>
            </a:r>
            <a:r>
              <a:rPr lang="en-US" b="1" dirty="0"/>
              <a:t> Network</a:t>
            </a:r>
            <a:r>
              <a:rPr lang="en-US" dirty="0"/>
              <a:t> </a:t>
            </a:r>
            <a:r>
              <a:rPr lang="he-IL" dirty="0"/>
              <a:t> שבו כל בלוק מידע </a:t>
            </a:r>
            <a:r>
              <a:rPr lang="he-IL" b="1" dirty="0"/>
              <a:t>עובר 16 סבבים של הצפנה</a:t>
            </a:r>
            <a:r>
              <a:rPr lang="he-IL" dirty="0"/>
              <a:t>.</a:t>
            </a:r>
            <a:br>
              <a:rPr lang="he-IL" dirty="0"/>
            </a:br>
            <a:r>
              <a:rPr lang="he-IL" dirty="0"/>
              <a:t>המבנה מאפשר להצפין ולפענח באותו אלגוריתם – פשוט מריצים את הסבבים הפוך.</a:t>
            </a:r>
          </a:p>
          <a:p>
            <a:r>
              <a:rPr lang="he-IL" b="1" dirty="0"/>
              <a:t>שלבי ההצפנה ב-</a:t>
            </a:r>
            <a:r>
              <a:rPr lang="en-US" b="1" dirty="0"/>
              <a:t>DES</a:t>
            </a:r>
            <a:r>
              <a:rPr lang="he-IL" b="1" dirty="0"/>
              <a:t>:</a:t>
            </a:r>
            <a:endParaRPr lang="en-US" dirty="0"/>
          </a:p>
          <a:p>
            <a:r>
              <a:rPr lang="en-US" b="1" dirty="0"/>
              <a:t> Permutation </a:t>
            </a:r>
            <a:r>
              <a:rPr lang="he-IL" b="1" dirty="0"/>
              <a:t>ראשונית</a:t>
            </a:r>
            <a:r>
              <a:rPr lang="en-US" b="1" dirty="0"/>
              <a:t>IP</a:t>
            </a:r>
            <a:r>
              <a:rPr lang="en-US" dirty="0"/>
              <a:t> </a:t>
            </a:r>
            <a:r>
              <a:rPr lang="he-IL" dirty="0"/>
              <a:t>: ערבוב הביטים הראשוני של הבלוק.</a:t>
            </a:r>
          </a:p>
          <a:p>
            <a:r>
              <a:rPr lang="he-IL" b="1" dirty="0"/>
              <a:t>16 סבבי הצפנה</a:t>
            </a:r>
            <a:r>
              <a:rPr lang="he-IL" dirty="0"/>
              <a:t> – בכל סבב:</a:t>
            </a:r>
          </a:p>
          <a:p>
            <a:r>
              <a:rPr lang="he-IL" dirty="0"/>
              <a:t>מחלקים את הבלוק ל-2 חצאים</a:t>
            </a:r>
            <a:r>
              <a:rPr lang="en-US" dirty="0"/>
              <a:t> </a:t>
            </a:r>
            <a:r>
              <a:rPr lang="en-US" b="1" dirty="0"/>
              <a:t>L</a:t>
            </a:r>
            <a:r>
              <a:rPr lang="en-US" dirty="0"/>
              <a:t> </a:t>
            </a:r>
            <a:r>
              <a:rPr lang="he-IL" dirty="0"/>
              <a:t>ו-</a:t>
            </a:r>
            <a:r>
              <a:rPr lang="en-US" b="1" dirty="0"/>
              <a:t>R</a:t>
            </a:r>
            <a:endParaRPr lang="en-US" dirty="0"/>
          </a:p>
          <a:p>
            <a:r>
              <a:rPr lang="he-IL" dirty="0"/>
              <a:t>מחילים פונקציה </a:t>
            </a:r>
            <a:r>
              <a:rPr lang="he-IL" dirty="0" err="1"/>
              <a:t>קריפטוגרפית</a:t>
            </a:r>
            <a:r>
              <a:rPr lang="he-IL" dirty="0"/>
              <a:t> </a:t>
            </a:r>
            <a:r>
              <a:rPr lang="en-US" b="1" dirty="0"/>
              <a:t>F</a:t>
            </a:r>
            <a:r>
              <a:rPr lang="he-IL" dirty="0"/>
              <a:t> על החצי הימני ומבצעים </a:t>
            </a:r>
            <a:r>
              <a:rPr lang="en-US" dirty="0"/>
              <a:t> XOR</a:t>
            </a:r>
            <a:r>
              <a:rPr lang="he-IL" dirty="0"/>
              <a:t>עם החצי השמאלי.</a:t>
            </a:r>
          </a:p>
          <a:p>
            <a:r>
              <a:rPr lang="he-IL" dirty="0"/>
              <a:t>מחליפים בין החצאים.</a:t>
            </a:r>
          </a:p>
          <a:p>
            <a:r>
              <a:rPr lang="en-US" b="1" dirty="0"/>
              <a:t>Permutation </a:t>
            </a:r>
            <a:r>
              <a:rPr lang="he-IL" b="1" dirty="0"/>
              <a:t> סופית</a:t>
            </a:r>
            <a:r>
              <a:rPr lang="en-US" b="1" dirty="0"/>
              <a:t>FP</a:t>
            </a:r>
            <a:r>
              <a:rPr lang="en-US" dirty="0"/>
              <a:t> </a:t>
            </a:r>
            <a:r>
              <a:rPr lang="he-IL" dirty="0"/>
              <a:t>: ערבוב נוסף לקבלת התוצאה הסופית.</a:t>
            </a:r>
          </a:p>
          <a:p>
            <a:endParaRPr lang="he-IL" dirty="0"/>
          </a:p>
        </p:txBody>
      </p:sp>
    </p:spTree>
    <p:extLst>
      <p:ext uri="{BB962C8B-B14F-4D97-AF65-F5344CB8AC3E}">
        <p14:creationId xmlns:p14="http://schemas.microsoft.com/office/powerpoint/2010/main" val="688127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713316" y="642594"/>
            <a:ext cx="6411884" cy="1371600"/>
          </a:xfrm>
        </p:spPr>
        <p:txBody>
          <a:bodyPr/>
          <a:lstStyle/>
          <a:p>
            <a:r>
              <a:rPr lang="he-IL" dirty="0"/>
              <a:t>הרחבה על שלבי ההצפנה</a:t>
            </a:r>
          </a:p>
        </p:txBody>
      </p:sp>
      <p:sp>
        <p:nvSpPr>
          <p:cNvPr id="3" name="מציין מיקום תוכן 2"/>
          <p:cNvSpPr>
            <a:spLocks noGrp="1"/>
          </p:cNvSpPr>
          <p:nvPr>
            <p:ph idx="1"/>
          </p:nvPr>
        </p:nvSpPr>
        <p:spPr/>
        <p:txBody>
          <a:bodyPr/>
          <a:lstStyle/>
          <a:p>
            <a:r>
              <a:rPr lang="he-IL" sz="2400" b="1" dirty="0"/>
              <a:t>1. שלב ה-</a:t>
            </a:r>
            <a:r>
              <a:rPr lang="en-US" sz="2400" b="1" dirty="0"/>
              <a:t>Initial Permutation (IP)</a:t>
            </a:r>
          </a:p>
          <a:p>
            <a:r>
              <a:rPr lang="he-IL" dirty="0"/>
              <a:t>הבלוק של 64 ביטים </a:t>
            </a:r>
            <a:r>
              <a:rPr lang="he-IL" b="1" dirty="0"/>
              <a:t>מעורבב</a:t>
            </a:r>
            <a:r>
              <a:rPr lang="he-IL" dirty="0"/>
              <a:t> בעזרת טבלה קבועה</a:t>
            </a:r>
            <a:r>
              <a:rPr lang="en-US" dirty="0"/>
              <a:t>IP Table</a:t>
            </a:r>
          </a:p>
          <a:p>
            <a:r>
              <a:rPr lang="he-IL" dirty="0"/>
              <a:t>אין כאן הצפנה </a:t>
            </a:r>
            <a:r>
              <a:rPr lang="he-IL" dirty="0" err="1"/>
              <a:t>אמיתית</a:t>
            </a:r>
            <a:r>
              <a:rPr lang="he-IL" dirty="0"/>
              <a:t> – רק </a:t>
            </a:r>
            <a:r>
              <a:rPr lang="he-IL" b="1" dirty="0"/>
              <a:t>סידור מחדש של הביטים</a:t>
            </a:r>
            <a:r>
              <a:rPr lang="he-IL" dirty="0"/>
              <a:t> כדי להפחית קשר ישיר בין הקלט לפלט.</a:t>
            </a:r>
          </a:p>
          <a:p>
            <a:r>
              <a:rPr lang="he-IL" sz="2400" b="1" dirty="0"/>
              <a:t>2. פיצול ל-2 חצאים</a:t>
            </a:r>
            <a:r>
              <a:rPr lang="en-US" sz="2400" b="1" dirty="0"/>
              <a:t>L </a:t>
            </a:r>
            <a:r>
              <a:rPr lang="he-IL" sz="2400" b="1" dirty="0"/>
              <a:t> ו-</a:t>
            </a:r>
            <a:r>
              <a:rPr lang="en-US" sz="2400" b="1" dirty="0"/>
              <a:t>R</a:t>
            </a:r>
          </a:p>
          <a:p>
            <a:r>
              <a:rPr lang="he-IL" dirty="0"/>
              <a:t>מחלקים את הבלוק ל-</a:t>
            </a:r>
            <a:r>
              <a:rPr lang="he-IL" b="1" dirty="0"/>
              <a:t>32 ביטים שמאליים </a:t>
            </a:r>
            <a:r>
              <a:rPr lang="en-US" b="1" dirty="0"/>
              <a:t> L</a:t>
            </a:r>
            <a:r>
              <a:rPr lang="he-IL" b="1" dirty="0"/>
              <a:t>ו- 32 ביטים ימניים</a:t>
            </a:r>
            <a:r>
              <a:rPr lang="en-US" b="1" dirty="0"/>
              <a:t>R </a:t>
            </a:r>
            <a:endParaRPr lang="en-US" dirty="0"/>
          </a:p>
          <a:p>
            <a:r>
              <a:rPr lang="he-IL" dirty="0"/>
              <a:t>בכל סבב:</a:t>
            </a:r>
          </a:p>
          <a:p>
            <a:r>
              <a:rPr lang="he-IL" dirty="0"/>
              <a:t>החלק </a:t>
            </a:r>
            <a:r>
              <a:rPr lang="he-IL" b="1" dirty="0"/>
              <a:t>הימני</a:t>
            </a:r>
            <a:r>
              <a:rPr lang="en-US" dirty="0"/>
              <a:t>R </a:t>
            </a:r>
            <a:r>
              <a:rPr lang="he-IL" dirty="0"/>
              <a:t> עובר עיבוד בפונקציה</a:t>
            </a:r>
            <a:r>
              <a:rPr lang="en-US" dirty="0"/>
              <a:t> </a:t>
            </a:r>
            <a:r>
              <a:rPr lang="en-US" b="1" dirty="0"/>
              <a:t>F</a:t>
            </a:r>
            <a:r>
              <a:rPr lang="en-US" dirty="0"/>
              <a:t> </a:t>
            </a:r>
            <a:r>
              <a:rPr lang="he-IL" dirty="0"/>
              <a:t>עם מפתח משנה </a:t>
            </a:r>
            <a:r>
              <a:rPr lang="en-US" dirty="0" err="1"/>
              <a:t>Subkey</a:t>
            </a:r>
            <a:endParaRPr lang="en-US" dirty="0"/>
          </a:p>
          <a:p>
            <a:r>
              <a:rPr lang="he-IL" dirty="0"/>
              <a:t>מבצעים </a:t>
            </a:r>
            <a:r>
              <a:rPr lang="en-US" b="1" dirty="0"/>
              <a:t>XOR</a:t>
            </a:r>
            <a:r>
              <a:rPr lang="he-IL" b="1" dirty="0"/>
              <a:t> עם החלק השמאלי </a:t>
            </a:r>
            <a:r>
              <a:rPr lang="en-US" b="1" dirty="0"/>
              <a:t>L</a:t>
            </a:r>
            <a:endParaRPr lang="en-US" dirty="0"/>
          </a:p>
          <a:p>
            <a:r>
              <a:rPr lang="he-IL" dirty="0"/>
              <a:t>מחליפים בין החלקים לפני המעבר לסבב הבא.</a:t>
            </a:r>
          </a:p>
          <a:p>
            <a:endParaRPr lang="he-IL" dirty="0"/>
          </a:p>
          <a:p>
            <a:endParaRPr lang="he-IL" dirty="0"/>
          </a:p>
          <a:p>
            <a:endParaRPr lang="he-IL" dirty="0"/>
          </a:p>
        </p:txBody>
      </p:sp>
    </p:spTree>
    <p:extLst>
      <p:ext uri="{BB962C8B-B14F-4D97-AF65-F5344CB8AC3E}">
        <p14:creationId xmlns:p14="http://schemas.microsoft.com/office/powerpoint/2010/main" val="2174313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635134" y="642594"/>
            <a:ext cx="8490065" cy="1371600"/>
          </a:xfrm>
        </p:spPr>
        <p:txBody>
          <a:bodyPr/>
          <a:lstStyle/>
          <a:p>
            <a:r>
              <a:rPr lang="he-IL" dirty="0"/>
              <a:t>המשך - הרחבה על שלבי ההצפנה</a:t>
            </a:r>
          </a:p>
        </p:txBody>
      </p:sp>
      <p:sp>
        <p:nvSpPr>
          <p:cNvPr id="3" name="מציין מיקום תוכן 2"/>
          <p:cNvSpPr>
            <a:spLocks noGrp="1"/>
          </p:cNvSpPr>
          <p:nvPr>
            <p:ph idx="1"/>
          </p:nvPr>
        </p:nvSpPr>
        <p:spPr/>
        <p:txBody>
          <a:bodyPr/>
          <a:lstStyle/>
          <a:p>
            <a:r>
              <a:rPr lang="he-IL" sz="2400" b="1" dirty="0"/>
              <a:t>3. פונקציית ההצפנה </a:t>
            </a:r>
            <a:r>
              <a:rPr lang="en-US" sz="2400" b="1" dirty="0"/>
              <a:t>F</a:t>
            </a:r>
          </a:p>
          <a:p>
            <a:r>
              <a:rPr lang="he-IL" dirty="0"/>
              <a:t>פונקציה זו </a:t>
            </a:r>
            <a:r>
              <a:rPr lang="he-IL" b="1" dirty="0"/>
              <a:t>היא לב האלגוריתם</a:t>
            </a:r>
            <a:r>
              <a:rPr lang="he-IL" dirty="0"/>
              <a:t> ומבצעת את עיקר ההצפנה.</a:t>
            </a:r>
          </a:p>
          <a:p>
            <a:r>
              <a:rPr lang="he-IL" dirty="0"/>
              <a:t> הפונקציה מקבלת:</a:t>
            </a:r>
          </a:p>
          <a:p>
            <a:r>
              <a:rPr lang="he-IL" b="1" dirty="0"/>
              <a:t>32 ביטים מהחצי הימני </a:t>
            </a:r>
            <a:r>
              <a:rPr lang="en-US" b="1" dirty="0"/>
              <a:t>R</a:t>
            </a:r>
            <a:endParaRPr lang="en-US" dirty="0"/>
          </a:p>
          <a:p>
            <a:r>
              <a:rPr lang="en-US" b="1" dirty="0"/>
              <a:t>48</a:t>
            </a:r>
            <a:r>
              <a:rPr lang="he-IL" b="1" dirty="0"/>
              <a:t> ביטים של מפתח משנה </a:t>
            </a:r>
            <a:r>
              <a:rPr lang="en-US" b="1" dirty="0"/>
              <a:t> </a:t>
            </a:r>
            <a:r>
              <a:rPr lang="en-US" b="1" dirty="0" err="1"/>
              <a:t>Subkey</a:t>
            </a:r>
            <a:r>
              <a:rPr lang="he-IL" dirty="0"/>
              <a:t>שלבי החישוב:</a:t>
            </a:r>
          </a:p>
          <a:p>
            <a:r>
              <a:rPr lang="he-IL" b="1" dirty="0"/>
              <a:t>הרחבת</a:t>
            </a:r>
            <a:r>
              <a:rPr lang="en-US" b="1" dirty="0"/>
              <a:t> R </a:t>
            </a:r>
            <a:r>
              <a:rPr lang="he-IL" b="1" dirty="0"/>
              <a:t>ל-48  ביטים </a:t>
            </a:r>
            <a:r>
              <a:rPr lang="en-US" b="1" dirty="0"/>
              <a:t>Expansion Function E</a:t>
            </a:r>
            <a:endParaRPr lang="en-US" dirty="0"/>
          </a:p>
          <a:p>
            <a:r>
              <a:rPr lang="he-IL" b="1" dirty="0"/>
              <a:t>ביצוע </a:t>
            </a:r>
            <a:r>
              <a:rPr lang="en-US" b="1" dirty="0"/>
              <a:t> XOR</a:t>
            </a:r>
            <a:r>
              <a:rPr lang="he-IL" b="1" dirty="0"/>
              <a:t>עם מפתח המשנה</a:t>
            </a:r>
            <a:endParaRPr lang="he-IL" dirty="0"/>
          </a:p>
          <a:p>
            <a:r>
              <a:rPr lang="he-IL" b="1" dirty="0"/>
              <a:t>מעבר דרך </a:t>
            </a:r>
            <a:r>
              <a:rPr lang="en-US" b="1" dirty="0"/>
              <a:t>S-Boxes</a:t>
            </a:r>
            <a:r>
              <a:rPr lang="he-IL" b="1" dirty="0"/>
              <a:t> תיבות החלפה - </a:t>
            </a:r>
            <a:r>
              <a:rPr lang="en-US" b="1" dirty="0"/>
              <a:t>Substitution Boxes</a:t>
            </a:r>
            <a:endParaRPr lang="en-US" dirty="0"/>
          </a:p>
          <a:p>
            <a:r>
              <a:rPr lang="en-US" b="1" dirty="0"/>
              <a:t> Permutation </a:t>
            </a:r>
            <a:r>
              <a:rPr lang="he-IL" b="1" dirty="0"/>
              <a:t>נוספת לפיזור הביטים</a:t>
            </a:r>
            <a:endParaRPr lang="he-IL" dirty="0"/>
          </a:p>
          <a:p>
            <a:endParaRPr lang="he-IL" dirty="0"/>
          </a:p>
        </p:txBody>
      </p:sp>
    </p:spTree>
    <p:extLst>
      <p:ext uri="{BB962C8B-B14F-4D97-AF65-F5344CB8AC3E}">
        <p14:creationId xmlns:p14="http://schemas.microsoft.com/office/powerpoint/2010/main" val="446090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718262" y="642594"/>
            <a:ext cx="8406938" cy="1371600"/>
          </a:xfrm>
        </p:spPr>
        <p:txBody>
          <a:bodyPr/>
          <a:lstStyle/>
          <a:p>
            <a:r>
              <a:rPr lang="he-IL" dirty="0"/>
              <a:t>המשך - הרחבה על שלבי ההצפנה</a:t>
            </a:r>
          </a:p>
        </p:txBody>
      </p:sp>
      <p:sp>
        <p:nvSpPr>
          <p:cNvPr id="3" name="מציין מיקום תוכן 2"/>
          <p:cNvSpPr>
            <a:spLocks noGrp="1"/>
          </p:cNvSpPr>
          <p:nvPr>
            <p:ph idx="1"/>
          </p:nvPr>
        </p:nvSpPr>
        <p:spPr/>
        <p:txBody>
          <a:bodyPr/>
          <a:lstStyle/>
          <a:p>
            <a:r>
              <a:rPr lang="en-US" sz="2400" b="1" dirty="0"/>
              <a:t> S-Boxes .5 </a:t>
            </a:r>
            <a:r>
              <a:rPr lang="he-IL" sz="2400" b="1" dirty="0"/>
              <a:t>התיבות </a:t>
            </a:r>
            <a:r>
              <a:rPr lang="he-IL" sz="2400" b="1" dirty="0" err="1"/>
              <a:t>הקריפטוגרפיות</a:t>
            </a:r>
            <a:r>
              <a:rPr lang="he-IL" sz="2400" b="1" dirty="0"/>
              <a:t> החשובות:</a:t>
            </a:r>
          </a:p>
          <a:p>
            <a:r>
              <a:rPr lang="he-IL" dirty="0"/>
              <a:t>ישנן </a:t>
            </a:r>
            <a:r>
              <a:rPr lang="he-IL" b="1" dirty="0"/>
              <a:t>8 תיבות </a:t>
            </a:r>
            <a:r>
              <a:rPr lang="en-US" b="1" dirty="0"/>
              <a:t>S-Box</a:t>
            </a:r>
            <a:r>
              <a:rPr lang="he-IL" dirty="0"/>
              <a:t> שכל אחת </a:t>
            </a:r>
            <a:r>
              <a:rPr lang="he-IL" b="1" dirty="0"/>
              <a:t>ממירה 6 ביטים ל-4 ביטים</a:t>
            </a:r>
            <a:r>
              <a:rPr lang="he-IL" dirty="0"/>
              <a:t> לפי טבלה קבועה.</a:t>
            </a:r>
          </a:p>
          <a:p>
            <a:r>
              <a:rPr lang="he-IL" dirty="0"/>
              <a:t> מטרת ה-</a:t>
            </a:r>
            <a:r>
              <a:rPr lang="en-US" dirty="0"/>
              <a:t>S-Boxes </a:t>
            </a:r>
            <a:r>
              <a:rPr lang="he-IL" dirty="0"/>
              <a:t>:</a:t>
            </a:r>
            <a:endParaRPr lang="en-US" dirty="0"/>
          </a:p>
          <a:p>
            <a:r>
              <a:rPr lang="he-IL" dirty="0"/>
              <a:t>לגרום לכך שהפלט </a:t>
            </a:r>
            <a:r>
              <a:rPr lang="he-IL" b="1" dirty="0"/>
              <a:t>יהיה בלתי ניתן לחיזוי</a:t>
            </a:r>
            <a:r>
              <a:rPr lang="he-IL" dirty="0"/>
              <a:t> אפילו אם יש שינוי קטן בקלט.</a:t>
            </a:r>
          </a:p>
          <a:p>
            <a:r>
              <a:rPr lang="he-IL" dirty="0"/>
              <a:t>להקשות על התקפות סטטיסטיות (למשל התקפה לינארית).</a:t>
            </a:r>
          </a:p>
          <a:p>
            <a:r>
              <a:rPr lang="he-IL" sz="2400" b="1" dirty="0"/>
              <a:t>6. סיום ההצפנה – </a:t>
            </a:r>
            <a:r>
              <a:rPr lang="en-US" sz="2400" b="1" dirty="0"/>
              <a:t>Final Permutation (FP)</a:t>
            </a:r>
            <a:r>
              <a:rPr lang="he-IL" sz="2400" b="1" dirty="0"/>
              <a:t>:</a:t>
            </a:r>
            <a:endParaRPr lang="en-US" sz="2400" b="1" dirty="0"/>
          </a:p>
          <a:p>
            <a:r>
              <a:rPr lang="he-IL" dirty="0"/>
              <a:t>לאחר 16 סבבי הצפנה, הביטים </a:t>
            </a:r>
            <a:r>
              <a:rPr lang="he-IL" b="1" dirty="0"/>
              <a:t>מעורבבים שוב</a:t>
            </a:r>
            <a:r>
              <a:rPr lang="he-IL" dirty="0"/>
              <a:t> לפי טבלת </a:t>
            </a:r>
            <a:r>
              <a:rPr lang="en-US" b="1" dirty="0"/>
              <a:t>FP</a:t>
            </a:r>
            <a:r>
              <a:rPr lang="en-US" dirty="0"/>
              <a:t> </a:t>
            </a:r>
            <a:r>
              <a:rPr lang="he-IL" dirty="0"/>
              <a:t> ההפוכה ל- </a:t>
            </a:r>
            <a:r>
              <a:rPr lang="en-US" dirty="0"/>
              <a:t>IP</a:t>
            </a:r>
          </a:p>
          <a:p>
            <a:r>
              <a:rPr lang="he-IL" dirty="0"/>
              <a:t>מתקבל </a:t>
            </a:r>
            <a:r>
              <a:rPr lang="he-IL" b="1" dirty="0"/>
              <a:t>64 ביטים של טקסט מוצפן</a:t>
            </a:r>
            <a:r>
              <a:rPr lang="he-IL" dirty="0"/>
              <a:t>.</a:t>
            </a:r>
          </a:p>
          <a:p>
            <a:endParaRPr lang="he-IL" dirty="0"/>
          </a:p>
          <a:p>
            <a:endParaRPr lang="he-IL" dirty="0"/>
          </a:p>
        </p:txBody>
      </p:sp>
    </p:spTree>
    <p:extLst>
      <p:ext uri="{BB962C8B-B14F-4D97-AF65-F5344CB8AC3E}">
        <p14:creationId xmlns:p14="http://schemas.microsoft.com/office/powerpoint/2010/main" val="36086051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431578" y="642594"/>
            <a:ext cx="3693622" cy="1371600"/>
          </a:xfrm>
        </p:spPr>
        <p:txBody>
          <a:bodyPr/>
          <a:lstStyle/>
          <a:p>
            <a:r>
              <a:rPr lang="he-IL" dirty="0"/>
              <a:t>פענוח ב-</a:t>
            </a:r>
            <a:r>
              <a:rPr lang="en-US" dirty="0"/>
              <a:t>DES </a:t>
            </a:r>
            <a:r>
              <a:rPr lang="he-IL" dirty="0"/>
              <a:t> </a:t>
            </a:r>
          </a:p>
        </p:txBody>
      </p:sp>
      <p:sp>
        <p:nvSpPr>
          <p:cNvPr id="3" name="מציין מיקום תוכן 2"/>
          <p:cNvSpPr>
            <a:spLocks noGrp="1"/>
          </p:cNvSpPr>
          <p:nvPr>
            <p:ph idx="1"/>
          </p:nvPr>
        </p:nvSpPr>
        <p:spPr/>
        <p:txBody>
          <a:bodyPr/>
          <a:lstStyle/>
          <a:p>
            <a:r>
              <a:rPr lang="he-IL" b="1" dirty="0"/>
              <a:t>אותו תהליך כמו בהצפנה – רק בסדר הפוך!</a:t>
            </a:r>
            <a:endParaRPr lang="he-IL" dirty="0"/>
          </a:p>
          <a:p>
            <a:r>
              <a:rPr lang="he-IL" dirty="0"/>
              <a:t> פשוט מפעילים את 16 הסבבים </a:t>
            </a:r>
            <a:r>
              <a:rPr lang="he-IL" b="1" dirty="0"/>
              <a:t>בסדר ההפוך</a:t>
            </a:r>
            <a:r>
              <a:rPr lang="he-IL" dirty="0"/>
              <a:t> עם אותם מפתחות משנה.</a:t>
            </a:r>
          </a:p>
        </p:txBody>
      </p:sp>
    </p:spTree>
    <p:extLst>
      <p:ext uri="{BB962C8B-B14F-4D97-AF65-F5344CB8AC3E}">
        <p14:creationId xmlns:p14="http://schemas.microsoft.com/office/powerpoint/2010/main" val="9624155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086494" y="642594"/>
            <a:ext cx="9038705" cy="1371600"/>
          </a:xfrm>
        </p:spPr>
        <p:txBody>
          <a:bodyPr/>
          <a:lstStyle/>
          <a:p>
            <a:r>
              <a:rPr lang="he-IL" dirty="0"/>
              <a:t>דוגמה מעשית לאופן פעולתו של </a:t>
            </a:r>
            <a:r>
              <a:rPr lang="en-US" dirty="0"/>
              <a:t>DES</a:t>
            </a:r>
            <a:endParaRPr lang="he-IL" dirty="0"/>
          </a:p>
        </p:txBody>
      </p:sp>
      <p:sp>
        <p:nvSpPr>
          <p:cNvPr id="3" name="מציין מיקום תוכן 2"/>
          <p:cNvSpPr>
            <a:spLocks noGrp="1"/>
          </p:cNvSpPr>
          <p:nvPr>
            <p:ph idx="1"/>
          </p:nvPr>
        </p:nvSpPr>
        <p:spPr>
          <a:xfrm>
            <a:off x="1066800" y="2103119"/>
            <a:ext cx="10058400" cy="4397433"/>
          </a:xfrm>
        </p:spPr>
        <p:txBody>
          <a:bodyPr>
            <a:normAutofit fontScale="92500" lnSpcReduction="20000"/>
          </a:bodyPr>
          <a:lstStyle/>
          <a:p>
            <a:r>
              <a:rPr lang="he-IL" dirty="0"/>
              <a:t>כדי להמחיש את פעולתו של</a:t>
            </a:r>
            <a:r>
              <a:rPr lang="en-US" dirty="0"/>
              <a:t> </a:t>
            </a:r>
            <a:r>
              <a:rPr lang="en-US" b="1" dirty="0"/>
              <a:t>DES</a:t>
            </a:r>
            <a:r>
              <a:rPr lang="en-US" dirty="0"/>
              <a:t> </a:t>
            </a:r>
            <a:r>
              <a:rPr lang="he-IL" dirty="0"/>
              <a:t>בצורה מעשית אך </a:t>
            </a:r>
            <a:r>
              <a:rPr lang="he-IL" b="1" dirty="0"/>
              <a:t>ללא קוד</a:t>
            </a:r>
            <a:r>
              <a:rPr lang="he-IL" dirty="0"/>
              <a:t>, ניקח דוגמה של </a:t>
            </a:r>
            <a:r>
              <a:rPr lang="he-IL" b="1" dirty="0"/>
              <a:t>טקסט קריא </a:t>
            </a:r>
            <a:r>
              <a:rPr lang="en-US" b="1" dirty="0"/>
              <a:t> Plaintext</a:t>
            </a:r>
            <a:r>
              <a:rPr lang="he-IL" dirty="0"/>
              <a:t>קצר ונדגים איך הוא </a:t>
            </a:r>
            <a:r>
              <a:rPr lang="he-IL" b="1" dirty="0"/>
              <a:t>עובר את שלבי ההצפנה</a:t>
            </a:r>
            <a:r>
              <a:rPr lang="he-IL" dirty="0"/>
              <a:t>.</a:t>
            </a:r>
          </a:p>
          <a:p>
            <a:r>
              <a:rPr lang="he-IL" b="1" dirty="0"/>
              <a:t>נתונים להתחלה</a:t>
            </a:r>
          </a:p>
          <a:p>
            <a:r>
              <a:rPr lang="he-IL" b="1" dirty="0"/>
              <a:t>טקסט קריא </a:t>
            </a:r>
            <a:r>
              <a:rPr lang="en-US" b="1" dirty="0"/>
              <a:t> </a:t>
            </a:r>
            <a:r>
              <a:rPr lang="en-US" dirty="0"/>
              <a:t>HELLO123 </a:t>
            </a:r>
            <a:r>
              <a:rPr lang="en-US" b="1" dirty="0"/>
              <a:t>:Plaintext</a:t>
            </a:r>
            <a:endParaRPr lang="he-IL" b="1" dirty="0"/>
          </a:p>
          <a:p>
            <a:r>
              <a:rPr lang="he-IL" dirty="0"/>
              <a:t>ייצוג בינארי של הטקסט </a:t>
            </a:r>
            <a:r>
              <a:rPr lang="en-US" dirty="0"/>
              <a:t>ASCII</a:t>
            </a:r>
            <a:r>
              <a:rPr lang="he-IL" dirty="0"/>
              <a:t>:</a:t>
            </a:r>
          </a:p>
          <a:p>
            <a:pPr algn="l"/>
            <a:r>
              <a:rPr lang="pt-BR" dirty="0"/>
              <a:t>H  -&gt;  01001000</a:t>
            </a:r>
          </a:p>
          <a:p>
            <a:pPr algn="l"/>
            <a:r>
              <a:rPr lang="pt-BR" dirty="0"/>
              <a:t>E  -&gt;  01000101</a:t>
            </a:r>
          </a:p>
          <a:p>
            <a:pPr algn="l"/>
            <a:r>
              <a:rPr lang="pt-BR" dirty="0"/>
              <a:t>L  -&gt;  01001100</a:t>
            </a:r>
          </a:p>
          <a:p>
            <a:pPr algn="l"/>
            <a:r>
              <a:rPr lang="pt-BR" dirty="0"/>
              <a:t>L  -&gt;  01001100</a:t>
            </a:r>
          </a:p>
          <a:p>
            <a:pPr algn="l"/>
            <a:r>
              <a:rPr lang="pt-BR" dirty="0"/>
              <a:t>O  -&gt;  01001111</a:t>
            </a:r>
          </a:p>
          <a:p>
            <a:pPr algn="l"/>
            <a:r>
              <a:rPr lang="pt-BR" dirty="0"/>
              <a:t>1  -&gt;  00110001</a:t>
            </a:r>
          </a:p>
          <a:p>
            <a:pPr algn="l"/>
            <a:r>
              <a:rPr lang="pt-BR" dirty="0"/>
              <a:t>2  -&gt;  00110010</a:t>
            </a:r>
          </a:p>
          <a:p>
            <a:pPr algn="l"/>
            <a:r>
              <a:rPr lang="pt-BR" dirty="0"/>
              <a:t>3  -&gt;  00110011</a:t>
            </a:r>
          </a:p>
          <a:p>
            <a:r>
              <a:rPr lang="he-IL" dirty="0"/>
              <a:t>סה"כ בלוק שלם של </a:t>
            </a:r>
            <a:r>
              <a:rPr lang="en-US" dirty="0"/>
              <a:t>DES</a:t>
            </a:r>
          </a:p>
          <a:p>
            <a:endParaRPr lang="he-IL" dirty="0"/>
          </a:p>
        </p:txBody>
      </p:sp>
    </p:spTree>
    <p:extLst>
      <p:ext uri="{BB962C8B-B14F-4D97-AF65-F5344CB8AC3E}">
        <p14:creationId xmlns:p14="http://schemas.microsoft.com/office/powerpoint/2010/main" val="7832172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dirty="0"/>
              <a:t>המשך - דוגמה מעשית לאופן פעולתו של </a:t>
            </a:r>
            <a:r>
              <a:rPr lang="en-US" dirty="0"/>
              <a:t>DES</a:t>
            </a:r>
            <a:endParaRPr lang="he-IL" dirty="0"/>
          </a:p>
        </p:txBody>
      </p:sp>
      <p:sp>
        <p:nvSpPr>
          <p:cNvPr id="3" name="מציין מיקום תוכן 2"/>
          <p:cNvSpPr>
            <a:spLocks noGrp="1"/>
          </p:cNvSpPr>
          <p:nvPr>
            <p:ph idx="1"/>
          </p:nvPr>
        </p:nvSpPr>
        <p:spPr/>
        <p:txBody>
          <a:bodyPr/>
          <a:lstStyle/>
          <a:p>
            <a:r>
              <a:rPr lang="he-IL" dirty="0"/>
              <a:t>מפתח הצפנה</a:t>
            </a:r>
            <a:r>
              <a:rPr lang="en-US" dirty="0"/>
              <a:t> Key – 56 </a:t>
            </a:r>
            <a:r>
              <a:rPr lang="he-IL" dirty="0"/>
              <a:t>ביטים:</a:t>
            </a:r>
          </a:p>
          <a:p>
            <a:pPr algn="l"/>
            <a:r>
              <a:rPr lang="he-IL" dirty="0"/>
              <a:t>01100101 11001010 10101011 01001100 11010010 10101010 10010111</a:t>
            </a:r>
          </a:p>
          <a:p>
            <a:r>
              <a:rPr lang="he-IL" sz="3600" b="1" u="sng" dirty="0"/>
              <a:t>שלבי ההצפנה ב-</a:t>
            </a:r>
            <a:r>
              <a:rPr lang="en-US" sz="3600" b="1" u="sng" dirty="0"/>
              <a:t>DES</a:t>
            </a:r>
          </a:p>
          <a:p>
            <a:r>
              <a:rPr lang="he-IL" b="1" dirty="0"/>
              <a:t>שלב 1: </a:t>
            </a:r>
            <a:r>
              <a:rPr lang="en-US" b="1" dirty="0"/>
              <a:t>Permutation </a:t>
            </a:r>
            <a:r>
              <a:rPr lang="he-IL" b="1" dirty="0"/>
              <a:t> ראשונית </a:t>
            </a:r>
            <a:r>
              <a:rPr lang="en-US" b="1" dirty="0"/>
              <a:t>IP</a:t>
            </a:r>
            <a:r>
              <a:rPr lang="he-IL" b="1" dirty="0"/>
              <a:t>:</a:t>
            </a:r>
            <a:endParaRPr lang="en-US" b="1" dirty="0"/>
          </a:p>
          <a:p>
            <a:r>
              <a:rPr lang="he-IL" dirty="0"/>
              <a:t>הביטים של ה-</a:t>
            </a:r>
            <a:r>
              <a:rPr lang="en-US" dirty="0"/>
              <a:t>plaintext </a:t>
            </a:r>
            <a:r>
              <a:rPr lang="he-IL" dirty="0"/>
              <a:t> </a:t>
            </a:r>
            <a:r>
              <a:rPr lang="he-IL" b="1" dirty="0"/>
              <a:t>מעורבבים מחדש</a:t>
            </a:r>
            <a:r>
              <a:rPr lang="he-IL" dirty="0"/>
              <a:t> לפי סדר מוגדר מראש </a:t>
            </a:r>
            <a:r>
              <a:rPr lang="en-US" dirty="0"/>
              <a:t>IP Table</a:t>
            </a:r>
            <a:endParaRPr lang="he-IL" dirty="0"/>
          </a:p>
          <a:p>
            <a:r>
              <a:rPr lang="he-IL" dirty="0"/>
              <a:t>לדוגמה, אם סדר הביטים במקור היה:</a:t>
            </a:r>
          </a:p>
          <a:p>
            <a:pPr algn="l"/>
            <a:r>
              <a:rPr lang="he-IL" dirty="0"/>
              <a:t>10101011 00110010 01010101 11001100 10011001 01100110 11001100 00101101</a:t>
            </a:r>
          </a:p>
          <a:p>
            <a:r>
              <a:rPr lang="he-IL" dirty="0"/>
              <a:t>אז אחרי ה-</a:t>
            </a:r>
            <a:r>
              <a:rPr lang="en-US" dirty="0"/>
              <a:t>IP </a:t>
            </a:r>
            <a:r>
              <a:rPr lang="he-IL" dirty="0"/>
              <a:t>:</a:t>
            </a:r>
          </a:p>
          <a:p>
            <a:pPr algn="l"/>
            <a:r>
              <a:rPr lang="he-IL" dirty="0"/>
              <a:t>11001100 10101011 01100110 00110010 00101101 01010101 11001100 10011001</a:t>
            </a:r>
          </a:p>
          <a:p>
            <a:pPr algn="l"/>
            <a:endParaRPr lang="he-IL" dirty="0"/>
          </a:p>
          <a:p>
            <a:endParaRPr lang="he-IL" dirty="0"/>
          </a:p>
        </p:txBody>
      </p:sp>
    </p:spTree>
    <p:extLst>
      <p:ext uri="{BB962C8B-B14F-4D97-AF65-F5344CB8AC3E}">
        <p14:creationId xmlns:p14="http://schemas.microsoft.com/office/powerpoint/2010/main" val="27756325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dirty="0"/>
              <a:t>המשך - דוגמה מעשית לאופן פעולתו של </a:t>
            </a:r>
            <a:r>
              <a:rPr lang="en-US" dirty="0"/>
              <a:t>DES</a:t>
            </a:r>
            <a:endParaRPr lang="he-IL" dirty="0"/>
          </a:p>
        </p:txBody>
      </p:sp>
      <p:sp>
        <p:nvSpPr>
          <p:cNvPr id="3" name="מציין מיקום תוכן 2"/>
          <p:cNvSpPr>
            <a:spLocks noGrp="1"/>
          </p:cNvSpPr>
          <p:nvPr>
            <p:ph idx="1"/>
          </p:nvPr>
        </p:nvSpPr>
        <p:spPr/>
        <p:txBody>
          <a:bodyPr/>
          <a:lstStyle/>
          <a:p>
            <a:r>
              <a:rPr lang="he-IL" b="1" dirty="0"/>
              <a:t>שלב 2: פיצול לשני חצאים</a:t>
            </a:r>
          </a:p>
          <a:p>
            <a:r>
              <a:rPr lang="he-IL" dirty="0"/>
              <a:t>לאחר ה-</a:t>
            </a:r>
            <a:r>
              <a:rPr lang="en-US" dirty="0"/>
              <a:t>IP </a:t>
            </a:r>
            <a:r>
              <a:rPr lang="he-IL" dirty="0"/>
              <a:t> מחלקים את הבלוק לשניים:</a:t>
            </a:r>
          </a:p>
          <a:p>
            <a:r>
              <a:rPr lang="en-US" b="1" dirty="0"/>
              <a:t>L 32 </a:t>
            </a:r>
            <a:r>
              <a:rPr lang="he-IL" b="1" dirty="0"/>
              <a:t> ביטים ראשונים</a:t>
            </a:r>
          </a:p>
          <a:p>
            <a:r>
              <a:rPr lang="en-US" b="1" dirty="0"/>
              <a:t>R 32 </a:t>
            </a:r>
            <a:r>
              <a:rPr lang="he-IL" b="1" dirty="0"/>
              <a:t> ביטים אחרונים</a:t>
            </a:r>
          </a:p>
          <a:p>
            <a:r>
              <a:rPr lang="he-IL" dirty="0"/>
              <a:t>לפני הפיצול:</a:t>
            </a:r>
          </a:p>
          <a:p>
            <a:pPr algn="l"/>
            <a:r>
              <a:rPr lang="he-IL" dirty="0"/>
              <a:t>11001100 10101011 01100110 00110010 00101101 01010101 11001100 10011001</a:t>
            </a:r>
          </a:p>
          <a:p>
            <a:r>
              <a:rPr lang="he-IL" dirty="0"/>
              <a:t>אחרי הפיצול:</a:t>
            </a:r>
          </a:p>
          <a:p>
            <a:pPr algn="l"/>
            <a:r>
              <a:rPr lang="pt-BR" dirty="0"/>
              <a:t>L0 = 11001100 10101011 01100110 00110010</a:t>
            </a:r>
          </a:p>
          <a:p>
            <a:pPr algn="l"/>
            <a:r>
              <a:rPr lang="pt-BR" dirty="0"/>
              <a:t>R0 = 00101101 01010101 11001100 10011001</a:t>
            </a:r>
          </a:p>
          <a:p>
            <a:pPr algn="l"/>
            <a:endParaRPr lang="he-IL" dirty="0"/>
          </a:p>
        </p:txBody>
      </p:sp>
    </p:spTree>
    <p:extLst>
      <p:ext uri="{BB962C8B-B14F-4D97-AF65-F5344CB8AC3E}">
        <p14:creationId xmlns:p14="http://schemas.microsoft.com/office/powerpoint/2010/main" val="41685402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dirty="0"/>
              <a:t>המשך - דוגמה מעשית לאופן פעולתו של </a:t>
            </a:r>
            <a:r>
              <a:rPr lang="en-US" dirty="0"/>
              <a:t>DES</a:t>
            </a:r>
            <a:endParaRPr lang="he-IL" dirty="0"/>
          </a:p>
        </p:txBody>
      </p:sp>
      <p:sp>
        <p:nvSpPr>
          <p:cNvPr id="3" name="מציין מיקום תוכן 2"/>
          <p:cNvSpPr>
            <a:spLocks noGrp="1"/>
          </p:cNvSpPr>
          <p:nvPr>
            <p:ph idx="1"/>
          </p:nvPr>
        </p:nvSpPr>
        <p:spPr/>
        <p:txBody>
          <a:bodyPr/>
          <a:lstStyle/>
          <a:p>
            <a:r>
              <a:rPr lang="he-IL" b="1" dirty="0"/>
              <a:t>שלב 3: 16 סבבי הצפנה</a:t>
            </a:r>
          </a:p>
          <a:p>
            <a:r>
              <a:rPr lang="he-IL" dirty="0"/>
              <a:t>כל אחד מ-16 הסבבים </a:t>
            </a:r>
            <a:r>
              <a:rPr lang="he-IL" b="1" dirty="0"/>
              <a:t>מבצע את הפעולות הבאות</a:t>
            </a:r>
            <a:r>
              <a:rPr lang="he-IL" dirty="0"/>
              <a:t>:</a:t>
            </a:r>
          </a:p>
          <a:p>
            <a:r>
              <a:rPr lang="he-IL" dirty="0"/>
              <a:t>שימוש </a:t>
            </a:r>
            <a:r>
              <a:rPr lang="he-IL" b="1" dirty="0"/>
              <a:t>במפתח משנה</a:t>
            </a:r>
            <a:r>
              <a:rPr lang="en-US" b="1" dirty="0"/>
              <a:t> </a:t>
            </a:r>
            <a:r>
              <a:rPr lang="en-US" b="1" dirty="0" err="1"/>
              <a:t>Subkey</a:t>
            </a:r>
            <a:r>
              <a:rPr lang="en-US" dirty="0"/>
              <a:t> </a:t>
            </a:r>
            <a:r>
              <a:rPr lang="he-IL" dirty="0"/>
              <a:t>שהופק מהמפתח הראשי.</a:t>
            </a:r>
          </a:p>
          <a:p>
            <a:r>
              <a:rPr lang="he-IL" b="1" dirty="0"/>
              <a:t>הרחבת </a:t>
            </a:r>
            <a:r>
              <a:rPr lang="en-US" b="1" dirty="0"/>
              <a:t> R </a:t>
            </a:r>
            <a:r>
              <a:rPr lang="he-IL" b="1" dirty="0"/>
              <a:t>ל- 48 ביטים</a:t>
            </a:r>
            <a:r>
              <a:rPr lang="he-IL" dirty="0"/>
              <a:t> </a:t>
            </a:r>
            <a:r>
              <a:rPr lang="en-US" dirty="0"/>
              <a:t>Expansion Function</a:t>
            </a:r>
          </a:p>
          <a:p>
            <a:r>
              <a:rPr lang="he-IL" b="1" dirty="0"/>
              <a:t>ביצוע </a:t>
            </a:r>
            <a:r>
              <a:rPr lang="en-US" b="1" dirty="0"/>
              <a:t> XOR</a:t>
            </a:r>
            <a:r>
              <a:rPr lang="he-IL" b="1" dirty="0"/>
              <a:t>עם מפתח המשנה</a:t>
            </a:r>
            <a:r>
              <a:rPr lang="he-IL" dirty="0"/>
              <a:t>.</a:t>
            </a:r>
          </a:p>
          <a:p>
            <a:r>
              <a:rPr lang="he-IL" b="1" dirty="0"/>
              <a:t>מעבר דרך תיבות </a:t>
            </a:r>
            <a:r>
              <a:rPr lang="en-US" b="1" dirty="0"/>
              <a:t>S-Box </a:t>
            </a:r>
            <a:r>
              <a:rPr lang="he-IL" b="1" dirty="0"/>
              <a:t> החלפה לא לינארית של ביטים</a:t>
            </a:r>
            <a:r>
              <a:rPr lang="he-IL" dirty="0"/>
              <a:t>.</a:t>
            </a:r>
          </a:p>
          <a:p>
            <a:r>
              <a:rPr lang="en-US" b="1" dirty="0"/>
              <a:t>Permutation </a:t>
            </a:r>
            <a:r>
              <a:rPr lang="he-IL" b="1" dirty="0"/>
              <a:t> נוספת</a:t>
            </a:r>
            <a:r>
              <a:rPr lang="he-IL" dirty="0"/>
              <a:t> (פיזור הביטים).</a:t>
            </a:r>
          </a:p>
          <a:p>
            <a:r>
              <a:rPr lang="en-US" b="1" dirty="0"/>
              <a:t> XOR </a:t>
            </a:r>
            <a:r>
              <a:rPr lang="he-IL" b="1" dirty="0"/>
              <a:t>עם </a:t>
            </a:r>
            <a:r>
              <a:rPr lang="en-US" b="1" dirty="0"/>
              <a:t> L</a:t>
            </a:r>
            <a:r>
              <a:rPr lang="he-IL" b="1" dirty="0"/>
              <a:t>הקודם</a:t>
            </a:r>
            <a:r>
              <a:rPr lang="he-IL" dirty="0"/>
              <a:t> כדי ליצור את </a:t>
            </a:r>
            <a:r>
              <a:rPr lang="en-US" dirty="0"/>
              <a:t> R</a:t>
            </a:r>
            <a:r>
              <a:rPr lang="he-IL" dirty="0"/>
              <a:t>החדש.</a:t>
            </a:r>
          </a:p>
          <a:p>
            <a:r>
              <a:rPr lang="he-IL" b="1" dirty="0"/>
              <a:t>החלפת ערכים</a:t>
            </a:r>
            <a:r>
              <a:rPr lang="en-US" b="1" dirty="0"/>
              <a:t> </a:t>
            </a:r>
            <a:r>
              <a:rPr lang="en-US" dirty="0"/>
              <a:t>R </a:t>
            </a:r>
            <a:r>
              <a:rPr lang="he-IL" dirty="0"/>
              <a:t>הופך להיות </a:t>
            </a:r>
            <a:r>
              <a:rPr lang="en-US" dirty="0"/>
              <a:t>L</a:t>
            </a:r>
            <a:r>
              <a:rPr lang="he-IL" dirty="0"/>
              <a:t> הבא, והתוצאה של השלב הופכת להיות</a:t>
            </a:r>
            <a:r>
              <a:rPr lang="en-US" dirty="0"/>
              <a:t> R </a:t>
            </a:r>
            <a:r>
              <a:rPr lang="he-IL" dirty="0"/>
              <a:t>החדש.</a:t>
            </a:r>
          </a:p>
          <a:p>
            <a:endParaRPr lang="he-IL" dirty="0"/>
          </a:p>
        </p:txBody>
      </p:sp>
    </p:spTree>
    <p:extLst>
      <p:ext uri="{BB962C8B-B14F-4D97-AF65-F5344CB8AC3E}">
        <p14:creationId xmlns:p14="http://schemas.microsoft.com/office/powerpoint/2010/main" val="36460482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dirty="0"/>
              <a:t>המשך - דוגמה מעשית לאופן פעולתו של </a:t>
            </a:r>
            <a:r>
              <a:rPr lang="en-US" dirty="0"/>
              <a:t>DES</a:t>
            </a:r>
            <a:endParaRPr lang="he-IL" dirty="0"/>
          </a:p>
        </p:txBody>
      </p:sp>
      <p:sp>
        <p:nvSpPr>
          <p:cNvPr id="3" name="מציין מיקום תוכן 2"/>
          <p:cNvSpPr>
            <a:spLocks noGrp="1"/>
          </p:cNvSpPr>
          <p:nvPr>
            <p:ph idx="1"/>
          </p:nvPr>
        </p:nvSpPr>
        <p:spPr/>
        <p:txBody>
          <a:bodyPr/>
          <a:lstStyle/>
          <a:p>
            <a:r>
              <a:rPr lang="he-IL" dirty="0"/>
              <a:t>דוגמה לסבב ראשון:</a:t>
            </a:r>
          </a:p>
          <a:p>
            <a:pPr algn="l"/>
            <a:r>
              <a:rPr lang="pt-BR" dirty="0"/>
              <a:t>L1 = R0</a:t>
            </a:r>
          </a:p>
          <a:p>
            <a:pPr algn="l"/>
            <a:r>
              <a:rPr lang="pt-BR" dirty="0"/>
              <a:t>R1 = L0 ⊕ F(R0, Subkey1)</a:t>
            </a:r>
          </a:p>
          <a:p>
            <a:r>
              <a:rPr lang="he-IL" dirty="0"/>
              <a:t>במהלך הסבבים הביטים </a:t>
            </a:r>
            <a:r>
              <a:rPr lang="he-IL" b="1" dirty="0"/>
              <a:t>משתנים לחלוטין</a:t>
            </a:r>
            <a:r>
              <a:rPr lang="he-IL" dirty="0"/>
              <a:t> בזכות הפעולות הלא לינאריות.</a:t>
            </a:r>
          </a:p>
          <a:p>
            <a:endParaRPr lang="he-IL" dirty="0"/>
          </a:p>
          <a:p>
            <a:r>
              <a:rPr lang="he-IL" b="1" dirty="0"/>
              <a:t>שלב 4: החזרת שני החצאים יחד</a:t>
            </a:r>
          </a:p>
          <a:p>
            <a:r>
              <a:rPr lang="he-IL" dirty="0"/>
              <a:t>לאחר 16 סבבי הצפנה, מחברים שוב את שני החלקים </a:t>
            </a:r>
            <a:r>
              <a:rPr lang="he-IL" b="1" dirty="0"/>
              <a:t>בסדר הפוך</a:t>
            </a:r>
            <a:r>
              <a:rPr lang="he-IL" dirty="0"/>
              <a:t>:</a:t>
            </a:r>
          </a:p>
          <a:p>
            <a:pPr algn="l"/>
            <a:r>
              <a:rPr lang="en-US" dirty="0" err="1"/>
              <a:t>Ciphertext</a:t>
            </a:r>
            <a:r>
              <a:rPr lang="en-US" dirty="0"/>
              <a:t> = R16 + L16</a:t>
            </a:r>
          </a:p>
          <a:p>
            <a:r>
              <a:rPr lang="he-IL" b="1" dirty="0"/>
              <a:t>שלב 5:</a:t>
            </a:r>
            <a:r>
              <a:rPr lang="en-US" b="1" dirty="0"/>
              <a:t>Permutation </a:t>
            </a:r>
            <a:r>
              <a:rPr lang="he-IL" b="1" dirty="0"/>
              <a:t>סופית </a:t>
            </a:r>
            <a:r>
              <a:rPr lang="en-US" b="1" dirty="0"/>
              <a:t>FP</a:t>
            </a:r>
          </a:p>
          <a:p>
            <a:r>
              <a:rPr lang="he-IL" dirty="0"/>
              <a:t>לבסוף, מבצעים </a:t>
            </a:r>
            <a:r>
              <a:rPr lang="he-IL" b="1" dirty="0"/>
              <a:t>ערבוב ביטים נוסף</a:t>
            </a:r>
            <a:r>
              <a:rPr lang="en-US" b="1" dirty="0"/>
              <a:t>FP</a:t>
            </a:r>
            <a:r>
              <a:rPr lang="en-US" dirty="0"/>
              <a:t> </a:t>
            </a:r>
            <a:r>
              <a:rPr lang="he-IL" dirty="0"/>
              <a:t> כדי לקבל את </a:t>
            </a:r>
            <a:r>
              <a:rPr lang="he-IL" b="1" dirty="0"/>
              <a:t>הטקסט המוצפן הסופי</a:t>
            </a:r>
            <a:r>
              <a:rPr lang="he-IL" dirty="0"/>
              <a:t>.</a:t>
            </a:r>
          </a:p>
          <a:p>
            <a:endParaRPr lang="he-IL" dirty="0"/>
          </a:p>
        </p:txBody>
      </p:sp>
    </p:spTree>
    <p:extLst>
      <p:ext uri="{BB962C8B-B14F-4D97-AF65-F5344CB8AC3E}">
        <p14:creationId xmlns:p14="http://schemas.microsoft.com/office/powerpoint/2010/main" val="517340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dirty="0"/>
              <a:t>המשך - דוגמה מעשית לאופן פעולתו של </a:t>
            </a:r>
            <a:r>
              <a:rPr lang="en-US" dirty="0"/>
              <a:t>DES</a:t>
            </a:r>
            <a:endParaRPr lang="he-IL" dirty="0"/>
          </a:p>
        </p:txBody>
      </p:sp>
      <p:sp>
        <p:nvSpPr>
          <p:cNvPr id="3" name="מציין מיקום תוכן 2"/>
          <p:cNvSpPr>
            <a:spLocks noGrp="1"/>
          </p:cNvSpPr>
          <p:nvPr>
            <p:ph idx="1"/>
          </p:nvPr>
        </p:nvSpPr>
        <p:spPr/>
        <p:txBody>
          <a:bodyPr>
            <a:normAutofit lnSpcReduction="10000"/>
          </a:bodyPr>
          <a:lstStyle/>
          <a:p>
            <a:r>
              <a:rPr lang="he-IL" b="1" dirty="0"/>
              <a:t>דוגמה לתוצאה הסופית </a:t>
            </a:r>
            <a:r>
              <a:rPr lang="en-US" b="1" dirty="0" err="1"/>
              <a:t>Ciphertext</a:t>
            </a:r>
            <a:r>
              <a:rPr lang="he-IL" b="1" dirty="0"/>
              <a:t>:</a:t>
            </a:r>
            <a:endParaRPr lang="en-US" b="1" dirty="0"/>
          </a:p>
          <a:p>
            <a:r>
              <a:rPr lang="he-IL" dirty="0"/>
              <a:t>אם נקבל למשל את הבלוק הבא אחרי ההצפנה:</a:t>
            </a:r>
          </a:p>
          <a:p>
            <a:pPr algn="l"/>
            <a:r>
              <a:rPr lang="he-IL" dirty="0"/>
              <a:t>10110011 01101001 11001110 01010101 10011100 00101111 01011001 10100101</a:t>
            </a:r>
          </a:p>
          <a:p>
            <a:r>
              <a:rPr lang="he-IL" dirty="0"/>
              <a:t>זהו ה</a:t>
            </a:r>
            <a:r>
              <a:rPr lang="en-US" b="1" dirty="0" err="1"/>
              <a:t>Ciphertext</a:t>
            </a:r>
            <a:r>
              <a:rPr lang="en-US" dirty="0"/>
              <a:t> – </a:t>
            </a:r>
            <a:r>
              <a:rPr lang="he-IL" dirty="0"/>
              <a:t> טקסט מוצפן לחלוטין שלא ניתן להבין ללא המפתח.</a:t>
            </a:r>
          </a:p>
          <a:p>
            <a:r>
              <a:rPr lang="he-IL" dirty="0"/>
              <a:t>פענוח</a:t>
            </a:r>
            <a:r>
              <a:rPr lang="en-US" dirty="0"/>
              <a:t> DES </a:t>
            </a:r>
            <a:r>
              <a:rPr lang="he-IL" dirty="0"/>
              <a:t>עובד באותו אופן, רק בסדר הפוך!</a:t>
            </a:r>
          </a:p>
          <a:p>
            <a:r>
              <a:rPr lang="he-IL" dirty="0"/>
              <a:t> </a:t>
            </a:r>
          </a:p>
          <a:p>
            <a:r>
              <a:rPr lang="he-IL" dirty="0"/>
              <a:t>יוצא לנו מספר נקודות שצריך לזכור למבחן, והם:</a:t>
            </a:r>
          </a:p>
          <a:p>
            <a:r>
              <a:rPr lang="he-IL" b="1" dirty="0"/>
              <a:t>כל בלוק של 64 ביטים מוצפן בנפרד</a:t>
            </a:r>
            <a:r>
              <a:rPr lang="he-IL" dirty="0"/>
              <a:t>.</a:t>
            </a:r>
          </a:p>
          <a:p>
            <a:r>
              <a:rPr lang="he-IL" b="1" dirty="0"/>
              <a:t>השינויים הלא לינאריים</a:t>
            </a:r>
            <a:r>
              <a:rPr lang="en-US" b="1" dirty="0"/>
              <a:t> S-Boxes ,XOR ,Permutations </a:t>
            </a:r>
            <a:r>
              <a:rPr lang="he-IL" b="1" dirty="0"/>
              <a:t>מבטיחים שהתוצאה תהיה בלתי ניתנת לניחוש</a:t>
            </a:r>
            <a:r>
              <a:rPr lang="he-IL" dirty="0"/>
              <a:t>.</a:t>
            </a:r>
          </a:p>
          <a:p>
            <a:r>
              <a:rPr lang="he-IL" dirty="0"/>
              <a:t> </a:t>
            </a:r>
            <a:r>
              <a:rPr lang="he-IL" b="1" dirty="0"/>
              <a:t>הצפנה עם אותו מפתח תמיד תוביל לאותה תוצאה אם אין </a:t>
            </a:r>
            <a:r>
              <a:rPr lang="en-US" b="1" dirty="0"/>
              <a:t>IV</a:t>
            </a:r>
            <a:r>
              <a:rPr lang="he-IL" b="1" dirty="0"/>
              <a:t>.</a:t>
            </a:r>
            <a:endParaRPr lang="he-IL" dirty="0"/>
          </a:p>
          <a:p>
            <a:endParaRPr lang="he-IL" dirty="0"/>
          </a:p>
        </p:txBody>
      </p:sp>
    </p:spTree>
    <p:extLst>
      <p:ext uri="{BB962C8B-B14F-4D97-AF65-F5344CB8AC3E}">
        <p14:creationId xmlns:p14="http://schemas.microsoft.com/office/powerpoint/2010/main" val="27907839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112326" y="642594"/>
            <a:ext cx="6012873" cy="1371600"/>
          </a:xfrm>
        </p:spPr>
        <p:txBody>
          <a:bodyPr/>
          <a:lstStyle/>
          <a:p>
            <a:r>
              <a:rPr lang="he-IL" dirty="0"/>
              <a:t>התקפות ידועות על </a:t>
            </a:r>
            <a:r>
              <a:rPr lang="en-US" dirty="0"/>
              <a:t>DES</a:t>
            </a:r>
            <a:endParaRPr lang="he-IL" dirty="0"/>
          </a:p>
        </p:txBody>
      </p:sp>
      <p:sp>
        <p:nvSpPr>
          <p:cNvPr id="3" name="מציין מיקום תוכן 2"/>
          <p:cNvSpPr>
            <a:spLocks noGrp="1"/>
          </p:cNvSpPr>
          <p:nvPr>
            <p:ph idx="1"/>
          </p:nvPr>
        </p:nvSpPr>
        <p:spPr/>
        <p:txBody>
          <a:bodyPr/>
          <a:lstStyle/>
          <a:p>
            <a:pPr marL="0" indent="0">
              <a:buNone/>
            </a:pPr>
            <a:r>
              <a:rPr lang="en-US" b="1" dirty="0"/>
              <a:t>: Brute Force Attack</a:t>
            </a:r>
            <a:r>
              <a:rPr lang="he-IL" dirty="0"/>
              <a:t>בשל אורך המפתח הקצר (56 ביטים), ניתן לנסות </a:t>
            </a:r>
            <a:r>
              <a:rPr lang="he-IL" b="1" dirty="0"/>
              <a:t>את כל האפשרויות</a:t>
            </a:r>
            <a:r>
              <a:rPr lang="he-IL" dirty="0"/>
              <a:t>.️ </a:t>
            </a:r>
          </a:p>
          <a:p>
            <a:pPr marL="0" indent="0">
              <a:buNone/>
            </a:pPr>
            <a:endParaRPr lang="he-IL" dirty="0"/>
          </a:p>
          <a:p>
            <a:pPr marL="0" indent="0">
              <a:buNone/>
            </a:pPr>
            <a:r>
              <a:rPr lang="en-US" b="1" dirty="0"/>
              <a:t>Cryptanalytic Attacks</a:t>
            </a:r>
            <a:r>
              <a:rPr lang="he-IL" b="1" dirty="0"/>
              <a:t>: </a:t>
            </a:r>
            <a:r>
              <a:rPr lang="he-IL" dirty="0"/>
              <a:t>התקפות מתמטיות כמו </a:t>
            </a:r>
            <a:r>
              <a:rPr lang="he-IL" b="1" dirty="0"/>
              <a:t>התקפה דיפרנציאלית</a:t>
            </a:r>
            <a:r>
              <a:rPr lang="he-IL" dirty="0"/>
              <a:t> או </a:t>
            </a:r>
            <a:r>
              <a:rPr lang="he-IL" b="1" dirty="0"/>
              <a:t>התקפה לינארית</a:t>
            </a:r>
            <a:r>
              <a:rPr lang="he-IL" dirty="0"/>
              <a:t> מנצלות חולשות במבנה ההצפנה.</a:t>
            </a:r>
          </a:p>
          <a:p>
            <a:pPr marL="0" indent="0">
              <a:buNone/>
            </a:pPr>
            <a:r>
              <a:rPr lang="he-IL" dirty="0"/>
              <a:t/>
            </a:r>
            <a:br>
              <a:rPr lang="he-IL" dirty="0"/>
            </a:br>
            <a:r>
              <a:rPr lang="en-US" b="1" dirty="0"/>
              <a:t>Meet-in-the-Middle Attack</a:t>
            </a:r>
            <a:r>
              <a:rPr lang="he-IL" b="1" dirty="0"/>
              <a:t> על 2</a:t>
            </a:r>
            <a:r>
              <a:rPr lang="en-US" b="1" dirty="0"/>
              <a:t> DES</a:t>
            </a:r>
            <a:r>
              <a:rPr lang="en-US" dirty="0"/>
              <a:t> – </a:t>
            </a:r>
            <a:r>
              <a:rPr lang="he-IL" dirty="0"/>
              <a:t>התקפה שמקטינה את הזמן הנדרש לשבירת ההצפנה.</a:t>
            </a:r>
          </a:p>
        </p:txBody>
      </p:sp>
    </p:spTree>
    <p:extLst>
      <p:ext uri="{BB962C8B-B14F-4D97-AF65-F5344CB8AC3E}">
        <p14:creationId xmlns:p14="http://schemas.microsoft.com/office/powerpoint/2010/main" val="20135677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479664" y="642594"/>
            <a:ext cx="9645535" cy="1371600"/>
          </a:xfrm>
        </p:spPr>
        <p:txBody>
          <a:bodyPr>
            <a:normAutofit/>
          </a:bodyPr>
          <a:lstStyle/>
          <a:p>
            <a:r>
              <a:rPr lang="en-US" dirty="0"/>
              <a:t> Triple DES (3DES) </a:t>
            </a:r>
            <a:r>
              <a:rPr lang="he-IL" dirty="0"/>
              <a:t>גרסה בטוחה יותר</a:t>
            </a:r>
          </a:p>
        </p:txBody>
      </p:sp>
      <p:sp>
        <p:nvSpPr>
          <p:cNvPr id="3" name="מציין מיקום תוכן 2"/>
          <p:cNvSpPr>
            <a:spLocks noGrp="1"/>
          </p:cNvSpPr>
          <p:nvPr>
            <p:ph idx="1"/>
          </p:nvPr>
        </p:nvSpPr>
        <p:spPr/>
        <p:txBody>
          <a:bodyPr/>
          <a:lstStyle/>
          <a:p>
            <a:r>
              <a:rPr lang="he-IL" dirty="0"/>
              <a:t>כדי להתגבר על הבעיות של </a:t>
            </a:r>
            <a:r>
              <a:rPr lang="en-US" dirty="0"/>
              <a:t> DES</a:t>
            </a:r>
            <a:r>
              <a:rPr lang="he-IL" dirty="0"/>
              <a:t>פותח 3</a:t>
            </a:r>
            <a:r>
              <a:rPr lang="en-US" dirty="0"/>
              <a:t> DES </a:t>
            </a:r>
            <a:r>
              <a:rPr lang="he-IL" dirty="0"/>
              <a:t>שמשתמש </a:t>
            </a:r>
            <a:r>
              <a:rPr lang="he-IL" b="1" dirty="0"/>
              <a:t>בשלוש ריצות של </a:t>
            </a:r>
            <a:r>
              <a:rPr lang="en-US" b="1" dirty="0"/>
              <a:t> DES </a:t>
            </a:r>
            <a:r>
              <a:rPr lang="he-IL" b="1" dirty="0"/>
              <a:t>ברצף</a:t>
            </a:r>
            <a:r>
              <a:rPr lang="he-IL" dirty="0"/>
              <a:t>:</a:t>
            </a:r>
          </a:p>
          <a:p>
            <a:r>
              <a:rPr lang="he-IL" b="1" dirty="0"/>
              <a:t>1. הצפנה עם מפתח ראשון</a:t>
            </a:r>
            <a:endParaRPr lang="he-IL" dirty="0"/>
          </a:p>
          <a:p>
            <a:r>
              <a:rPr lang="he-IL" b="1" dirty="0"/>
              <a:t>2. פענוח עם מפתח שני</a:t>
            </a:r>
            <a:endParaRPr lang="he-IL" dirty="0"/>
          </a:p>
          <a:p>
            <a:r>
              <a:rPr lang="he-IL" b="1" dirty="0"/>
              <a:t>3. הצפנה עם מפתח שלישי</a:t>
            </a:r>
            <a:endParaRPr lang="he-IL" dirty="0"/>
          </a:p>
          <a:p>
            <a:r>
              <a:rPr lang="he-IL" b="1" dirty="0"/>
              <a:t>אורך המפתח הכולל ב-</a:t>
            </a:r>
            <a:r>
              <a:rPr lang="en-US" b="1" dirty="0"/>
              <a:t> 3DES :</a:t>
            </a:r>
            <a:r>
              <a:rPr lang="en-US" dirty="0"/>
              <a:t>112 </a:t>
            </a:r>
            <a:r>
              <a:rPr lang="he-IL" dirty="0"/>
              <a:t>ביטים (אם שני מפתחות שונים)</a:t>
            </a:r>
          </a:p>
          <a:p>
            <a:r>
              <a:rPr lang="he-IL" dirty="0"/>
              <a:t> 168 ביטים (אם שלושה מפתחות שונים)</a:t>
            </a:r>
          </a:p>
          <a:p>
            <a:r>
              <a:rPr lang="en-US" dirty="0"/>
              <a:t>3DES </a:t>
            </a:r>
            <a:r>
              <a:rPr lang="he-IL" dirty="0"/>
              <a:t> בטוח יותר מ-</a:t>
            </a:r>
            <a:r>
              <a:rPr lang="en-US" dirty="0"/>
              <a:t> DES </a:t>
            </a:r>
            <a:r>
              <a:rPr lang="he-IL" dirty="0"/>
              <a:t>אך </a:t>
            </a:r>
            <a:r>
              <a:rPr lang="he-IL" b="1" dirty="0"/>
              <a:t>עדיין איטי יותר מ-</a:t>
            </a:r>
            <a:r>
              <a:rPr lang="en-US" b="1" dirty="0"/>
              <a:t>AES</a:t>
            </a:r>
            <a:r>
              <a:rPr lang="en-US" dirty="0"/>
              <a:t> </a:t>
            </a:r>
            <a:r>
              <a:rPr lang="he-IL" dirty="0"/>
              <a:t> ולכן כיום </a:t>
            </a:r>
            <a:r>
              <a:rPr lang="he-IL" b="1" dirty="0"/>
              <a:t>כמעט לא משתמשים בו</a:t>
            </a:r>
            <a:r>
              <a:rPr lang="he-IL" dirty="0"/>
              <a:t>.</a:t>
            </a:r>
          </a:p>
          <a:p>
            <a:endParaRPr lang="he-IL" dirty="0"/>
          </a:p>
        </p:txBody>
      </p:sp>
    </p:spTree>
    <p:extLst>
      <p:ext uri="{BB962C8B-B14F-4D97-AF65-F5344CB8AC3E}">
        <p14:creationId xmlns:p14="http://schemas.microsoft.com/office/powerpoint/2010/main" val="15128288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52312" y="642594"/>
            <a:ext cx="1972887" cy="1371600"/>
          </a:xfrm>
        </p:spPr>
        <p:txBody>
          <a:bodyPr/>
          <a:lstStyle/>
          <a:p>
            <a:r>
              <a:rPr lang="he-IL" dirty="0"/>
              <a:t>שאלות</a:t>
            </a:r>
          </a:p>
        </p:txBody>
      </p:sp>
      <p:sp>
        <p:nvSpPr>
          <p:cNvPr id="3" name="מציין מיקום תוכן 2"/>
          <p:cNvSpPr>
            <a:spLocks noGrp="1"/>
          </p:cNvSpPr>
          <p:nvPr>
            <p:ph idx="1"/>
          </p:nvPr>
        </p:nvSpPr>
        <p:spPr/>
        <p:txBody>
          <a:bodyPr/>
          <a:lstStyle/>
          <a:p>
            <a:pPr marL="0" indent="0">
              <a:buNone/>
            </a:pPr>
            <a:r>
              <a:rPr lang="he-IL" dirty="0"/>
              <a:t> 1. מהי שיטת ההצפנה של </a:t>
            </a:r>
            <a:r>
              <a:rPr lang="en-US" dirty="0"/>
              <a:t> DES </a:t>
            </a:r>
            <a:r>
              <a:rPr lang="he-IL" dirty="0"/>
              <a:t>סימטרית או א-סימטרית?</a:t>
            </a:r>
          </a:p>
          <a:p>
            <a:pPr marL="0" indent="0">
              <a:buNone/>
            </a:pPr>
            <a:r>
              <a:rPr lang="he-IL" dirty="0"/>
              <a:t>2. מהו אורך המפתח ב-</a:t>
            </a:r>
            <a:r>
              <a:rPr lang="en-US" dirty="0"/>
              <a:t>DES</a:t>
            </a:r>
            <a:r>
              <a:rPr lang="he-IL" dirty="0"/>
              <a:t>?</a:t>
            </a:r>
            <a:r>
              <a:rPr lang="en-US" dirty="0"/>
              <a:t/>
            </a:r>
            <a:br>
              <a:rPr lang="en-US" dirty="0"/>
            </a:br>
            <a:r>
              <a:rPr lang="he-IL" dirty="0"/>
              <a:t>3. כמה סבבים יש בהצפנת </a:t>
            </a:r>
            <a:r>
              <a:rPr lang="en-US" dirty="0"/>
              <a:t>DES</a:t>
            </a:r>
            <a:r>
              <a:rPr lang="he-IL" dirty="0"/>
              <a:t>?</a:t>
            </a:r>
            <a:r>
              <a:rPr lang="en-US" dirty="0"/>
              <a:t/>
            </a:r>
            <a:br>
              <a:rPr lang="en-US" dirty="0"/>
            </a:br>
            <a:r>
              <a:rPr lang="he-IL" dirty="0"/>
              <a:t>4. מהו מבנה </a:t>
            </a:r>
            <a:r>
              <a:rPr lang="he-IL" dirty="0" err="1"/>
              <a:t>פייסטל</a:t>
            </a:r>
            <a:r>
              <a:rPr lang="he-IL" dirty="0"/>
              <a:t> </a:t>
            </a:r>
            <a:r>
              <a:rPr lang="en-US" dirty="0"/>
              <a:t> </a:t>
            </a:r>
            <a:r>
              <a:rPr lang="en-US" dirty="0" err="1"/>
              <a:t>Feistel</a:t>
            </a:r>
            <a:r>
              <a:rPr lang="he-IL" dirty="0"/>
              <a:t>ולמה הוא חשוב?</a:t>
            </a:r>
            <a:br>
              <a:rPr lang="he-IL" dirty="0"/>
            </a:br>
            <a:r>
              <a:rPr lang="he-IL" dirty="0"/>
              <a:t>5. מה תפקיד ה-</a:t>
            </a:r>
            <a:r>
              <a:rPr lang="en-US" dirty="0"/>
              <a:t>S-Boxes</a:t>
            </a:r>
            <a:r>
              <a:rPr lang="he-IL" dirty="0"/>
              <a:t>?</a:t>
            </a:r>
            <a:endParaRPr lang="en-US" dirty="0"/>
          </a:p>
          <a:p>
            <a:pPr marL="0" indent="0">
              <a:buNone/>
            </a:pPr>
            <a:r>
              <a:rPr lang="he-IL" dirty="0"/>
              <a:t>6. למה</a:t>
            </a:r>
            <a:r>
              <a:rPr lang="en-US" dirty="0"/>
              <a:t> DES </a:t>
            </a:r>
            <a:r>
              <a:rPr lang="he-IL" dirty="0"/>
              <a:t>כבר לא בטוח כיום?</a:t>
            </a:r>
            <a:br>
              <a:rPr lang="he-IL" dirty="0"/>
            </a:br>
            <a:r>
              <a:rPr lang="he-IL" dirty="0"/>
              <a:t>7. כיצד עובד</a:t>
            </a:r>
            <a:r>
              <a:rPr lang="en-US" dirty="0"/>
              <a:t> 3DES </a:t>
            </a:r>
            <a:r>
              <a:rPr lang="he-IL" dirty="0"/>
              <a:t>ואיך הוא משפר את הבטיחות של </a:t>
            </a:r>
            <a:r>
              <a:rPr lang="en-US" dirty="0"/>
              <a:t>DES</a:t>
            </a:r>
            <a:r>
              <a:rPr lang="he-IL" dirty="0"/>
              <a:t>?</a:t>
            </a:r>
          </a:p>
        </p:txBody>
      </p:sp>
    </p:spTree>
    <p:extLst>
      <p:ext uri="{BB962C8B-B14F-4D97-AF65-F5344CB8AC3E}">
        <p14:creationId xmlns:p14="http://schemas.microsoft.com/office/powerpoint/2010/main" val="39545597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94370" y="642594"/>
            <a:ext cx="2130829" cy="1371600"/>
          </a:xfrm>
        </p:spPr>
        <p:txBody>
          <a:bodyPr/>
          <a:lstStyle/>
          <a:p>
            <a:r>
              <a:rPr lang="he-IL" dirty="0"/>
              <a:t>תשובות</a:t>
            </a:r>
          </a:p>
        </p:txBody>
      </p:sp>
      <p:sp>
        <p:nvSpPr>
          <p:cNvPr id="3" name="מציין מיקום תוכן 2"/>
          <p:cNvSpPr>
            <a:spLocks noGrp="1"/>
          </p:cNvSpPr>
          <p:nvPr>
            <p:ph idx="1"/>
          </p:nvPr>
        </p:nvSpPr>
        <p:spPr/>
        <p:txBody>
          <a:bodyPr/>
          <a:lstStyle/>
          <a:p>
            <a:r>
              <a:rPr lang="he-IL" dirty="0"/>
              <a:t>1. סימטרית – כי אותו מפתח משמש להצפנה ולפענוח.</a:t>
            </a:r>
          </a:p>
          <a:p>
            <a:r>
              <a:rPr lang="he-IL" dirty="0"/>
              <a:t>2. 56 ביטים (מתוך 64, אך 8 ביטים משמשים לבדיקה).</a:t>
            </a:r>
          </a:p>
          <a:p>
            <a:r>
              <a:rPr lang="he-IL" dirty="0"/>
              <a:t>3. 16 סבבים.</a:t>
            </a:r>
          </a:p>
          <a:p>
            <a:r>
              <a:rPr lang="he-IL" dirty="0"/>
              <a:t>4. מבנה שמאפשר להשתמש </a:t>
            </a:r>
            <a:r>
              <a:rPr lang="he-IL" b="1" dirty="0"/>
              <a:t>באותו אלגוריתם</a:t>
            </a:r>
            <a:r>
              <a:rPr lang="he-IL" dirty="0"/>
              <a:t> להצפנה ולפענוח, על ידי ביצוע </a:t>
            </a:r>
            <a:r>
              <a:rPr lang="en-US" dirty="0"/>
              <a:t>XOR </a:t>
            </a:r>
            <a:r>
              <a:rPr lang="he-IL" dirty="0"/>
              <a:t>והחלפות בין חלקי הבלוק.</a:t>
            </a:r>
          </a:p>
          <a:p>
            <a:r>
              <a:rPr lang="he-IL" dirty="0"/>
              <a:t>5. תיבות שמבצעות </a:t>
            </a:r>
            <a:r>
              <a:rPr lang="he-IL" b="1" dirty="0"/>
              <a:t>תחליפים לא לינאריים</a:t>
            </a:r>
            <a:r>
              <a:rPr lang="he-IL" dirty="0"/>
              <a:t>, כדי למנוע התקפות סטטיסטיות.</a:t>
            </a:r>
          </a:p>
          <a:p>
            <a:r>
              <a:rPr lang="he-IL" dirty="0"/>
              <a:t>6. בגלל אורך המפתח הקצר (56 ביטים), ניתן לשבור אותו בכוח גס תוך שעות.</a:t>
            </a:r>
          </a:p>
          <a:p>
            <a:r>
              <a:rPr lang="he-IL" dirty="0"/>
              <a:t>7.</a:t>
            </a:r>
            <a:r>
              <a:rPr lang="en-US" dirty="0"/>
              <a:t> 3DES </a:t>
            </a:r>
            <a:r>
              <a:rPr lang="he-IL" dirty="0"/>
              <a:t>מצפין עם שלושה מפתחות נפרדים, מה שמגדיל את האבטחה אך מאט את הביצועים.</a:t>
            </a:r>
          </a:p>
          <a:p>
            <a:endParaRPr lang="he-IL" dirty="0"/>
          </a:p>
        </p:txBody>
      </p:sp>
    </p:spTree>
    <p:extLst>
      <p:ext uri="{BB962C8B-B14F-4D97-AF65-F5344CB8AC3E}">
        <p14:creationId xmlns:p14="http://schemas.microsoft.com/office/powerpoint/2010/main" val="8332510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419004"/>
            <a:ext cx="10058400" cy="3931920"/>
          </a:xfrm>
        </p:spPr>
        <p:txBody>
          <a:bodyPr>
            <a:normAutofit/>
          </a:bodyPr>
          <a:lstStyle/>
          <a:p>
            <a:pPr algn="ctr"/>
            <a:r>
              <a:rPr lang="he-IL" sz="7200" dirty="0"/>
              <a:t>תיבת תמורה</a:t>
            </a:r>
          </a:p>
        </p:txBody>
      </p:sp>
    </p:spTree>
    <p:extLst>
      <p:ext uri="{BB962C8B-B14F-4D97-AF65-F5344CB8AC3E}">
        <p14:creationId xmlns:p14="http://schemas.microsoft.com/office/powerpoint/2010/main" val="14220794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675120" y="642594"/>
            <a:ext cx="4450080" cy="1371600"/>
          </a:xfrm>
        </p:spPr>
        <p:txBody>
          <a:bodyPr/>
          <a:lstStyle/>
          <a:p>
            <a:r>
              <a:rPr lang="he-IL" dirty="0"/>
              <a:t>מהו תיבת תמורה</a:t>
            </a:r>
          </a:p>
        </p:txBody>
      </p:sp>
      <p:sp>
        <p:nvSpPr>
          <p:cNvPr id="3" name="מציין מיקום תוכן 2"/>
          <p:cNvSpPr>
            <a:spLocks noGrp="1"/>
          </p:cNvSpPr>
          <p:nvPr>
            <p:ph idx="1"/>
          </p:nvPr>
        </p:nvSpPr>
        <p:spPr/>
        <p:txBody>
          <a:bodyPr/>
          <a:lstStyle/>
          <a:p>
            <a:r>
              <a:rPr lang="he-IL" dirty="0"/>
              <a:t>בקריפטוגרפיה, </a:t>
            </a:r>
            <a:r>
              <a:rPr lang="he-IL" b="1" dirty="0"/>
              <a:t>תיבת תמורה </a:t>
            </a:r>
            <a:r>
              <a:rPr lang="en-US" b="1" dirty="0"/>
              <a:t>P-Box</a:t>
            </a:r>
            <a:r>
              <a:rPr lang="he-IL" dirty="0"/>
              <a:t> היא מנגנון שבו מסדרים מחדש את הביטים של המידע המוצפן </a:t>
            </a:r>
            <a:r>
              <a:rPr lang="he-IL" b="1" dirty="0"/>
              <a:t>לפי סדר קבוע מראש</a:t>
            </a:r>
            <a:r>
              <a:rPr lang="he-IL" dirty="0"/>
              <a:t>.</a:t>
            </a:r>
            <a:br>
              <a:rPr lang="he-IL" dirty="0"/>
            </a:br>
            <a:r>
              <a:rPr lang="he-IL" dirty="0"/>
              <a:t>המטרה של התיבה היא </a:t>
            </a:r>
            <a:r>
              <a:rPr lang="he-IL" b="1" dirty="0"/>
              <a:t>לערבל את המידע</a:t>
            </a:r>
            <a:r>
              <a:rPr lang="he-IL" dirty="0"/>
              <a:t> כדי להגביר את ה</a:t>
            </a:r>
            <a:r>
              <a:rPr lang="en-US" b="1" dirty="0"/>
              <a:t>Diffusion</a:t>
            </a:r>
            <a:r>
              <a:rPr lang="en-US" dirty="0"/>
              <a:t> – </a:t>
            </a:r>
            <a:r>
              <a:rPr lang="he-IL" dirty="0"/>
              <a:t> כלומר, לפזר את ההשפעה של כל ביט של המידע המקורי על כמה שיותר ביטים של הבלוק הסופי.</a:t>
            </a:r>
          </a:p>
          <a:p>
            <a:r>
              <a:rPr lang="he-IL" dirty="0"/>
              <a:t>תיבות תמורה נמצאות </a:t>
            </a:r>
            <a:r>
              <a:rPr lang="he-IL" b="1" dirty="0"/>
              <a:t>בצופן בלוקים</a:t>
            </a:r>
            <a:r>
              <a:rPr lang="he-IL" dirty="0"/>
              <a:t>, למשל באלגוריתמים כמו </a:t>
            </a:r>
            <a:r>
              <a:rPr lang="en-US" dirty="0"/>
              <a:t> </a:t>
            </a:r>
            <a:r>
              <a:rPr lang="en-US" b="1" dirty="0"/>
              <a:t>DES</a:t>
            </a:r>
            <a:r>
              <a:rPr lang="en-US" dirty="0"/>
              <a:t> </a:t>
            </a:r>
            <a:r>
              <a:rPr lang="he-IL" dirty="0"/>
              <a:t>ו-</a:t>
            </a:r>
            <a:r>
              <a:rPr lang="en-US" b="1" dirty="0"/>
              <a:t>AES</a:t>
            </a:r>
            <a:r>
              <a:rPr lang="he-IL" b="1" dirty="0"/>
              <a:t>.</a:t>
            </a:r>
            <a:endParaRPr lang="en-US" dirty="0"/>
          </a:p>
          <a:p>
            <a:endParaRPr lang="he-IL" dirty="0"/>
          </a:p>
        </p:txBody>
      </p:sp>
    </p:spTree>
    <p:extLst>
      <p:ext uri="{BB962C8B-B14F-4D97-AF65-F5344CB8AC3E}">
        <p14:creationId xmlns:p14="http://schemas.microsoft.com/office/powerpoint/2010/main" val="13795029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095702" y="642594"/>
            <a:ext cx="6029498" cy="1371600"/>
          </a:xfrm>
        </p:spPr>
        <p:txBody>
          <a:bodyPr/>
          <a:lstStyle/>
          <a:p>
            <a:r>
              <a:rPr lang="he-IL" dirty="0"/>
              <a:t>סוגים של תיבות תמורה</a:t>
            </a:r>
          </a:p>
        </p:txBody>
      </p:sp>
      <p:sp>
        <p:nvSpPr>
          <p:cNvPr id="3" name="מציין מיקום תוכן 2"/>
          <p:cNvSpPr>
            <a:spLocks noGrp="1"/>
          </p:cNvSpPr>
          <p:nvPr>
            <p:ph idx="1"/>
          </p:nvPr>
        </p:nvSpPr>
        <p:spPr/>
        <p:txBody>
          <a:bodyPr/>
          <a:lstStyle/>
          <a:p>
            <a:r>
              <a:rPr lang="he-IL" dirty="0"/>
              <a:t>1. </a:t>
            </a:r>
            <a:r>
              <a:rPr lang="he-IL" b="1" dirty="0"/>
              <a:t>תיבת תמורה רגילה </a:t>
            </a:r>
            <a:r>
              <a:rPr lang="en-US" b="1" dirty="0"/>
              <a:t>Straight P-Box</a:t>
            </a:r>
            <a:r>
              <a:rPr lang="en-US" dirty="0"/>
              <a:t/>
            </a:r>
            <a:br>
              <a:rPr lang="en-US" dirty="0"/>
            </a:br>
            <a:r>
              <a:rPr lang="he-IL" dirty="0"/>
              <a:t>מחליפה את מיקומי הביטים ללא שינוי בכמותם.</a:t>
            </a:r>
            <a:br>
              <a:rPr lang="he-IL" dirty="0"/>
            </a:br>
            <a:r>
              <a:rPr lang="he-IL" b="1" dirty="0"/>
              <a:t>דוגמה:</a:t>
            </a:r>
            <a:r>
              <a:rPr lang="he-IL" dirty="0"/>
              <a:t> אם הקלט הוא 10110011 והתמורה היא [3, 1, 4, 2, 7, 5, 8, 6], אז הפלט יהיה 11001011.</a:t>
            </a:r>
          </a:p>
          <a:p>
            <a:r>
              <a:rPr lang="he-IL" dirty="0"/>
              <a:t>2. </a:t>
            </a:r>
            <a:r>
              <a:rPr lang="he-IL" b="1" dirty="0"/>
              <a:t>תיבת תמורה מצמצמת </a:t>
            </a:r>
            <a:r>
              <a:rPr lang="en-US" b="1" dirty="0"/>
              <a:t>Compression P-Box</a:t>
            </a:r>
            <a:r>
              <a:rPr lang="en-US" dirty="0"/>
              <a:t/>
            </a:r>
            <a:br>
              <a:rPr lang="en-US" dirty="0"/>
            </a:br>
            <a:r>
              <a:rPr lang="he-IL" dirty="0"/>
              <a:t>לוקחת מספר ביטים מהקלט ומפחיתה את כמותם בפלט.</a:t>
            </a:r>
            <a:br>
              <a:rPr lang="he-IL" dirty="0"/>
            </a:br>
            <a:r>
              <a:rPr lang="he-IL" b="1" dirty="0"/>
              <a:t>שימוש:</a:t>
            </a:r>
            <a:r>
              <a:rPr lang="he-IL" dirty="0"/>
              <a:t> צמצום גודל בלוקים מסוימים בהצפנה כדי לחזק ביטחון.</a:t>
            </a:r>
          </a:p>
          <a:p>
            <a:r>
              <a:rPr lang="he-IL" dirty="0"/>
              <a:t>3. </a:t>
            </a:r>
            <a:r>
              <a:rPr lang="he-IL" b="1" dirty="0"/>
              <a:t>תיבת תמורה מרחיבה </a:t>
            </a:r>
            <a:r>
              <a:rPr lang="en-US" b="1" dirty="0"/>
              <a:t>Expansion P-Box</a:t>
            </a:r>
            <a:r>
              <a:rPr lang="en-US" dirty="0"/>
              <a:t/>
            </a:r>
            <a:br>
              <a:rPr lang="en-US" dirty="0"/>
            </a:br>
            <a:r>
              <a:rPr lang="he-IL" dirty="0"/>
              <a:t>מגדילה את מספר הביטים ביצירת עותקים שלהם, כך שהפלט גדול מהקלט.</a:t>
            </a:r>
            <a:br>
              <a:rPr lang="he-IL" dirty="0"/>
            </a:br>
            <a:r>
              <a:rPr lang="he-IL" b="1" dirty="0"/>
              <a:t>שימוש:</a:t>
            </a:r>
            <a:r>
              <a:rPr lang="he-IL" dirty="0"/>
              <a:t> הרחבת גודל בלוקי ביניים בהצפנה כדי להגביר ביטחון.</a:t>
            </a:r>
            <a:br>
              <a:rPr lang="he-IL" dirty="0"/>
            </a:br>
            <a:r>
              <a:rPr lang="he-IL" b="1" dirty="0"/>
              <a:t>לדוגמה:</a:t>
            </a:r>
            <a:r>
              <a:rPr lang="he-IL" dirty="0"/>
              <a:t> ב-</a:t>
            </a:r>
            <a:r>
              <a:rPr lang="en-US" dirty="0"/>
              <a:t>DES </a:t>
            </a:r>
            <a:r>
              <a:rPr lang="he-IL" dirty="0"/>
              <a:t> </a:t>
            </a:r>
            <a:r>
              <a:rPr lang="he-IL" b="1" dirty="0"/>
              <a:t>הבלוק של 32 ביטים מורחב ל-48 ביטים</a:t>
            </a:r>
            <a:r>
              <a:rPr lang="he-IL" dirty="0"/>
              <a:t> לפני השימוש ב-</a:t>
            </a:r>
            <a:r>
              <a:rPr lang="en-US" dirty="0"/>
              <a:t>S-Box</a:t>
            </a:r>
            <a:r>
              <a:rPr lang="he-IL" dirty="0"/>
              <a:t>.</a:t>
            </a:r>
          </a:p>
          <a:p>
            <a:endParaRPr lang="he-IL" dirty="0"/>
          </a:p>
        </p:txBody>
      </p:sp>
    </p:spTree>
    <p:extLst>
      <p:ext uri="{BB962C8B-B14F-4D97-AF65-F5344CB8AC3E}">
        <p14:creationId xmlns:p14="http://schemas.microsoft.com/office/powerpoint/2010/main" val="32479202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746567" y="118892"/>
            <a:ext cx="6378633" cy="1371600"/>
          </a:xfrm>
        </p:spPr>
        <p:txBody>
          <a:bodyPr/>
          <a:lstStyle/>
          <a:p>
            <a:r>
              <a:rPr lang="he-IL" dirty="0"/>
              <a:t>איך תיבת תמורה פועלת?</a:t>
            </a:r>
          </a:p>
        </p:txBody>
      </p:sp>
      <p:sp>
        <p:nvSpPr>
          <p:cNvPr id="3" name="מציין מיקום תוכן 2"/>
          <p:cNvSpPr>
            <a:spLocks noGrp="1"/>
          </p:cNvSpPr>
          <p:nvPr>
            <p:ph idx="1"/>
          </p:nvPr>
        </p:nvSpPr>
        <p:spPr>
          <a:xfrm>
            <a:off x="1066800" y="1421476"/>
            <a:ext cx="10058400" cy="4613564"/>
          </a:xfrm>
        </p:spPr>
        <p:txBody>
          <a:bodyPr>
            <a:normAutofit fontScale="92500" lnSpcReduction="20000"/>
          </a:bodyPr>
          <a:lstStyle/>
          <a:p>
            <a:r>
              <a:rPr lang="he-IL" dirty="0"/>
              <a:t>תיבת תמורה לוקחת </a:t>
            </a:r>
            <a:r>
              <a:rPr lang="he-IL" b="1" dirty="0"/>
              <a:t>קלט של מספר ביטים</a:t>
            </a:r>
            <a:r>
              <a:rPr lang="he-IL" dirty="0"/>
              <a:t>, </a:t>
            </a:r>
            <a:r>
              <a:rPr lang="he-IL" b="1" dirty="0"/>
              <a:t>מערבבת</a:t>
            </a:r>
            <a:r>
              <a:rPr lang="he-IL" dirty="0"/>
              <a:t> אותם לפי כלל ידוע, ומוציאה פלט </a:t>
            </a:r>
            <a:r>
              <a:rPr lang="he-IL" b="1" dirty="0"/>
              <a:t>מסודר מחדש</a:t>
            </a:r>
            <a:r>
              <a:rPr lang="he-IL" dirty="0"/>
              <a:t>.</a:t>
            </a:r>
          </a:p>
          <a:p>
            <a:r>
              <a:rPr lang="he-IL" b="1" dirty="0"/>
              <a:t>דוגמה פשוטה:</a:t>
            </a:r>
          </a:p>
          <a:p>
            <a:r>
              <a:rPr lang="he-IL" dirty="0"/>
              <a:t>נניח שיש לנו בלוק של </a:t>
            </a:r>
            <a:r>
              <a:rPr lang="he-IL" b="1" dirty="0"/>
              <a:t>8 ביטים</a:t>
            </a:r>
            <a:r>
              <a:rPr lang="he-IL" dirty="0"/>
              <a:t> בקלט:</a:t>
            </a:r>
          </a:p>
          <a:p>
            <a:pPr algn="l"/>
            <a:r>
              <a:rPr lang="he-IL" dirty="0"/>
              <a:t>1 0 1 1 0 1 0 0  (קלט)</a:t>
            </a:r>
          </a:p>
          <a:p>
            <a:r>
              <a:rPr lang="he-IL" dirty="0"/>
              <a:t>כעת נשתמש </a:t>
            </a:r>
            <a:r>
              <a:rPr lang="he-IL" b="1" dirty="0"/>
              <a:t>בתיבת תמורה</a:t>
            </a:r>
            <a:r>
              <a:rPr lang="he-IL" dirty="0"/>
              <a:t> עם הסדר הבא:</a:t>
            </a:r>
          </a:p>
          <a:p>
            <a:pPr algn="l"/>
            <a:r>
              <a:rPr lang="he-IL" dirty="0"/>
              <a:t>[3, 8, 2, 5, 1, 6, 4, 7]</a:t>
            </a:r>
          </a:p>
          <a:p>
            <a:r>
              <a:rPr lang="he-IL" dirty="0"/>
              <a:t>כלומר, המיקום </a:t>
            </a:r>
            <a:r>
              <a:rPr lang="he-IL" b="1" dirty="0"/>
              <a:t>החדש</a:t>
            </a:r>
            <a:r>
              <a:rPr lang="he-IL" dirty="0"/>
              <a:t> של הביטים יהיה לפי סדר זה:</a:t>
            </a:r>
          </a:p>
          <a:p>
            <a:r>
              <a:rPr lang="he-IL" dirty="0"/>
              <a:t>הביט השלישי יעבור למקום הראשון,</a:t>
            </a:r>
          </a:p>
          <a:p>
            <a:r>
              <a:rPr lang="he-IL" dirty="0"/>
              <a:t>הביט השמיני יעבור למקום השני,</a:t>
            </a:r>
          </a:p>
          <a:p>
            <a:r>
              <a:rPr lang="he-IL" dirty="0"/>
              <a:t>הביט השני יעבור למקום השלישי,</a:t>
            </a:r>
            <a:br>
              <a:rPr lang="he-IL" dirty="0"/>
            </a:br>
            <a:r>
              <a:rPr lang="he-IL" dirty="0"/>
              <a:t>וכך הלאה...</a:t>
            </a:r>
          </a:p>
          <a:p>
            <a:r>
              <a:rPr lang="he-IL" b="1" dirty="0"/>
              <a:t>פלט לאחר תמורה:</a:t>
            </a:r>
          </a:p>
          <a:p>
            <a:pPr algn="l"/>
            <a:r>
              <a:rPr lang="he-IL" dirty="0"/>
              <a:t>1 0 0 0 1 1 1 0  (פלט)</a:t>
            </a:r>
          </a:p>
          <a:p>
            <a:r>
              <a:rPr lang="he-IL" dirty="0"/>
              <a:t>עכשיו הביטים </a:t>
            </a:r>
            <a:r>
              <a:rPr lang="he-IL" b="1" dirty="0"/>
              <a:t>ערבבו מקומות</a:t>
            </a:r>
            <a:r>
              <a:rPr lang="he-IL" dirty="0"/>
              <a:t>, מה שמקשה על תוקף להבין את המידע המקורי.</a:t>
            </a:r>
          </a:p>
        </p:txBody>
      </p:sp>
    </p:spTree>
    <p:extLst>
      <p:ext uri="{BB962C8B-B14F-4D97-AF65-F5344CB8AC3E}">
        <p14:creationId xmlns:p14="http://schemas.microsoft.com/office/powerpoint/2010/main" val="38155846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744094" y="642594"/>
            <a:ext cx="5381105" cy="1371600"/>
          </a:xfrm>
        </p:spPr>
        <p:txBody>
          <a:bodyPr/>
          <a:lstStyle/>
          <a:p>
            <a:r>
              <a:rPr lang="he-IL" dirty="0"/>
              <a:t>תיבת תמורה ב-</a:t>
            </a:r>
            <a:r>
              <a:rPr lang="en-US" dirty="0"/>
              <a:t>DES </a:t>
            </a:r>
            <a:r>
              <a:rPr lang="he-IL" dirty="0"/>
              <a:t> </a:t>
            </a:r>
          </a:p>
        </p:txBody>
      </p:sp>
      <p:sp>
        <p:nvSpPr>
          <p:cNvPr id="3" name="מציין מיקום תוכן 2"/>
          <p:cNvSpPr>
            <a:spLocks noGrp="1"/>
          </p:cNvSpPr>
          <p:nvPr>
            <p:ph idx="1"/>
          </p:nvPr>
        </p:nvSpPr>
        <p:spPr/>
        <p:txBody>
          <a:bodyPr/>
          <a:lstStyle/>
          <a:p>
            <a:r>
              <a:rPr lang="he-IL" dirty="0"/>
              <a:t>באלגוריתם </a:t>
            </a:r>
            <a:r>
              <a:rPr lang="en-US" dirty="0"/>
              <a:t> </a:t>
            </a:r>
            <a:r>
              <a:rPr lang="en-US" b="1" dirty="0"/>
              <a:t>DES</a:t>
            </a:r>
            <a:r>
              <a:rPr lang="he-IL" dirty="0"/>
              <a:t>ישנן שתי תיבות תמורה עיקריות:</a:t>
            </a:r>
          </a:p>
          <a:p>
            <a:r>
              <a:rPr lang="he-IL" b="1" dirty="0"/>
              <a:t>1. תמורה ראשונית </a:t>
            </a:r>
            <a:r>
              <a:rPr lang="en-US" b="1" dirty="0"/>
              <a:t>Initial Permutation – IP</a:t>
            </a:r>
            <a:r>
              <a:rPr lang="he-IL" b="1" dirty="0"/>
              <a:t>:</a:t>
            </a:r>
            <a:endParaRPr lang="en-US" dirty="0"/>
          </a:p>
          <a:p>
            <a:pPr lvl="1"/>
            <a:r>
              <a:rPr lang="he-IL" dirty="0"/>
              <a:t>מתבצעת על ה-</a:t>
            </a:r>
            <a:r>
              <a:rPr lang="en-US" dirty="0"/>
              <a:t> plaintext </a:t>
            </a:r>
            <a:r>
              <a:rPr lang="he-IL" dirty="0"/>
              <a:t>לפני תחילת סבבי ההצפנה.</a:t>
            </a:r>
          </a:p>
          <a:p>
            <a:pPr lvl="1"/>
            <a:r>
              <a:rPr lang="he-IL" dirty="0"/>
              <a:t>חשובה כדי לערבב את הביטים ולמנוע זליגת מידע.</a:t>
            </a:r>
          </a:p>
          <a:p>
            <a:r>
              <a:rPr lang="he-IL" b="1" dirty="0"/>
              <a:t>2. תמורה סופית </a:t>
            </a:r>
            <a:r>
              <a:rPr lang="en-US" b="1" dirty="0"/>
              <a:t>Final Permutation – FP</a:t>
            </a:r>
            <a:r>
              <a:rPr lang="he-IL" b="1" dirty="0"/>
              <a:t>:</a:t>
            </a:r>
            <a:endParaRPr lang="en-US" dirty="0"/>
          </a:p>
          <a:p>
            <a:pPr lvl="1"/>
            <a:r>
              <a:rPr lang="he-IL" dirty="0"/>
              <a:t>משמשת לשחזור הסדר לאחר 16 הסבבים.</a:t>
            </a:r>
          </a:p>
          <a:p>
            <a:pPr lvl="1"/>
            <a:r>
              <a:rPr lang="he-IL" dirty="0"/>
              <a:t>משחזרת סדר קבוע לפני הוצאת ה-</a:t>
            </a:r>
            <a:r>
              <a:rPr lang="en-US" dirty="0" err="1"/>
              <a:t>ciphertext</a:t>
            </a:r>
            <a:r>
              <a:rPr lang="he-IL" dirty="0"/>
              <a:t>.</a:t>
            </a:r>
          </a:p>
          <a:p>
            <a:r>
              <a:rPr lang="he-IL" b="1" dirty="0"/>
              <a:t>בנוסף</a:t>
            </a:r>
            <a:r>
              <a:rPr lang="he-IL" dirty="0"/>
              <a:t>, בתוך כל סבב ב-</a:t>
            </a:r>
            <a:r>
              <a:rPr lang="en-US" dirty="0"/>
              <a:t> DES </a:t>
            </a:r>
            <a:r>
              <a:rPr lang="he-IL" dirty="0"/>
              <a:t>יש </a:t>
            </a:r>
            <a:r>
              <a:rPr lang="he-IL" b="1" dirty="0"/>
              <a:t>תיבת תמורה נוספת</a:t>
            </a:r>
            <a:r>
              <a:rPr lang="he-IL" dirty="0"/>
              <a:t> שמסדרת מחדש את הביטים לאחר שלב</a:t>
            </a:r>
            <a:r>
              <a:rPr lang="en-US" b="1" dirty="0"/>
              <a:t>S-Boxes</a:t>
            </a:r>
            <a:r>
              <a:rPr lang="en-US" dirty="0"/>
              <a:t> </a:t>
            </a:r>
            <a:r>
              <a:rPr lang="he-IL" dirty="0"/>
              <a:t>כדי לפזר את האפקט של הביטים המעובדים.</a:t>
            </a:r>
          </a:p>
          <a:p>
            <a:endParaRPr lang="he-IL" dirty="0"/>
          </a:p>
        </p:txBody>
      </p:sp>
    </p:spTree>
    <p:extLst>
      <p:ext uri="{BB962C8B-B14F-4D97-AF65-F5344CB8AC3E}">
        <p14:creationId xmlns:p14="http://schemas.microsoft.com/office/powerpoint/2010/main" val="132909436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846320" y="642594"/>
            <a:ext cx="6278880" cy="1371600"/>
          </a:xfrm>
        </p:spPr>
        <p:txBody>
          <a:bodyPr/>
          <a:lstStyle/>
          <a:p>
            <a:r>
              <a:rPr lang="he-IL" dirty="0"/>
              <a:t>תיבות תמורה בצופן </a:t>
            </a:r>
            <a:r>
              <a:rPr lang="en-US" dirty="0"/>
              <a:t>AES</a:t>
            </a:r>
            <a:endParaRPr lang="he-IL" dirty="0"/>
          </a:p>
        </p:txBody>
      </p:sp>
      <p:sp>
        <p:nvSpPr>
          <p:cNvPr id="3" name="מציין מיקום תוכן 2"/>
          <p:cNvSpPr>
            <a:spLocks noGrp="1"/>
          </p:cNvSpPr>
          <p:nvPr>
            <p:ph idx="1"/>
          </p:nvPr>
        </p:nvSpPr>
        <p:spPr/>
        <p:txBody>
          <a:bodyPr/>
          <a:lstStyle/>
          <a:p>
            <a:r>
              <a:rPr lang="he-IL" dirty="0"/>
              <a:t>בניגוד ל-</a:t>
            </a:r>
            <a:r>
              <a:rPr lang="en-US" dirty="0"/>
              <a:t>DES </a:t>
            </a:r>
            <a:r>
              <a:rPr lang="he-IL" dirty="0"/>
              <a:t> ב-</a:t>
            </a:r>
            <a:r>
              <a:rPr lang="en-US" dirty="0"/>
              <a:t>AES </a:t>
            </a:r>
            <a:r>
              <a:rPr lang="he-IL" dirty="0"/>
              <a:t> אין תיבות תמורה קלאסיות</a:t>
            </a:r>
            <a:r>
              <a:rPr lang="en-US" dirty="0"/>
              <a:t>P-Box </a:t>
            </a:r>
            <a:r>
              <a:rPr lang="he-IL" dirty="0"/>
              <a:t> אלא שלב בשם </a:t>
            </a:r>
            <a:r>
              <a:rPr lang="en-US" dirty="0" err="1"/>
              <a:t>MixColumns</a:t>
            </a:r>
            <a:r>
              <a:rPr lang="he-IL" dirty="0"/>
              <a:t>.</a:t>
            </a:r>
            <a:r>
              <a:rPr lang="en-US" dirty="0"/>
              <a:t/>
            </a:r>
            <a:br>
              <a:rPr lang="en-US" dirty="0"/>
            </a:br>
            <a:r>
              <a:rPr lang="en-US" dirty="0" err="1"/>
              <a:t>MixColumns</a:t>
            </a:r>
            <a:r>
              <a:rPr lang="en-US" dirty="0"/>
              <a:t> </a:t>
            </a:r>
            <a:r>
              <a:rPr lang="he-IL" dirty="0"/>
              <a:t> מבצע טרנספורמציה מתמטית שמערבבת עמודות של מטריצה במקום להחליף ביטים ספציפיים.</a:t>
            </a:r>
          </a:p>
          <a:p>
            <a:r>
              <a:rPr lang="he-IL" dirty="0"/>
              <a:t>מטרת </a:t>
            </a:r>
            <a:r>
              <a:rPr lang="en-US" dirty="0"/>
              <a:t> </a:t>
            </a:r>
            <a:r>
              <a:rPr lang="en-US" dirty="0" err="1"/>
              <a:t>MixColumns</a:t>
            </a:r>
            <a:r>
              <a:rPr lang="he-IL" dirty="0"/>
              <a:t>דומה למטרת </a:t>
            </a:r>
            <a:r>
              <a:rPr lang="en-US" dirty="0"/>
              <a:t>P-Box </a:t>
            </a:r>
            <a:r>
              <a:rPr lang="he-IL" dirty="0"/>
              <a:t> ב</a:t>
            </a:r>
            <a:r>
              <a:rPr lang="en-US" dirty="0"/>
              <a:t>DES – </a:t>
            </a:r>
            <a:r>
              <a:rPr lang="he-IL" dirty="0"/>
              <a:t> להפיץ את ההשפעה של כל ביט על כל הבלוק כולו.</a:t>
            </a:r>
          </a:p>
        </p:txBody>
      </p:sp>
    </p:spTree>
    <p:extLst>
      <p:ext uri="{BB962C8B-B14F-4D97-AF65-F5344CB8AC3E}">
        <p14:creationId xmlns:p14="http://schemas.microsoft.com/office/powerpoint/2010/main" val="12379064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73182" y="642594"/>
            <a:ext cx="11845636" cy="1371600"/>
          </a:xfrm>
        </p:spPr>
        <p:txBody>
          <a:bodyPr>
            <a:normAutofit/>
          </a:bodyPr>
          <a:lstStyle/>
          <a:p>
            <a:r>
              <a:rPr lang="he-IL" sz="3600" dirty="0"/>
              <a:t>השפעה של סוג תיבת התמורה על </a:t>
            </a:r>
            <a:r>
              <a:rPr lang="he-IL" sz="3600" dirty="0" err="1"/>
              <a:t>קריפטואנליזה</a:t>
            </a:r>
            <a:r>
              <a:rPr lang="he-IL" sz="3600" dirty="0"/>
              <a:t> (ניתוח הצפנה)</a:t>
            </a:r>
          </a:p>
        </p:txBody>
      </p:sp>
      <p:sp>
        <p:nvSpPr>
          <p:cNvPr id="3" name="מציין מיקום תוכן 2"/>
          <p:cNvSpPr>
            <a:spLocks noGrp="1"/>
          </p:cNvSpPr>
          <p:nvPr>
            <p:ph idx="1"/>
          </p:nvPr>
        </p:nvSpPr>
        <p:spPr/>
        <p:txBody>
          <a:bodyPr/>
          <a:lstStyle/>
          <a:p>
            <a:r>
              <a:rPr lang="en-US" dirty="0"/>
              <a:t> P-Box</a:t>
            </a:r>
            <a:r>
              <a:rPr lang="he-IL" dirty="0"/>
              <a:t>חשוב במיוחד נגד </a:t>
            </a:r>
            <a:r>
              <a:rPr lang="he-IL" b="1" dirty="0"/>
              <a:t>מתקפות מבוססות ניתוח סטטיסטי</a:t>
            </a:r>
            <a:r>
              <a:rPr lang="he-IL" dirty="0"/>
              <a:t>.</a:t>
            </a:r>
            <a:br>
              <a:rPr lang="he-IL" dirty="0"/>
            </a:br>
            <a:r>
              <a:rPr lang="he-IL" dirty="0"/>
              <a:t>ללא </a:t>
            </a:r>
            <a:r>
              <a:rPr lang="en-US" dirty="0"/>
              <a:t>P-Box</a:t>
            </a:r>
            <a:r>
              <a:rPr lang="he-IL" dirty="0"/>
              <a:t> חזק, </a:t>
            </a:r>
            <a:r>
              <a:rPr lang="he-IL" b="1" dirty="0"/>
              <a:t>מתקפת גלוי נבחר</a:t>
            </a:r>
            <a:r>
              <a:rPr lang="en-US" b="1" dirty="0"/>
              <a:t>Chosen Plaintext Attack - CPA</a:t>
            </a:r>
            <a:r>
              <a:rPr lang="en-US" dirty="0"/>
              <a:t> </a:t>
            </a:r>
            <a:r>
              <a:rPr lang="he-IL" dirty="0"/>
              <a:t> יכולה לחשוף דפוסים קבועים במידע המוצפן ולנחש חלקים מהמפתח.</a:t>
            </a:r>
          </a:p>
          <a:p>
            <a:r>
              <a:rPr lang="he-IL" b="1" dirty="0"/>
              <a:t>לדוגמה:</a:t>
            </a:r>
            <a:r>
              <a:rPr lang="he-IL" dirty="0"/>
              <a:t/>
            </a:r>
            <a:br>
              <a:rPr lang="he-IL" dirty="0"/>
            </a:br>
            <a:r>
              <a:rPr lang="he-IL" dirty="0"/>
              <a:t>אם היינו מצפינים מסרים באורך קבוע עם</a:t>
            </a:r>
            <a:r>
              <a:rPr lang="en-US" dirty="0"/>
              <a:t> P-Box </a:t>
            </a:r>
            <a:r>
              <a:rPr lang="he-IL" dirty="0"/>
              <a:t>חלשה או ללא </a:t>
            </a:r>
            <a:r>
              <a:rPr lang="en-US" dirty="0"/>
              <a:t> P-Box</a:t>
            </a:r>
            <a:r>
              <a:rPr lang="he-IL" dirty="0"/>
              <a:t>תוקף היה יכול לראות שחלקים מסוימים במסרים שונים נותנים תמיד את אותה תוצאה אחרי הצפנה.</a:t>
            </a:r>
          </a:p>
          <a:p>
            <a:endParaRPr lang="he-IL" dirty="0"/>
          </a:p>
        </p:txBody>
      </p:sp>
    </p:spTree>
    <p:extLst>
      <p:ext uri="{BB962C8B-B14F-4D97-AF65-F5344CB8AC3E}">
        <p14:creationId xmlns:p14="http://schemas.microsoft.com/office/powerpoint/2010/main" val="36445319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247804" y="642594"/>
            <a:ext cx="6877396" cy="1371600"/>
          </a:xfrm>
        </p:spPr>
        <p:txBody>
          <a:bodyPr>
            <a:normAutofit fontScale="90000"/>
          </a:bodyPr>
          <a:lstStyle/>
          <a:p>
            <a:r>
              <a:rPr lang="he-IL" dirty="0"/>
              <a:t>חשיבות תיבת תמורה באבטחה</a:t>
            </a:r>
          </a:p>
        </p:txBody>
      </p:sp>
      <p:sp>
        <p:nvSpPr>
          <p:cNvPr id="3" name="מציין מיקום תוכן 2"/>
          <p:cNvSpPr>
            <a:spLocks noGrp="1"/>
          </p:cNvSpPr>
          <p:nvPr>
            <p:ph idx="1"/>
          </p:nvPr>
        </p:nvSpPr>
        <p:spPr/>
        <p:txBody>
          <a:bodyPr/>
          <a:lstStyle/>
          <a:p>
            <a:pPr marL="0" indent="0">
              <a:buNone/>
            </a:pPr>
            <a:r>
              <a:rPr lang="he-IL" b="1" dirty="0"/>
              <a:t>מונעת זיהוי תבניות</a:t>
            </a:r>
            <a:r>
              <a:rPr lang="he-IL" dirty="0"/>
              <a:t> – ללא </a:t>
            </a:r>
            <a:r>
              <a:rPr lang="en-US" dirty="0"/>
              <a:t> P-Box</a:t>
            </a:r>
            <a:r>
              <a:rPr lang="he-IL" dirty="0"/>
              <a:t>תוקף יכול לזהות דפוסים חוזרים בנתונים המוצפנים.</a:t>
            </a:r>
          </a:p>
          <a:p>
            <a:pPr marL="0" indent="0">
              <a:buNone/>
            </a:pPr>
            <a:r>
              <a:rPr lang="he-IL" dirty="0"/>
              <a:t/>
            </a:r>
            <a:br>
              <a:rPr lang="he-IL" dirty="0"/>
            </a:br>
            <a:r>
              <a:rPr lang="he-IL" b="1" dirty="0"/>
              <a:t>מגבירה </a:t>
            </a:r>
            <a:r>
              <a:rPr lang="en-US" b="1" dirty="0"/>
              <a:t>Diffusion</a:t>
            </a:r>
            <a:r>
              <a:rPr lang="en-US" dirty="0"/>
              <a:t> – </a:t>
            </a:r>
            <a:r>
              <a:rPr lang="he-IL" dirty="0"/>
              <a:t> שינוי קטן בקלט משפיע על כל הפלט, מה שמקשה על ניתוח סטטיסטי.</a:t>
            </a:r>
          </a:p>
          <a:p>
            <a:pPr marL="0" indent="0">
              <a:buNone/>
            </a:pPr>
            <a:r>
              <a:rPr lang="he-IL" dirty="0"/>
              <a:t/>
            </a:r>
            <a:br>
              <a:rPr lang="he-IL" dirty="0"/>
            </a:br>
            <a:r>
              <a:rPr lang="he-IL" b="1" dirty="0"/>
              <a:t>משפרת עמידות למתקפות</a:t>
            </a:r>
            <a:r>
              <a:rPr lang="he-IL" dirty="0"/>
              <a:t> – הופכת את פענוח ההצפנה למאתגר יותר עבור תוקפים.</a:t>
            </a:r>
          </a:p>
        </p:txBody>
      </p:sp>
    </p:spTree>
    <p:extLst>
      <p:ext uri="{BB962C8B-B14F-4D97-AF65-F5344CB8AC3E}">
        <p14:creationId xmlns:p14="http://schemas.microsoft.com/office/powerpoint/2010/main" val="9650839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555375" y="642594"/>
            <a:ext cx="6569824" cy="1371600"/>
          </a:xfrm>
        </p:spPr>
        <p:txBody>
          <a:bodyPr/>
          <a:lstStyle/>
          <a:p>
            <a:pPr algn="ctr"/>
            <a:r>
              <a:rPr lang="he-IL" dirty="0"/>
              <a:t>שאלה בנושא תיבת תמורה</a:t>
            </a:r>
          </a:p>
        </p:txBody>
      </p:sp>
      <p:sp>
        <p:nvSpPr>
          <p:cNvPr id="3" name="מציין מיקום תוכן 2"/>
          <p:cNvSpPr>
            <a:spLocks noGrp="1"/>
          </p:cNvSpPr>
          <p:nvPr>
            <p:ph idx="1"/>
          </p:nvPr>
        </p:nvSpPr>
        <p:spPr/>
        <p:txBody>
          <a:bodyPr/>
          <a:lstStyle/>
          <a:p>
            <a:r>
              <a:rPr lang="he-IL" b="1" dirty="0"/>
              <a:t>שאלה:</a:t>
            </a:r>
          </a:p>
          <a:p>
            <a:r>
              <a:rPr lang="he-IL" dirty="0"/>
              <a:t>נתונה תיבת תמורה שמבצעת את הסידור הבא:</a:t>
            </a:r>
          </a:p>
          <a:p>
            <a:pPr algn="l"/>
            <a:r>
              <a:rPr lang="he-IL" dirty="0"/>
              <a:t>[5, 2, 6, 1, 3, 7, 4, 8]</a:t>
            </a:r>
          </a:p>
          <a:p>
            <a:r>
              <a:rPr lang="he-IL" dirty="0"/>
              <a:t>אם הקלט הוא:</a:t>
            </a:r>
          </a:p>
          <a:p>
            <a:pPr algn="l"/>
            <a:r>
              <a:rPr lang="he-IL" dirty="0"/>
              <a:t>1 0 1 1 0 0 1 0</a:t>
            </a:r>
          </a:p>
          <a:p>
            <a:r>
              <a:rPr lang="he-IL" dirty="0"/>
              <a:t>מה יהיה הפלט לאחר הפעלת התיבה?</a:t>
            </a:r>
          </a:p>
        </p:txBody>
      </p:sp>
    </p:spTree>
    <p:extLst>
      <p:ext uri="{BB962C8B-B14F-4D97-AF65-F5344CB8AC3E}">
        <p14:creationId xmlns:p14="http://schemas.microsoft.com/office/powerpoint/2010/main" val="409564559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68938" y="642594"/>
            <a:ext cx="1956262" cy="1371600"/>
          </a:xfrm>
        </p:spPr>
        <p:txBody>
          <a:bodyPr/>
          <a:lstStyle/>
          <a:p>
            <a:r>
              <a:rPr lang="he-IL" dirty="0"/>
              <a:t>תשובה</a:t>
            </a:r>
          </a:p>
        </p:txBody>
      </p:sp>
      <p:sp>
        <p:nvSpPr>
          <p:cNvPr id="3" name="מציין מיקום תוכן 2"/>
          <p:cNvSpPr>
            <a:spLocks noGrp="1"/>
          </p:cNvSpPr>
          <p:nvPr>
            <p:ph idx="1"/>
          </p:nvPr>
        </p:nvSpPr>
        <p:spPr/>
        <p:txBody>
          <a:bodyPr/>
          <a:lstStyle/>
          <a:p>
            <a:r>
              <a:rPr lang="he-IL" dirty="0"/>
              <a:t>קלט: </a:t>
            </a:r>
          </a:p>
          <a:p>
            <a:pPr algn="l"/>
            <a:r>
              <a:rPr lang="he-IL" dirty="0"/>
              <a:t>1 0 1 1 0 0 1 0</a:t>
            </a:r>
          </a:p>
          <a:p>
            <a:r>
              <a:rPr lang="he-IL" dirty="0"/>
              <a:t>תיבת התמורה </a:t>
            </a:r>
            <a:r>
              <a:rPr lang="en-US" dirty="0"/>
              <a:t>P-Box</a:t>
            </a:r>
            <a:r>
              <a:rPr lang="he-IL" dirty="0"/>
              <a:t>:</a:t>
            </a:r>
          </a:p>
          <a:p>
            <a:pPr algn="l"/>
            <a:r>
              <a:rPr lang="he-IL" dirty="0"/>
              <a:t>[5, 2, 6, 1, 3, 7, 4, 8]</a:t>
            </a:r>
          </a:p>
          <a:p>
            <a:r>
              <a:rPr lang="he-IL" dirty="0"/>
              <a:t>כלומר, </a:t>
            </a:r>
            <a:r>
              <a:rPr lang="he-IL" b="1" dirty="0"/>
              <a:t>הביט במקום ה-5 יעבור להיות במקום ה-1</a:t>
            </a:r>
            <a:r>
              <a:rPr lang="he-IL" dirty="0"/>
              <a:t>, </a:t>
            </a:r>
            <a:r>
              <a:rPr lang="he-IL" b="1" dirty="0"/>
              <a:t>הביט במקום ה-2 יעבור למקום ה-2</a:t>
            </a:r>
            <a:r>
              <a:rPr lang="he-IL" dirty="0"/>
              <a:t>, וכך הלאה.</a:t>
            </a:r>
          </a:p>
          <a:p>
            <a:r>
              <a:rPr lang="he-IL" b="1" dirty="0"/>
              <a:t>שלבי הפתרון</a:t>
            </a:r>
          </a:p>
          <a:p>
            <a:r>
              <a:rPr lang="he-IL" dirty="0"/>
              <a:t>נרשום את הקלט עם </a:t>
            </a:r>
            <a:r>
              <a:rPr lang="he-IL" b="1" dirty="0"/>
              <a:t>מיקומי הביטים</a:t>
            </a:r>
            <a:r>
              <a:rPr lang="he-IL" dirty="0"/>
              <a:t>:</a:t>
            </a:r>
          </a:p>
          <a:p>
            <a:endParaRPr lang="he-IL" dirty="0"/>
          </a:p>
        </p:txBody>
      </p:sp>
      <p:pic>
        <p:nvPicPr>
          <p:cNvPr id="4" name="תמונה 3"/>
          <p:cNvPicPr>
            <a:picLocks noChangeAspect="1"/>
          </p:cNvPicPr>
          <p:nvPr/>
        </p:nvPicPr>
        <p:blipFill>
          <a:blip r:embed="rId2"/>
          <a:stretch>
            <a:fillRect/>
          </a:stretch>
        </p:blipFill>
        <p:spPr>
          <a:xfrm>
            <a:off x="1066800" y="4929448"/>
            <a:ext cx="7827532" cy="757885"/>
          </a:xfrm>
          <a:prstGeom prst="rect">
            <a:avLst/>
          </a:prstGeom>
        </p:spPr>
      </p:pic>
    </p:spTree>
    <p:extLst>
      <p:ext uri="{BB962C8B-B14F-4D97-AF65-F5344CB8AC3E}">
        <p14:creationId xmlns:p14="http://schemas.microsoft.com/office/powerpoint/2010/main" val="370582488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115694" y="642594"/>
            <a:ext cx="4009505" cy="1371600"/>
          </a:xfrm>
        </p:spPr>
        <p:txBody>
          <a:bodyPr/>
          <a:lstStyle/>
          <a:p>
            <a:r>
              <a:rPr lang="he-IL" dirty="0"/>
              <a:t>המשך - תשובה</a:t>
            </a:r>
          </a:p>
        </p:txBody>
      </p:sp>
      <p:sp>
        <p:nvSpPr>
          <p:cNvPr id="3" name="מציין מיקום תוכן 2"/>
          <p:cNvSpPr>
            <a:spLocks noGrp="1"/>
          </p:cNvSpPr>
          <p:nvPr>
            <p:ph idx="1"/>
          </p:nvPr>
        </p:nvSpPr>
        <p:spPr>
          <a:xfrm>
            <a:off x="1066799" y="2152997"/>
            <a:ext cx="10058400" cy="3931920"/>
          </a:xfrm>
        </p:spPr>
        <p:txBody>
          <a:bodyPr>
            <a:normAutofit lnSpcReduction="10000"/>
          </a:bodyPr>
          <a:lstStyle/>
          <a:p>
            <a:r>
              <a:rPr lang="he-IL" dirty="0"/>
              <a:t>עכשיו </a:t>
            </a:r>
            <a:r>
              <a:rPr lang="he-IL" b="1" dirty="0"/>
              <a:t>נמקם את הביטים לפי הסדר החדש של תיבת התמורה</a:t>
            </a:r>
            <a:r>
              <a:rPr lang="he-IL" dirty="0"/>
              <a:t>:</a:t>
            </a:r>
          </a:p>
          <a:p>
            <a:endParaRPr lang="he-IL" dirty="0"/>
          </a:p>
          <a:p>
            <a:endParaRPr lang="he-IL" dirty="0"/>
          </a:p>
          <a:p>
            <a:endParaRPr lang="he-IL" dirty="0"/>
          </a:p>
          <a:p>
            <a:endParaRPr lang="he-IL" dirty="0"/>
          </a:p>
          <a:p>
            <a:pPr marL="0" indent="0">
              <a:buNone/>
            </a:pPr>
            <a:r>
              <a:rPr lang="he-IL" dirty="0"/>
              <a:t>תוצאה סופית של הפלט לאחר תיבת התמורה:</a:t>
            </a:r>
          </a:p>
          <a:p>
            <a:pPr marL="0" indent="0" algn="l">
              <a:buNone/>
            </a:pPr>
            <a:r>
              <a:rPr lang="he-IL" dirty="0"/>
              <a:t>0 0 0 1 1 1 1 0</a:t>
            </a:r>
          </a:p>
          <a:p>
            <a:pPr marL="0" indent="0">
              <a:buNone/>
            </a:pPr>
            <a:r>
              <a:rPr lang="he-IL" dirty="0"/>
              <a:t>יוצא לנו הלכה למעשה:</a:t>
            </a:r>
          </a:p>
          <a:p>
            <a:pPr marL="0" indent="0">
              <a:buNone/>
            </a:pPr>
            <a:r>
              <a:rPr lang="he-IL" dirty="0"/>
              <a:t>לקחנו את הקלט</a:t>
            </a:r>
            <a:br>
              <a:rPr lang="he-IL" dirty="0"/>
            </a:br>
            <a:r>
              <a:rPr lang="he-IL" dirty="0"/>
              <a:t>השתמשנו בתיבת התמורה כדי לסדר מחדש את הביטים</a:t>
            </a:r>
            <a:br>
              <a:rPr lang="he-IL" dirty="0"/>
            </a:br>
            <a:r>
              <a:rPr lang="he-IL" dirty="0"/>
              <a:t>קיבלנו פלט חדש בהתאם לכללים שנקבעו מראש</a:t>
            </a:r>
          </a:p>
          <a:p>
            <a:endParaRPr lang="he-IL" dirty="0"/>
          </a:p>
        </p:txBody>
      </p:sp>
      <p:pic>
        <p:nvPicPr>
          <p:cNvPr id="4" name="תמונה 3"/>
          <p:cNvPicPr>
            <a:picLocks noChangeAspect="1"/>
          </p:cNvPicPr>
          <p:nvPr/>
        </p:nvPicPr>
        <p:blipFill>
          <a:blip r:embed="rId2"/>
          <a:stretch>
            <a:fillRect/>
          </a:stretch>
        </p:blipFill>
        <p:spPr>
          <a:xfrm>
            <a:off x="1176920" y="2701636"/>
            <a:ext cx="8043716" cy="1189391"/>
          </a:xfrm>
          <a:prstGeom prst="rect">
            <a:avLst/>
          </a:prstGeom>
        </p:spPr>
      </p:pic>
    </p:spTree>
    <p:extLst>
      <p:ext uri="{BB962C8B-B14F-4D97-AF65-F5344CB8AC3E}">
        <p14:creationId xmlns:p14="http://schemas.microsoft.com/office/powerpoint/2010/main" val="20700563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77250" y="642594"/>
            <a:ext cx="1947949"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מהי תיבת תמורה</a:t>
            </a:r>
            <a:r>
              <a:rPr lang="en-US" dirty="0"/>
              <a:t>P-Box </a:t>
            </a:r>
            <a:r>
              <a:rPr lang="he-IL" dirty="0"/>
              <a:t>ומה מטרתה בקריפטוגרפיה?</a:t>
            </a:r>
          </a:p>
          <a:p>
            <a:r>
              <a:rPr lang="he-IL" dirty="0"/>
              <a:t>2. כיצד תיבת תמורה מסייעת להגברת הביטחון של הצפנה סימטרית?</a:t>
            </a:r>
          </a:p>
          <a:p>
            <a:r>
              <a:rPr lang="he-IL" dirty="0"/>
              <a:t>3. מהו עקרון ה-</a:t>
            </a:r>
            <a:r>
              <a:rPr lang="en-US" dirty="0"/>
              <a:t> Diffusion </a:t>
            </a:r>
            <a:r>
              <a:rPr lang="he-IL" dirty="0"/>
              <a:t>וכיצד</a:t>
            </a:r>
            <a:r>
              <a:rPr lang="en-US" dirty="0"/>
              <a:t>P-Box </a:t>
            </a:r>
            <a:r>
              <a:rPr lang="he-IL" dirty="0"/>
              <a:t> מממש אותו?</a:t>
            </a:r>
          </a:p>
          <a:p>
            <a:r>
              <a:rPr lang="he-IL" dirty="0"/>
              <a:t>4. האם תיבת תמורה משנה את הערכים של הביטים או רק את המיקומים שלהם?</a:t>
            </a:r>
          </a:p>
          <a:p>
            <a:r>
              <a:rPr lang="he-IL" dirty="0"/>
              <a:t>5. מדוע משתמשים בתיבות תמורה באלגוריתמים כמו </a:t>
            </a:r>
            <a:r>
              <a:rPr lang="en-US" dirty="0"/>
              <a:t>DES</a:t>
            </a:r>
            <a:r>
              <a:rPr lang="he-IL" dirty="0"/>
              <a:t>?</a:t>
            </a:r>
          </a:p>
          <a:p>
            <a:r>
              <a:rPr lang="he-IL" dirty="0"/>
              <a:t>6. איזה סוג של תיבת תמורה משמשת להגדלת מספר הביטים בפלט?</a:t>
            </a:r>
          </a:p>
          <a:p>
            <a:r>
              <a:rPr lang="he-IL" dirty="0"/>
              <a:t>7. כיצד תיבת תמורה מסייעת נגד מתקפות סטטיסטיות על הצפנה?</a:t>
            </a:r>
          </a:p>
          <a:p>
            <a:r>
              <a:rPr lang="he-IL" dirty="0"/>
              <a:t>8. בתוך אלגוריתם </a:t>
            </a:r>
            <a:r>
              <a:rPr lang="en-US" dirty="0"/>
              <a:t> DES</a:t>
            </a:r>
            <a:r>
              <a:rPr lang="he-IL" dirty="0"/>
              <a:t>מדוע התמורה הראשונית</a:t>
            </a:r>
            <a:r>
              <a:rPr lang="en-US" dirty="0"/>
              <a:t> Initial Permutation - IP </a:t>
            </a:r>
            <a:r>
              <a:rPr lang="he-IL" dirty="0"/>
              <a:t>נחשבת חיונית, למרות שהיא לא מוסיפה הצפנה </a:t>
            </a:r>
            <a:r>
              <a:rPr lang="he-IL" dirty="0" err="1"/>
              <a:t>אמיתית</a:t>
            </a:r>
            <a:r>
              <a:rPr lang="he-IL" dirty="0"/>
              <a:t>?</a:t>
            </a:r>
          </a:p>
          <a:p>
            <a:endParaRPr lang="he-IL" dirty="0"/>
          </a:p>
        </p:txBody>
      </p:sp>
    </p:spTree>
    <p:extLst>
      <p:ext uri="{BB962C8B-B14F-4D97-AF65-F5344CB8AC3E}">
        <p14:creationId xmlns:p14="http://schemas.microsoft.com/office/powerpoint/2010/main" val="404977822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35687" y="127205"/>
            <a:ext cx="1989513" cy="1371600"/>
          </a:xfrm>
        </p:spPr>
        <p:txBody>
          <a:bodyPr>
            <a:normAutofit fontScale="90000"/>
          </a:bodyPr>
          <a:lstStyle/>
          <a:p>
            <a:r>
              <a:rPr lang="he-IL" dirty="0"/>
              <a:t>תשובות</a:t>
            </a:r>
          </a:p>
        </p:txBody>
      </p:sp>
      <p:sp>
        <p:nvSpPr>
          <p:cNvPr id="3" name="מציין מיקום תוכן 2"/>
          <p:cNvSpPr>
            <a:spLocks noGrp="1"/>
          </p:cNvSpPr>
          <p:nvPr>
            <p:ph idx="1"/>
          </p:nvPr>
        </p:nvSpPr>
        <p:spPr>
          <a:xfrm>
            <a:off x="1066800" y="1379912"/>
            <a:ext cx="10058400" cy="4838007"/>
          </a:xfrm>
        </p:spPr>
        <p:txBody>
          <a:bodyPr>
            <a:normAutofit fontScale="92500"/>
          </a:bodyPr>
          <a:lstStyle/>
          <a:p>
            <a:r>
              <a:rPr lang="he-IL" dirty="0"/>
              <a:t>1. תיבת תמורה </a:t>
            </a:r>
            <a:r>
              <a:rPr lang="en-US" dirty="0"/>
              <a:t> Permutation Box - P-Box</a:t>
            </a:r>
            <a:r>
              <a:rPr lang="he-IL" dirty="0"/>
              <a:t>היא פונקציה שמשנה את מיקומי הביטים בבלוק הנתונים לפי סדר קבוע מראש, מבלי לשנות את הערכים שלהם. מטרתה היא להגביר את הפיזור</a:t>
            </a:r>
            <a:r>
              <a:rPr lang="en-US" dirty="0"/>
              <a:t>Diffusion </a:t>
            </a:r>
            <a:r>
              <a:rPr lang="he-IL" dirty="0"/>
              <a:t> כדי להפוך את ההצפנה לחזקה יותר.</a:t>
            </a:r>
          </a:p>
          <a:p>
            <a:r>
              <a:rPr lang="he-IL" dirty="0"/>
              <a:t>2. היא מונעת דליפת מידע ישירה על מפתח ההצפנה ומבטיחה שכל שינוי קטן בקלט ישפיע על חלקים גדולים בפלט, מה שמקשה על מתקפות ניתוח </a:t>
            </a:r>
            <a:r>
              <a:rPr lang="he-IL" dirty="0" err="1"/>
              <a:t>קריפטוגרפיות</a:t>
            </a:r>
            <a:r>
              <a:rPr lang="he-IL" dirty="0"/>
              <a:t>.</a:t>
            </a:r>
          </a:p>
          <a:p>
            <a:r>
              <a:rPr lang="he-IL" dirty="0"/>
              <a:t>3. </a:t>
            </a:r>
            <a:r>
              <a:rPr lang="en-US" dirty="0"/>
              <a:t>Diffusion</a:t>
            </a:r>
            <a:r>
              <a:rPr lang="he-IL" dirty="0"/>
              <a:t> פיזור הוא עקרון שבו שינוי קטן בטקסט המקורי גורם לשינוי נרחב בטקסט המוצפן.</a:t>
            </a:r>
            <a:r>
              <a:rPr lang="en-US" dirty="0"/>
              <a:t>P-Box </a:t>
            </a:r>
            <a:r>
              <a:rPr lang="he-IL" dirty="0"/>
              <a:t>מבצע זאת על ידי שינוי סדר הביטים כך שכל ביט בקלט ישפיע על כמה ביטים בפלט.</a:t>
            </a:r>
          </a:p>
          <a:p>
            <a:r>
              <a:rPr lang="he-IL" dirty="0"/>
              <a:t>4. רק את </a:t>
            </a:r>
            <a:r>
              <a:rPr lang="he-IL" b="1" dirty="0"/>
              <a:t>המיקומים</a:t>
            </a:r>
            <a:r>
              <a:rPr lang="he-IL" dirty="0"/>
              <a:t> שלהם. הערכים עצמם נשארים זהים.</a:t>
            </a:r>
          </a:p>
          <a:p>
            <a:r>
              <a:rPr lang="he-IL" dirty="0"/>
              <a:t>5. כדי להגדיל את הפיזור</a:t>
            </a:r>
            <a:r>
              <a:rPr lang="en-US" dirty="0"/>
              <a:t> Diffusion </a:t>
            </a:r>
            <a:r>
              <a:rPr lang="he-IL" dirty="0"/>
              <a:t>ולמנוע זיהוי דפוסים בנתונים המוצפנים, מה שמחזק את ההצפנה נגד מתקפות סטטיסטיות.</a:t>
            </a:r>
          </a:p>
          <a:p>
            <a:r>
              <a:rPr lang="he-IL" dirty="0"/>
              <a:t>6. </a:t>
            </a:r>
            <a:r>
              <a:rPr lang="en-US" dirty="0"/>
              <a:t> </a:t>
            </a:r>
            <a:r>
              <a:rPr lang="en-US" b="1" dirty="0"/>
              <a:t>Expansion P-Box</a:t>
            </a:r>
            <a:r>
              <a:rPr lang="he-IL" b="1" dirty="0"/>
              <a:t>תיבת תמורה מרחיבה</a:t>
            </a:r>
            <a:r>
              <a:rPr lang="he-IL" dirty="0"/>
              <a:t> – משכפלת חלק מהביטים כדי להרחיב את כמות הביטים בפלט.</a:t>
            </a:r>
          </a:p>
          <a:p>
            <a:r>
              <a:rPr lang="he-IL" dirty="0"/>
              <a:t>7. היא מערבבת את הביטים כך שאפילו שינוי קטן בטקסט המקורי משנה באופן משמעותי את כל הטקסט המוצפן, מה שמונע ניתוח סטטיסטי פשוט.</a:t>
            </a:r>
          </a:p>
          <a:p>
            <a:r>
              <a:rPr lang="he-IL" dirty="0"/>
              <a:t>8. התמורה הראשונית </a:t>
            </a:r>
            <a:r>
              <a:rPr lang="he-IL" b="1" dirty="0"/>
              <a:t>מפזרת את הביטים</a:t>
            </a:r>
            <a:r>
              <a:rPr lang="he-IL" dirty="0"/>
              <a:t> כך שהשפעתם על הבלוק כולו תהיה שווה, מה שעוזר להקשות על מתקפות </a:t>
            </a:r>
            <a:r>
              <a:rPr lang="he-IL" dirty="0" err="1"/>
              <a:t>קריפטואנליזה</a:t>
            </a:r>
            <a:r>
              <a:rPr lang="he-IL" dirty="0"/>
              <a:t>.</a:t>
            </a:r>
          </a:p>
          <a:p>
            <a:endParaRPr lang="he-IL" dirty="0"/>
          </a:p>
        </p:txBody>
      </p:sp>
    </p:spTree>
    <p:extLst>
      <p:ext uri="{BB962C8B-B14F-4D97-AF65-F5344CB8AC3E}">
        <p14:creationId xmlns:p14="http://schemas.microsoft.com/office/powerpoint/2010/main" val="9569457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643448"/>
            <a:ext cx="10058400" cy="3931920"/>
          </a:xfrm>
        </p:spPr>
        <p:txBody>
          <a:bodyPr>
            <a:normAutofit/>
          </a:bodyPr>
          <a:lstStyle/>
          <a:p>
            <a:pPr algn="ctr"/>
            <a:r>
              <a:rPr lang="he-IL" sz="5400" dirty="0"/>
              <a:t>תיבת החלפה</a:t>
            </a:r>
          </a:p>
        </p:txBody>
      </p:sp>
    </p:spTree>
    <p:extLst>
      <p:ext uri="{BB962C8B-B14F-4D97-AF65-F5344CB8AC3E}">
        <p14:creationId xmlns:p14="http://schemas.microsoft.com/office/powerpoint/2010/main" val="256660150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66800" y="642594"/>
            <a:ext cx="10728960" cy="1371600"/>
          </a:xfrm>
        </p:spPr>
        <p:txBody>
          <a:bodyPr>
            <a:normAutofit fontScale="90000"/>
          </a:bodyPr>
          <a:lstStyle/>
          <a:p>
            <a:r>
              <a:rPr lang="he-IL" dirty="0"/>
              <a:t>מהי תיבת החלפה</a:t>
            </a:r>
            <a:r>
              <a:rPr lang="en-US" dirty="0"/>
              <a:t>Substitution Box - S-Box </a:t>
            </a:r>
            <a:r>
              <a:rPr lang="he-IL" dirty="0"/>
              <a:t>?</a:t>
            </a:r>
          </a:p>
        </p:txBody>
      </p:sp>
      <p:sp>
        <p:nvSpPr>
          <p:cNvPr id="3" name="מציין מיקום תוכן 2"/>
          <p:cNvSpPr>
            <a:spLocks noGrp="1"/>
          </p:cNvSpPr>
          <p:nvPr>
            <p:ph idx="1"/>
          </p:nvPr>
        </p:nvSpPr>
        <p:spPr/>
        <p:txBody>
          <a:bodyPr/>
          <a:lstStyle/>
          <a:p>
            <a:r>
              <a:rPr lang="he-IL" dirty="0"/>
              <a:t>תיבת החלפה </a:t>
            </a:r>
            <a:r>
              <a:rPr lang="en-US" dirty="0"/>
              <a:t>S-Box</a:t>
            </a:r>
            <a:r>
              <a:rPr lang="he-IL" dirty="0"/>
              <a:t>היא </a:t>
            </a:r>
            <a:r>
              <a:rPr lang="he-IL" b="1" dirty="0"/>
              <a:t>רכיב </a:t>
            </a:r>
            <a:r>
              <a:rPr lang="he-IL" b="1" dirty="0" err="1"/>
              <a:t>קריפטוגרפי</a:t>
            </a:r>
            <a:r>
              <a:rPr lang="he-IL" dirty="0"/>
              <a:t> המשמש באלגוריתמים של הצפנה סימטרית, כגון </a:t>
            </a:r>
            <a:r>
              <a:rPr lang="en-US" b="1" dirty="0"/>
              <a:t>DES</a:t>
            </a:r>
            <a:r>
              <a:rPr lang="he-IL" b="1" dirty="0"/>
              <a:t> ו-</a:t>
            </a:r>
            <a:r>
              <a:rPr lang="en-US" b="1" dirty="0"/>
              <a:t>AES</a:t>
            </a:r>
            <a:r>
              <a:rPr lang="en-US" dirty="0"/>
              <a:t> </a:t>
            </a:r>
            <a:r>
              <a:rPr lang="he-IL" dirty="0"/>
              <a:t>מטרתה היא </a:t>
            </a:r>
            <a:r>
              <a:rPr lang="he-IL" b="1" dirty="0"/>
              <a:t>לשנות את הערכים של ביטים או קבוצות ביטים</a:t>
            </a:r>
            <a:r>
              <a:rPr lang="he-IL" dirty="0"/>
              <a:t> לפי טבלה מוגדרת מראש.</a:t>
            </a:r>
          </a:p>
          <a:p>
            <a:endParaRPr lang="he-IL" dirty="0"/>
          </a:p>
          <a:p>
            <a:r>
              <a:rPr lang="he-IL" dirty="0"/>
              <a:t>🔹 </a:t>
            </a:r>
            <a:r>
              <a:rPr lang="he-IL" b="1" dirty="0"/>
              <a:t>תיבת החלפה יוצרת ערפול </a:t>
            </a:r>
            <a:r>
              <a:rPr lang="en-US" b="1" dirty="0"/>
              <a:t>Confusion</a:t>
            </a:r>
            <a:r>
              <a:rPr lang="he-IL" b="1" dirty="0"/>
              <a:t> </a:t>
            </a:r>
            <a:r>
              <a:rPr lang="he-IL" dirty="0"/>
              <a:t>היא הופכת את הקשר בין הטקסט הקריא </a:t>
            </a:r>
            <a:r>
              <a:rPr lang="en-US" dirty="0"/>
              <a:t>plaintext</a:t>
            </a:r>
            <a:r>
              <a:rPr lang="he-IL" dirty="0"/>
              <a:t> לבין הטקסט המוצפן </a:t>
            </a:r>
            <a:r>
              <a:rPr lang="en-US" dirty="0"/>
              <a:t> </a:t>
            </a:r>
            <a:r>
              <a:rPr lang="en-US" dirty="0" err="1"/>
              <a:t>ciphertext</a:t>
            </a:r>
            <a:r>
              <a:rPr lang="he-IL" dirty="0"/>
              <a:t>למסובך יותר, כך שיהיה קשה לתוקף להסיק מידע על המפתח.</a:t>
            </a:r>
          </a:p>
          <a:p>
            <a:endParaRPr lang="he-IL" dirty="0"/>
          </a:p>
        </p:txBody>
      </p:sp>
    </p:spTree>
    <p:extLst>
      <p:ext uri="{BB962C8B-B14F-4D97-AF65-F5344CB8AC3E}">
        <p14:creationId xmlns:p14="http://schemas.microsoft.com/office/powerpoint/2010/main" val="72769568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347556" y="390699"/>
            <a:ext cx="6777644" cy="1371600"/>
          </a:xfrm>
        </p:spPr>
        <p:txBody>
          <a:bodyPr/>
          <a:lstStyle/>
          <a:p>
            <a:r>
              <a:rPr lang="he-IL" dirty="0"/>
              <a:t>כיצד פועלת תיבת החלפה?</a:t>
            </a:r>
          </a:p>
        </p:txBody>
      </p:sp>
      <p:sp>
        <p:nvSpPr>
          <p:cNvPr id="3" name="מציין מיקום תוכן 2"/>
          <p:cNvSpPr>
            <a:spLocks noGrp="1"/>
          </p:cNvSpPr>
          <p:nvPr>
            <p:ph idx="1"/>
          </p:nvPr>
        </p:nvSpPr>
        <p:spPr>
          <a:xfrm>
            <a:off x="1066800" y="1762299"/>
            <a:ext cx="10058400" cy="3931920"/>
          </a:xfrm>
        </p:spPr>
        <p:txBody>
          <a:bodyPr>
            <a:normAutofit fontScale="92500" lnSpcReduction="10000"/>
          </a:bodyPr>
          <a:lstStyle/>
          <a:p>
            <a:r>
              <a:rPr lang="he-IL" dirty="0"/>
              <a:t>1. הקלט ל-</a:t>
            </a:r>
            <a:r>
              <a:rPr lang="en-US" dirty="0"/>
              <a:t>S-Box </a:t>
            </a:r>
            <a:r>
              <a:rPr lang="he-IL" dirty="0"/>
              <a:t> הוא </a:t>
            </a:r>
            <a:r>
              <a:rPr lang="he-IL" b="1" dirty="0"/>
              <a:t>קבוצת ביטים</a:t>
            </a:r>
            <a:r>
              <a:rPr lang="he-IL" dirty="0"/>
              <a:t> לדוגמה, 6 ביטים ב-</a:t>
            </a:r>
            <a:r>
              <a:rPr lang="en-US" dirty="0"/>
              <a:t> DES </a:t>
            </a:r>
            <a:r>
              <a:rPr lang="he-IL" dirty="0"/>
              <a:t>או 8 ביטים ב-</a:t>
            </a:r>
            <a:r>
              <a:rPr lang="en-US" dirty="0"/>
              <a:t>AES</a:t>
            </a:r>
            <a:r>
              <a:rPr lang="he-IL" dirty="0"/>
              <a:t>.</a:t>
            </a:r>
          </a:p>
          <a:p>
            <a:r>
              <a:rPr lang="he-IL" dirty="0"/>
              <a:t>2. ה-</a:t>
            </a:r>
            <a:r>
              <a:rPr lang="en-US" dirty="0"/>
              <a:t> S-Box </a:t>
            </a:r>
            <a:r>
              <a:rPr lang="he-IL" dirty="0"/>
              <a:t>מחליף את קבוצת הביטים בערך חדש לפי טבלת המרה קבועה מראש.</a:t>
            </a:r>
          </a:p>
          <a:p>
            <a:r>
              <a:rPr lang="he-IL" dirty="0"/>
              <a:t>3. הפלט הוא קבוצת ביטים </a:t>
            </a:r>
            <a:r>
              <a:rPr lang="he-IL" b="1" dirty="0"/>
              <a:t>שונה בגודל זהה או קטן יותר מהקלט</a:t>
            </a:r>
            <a:r>
              <a:rPr lang="he-IL" dirty="0"/>
              <a:t>.</a:t>
            </a:r>
          </a:p>
          <a:p>
            <a:r>
              <a:rPr lang="he-IL" b="1" dirty="0"/>
              <a:t>דוגמה פשוטה לתיבת החלפה:</a:t>
            </a:r>
            <a:r>
              <a:rPr lang="he-IL" dirty="0"/>
              <a:t/>
            </a:r>
            <a:br>
              <a:rPr lang="he-IL" dirty="0"/>
            </a:br>
            <a:r>
              <a:rPr lang="he-IL" dirty="0"/>
              <a:t>נניח שיש לנו </a:t>
            </a:r>
            <a:r>
              <a:rPr lang="he-IL" b="1" dirty="0"/>
              <a:t>4 ביטים כקלט</a:t>
            </a:r>
            <a:r>
              <a:rPr lang="he-IL" dirty="0"/>
              <a:t>, ואנו משתמשים בטבלה הבאה להחלפה:</a:t>
            </a:r>
          </a:p>
          <a:p>
            <a:endParaRPr lang="he-IL" dirty="0"/>
          </a:p>
          <a:p>
            <a:endParaRPr lang="he-IL" dirty="0"/>
          </a:p>
          <a:p>
            <a:endParaRPr lang="he-IL" dirty="0"/>
          </a:p>
          <a:p>
            <a:r>
              <a:rPr lang="he-IL" dirty="0"/>
              <a:t>לדוגמה, אם הקלט הוא </a:t>
            </a:r>
            <a:r>
              <a:rPr lang="he-IL" b="1" dirty="0"/>
              <a:t>0011</a:t>
            </a:r>
            <a:r>
              <a:rPr lang="he-IL" dirty="0"/>
              <a:t>, הפלט לאחר ה-</a:t>
            </a:r>
            <a:r>
              <a:rPr lang="en-US" dirty="0"/>
              <a:t>S-Box </a:t>
            </a:r>
            <a:r>
              <a:rPr lang="he-IL" dirty="0"/>
              <a:t> יהיה </a:t>
            </a:r>
            <a:r>
              <a:rPr lang="he-IL" b="1" dirty="0"/>
              <a:t>0001</a:t>
            </a:r>
            <a:r>
              <a:rPr lang="he-IL" dirty="0"/>
              <a:t>.</a:t>
            </a:r>
          </a:p>
          <a:p>
            <a:endParaRPr lang="he-IL" dirty="0"/>
          </a:p>
          <a:p>
            <a:pPr marL="0" indent="0">
              <a:buNone/>
            </a:pPr>
            <a:r>
              <a:rPr lang="he-IL" dirty="0"/>
              <a:t/>
            </a:r>
            <a:br>
              <a:rPr lang="he-IL" dirty="0"/>
            </a:br>
            <a:endParaRPr lang="he-IL" dirty="0"/>
          </a:p>
        </p:txBody>
      </p:sp>
      <p:pic>
        <p:nvPicPr>
          <p:cNvPr id="4" name="תמונה 3"/>
          <p:cNvPicPr>
            <a:picLocks noChangeAspect="1"/>
          </p:cNvPicPr>
          <p:nvPr/>
        </p:nvPicPr>
        <p:blipFill>
          <a:blip r:embed="rId2"/>
          <a:stretch>
            <a:fillRect/>
          </a:stretch>
        </p:blipFill>
        <p:spPr>
          <a:xfrm>
            <a:off x="290945" y="3495502"/>
            <a:ext cx="4968240" cy="2265217"/>
          </a:xfrm>
          <a:prstGeom prst="rect">
            <a:avLst/>
          </a:prstGeom>
        </p:spPr>
      </p:pic>
    </p:spTree>
    <p:extLst>
      <p:ext uri="{BB962C8B-B14F-4D97-AF65-F5344CB8AC3E}">
        <p14:creationId xmlns:p14="http://schemas.microsoft.com/office/powerpoint/2010/main" val="3918686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327564" y="642594"/>
            <a:ext cx="8797636" cy="1371600"/>
          </a:xfrm>
        </p:spPr>
        <p:txBody>
          <a:bodyPr/>
          <a:lstStyle/>
          <a:p>
            <a:r>
              <a:rPr lang="he-IL" dirty="0"/>
              <a:t>תיבות החלפה באלגוריתמים ידועים</a:t>
            </a:r>
          </a:p>
        </p:txBody>
      </p:sp>
      <p:sp>
        <p:nvSpPr>
          <p:cNvPr id="3" name="מציין מיקום תוכן 2"/>
          <p:cNvSpPr>
            <a:spLocks noGrp="1"/>
          </p:cNvSpPr>
          <p:nvPr>
            <p:ph idx="1"/>
          </p:nvPr>
        </p:nvSpPr>
        <p:spPr/>
        <p:txBody>
          <a:bodyPr/>
          <a:lstStyle/>
          <a:p>
            <a:r>
              <a:rPr lang="he-IL" dirty="0"/>
              <a:t>1. </a:t>
            </a:r>
            <a:r>
              <a:rPr lang="en-US" b="1" dirty="0"/>
              <a:t>DES (Data Encryption Standard)</a:t>
            </a:r>
            <a:r>
              <a:rPr lang="he-IL" b="1" dirty="0"/>
              <a:t>:</a:t>
            </a:r>
            <a:endParaRPr lang="en-US" dirty="0"/>
          </a:p>
          <a:p>
            <a:r>
              <a:rPr lang="he-IL" dirty="0"/>
              <a:t>משתמש </a:t>
            </a:r>
            <a:r>
              <a:rPr lang="he-IL" b="1" dirty="0"/>
              <a:t>ב-8 תיבות החלפה שונות</a:t>
            </a:r>
            <a:r>
              <a:rPr lang="he-IL" dirty="0"/>
              <a:t>, כאשר כל אחת מקבלת </a:t>
            </a:r>
            <a:r>
              <a:rPr lang="he-IL" b="1" dirty="0"/>
              <a:t>6 ביטים כקלט</a:t>
            </a:r>
            <a:r>
              <a:rPr lang="he-IL" dirty="0"/>
              <a:t> ומחזירה </a:t>
            </a:r>
            <a:r>
              <a:rPr lang="he-IL" b="1" dirty="0"/>
              <a:t>4 ביטים כפלט</a:t>
            </a:r>
            <a:r>
              <a:rPr lang="he-IL" dirty="0"/>
              <a:t>.</a:t>
            </a:r>
          </a:p>
          <a:p>
            <a:r>
              <a:rPr lang="he-IL" dirty="0"/>
              <a:t>התיבות נבחרו כך שהן עמידות נגד התקפות </a:t>
            </a:r>
            <a:r>
              <a:rPr lang="he-IL" dirty="0" err="1"/>
              <a:t>קריפטואנליזה</a:t>
            </a:r>
            <a:r>
              <a:rPr lang="he-IL" dirty="0"/>
              <a:t>.</a:t>
            </a:r>
          </a:p>
          <a:p>
            <a:r>
              <a:rPr lang="he-IL" dirty="0"/>
              <a:t>2. </a:t>
            </a:r>
            <a:r>
              <a:rPr lang="en-US" b="1" dirty="0"/>
              <a:t>AES (Advanced Encryption Standard)</a:t>
            </a:r>
            <a:endParaRPr lang="en-US" dirty="0"/>
          </a:p>
          <a:p>
            <a:r>
              <a:rPr lang="he-IL" dirty="0"/>
              <a:t>משתמש </a:t>
            </a:r>
            <a:r>
              <a:rPr lang="he-IL" b="1" dirty="0"/>
              <a:t>בתיבת החלפה אחת בלבד</a:t>
            </a:r>
            <a:r>
              <a:rPr lang="he-IL" dirty="0"/>
              <a:t>, שנקראת </a:t>
            </a:r>
            <a:r>
              <a:rPr lang="en-US" dirty="0"/>
              <a:t> </a:t>
            </a:r>
            <a:r>
              <a:rPr lang="en-US" b="1" dirty="0"/>
              <a:t>S-Box</a:t>
            </a:r>
            <a:r>
              <a:rPr lang="he-IL" b="1" dirty="0"/>
              <a:t>של </a:t>
            </a:r>
            <a:r>
              <a:rPr lang="en-US" b="1" dirty="0"/>
              <a:t>AES</a:t>
            </a:r>
            <a:r>
              <a:rPr lang="he-IL" b="1" dirty="0"/>
              <a:t>.</a:t>
            </a:r>
            <a:endParaRPr lang="en-US" dirty="0"/>
          </a:p>
          <a:p>
            <a:r>
              <a:rPr lang="he-IL" dirty="0"/>
              <a:t>תיבת ההחלפה של </a:t>
            </a:r>
            <a:r>
              <a:rPr lang="en-US" dirty="0"/>
              <a:t> AES</a:t>
            </a:r>
            <a:r>
              <a:rPr lang="he-IL" dirty="0"/>
              <a:t>מבוססת על </a:t>
            </a:r>
            <a:r>
              <a:rPr lang="he-IL" b="1" dirty="0"/>
              <a:t>פעולות מתמטיות בשדה </a:t>
            </a:r>
            <a:r>
              <a:rPr lang="he-IL" b="1" dirty="0" err="1"/>
              <a:t>גלואה</a:t>
            </a:r>
            <a:r>
              <a:rPr lang="en-US" b="1" dirty="0"/>
              <a:t>Galois Field</a:t>
            </a:r>
            <a:r>
              <a:rPr lang="en-US" dirty="0"/>
              <a:t> </a:t>
            </a:r>
            <a:r>
              <a:rPr lang="he-IL" dirty="0"/>
              <a:t> כדי להבטיח ביטחון גבוה.</a:t>
            </a:r>
          </a:p>
          <a:p>
            <a:r>
              <a:rPr lang="he-IL" dirty="0"/>
              <a:t>כל בתים</a:t>
            </a:r>
            <a:r>
              <a:rPr lang="en-US" dirty="0"/>
              <a:t>Bytes </a:t>
            </a:r>
            <a:r>
              <a:rPr lang="he-IL" dirty="0"/>
              <a:t> במטריצת ה-</a:t>
            </a:r>
            <a:r>
              <a:rPr lang="en-US" dirty="0"/>
              <a:t> State </a:t>
            </a:r>
            <a:r>
              <a:rPr lang="he-IL" dirty="0"/>
              <a:t>של</a:t>
            </a:r>
            <a:r>
              <a:rPr lang="en-US" dirty="0"/>
              <a:t> AES </a:t>
            </a:r>
            <a:r>
              <a:rPr lang="he-IL" dirty="0"/>
              <a:t>מוחלפים על פי ה-</a:t>
            </a:r>
            <a:r>
              <a:rPr lang="en-US" dirty="0"/>
              <a:t>S-Box</a:t>
            </a:r>
            <a:r>
              <a:rPr lang="he-IL" dirty="0"/>
              <a:t>.</a:t>
            </a:r>
            <a:endParaRPr lang="en-US" dirty="0"/>
          </a:p>
          <a:p>
            <a:endParaRPr lang="he-IL" dirty="0"/>
          </a:p>
          <a:p>
            <a:endParaRPr lang="he-IL" dirty="0"/>
          </a:p>
        </p:txBody>
      </p:sp>
    </p:spTree>
    <p:extLst>
      <p:ext uri="{BB962C8B-B14F-4D97-AF65-F5344CB8AC3E}">
        <p14:creationId xmlns:p14="http://schemas.microsoft.com/office/powerpoint/2010/main" val="326438399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125584" y="642594"/>
            <a:ext cx="7999615" cy="1371600"/>
          </a:xfrm>
        </p:spPr>
        <p:txBody>
          <a:bodyPr/>
          <a:lstStyle/>
          <a:p>
            <a:r>
              <a:rPr lang="he-IL" dirty="0"/>
              <a:t>סוגי</a:t>
            </a:r>
            <a:r>
              <a:rPr lang="en-US" dirty="0"/>
              <a:t> S-Box </a:t>
            </a:r>
            <a:r>
              <a:rPr lang="he-IL" dirty="0"/>
              <a:t>באלגוריתמים שונים</a:t>
            </a:r>
          </a:p>
        </p:txBody>
      </p:sp>
      <p:sp>
        <p:nvSpPr>
          <p:cNvPr id="3" name="מציין מיקום תוכן 2"/>
          <p:cNvSpPr>
            <a:spLocks noGrp="1"/>
          </p:cNvSpPr>
          <p:nvPr>
            <p:ph idx="1"/>
          </p:nvPr>
        </p:nvSpPr>
        <p:spPr/>
        <p:txBody>
          <a:bodyPr/>
          <a:lstStyle/>
          <a:p>
            <a:r>
              <a:rPr lang="en-US" b="1" dirty="0"/>
              <a:t> S-Box</a:t>
            </a:r>
            <a:r>
              <a:rPr lang="he-IL" b="1" dirty="0"/>
              <a:t>קבוע </a:t>
            </a:r>
            <a:r>
              <a:rPr lang="en-US" b="1" dirty="0"/>
              <a:t>Fixed S-Box</a:t>
            </a:r>
            <a:r>
              <a:rPr lang="he-IL" b="1" dirty="0"/>
              <a:t>:</a:t>
            </a:r>
            <a:r>
              <a:rPr lang="en-US" dirty="0"/>
              <a:t/>
            </a:r>
            <a:br>
              <a:rPr lang="en-US" dirty="0"/>
            </a:br>
            <a:r>
              <a:rPr lang="he-IL" dirty="0"/>
              <a:t>טבלה קבועה שנבחרת מראש ומשמשת תמיד באותו אופן, כמו ב-</a:t>
            </a:r>
            <a:r>
              <a:rPr lang="en-US" dirty="0"/>
              <a:t>DES</a:t>
            </a:r>
            <a:r>
              <a:rPr lang="he-IL" dirty="0"/>
              <a:t>.</a:t>
            </a:r>
            <a:r>
              <a:rPr lang="en-US" dirty="0"/>
              <a:t/>
            </a:r>
            <a:br>
              <a:rPr lang="en-US" dirty="0"/>
            </a:br>
            <a:r>
              <a:rPr lang="he-IL" dirty="0"/>
              <a:t>יתרונות: קל ליישום, מהיר.</a:t>
            </a:r>
            <a:br>
              <a:rPr lang="he-IL" dirty="0"/>
            </a:br>
            <a:r>
              <a:rPr lang="he-IL" dirty="0"/>
              <a:t>חסרונות: אם התוקף מגלה חולשה, כל המערכת נחשפת.</a:t>
            </a:r>
          </a:p>
          <a:p>
            <a:endParaRPr lang="he-IL" dirty="0"/>
          </a:p>
          <a:p>
            <a:r>
              <a:rPr lang="en-US" b="1" dirty="0"/>
              <a:t> S-Box</a:t>
            </a:r>
            <a:r>
              <a:rPr lang="he-IL" b="1" dirty="0"/>
              <a:t>מחושב </a:t>
            </a:r>
            <a:r>
              <a:rPr lang="en-US" b="1" dirty="0"/>
              <a:t>Dynamic S-Box</a:t>
            </a:r>
            <a:r>
              <a:rPr lang="he-IL" b="1" dirty="0"/>
              <a:t>:</a:t>
            </a:r>
            <a:r>
              <a:rPr lang="en-US" dirty="0"/>
              <a:t/>
            </a:r>
            <a:br>
              <a:rPr lang="en-US" dirty="0"/>
            </a:br>
            <a:r>
              <a:rPr lang="en-US" dirty="0"/>
              <a:t> S-Box</a:t>
            </a:r>
            <a:r>
              <a:rPr lang="he-IL" dirty="0"/>
              <a:t>מחושב דינמית על בסיס המפתח הסודי, כמו בחלק מהגרסאות המתקדמות של </a:t>
            </a:r>
            <a:r>
              <a:rPr lang="en-US" dirty="0"/>
              <a:t>AES</a:t>
            </a:r>
            <a:r>
              <a:rPr lang="he-IL" dirty="0"/>
              <a:t>.</a:t>
            </a:r>
            <a:r>
              <a:rPr lang="en-US" dirty="0"/>
              <a:t/>
            </a:r>
            <a:br>
              <a:rPr lang="en-US" dirty="0"/>
            </a:br>
            <a:r>
              <a:rPr lang="he-IL" dirty="0"/>
              <a:t>יתרונות: מקשה על מתקפות </a:t>
            </a:r>
            <a:r>
              <a:rPr lang="he-IL" dirty="0" err="1"/>
              <a:t>קריפטואנליזה</a:t>
            </a:r>
            <a:r>
              <a:rPr lang="he-IL" dirty="0"/>
              <a:t>.</a:t>
            </a:r>
            <a:br>
              <a:rPr lang="he-IL" dirty="0"/>
            </a:br>
            <a:r>
              <a:rPr lang="he-IL" dirty="0"/>
              <a:t>חסרונות: דורש יותר משאבי חישוב.</a:t>
            </a:r>
          </a:p>
        </p:txBody>
      </p:sp>
    </p:spTree>
    <p:extLst>
      <p:ext uri="{BB962C8B-B14F-4D97-AF65-F5344CB8AC3E}">
        <p14:creationId xmlns:p14="http://schemas.microsoft.com/office/powerpoint/2010/main" val="16939553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202872" y="642594"/>
            <a:ext cx="8922327" cy="1371600"/>
          </a:xfrm>
        </p:spPr>
        <p:txBody>
          <a:bodyPr/>
          <a:lstStyle/>
          <a:p>
            <a:r>
              <a:rPr lang="he-IL" dirty="0"/>
              <a:t>כיצד פועל</a:t>
            </a:r>
            <a:r>
              <a:rPr lang="en-US" dirty="0"/>
              <a:t> S-Box </a:t>
            </a:r>
            <a:r>
              <a:rPr lang="he-IL" dirty="0"/>
              <a:t>באלגוריתם </a:t>
            </a:r>
            <a:r>
              <a:rPr lang="en-US" dirty="0"/>
              <a:t>DES</a:t>
            </a:r>
            <a:r>
              <a:rPr lang="he-IL" dirty="0"/>
              <a:t>?</a:t>
            </a:r>
          </a:p>
        </p:txBody>
      </p:sp>
      <p:sp>
        <p:nvSpPr>
          <p:cNvPr id="3" name="מציין מיקום תוכן 2"/>
          <p:cNvSpPr>
            <a:spLocks noGrp="1"/>
          </p:cNvSpPr>
          <p:nvPr>
            <p:ph idx="1"/>
          </p:nvPr>
        </p:nvSpPr>
        <p:spPr/>
        <p:txBody>
          <a:bodyPr/>
          <a:lstStyle/>
          <a:p>
            <a:r>
              <a:rPr lang="he-IL" b="1" dirty="0"/>
              <a:t>ב-</a:t>
            </a:r>
            <a:r>
              <a:rPr lang="en-US" b="1" dirty="0"/>
              <a:t> DES </a:t>
            </a:r>
            <a:r>
              <a:rPr lang="he-IL" b="1" dirty="0"/>
              <a:t>יש 8 תיבות</a:t>
            </a:r>
            <a:r>
              <a:rPr lang="en-US" b="1" dirty="0"/>
              <a:t> S-Box </a:t>
            </a:r>
            <a:r>
              <a:rPr lang="he-IL" b="1" dirty="0"/>
              <a:t>שונות</a:t>
            </a:r>
            <a:r>
              <a:rPr lang="he-IL" dirty="0"/>
              <a:t>, שכל אחת מקבלת </a:t>
            </a:r>
            <a:r>
              <a:rPr lang="he-IL" b="1" dirty="0"/>
              <a:t>6 ביטים כקלט</a:t>
            </a:r>
            <a:r>
              <a:rPr lang="he-IL" dirty="0"/>
              <a:t> ומחזירה </a:t>
            </a:r>
            <a:r>
              <a:rPr lang="he-IL" b="1" dirty="0"/>
              <a:t>4 ביטים כפלט</a:t>
            </a:r>
            <a:r>
              <a:rPr lang="he-IL" dirty="0"/>
              <a:t>.</a:t>
            </a:r>
          </a:p>
          <a:p>
            <a:r>
              <a:rPr lang="he-IL" b="1" dirty="0"/>
              <a:t>🔹 אופן הפעולה:</a:t>
            </a:r>
            <a:r>
              <a:rPr lang="he-IL" dirty="0"/>
              <a:t/>
            </a:r>
            <a:br>
              <a:rPr lang="he-IL" dirty="0"/>
            </a:br>
            <a:r>
              <a:rPr lang="he-IL" dirty="0"/>
              <a:t> 1. הקלט (6 ביטים) מחולק ל-2 חלקים:</a:t>
            </a:r>
          </a:p>
          <a:p>
            <a:r>
              <a:rPr lang="he-IL" dirty="0"/>
              <a:t>הביטים הראשון והאחרון קובעים את </a:t>
            </a:r>
            <a:r>
              <a:rPr lang="he-IL" b="1" dirty="0"/>
              <a:t>השורה בטבלה</a:t>
            </a:r>
            <a:r>
              <a:rPr lang="he-IL" dirty="0"/>
              <a:t>.</a:t>
            </a:r>
          </a:p>
          <a:p>
            <a:r>
              <a:rPr lang="he-IL" dirty="0"/>
              <a:t>ארבעת הביטים האמצעיים קובעים את </a:t>
            </a:r>
            <a:r>
              <a:rPr lang="he-IL" b="1" dirty="0"/>
              <a:t>העמודה בטבלה</a:t>
            </a:r>
            <a:r>
              <a:rPr lang="he-IL" dirty="0"/>
              <a:t>.</a:t>
            </a:r>
          </a:p>
          <a:p>
            <a:r>
              <a:rPr lang="he-IL" dirty="0"/>
              <a:t/>
            </a:r>
            <a:br>
              <a:rPr lang="he-IL" dirty="0"/>
            </a:br>
            <a:r>
              <a:rPr lang="he-IL" dirty="0"/>
              <a:t>2. הערך המתאים מוחלף ב-4 ביטים חדשים שהם הפלט.</a:t>
            </a:r>
          </a:p>
          <a:p>
            <a:endParaRPr lang="he-IL" dirty="0"/>
          </a:p>
        </p:txBody>
      </p:sp>
    </p:spTree>
    <p:extLst>
      <p:ext uri="{BB962C8B-B14F-4D97-AF65-F5344CB8AC3E}">
        <p14:creationId xmlns:p14="http://schemas.microsoft.com/office/powerpoint/2010/main" val="145621498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757352" y="642594"/>
            <a:ext cx="7367847" cy="1371600"/>
          </a:xfrm>
        </p:spPr>
        <p:txBody>
          <a:bodyPr/>
          <a:lstStyle/>
          <a:p>
            <a:r>
              <a:rPr lang="he-IL" dirty="0"/>
              <a:t>דוגמה מעשית </a:t>
            </a:r>
            <a:r>
              <a:rPr lang="en-US" dirty="0"/>
              <a:t>S-Box </a:t>
            </a:r>
            <a:r>
              <a:rPr lang="he-IL" dirty="0"/>
              <a:t> ב-</a:t>
            </a:r>
            <a:r>
              <a:rPr lang="en-US" dirty="0"/>
              <a:t>DES</a:t>
            </a:r>
            <a:endParaRPr lang="he-IL" dirty="0"/>
          </a:p>
        </p:txBody>
      </p:sp>
      <p:sp>
        <p:nvSpPr>
          <p:cNvPr id="3" name="מציין מיקום תוכן 2"/>
          <p:cNvSpPr>
            <a:spLocks noGrp="1"/>
          </p:cNvSpPr>
          <p:nvPr>
            <p:ph idx="1"/>
          </p:nvPr>
        </p:nvSpPr>
        <p:spPr/>
        <p:txBody>
          <a:bodyPr/>
          <a:lstStyle/>
          <a:p>
            <a:r>
              <a:rPr lang="he-IL" dirty="0"/>
              <a:t>ניקח דוגמה עם אחת מתיבות ההחלפה של </a:t>
            </a:r>
            <a:r>
              <a:rPr lang="en-US" dirty="0"/>
              <a:t>DES</a:t>
            </a:r>
          </a:p>
          <a:p>
            <a:r>
              <a:rPr lang="he-IL" b="1" dirty="0"/>
              <a:t>קלט:</a:t>
            </a:r>
            <a:r>
              <a:rPr lang="he-IL" dirty="0"/>
              <a:t> 6 ביטים → </a:t>
            </a:r>
            <a:r>
              <a:rPr lang="he-IL" b="1" dirty="0"/>
              <a:t>101011</a:t>
            </a:r>
            <a:endParaRPr lang="he-IL" dirty="0"/>
          </a:p>
          <a:p>
            <a:r>
              <a:rPr lang="he-IL" dirty="0"/>
              <a:t>1. הביט הראשון והאחרון (10) קובעים את </a:t>
            </a:r>
            <a:r>
              <a:rPr lang="he-IL" b="1" dirty="0"/>
              <a:t>השורה בטבלה</a:t>
            </a:r>
            <a:r>
              <a:rPr lang="he-IL" dirty="0"/>
              <a:t>.</a:t>
            </a:r>
          </a:p>
          <a:p>
            <a:r>
              <a:rPr lang="he-IL" dirty="0"/>
              <a:t/>
            </a:r>
            <a:br>
              <a:rPr lang="he-IL" dirty="0"/>
            </a:br>
            <a:r>
              <a:rPr lang="he-IL" dirty="0"/>
              <a:t>2. ארבעת הביטים הפנימיים (0101) קובעים את </a:t>
            </a:r>
            <a:r>
              <a:rPr lang="he-IL" b="1" dirty="0"/>
              <a:t>העמודה בטבלה</a:t>
            </a:r>
            <a:r>
              <a:rPr lang="he-IL" dirty="0"/>
              <a:t>.</a:t>
            </a:r>
          </a:p>
          <a:p>
            <a:r>
              <a:rPr lang="he-IL" dirty="0"/>
              <a:t/>
            </a:r>
            <a:br>
              <a:rPr lang="he-IL" dirty="0"/>
            </a:br>
            <a:r>
              <a:rPr lang="he-IL" dirty="0"/>
              <a:t>3. הערך שנמצא באותו מקום בטבלה מוחלף כפלט (4 ביטים).</a:t>
            </a:r>
          </a:p>
          <a:p>
            <a:endParaRPr lang="he-IL" dirty="0"/>
          </a:p>
        </p:txBody>
      </p:sp>
    </p:spTree>
    <p:extLst>
      <p:ext uri="{BB962C8B-B14F-4D97-AF65-F5344CB8AC3E}">
        <p14:creationId xmlns:p14="http://schemas.microsoft.com/office/powerpoint/2010/main" val="12583700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435628" y="642594"/>
            <a:ext cx="8689571" cy="1371600"/>
          </a:xfrm>
        </p:spPr>
        <p:txBody>
          <a:bodyPr/>
          <a:lstStyle/>
          <a:p>
            <a:r>
              <a:rPr lang="he-IL" dirty="0"/>
              <a:t>כיצד פועל</a:t>
            </a:r>
            <a:r>
              <a:rPr lang="en-US" dirty="0"/>
              <a:t>S-Box </a:t>
            </a:r>
            <a:r>
              <a:rPr lang="he-IL" dirty="0"/>
              <a:t> באלגוריתם </a:t>
            </a:r>
            <a:r>
              <a:rPr lang="en-US" dirty="0"/>
              <a:t>AES</a:t>
            </a:r>
            <a:r>
              <a:rPr lang="he-IL" dirty="0"/>
              <a:t>?</a:t>
            </a:r>
          </a:p>
        </p:txBody>
      </p:sp>
      <p:sp>
        <p:nvSpPr>
          <p:cNvPr id="3" name="מציין מיקום תוכן 2"/>
          <p:cNvSpPr>
            <a:spLocks noGrp="1"/>
          </p:cNvSpPr>
          <p:nvPr>
            <p:ph idx="1"/>
          </p:nvPr>
        </p:nvSpPr>
        <p:spPr/>
        <p:txBody>
          <a:bodyPr/>
          <a:lstStyle/>
          <a:p>
            <a:r>
              <a:rPr lang="he-IL" dirty="0"/>
              <a:t>ב-</a:t>
            </a:r>
            <a:r>
              <a:rPr lang="en-US" dirty="0"/>
              <a:t> AES </a:t>
            </a:r>
            <a:r>
              <a:rPr lang="he-IL" dirty="0"/>
              <a:t>קיימת תיבת החלפה אחת בלבד, המכונה </a:t>
            </a:r>
            <a:r>
              <a:rPr lang="en-US" dirty="0"/>
              <a:t> AES S-Box</a:t>
            </a:r>
            <a:r>
              <a:rPr lang="he-IL" dirty="0"/>
              <a:t>והיא פועלת על בתים שלמים (8 ביטים) ולא על קבוצות קטנות יותר כמו ב-</a:t>
            </a:r>
            <a:r>
              <a:rPr lang="en-US" dirty="0"/>
              <a:t>DES</a:t>
            </a:r>
            <a:r>
              <a:rPr lang="he-IL" dirty="0"/>
              <a:t>.</a:t>
            </a:r>
            <a:endParaRPr lang="en-US" dirty="0"/>
          </a:p>
          <a:p>
            <a:r>
              <a:rPr lang="he-IL" b="1" dirty="0"/>
              <a:t>פעולת ההחלפה ב-</a:t>
            </a:r>
            <a:r>
              <a:rPr lang="en-US" b="1" dirty="0"/>
              <a:t> AES </a:t>
            </a:r>
            <a:r>
              <a:rPr lang="he-IL" b="1" dirty="0"/>
              <a:t>מורכבת משני שלבים עיקריים:</a:t>
            </a:r>
            <a:r>
              <a:rPr lang="he-IL" dirty="0"/>
              <a:t/>
            </a:r>
            <a:br>
              <a:rPr lang="he-IL" dirty="0"/>
            </a:br>
            <a:r>
              <a:rPr lang="he-IL" dirty="0"/>
              <a:t>1. </a:t>
            </a:r>
            <a:r>
              <a:rPr lang="he-IL" b="1" dirty="0"/>
              <a:t>אינוורסיה בשדה </a:t>
            </a:r>
            <a:r>
              <a:rPr lang="he-IL" b="1" dirty="0" err="1"/>
              <a:t>גלואה</a:t>
            </a:r>
            <a:r>
              <a:rPr lang="he-IL" b="1" dirty="0"/>
              <a:t> </a:t>
            </a:r>
            <a:r>
              <a:rPr lang="en-US" b="1" dirty="0"/>
              <a:t> :Galois Field Inversion</a:t>
            </a:r>
            <a:r>
              <a:rPr lang="he-IL" dirty="0"/>
              <a:t>חישוב הופכי מתמטי עבור כל בית</a:t>
            </a:r>
            <a:r>
              <a:rPr lang="en-US" dirty="0"/>
              <a:t>Byte </a:t>
            </a:r>
            <a:r>
              <a:rPr lang="he-IL" dirty="0"/>
              <a:t> בשדה </a:t>
            </a:r>
            <a:r>
              <a:rPr lang="en-US" dirty="0"/>
              <a:t>GF(2⁸)</a:t>
            </a:r>
            <a:r>
              <a:rPr lang="he-IL" dirty="0"/>
              <a:t>.</a:t>
            </a:r>
            <a:r>
              <a:rPr lang="en-US" dirty="0"/>
              <a:t/>
            </a:r>
            <a:br>
              <a:rPr lang="en-US" dirty="0"/>
            </a:br>
            <a:r>
              <a:rPr lang="he-IL" dirty="0"/>
              <a:t>2. </a:t>
            </a:r>
            <a:r>
              <a:rPr lang="he-IL" b="1" dirty="0"/>
              <a:t>טרנספורמציה ליניארית</a:t>
            </a:r>
            <a:r>
              <a:rPr lang="en-US" b="1" dirty="0"/>
              <a:t>Affine Transformation</a:t>
            </a:r>
            <a:r>
              <a:rPr lang="en-US" dirty="0"/>
              <a:t> </a:t>
            </a:r>
            <a:r>
              <a:rPr lang="he-IL" dirty="0"/>
              <a:t>: הכפלה </a:t>
            </a:r>
            <a:r>
              <a:rPr lang="he-IL" dirty="0" err="1"/>
              <a:t>מטריציונית</a:t>
            </a:r>
            <a:r>
              <a:rPr lang="he-IL" dirty="0"/>
              <a:t> כדי להוסיף ערבוב נוסף.</a:t>
            </a:r>
          </a:p>
          <a:p>
            <a:r>
              <a:rPr lang="he-IL" dirty="0"/>
              <a:t>יתרון משמעותי של ה-</a:t>
            </a:r>
            <a:r>
              <a:rPr lang="en-US" dirty="0"/>
              <a:t>S-Box </a:t>
            </a:r>
            <a:r>
              <a:rPr lang="he-IL" dirty="0"/>
              <a:t> של </a:t>
            </a:r>
            <a:r>
              <a:rPr lang="en-US" dirty="0"/>
              <a:t> AES</a:t>
            </a:r>
            <a:r>
              <a:rPr lang="he-IL" dirty="0"/>
              <a:t>הוא שהוא עמיד יותר למתקפות </a:t>
            </a:r>
            <a:r>
              <a:rPr lang="he-IL" dirty="0" err="1"/>
              <a:t>קריפטואנליזה</a:t>
            </a:r>
            <a:r>
              <a:rPr lang="he-IL" dirty="0"/>
              <a:t> מאשר ה-</a:t>
            </a:r>
            <a:r>
              <a:rPr lang="en-US" dirty="0"/>
              <a:t>S- Boxes </a:t>
            </a:r>
            <a:r>
              <a:rPr lang="he-IL" dirty="0"/>
              <a:t> של </a:t>
            </a:r>
            <a:r>
              <a:rPr lang="en-US" dirty="0"/>
              <a:t> DES</a:t>
            </a:r>
            <a:r>
              <a:rPr lang="he-IL" dirty="0"/>
              <a:t>בזכות תכנון מתמטי חזק יותר.</a:t>
            </a:r>
          </a:p>
          <a:p>
            <a:endParaRPr lang="he-IL" dirty="0"/>
          </a:p>
        </p:txBody>
      </p:sp>
    </p:spTree>
    <p:extLst>
      <p:ext uri="{BB962C8B-B14F-4D97-AF65-F5344CB8AC3E}">
        <p14:creationId xmlns:p14="http://schemas.microsoft.com/office/powerpoint/2010/main" val="11312102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645920" y="642594"/>
            <a:ext cx="9479280" cy="1371600"/>
          </a:xfrm>
        </p:spPr>
        <p:txBody>
          <a:bodyPr>
            <a:normAutofit fontScale="90000"/>
          </a:bodyPr>
          <a:lstStyle/>
          <a:p>
            <a:r>
              <a:rPr lang="he-IL" dirty="0"/>
              <a:t>מתקפות על</a:t>
            </a:r>
            <a:r>
              <a:rPr lang="en-US" dirty="0"/>
              <a:t> S-Box </a:t>
            </a:r>
            <a:r>
              <a:rPr lang="he-IL" dirty="0"/>
              <a:t>ואופן ההתמודדות איתן</a:t>
            </a:r>
          </a:p>
        </p:txBody>
      </p:sp>
      <p:sp>
        <p:nvSpPr>
          <p:cNvPr id="3" name="מציין מיקום תוכן 2"/>
          <p:cNvSpPr>
            <a:spLocks noGrp="1"/>
          </p:cNvSpPr>
          <p:nvPr>
            <p:ph idx="1"/>
          </p:nvPr>
        </p:nvSpPr>
        <p:spPr/>
        <p:txBody>
          <a:bodyPr/>
          <a:lstStyle/>
          <a:p>
            <a:r>
              <a:rPr lang="he-IL" b="1" dirty="0"/>
              <a:t>מתקפה ליניארית </a:t>
            </a:r>
            <a:r>
              <a:rPr lang="en-US" b="1" dirty="0"/>
              <a:t>Linear Cryptanalysis</a:t>
            </a:r>
            <a:r>
              <a:rPr lang="he-IL" b="1" dirty="0"/>
              <a:t>:</a:t>
            </a:r>
            <a:r>
              <a:rPr lang="en-US" dirty="0"/>
              <a:t/>
            </a:r>
            <a:br>
              <a:rPr lang="en-US" dirty="0"/>
            </a:br>
            <a:r>
              <a:rPr lang="he-IL" dirty="0"/>
              <a:t>אם תיבת ההחלפה ניתנת לייצוג באמצעות משוואות ליניאריות פשוטות, ניתן לחשוף חלקים מהמפתח הסודי.</a:t>
            </a:r>
            <a:br>
              <a:rPr lang="he-IL" dirty="0"/>
            </a:br>
            <a:r>
              <a:rPr lang="he-IL" b="1" dirty="0"/>
              <a:t>פתרון:</a:t>
            </a:r>
            <a:r>
              <a:rPr lang="he-IL" dirty="0"/>
              <a:t> שימוש ב-</a:t>
            </a:r>
            <a:r>
              <a:rPr lang="en-US" dirty="0"/>
              <a:t> S-Box </a:t>
            </a:r>
            <a:r>
              <a:rPr lang="he-IL" dirty="0"/>
              <a:t>לא ליניארי עם תכונות מתמטיות שמונעות ייצוג ליניארי פשוט.</a:t>
            </a:r>
          </a:p>
          <a:p>
            <a:endParaRPr lang="he-IL" dirty="0"/>
          </a:p>
          <a:p>
            <a:r>
              <a:rPr lang="he-IL" b="1" dirty="0"/>
              <a:t>מתקפה דיפרנציאלית </a:t>
            </a:r>
            <a:r>
              <a:rPr lang="en-US" b="1" dirty="0"/>
              <a:t>Differential Cryptanalysis</a:t>
            </a:r>
            <a:r>
              <a:rPr lang="he-IL" b="1" dirty="0"/>
              <a:t>:</a:t>
            </a:r>
            <a:r>
              <a:rPr lang="en-US" dirty="0"/>
              <a:t/>
            </a:r>
            <a:br>
              <a:rPr lang="en-US" dirty="0"/>
            </a:br>
            <a:r>
              <a:rPr lang="he-IL" dirty="0"/>
              <a:t>אם שינוי קטן בקלט מוביל לשינוי קטן וצפוי בפלט, ניתן לנצל את הדפוסים כדי לשבור את ההצפנה.</a:t>
            </a:r>
            <a:br>
              <a:rPr lang="he-IL" dirty="0"/>
            </a:br>
            <a:r>
              <a:rPr lang="he-IL" b="1" dirty="0"/>
              <a:t>פתרון:</a:t>
            </a:r>
            <a:r>
              <a:rPr lang="he-IL" dirty="0"/>
              <a:t> תכנון</a:t>
            </a:r>
            <a:r>
              <a:rPr lang="en-US" dirty="0"/>
              <a:t> S-Box </a:t>
            </a:r>
            <a:r>
              <a:rPr lang="he-IL" dirty="0"/>
              <a:t>כך ששינוי קטן בקלט יגרום לשינוי גדול ובלתי צפוי בפלט.</a:t>
            </a:r>
          </a:p>
          <a:p>
            <a:endParaRPr lang="he-IL" dirty="0"/>
          </a:p>
          <a:p>
            <a:r>
              <a:rPr lang="he-IL" b="1" dirty="0"/>
              <a:t>מתקפת תזמון </a:t>
            </a:r>
            <a:r>
              <a:rPr lang="en-US" b="1" dirty="0"/>
              <a:t>Timing Attack</a:t>
            </a:r>
            <a:r>
              <a:rPr lang="he-IL" b="1" dirty="0"/>
              <a:t>:</a:t>
            </a:r>
            <a:r>
              <a:rPr lang="en-US" dirty="0"/>
              <a:t/>
            </a:r>
            <a:br>
              <a:rPr lang="en-US" dirty="0"/>
            </a:br>
            <a:r>
              <a:rPr lang="he-IL" dirty="0"/>
              <a:t>אם זמן החישוב של </a:t>
            </a:r>
            <a:r>
              <a:rPr lang="en-US" dirty="0"/>
              <a:t> S-Box</a:t>
            </a:r>
            <a:r>
              <a:rPr lang="he-IL" dirty="0"/>
              <a:t>משתנה בהתאם לקלט, ניתן להסיק מידע על הנתונים והפעולות הפנימיות.</a:t>
            </a:r>
            <a:br>
              <a:rPr lang="he-IL" dirty="0"/>
            </a:br>
            <a:r>
              <a:rPr lang="he-IL" b="1" dirty="0"/>
              <a:t>פתרון:</a:t>
            </a:r>
            <a:r>
              <a:rPr lang="he-IL" dirty="0"/>
              <a:t> שימוש בטבלאות קבועות או אלגוריתמים עם זמן ביצוע אחיד.</a:t>
            </a:r>
          </a:p>
          <a:p>
            <a:endParaRPr lang="he-IL" dirty="0"/>
          </a:p>
        </p:txBody>
      </p:sp>
    </p:spTree>
    <p:extLst>
      <p:ext uri="{BB962C8B-B14F-4D97-AF65-F5344CB8AC3E}">
        <p14:creationId xmlns:p14="http://schemas.microsoft.com/office/powerpoint/2010/main" val="28460218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השוואה בין</a:t>
            </a:r>
            <a:r>
              <a:rPr lang="en-US" dirty="0"/>
              <a:t>DES </a:t>
            </a:r>
            <a:r>
              <a:rPr lang="he-IL" dirty="0"/>
              <a:t> ל-</a:t>
            </a:r>
            <a:r>
              <a:rPr lang="en-US" dirty="0"/>
              <a:t>AES </a:t>
            </a:r>
            <a:r>
              <a:rPr lang="he-IL" dirty="0"/>
              <a:t> מבחינת </a:t>
            </a:r>
            <a:r>
              <a:rPr lang="en-US" dirty="0"/>
              <a:t>S-Box</a:t>
            </a:r>
            <a:endParaRPr lang="he-IL" dirty="0"/>
          </a:p>
        </p:txBody>
      </p:sp>
      <p:pic>
        <p:nvPicPr>
          <p:cNvPr id="4" name="מציין מיקום תוכן 3"/>
          <p:cNvPicPr>
            <a:picLocks noGrp="1" noChangeAspect="1"/>
          </p:cNvPicPr>
          <p:nvPr>
            <p:ph idx="1"/>
          </p:nvPr>
        </p:nvPicPr>
        <p:blipFill>
          <a:blip r:embed="rId2"/>
          <a:stretch>
            <a:fillRect/>
          </a:stretch>
        </p:blipFill>
        <p:spPr>
          <a:xfrm>
            <a:off x="1274618" y="2202874"/>
            <a:ext cx="9126198" cy="2529676"/>
          </a:xfrm>
          <a:prstGeom prst="rect">
            <a:avLst/>
          </a:prstGeom>
        </p:spPr>
      </p:pic>
    </p:spTree>
    <p:extLst>
      <p:ext uri="{BB962C8B-B14F-4D97-AF65-F5344CB8AC3E}">
        <p14:creationId xmlns:p14="http://schemas.microsoft.com/office/powerpoint/2010/main" val="70854479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379912" y="642594"/>
            <a:ext cx="9745287" cy="1371600"/>
          </a:xfrm>
        </p:spPr>
        <p:txBody>
          <a:bodyPr>
            <a:normAutofit fontScale="90000"/>
          </a:bodyPr>
          <a:lstStyle/>
          <a:p>
            <a:r>
              <a:rPr lang="he-IL" dirty="0"/>
              <a:t>תרגיל מעשי על תיבת החלפה</a:t>
            </a:r>
            <a:r>
              <a:rPr lang="en-US" dirty="0"/>
              <a:t> S-Box </a:t>
            </a:r>
            <a:r>
              <a:rPr lang="he-IL" dirty="0"/>
              <a:t>ב-</a:t>
            </a:r>
            <a:r>
              <a:rPr lang="en-US" dirty="0"/>
              <a:t>DES</a:t>
            </a:r>
            <a:endParaRPr lang="he-IL" dirty="0"/>
          </a:p>
        </p:txBody>
      </p:sp>
      <p:sp>
        <p:nvSpPr>
          <p:cNvPr id="3" name="מציין מיקום תוכן 2"/>
          <p:cNvSpPr>
            <a:spLocks noGrp="1"/>
          </p:cNvSpPr>
          <p:nvPr>
            <p:ph idx="1"/>
          </p:nvPr>
        </p:nvSpPr>
        <p:spPr>
          <a:xfrm>
            <a:off x="1066799" y="1828800"/>
            <a:ext cx="10058400" cy="4438996"/>
          </a:xfrm>
        </p:spPr>
        <p:txBody>
          <a:bodyPr>
            <a:normAutofit fontScale="92500" lnSpcReduction="10000"/>
          </a:bodyPr>
          <a:lstStyle/>
          <a:p>
            <a:r>
              <a:rPr lang="he-IL" b="1" dirty="0"/>
              <a:t>תיאור התרגיל:</a:t>
            </a:r>
          </a:p>
          <a:p>
            <a:r>
              <a:rPr lang="he-IL" dirty="0"/>
              <a:t>באלגוריתם </a:t>
            </a:r>
            <a:r>
              <a:rPr lang="en-US" b="1" dirty="0"/>
              <a:t>DES</a:t>
            </a:r>
            <a:r>
              <a:rPr lang="he-IL" dirty="0"/>
              <a:t> כל </a:t>
            </a:r>
            <a:r>
              <a:rPr lang="en-US" dirty="0"/>
              <a:t> S-Box</a:t>
            </a:r>
            <a:r>
              <a:rPr lang="he-IL" dirty="0"/>
              <a:t>מקבלת </a:t>
            </a:r>
            <a:r>
              <a:rPr lang="he-IL" b="1" dirty="0"/>
              <a:t>6 ביטים כקלט</a:t>
            </a:r>
            <a:r>
              <a:rPr lang="he-IL" dirty="0"/>
              <a:t> ומחזירה </a:t>
            </a:r>
            <a:r>
              <a:rPr lang="he-IL" b="1" dirty="0"/>
              <a:t>4 ביטים כפלט</a:t>
            </a:r>
            <a:r>
              <a:rPr lang="he-IL" dirty="0"/>
              <a:t>.</a:t>
            </a:r>
            <a:br>
              <a:rPr lang="he-IL" dirty="0"/>
            </a:br>
            <a:r>
              <a:rPr lang="he-IL" dirty="0"/>
              <a:t>בתרגיל הזה נשתמש באחת מתיבות ההחלפה של </a:t>
            </a:r>
            <a:r>
              <a:rPr lang="en-US" dirty="0"/>
              <a:t> DES</a:t>
            </a:r>
            <a:r>
              <a:rPr lang="he-IL" dirty="0"/>
              <a:t>ונראה כיצד היא ממפה קלט מסוים לפלט.</a:t>
            </a:r>
          </a:p>
          <a:p>
            <a:r>
              <a:rPr lang="he-IL" b="1" dirty="0"/>
              <a:t>נתונים לתרגיל:</a:t>
            </a:r>
          </a:p>
          <a:p>
            <a:r>
              <a:rPr lang="he-IL" dirty="0"/>
              <a:t>להלן </a:t>
            </a:r>
            <a:r>
              <a:rPr lang="en-US" dirty="0"/>
              <a:t> </a:t>
            </a:r>
            <a:r>
              <a:rPr lang="en-US" b="1" dirty="0"/>
              <a:t>S-Box </a:t>
            </a:r>
            <a:r>
              <a:rPr lang="he-IL" b="1" dirty="0"/>
              <a:t>מספר 1</a:t>
            </a:r>
            <a:r>
              <a:rPr lang="en-US" b="1" dirty="0"/>
              <a:t>(S1) </a:t>
            </a:r>
            <a:r>
              <a:rPr lang="he-IL" b="1" dirty="0"/>
              <a:t> מתוך</a:t>
            </a:r>
            <a:r>
              <a:rPr lang="en-US" b="1" dirty="0"/>
              <a:t> DES</a:t>
            </a:r>
            <a:r>
              <a:rPr lang="en-US" dirty="0"/>
              <a:t> </a:t>
            </a:r>
            <a:r>
              <a:rPr lang="he-IL" dirty="0"/>
              <a:t>הערכים בטבלה מיוצגים בעשרוני:</a:t>
            </a:r>
          </a:p>
          <a:p>
            <a:endParaRPr lang="he-IL" dirty="0"/>
          </a:p>
          <a:p>
            <a:endParaRPr lang="he-IL" dirty="0"/>
          </a:p>
          <a:p>
            <a:endParaRPr lang="he-IL" dirty="0"/>
          </a:p>
          <a:p>
            <a:endParaRPr lang="he-IL" dirty="0"/>
          </a:p>
          <a:p>
            <a:endParaRPr lang="he-IL" dirty="0"/>
          </a:p>
          <a:p>
            <a:endParaRPr lang="he-IL" dirty="0"/>
          </a:p>
          <a:p>
            <a:r>
              <a:rPr lang="he-IL" dirty="0"/>
              <a:t>השאלה:</a:t>
            </a:r>
          </a:p>
          <a:p>
            <a:r>
              <a:rPr lang="he-IL" dirty="0"/>
              <a:t>בהינתן הקלט 101011 מהו הפלט שמחזירה ה-</a:t>
            </a:r>
            <a:r>
              <a:rPr lang="en-US" dirty="0"/>
              <a:t>S-Box</a:t>
            </a:r>
            <a:r>
              <a:rPr lang="he-IL" dirty="0"/>
              <a:t>?</a:t>
            </a:r>
          </a:p>
          <a:p>
            <a:endParaRPr lang="he-IL" dirty="0"/>
          </a:p>
          <a:p>
            <a:endParaRPr lang="he-IL" dirty="0"/>
          </a:p>
          <a:p>
            <a:endParaRPr lang="he-IL" dirty="0"/>
          </a:p>
          <a:p>
            <a:endParaRPr lang="he-IL" dirty="0"/>
          </a:p>
        </p:txBody>
      </p:sp>
      <p:pic>
        <p:nvPicPr>
          <p:cNvPr id="4" name="תמונה 3"/>
          <p:cNvPicPr>
            <a:picLocks noChangeAspect="1"/>
          </p:cNvPicPr>
          <p:nvPr/>
        </p:nvPicPr>
        <p:blipFill>
          <a:blip r:embed="rId2"/>
          <a:stretch>
            <a:fillRect/>
          </a:stretch>
        </p:blipFill>
        <p:spPr>
          <a:xfrm>
            <a:off x="2386593" y="3595254"/>
            <a:ext cx="7731923" cy="1724891"/>
          </a:xfrm>
          <a:prstGeom prst="rect">
            <a:avLst/>
          </a:prstGeom>
        </p:spPr>
      </p:pic>
    </p:spTree>
    <p:extLst>
      <p:ext uri="{BB962C8B-B14F-4D97-AF65-F5344CB8AC3E}">
        <p14:creationId xmlns:p14="http://schemas.microsoft.com/office/powerpoint/2010/main" val="198907695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99505" y="235271"/>
            <a:ext cx="11646131" cy="1371600"/>
          </a:xfrm>
        </p:spPr>
        <p:txBody>
          <a:bodyPr>
            <a:normAutofit fontScale="90000"/>
          </a:bodyPr>
          <a:lstStyle/>
          <a:p>
            <a:r>
              <a:rPr lang="he-IL" dirty="0"/>
              <a:t>המשך - תרגיל מעשי על תיבת החלפה</a:t>
            </a:r>
            <a:r>
              <a:rPr lang="en-US" dirty="0"/>
              <a:t> S-Box </a:t>
            </a:r>
            <a:r>
              <a:rPr lang="he-IL" dirty="0"/>
              <a:t>ב-</a:t>
            </a:r>
            <a:r>
              <a:rPr lang="en-US" dirty="0"/>
              <a:t>DES</a:t>
            </a:r>
            <a:endParaRPr lang="he-IL" dirty="0"/>
          </a:p>
        </p:txBody>
      </p:sp>
      <p:sp>
        <p:nvSpPr>
          <p:cNvPr id="3" name="מציין מיקום תוכן 2"/>
          <p:cNvSpPr>
            <a:spLocks noGrp="1"/>
          </p:cNvSpPr>
          <p:nvPr>
            <p:ph idx="1"/>
          </p:nvPr>
        </p:nvSpPr>
        <p:spPr>
          <a:xfrm>
            <a:off x="1068184" y="1504604"/>
            <a:ext cx="10058400" cy="4804756"/>
          </a:xfrm>
        </p:spPr>
        <p:txBody>
          <a:bodyPr>
            <a:normAutofit lnSpcReduction="10000"/>
          </a:bodyPr>
          <a:lstStyle/>
          <a:p>
            <a:r>
              <a:rPr lang="he-IL" b="1" dirty="0"/>
              <a:t>שלבי הפתרון:</a:t>
            </a:r>
          </a:p>
          <a:p>
            <a:r>
              <a:rPr lang="he-IL" dirty="0"/>
              <a:t/>
            </a:r>
            <a:br>
              <a:rPr lang="he-IL" dirty="0"/>
            </a:br>
            <a:r>
              <a:rPr lang="he-IL" dirty="0"/>
              <a:t>1. קבע את </a:t>
            </a:r>
            <a:r>
              <a:rPr lang="he-IL" b="1" dirty="0"/>
              <a:t>מספר השורה</a:t>
            </a:r>
            <a:r>
              <a:rPr lang="he-IL" dirty="0"/>
              <a:t>:</a:t>
            </a:r>
          </a:p>
          <a:p>
            <a:r>
              <a:rPr lang="he-IL" dirty="0"/>
              <a:t>הביטים הראשון והאחרון של הקלט 101011 הם </a:t>
            </a:r>
            <a:r>
              <a:rPr lang="he-IL" b="1" dirty="0"/>
              <a:t>11</a:t>
            </a:r>
            <a:r>
              <a:rPr lang="he-IL" dirty="0"/>
              <a:t> (שורה </a:t>
            </a:r>
            <a:r>
              <a:rPr lang="he-IL" b="1" dirty="0"/>
              <a:t>3</a:t>
            </a:r>
            <a:r>
              <a:rPr lang="he-IL" dirty="0"/>
              <a:t> בבסיס עשרוני).</a:t>
            </a:r>
          </a:p>
          <a:p>
            <a:endParaRPr lang="he-IL" dirty="0"/>
          </a:p>
          <a:p>
            <a:r>
              <a:rPr lang="he-IL" dirty="0"/>
              <a:t>2. קבע את </a:t>
            </a:r>
            <a:r>
              <a:rPr lang="he-IL" b="1" dirty="0"/>
              <a:t>מספר העמודה</a:t>
            </a:r>
            <a:r>
              <a:rPr lang="he-IL" dirty="0"/>
              <a:t>:</a:t>
            </a:r>
          </a:p>
          <a:p>
            <a:r>
              <a:rPr lang="he-IL" dirty="0"/>
              <a:t>ארבעת הביטים האמצעיים 0101 הם </a:t>
            </a:r>
            <a:r>
              <a:rPr lang="he-IL" b="1" dirty="0"/>
              <a:t>5</a:t>
            </a:r>
            <a:r>
              <a:rPr lang="he-IL" dirty="0"/>
              <a:t> בבסיס עשרוני.</a:t>
            </a:r>
          </a:p>
          <a:p>
            <a:endParaRPr lang="he-IL" dirty="0"/>
          </a:p>
          <a:p>
            <a:r>
              <a:rPr lang="he-IL" dirty="0"/>
              <a:t>3. חפש בטבלה את הערך בשורה </a:t>
            </a:r>
            <a:r>
              <a:rPr lang="he-IL" b="1" dirty="0"/>
              <a:t>3</a:t>
            </a:r>
            <a:r>
              <a:rPr lang="he-IL" dirty="0"/>
              <a:t>, עמודה </a:t>
            </a:r>
            <a:r>
              <a:rPr lang="he-IL" b="1" dirty="0"/>
              <a:t>5</a:t>
            </a:r>
            <a:r>
              <a:rPr lang="he-IL" dirty="0"/>
              <a:t>:</a:t>
            </a:r>
          </a:p>
          <a:p>
            <a:r>
              <a:rPr lang="he-IL" dirty="0"/>
              <a:t>הערך שמופיע הוא </a:t>
            </a:r>
            <a:r>
              <a:rPr lang="he-IL" b="1" dirty="0"/>
              <a:t>9</a:t>
            </a:r>
            <a:r>
              <a:rPr lang="he-IL" dirty="0"/>
              <a:t> (שווה ל- 1001 בבסיס בינארי).</a:t>
            </a:r>
          </a:p>
          <a:p>
            <a:endParaRPr lang="he-IL" dirty="0"/>
          </a:p>
          <a:p>
            <a:r>
              <a:rPr lang="he-IL" b="1" dirty="0"/>
              <a:t>תשובה סופית:</a:t>
            </a:r>
          </a:p>
          <a:p>
            <a:r>
              <a:rPr lang="he-IL" dirty="0"/>
              <a:t>הפלט של ה-</a:t>
            </a:r>
            <a:r>
              <a:rPr lang="en-US" dirty="0"/>
              <a:t>S-Box </a:t>
            </a:r>
            <a:r>
              <a:rPr lang="he-IL" dirty="0"/>
              <a:t> עבור הקלט 101011 הוא 1001 (4 ביטים). </a:t>
            </a:r>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6630543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585258" y="642594"/>
            <a:ext cx="8539942" cy="1371600"/>
          </a:xfrm>
        </p:spPr>
        <p:txBody>
          <a:bodyPr/>
          <a:lstStyle/>
          <a:p>
            <a:r>
              <a:rPr lang="he-IL" dirty="0"/>
              <a:t>מדוע</a:t>
            </a:r>
            <a:r>
              <a:rPr lang="en-US" dirty="0"/>
              <a:t>S-Box </a:t>
            </a:r>
            <a:r>
              <a:rPr lang="he-IL" dirty="0"/>
              <a:t> חשוב בקריפטוגרפיה?</a:t>
            </a:r>
          </a:p>
        </p:txBody>
      </p:sp>
      <p:sp>
        <p:nvSpPr>
          <p:cNvPr id="3" name="מציין מיקום תוכן 2"/>
          <p:cNvSpPr>
            <a:spLocks noGrp="1"/>
          </p:cNvSpPr>
          <p:nvPr>
            <p:ph idx="1"/>
          </p:nvPr>
        </p:nvSpPr>
        <p:spPr/>
        <p:txBody>
          <a:bodyPr/>
          <a:lstStyle/>
          <a:p>
            <a:r>
              <a:rPr lang="he-IL" dirty="0"/>
              <a:t>1. </a:t>
            </a:r>
            <a:r>
              <a:rPr lang="he-IL" b="1" dirty="0"/>
              <a:t>יוצר ערפול</a:t>
            </a:r>
            <a:r>
              <a:rPr lang="en-US" b="1" dirty="0"/>
              <a:t>Confusion</a:t>
            </a:r>
            <a:r>
              <a:rPr lang="en-US" dirty="0"/>
              <a:t> </a:t>
            </a:r>
            <a:r>
              <a:rPr lang="he-IL" dirty="0"/>
              <a:t>: מקשה על תוקף להסיק מידע על המפתח.</a:t>
            </a:r>
          </a:p>
          <a:p>
            <a:r>
              <a:rPr lang="he-IL" dirty="0"/>
              <a:t/>
            </a:r>
            <a:br>
              <a:rPr lang="he-IL" dirty="0"/>
            </a:br>
            <a:r>
              <a:rPr lang="he-IL" dirty="0"/>
              <a:t>2. </a:t>
            </a:r>
            <a:r>
              <a:rPr lang="he-IL" b="1" dirty="0"/>
              <a:t>מונע מתקפות ליניאריות ודיפרנציאליות:</a:t>
            </a:r>
            <a:r>
              <a:rPr lang="he-IL" dirty="0"/>
              <a:t> הופך את הקשרים בין קלט לפלט לפחות צפויים.</a:t>
            </a:r>
          </a:p>
          <a:p>
            <a:r>
              <a:rPr lang="he-IL" dirty="0"/>
              <a:t/>
            </a:r>
            <a:br>
              <a:rPr lang="he-IL" dirty="0"/>
            </a:br>
            <a:r>
              <a:rPr lang="he-IL" dirty="0"/>
              <a:t>3. </a:t>
            </a:r>
            <a:r>
              <a:rPr lang="he-IL" b="1" dirty="0"/>
              <a:t>משנה את הנתונים באופן לא ליניארי:</a:t>
            </a:r>
            <a:r>
              <a:rPr lang="he-IL" dirty="0"/>
              <a:t> מה שמונע מתקפות מתמטיות ישירות.</a:t>
            </a:r>
          </a:p>
        </p:txBody>
      </p:sp>
    </p:spTree>
    <p:extLst>
      <p:ext uri="{BB962C8B-B14F-4D97-AF65-F5344CB8AC3E}">
        <p14:creationId xmlns:p14="http://schemas.microsoft.com/office/powerpoint/2010/main" val="32653802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43752" y="642594"/>
            <a:ext cx="1881447"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מהו תפקיד תיבת ההחלפה</a:t>
            </a:r>
            <a:r>
              <a:rPr lang="en-US" dirty="0"/>
              <a:t>S-Box </a:t>
            </a:r>
            <a:r>
              <a:rPr lang="he-IL" dirty="0"/>
              <a:t> בהצפנה סימטרית?</a:t>
            </a:r>
          </a:p>
          <a:p>
            <a:r>
              <a:rPr lang="he-IL" dirty="0"/>
              <a:t>2. כיצד תיבת ההחלפה יוצרת ערפול </a:t>
            </a:r>
            <a:r>
              <a:rPr lang="en-US" dirty="0"/>
              <a:t>Confusion</a:t>
            </a:r>
            <a:r>
              <a:rPr lang="he-IL" dirty="0"/>
              <a:t>?</a:t>
            </a:r>
          </a:p>
          <a:p>
            <a:r>
              <a:rPr lang="he-IL" dirty="0"/>
              <a:t>3. איך </a:t>
            </a:r>
            <a:r>
              <a:rPr lang="en-US" dirty="0"/>
              <a:t> S-Box</a:t>
            </a:r>
            <a:r>
              <a:rPr lang="he-IL" dirty="0"/>
              <a:t>של </a:t>
            </a:r>
            <a:r>
              <a:rPr lang="en-US" dirty="0"/>
              <a:t> DES</a:t>
            </a:r>
            <a:r>
              <a:rPr lang="he-IL" dirty="0"/>
              <a:t>שונה מזה של </a:t>
            </a:r>
            <a:r>
              <a:rPr lang="en-US" dirty="0"/>
              <a:t>AES</a:t>
            </a:r>
            <a:r>
              <a:rPr lang="he-IL" dirty="0"/>
              <a:t>?</a:t>
            </a:r>
          </a:p>
          <a:p>
            <a:r>
              <a:rPr lang="he-IL" dirty="0"/>
              <a:t>4. מהו גודל הקלט והפלט בתיבת החלפה ב-</a:t>
            </a:r>
            <a:r>
              <a:rPr lang="en-US" dirty="0"/>
              <a:t>DES</a:t>
            </a:r>
            <a:r>
              <a:rPr lang="he-IL" dirty="0"/>
              <a:t>?</a:t>
            </a:r>
          </a:p>
          <a:p>
            <a:r>
              <a:rPr lang="he-IL" dirty="0"/>
              <a:t>5. מהי הסיבה לכך שתיבות החלפה חייבות להיות לא ליניאריות?</a:t>
            </a:r>
          </a:p>
          <a:p>
            <a:r>
              <a:rPr lang="he-IL" dirty="0"/>
              <a:t>6. כיצד תיבת ההחלפה ב-</a:t>
            </a:r>
            <a:r>
              <a:rPr lang="en-US" dirty="0"/>
              <a:t>AES </a:t>
            </a:r>
            <a:r>
              <a:rPr lang="he-IL" dirty="0"/>
              <a:t> מבוססת על שדה </a:t>
            </a:r>
            <a:r>
              <a:rPr lang="he-IL" dirty="0" err="1"/>
              <a:t>גלואה</a:t>
            </a:r>
            <a:r>
              <a:rPr lang="he-IL" dirty="0"/>
              <a:t> </a:t>
            </a:r>
            <a:r>
              <a:rPr lang="en-US" dirty="0"/>
              <a:t>Galois Field</a:t>
            </a:r>
            <a:r>
              <a:rPr lang="he-IL" dirty="0"/>
              <a:t>?</a:t>
            </a:r>
          </a:p>
          <a:p>
            <a:r>
              <a:rPr lang="he-IL" dirty="0"/>
              <a:t>7. מדוע חשוב לבחור תיבת החלפה באופן מחושב ולא אקראי?</a:t>
            </a:r>
          </a:p>
          <a:p>
            <a:r>
              <a:rPr lang="he-IL" dirty="0"/>
              <a:t>8. אילו חולשות בקריפטוגרפיה יכולות להיגרם אם תיבת החלפה אינה מעוצבת נכון?</a:t>
            </a:r>
          </a:p>
          <a:p>
            <a:endParaRPr lang="he-IL" dirty="0"/>
          </a:p>
          <a:p>
            <a:endParaRPr lang="he-IL" dirty="0"/>
          </a:p>
        </p:txBody>
      </p:sp>
    </p:spTree>
    <p:extLst>
      <p:ext uri="{BB962C8B-B14F-4D97-AF65-F5344CB8AC3E}">
        <p14:creationId xmlns:p14="http://schemas.microsoft.com/office/powerpoint/2010/main" val="226935230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94371" y="0"/>
            <a:ext cx="2130829" cy="1371600"/>
          </a:xfrm>
        </p:spPr>
        <p:txBody>
          <a:bodyPr/>
          <a:lstStyle/>
          <a:p>
            <a:r>
              <a:rPr lang="he-IL" dirty="0"/>
              <a:t>תשובות</a:t>
            </a:r>
          </a:p>
        </p:txBody>
      </p:sp>
      <p:sp>
        <p:nvSpPr>
          <p:cNvPr id="3" name="מציין מיקום תוכן 2"/>
          <p:cNvSpPr>
            <a:spLocks noGrp="1"/>
          </p:cNvSpPr>
          <p:nvPr>
            <p:ph idx="1"/>
          </p:nvPr>
        </p:nvSpPr>
        <p:spPr>
          <a:xfrm>
            <a:off x="1066800" y="1172095"/>
            <a:ext cx="10058400" cy="5353396"/>
          </a:xfrm>
        </p:spPr>
        <p:txBody>
          <a:bodyPr>
            <a:normAutofit lnSpcReduction="10000"/>
          </a:bodyPr>
          <a:lstStyle/>
          <a:p>
            <a:r>
              <a:rPr lang="he-IL" dirty="0"/>
              <a:t>1. תפקיד ה-</a:t>
            </a:r>
            <a:r>
              <a:rPr lang="en-US" dirty="0"/>
              <a:t> S-Box </a:t>
            </a:r>
            <a:r>
              <a:rPr lang="he-IL" dirty="0"/>
              <a:t>הוא </a:t>
            </a:r>
            <a:r>
              <a:rPr lang="he-IL" b="1" dirty="0"/>
              <a:t>לשנות את ערכי הביטים</a:t>
            </a:r>
            <a:r>
              <a:rPr lang="he-IL" dirty="0"/>
              <a:t> בהתאם לטבלה מוגדרת מראש כדי ליצור </a:t>
            </a:r>
            <a:r>
              <a:rPr lang="he-IL" b="1" dirty="0"/>
              <a:t>ערפול </a:t>
            </a:r>
            <a:r>
              <a:rPr lang="en-US" b="1" dirty="0"/>
              <a:t>Confusion</a:t>
            </a:r>
            <a:r>
              <a:rPr lang="en-US" dirty="0"/>
              <a:t> </a:t>
            </a:r>
            <a:r>
              <a:rPr lang="he-IL" dirty="0"/>
              <a:t> כלומר, להקשות על ניתוח הקשר בין הטקסט המוצפן לטקסט המקורי.</a:t>
            </a:r>
          </a:p>
          <a:p>
            <a:r>
              <a:rPr lang="he-IL" dirty="0"/>
              <a:t>2. ה-</a:t>
            </a:r>
            <a:r>
              <a:rPr lang="en-US" dirty="0"/>
              <a:t> S-Box </a:t>
            </a:r>
            <a:r>
              <a:rPr lang="he-IL" dirty="0"/>
              <a:t>מחליף כל קבוצת ביטים </a:t>
            </a:r>
            <a:r>
              <a:rPr lang="he-IL" b="1" dirty="0"/>
              <a:t>בערך בלתי צפוי</a:t>
            </a:r>
            <a:r>
              <a:rPr lang="he-IL" dirty="0"/>
              <a:t> לפי טבלה לא ליניארית. כך, גם אם משתנה ביט אחד בקלט, הביטים בפלט משתנים בצורה לא צפויה, מה שמקשה על תוקפים לשחזר את המידע.</a:t>
            </a:r>
          </a:p>
          <a:p>
            <a:r>
              <a:rPr lang="he-IL" dirty="0"/>
              <a:t>3. </a:t>
            </a:r>
            <a:r>
              <a:rPr lang="he-IL" b="1" dirty="0"/>
              <a:t>ב-</a:t>
            </a:r>
            <a:r>
              <a:rPr lang="en-US" b="1" dirty="0"/>
              <a:t>DES</a:t>
            </a:r>
            <a:r>
              <a:rPr lang="en-US" dirty="0"/>
              <a:t> </a:t>
            </a:r>
            <a:r>
              <a:rPr lang="he-IL" dirty="0"/>
              <a:t> יש </a:t>
            </a:r>
            <a:r>
              <a:rPr lang="he-IL" b="1" dirty="0"/>
              <a:t>8 </a:t>
            </a:r>
            <a:r>
              <a:rPr lang="en-US" b="1" dirty="0"/>
              <a:t> S-Boxes </a:t>
            </a:r>
            <a:r>
              <a:rPr lang="he-IL" b="1" dirty="0"/>
              <a:t>שונות</a:t>
            </a:r>
            <a:r>
              <a:rPr lang="he-IL" dirty="0"/>
              <a:t>, שכל אחת מקבלת 6 ביטים כקלט ומחזירה 4 ביטים כפלט.</a:t>
            </a:r>
            <a:br>
              <a:rPr lang="he-IL" dirty="0"/>
            </a:br>
            <a:r>
              <a:rPr lang="he-IL" b="1" dirty="0"/>
              <a:t>ב-</a:t>
            </a:r>
            <a:r>
              <a:rPr lang="en-US" b="1" dirty="0"/>
              <a:t> AES</a:t>
            </a:r>
            <a:r>
              <a:rPr lang="en-US" dirty="0"/>
              <a:t> </a:t>
            </a:r>
            <a:r>
              <a:rPr lang="he-IL" dirty="0"/>
              <a:t>יש</a:t>
            </a:r>
            <a:r>
              <a:rPr lang="en-US" dirty="0"/>
              <a:t> </a:t>
            </a:r>
            <a:r>
              <a:rPr lang="en-US" b="1" dirty="0"/>
              <a:t>S-Box </a:t>
            </a:r>
            <a:r>
              <a:rPr lang="he-IL" b="1" dirty="0"/>
              <a:t>אחת בלבד</a:t>
            </a:r>
            <a:r>
              <a:rPr lang="he-IL" dirty="0"/>
              <a:t>, והיא פועלת על בתים </a:t>
            </a:r>
            <a:r>
              <a:rPr lang="en-US" dirty="0"/>
              <a:t> Bytes</a:t>
            </a:r>
            <a:r>
              <a:rPr lang="he-IL" dirty="0"/>
              <a:t>שלמים ומבוססת על פעולות מתמטיות</a:t>
            </a:r>
          </a:p>
          <a:p>
            <a:r>
              <a:rPr lang="he-IL" dirty="0"/>
              <a:t>4. כל </a:t>
            </a:r>
            <a:r>
              <a:rPr lang="en-US" dirty="0"/>
              <a:t> S-Box</a:t>
            </a:r>
            <a:r>
              <a:rPr lang="he-IL" dirty="0"/>
              <a:t>ב-</a:t>
            </a:r>
            <a:r>
              <a:rPr lang="en-US" dirty="0"/>
              <a:t> DES </a:t>
            </a:r>
            <a:r>
              <a:rPr lang="he-IL" dirty="0"/>
              <a:t>מקבלת </a:t>
            </a:r>
            <a:r>
              <a:rPr lang="he-IL" b="1" dirty="0"/>
              <a:t>6 ביטים</a:t>
            </a:r>
            <a:r>
              <a:rPr lang="he-IL" dirty="0"/>
              <a:t> כקלט ומחזירה </a:t>
            </a:r>
            <a:r>
              <a:rPr lang="he-IL" b="1" dirty="0"/>
              <a:t>4 ביטים</a:t>
            </a:r>
            <a:r>
              <a:rPr lang="he-IL" dirty="0"/>
              <a:t> כפלט.</a:t>
            </a:r>
          </a:p>
          <a:p>
            <a:r>
              <a:rPr lang="he-IL" dirty="0"/>
              <a:t>5. אם ה-</a:t>
            </a:r>
            <a:r>
              <a:rPr lang="en-US" dirty="0"/>
              <a:t>S-Box </a:t>
            </a:r>
            <a:r>
              <a:rPr lang="he-IL" dirty="0"/>
              <a:t> הייתה ליניארית, ניתן היה לנצל קשרים מתמטיים כדי לבצע </a:t>
            </a:r>
            <a:r>
              <a:rPr lang="he-IL" b="1" dirty="0"/>
              <a:t>מתקפות </a:t>
            </a:r>
            <a:r>
              <a:rPr lang="he-IL" b="1" dirty="0" err="1"/>
              <a:t>קריפטואנליזה</a:t>
            </a:r>
            <a:r>
              <a:rPr lang="he-IL" b="1" dirty="0"/>
              <a:t> ליניארית</a:t>
            </a:r>
            <a:r>
              <a:rPr lang="he-IL" dirty="0"/>
              <a:t>, מה שהיה מחליש מאוד את ההצפנה.</a:t>
            </a:r>
          </a:p>
          <a:p>
            <a:r>
              <a:rPr lang="he-IL" dirty="0"/>
              <a:t>6. ב-</a:t>
            </a:r>
            <a:r>
              <a:rPr lang="en-US" dirty="0"/>
              <a:t> AES </a:t>
            </a:r>
            <a:r>
              <a:rPr lang="he-IL" dirty="0"/>
              <a:t>תהליך ההחלפה ב-</a:t>
            </a:r>
            <a:r>
              <a:rPr lang="en-US" dirty="0"/>
              <a:t> S-Box </a:t>
            </a:r>
            <a:r>
              <a:rPr lang="he-IL" dirty="0"/>
              <a:t>מתבצע על ידי </a:t>
            </a:r>
            <a:r>
              <a:rPr lang="he-IL" b="1" dirty="0"/>
              <a:t>אינוורסיה של בתים</a:t>
            </a:r>
            <a:r>
              <a:rPr lang="en-US" b="1" dirty="0"/>
              <a:t>Bytes </a:t>
            </a:r>
            <a:r>
              <a:rPr lang="he-IL" b="1" dirty="0"/>
              <a:t> בשדה </a:t>
            </a:r>
            <a:r>
              <a:rPr lang="he-IL" b="1" dirty="0" err="1"/>
              <a:t>גלואה</a:t>
            </a:r>
            <a:r>
              <a:rPr lang="he-IL" b="1" dirty="0"/>
              <a:t> </a:t>
            </a:r>
            <a:r>
              <a:rPr lang="en-US" b="1" dirty="0"/>
              <a:t>    GF(2⁸)</a:t>
            </a:r>
            <a:r>
              <a:rPr lang="en-US" dirty="0"/>
              <a:t> </a:t>
            </a:r>
            <a:r>
              <a:rPr lang="he-IL" dirty="0"/>
              <a:t> בלומר כל ערך עובר פעולות מתמטיות מורכבות שהופכות אותו לבלתי צפוי יותר.</a:t>
            </a:r>
          </a:p>
          <a:p>
            <a:r>
              <a:rPr lang="he-IL" dirty="0"/>
              <a:t>7. אם היינו בוחרים</a:t>
            </a:r>
            <a:r>
              <a:rPr lang="en-US" dirty="0"/>
              <a:t> S-Box </a:t>
            </a:r>
            <a:r>
              <a:rPr lang="he-IL" dirty="0"/>
              <a:t>אקראית, היא עלולה להיות פגיעה למתקפות מסוימות. תיבות החלפה נבחרות בקפידה כדי לוודא שהן מספקות </a:t>
            </a:r>
            <a:r>
              <a:rPr lang="he-IL" b="1" dirty="0"/>
              <a:t>ערפול חזק, לא ליניאריות גבוהה, ועמידות בפני </a:t>
            </a:r>
            <a:r>
              <a:rPr lang="he-IL" b="1" dirty="0" err="1"/>
              <a:t>קריפטואנליזה</a:t>
            </a:r>
            <a:r>
              <a:rPr lang="he-IL" b="1" dirty="0"/>
              <a:t> ליניארית ודיפרנציאלית</a:t>
            </a:r>
            <a:r>
              <a:rPr lang="he-IL" dirty="0"/>
              <a:t>.</a:t>
            </a:r>
          </a:p>
          <a:p>
            <a:r>
              <a:rPr lang="he-IL" dirty="0"/>
              <a:t>8. חולשות אפשריות כוללות:</a:t>
            </a:r>
            <a:br>
              <a:rPr lang="he-IL" dirty="0"/>
            </a:br>
            <a:r>
              <a:rPr lang="he-IL" b="1" dirty="0"/>
              <a:t>חשיפה למתקפה ליניארית</a:t>
            </a:r>
            <a:r>
              <a:rPr lang="he-IL" dirty="0"/>
              <a:t> – אם יש קשרים מתמטיים פשוטים בין קלט לפלט.</a:t>
            </a:r>
            <a:br>
              <a:rPr lang="he-IL" dirty="0"/>
            </a:br>
            <a:r>
              <a:rPr lang="he-IL" b="1" dirty="0"/>
              <a:t>חשיפה למתקפה דיפרנציאלית</a:t>
            </a:r>
            <a:r>
              <a:rPr lang="he-IL" dirty="0"/>
              <a:t> – אם שינוי קטן בקלט גורם לשינוי קטן בפלט.</a:t>
            </a:r>
            <a:br>
              <a:rPr lang="he-IL" dirty="0"/>
            </a:br>
            <a:r>
              <a:rPr lang="he-IL" b="1" dirty="0"/>
              <a:t>דפוסים שחוזרים על עצמם</a:t>
            </a:r>
            <a:r>
              <a:rPr lang="he-IL" dirty="0"/>
              <a:t> – אם ה-</a:t>
            </a:r>
            <a:r>
              <a:rPr lang="en-US" dirty="0"/>
              <a:t> S-Box </a:t>
            </a:r>
            <a:r>
              <a:rPr lang="he-IL" dirty="0"/>
              <a:t>לא מתפזרת בצורה טובה, ניתן לגלות מידע על המפתח.</a:t>
            </a:r>
          </a:p>
          <a:p>
            <a:endParaRPr lang="he-IL" dirty="0"/>
          </a:p>
        </p:txBody>
      </p:sp>
    </p:spTree>
    <p:extLst>
      <p:ext uri="{BB962C8B-B14F-4D97-AF65-F5344CB8AC3E}">
        <p14:creationId xmlns:p14="http://schemas.microsoft.com/office/powerpoint/2010/main" val="362050188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11727" y="116378"/>
            <a:ext cx="12011890" cy="1371600"/>
          </a:xfrm>
        </p:spPr>
        <p:txBody>
          <a:bodyPr>
            <a:normAutofit/>
          </a:bodyPr>
          <a:lstStyle/>
          <a:p>
            <a:r>
              <a:rPr lang="he-IL" sz="3800" dirty="0"/>
              <a:t>יתרונות וחסרונות על כל תתי הנושאים של הצפנה סימטרית</a:t>
            </a:r>
          </a:p>
        </p:txBody>
      </p:sp>
      <p:pic>
        <p:nvPicPr>
          <p:cNvPr id="4" name="מציין מיקום תוכן 3"/>
          <p:cNvPicPr>
            <a:picLocks noGrp="1" noChangeAspect="1"/>
          </p:cNvPicPr>
          <p:nvPr>
            <p:ph idx="1"/>
          </p:nvPr>
        </p:nvPicPr>
        <p:blipFill>
          <a:blip r:embed="rId2"/>
          <a:stretch>
            <a:fillRect/>
          </a:stretch>
        </p:blipFill>
        <p:spPr>
          <a:xfrm>
            <a:off x="1163782" y="1171817"/>
            <a:ext cx="9252065" cy="5354310"/>
          </a:xfrm>
          <a:prstGeom prst="rect">
            <a:avLst/>
          </a:prstGeom>
        </p:spPr>
      </p:pic>
    </p:spTree>
    <p:extLst>
      <p:ext uri="{BB962C8B-B14F-4D97-AF65-F5344CB8AC3E}">
        <p14:creationId xmlns:p14="http://schemas.microsoft.com/office/powerpoint/2010/main" val="30843817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443941"/>
            <a:ext cx="10058400" cy="3931920"/>
          </a:xfrm>
        </p:spPr>
        <p:txBody>
          <a:bodyPr>
            <a:normAutofit/>
          </a:bodyPr>
          <a:lstStyle/>
          <a:p>
            <a:pPr algn="ctr"/>
            <a:r>
              <a:rPr lang="he-IL" sz="6600" dirty="0"/>
              <a:t>הצפנה א-סימטרית</a:t>
            </a:r>
          </a:p>
        </p:txBody>
      </p:sp>
    </p:spTree>
    <p:extLst>
      <p:ext uri="{BB962C8B-B14F-4D97-AF65-F5344CB8AC3E}">
        <p14:creationId xmlns:p14="http://schemas.microsoft.com/office/powerpoint/2010/main" val="63627705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846320" y="642594"/>
            <a:ext cx="6278880" cy="1371600"/>
          </a:xfrm>
        </p:spPr>
        <p:txBody>
          <a:bodyPr/>
          <a:lstStyle/>
          <a:p>
            <a:r>
              <a:rPr lang="he-IL" dirty="0"/>
              <a:t>מהי הצפנה א-סימטרית?</a:t>
            </a:r>
          </a:p>
        </p:txBody>
      </p:sp>
      <p:sp>
        <p:nvSpPr>
          <p:cNvPr id="3" name="מציין מיקום תוכן 2"/>
          <p:cNvSpPr>
            <a:spLocks noGrp="1"/>
          </p:cNvSpPr>
          <p:nvPr>
            <p:ph idx="1"/>
          </p:nvPr>
        </p:nvSpPr>
        <p:spPr/>
        <p:txBody>
          <a:bodyPr/>
          <a:lstStyle/>
          <a:p>
            <a:r>
              <a:rPr lang="he-IL" dirty="0"/>
              <a:t>הצפנה א-סימטרית היא שיטה בקריפטוגרפיה שבה </a:t>
            </a:r>
            <a:r>
              <a:rPr lang="he-IL" b="1" dirty="0"/>
              <a:t>נעשה שימוש בשני מפתחות שונים</a:t>
            </a:r>
            <a:r>
              <a:rPr lang="he-IL" dirty="0"/>
              <a:t>:</a:t>
            </a:r>
          </a:p>
          <a:p>
            <a:r>
              <a:rPr lang="he-IL" b="1" dirty="0"/>
              <a:t>מפתח ציבורי</a:t>
            </a:r>
            <a:r>
              <a:rPr lang="en-US" b="1" dirty="0"/>
              <a:t> :Public Key</a:t>
            </a:r>
            <a:r>
              <a:rPr lang="en-US" dirty="0"/>
              <a:t> </a:t>
            </a:r>
            <a:r>
              <a:rPr lang="he-IL" dirty="0"/>
              <a:t>משמש להצפנה. ניתן להפיץ אותו לכולם.</a:t>
            </a:r>
          </a:p>
          <a:p>
            <a:r>
              <a:rPr lang="he-IL" b="1" dirty="0"/>
              <a:t>מפתח פרטי</a:t>
            </a:r>
            <a:r>
              <a:rPr lang="en-US" b="1" dirty="0"/>
              <a:t>Private Key</a:t>
            </a:r>
            <a:r>
              <a:rPr lang="en-US" dirty="0"/>
              <a:t> </a:t>
            </a:r>
            <a:r>
              <a:rPr lang="he-IL" dirty="0"/>
              <a:t>: משמש לפענוח. הוא סודי ונמצא רק אצל הבעלים.</a:t>
            </a:r>
          </a:p>
          <a:p>
            <a:endParaRPr lang="he-IL" dirty="0"/>
          </a:p>
          <a:p>
            <a:r>
              <a:rPr lang="he-IL" dirty="0"/>
              <a:t>איך זה עובד?</a:t>
            </a:r>
          </a:p>
          <a:p>
            <a:r>
              <a:rPr lang="he-IL" dirty="0"/>
              <a:t>כאשר מישהו רוצה לשלוח מידע סודי, הוא מצפין אותו בעזרת </a:t>
            </a:r>
            <a:r>
              <a:rPr lang="he-IL" b="1" dirty="0"/>
              <a:t>המפתח הציבורי של הנמען</a:t>
            </a:r>
            <a:r>
              <a:rPr lang="he-IL" dirty="0"/>
              <a:t>. רק הנמען, שמחזיק את </a:t>
            </a:r>
            <a:r>
              <a:rPr lang="he-IL" b="1" dirty="0"/>
              <a:t>המפתח הפרטי המתאים</a:t>
            </a:r>
            <a:r>
              <a:rPr lang="he-IL" dirty="0"/>
              <a:t>, יכול לפענח את המידע.</a:t>
            </a:r>
          </a:p>
        </p:txBody>
      </p:sp>
    </p:spTree>
    <p:extLst>
      <p:ext uri="{BB962C8B-B14F-4D97-AF65-F5344CB8AC3E}">
        <p14:creationId xmlns:p14="http://schemas.microsoft.com/office/powerpoint/2010/main" val="1542956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414952" y="642594"/>
            <a:ext cx="3710247" cy="1371600"/>
          </a:xfrm>
        </p:spPr>
        <p:txBody>
          <a:bodyPr/>
          <a:lstStyle/>
          <a:p>
            <a:r>
              <a:rPr lang="he-IL" dirty="0"/>
              <a:t>דוגמה מעשית:</a:t>
            </a:r>
          </a:p>
        </p:txBody>
      </p:sp>
      <p:sp>
        <p:nvSpPr>
          <p:cNvPr id="3" name="מציין מיקום תוכן 2"/>
          <p:cNvSpPr>
            <a:spLocks noGrp="1"/>
          </p:cNvSpPr>
          <p:nvPr>
            <p:ph idx="1"/>
          </p:nvPr>
        </p:nvSpPr>
        <p:spPr/>
        <p:txBody>
          <a:bodyPr/>
          <a:lstStyle/>
          <a:p>
            <a:r>
              <a:rPr lang="he-IL" b="1" dirty="0"/>
              <a:t>דוגמה מעשית:</a:t>
            </a:r>
          </a:p>
          <a:p>
            <a:r>
              <a:rPr lang="he-IL" dirty="0"/>
              <a:t>נניח שאליס רוצה לשלוח הודעה לבוב באופן מאובטח.</a:t>
            </a:r>
          </a:p>
          <a:p>
            <a:r>
              <a:rPr lang="he-IL" dirty="0"/>
              <a:t>1. בוב מפרסם את המפתח הציבורי שלו לכל העולם.</a:t>
            </a:r>
          </a:p>
          <a:p>
            <a:r>
              <a:rPr lang="he-IL" dirty="0"/>
              <a:t>2. אליס משתמשת </a:t>
            </a:r>
            <a:r>
              <a:rPr lang="he-IL" b="1" dirty="0"/>
              <a:t>במפתח הציבורי של בוב</a:t>
            </a:r>
            <a:r>
              <a:rPr lang="he-IL" dirty="0"/>
              <a:t> כדי להצפין את ההודעה.</a:t>
            </a:r>
          </a:p>
          <a:p>
            <a:r>
              <a:rPr lang="he-IL" dirty="0"/>
              <a:t>3. אליס שולחת את ההודעה המוצפנת לבוב.</a:t>
            </a:r>
          </a:p>
          <a:p>
            <a:r>
              <a:rPr lang="he-IL" dirty="0"/>
              <a:t>4. בוב משתמש </a:t>
            </a:r>
            <a:r>
              <a:rPr lang="he-IL" b="1" dirty="0"/>
              <a:t>במפתח הפרטי שלו</a:t>
            </a:r>
            <a:r>
              <a:rPr lang="he-IL" dirty="0"/>
              <a:t> כדי לפענח את ההודעה.</a:t>
            </a:r>
          </a:p>
          <a:p>
            <a:endParaRPr lang="he-IL" dirty="0"/>
          </a:p>
        </p:txBody>
      </p:sp>
    </p:spTree>
    <p:extLst>
      <p:ext uri="{BB962C8B-B14F-4D97-AF65-F5344CB8AC3E}">
        <p14:creationId xmlns:p14="http://schemas.microsoft.com/office/powerpoint/2010/main" val="282353469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65513" y="642594"/>
            <a:ext cx="11321934" cy="1371600"/>
          </a:xfrm>
        </p:spPr>
        <p:txBody>
          <a:bodyPr>
            <a:normAutofit fontScale="90000"/>
          </a:bodyPr>
          <a:lstStyle/>
          <a:p>
            <a:r>
              <a:rPr lang="he-IL" dirty="0"/>
              <a:t>דוגמאות לאלגוריתמים נפוצים בהצפנה א-סימטרית:</a:t>
            </a:r>
          </a:p>
        </p:txBody>
      </p:sp>
      <p:sp>
        <p:nvSpPr>
          <p:cNvPr id="3" name="מציין מיקום תוכן 2"/>
          <p:cNvSpPr>
            <a:spLocks noGrp="1"/>
          </p:cNvSpPr>
          <p:nvPr>
            <p:ph idx="1"/>
          </p:nvPr>
        </p:nvSpPr>
        <p:spPr/>
        <p:txBody>
          <a:bodyPr/>
          <a:lstStyle/>
          <a:p>
            <a:endParaRPr lang="he-IL" b="1" dirty="0"/>
          </a:p>
          <a:p>
            <a:r>
              <a:rPr lang="en-US" b="1" dirty="0"/>
              <a:t>RSA</a:t>
            </a:r>
            <a:r>
              <a:rPr lang="en-US" dirty="0"/>
              <a:t> .1</a:t>
            </a:r>
            <a:r>
              <a:rPr lang="he-IL" dirty="0"/>
              <a:t>: אחד האלגוריתמים הנפוצים ביותר, מבוסס על פירוק מספרים גדולים לגורמים.</a:t>
            </a:r>
          </a:p>
          <a:p>
            <a:endParaRPr lang="he-IL" dirty="0"/>
          </a:p>
          <a:p>
            <a:r>
              <a:rPr lang="en-US" b="1" dirty="0"/>
              <a:t> :ECC (Elliptic Curve Cryptography)</a:t>
            </a:r>
            <a:r>
              <a:rPr lang="en-US" dirty="0"/>
              <a:t> .2</a:t>
            </a:r>
            <a:r>
              <a:rPr lang="he-IL" dirty="0"/>
              <a:t>שיטה מתקדמת יותר שמבוססת על עקומים אליפטיים.</a:t>
            </a:r>
          </a:p>
          <a:p>
            <a:endParaRPr lang="he-IL" dirty="0"/>
          </a:p>
          <a:p>
            <a:r>
              <a:rPr lang="en-US" b="1" dirty="0"/>
              <a:t> :</a:t>
            </a:r>
            <a:r>
              <a:rPr lang="en-US" b="1" dirty="0" err="1"/>
              <a:t>Diffie</a:t>
            </a:r>
            <a:r>
              <a:rPr lang="en-US" b="1" dirty="0"/>
              <a:t>-Hellman</a:t>
            </a:r>
            <a:r>
              <a:rPr lang="en-US" dirty="0"/>
              <a:t> .3</a:t>
            </a:r>
            <a:r>
              <a:rPr lang="he-IL" dirty="0"/>
              <a:t>משמש בעיקר להחלפת מפתחות בצורה בטוחה.</a:t>
            </a:r>
          </a:p>
          <a:p>
            <a:endParaRPr lang="he-IL" dirty="0"/>
          </a:p>
        </p:txBody>
      </p:sp>
    </p:spTree>
    <p:extLst>
      <p:ext uri="{BB962C8B-B14F-4D97-AF65-F5344CB8AC3E}">
        <p14:creationId xmlns:p14="http://schemas.microsoft.com/office/powerpoint/2010/main" val="60476361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288472" y="642594"/>
            <a:ext cx="9836727" cy="1371600"/>
          </a:xfrm>
        </p:spPr>
        <p:txBody>
          <a:bodyPr/>
          <a:lstStyle/>
          <a:p>
            <a:r>
              <a:rPr lang="he-IL" dirty="0"/>
              <a:t>שימושים נפוצים של הצפנה א-סימטרית</a:t>
            </a:r>
          </a:p>
        </p:txBody>
      </p:sp>
      <p:sp>
        <p:nvSpPr>
          <p:cNvPr id="3" name="מציין מיקום תוכן 2"/>
          <p:cNvSpPr>
            <a:spLocks noGrp="1"/>
          </p:cNvSpPr>
          <p:nvPr>
            <p:ph idx="1"/>
          </p:nvPr>
        </p:nvSpPr>
        <p:spPr/>
        <p:txBody>
          <a:bodyPr>
            <a:normAutofit/>
          </a:bodyPr>
          <a:lstStyle/>
          <a:p>
            <a:r>
              <a:rPr lang="he-IL" b="1" dirty="0"/>
              <a:t>1. תקשורת מאובטחת </a:t>
            </a:r>
            <a:r>
              <a:rPr lang="en-US" b="1" dirty="0"/>
              <a:t>SSL/TLS</a:t>
            </a:r>
            <a:r>
              <a:rPr lang="he-IL" b="1" dirty="0"/>
              <a:t>: </a:t>
            </a:r>
            <a:r>
              <a:rPr lang="he-IL" dirty="0"/>
              <a:t>הצפנה א-סימטרית משמשת </a:t>
            </a:r>
            <a:r>
              <a:rPr lang="he-IL" b="1" dirty="0"/>
              <a:t>בפרוטוקול </a:t>
            </a:r>
            <a:r>
              <a:rPr lang="en-US" b="1" dirty="0"/>
              <a:t> HTTPS</a:t>
            </a:r>
            <a:r>
              <a:rPr lang="he-IL" dirty="0"/>
              <a:t>שבו הדפדפן והשרת מחליפים מפתחות בצורה בטוחה.</a:t>
            </a:r>
          </a:p>
          <a:p>
            <a:endParaRPr lang="he-IL" dirty="0"/>
          </a:p>
          <a:p>
            <a:r>
              <a:rPr lang="he-IL" b="1" dirty="0"/>
              <a:t>2. חתימות דיגיטליות: </a:t>
            </a:r>
            <a:r>
              <a:rPr lang="he-IL" dirty="0"/>
              <a:t>משמשות לאימות מקוריות מסמכים והודעות. לדוגמה, אם בנק שולח לך הודעה חתומה דיגיטלית, תוכל לוודא שההודעה אכן נשלחה מהבנק.</a:t>
            </a:r>
          </a:p>
          <a:p>
            <a:endParaRPr lang="he-IL" dirty="0"/>
          </a:p>
          <a:p>
            <a:r>
              <a:rPr lang="he-IL" b="1" dirty="0"/>
              <a:t>3. אימות משתמשים: </a:t>
            </a:r>
            <a:r>
              <a:rPr lang="he-IL" dirty="0"/>
              <a:t>מערכות כמו </a:t>
            </a:r>
            <a:r>
              <a:rPr lang="en-US" dirty="0"/>
              <a:t>SSH</a:t>
            </a:r>
            <a:r>
              <a:rPr lang="he-IL" dirty="0"/>
              <a:t> ו-</a:t>
            </a:r>
            <a:r>
              <a:rPr lang="en-US" dirty="0"/>
              <a:t> GPG </a:t>
            </a:r>
            <a:r>
              <a:rPr lang="he-IL" dirty="0"/>
              <a:t>משתמשות בהצפנה א-סימטרית כדי לאמת זהות של משתמשים בלי צורך בסיסמה.</a:t>
            </a:r>
          </a:p>
          <a:p>
            <a:endParaRPr lang="he-IL" dirty="0"/>
          </a:p>
          <a:p>
            <a:r>
              <a:rPr lang="he-IL" b="1" dirty="0"/>
              <a:t>4. הצפנת אימיילים </a:t>
            </a:r>
            <a:r>
              <a:rPr lang="en-US" b="1" dirty="0"/>
              <a:t>:PGP</a:t>
            </a:r>
            <a:r>
              <a:rPr lang="he-IL" b="1" dirty="0"/>
              <a:t> </a:t>
            </a:r>
            <a:r>
              <a:rPr lang="he-IL" dirty="0"/>
              <a:t>פרוטוקול</a:t>
            </a:r>
            <a:r>
              <a:rPr lang="en-US" dirty="0"/>
              <a:t> PGP (Pretty Good Privacy) </a:t>
            </a:r>
            <a:r>
              <a:rPr lang="he-IL" dirty="0"/>
              <a:t>מאפשר הצפנה בטוחה של הודעות דואר אלקטרוני באמצעות מפתחות ציבוריים ופרטיים.</a:t>
            </a:r>
          </a:p>
          <a:p>
            <a:endParaRPr lang="he-IL" dirty="0"/>
          </a:p>
        </p:txBody>
      </p:sp>
    </p:spTree>
    <p:extLst>
      <p:ext uri="{BB962C8B-B14F-4D97-AF65-F5344CB8AC3E}">
        <p14:creationId xmlns:p14="http://schemas.microsoft.com/office/powerpoint/2010/main" val="189446801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יתרונות וחסרונות של הצפנה א-סימטרית</a:t>
            </a:r>
          </a:p>
        </p:txBody>
      </p:sp>
      <p:pic>
        <p:nvPicPr>
          <p:cNvPr id="4" name="מציין מיקום תוכן 3"/>
          <p:cNvPicPr>
            <a:picLocks noGrp="1" noChangeAspect="1"/>
          </p:cNvPicPr>
          <p:nvPr>
            <p:ph idx="1"/>
          </p:nvPr>
        </p:nvPicPr>
        <p:blipFill>
          <a:blip r:embed="rId2"/>
          <a:stretch>
            <a:fillRect/>
          </a:stretch>
        </p:blipFill>
        <p:spPr>
          <a:xfrm>
            <a:off x="1385375" y="2014194"/>
            <a:ext cx="9153956" cy="2544056"/>
          </a:xfrm>
          <a:prstGeom prst="rect">
            <a:avLst/>
          </a:prstGeom>
        </p:spPr>
      </p:pic>
    </p:spTree>
    <p:extLst>
      <p:ext uri="{BB962C8B-B14F-4D97-AF65-F5344CB8AC3E}">
        <p14:creationId xmlns:p14="http://schemas.microsoft.com/office/powerpoint/2010/main" val="315264185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147156" y="642594"/>
            <a:ext cx="9978044" cy="1371600"/>
          </a:xfrm>
        </p:spPr>
        <p:txBody>
          <a:bodyPr/>
          <a:lstStyle/>
          <a:p>
            <a:r>
              <a:rPr lang="he-IL" dirty="0"/>
              <a:t>אילו בעיות קיימות בהצפנה א-סימטרית?</a:t>
            </a:r>
          </a:p>
        </p:txBody>
      </p:sp>
      <p:sp>
        <p:nvSpPr>
          <p:cNvPr id="3" name="מציין מיקום תוכן 2"/>
          <p:cNvSpPr>
            <a:spLocks noGrp="1"/>
          </p:cNvSpPr>
          <p:nvPr>
            <p:ph idx="1"/>
          </p:nvPr>
        </p:nvSpPr>
        <p:spPr/>
        <p:txBody>
          <a:bodyPr/>
          <a:lstStyle/>
          <a:p>
            <a:r>
              <a:rPr lang="he-IL" dirty="0"/>
              <a:t>למרות היתרונות הרבים, קיימות גם </a:t>
            </a:r>
            <a:r>
              <a:rPr lang="he-IL" b="1" dirty="0"/>
              <a:t>מגבלות</a:t>
            </a:r>
            <a:r>
              <a:rPr lang="he-IL" dirty="0"/>
              <a:t>:</a:t>
            </a:r>
          </a:p>
          <a:p>
            <a:r>
              <a:rPr lang="he-IL" b="1" dirty="0"/>
              <a:t>1. ביצועים איטיים</a:t>
            </a:r>
            <a:r>
              <a:rPr lang="he-IL" dirty="0"/>
              <a:t> – הצפנה א-סימטרית דורשת יותר כוח חישובי מהצפנה סימטרית, ולכן בדרך כלל משתמשים בה רק </a:t>
            </a:r>
            <a:r>
              <a:rPr lang="he-IL" b="1" dirty="0"/>
              <a:t>להחלפת מפתחות</a:t>
            </a:r>
            <a:r>
              <a:rPr lang="he-IL" dirty="0"/>
              <a:t>, ולא להצפנת כמויות גדולות של מידע.</a:t>
            </a:r>
          </a:p>
          <a:p>
            <a:endParaRPr lang="he-IL" dirty="0"/>
          </a:p>
          <a:p>
            <a:r>
              <a:rPr lang="he-IL" b="1" dirty="0"/>
              <a:t>2. הגנה על המפתח הפרטי</a:t>
            </a:r>
            <a:r>
              <a:rPr lang="he-IL" dirty="0"/>
              <a:t> – אם מישהו מצליח לגנוב את המפתח הפרטי, הוא יכול </a:t>
            </a:r>
            <a:r>
              <a:rPr lang="he-IL" b="1" dirty="0"/>
              <a:t>לזייף חתימות ולפענח מידע סודי</a:t>
            </a:r>
            <a:r>
              <a:rPr lang="he-IL" dirty="0"/>
              <a:t>.</a:t>
            </a:r>
          </a:p>
          <a:p>
            <a:endParaRPr lang="he-IL" dirty="0"/>
          </a:p>
          <a:p>
            <a:r>
              <a:rPr lang="he-IL" b="1" dirty="0"/>
              <a:t>3. פגיעות להתקפות קוונטיות</a:t>
            </a:r>
            <a:r>
              <a:rPr lang="he-IL" dirty="0"/>
              <a:t> – אלגוריתמים א-סימטריים כמו </a:t>
            </a:r>
            <a:r>
              <a:rPr lang="en-US" dirty="0"/>
              <a:t> RSA</a:t>
            </a:r>
            <a:r>
              <a:rPr lang="he-IL" dirty="0"/>
              <a:t>עשויים להיות שבירים מול מחשבים קוונטיים (עקב אלגוריתם שור).</a:t>
            </a:r>
          </a:p>
          <a:p>
            <a:endParaRPr lang="he-IL" dirty="0"/>
          </a:p>
        </p:txBody>
      </p:sp>
    </p:spTree>
    <p:extLst>
      <p:ext uri="{BB962C8B-B14F-4D97-AF65-F5344CB8AC3E}">
        <p14:creationId xmlns:p14="http://schemas.microsoft.com/office/powerpoint/2010/main" val="359363644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43752" y="642594"/>
            <a:ext cx="1881447"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מה ההבדל העיקרי בין הצפנה סימטרית לא-סימטרית?</a:t>
            </a:r>
          </a:p>
          <a:p>
            <a:r>
              <a:rPr lang="he-IL" dirty="0"/>
              <a:t>2. איזה מפתח משמש להצפנה ואיזה משמש לפענוח בהצפנה א-סימטרית?</a:t>
            </a:r>
          </a:p>
          <a:p>
            <a:r>
              <a:rPr lang="he-IL" dirty="0"/>
              <a:t>3. מהם שני יתרונות של הצפנה א-סימטרית?</a:t>
            </a:r>
          </a:p>
          <a:p>
            <a:r>
              <a:rPr lang="he-IL" dirty="0"/>
              <a:t>4. למה הצפנה א-סימטרית נחשבת בטוחה יותר מהצפנה סימטרית מבחינת העברת מפתחות?</a:t>
            </a:r>
          </a:p>
          <a:p>
            <a:r>
              <a:rPr lang="he-IL" dirty="0"/>
              <a:t>5. תאר תרחיש שבו הצפנה א-סימטרית משמשת לאימות זהות.</a:t>
            </a:r>
          </a:p>
          <a:p>
            <a:r>
              <a:rPr lang="he-IL" dirty="0"/>
              <a:t>6. אילו בעיות עלולות להתרחש אם מפתח פרטי דולף?</a:t>
            </a:r>
          </a:p>
          <a:p>
            <a:endParaRPr lang="he-IL" dirty="0"/>
          </a:p>
        </p:txBody>
      </p:sp>
    </p:spTree>
    <p:extLst>
      <p:ext uri="{BB962C8B-B14F-4D97-AF65-F5344CB8AC3E}">
        <p14:creationId xmlns:p14="http://schemas.microsoft.com/office/powerpoint/2010/main" val="2047304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60872" y="642594"/>
            <a:ext cx="2064327" cy="1371600"/>
          </a:xfrm>
        </p:spPr>
        <p:txBody>
          <a:bodyPr/>
          <a:lstStyle/>
          <a:p>
            <a:r>
              <a:rPr lang="he-IL" dirty="0"/>
              <a:t>תשובות</a:t>
            </a:r>
          </a:p>
        </p:txBody>
      </p:sp>
      <p:sp>
        <p:nvSpPr>
          <p:cNvPr id="3" name="מציין מיקום תוכן 2"/>
          <p:cNvSpPr>
            <a:spLocks noGrp="1"/>
          </p:cNvSpPr>
          <p:nvPr>
            <p:ph idx="1"/>
          </p:nvPr>
        </p:nvSpPr>
        <p:spPr/>
        <p:txBody>
          <a:bodyPr/>
          <a:lstStyle/>
          <a:p>
            <a:r>
              <a:rPr lang="he-IL" dirty="0"/>
              <a:t>1. בהצפנה סימטרית משתמשים </a:t>
            </a:r>
            <a:r>
              <a:rPr lang="he-IL" b="1" dirty="0"/>
              <a:t>באותו מפתח</a:t>
            </a:r>
            <a:r>
              <a:rPr lang="he-IL" dirty="0"/>
              <a:t> להצפנה ופענוח, ואילו בהצפנה א-סימטרית יש </a:t>
            </a:r>
            <a:r>
              <a:rPr lang="he-IL" b="1" dirty="0"/>
              <a:t>מפתח ציבורי ומפתח פרטי</a:t>
            </a:r>
            <a:r>
              <a:rPr lang="he-IL" dirty="0"/>
              <a:t>.</a:t>
            </a:r>
          </a:p>
          <a:p>
            <a:r>
              <a:rPr lang="he-IL" dirty="0"/>
              <a:t>2. </a:t>
            </a:r>
            <a:r>
              <a:rPr lang="he-IL" b="1" dirty="0"/>
              <a:t>המפתח הציבורי</a:t>
            </a:r>
            <a:r>
              <a:rPr lang="he-IL" dirty="0"/>
              <a:t> משמש להצפנה, ו</a:t>
            </a:r>
            <a:r>
              <a:rPr lang="he-IL" b="1" dirty="0"/>
              <a:t>המפתח הפרטי</a:t>
            </a:r>
            <a:r>
              <a:rPr lang="he-IL" dirty="0"/>
              <a:t> משמש לפענוח.</a:t>
            </a:r>
          </a:p>
          <a:p>
            <a:r>
              <a:rPr lang="he-IL" dirty="0"/>
              <a:t>3. אין צורך לשתף מפתח מראש, והיא מאפשרת חתימות דיגיטליות לאימות זהות.</a:t>
            </a:r>
          </a:p>
          <a:p>
            <a:r>
              <a:rPr lang="he-IL" dirty="0"/>
              <a:t>4. כי </a:t>
            </a:r>
            <a:r>
              <a:rPr lang="he-IL" b="1" dirty="0"/>
              <a:t>אין צורך להעביר את המפתח הפרטי</a:t>
            </a:r>
            <a:r>
              <a:rPr lang="he-IL" dirty="0"/>
              <a:t>, ולכן התוקף אינו יכול ליירט אותו, בניגוד להצפנה סימטרית שבה יש צורך להעביר את המפתח המשותף.</a:t>
            </a:r>
          </a:p>
          <a:p>
            <a:r>
              <a:rPr lang="he-IL" dirty="0"/>
              <a:t>5. למשל, בעת </a:t>
            </a:r>
            <a:r>
              <a:rPr lang="he-IL" b="1" dirty="0"/>
              <a:t>חתימה דיגיטלית</a:t>
            </a:r>
            <a:r>
              <a:rPr lang="he-IL" dirty="0"/>
              <a:t> – אדם חותם על מסמך עם המפתח הפרטי שלו, וכל אחד יכול לאמת את החתימה עם המפתח הציבורי שלו.</a:t>
            </a:r>
          </a:p>
          <a:p>
            <a:r>
              <a:rPr lang="he-IL" dirty="0"/>
              <a:t>6. אם מפתח פרטי נגנב, תוקף יכול </a:t>
            </a:r>
            <a:r>
              <a:rPr lang="he-IL" b="1" dirty="0"/>
              <a:t>לפענח הודעות מוצפנות</a:t>
            </a:r>
            <a:r>
              <a:rPr lang="he-IL" dirty="0"/>
              <a:t>, </a:t>
            </a:r>
            <a:r>
              <a:rPr lang="he-IL" b="1" dirty="0"/>
              <a:t>לזייף חתימות דיגיטליות</a:t>
            </a:r>
            <a:r>
              <a:rPr lang="he-IL" dirty="0"/>
              <a:t>, ולהתחזות לבעל המפתח.</a:t>
            </a:r>
          </a:p>
          <a:p>
            <a:endParaRPr lang="he-IL" dirty="0"/>
          </a:p>
          <a:p>
            <a:endParaRPr lang="he-IL" dirty="0"/>
          </a:p>
        </p:txBody>
      </p:sp>
    </p:spTree>
    <p:extLst>
      <p:ext uri="{BB962C8B-B14F-4D97-AF65-F5344CB8AC3E}">
        <p14:creationId xmlns:p14="http://schemas.microsoft.com/office/powerpoint/2010/main" val="3143906480"/>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452254"/>
            <a:ext cx="10058400" cy="3931920"/>
          </a:xfrm>
        </p:spPr>
        <p:txBody>
          <a:bodyPr>
            <a:normAutofit/>
          </a:bodyPr>
          <a:lstStyle/>
          <a:p>
            <a:pPr algn="ctr"/>
            <a:r>
              <a:rPr lang="he-IL" sz="5400" dirty="0"/>
              <a:t>שיתוף מפתחות</a:t>
            </a:r>
          </a:p>
        </p:txBody>
      </p:sp>
    </p:spTree>
    <p:extLst>
      <p:ext uri="{BB962C8B-B14F-4D97-AF65-F5344CB8AC3E}">
        <p14:creationId xmlns:p14="http://schemas.microsoft.com/office/powerpoint/2010/main" val="349409511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843846" y="642594"/>
            <a:ext cx="5281353" cy="1371600"/>
          </a:xfrm>
        </p:spPr>
        <p:txBody>
          <a:bodyPr/>
          <a:lstStyle/>
          <a:p>
            <a:r>
              <a:rPr lang="he-IL" dirty="0"/>
              <a:t>מהו שיתוף מפתחות?</a:t>
            </a:r>
          </a:p>
        </p:txBody>
      </p:sp>
      <p:sp>
        <p:nvSpPr>
          <p:cNvPr id="3" name="מציין מיקום תוכן 2"/>
          <p:cNvSpPr>
            <a:spLocks noGrp="1"/>
          </p:cNvSpPr>
          <p:nvPr>
            <p:ph idx="1"/>
          </p:nvPr>
        </p:nvSpPr>
        <p:spPr/>
        <p:txBody>
          <a:bodyPr/>
          <a:lstStyle/>
          <a:p>
            <a:r>
              <a:rPr lang="he-IL" dirty="0"/>
              <a:t>שיתוף מפתחות</a:t>
            </a:r>
            <a:r>
              <a:rPr lang="en-US" dirty="0"/>
              <a:t> Key Exchange </a:t>
            </a:r>
            <a:r>
              <a:rPr lang="he-IL" dirty="0"/>
              <a:t>הוא תהליך שבו שני צדדים שרוצים לתקשר </a:t>
            </a:r>
            <a:r>
              <a:rPr lang="he-IL" b="1" dirty="0"/>
              <a:t>באופן מאובטח</a:t>
            </a:r>
            <a:r>
              <a:rPr lang="he-IL" dirty="0"/>
              <a:t> מחליפים ביניהם מפתחות </a:t>
            </a:r>
            <a:r>
              <a:rPr lang="he-IL" dirty="0" err="1"/>
              <a:t>קריפטוגרפיים</a:t>
            </a:r>
            <a:r>
              <a:rPr lang="he-IL" dirty="0"/>
              <a:t>, כך שהאקרים או גורמים שלישיים לא יוכלו להאזין או ליירט את המפתחות.</a:t>
            </a:r>
          </a:p>
          <a:p>
            <a:endParaRPr lang="he-IL" dirty="0"/>
          </a:p>
          <a:p>
            <a:r>
              <a:rPr lang="he-IL" b="1" dirty="0"/>
              <a:t>למה צריך שיתוף מפתחות?</a:t>
            </a:r>
          </a:p>
          <a:p>
            <a:r>
              <a:rPr lang="he-IL" dirty="0"/>
              <a:t>בקריפטוגרפיה, הצפנה סימטרית כמו</a:t>
            </a:r>
            <a:r>
              <a:rPr lang="en-US" dirty="0"/>
              <a:t> AES </a:t>
            </a:r>
            <a:r>
              <a:rPr lang="he-IL" dirty="0"/>
              <a:t>דורשת </a:t>
            </a:r>
            <a:r>
              <a:rPr lang="he-IL" b="1" dirty="0"/>
              <a:t>מפתח משותף</a:t>
            </a:r>
            <a:r>
              <a:rPr lang="he-IL" dirty="0"/>
              <a:t> לשני הצדדים. אבל איך משתפים את המפתח הזה בצורה בטוחה? כאן נכנסת ההצפנה הא-סימטרית – היא </a:t>
            </a:r>
            <a:r>
              <a:rPr lang="he-IL" b="1" dirty="0"/>
              <a:t>מאפשרת החלפת מפתחות מאובטחת</a:t>
            </a:r>
            <a:r>
              <a:rPr lang="he-IL" dirty="0"/>
              <a:t>, כך שגם אם מישהו מאזין לתקשורת, הוא לא יוכל לדעת מהו המפתח הסודי.</a:t>
            </a:r>
          </a:p>
          <a:p>
            <a:endParaRPr lang="he-IL" dirty="0"/>
          </a:p>
        </p:txBody>
      </p:sp>
    </p:spTree>
    <p:extLst>
      <p:ext uri="{BB962C8B-B14F-4D97-AF65-F5344CB8AC3E}">
        <p14:creationId xmlns:p14="http://schemas.microsoft.com/office/powerpoint/2010/main" val="142999087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98022" y="642594"/>
            <a:ext cx="10327178" cy="1371600"/>
          </a:xfrm>
        </p:spPr>
        <p:txBody>
          <a:bodyPr>
            <a:normAutofit fontScale="90000"/>
          </a:bodyPr>
          <a:lstStyle/>
          <a:p>
            <a:r>
              <a:rPr lang="he-IL" dirty="0"/>
              <a:t>שיתוף מפתחות בהצפנה סימטרית וא-סימטרית</a:t>
            </a:r>
          </a:p>
        </p:txBody>
      </p:sp>
      <p:sp>
        <p:nvSpPr>
          <p:cNvPr id="3" name="מציין מיקום תוכן 2"/>
          <p:cNvSpPr>
            <a:spLocks noGrp="1"/>
          </p:cNvSpPr>
          <p:nvPr>
            <p:ph idx="1"/>
          </p:nvPr>
        </p:nvSpPr>
        <p:spPr/>
        <p:txBody>
          <a:bodyPr/>
          <a:lstStyle/>
          <a:p>
            <a:r>
              <a:rPr lang="he-IL" b="1" dirty="0"/>
              <a:t>שיתוף מפתחות בהצפנה סימטרית וא-סימטרית</a:t>
            </a:r>
          </a:p>
          <a:p>
            <a:r>
              <a:rPr lang="he-IL" b="1" dirty="0"/>
              <a:t>1. בהצפנה סימטרית:</a:t>
            </a:r>
          </a:p>
          <a:p>
            <a:r>
              <a:rPr lang="he-IL" dirty="0"/>
              <a:t> דורשת מפתח משותף.</a:t>
            </a:r>
            <a:br>
              <a:rPr lang="he-IL" dirty="0"/>
            </a:br>
            <a:r>
              <a:rPr lang="he-IL" dirty="0"/>
              <a:t>שיתוף מפתחות חייב להיות </a:t>
            </a:r>
            <a:r>
              <a:rPr lang="he-IL" b="1" dirty="0"/>
              <a:t>מאובטח</a:t>
            </a:r>
            <a:r>
              <a:rPr lang="he-IL" dirty="0"/>
              <a:t>, אחרת כל התקשורת בסכנה.</a:t>
            </a:r>
            <a:br>
              <a:rPr lang="he-IL" dirty="0"/>
            </a:br>
            <a:r>
              <a:rPr lang="he-IL" dirty="0"/>
              <a:t> נפתר ע"י </a:t>
            </a:r>
            <a:r>
              <a:rPr lang="he-IL" b="1" dirty="0"/>
              <a:t>פרוטוקולי החלפת מפתחות למשל </a:t>
            </a:r>
            <a:r>
              <a:rPr lang="en-US" b="1" dirty="0" err="1"/>
              <a:t>Diffie</a:t>
            </a:r>
            <a:r>
              <a:rPr lang="en-US" b="1" dirty="0"/>
              <a:t>-Hellman</a:t>
            </a:r>
            <a:endParaRPr lang="en-US" dirty="0"/>
          </a:p>
          <a:p>
            <a:pPr marL="0" indent="0">
              <a:buNone/>
            </a:pPr>
            <a:r>
              <a:rPr lang="he-IL" b="1" dirty="0"/>
              <a:t>2. בהצפנה א-סימטרית:</a:t>
            </a:r>
          </a:p>
          <a:p>
            <a:r>
              <a:rPr lang="he-IL" dirty="0"/>
              <a:t>אין צורך </a:t>
            </a:r>
            <a:r>
              <a:rPr lang="he-IL" b="1" dirty="0"/>
              <a:t>לשתף</a:t>
            </a:r>
            <a:r>
              <a:rPr lang="he-IL" dirty="0"/>
              <a:t> מפתח סימטרי ישירות.</a:t>
            </a:r>
            <a:br>
              <a:rPr lang="he-IL" dirty="0"/>
            </a:br>
            <a:r>
              <a:rPr lang="he-IL" dirty="0"/>
              <a:t>מפתח </a:t>
            </a:r>
            <a:r>
              <a:rPr lang="he-IL" b="1" dirty="0"/>
              <a:t>ציבורי</a:t>
            </a:r>
            <a:r>
              <a:rPr lang="he-IL" dirty="0"/>
              <a:t> משמש להצפנה, והמפתח </a:t>
            </a:r>
            <a:r>
              <a:rPr lang="he-IL" b="1" dirty="0"/>
              <a:t>הפרטי</a:t>
            </a:r>
            <a:r>
              <a:rPr lang="he-IL" dirty="0"/>
              <a:t> לפענוח.</a:t>
            </a:r>
            <a:br>
              <a:rPr lang="he-IL" dirty="0"/>
            </a:br>
            <a:r>
              <a:rPr lang="he-IL" dirty="0"/>
              <a:t>מאפשר שימוש ב-</a:t>
            </a:r>
            <a:r>
              <a:rPr lang="en-US" dirty="0"/>
              <a:t> RSA </a:t>
            </a:r>
            <a:r>
              <a:rPr lang="he-IL" dirty="0"/>
              <a:t>לשיתוף מפתחות בביטחון.</a:t>
            </a:r>
          </a:p>
          <a:p>
            <a:endParaRPr lang="he-IL" dirty="0"/>
          </a:p>
        </p:txBody>
      </p:sp>
    </p:spTree>
    <p:extLst>
      <p:ext uri="{BB962C8B-B14F-4D97-AF65-F5344CB8AC3E}">
        <p14:creationId xmlns:p14="http://schemas.microsoft.com/office/powerpoint/2010/main" val="3785748847"/>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000894" y="642594"/>
            <a:ext cx="8124305" cy="1371600"/>
          </a:xfrm>
        </p:spPr>
        <p:txBody>
          <a:bodyPr/>
          <a:lstStyle/>
          <a:p>
            <a:r>
              <a:rPr lang="he-IL" dirty="0"/>
              <a:t>בעיות ואתגרים בשיתוף מפתחות</a:t>
            </a:r>
          </a:p>
        </p:txBody>
      </p:sp>
      <p:sp>
        <p:nvSpPr>
          <p:cNvPr id="3" name="מציין מיקום תוכן 2"/>
          <p:cNvSpPr>
            <a:spLocks noGrp="1"/>
          </p:cNvSpPr>
          <p:nvPr>
            <p:ph idx="1"/>
          </p:nvPr>
        </p:nvSpPr>
        <p:spPr/>
        <p:txBody>
          <a:bodyPr/>
          <a:lstStyle/>
          <a:p>
            <a:r>
              <a:rPr lang="he-IL" b="1" u="sng" dirty="0"/>
              <a:t>התקפת "אדם בתווך" </a:t>
            </a:r>
            <a:r>
              <a:rPr lang="en-US" b="1" u="sng" dirty="0"/>
              <a:t>MITM – (Man-in-the-Middle)</a:t>
            </a:r>
          </a:p>
          <a:p>
            <a:r>
              <a:rPr lang="he-IL" b="1" dirty="0"/>
              <a:t>מה הבעיה?</a:t>
            </a:r>
            <a:r>
              <a:rPr lang="he-IL" dirty="0"/>
              <a:t/>
            </a:r>
            <a:br>
              <a:rPr lang="he-IL" dirty="0"/>
            </a:br>
            <a:r>
              <a:rPr lang="he-IL" dirty="0"/>
              <a:t>אם אין מנגנון לאימות זהות, תוקף יכול להתחזות לכל אחד מהצדדים וליירט את תהליך החלפת המפתח.</a:t>
            </a:r>
          </a:p>
          <a:p>
            <a:r>
              <a:rPr lang="he-IL" b="1" dirty="0"/>
              <a:t>דוגמה:</a:t>
            </a:r>
            <a:endParaRPr lang="he-IL" dirty="0"/>
          </a:p>
          <a:p>
            <a:r>
              <a:rPr lang="he-IL" dirty="0"/>
              <a:t>אליס חושבת שהיא שולחת מידע לבוב, אך בפועל הוא עובר דרך תוקף.</a:t>
            </a:r>
          </a:p>
          <a:p>
            <a:r>
              <a:rPr lang="he-IL" dirty="0"/>
              <a:t>התוקף מבצע חילופי מפתחות נפרדים עם כל צד.</a:t>
            </a:r>
          </a:p>
          <a:p>
            <a:r>
              <a:rPr lang="he-IL" dirty="0"/>
              <a:t>התוקף מפענח ומצפין מחדש את כל ההודעות, מה שמאפשר לו לקרוא את התקשורת.</a:t>
            </a:r>
          </a:p>
          <a:p>
            <a:r>
              <a:rPr lang="he-IL" b="1" dirty="0"/>
              <a:t>פתרון:</a:t>
            </a:r>
            <a:r>
              <a:rPr lang="he-IL" dirty="0"/>
              <a:t/>
            </a:r>
            <a:br>
              <a:rPr lang="he-IL" dirty="0"/>
            </a:br>
            <a:r>
              <a:rPr lang="he-IL" dirty="0"/>
              <a:t> אימות זהות באמצעות חתימות דיגיטליות או תעודות דיגיטליות</a:t>
            </a:r>
            <a:r>
              <a:rPr lang="en-US" dirty="0"/>
              <a:t>SSL/TLS </a:t>
            </a:r>
          </a:p>
          <a:p>
            <a:r>
              <a:rPr lang="he-IL" dirty="0"/>
              <a:t>שימוש בפרוטוקולים כמו</a:t>
            </a:r>
            <a:r>
              <a:rPr lang="en-US" dirty="0"/>
              <a:t>DH </a:t>
            </a:r>
            <a:r>
              <a:rPr lang="he-IL" dirty="0"/>
              <a:t> עם חתימות או </a:t>
            </a:r>
            <a:r>
              <a:rPr lang="en-US" dirty="0"/>
              <a:t>RSA</a:t>
            </a:r>
            <a:r>
              <a:rPr lang="he-IL" dirty="0"/>
              <a:t> עם אישורים דיגיטליים.</a:t>
            </a:r>
          </a:p>
          <a:p>
            <a:endParaRPr lang="he-IL" dirty="0"/>
          </a:p>
        </p:txBody>
      </p:sp>
    </p:spTree>
    <p:extLst>
      <p:ext uri="{BB962C8B-B14F-4D97-AF65-F5344CB8AC3E}">
        <p14:creationId xmlns:p14="http://schemas.microsoft.com/office/powerpoint/2010/main" val="2738790154"/>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853054" y="642594"/>
            <a:ext cx="2272145" cy="1371600"/>
          </a:xfrm>
        </p:spPr>
        <p:txBody>
          <a:bodyPr/>
          <a:lstStyle/>
          <a:p>
            <a:r>
              <a:rPr lang="he-IL" dirty="0"/>
              <a:t>הרחבות</a:t>
            </a:r>
          </a:p>
        </p:txBody>
      </p:sp>
      <p:sp>
        <p:nvSpPr>
          <p:cNvPr id="3" name="מציין מיקום תוכן 2"/>
          <p:cNvSpPr>
            <a:spLocks noGrp="1"/>
          </p:cNvSpPr>
          <p:nvPr>
            <p:ph idx="1"/>
          </p:nvPr>
        </p:nvSpPr>
        <p:spPr/>
        <p:txBody>
          <a:bodyPr/>
          <a:lstStyle/>
          <a:p>
            <a:r>
              <a:rPr lang="he-IL" b="1" u="sng" dirty="0"/>
              <a:t>בעיית חישוביות – האם שיתוף מפתחות בטוח בטווח הארוך?</a:t>
            </a:r>
          </a:p>
          <a:p>
            <a:r>
              <a:rPr lang="he-IL" dirty="0"/>
              <a:t>כיום, רוב הפרוטוקולים מבוססים על בעיות מתמטיות קשות (למשל, בעיית הדיסקרטית של לוגריתמים ב-</a:t>
            </a:r>
            <a:r>
              <a:rPr lang="en-US" dirty="0"/>
              <a:t>DH</a:t>
            </a:r>
          </a:p>
          <a:p>
            <a:r>
              <a:rPr lang="he-IL" dirty="0"/>
              <a:t>עם זאת, מחשבים קוונטיים עתידיים יוכלו לשבור פרוטוקולים כמו</a:t>
            </a:r>
            <a:r>
              <a:rPr lang="en-US" dirty="0"/>
              <a:t> RSA </a:t>
            </a:r>
            <a:r>
              <a:rPr lang="he-IL" dirty="0"/>
              <a:t>ו-</a:t>
            </a:r>
            <a:r>
              <a:rPr lang="en-US" dirty="0"/>
              <a:t>DH </a:t>
            </a:r>
          </a:p>
          <a:p>
            <a:r>
              <a:rPr lang="he-IL" dirty="0"/>
              <a:t>לכן, מחפשים אלגוריתמים פוסט-קוונטיים כמו </a:t>
            </a:r>
            <a:r>
              <a:rPr lang="en-US" dirty="0"/>
              <a:t>Lattice-Based Cryptography</a:t>
            </a:r>
          </a:p>
          <a:p>
            <a:endParaRPr lang="he-IL" dirty="0"/>
          </a:p>
          <a:p>
            <a:r>
              <a:rPr lang="he-IL" b="1" u="sng" dirty="0"/>
              <a:t>הצפנה היברידית – הפתרון המודרני:</a:t>
            </a:r>
          </a:p>
          <a:p>
            <a:r>
              <a:rPr lang="he-IL" dirty="0"/>
              <a:t>רוב המערכות כיום משלבות הצפנה א-סימטרית וסימטרית:</a:t>
            </a:r>
          </a:p>
          <a:p>
            <a:r>
              <a:rPr lang="he-IL" dirty="0"/>
              <a:t>משתמשים ב-</a:t>
            </a:r>
            <a:r>
              <a:rPr lang="en-US" dirty="0"/>
              <a:t> RSA </a:t>
            </a:r>
            <a:r>
              <a:rPr lang="he-IL" dirty="0"/>
              <a:t>או </a:t>
            </a:r>
            <a:r>
              <a:rPr lang="en-US" dirty="0"/>
              <a:t> ECDH</a:t>
            </a:r>
            <a:r>
              <a:rPr lang="he-IL" dirty="0"/>
              <a:t>לשיתוף מפתח סימטרי.</a:t>
            </a:r>
          </a:p>
          <a:p>
            <a:r>
              <a:rPr lang="he-IL" dirty="0"/>
              <a:t>לאחר מכן משתמשים ב-</a:t>
            </a:r>
            <a:r>
              <a:rPr lang="en-US" dirty="0"/>
              <a:t>AES </a:t>
            </a:r>
            <a:r>
              <a:rPr lang="he-IL" dirty="0"/>
              <a:t> להצפנה מהירה של הנתונים עצמם.</a:t>
            </a:r>
            <a:br>
              <a:rPr lang="he-IL" dirty="0"/>
            </a:br>
            <a:r>
              <a:rPr lang="he-IL" dirty="0"/>
              <a:t>כך מקבלים ביצועים גבוהים + אבטחה חזקה.</a:t>
            </a:r>
          </a:p>
          <a:p>
            <a:endParaRPr lang="he-IL" dirty="0"/>
          </a:p>
        </p:txBody>
      </p:sp>
    </p:spTree>
    <p:extLst>
      <p:ext uri="{BB962C8B-B14F-4D97-AF65-F5344CB8AC3E}">
        <p14:creationId xmlns:p14="http://schemas.microsoft.com/office/powerpoint/2010/main" val="3018707796"/>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443942" y="642594"/>
            <a:ext cx="8681258" cy="1371600"/>
          </a:xfrm>
        </p:spPr>
        <p:txBody>
          <a:bodyPr/>
          <a:lstStyle/>
          <a:p>
            <a:r>
              <a:rPr lang="he-IL" dirty="0"/>
              <a:t>איך בוחרים שיטת שיתוף מפתחות?</a:t>
            </a:r>
          </a:p>
        </p:txBody>
      </p:sp>
      <p:pic>
        <p:nvPicPr>
          <p:cNvPr id="4" name="מציין מיקום תוכן 3"/>
          <p:cNvPicPr>
            <a:picLocks noGrp="1" noChangeAspect="1"/>
          </p:cNvPicPr>
          <p:nvPr>
            <p:ph idx="1"/>
          </p:nvPr>
        </p:nvPicPr>
        <p:blipFill>
          <a:blip r:embed="rId2"/>
          <a:stretch>
            <a:fillRect/>
          </a:stretch>
        </p:blipFill>
        <p:spPr>
          <a:xfrm>
            <a:off x="826245" y="2194561"/>
            <a:ext cx="10211849" cy="2254900"/>
          </a:xfrm>
          <a:prstGeom prst="rect">
            <a:avLst/>
          </a:prstGeom>
        </p:spPr>
      </p:pic>
    </p:spTree>
    <p:extLst>
      <p:ext uri="{BB962C8B-B14F-4D97-AF65-F5344CB8AC3E}">
        <p14:creationId xmlns:p14="http://schemas.microsoft.com/office/powerpoint/2010/main" val="4051524442"/>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18814" y="642594"/>
            <a:ext cx="1906385"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מהי המטרה של שיתוף מפתחות בקריפטוגרפיה?</a:t>
            </a:r>
          </a:p>
          <a:p>
            <a:r>
              <a:rPr lang="he-IL" dirty="0"/>
              <a:t>2. למה עדיף להשתמש ב-</a:t>
            </a:r>
            <a:r>
              <a:rPr lang="en-US" dirty="0" err="1"/>
              <a:t>Diffie</a:t>
            </a:r>
            <a:r>
              <a:rPr lang="en-US" dirty="0"/>
              <a:t>-Hellman </a:t>
            </a:r>
            <a:r>
              <a:rPr lang="he-IL" dirty="0"/>
              <a:t> במקום לשלוח מפתח רגיל בטקסט פתוח?</a:t>
            </a:r>
          </a:p>
          <a:p>
            <a:r>
              <a:rPr lang="he-IL" dirty="0"/>
              <a:t>3. למה התקפת </a:t>
            </a:r>
            <a:r>
              <a:rPr lang="he-IL" b="1" dirty="0"/>
              <a:t>"אדם בתווך"</a:t>
            </a:r>
            <a:r>
              <a:rPr lang="en-US" b="1" dirty="0"/>
              <a:t> MITM</a:t>
            </a:r>
            <a:r>
              <a:rPr lang="en-US" dirty="0"/>
              <a:t> </a:t>
            </a:r>
            <a:r>
              <a:rPr lang="he-IL" dirty="0"/>
              <a:t>מסכנת את </a:t>
            </a:r>
            <a:r>
              <a:rPr lang="en-US" dirty="0" err="1"/>
              <a:t>Diffie</a:t>
            </a:r>
            <a:r>
              <a:rPr lang="en-US" dirty="0"/>
              <a:t>-Hellman</a:t>
            </a:r>
            <a:r>
              <a:rPr lang="he-IL" dirty="0"/>
              <a:t>?</a:t>
            </a:r>
          </a:p>
          <a:p>
            <a:r>
              <a:rPr lang="he-IL" dirty="0"/>
              <a:t>4. מה היתרון של שילוב </a:t>
            </a:r>
            <a:r>
              <a:rPr lang="en-US" dirty="0"/>
              <a:t> RSA</a:t>
            </a:r>
            <a:r>
              <a:rPr lang="he-IL" dirty="0"/>
              <a:t>עם</a:t>
            </a:r>
            <a:r>
              <a:rPr lang="en-US" dirty="0"/>
              <a:t> AES </a:t>
            </a:r>
            <a:r>
              <a:rPr lang="he-IL" dirty="0"/>
              <a:t>בשיתוף מפתחות?</a:t>
            </a:r>
          </a:p>
          <a:p>
            <a:endParaRPr lang="he-IL" dirty="0"/>
          </a:p>
        </p:txBody>
      </p:sp>
    </p:spTree>
    <p:extLst>
      <p:ext uri="{BB962C8B-B14F-4D97-AF65-F5344CB8AC3E}">
        <p14:creationId xmlns:p14="http://schemas.microsoft.com/office/powerpoint/2010/main" val="711895941"/>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69184" y="642594"/>
            <a:ext cx="2056015" cy="1371600"/>
          </a:xfrm>
        </p:spPr>
        <p:txBody>
          <a:bodyPr/>
          <a:lstStyle/>
          <a:p>
            <a:r>
              <a:rPr lang="he-IL" dirty="0"/>
              <a:t>תשובות</a:t>
            </a:r>
          </a:p>
        </p:txBody>
      </p:sp>
      <p:sp>
        <p:nvSpPr>
          <p:cNvPr id="3" name="מציין מיקום תוכן 2"/>
          <p:cNvSpPr>
            <a:spLocks noGrp="1"/>
          </p:cNvSpPr>
          <p:nvPr>
            <p:ph idx="1"/>
          </p:nvPr>
        </p:nvSpPr>
        <p:spPr/>
        <p:txBody>
          <a:bodyPr/>
          <a:lstStyle/>
          <a:p>
            <a:r>
              <a:rPr lang="he-IL" dirty="0"/>
              <a:t>1. המטרה היא ששני צדדים יוכלו </a:t>
            </a:r>
            <a:r>
              <a:rPr lang="he-IL" b="1" dirty="0"/>
              <a:t>לקבל מפתח הצפנה משותף</a:t>
            </a:r>
            <a:r>
              <a:rPr lang="he-IL" dirty="0"/>
              <a:t> מבלי שתוקף יוכל ליירט אותו.</a:t>
            </a:r>
          </a:p>
          <a:p>
            <a:r>
              <a:rPr lang="he-IL" dirty="0"/>
              <a:t>2. כי אם שולחים מפתח ישירות, תוקף יכול ליירט אותו.</a:t>
            </a:r>
          </a:p>
          <a:p>
            <a:r>
              <a:rPr lang="he-IL" dirty="0"/>
              <a:t>ב-</a:t>
            </a:r>
            <a:r>
              <a:rPr lang="en-US" dirty="0"/>
              <a:t>DH </a:t>
            </a:r>
            <a:r>
              <a:rPr lang="he-IL" dirty="0"/>
              <a:t> המפתח </a:t>
            </a:r>
            <a:r>
              <a:rPr lang="he-IL" b="1" dirty="0"/>
              <a:t>לא עובר ישירות</a:t>
            </a:r>
            <a:r>
              <a:rPr lang="he-IL" dirty="0"/>
              <a:t>, אלא מחושב משני צדדים.</a:t>
            </a:r>
          </a:p>
          <a:p>
            <a:r>
              <a:rPr lang="he-IL" dirty="0"/>
              <a:t>3. אם אין אימות זהות, תוקף יכול להתחזות לאחד הצדדים וליצור שני חיבורים נפרדים – אחד עם אליס ואחד עם בוב.</a:t>
            </a:r>
          </a:p>
          <a:p>
            <a:r>
              <a:rPr lang="he-IL" dirty="0"/>
              <a:t>4.</a:t>
            </a:r>
            <a:r>
              <a:rPr lang="en-US" dirty="0"/>
              <a:t>RSA </a:t>
            </a:r>
            <a:r>
              <a:rPr lang="he-IL" dirty="0"/>
              <a:t> מאפשר לשלוח </a:t>
            </a:r>
            <a:r>
              <a:rPr lang="he-IL" b="1" dirty="0"/>
              <a:t>מפתח סימטרי בצורה מאובטחת</a:t>
            </a:r>
            <a:r>
              <a:rPr lang="he-IL" dirty="0"/>
              <a:t>, ואז משתמשים ב-</a:t>
            </a:r>
            <a:r>
              <a:rPr lang="en-US" dirty="0"/>
              <a:t> AES </a:t>
            </a:r>
            <a:r>
              <a:rPr lang="he-IL" dirty="0"/>
              <a:t>להצפנה מהירה יותר של התקשורת.</a:t>
            </a:r>
          </a:p>
          <a:p>
            <a:endParaRPr lang="he-IL" dirty="0"/>
          </a:p>
        </p:txBody>
      </p:sp>
    </p:spTree>
    <p:extLst>
      <p:ext uri="{BB962C8B-B14F-4D97-AF65-F5344CB8AC3E}">
        <p14:creationId xmlns:p14="http://schemas.microsoft.com/office/powerpoint/2010/main" val="1683872475"/>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510444"/>
            <a:ext cx="10058400" cy="3931920"/>
          </a:xfrm>
        </p:spPr>
        <p:txBody>
          <a:bodyPr>
            <a:normAutofit/>
          </a:bodyPr>
          <a:lstStyle/>
          <a:p>
            <a:pPr algn="ctr"/>
            <a:r>
              <a:rPr lang="en-US" sz="6600" dirty="0"/>
              <a:t>PKI</a:t>
            </a:r>
            <a:endParaRPr lang="he-IL" sz="6600" dirty="0"/>
          </a:p>
        </p:txBody>
      </p:sp>
    </p:spTree>
    <p:extLst>
      <p:ext uri="{BB962C8B-B14F-4D97-AF65-F5344CB8AC3E}">
        <p14:creationId xmlns:p14="http://schemas.microsoft.com/office/powerpoint/2010/main" val="61573725"/>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071658" y="642594"/>
            <a:ext cx="3053542" cy="1371600"/>
          </a:xfrm>
        </p:spPr>
        <p:txBody>
          <a:bodyPr/>
          <a:lstStyle/>
          <a:p>
            <a:r>
              <a:rPr lang="he-IL" dirty="0"/>
              <a:t>מה זה </a:t>
            </a:r>
            <a:r>
              <a:rPr lang="en-US" dirty="0"/>
              <a:t>PKI</a:t>
            </a:r>
            <a:r>
              <a:rPr lang="he-IL" dirty="0"/>
              <a:t>?</a:t>
            </a:r>
          </a:p>
        </p:txBody>
      </p:sp>
      <p:sp>
        <p:nvSpPr>
          <p:cNvPr id="3" name="מציין מיקום תוכן 2"/>
          <p:cNvSpPr>
            <a:spLocks noGrp="1"/>
          </p:cNvSpPr>
          <p:nvPr>
            <p:ph idx="1"/>
          </p:nvPr>
        </p:nvSpPr>
        <p:spPr/>
        <p:txBody>
          <a:bodyPr/>
          <a:lstStyle/>
          <a:p>
            <a:pPr marL="0" indent="0">
              <a:buNone/>
            </a:pPr>
            <a:r>
              <a:rPr lang="en-US" dirty="0"/>
              <a:t> PKI</a:t>
            </a:r>
            <a:r>
              <a:rPr lang="he-IL" dirty="0"/>
              <a:t>תשתית מפתח ציבורי הוא מכלול של חוקים, נהלים, ותשתיות טכנולוגיות המאפשרות </a:t>
            </a:r>
            <a:r>
              <a:rPr lang="he-IL" b="1" dirty="0"/>
              <a:t>הצפנה א-סימטרית</a:t>
            </a:r>
            <a:r>
              <a:rPr lang="he-IL" dirty="0"/>
              <a:t>, חתימות דיגיטליות, ואימות זהויות בצורה בטוחה.</a:t>
            </a:r>
          </a:p>
        </p:txBody>
      </p:sp>
    </p:spTree>
    <p:extLst>
      <p:ext uri="{BB962C8B-B14F-4D97-AF65-F5344CB8AC3E}">
        <p14:creationId xmlns:p14="http://schemas.microsoft.com/office/powerpoint/2010/main" val="1297847867"/>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355868" y="642594"/>
            <a:ext cx="6769331" cy="1371600"/>
          </a:xfrm>
        </p:spPr>
        <p:txBody>
          <a:bodyPr/>
          <a:lstStyle/>
          <a:p>
            <a:r>
              <a:rPr lang="he-IL" dirty="0"/>
              <a:t>רקע על הצפנה א-סימטרית</a:t>
            </a:r>
          </a:p>
        </p:txBody>
      </p:sp>
      <p:sp>
        <p:nvSpPr>
          <p:cNvPr id="3" name="מציין מיקום תוכן 2"/>
          <p:cNvSpPr>
            <a:spLocks noGrp="1"/>
          </p:cNvSpPr>
          <p:nvPr>
            <p:ph idx="1"/>
          </p:nvPr>
        </p:nvSpPr>
        <p:spPr/>
        <p:txBody>
          <a:bodyPr/>
          <a:lstStyle/>
          <a:p>
            <a:r>
              <a:rPr lang="he-IL" dirty="0"/>
              <a:t>בניגוד להצפנה סימטרית שבה משתמשים </a:t>
            </a:r>
            <a:r>
              <a:rPr lang="he-IL" b="1" dirty="0"/>
              <a:t>במפתח אחד</a:t>
            </a:r>
            <a:r>
              <a:rPr lang="he-IL" dirty="0"/>
              <a:t> להצפנה ולפענוח, הצפנה א-סימטרית משתמשת </a:t>
            </a:r>
            <a:r>
              <a:rPr lang="he-IL" b="1" dirty="0"/>
              <a:t>בשני מפתחות</a:t>
            </a:r>
            <a:r>
              <a:rPr lang="he-IL" dirty="0"/>
              <a:t>:</a:t>
            </a:r>
          </a:p>
          <a:p>
            <a:r>
              <a:rPr lang="he-IL" b="1" dirty="0"/>
              <a:t>1. מפתח ציבורי</a:t>
            </a:r>
            <a:r>
              <a:rPr lang="en-US" b="1" dirty="0"/>
              <a:t>Public Key</a:t>
            </a:r>
            <a:r>
              <a:rPr lang="en-US" dirty="0"/>
              <a:t> </a:t>
            </a:r>
            <a:r>
              <a:rPr lang="he-IL" dirty="0"/>
              <a:t>: משמש להצפנה, ניתן להפצה חופשית.</a:t>
            </a:r>
          </a:p>
          <a:p>
            <a:r>
              <a:rPr lang="he-IL" b="1" dirty="0"/>
              <a:t>2. מפתח פרטי</a:t>
            </a:r>
            <a:r>
              <a:rPr lang="en-US" b="1" dirty="0"/>
              <a:t>Private Key</a:t>
            </a:r>
            <a:r>
              <a:rPr lang="en-US" dirty="0"/>
              <a:t> </a:t>
            </a:r>
            <a:r>
              <a:rPr lang="he-IL" dirty="0"/>
              <a:t>: משמש לפענוח, חייב להישאר סודי.</a:t>
            </a:r>
          </a:p>
          <a:p>
            <a:r>
              <a:rPr lang="he-IL" b="1" dirty="0"/>
              <a:t>שימושים של </a:t>
            </a:r>
            <a:r>
              <a:rPr lang="en-US" b="1" dirty="0"/>
              <a:t>PKI</a:t>
            </a:r>
            <a:r>
              <a:rPr lang="he-IL" b="1" dirty="0"/>
              <a:t>:</a:t>
            </a:r>
            <a:endParaRPr lang="en-US" b="1" dirty="0"/>
          </a:p>
          <a:p>
            <a:r>
              <a:rPr lang="he-IL" b="1" dirty="0"/>
              <a:t>הצפנת מידע</a:t>
            </a:r>
            <a:r>
              <a:rPr lang="he-IL" dirty="0"/>
              <a:t>: למשל, שליחת הודעות מוצפנות.</a:t>
            </a:r>
          </a:p>
          <a:p>
            <a:r>
              <a:rPr lang="he-IL" b="1" dirty="0"/>
              <a:t>חתימה דיגיטלית</a:t>
            </a:r>
            <a:r>
              <a:rPr lang="he-IL" dirty="0"/>
              <a:t>: אימות מקוריות ושלמות המידע.</a:t>
            </a:r>
          </a:p>
          <a:p>
            <a:r>
              <a:rPr lang="he-IL" b="1" dirty="0"/>
              <a:t>אימות זהות</a:t>
            </a:r>
            <a:r>
              <a:rPr lang="he-IL" dirty="0"/>
              <a:t>: לדוגמה, בכניסה לאתרים עם תעודות </a:t>
            </a:r>
            <a:r>
              <a:rPr lang="en-US" dirty="0"/>
              <a:t>SSL/TLS</a:t>
            </a:r>
          </a:p>
          <a:p>
            <a:endParaRPr lang="he-IL" dirty="0"/>
          </a:p>
        </p:txBody>
      </p:sp>
    </p:spTree>
    <p:extLst>
      <p:ext uri="{BB962C8B-B14F-4D97-AF65-F5344CB8AC3E}">
        <p14:creationId xmlns:p14="http://schemas.microsoft.com/office/powerpoint/2010/main" val="548595212"/>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448204" y="642594"/>
            <a:ext cx="3676996" cy="1371600"/>
          </a:xfrm>
        </p:spPr>
        <p:txBody>
          <a:bodyPr/>
          <a:lstStyle/>
          <a:p>
            <a:r>
              <a:rPr lang="he-IL" dirty="0"/>
              <a:t>איך</a:t>
            </a:r>
            <a:r>
              <a:rPr lang="en-US" dirty="0"/>
              <a:t> PKI </a:t>
            </a:r>
            <a:r>
              <a:rPr lang="he-IL" dirty="0"/>
              <a:t>עובד?</a:t>
            </a:r>
          </a:p>
        </p:txBody>
      </p:sp>
      <p:sp>
        <p:nvSpPr>
          <p:cNvPr id="3" name="מציין מיקום תוכן 2"/>
          <p:cNvSpPr>
            <a:spLocks noGrp="1"/>
          </p:cNvSpPr>
          <p:nvPr>
            <p:ph idx="1"/>
          </p:nvPr>
        </p:nvSpPr>
        <p:spPr/>
        <p:txBody>
          <a:bodyPr/>
          <a:lstStyle/>
          <a:p>
            <a:r>
              <a:rPr lang="en-US" dirty="0"/>
              <a:t>PKI</a:t>
            </a:r>
            <a:r>
              <a:rPr lang="he-IL" dirty="0"/>
              <a:t> מבוסס על </a:t>
            </a:r>
            <a:r>
              <a:rPr lang="he-IL" b="1" dirty="0"/>
              <a:t>רשות מאשרת</a:t>
            </a:r>
            <a:r>
              <a:rPr lang="en-US" b="1" dirty="0"/>
              <a:t> Certificate Authority - CA</a:t>
            </a:r>
            <a:r>
              <a:rPr lang="en-US" dirty="0"/>
              <a:t> </a:t>
            </a:r>
            <a:r>
              <a:rPr lang="he-IL" dirty="0"/>
              <a:t>שמנפיקה תעודות דיגיטליות המאשרות את הזהות של גורם מסוים.</a:t>
            </a:r>
          </a:p>
          <a:p>
            <a:r>
              <a:rPr lang="he-IL" b="1" dirty="0"/>
              <a:t>תהליך אימות זהות בעזרת </a:t>
            </a:r>
            <a:r>
              <a:rPr lang="en-US" b="1" dirty="0"/>
              <a:t>PKI</a:t>
            </a:r>
            <a:r>
              <a:rPr lang="he-IL" b="1" dirty="0"/>
              <a:t>:</a:t>
            </a:r>
            <a:endParaRPr lang="en-US" b="1" dirty="0"/>
          </a:p>
          <a:p>
            <a:r>
              <a:rPr lang="he-IL" dirty="0"/>
              <a:t>1. משתמש/שרת מבקש תעודה דיגיטלית מ-</a:t>
            </a:r>
            <a:r>
              <a:rPr lang="en-US" dirty="0"/>
              <a:t>CA </a:t>
            </a:r>
          </a:p>
          <a:p>
            <a:r>
              <a:rPr lang="he-IL" dirty="0"/>
              <a:t>2. ה-</a:t>
            </a:r>
            <a:r>
              <a:rPr lang="en-US" dirty="0"/>
              <a:t>CA </a:t>
            </a:r>
            <a:r>
              <a:rPr lang="he-IL" dirty="0"/>
              <a:t> מאמת את זהותו ומנפיק לו </a:t>
            </a:r>
            <a:r>
              <a:rPr lang="he-IL" b="1" dirty="0"/>
              <a:t>תעודה דיגיטלית </a:t>
            </a:r>
            <a:r>
              <a:rPr lang="en-US" b="1" dirty="0"/>
              <a:t>Digital Certificate</a:t>
            </a:r>
            <a:endParaRPr lang="en-US" dirty="0"/>
          </a:p>
          <a:p>
            <a:r>
              <a:rPr lang="he-IL" dirty="0"/>
              <a:t>3. המשתמש משתמש בתעודה כדי להצפין מידע או לחתום עליו דיגיטלית.</a:t>
            </a:r>
          </a:p>
          <a:p>
            <a:r>
              <a:rPr lang="he-IL" dirty="0"/>
              <a:t>4. צד שלישי יכול לבדוק את התעודה בעזרת המפתח הציבורי של ה-</a:t>
            </a:r>
            <a:r>
              <a:rPr lang="en-US" dirty="0"/>
              <a:t>CA </a:t>
            </a:r>
            <a:r>
              <a:rPr lang="he-IL" dirty="0"/>
              <a:t> ולוודא שהיא אמינה.</a:t>
            </a:r>
          </a:p>
          <a:p>
            <a:endParaRPr lang="he-IL" dirty="0"/>
          </a:p>
        </p:txBody>
      </p:sp>
    </p:spTree>
    <p:extLst>
      <p:ext uri="{BB962C8B-B14F-4D97-AF65-F5344CB8AC3E}">
        <p14:creationId xmlns:p14="http://schemas.microsoft.com/office/powerpoint/2010/main" val="434280024"/>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010102" y="642594"/>
            <a:ext cx="5115098" cy="1371600"/>
          </a:xfrm>
        </p:spPr>
        <p:txBody>
          <a:bodyPr/>
          <a:lstStyle/>
          <a:p>
            <a:r>
              <a:rPr lang="he-IL" dirty="0"/>
              <a:t>מרכיבי </a:t>
            </a:r>
            <a:r>
              <a:rPr lang="en-US" dirty="0"/>
              <a:t> PKI</a:t>
            </a:r>
            <a:r>
              <a:rPr lang="he-IL" dirty="0"/>
              <a:t>עיקריים</a:t>
            </a:r>
          </a:p>
        </p:txBody>
      </p:sp>
      <p:sp>
        <p:nvSpPr>
          <p:cNvPr id="3" name="מציין מיקום תוכן 2"/>
          <p:cNvSpPr>
            <a:spLocks noGrp="1"/>
          </p:cNvSpPr>
          <p:nvPr>
            <p:ph idx="1"/>
          </p:nvPr>
        </p:nvSpPr>
        <p:spPr/>
        <p:txBody>
          <a:bodyPr>
            <a:normAutofit fontScale="92500" lnSpcReduction="10000"/>
          </a:bodyPr>
          <a:lstStyle/>
          <a:p>
            <a:r>
              <a:rPr lang="he-IL" b="1" dirty="0"/>
              <a:t>א. רשות מאשרת </a:t>
            </a:r>
            <a:r>
              <a:rPr lang="en-US" b="1" dirty="0"/>
              <a:t>Certificate Authority - CA</a:t>
            </a:r>
          </a:p>
          <a:p>
            <a:r>
              <a:rPr lang="he-IL" dirty="0"/>
              <a:t>גוף שמנפיק תעודות דיגיטליות המוכיחות שהמפתח הציבורי שייך לגורם מסוים.</a:t>
            </a:r>
            <a:br>
              <a:rPr lang="he-IL" dirty="0"/>
            </a:br>
            <a:r>
              <a:rPr lang="en-US" dirty="0"/>
              <a:t> CA</a:t>
            </a:r>
            <a:r>
              <a:rPr lang="he-IL" dirty="0"/>
              <a:t>חותמת על התעודות שלה עם </a:t>
            </a:r>
            <a:r>
              <a:rPr lang="he-IL" b="1" dirty="0"/>
              <a:t>המפתח הפרטי</a:t>
            </a:r>
            <a:r>
              <a:rPr lang="he-IL" dirty="0"/>
              <a:t> שלה, וכך ניתן לאמת שהן אמינות.</a:t>
            </a:r>
            <a:br>
              <a:rPr lang="he-IL" dirty="0"/>
            </a:br>
            <a:r>
              <a:rPr lang="he-IL" dirty="0"/>
              <a:t>ישנן רשויות מאשרות גלובליות כמו </a:t>
            </a:r>
            <a:r>
              <a:rPr lang="en-US" dirty="0"/>
              <a:t> </a:t>
            </a:r>
            <a:r>
              <a:rPr lang="en-US" dirty="0" err="1"/>
              <a:t>DigiCert</a:t>
            </a:r>
            <a:r>
              <a:rPr lang="en-US" dirty="0"/>
              <a:t> ,</a:t>
            </a:r>
            <a:r>
              <a:rPr lang="en-US" dirty="0" err="1"/>
              <a:t>GlobalSign</a:t>
            </a:r>
            <a:r>
              <a:rPr lang="en-US" dirty="0"/>
              <a:t> ,Let's Encrypt</a:t>
            </a:r>
            <a:r>
              <a:rPr lang="he-IL" dirty="0"/>
              <a:t>וכן פנימיות (לשימוש בארגון).</a:t>
            </a:r>
          </a:p>
          <a:p>
            <a:r>
              <a:rPr lang="he-IL" b="1" dirty="0"/>
              <a:t>ב. רשות רישום </a:t>
            </a:r>
            <a:r>
              <a:rPr lang="en-US" b="1" dirty="0"/>
              <a:t>Registration Authority - RA</a:t>
            </a:r>
          </a:p>
          <a:p>
            <a:r>
              <a:rPr lang="he-IL" dirty="0"/>
              <a:t>משמשת לתהליך אימות הזהות לפני הנפקת תעודה ע"י ה-</a:t>
            </a:r>
            <a:r>
              <a:rPr lang="en-US" dirty="0"/>
              <a:t>CA</a:t>
            </a:r>
            <a:br>
              <a:rPr lang="en-US" dirty="0"/>
            </a:br>
            <a:r>
              <a:rPr lang="he-IL" dirty="0"/>
              <a:t>ה-</a:t>
            </a:r>
            <a:r>
              <a:rPr lang="en-US" dirty="0"/>
              <a:t> RA </a:t>
            </a:r>
            <a:r>
              <a:rPr lang="he-IL" dirty="0"/>
              <a:t>מוודאת שהבקשה לגיטימית לפני אישורה.</a:t>
            </a:r>
          </a:p>
          <a:p>
            <a:r>
              <a:rPr lang="he-IL" b="1" dirty="0"/>
              <a:t>ג. מאגר תעודות </a:t>
            </a:r>
            <a:r>
              <a:rPr lang="en-US" b="1" dirty="0"/>
              <a:t>Certificate Repository</a:t>
            </a:r>
          </a:p>
          <a:p>
            <a:r>
              <a:rPr lang="he-IL" dirty="0"/>
              <a:t>מסד נתונים שמאחסן את התעודות הדיגיטליות שהונפקו, כך שהן יהיו זמינות לבדיקת אמינותן.</a:t>
            </a:r>
          </a:p>
          <a:p>
            <a:r>
              <a:rPr lang="he-IL" b="1" dirty="0"/>
              <a:t>ד. רשימת תעודות מבוטלות </a:t>
            </a:r>
            <a:r>
              <a:rPr lang="en-US" b="1" dirty="0"/>
              <a:t>Certificate Revocation List - CRL</a:t>
            </a:r>
          </a:p>
          <a:p>
            <a:r>
              <a:rPr lang="he-IL" dirty="0"/>
              <a:t>רשימה של תעודות שכבר אינן תקפות בגלל גניבה, פג תוקף, או ביטול יזום.</a:t>
            </a:r>
            <a:br>
              <a:rPr lang="he-IL" dirty="0"/>
            </a:br>
            <a:r>
              <a:rPr lang="he-IL" dirty="0"/>
              <a:t>ניתן לבדוק את הסטטוס של תעודה באמצעות פרוטוקול </a:t>
            </a:r>
            <a:r>
              <a:rPr lang="en-US" b="1" dirty="0"/>
              <a:t>OCSP (Online Certificate Status Protocol)</a:t>
            </a:r>
            <a:endParaRPr lang="en-US" dirty="0"/>
          </a:p>
          <a:p>
            <a:endParaRPr lang="he-IL" dirty="0"/>
          </a:p>
        </p:txBody>
      </p:sp>
    </p:spTree>
    <p:extLst>
      <p:ext uri="{BB962C8B-B14F-4D97-AF65-F5344CB8AC3E}">
        <p14:creationId xmlns:p14="http://schemas.microsoft.com/office/powerpoint/2010/main" val="199739934"/>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65018" y="642594"/>
            <a:ext cx="10460182" cy="1371600"/>
          </a:xfrm>
        </p:spPr>
        <p:txBody>
          <a:bodyPr>
            <a:normAutofit fontScale="90000"/>
          </a:bodyPr>
          <a:lstStyle/>
          <a:p>
            <a:r>
              <a:rPr lang="he-IL" dirty="0"/>
              <a:t>מבנה של תעודה דיגיטלית </a:t>
            </a:r>
            <a:r>
              <a:rPr lang="en-US" dirty="0"/>
              <a:t>X.509 Certificate</a:t>
            </a:r>
            <a:endParaRPr lang="he-IL" dirty="0"/>
          </a:p>
        </p:txBody>
      </p:sp>
      <p:sp>
        <p:nvSpPr>
          <p:cNvPr id="3" name="מציין מיקום תוכן 2"/>
          <p:cNvSpPr>
            <a:spLocks noGrp="1"/>
          </p:cNvSpPr>
          <p:nvPr>
            <p:ph idx="1"/>
          </p:nvPr>
        </p:nvSpPr>
        <p:spPr/>
        <p:txBody>
          <a:bodyPr/>
          <a:lstStyle/>
          <a:p>
            <a:r>
              <a:rPr lang="he-IL" b="1" u="sng" dirty="0"/>
              <a:t>תעודה דיגיטלית היא מסמך מבוסס תקן </a:t>
            </a:r>
            <a:r>
              <a:rPr lang="en-US" b="1" u="sng" dirty="0"/>
              <a:t> X.509 </a:t>
            </a:r>
            <a:r>
              <a:rPr lang="he-IL" b="1" u="sng" dirty="0"/>
              <a:t>המכיל:</a:t>
            </a:r>
          </a:p>
          <a:p>
            <a:pPr marL="0" indent="0">
              <a:buNone/>
            </a:pPr>
            <a:r>
              <a:rPr lang="he-IL" dirty="0"/>
              <a:t/>
            </a:r>
            <a:br>
              <a:rPr lang="he-IL" dirty="0"/>
            </a:br>
            <a:r>
              <a:rPr lang="he-IL" dirty="0"/>
              <a:t>1. שם הישות (שם משתמש/שרת/ארגון)</a:t>
            </a:r>
            <a:br>
              <a:rPr lang="he-IL" dirty="0"/>
            </a:br>
            <a:r>
              <a:rPr lang="he-IL" dirty="0"/>
              <a:t>2. המפתח הציבורי של הישות</a:t>
            </a:r>
            <a:br>
              <a:rPr lang="he-IL" dirty="0"/>
            </a:br>
            <a:r>
              <a:rPr lang="he-IL" dirty="0"/>
              <a:t>3. שם הרשות שהנפיקה את התעודה </a:t>
            </a:r>
            <a:r>
              <a:rPr lang="en-US" dirty="0"/>
              <a:t>CA</a:t>
            </a:r>
            <a:br>
              <a:rPr lang="en-US" dirty="0"/>
            </a:br>
            <a:r>
              <a:rPr lang="he-IL" dirty="0"/>
              <a:t>4. תאריך תוקף התעודה</a:t>
            </a:r>
            <a:br>
              <a:rPr lang="he-IL" dirty="0"/>
            </a:br>
            <a:r>
              <a:rPr lang="he-IL" dirty="0"/>
              <a:t>5. חתימה דיגיטלית של ה-</a:t>
            </a:r>
            <a:r>
              <a:rPr lang="en-US" dirty="0"/>
              <a:t>CA </a:t>
            </a:r>
          </a:p>
          <a:p>
            <a:r>
              <a:rPr lang="he-IL" dirty="0"/>
              <a:t>התעודה מוצגת בפורמט </a:t>
            </a:r>
            <a:r>
              <a:rPr lang="en-US" b="1" dirty="0"/>
              <a:t>PEM</a:t>
            </a:r>
            <a:r>
              <a:rPr lang="he-IL" b="1" dirty="0"/>
              <a:t> או </a:t>
            </a:r>
            <a:r>
              <a:rPr lang="en-US" b="1" dirty="0"/>
              <a:t> DER</a:t>
            </a:r>
            <a:r>
              <a:rPr lang="he-IL" dirty="0"/>
              <a:t>וניתנת לקריאה על ידי דפדפנים ותוכנות אבטחה.</a:t>
            </a:r>
          </a:p>
          <a:p>
            <a:endParaRPr lang="he-IL" dirty="0"/>
          </a:p>
        </p:txBody>
      </p:sp>
    </p:spTree>
    <p:extLst>
      <p:ext uri="{BB962C8B-B14F-4D97-AF65-F5344CB8AC3E}">
        <p14:creationId xmlns:p14="http://schemas.microsoft.com/office/powerpoint/2010/main" val="997243701"/>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536276" y="642594"/>
            <a:ext cx="5588924" cy="1371600"/>
          </a:xfrm>
        </p:spPr>
        <p:txBody>
          <a:bodyPr/>
          <a:lstStyle/>
          <a:p>
            <a:r>
              <a:rPr lang="he-IL" dirty="0"/>
              <a:t>סוגי תעודות דיגיטליות</a:t>
            </a:r>
          </a:p>
        </p:txBody>
      </p:sp>
      <p:sp>
        <p:nvSpPr>
          <p:cNvPr id="3" name="מציין מיקום תוכן 2"/>
          <p:cNvSpPr>
            <a:spLocks noGrp="1"/>
          </p:cNvSpPr>
          <p:nvPr>
            <p:ph idx="1"/>
          </p:nvPr>
        </p:nvSpPr>
        <p:spPr/>
        <p:txBody>
          <a:bodyPr/>
          <a:lstStyle/>
          <a:p>
            <a:r>
              <a:rPr lang="en-US" b="1" dirty="0"/>
              <a:t>:SSL/TLS Certificates</a:t>
            </a:r>
            <a:r>
              <a:rPr lang="en-US" dirty="0"/>
              <a:t> .1 </a:t>
            </a:r>
            <a:r>
              <a:rPr lang="he-IL" dirty="0"/>
              <a:t> משמשות להצפנת תעבורת אינטרנט </a:t>
            </a:r>
            <a:r>
              <a:rPr lang="en-US" dirty="0"/>
              <a:t>HTTPS</a:t>
            </a:r>
            <a:endParaRPr lang="he-IL" dirty="0"/>
          </a:p>
          <a:p>
            <a:endParaRPr lang="en-US" dirty="0"/>
          </a:p>
          <a:p>
            <a:r>
              <a:rPr lang="en-US" dirty="0"/>
              <a:t> :</a:t>
            </a:r>
            <a:r>
              <a:rPr lang="en-US" b="1" dirty="0"/>
              <a:t>Code Signing Certificates</a:t>
            </a:r>
            <a:r>
              <a:rPr lang="en-US" dirty="0"/>
              <a:t> .2 </a:t>
            </a:r>
            <a:r>
              <a:rPr lang="he-IL" dirty="0"/>
              <a:t>מאשרות שהקוד נחתם ע"י מפתח ידוע ולא שונה ע"י צד שלישי.</a:t>
            </a:r>
          </a:p>
          <a:p>
            <a:endParaRPr lang="he-IL" dirty="0"/>
          </a:p>
          <a:p>
            <a:r>
              <a:rPr lang="en-US" b="1" dirty="0"/>
              <a:t> :Email Certificates (S/MIME)</a:t>
            </a:r>
            <a:r>
              <a:rPr lang="en-US" dirty="0"/>
              <a:t> .3 </a:t>
            </a:r>
            <a:r>
              <a:rPr lang="he-IL" dirty="0"/>
              <a:t>משמשות לאימות זהות ושמירת פרטיות באימיילים.</a:t>
            </a:r>
          </a:p>
          <a:p>
            <a:r>
              <a:rPr lang="he-IL" dirty="0"/>
              <a:t/>
            </a:r>
            <a:br>
              <a:rPr lang="he-IL" dirty="0"/>
            </a:br>
            <a:r>
              <a:rPr lang="en-US" dirty="0"/>
              <a:t> :</a:t>
            </a:r>
            <a:r>
              <a:rPr lang="en-US" b="1" dirty="0"/>
              <a:t>Client Certificates</a:t>
            </a:r>
            <a:r>
              <a:rPr lang="en-US" dirty="0"/>
              <a:t> .4 </a:t>
            </a:r>
            <a:r>
              <a:rPr lang="he-IL" dirty="0"/>
              <a:t>משמשות לאימות משתמשים ושירותים.</a:t>
            </a:r>
          </a:p>
        </p:txBody>
      </p:sp>
    </p:spTree>
    <p:extLst>
      <p:ext uri="{BB962C8B-B14F-4D97-AF65-F5344CB8AC3E}">
        <p14:creationId xmlns:p14="http://schemas.microsoft.com/office/powerpoint/2010/main" val="857922341"/>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059084" y="642594"/>
            <a:ext cx="8066116" cy="1371600"/>
          </a:xfrm>
        </p:spPr>
        <p:txBody>
          <a:bodyPr/>
          <a:lstStyle/>
          <a:p>
            <a:r>
              <a:rPr lang="he-IL" dirty="0"/>
              <a:t>ניהול מחזור חיי תעודה דיגיטלית</a:t>
            </a:r>
          </a:p>
        </p:txBody>
      </p:sp>
      <p:sp>
        <p:nvSpPr>
          <p:cNvPr id="3" name="מציין מיקום תוכן 2"/>
          <p:cNvSpPr>
            <a:spLocks noGrp="1"/>
          </p:cNvSpPr>
          <p:nvPr>
            <p:ph idx="1"/>
          </p:nvPr>
        </p:nvSpPr>
        <p:spPr/>
        <p:txBody>
          <a:bodyPr/>
          <a:lstStyle/>
          <a:p>
            <a:pPr marL="0" indent="0">
              <a:buNone/>
            </a:pPr>
            <a:r>
              <a:rPr lang="he-IL" dirty="0"/>
              <a:t> 1. </a:t>
            </a:r>
            <a:r>
              <a:rPr lang="he-IL" b="1" dirty="0"/>
              <a:t>יצירה</a:t>
            </a:r>
            <a:r>
              <a:rPr lang="he-IL" dirty="0"/>
              <a:t> – המשתמש מייצר בקשה לתעודה </a:t>
            </a:r>
            <a:r>
              <a:rPr lang="en-US" dirty="0"/>
              <a:t>CSR - Certificate Signing Request</a:t>
            </a:r>
          </a:p>
          <a:p>
            <a:pPr marL="0" indent="0">
              <a:buNone/>
            </a:pPr>
            <a:r>
              <a:rPr lang="he-IL" b="1" dirty="0"/>
              <a:t>2. אימות</a:t>
            </a:r>
            <a:r>
              <a:rPr lang="he-IL" dirty="0"/>
              <a:t> – ה-</a:t>
            </a:r>
            <a:r>
              <a:rPr lang="en-US" dirty="0"/>
              <a:t> RA </a:t>
            </a:r>
            <a:r>
              <a:rPr lang="he-IL" dirty="0"/>
              <a:t>בודק את זהות המבקש</a:t>
            </a:r>
          </a:p>
          <a:p>
            <a:pPr marL="0" indent="0">
              <a:buNone/>
            </a:pPr>
            <a:r>
              <a:rPr lang="he-IL" b="1" dirty="0"/>
              <a:t>3. הנפקה</a:t>
            </a:r>
            <a:r>
              <a:rPr lang="he-IL" dirty="0"/>
              <a:t> – ה-</a:t>
            </a:r>
            <a:r>
              <a:rPr lang="en-US" dirty="0"/>
              <a:t>CA </a:t>
            </a:r>
            <a:r>
              <a:rPr lang="he-IL" dirty="0"/>
              <a:t> מנפיק את התעודה ומחתים אותה דיגיטלית.</a:t>
            </a:r>
          </a:p>
          <a:p>
            <a:pPr marL="0" indent="0">
              <a:buNone/>
            </a:pPr>
            <a:r>
              <a:rPr lang="he-IL" dirty="0"/>
              <a:t/>
            </a:r>
            <a:br>
              <a:rPr lang="he-IL" dirty="0"/>
            </a:br>
            <a:r>
              <a:rPr lang="he-IL" dirty="0"/>
              <a:t>4. </a:t>
            </a:r>
            <a:r>
              <a:rPr lang="he-IL" b="1" dirty="0"/>
              <a:t>שימוש</a:t>
            </a:r>
            <a:r>
              <a:rPr lang="he-IL" dirty="0"/>
              <a:t> – התעודה משמשת להצפנה או חתימה דיגיטלית.</a:t>
            </a:r>
          </a:p>
          <a:p>
            <a:pPr marL="0" indent="0">
              <a:buNone/>
            </a:pPr>
            <a:r>
              <a:rPr lang="he-IL" dirty="0"/>
              <a:t/>
            </a:r>
            <a:br>
              <a:rPr lang="he-IL" dirty="0"/>
            </a:br>
            <a:r>
              <a:rPr lang="he-IL" dirty="0"/>
              <a:t>5. </a:t>
            </a:r>
            <a:r>
              <a:rPr lang="he-IL" b="1" dirty="0"/>
              <a:t>חידוש</a:t>
            </a:r>
            <a:r>
              <a:rPr lang="he-IL" dirty="0"/>
              <a:t> – כשהתעודה עומדת לפוג, יש לחדש אותה כדי לשמור על אבטחה.</a:t>
            </a:r>
          </a:p>
          <a:p>
            <a:pPr marL="0" indent="0">
              <a:buNone/>
            </a:pPr>
            <a:r>
              <a:rPr lang="he-IL" dirty="0"/>
              <a:t/>
            </a:r>
            <a:br>
              <a:rPr lang="he-IL" dirty="0"/>
            </a:br>
            <a:r>
              <a:rPr lang="he-IL" dirty="0"/>
              <a:t>6. </a:t>
            </a:r>
            <a:r>
              <a:rPr lang="he-IL" b="1" dirty="0"/>
              <a:t>ביטול</a:t>
            </a:r>
            <a:r>
              <a:rPr lang="he-IL" dirty="0"/>
              <a:t> – אם המפתח הפרטי נפרץ או הזהות השתנתה, התעודה מבוטלת ונכנסת ל-</a:t>
            </a:r>
            <a:r>
              <a:rPr lang="en-US" dirty="0"/>
              <a:t>CRL</a:t>
            </a:r>
            <a:endParaRPr lang="he-IL" dirty="0"/>
          </a:p>
        </p:txBody>
      </p:sp>
    </p:spTree>
    <p:extLst>
      <p:ext uri="{BB962C8B-B14F-4D97-AF65-F5344CB8AC3E}">
        <p14:creationId xmlns:p14="http://schemas.microsoft.com/office/powerpoint/2010/main" val="1966766524"/>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267796" y="642594"/>
            <a:ext cx="4857403" cy="1371600"/>
          </a:xfrm>
        </p:spPr>
        <p:txBody>
          <a:bodyPr>
            <a:normAutofit fontScale="90000"/>
          </a:bodyPr>
          <a:lstStyle/>
          <a:p>
            <a:r>
              <a:rPr lang="he-IL" dirty="0"/>
              <a:t>אתגרים ובעיות ב-</a:t>
            </a:r>
            <a:r>
              <a:rPr lang="en-US" dirty="0"/>
              <a:t>PKI</a:t>
            </a:r>
            <a:endParaRPr lang="he-IL" dirty="0"/>
          </a:p>
        </p:txBody>
      </p:sp>
      <p:pic>
        <p:nvPicPr>
          <p:cNvPr id="4" name="מציין מיקום תוכן 3"/>
          <p:cNvPicPr>
            <a:picLocks noGrp="1" noChangeAspect="1"/>
          </p:cNvPicPr>
          <p:nvPr>
            <p:ph idx="1"/>
          </p:nvPr>
        </p:nvPicPr>
        <p:blipFill>
          <a:blip r:embed="rId2"/>
          <a:stretch>
            <a:fillRect/>
          </a:stretch>
        </p:blipFill>
        <p:spPr>
          <a:xfrm>
            <a:off x="647664" y="2197638"/>
            <a:ext cx="11026272" cy="2389026"/>
          </a:xfrm>
          <a:prstGeom prst="rect">
            <a:avLst/>
          </a:prstGeom>
        </p:spPr>
      </p:pic>
    </p:spTree>
    <p:extLst>
      <p:ext uri="{BB962C8B-B14F-4D97-AF65-F5344CB8AC3E}">
        <p14:creationId xmlns:p14="http://schemas.microsoft.com/office/powerpoint/2010/main" val="943625606"/>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דוגמה מעשית - אתר אינטרנט עם </a:t>
            </a:r>
            <a:r>
              <a:rPr lang="en-US" dirty="0"/>
              <a:t>HTTPS</a:t>
            </a:r>
            <a:endParaRPr lang="he-IL" dirty="0"/>
          </a:p>
        </p:txBody>
      </p:sp>
      <p:sp>
        <p:nvSpPr>
          <p:cNvPr id="3" name="מציין מיקום תוכן 2"/>
          <p:cNvSpPr>
            <a:spLocks noGrp="1"/>
          </p:cNvSpPr>
          <p:nvPr>
            <p:ph idx="1"/>
          </p:nvPr>
        </p:nvSpPr>
        <p:spPr/>
        <p:txBody>
          <a:bodyPr/>
          <a:lstStyle/>
          <a:p>
            <a:r>
              <a:rPr lang="he-IL" dirty="0"/>
              <a:t>כאשר אתה נכנס לאתר מאובטח כמו </a:t>
            </a:r>
            <a:r>
              <a:rPr lang="en-US" dirty="0"/>
              <a:t> Gmail</a:t>
            </a:r>
            <a:r>
              <a:rPr lang="he-IL" dirty="0"/>
              <a:t>הדפדפן שלך מבצע את השלבים הבאים:</a:t>
            </a:r>
          </a:p>
          <a:p>
            <a:r>
              <a:rPr lang="he-IL" dirty="0"/>
              <a:t>1. האתר מציג את </a:t>
            </a:r>
            <a:r>
              <a:rPr lang="he-IL" b="1" dirty="0"/>
              <a:t>התעודה הדיגיטלית</a:t>
            </a:r>
            <a:r>
              <a:rPr lang="he-IL" dirty="0"/>
              <a:t> שלו, שמונפקת על ידי</a:t>
            </a:r>
            <a:r>
              <a:rPr lang="en-US" dirty="0"/>
              <a:t> CA </a:t>
            </a:r>
            <a:r>
              <a:rPr lang="he-IL" dirty="0"/>
              <a:t>מהימן.</a:t>
            </a:r>
          </a:p>
          <a:p>
            <a:endParaRPr lang="he-IL" dirty="0"/>
          </a:p>
          <a:p>
            <a:r>
              <a:rPr lang="he-IL" dirty="0"/>
              <a:t>2. הדפדפן בודק שהתעודה תקפה (לא פג תוקף, נחתמה על ידי </a:t>
            </a:r>
            <a:r>
              <a:rPr lang="en-US" dirty="0"/>
              <a:t>CA</a:t>
            </a:r>
            <a:r>
              <a:rPr lang="he-IL" dirty="0"/>
              <a:t> מוכר, וכו').</a:t>
            </a:r>
          </a:p>
          <a:p>
            <a:endParaRPr lang="he-IL" dirty="0"/>
          </a:p>
          <a:p>
            <a:r>
              <a:rPr lang="he-IL" dirty="0"/>
              <a:t>3. אם התעודה אמינה, הדפדפן יוצר </a:t>
            </a:r>
            <a:r>
              <a:rPr lang="he-IL" b="1" dirty="0"/>
              <a:t>מפתח הצפנה סימטרי</a:t>
            </a:r>
            <a:r>
              <a:rPr lang="he-IL" dirty="0"/>
              <a:t> ומצפין אותו עם המפתח הציבורי של האתר.</a:t>
            </a:r>
          </a:p>
          <a:p>
            <a:endParaRPr lang="he-IL" dirty="0"/>
          </a:p>
          <a:p>
            <a:r>
              <a:rPr lang="he-IL" dirty="0"/>
              <a:t>4. רק האתר יכול לפענח את ההצפנה בעזרת המפתח הפרטי שלו – וכך התקשורת ביניכם הופכת </a:t>
            </a:r>
            <a:r>
              <a:rPr lang="he-IL" b="1" dirty="0"/>
              <a:t>מאובטחת</a:t>
            </a:r>
            <a:r>
              <a:rPr lang="he-IL" dirty="0"/>
              <a:t>.</a:t>
            </a:r>
          </a:p>
          <a:p>
            <a:endParaRPr lang="he-IL" dirty="0"/>
          </a:p>
        </p:txBody>
      </p:sp>
    </p:spTree>
    <p:extLst>
      <p:ext uri="{BB962C8B-B14F-4D97-AF65-F5344CB8AC3E}">
        <p14:creationId xmlns:p14="http://schemas.microsoft.com/office/powerpoint/2010/main" val="3193551749"/>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646814" y="642594"/>
            <a:ext cx="6478385" cy="1371600"/>
          </a:xfrm>
        </p:spPr>
        <p:txBody>
          <a:bodyPr/>
          <a:lstStyle/>
          <a:p>
            <a:r>
              <a:rPr lang="he-IL" dirty="0"/>
              <a:t>יתרונות וחסרונות של </a:t>
            </a:r>
            <a:r>
              <a:rPr lang="en-US" dirty="0"/>
              <a:t>PKI</a:t>
            </a:r>
            <a:endParaRPr lang="he-IL" dirty="0"/>
          </a:p>
        </p:txBody>
      </p:sp>
      <p:sp>
        <p:nvSpPr>
          <p:cNvPr id="3" name="מציין מיקום תוכן 2"/>
          <p:cNvSpPr>
            <a:spLocks noGrp="1"/>
          </p:cNvSpPr>
          <p:nvPr>
            <p:ph idx="1"/>
          </p:nvPr>
        </p:nvSpPr>
        <p:spPr/>
        <p:txBody>
          <a:bodyPr/>
          <a:lstStyle/>
          <a:p>
            <a:r>
              <a:rPr lang="he-IL" dirty="0"/>
              <a:t>יתרונות:</a:t>
            </a:r>
          </a:p>
          <a:p>
            <a:r>
              <a:rPr lang="he-IL" dirty="0"/>
              <a:t>1. </a:t>
            </a:r>
            <a:r>
              <a:rPr lang="he-IL" b="1" dirty="0"/>
              <a:t>אבטחה גבוהה</a:t>
            </a:r>
            <a:r>
              <a:rPr lang="he-IL" dirty="0"/>
              <a:t> - הצפנה א-סימטרית מגנה מפני פריצות וזיופים</a:t>
            </a:r>
          </a:p>
          <a:p>
            <a:r>
              <a:rPr lang="he-IL" dirty="0"/>
              <a:t>2. </a:t>
            </a:r>
            <a:r>
              <a:rPr lang="he-IL" b="1" dirty="0"/>
              <a:t>ניתן לאימות</a:t>
            </a:r>
            <a:r>
              <a:rPr lang="he-IL" dirty="0"/>
              <a:t> - תעודות דיגיטליות מאפשרות לאמת זהויות בביטחון</a:t>
            </a:r>
          </a:p>
          <a:p>
            <a:r>
              <a:rPr lang="he-IL" dirty="0"/>
              <a:t>3. </a:t>
            </a:r>
            <a:r>
              <a:rPr lang="he-IL" b="1" dirty="0"/>
              <a:t>גמישות</a:t>
            </a:r>
            <a:r>
              <a:rPr lang="he-IL" dirty="0"/>
              <a:t> - מאפשר הצפנה, חתימה דיגיטלית ואימות זהות</a:t>
            </a:r>
          </a:p>
          <a:p>
            <a:endParaRPr lang="he-IL" dirty="0"/>
          </a:p>
          <a:p>
            <a:r>
              <a:rPr lang="he-IL" dirty="0"/>
              <a:t>חסרונות:</a:t>
            </a:r>
          </a:p>
          <a:p>
            <a:r>
              <a:rPr lang="he-IL" dirty="0"/>
              <a:t>1. </a:t>
            </a:r>
            <a:r>
              <a:rPr lang="he-IL" b="1" dirty="0"/>
              <a:t>מורכב לניהול</a:t>
            </a:r>
            <a:r>
              <a:rPr lang="he-IL" dirty="0"/>
              <a:t> - דורש מנגנוני ניהול תעודות, רשת </a:t>
            </a:r>
            <a:r>
              <a:rPr lang="en-US" dirty="0"/>
              <a:t> CA </a:t>
            </a:r>
            <a:r>
              <a:rPr lang="he-IL" dirty="0"/>
              <a:t>ועוד</a:t>
            </a:r>
          </a:p>
          <a:p>
            <a:r>
              <a:rPr lang="he-IL" dirty="0"/>
              <a:t>2. </a:t>
            </a:r>
            <a:r>
              <a:rPr lang="he-IL" b="1" dirty="0"/>
              <a:t>ביצועים נמוכים יחסית</a:t>
            </a:r>
            <a:r>
              <a:rPr lang="he-IL" dirty="0"/>
              <a:t> - הצפנה א-סימטרית איטית יותר מהצפנה סימטרית</a:t>
            </a:r>
          </a:p>
          <a:p>
            <a:r>
              <a:rPr lang="he-IL" dirty="0"/>
              <a:t>3. </a:t>
            </a:r>
            <a:r>
              <a:rPr lang="he-IL" b="1" dirty="0"/>
              <a:t>בעיית ביטול תעודות</a:t>
            </a:r>
            <a:r>
              <a:rPr lang="he-IL" dirty="0"/>
              <a:t> - אם מפתח פרטי נפרץ, צריך לבטל את כל התעודות הקשורות</a:t>
            </a:r>
          </a:p>
          <a:p>
            <a:endParaRPr lang="he-IL" dirty="0"/>
          </a:p>
          <a:p>
            <a:endParaRPr lang="he-IL" dirty="0"/>
          </a:p>
        </p:txBody>
      </p:sp>
    </p:spTree>
    <p:extLst>
      <p:ext uri="{BB962C8B-B14F-4D97-AF65-F5344CB8AC3E}">
        <p14:creationId xmlns:p14="http://schemas.microsoft.com/office/powerpoint/2010/main" val="3634513927"/>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93876" y="642594"/>
            <a:ext cx="1931324"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מהו ההבדל בין הצפנה סימטרית להצפנה א-סימטרית?</a:t>
            </a:r>
          </a:p>
          <a:p>
            <a:r>
              <a:rPr lang="he-IL" dirty="0"/>
              <a:t>2. מדוע </a:t>
            </a:r>
            <a:r>
              <a:rPr lang="en-US" dirty="0"/>
              <a:t> PKI</a:t>
            </a:r>
            <a:r>
              <a:rPr lang="he-IL" dirty="0"/>
              <a:t>עדיף על הצפנה סימטרית באימות זהויות?</a:t>
            </a:r>
          </a:p>
          <a:p>
            <a:r>
              <a:rPr lang="he-IL" dirty="0"/>
              <a:t>3. מהי תעודה דיגיטלית</a:t>
            </a:r>
            <a:r>
              <a:rPr lang="en-US" dirty="0"/>
              <a:t> Digital Certificate </a:t>
            </a:r>
            <a:r>
              <a:rPr lang="he-IL" dirty="0"/>
              <a:t>ולמה היא משמשת?</a:t>
            </a:r>
          </a:p>
          <a:p>
            <a:endParaRPr lang="he-IL" dirty="0"/>
          </a:p>
        </p:txBody>
      </p:sp>
    </p:spTree>
    <p:extLst>
      <p:ext uri="{BB962C8B-B14F-4D97-AF65-F5344CB8AC3E}">
        <p14:creationId xmlns:p14="http://schemas.microsoft.com/office/powerpoint/2010/main" val="3863220930"/>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61120" y="642594"/>
            <a:ext cx="2164080" cy="1371600"/>
          </a:xfrm>
        </p:spPr>
        <p:txBody>
          <a:bodyPr/>
          <a:lstStyle/>
          <a:p>
            <a:r>
              <a:rPr lang="he-IL" dirty="0"/>
              <a:t>תשובות</a:t>
            </a:r>
          </a:p>
        </p:txBody>
      </p:sp>
      <p:sp>
        <p:nvSpPr>
          <p:cNvPr id="3" name="מציין מיקום תוכן 2"/>
          <p:cNvSpPr>
            <a:spLocks noGrp="1"/>
          </p:cNvSpPr>
          <p:nvPr>
            <p:ph idx="1"/>
          </p:nvPr>
        </p:nvSpPr>
        <p:spPr/>
        <p:txBody>
          <a:bodyPr/>
          <a:lstStyle/>
          <a:p>
            <a:r>
              <a:rPr lang="he-IL" dirty="0"/>
              <a:t>1. הצפנה </a:t>
            </a:r>
            <a:r>
              <a:rPr lang="he-IL" b="1" dirty="0"/>
              <a:t>סימטרית</a:t>
            </a:r>
            <a:r>
              <a:rPr lang="he-IL" dirty="0"/>
              <a:t> משתמשת </a:t>
            </a:r>
            <a:r>
              <a:rPr lang="he-IL" b="1" dirty="0"/>
              <a:t>באותו מפתח</a:t>
            </a:r>
            <a:r>
              <a:rPr lang="he-IL" dirty="0"/>
              <a:t> להצפנה ולפענוח, ואילו הצפנה </a:t>
            </a:r>
            <a:r>
              <a:rPr lang="he-IL" b="1" dirty="0"/>
              <a:t>א-סימטרית</a:t>
            </a:r>
            <a:r>
              <a:rPr lang="he-IL" dirty="0"/>
              <a:t> משתמשת </a:t>
            </a:r>
            <a:r>
              <a:rPr lang="he-IL" b="1" dirty="0"/>
              <a:t>בשני מפתחות</a:t>
            </a:r>
            <a:r>
              <a:rPr lang="he-IL" dirty="0"/>
              <a:t>: אחד להצפנה (ציבורי) ואחד לפענוח (פרטי).</a:t>
            </a:r>
          </a:p>
          <a:p>
            <a:r>
              <a:rPr lang="he-IL" dirty="0"/>
              <a:t>2. ב-</a:t>
            </a:r>
            <a:r>
              <a:rPr lang="en-US" dirty="0"/>
              <a:t> PKI </a:t>
            </a:r>
            <a:r>
              <a:rPr lang="he-IL" dirty="0"/>
              <a:t>כל משתמש מקבל </a:t>
            </a:r>
            <a:r>
              <a:rPr lang="he-IL" b="1" dirty="0"/>
              <a:t>מפתח ציבורי ופרטי</a:t>
            </a:r>
            <a:r>
              <a:rPr lang="he-IL" dirty="0"/>
              <a:t>, כך שאין צורך לשתף מראש מפתח סודי כמו בהצפנה סימטרית. זה מקל על אימות זהויות באופן בטוח וללא צורך בהעברת מפתח פרטי.</a:t>
            </a:r>
          </a:p>
          <a:p>
            <a:r>
              <a:rPr lang="he-IL" dirty="0"/>
              <a:t>3. תעודה דיגיטלית היא מסמך שמונפק על ידי </a:t>
            </a:r>
            <a:r>
              <a:rPr lang="he-IL" b="1" dirty="0"/>
              <a:t>רשות מאשרת</a:t>
            </a:r>
            <a:r>
              <a:rPr lang="en-US" b="1" dirty="0"/>
              <a:t> CA</a:t>
            </a:r>
            <a:r>
              <a:rPr lang="en-US" dirty="0"/>
              <a:t> </a:t>
            </a:r>
            <a:r>
              <a:rPr lang="he-IL" dirty="0"/>
              <a:t>ומאשר את הקשר בין </a:t>
            </a:r>
            <a:r>
              <a:rPr lang="he-IL" b="1" dirty="0"/>
              <a:t>מפתח ציבורי</a:t>
            </a:r>
            <a:r>
              <a:rPr lang="he-IL" dirty="0"/>
              <a:t> לזהות של גורם מסוים. היא משמשת לאימות זהות ולשמירה על תקשורת מאובטחת.</a:t>
            </a:r>
          </a:p>
          <a:p>
            <a:endParaRPr lang="he-IL" dirty="0"/>
          </a:p>
        </p:txBody>
      </p:sp>
    </p:spTree>
    <p:extLst>
      <p:ext uri="{BB962C8B-B14F-4D97-AF65-F5344CB8AC3E}">
        <p14:creationId xmlns:p14="http://schemas.microsoft.com/office/powerpoint/2010/main" val="1616411471"/>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A0612F1-DFDD-54BD-FE19-318262252003}"/>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99385D5C-D12F-3EC7-F045-78824A06CDDF}"/>
              </a:ext>
            </a:extLst>
          </p:cNvPr>
          <p:cNvSpPr>
            <a:spLocks noGrp="1"/>
          </p:cNvSpPr>
          <p:nvPr>
            <p:ph idx="1"/>
          </p:nvPr>
        </p:nvSpPr>
        <p:spPr>
          <a:xfrm>
            <a:off x="1066800" y="2509520"/>
            <a:ext cx="10058400" cy="3931920"/>
          </a:xfrm>
        </p:spPr>
        <p:txBody>
          <a:bodyPr>
            <a:normAutofit/>
          </a:bodyPr>
          <a:lstStyle/>
          <a:p>
            <a:pPr algn="ctr"/>
            <a:r>
              <a:rPr lang="en-US" sz="5400" dirty="0"/>
              <a:t>RSA</a:t>
            </a:r>
            <a:endParaRPr lang="he-IL" sz="5400" dirty="0"/>
          </a:p>
        </p:txBody>
      </p:sp>
    </p:spTree>
    <p:extLst>
      <p:ext uri="{BB962C8B-B14F-4D97-AF65-F5344CB8AC3E}">
        <p14:creationId xmlns:p14="http://schemas.microsoft.com/office/powerpoint/2010/main" val="1044435098"/>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AE1D584-8674-64F6-4525-31FA16F953B0}"/>
              </a:ext>
            </a:extLst>
          </p:cNvPr>
          <p:cNvSpPr>
            <a:spLocks noGrp="1"/>
          </p:cNvSpPr>
          <p:nvPr>
            <p:ph type="title"/>
          </p:nvPr>
        </p:nvSpPr>
        <p:spPr>
          <a:xfrm>
            <a:off x="3801978" y="642594"/>
            <a:ext cx="7323221" cy="1371600"/>
          </a:xfrm>
        </p:spPr>
        <p:txBody>
          <a:bodyPr/>
          <a:lstStyle/>
          <a:p>
            <a:r>
              <a:rPr lang="he-IL" dirty="0"/>
              <a:t>מה זה </a:t>
            </a:r>
            <a:r>
              <a:rPr lang="en-US" dirty="0"/>
              <a:t> </a:t>
            </a:r>
            <a:r>
              <a:rPr lang="en-US" b="1" dirty="0"/>
              <a:t>RSA</a:t>
            </a:r>
            <a:r>
              <a:rPr lang="he-IL" dirty="0"/>
              <a:t>ולמה הוא חשוב?</a:t>
            </a:r>
          </a:p>
        </p:txBody>
      </p:sp>
      <p:sp>
        <p:nvSpPr>
          <p:cNvPr id="3" name="מציין מיקום תוכן 2">
            <a:extLst>
              <a:ext uri="{FF2B5EF4-FFF2-40B4-BE49-F238E27FC236}">
                <a16:creationId xmlns:a16="http://schemas.microsoft.com/office/drawing/2014/main" id="{1D885390-3D07-301D-099A-31300D690D48}"/>
              </a:ext>
            </a:extLst>
          </p:cNvPr>
          <p:cNvSpPr>
            <a:spLocks noGrp="1"/>
          </p:cNvSpPr>
          <p:nvPr>
            <p:ph idx="1"/>
          </p:nvPr>
        </p:nvSpPr>
        <p:spPr/>
        <p:txBody>
          <a:bodyPr/>
          <a:lstStyle/>
          <a:p>
            <a:r>
              <a:rPr lang="he-IL" dirty="0"/>
              <a:t>תאר לך שיש לך </a:t>
            </a:r>
            <a:r>
              <a:rPr lang="he-IL" b="1" dirty="0"/>
              <a:t>יומן סודי</a:t>
            </a:r>
            <a:r>
              <a:rPr lang="he-IL" dirty="0"/>
              <a:t> , ואתה רוצה שמישהו יוכל </a:t>
            </a:r>
            <a:r>
              <a:rPr lang="he-IL" b="1" dirty="0"/>
              <a:t>לשלוח לך הודעות</a:t>
            </a:r>
            <a:r>
              <a:rPr lang="he-IL" dirty="0"/>
              <a:t> אבל </a:t>
            </a:r>
            <a:r>
              <a:rPr lang="he-IL" b="1" dirty="0"/>
              <a:t>רק אתה יכול לקרוא את זה</a:t>
            </a:r>
            <a:r>
              <a:rPr lang="he-IL" dirty="0"/>
              <a:t> . </a:t>
            </a:r>
            <a:br>
              <a:rPr lang="he-IL" dirty="0"/>
            </a:br>
            <a:r>
              <a:rPr lang="he-IL" dirty="0"/>
              <a:t>איך עושים את זה? </a:t>
            </a:r>
          </a:p>
          <a:p>
            <a:r>
              <a:rPr lang="he-IL" dirty="0"/>
              <a:t>אחת אפשרות היא </a:t>
            </a:r>
            <a:r>
              <a:rPr lang="he-IL" b="1" dirty="0"/>
              <a:t>הצפנה סימטרית</a:t>
            </a:r>
            <a:r>
              <a:rPr lang="he-IL" dirty="0"/>
              <a:t> – כמו </a:t>
            </a:r>
            <a:r>
              <a:rPr lang="en-US" b="1" dirty="0"/>
              <a:t>AES</a:t>
            </a:r>
            <a:r>
              <a:rPr lang="en-US" dirty="0"/>
              <a:t/>
            </a:r>
            <a:br>
              <a:rPr lang="en-US" dirty="0"/>
            </a:br>
            <a:r>
              <a:rPr lang="he-IL" dirty="0"/>
              <a:t>אבל אז תצטרך למצוא דרך </a:t>
            </a:r>
            <a:r>
              <a:rPr lang="he-IL" b="1" dirty="0"/>
              <a:t>להעביר את המפתח הסודי</a:t>
            </a:r>
            <a:r>
              <a:rPr lang="he-IL" dirty="0"/>
              <a:t> לשולח... וזה מסוכן!</a:t>
            </a:r>
          </a:p>
          <a:p>
            <a:r>
              <a:rPr lang="he-IL" dirty="0"/>
              <a:t> כאן נכנסת לתמונה </a:t>
            </a:r>
            <a:r>
              <a:rPr lang="he-IL" b="1" dirty="0"/>
              <a:t>הצפנה א-סימטרית</a:t>
            </a:r>
            <a:r>
              <a:rPr lang="he-IL" dirty="0"/>
              <a:t/>
            </a:r>
            <a:br>
              <a:rPr lang="he-IL" dirty="0"/>
            </a:br>
            <a:r>
              <a:rPr lang="he-IL" dirty="0"/>
              <a:t>ב-</a:t>
            </a:r>
            <a:r>
              <a:rPr lang="en-US" dirty="0"/>
              <a:t> RSA </a:t>
            </a:r>
            <a:r>
              <a:rPr lang="he-IL" b="1" dirty="0"/>
              <a:t>אין צורך לשתף מפתח סודי</a:t>
            </a:r>
            <a:r>
              <a:rPr lang="he-IL" dirty="0"/>
              <a:t> ! </a:t>
            </a:r>
            <a:br>
              <a:rPr lang="he-IL" dirty="0"/>
            </a:br>
            <a:r>
              <a:rPr lang="he-IL" dirty="0"/>
              <a:t>כל אחד יכול להצפין עבורך הודעה, </a:t>
            </a:r>
            <a:r>
              <a:rPr lang="he-IL" b="1" dirty="0"/>
              <a:t>אבל רק אתה יכול לפענח</a:t>
            </a:r>
            <a:r>
              <a:rPr lang="he-IL" dirty="0"/>
              <a:t> .</a:t>
            </a:r>
          </a:p>
          <a:p>
            <a:r>
              <a:rPr lang="en-US" b="1" dirty="0"/>
              <a:t>RSA</a:t>
            </a:r>
            <a:r>
              <a:rPr lang="en-US" dirty="0"/>
              <a:t/>
            </a:r>
            <a:br>
              <a:rPr lang="en-US" dirty="0"/>
            </a:br>
            <a:r>
              <a:rPr lang="he-IL" dirty="0"/>
              <a:t>תקשורת משתמשת ל: </a:t>
            </a:r>
            <a:r>
              <a:rPr lang="he-IL" b="1" dirty="0"/>
              <a:t>הגנה על סיסמאות ונתונים</a:t>
            </a:r>
            <a:r>
              <a:rPr lang="he-IL" dirty="0"/>
              <a:t> רגישים וחתימות </a:t>
            </a:r>
            <a:r>
              <a:rPr lang="he-IL" b="1" dirty="0"/>
              <a:t>דיגיטליות</a:t>
            </a:r>
            <a:endParaRPr lang="he-IL" dirty="0"/>
          </a:p>
          <a:p>
            <a:endParaRPr lang="he-IL" dirty="0"/>
          </a:p>
        </p:txBody>
      </p:sp>
    </p:spTree>
    <p:extLst>
      <p:ext uri="{BB962C8B-B14F-4D97-AF65-F5344CB8AC3E}">
        <p14:creationId xmlns:p14="http://schemas.microsoft.com/office/powerpoint/2010/main" val="2967453544"/>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49C24E8-369E-448F-A95C-E6C92A754056}"/>
              </a:ext>
            </a:extLst>
          </p:cNvPr>
          <p:cNvSpPr>
            <a:spLocks noGrp="1"/>
          </p:cNvSpPr>
          <p:nvPr>
            <p:ph type="title"/>
          </p:nvPr>
        </p:nvSpPr>
        <p:spPr>
          <a:xfrm>
            <a:off x="6390640" y="642594"/>
            <a:ext cx="4734560" cy="1371600"/>
          </a:xfrm>
        </p:spPr>
        <p:txBody>
          <a:bodyPr/>
          <a:lstStyle/>
          <a:p>
            <a:r>
              <a:rPr lang="he-IL" dirty="0"/>
              <a:t>מהי הצפנת </a:t>
            </a:r>
            <a:r>
              <a:rPr lang="en-US" dirty="0"/>
              <a:t>RSA</a:t>
            </a:r>
            <a:r>
              <a:rPr lang="he-IL" dirty="0"/>
              <a:t>?</a:t>
            </a:r>
          </a:p>
        </p:txBody>
      </p:sp>
      <p:sp>
        <p:nvSpPr>
          <p:cNvPr id="3" name="מציין מיקום תוכן 2">
            <a:extLst>
              <a:ext uri="{FF2B5EF4-FFF2-40B4-BE49-F238E27FC236}">
                <a16:creationId xmlns:a16="http://schemas.microsoft.com/office/drawing/2014/main" id="{40B21963-9BFA-5D60-6A76-48B60537B88F}"/>
              </a:ext>
            </a:extLst>
          </p:cNvPr>
          <p:cNvSpPr>
            <a:spLocks noGrp="1"/>
          </p:cNvSpPr>
          <p:nvPr>
            <p:ph idx="1"/>
          </p:nvPr>
        </p:nvSpPr>
        <p:spPr/>
        <p:txBody>
          <a:bodyPr/>
          <a:lstStyle/>
          <a:p>
            <a:r>
              <a:rPr lang="en-US" dirty="0"/>
              <a:t> RSA</a:t>
            </a:r>
            <a:r>
              <a:rPr lang="he-IL" dirty="0"/>
              <a:t>היא שיטת הצפנה אסימטרית, כלומר היא משתמשת בשני מפתחות שונים:</a:t>
            </a:r>
          </a:p>
          <a:p>
            <a:pPr>
              <a:buFont typeface="Arial" panose="020B0604020202020204" pitchFamily="34" charset="0"/>
              <a:buChar char="•"/>
            </a:pPr>
            <a:r>
              <a:rPr lang="he-IL" b="1" dirty="0"/>
              <a:t>מפתח ציבורי</a:t>
            </a:r>
            <a:r>
              <a:rPr lang="en-US" b="1" dirty="0"/>
              <a:t> :Public Key</a:t>
            </a:r>
            <a:r>
              <a:rPr lang="en-US" dirty="0"/>
              <a:t> </a:t>
            </a:r>
            <a:r>
              <a:rPr lang="he-IL" dirty="0"/>
              <a:t>משמש להצפנת הודעות. אפשר לפרסם אותו בפומבי, וכל אחד יכול להשתמש בו כדי להצפין הודעה עבורך.</a:t>
            </a:r>
          </a:p>
          <a:p>
            <a:pPr>
              <a:buFont typeface="Arial" panose="020B0604020202020204" pitchFamily="34" charset="0"/>
              <a:buChar char="•"/>
            </a:pPr>
            <a:r>
              <a:rPr lang="he-IL" b="1" dirty="0"/>
              <a:t>מפתח פרטי </a:t>
            </a:r>
            <a:r>
              <a:rPr lang="en-US" b="1" dirty="0"/>
              <a:t> :Private Key</a:t>
            </a:r>
            <a:r>
              <a:rPr lang="he-IL" dirty="0"/>
              <a:t>משמש לפענוח הודעות. אותו אתה שומר בסוד, ורק אתה יכול לפענח הודעות שהוצפנו עבורך באמצעות המפתח הציבורי שלך.</a:t>
            </a:r>
          </a:p>
          <a:p>
            <a:endParaRPr lang="en-US" dirty="0"/>
          </a:p>
          <a:p>
            <a:r>
              <a:rPr lang="he-IL" b="1" dirty="0"/>
              <a:t>כיצד זה עובד?</a:t>
            </a:r>
          </a:p>
          <a:p>
            <a:r>
              <a:rPr lang="he-IL" dirty="0"/>
              <a:t>הצפנת </a:t>
            </a:r>
            <a:r>
              <a:rPr lang="en-US" dirty="0"/>
              <a:t> RSA</a:t>
            </a:r>
            <a:r>
              <a:rPr lang="he-IL" dirty="0"/>
              <a:t>מבוססת על בעיה מתמטית שנקראת "בעיית פירוק לגורמים ראשוניים". קשה מאוד למצוא את הגורמים הראשוניים של מספר גדול, וזה מה שמבטיח את אבטחת ההצפנה.</a:t>
            </a:r>
          </a:p>
          <a:p>
            <a:endParaRPr lang="he-IL" dirty="0"/>
          </a:p>
        </p:txBody>
      </p:sp>
    </p:spTree>
    <p:extLst>
      <p:ext uri="{BB962C8B-B14F-4D97-AF65-F5344CB8AC3E}">
        <p14:creationId xmlns:p14="http://schemas.microsoft.com/office/powerpoint/2010/main" val="2385493166"/>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1465989-DEBF-2298-49A6-8830B40AD69A}"/>
              </a:ext>
            </a:extLst>
          </p:cNvPr>
          <p:cNvSpPr>
            <a:spLocks noGrp="1"/>
          </p:cNvSpPr>
          <p:nvPr>
            <p:ph type="title"/>
          </p:nvPr>
        </p:nvSpPr>
        <p:spPr>
          <a:xfrm>
            <a:off x="3393440" y="642594"/>
            <a:ext cx="7731760" cy="1371600"/>
          </a:xfrm>
        </p:spPr>
        <p:txBody>
          <a:bodyPr/>
          <a:lstStyle/>
          <a:p>
            <a:r>
              <a:rPr lang="he-IL" dirty="0"/>
              <a:t>בעיית פירוק לגורמים ראשוניים</a:t>
            </a:r>
          </a:p>
        </p:txBody>
      </p:sp>
      <p:sp>
        <p:nvSpPr>
          <p:cNvPr id="3" name="מציין מיקום תוכן 2">
            <a:extLst>
              <a:ext uri="{FF2B5EF4-FFF2-40B4-BE49-F238E27FC236}">
                <a16:creationId xmlns:a16="http://schemas.microsoft.com/office/drawing/2014/main" id="{C723CDFF-78FB-98CA-E639-BAFE5DE573C3}"/>
              </a:ext>
            </a:extLst>
          </p:cNvPr>
          <p:cNvSpPr>
            <a:spLocks noGrp="1"/>
          </p:cNvSpPr>
          <p:nvPr>
            <p:ph idx="1"/>
          </p:nvPr>
        </p:nvSpPr>
        <p:spPr/>
        <p:txBody>
          <a:bodyPr/>
          <a:lstStyle/>
          <a:p>
            <a:r>
              <a:rPr lang="he-IL" dirty="0"/>
              <a:t>הבסיס המתמטי של </a:t>
            </a:r>
            <a:r>
              <a:rPr lang="en-US" dirty="0"/>
              <a:t>RSA </a:t>
            </a:r>
            <a:r>
              <a:rPr lang="he-IL" dirty="0"/>
              <a:t> הוא בעיה שנקראת "בעיית פירוק לגורמים ראשוניים". בעיה זו עוסקת במציאת הגורמים הראשוניים של מספר גדול. לדוגמה, קל למצוא את הגורמים הראשוניים של המספר 15 (3 ו-5), אך קשה מאוד למצוא את הגורמים הראשוניים של מספר בן מאות ספרות.</a:t>
            </a:r>
          </a:p>
          <a:p>
            <a:endParaRPr lang="he-IL" dirty="0"/>
          </a:p>
          <a:p>
            <a:r>
              <a:rPr lang="en-US" dirty="0"/>
              <a:t> RSA</a:t>
            </a:r>
            <a:r>
              <a:rPr lang="he-IL" dirty="0"/>
              <a:t>מסתמכת על הקושי של בעיה זו. המספר </a:t>
            </a:r>
            <a:r>
              <a:rPr lang="en-US" dirty="0"/>
              <a:t> n</a:t>
            </a:r>
            <a:r>
              <a:rPr lang="he-IL" dirty="0"/>
              <a:t>שהוא חלק מהמפתח הציבורי והפרטי הוא מכפלה של שני מספרים ראשוניים גדולים. אם מישהו יצליח למצוא את הגורמים הראשוניים של </a:t>
            </a:r>
            <a:r>
              <a:rPr lang="en-US" dirty="0"/>
              <a:t>n</a:t>
            </a:r>
            <a:r>
              <a:rPr lang="he-IL" dirty="0"/>
              <a:t> הוא יוכל לחשב את המפתח הפרטי ולפענח את ההודעות.</a:t>
            </a:r>
          </a:p>
          <a:p>
            <a:endParaRPr lang="he-IL" dirty="0"/>
          </a:p>
        </p:txBody>
      </p:sp>
    </p:spTree>
    <p:extLst>
      <p:ext uri="{BB962C8B-B14F-4D97-AF65-F5344CB8AC3E}">
        <p14:creationId xmlns:p14="http://schemas.microsoft.com/office/powerpoint/2010/main" val="2805526133"/>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08DD9EE-42F0-79FC-4BD5-C4ABEF8AAA0D}"/>
              </a:ext>
            </a:extLst>
          </p:cNvPr>
          <p:cNvSpPr>
            <a:spLocks noGrp="1"/>
          </p:cNvSpPr>
          <p:nvPr>
            <p:ph type="title"/>
          </p:nvPr>
        </p:nvSpPr>
        <p:spPr>
          <a:xfrm>
            <a:off x="7457440" y="642594"/>
            <a:ext cx="3667760" cy="1371600"/>
          </a:xfrm>
        </p:spPr>
        <p:txBody>
          <a:bodyPr/>
          <a:lstStyle/>
          <a:p>
            <a:r>
              <a:rPr lang="he-IL" dirty="0"/>
              <a:t>חשבון מודולרי</a:t>
            </a:r>
          </a:p>
        </p:txBody>
      </p:sp>
      <p:sp>
        <p:nvSpPr>
          <p:cNvPr id="3" name="מציין מיקום תוכן 2">
            <a:extLst>
              <a:ext uri="{FF2B5EF4-FFF2-40B4-BE49-F238E27FC236}">
                <a16:creationId xmlns:a16="http://schemas.microsoft.com/office/drawing/2014/main" id="{9DC31910-8F11-464C-B1C2-1DB74BA9B1D4}"/>
              </a:ext>
            </a:extLst>
          </p:cNvPr>
          <p:cNvSpPr>
            <a:spLocks noGrp="1"/>
          </p:cNvSpPr>
          <p:nvPr>
            <p:ph idx="1"/>
          </p:nvPr>
        </p:nvSpPr>
        <p:spPr/>
        <p:txBody>
          <a:bodyPr/>
          <a:lstStyle/>
          <a:p>
            <a:r>
              <a:rPr lang="en-US" dirty="0"/>
              <a:t> RSA</a:t>
            </a:r>
            <a:r>
              <a:rPr lang="he-IL" dirty="0"/>
              <a:t>משתמשת בחשבון מודולרי, שהוא סוג של חשבון שבו המספרים "מתגלגלים" לאחר מספר מסוים. לדוגמה, חשבון מודולרי 12 משמש בשעון. כאשר השעה היא 10 בבוקר, ואנו מוסיפים 5 שעות, השעה תהיה 3 אחר הצהריים (10 + 5 = 15, ו-15 </a:t>
            </a:r>
            <a:r>
              <a:rPr lang="he-IL" dirty="0" err="1"/>
              <a:t>מודולו</a:t>
            </a:r>
            <a:r>
              <a:rPr lang="he-IL" dirty="0"/>
              <a:t> 12 הוא 3).</a:t>
            </a:r>
          </a:p>
          <a:p>
            <a:endParaRPr lang="he-IL" dirty="0"/>
          </a:p>
          <a:p>
            <a:r>
              <a:rPr lang="he-IL" dirty="0"/>
              <a:t>ב-</a:t>
            </a:r>
            <a:r>
              <a:rPr lang="en-US" dirty="0"/>
              <a:t>RSA </a:t>
            </a:r>
            <a:r>
              <a:rPr lang="he-IL" dirty="0"/>
              <a:t> כל החישובים מתבצעים </a:t>
            </a:r>
            <a:r>
              <a:rPr lang="he-IL" dirty="0" err="1"/>
              <a:t>מודולו</a:t>
            </a:r>
            <a:r>
              <a:rPr lang="he-IL" dirty="0"/>
              <a:t> </a:t>
            </a:r>
            <a:r>
              <a:rPr lang="en-US" dirty="0"/>
              <a:t>n. </a:t>
            </a:r>
            <a:r>
              <a:rPr lang="he-IL" dirty="0"/>
              <a:t>זה מבטיח שהתוצאות יישארו במסגרת המספרים המוגדרת על ידי </a:t>
            </a:r>
            <a:r>
              <a:rPr lang="en-US" dirty="0"/>
              <a:t>n</a:t>
            </a:r>
            <a:r>
              <a:rPr lang="he-IL" dirty="0"/>
              <a:t>.</a:t>
            </a:r>
            <a:endParaRPr lang="en-US" dirty="0"/>
          </a:p>
          <a:p>
            <a:endParaRPr lang="he-IL" dirty="0"/>
          </a:p>
        </p:txBody>
      </p:sp>
    </p:spTree>
    <p:extLst>
      <p:ext uri="{BB962C8B-B14F-4D97-AF65-F5344CB8AC3E}">
        <p14:creationId xmlns:p14="http://schemas.microsoft.com/office/powerpoint/2010/main" val="594607266"/>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1A15824-9B0A-62DA-8E0F-126C24BB30ED}"/>
              </a:ext>
            </a:extLst>
          </p:cNvPr>
          <p:cNvSpPr>
            <a:spLocks noGrp="1"/>
          </p:cNvSpPr>
          <p:nvPr>
            <p:ph type="title"/>
          </p:nvPr>
        </p:nvSpPr>
        <p:spPr>
          <a:xfrm>
            <a:off x="7112000" y="642594"/>
            <a:ext cx="4013200" cy="1371600"/>
          </a:xfrm>
        </p:spPr>
        <p:txBody>
          <a:bodyPr/>
          <a:lstStyle/>
          <a:p>
            <a:r>
              <a:rPr lang="he-IL" dirty="0"/>
              <a:t>פונקציית </a:t>
            </a:r>
            <a:r>
              <a:rPr lang="he-IL" dirty="0" err="1"/>
              <a:t>אוילר</a:t>
            </a:r>
            <a:endParaRPr lang="he-IL" dirty="0"/>
          </a:p>
        </p:txBody>
      </p:sp>
      <p:sp>
        <p:nvSpPr>
          <p:cNvPr id="3" name="מציין מיקום תוכן 2">
            <a:extLst>
              <a:ext uri="{FF2B5EF4-FFF2-40B4-BE49-F238E27FC236}">
                <a16:creationId xmlns:a16="http://schemas.microsoft.com/office/drawing/2014/main" id="{0B6BFB3F-D2A0-BB43-2D4B-B264027206D4}"/>
              </a:ext>
            </a:extLst>
          </p:cNvPr>
          <p:cNvSpPr>
            <a:spLocks noGrp="1"/>
          </p:cNvSpPr>
          <p:nvPr>
            <p:ph idx="1"/>
          </p:nvPr>
        </p:nvSpPr>
        <p:spPr/>
        <p:txBody>
          <a:bodyPr/>
          <a:lstStyle/>
          <a:p>
            <a:r>
              <a:rPr lang="he-IL" dirty="0"/>
              <a:t>פונקציית </a:t>
            </a:r>
            <a:r>
              <a:rPr lang="he-IL" dirty="0" err="1"/>
              <a:t>אוילר</a:t>
            </a:r>
            <a:r>
              <a:rPr lang="he-IL" dirty="0"/>
              <a:t> </a:t>
            </a:r>
            <a:r>
              <a:rPr lang="el-GR" dirty="0"/>
              <a:t>φ(</a:t>
            </a:r>
            <a:r>
              <a:rPr lang="en-US" dirty="0"/>
              <a:t>n)</a:t>
            </a:r>
            <a:r>
              <a:rPr lang="he-IL" dirty="0"/>
              <a:t> מחשבת את מספר המספרים הטבעיים הקטנים מ-</a:t>
            </a:r>
            <a:r>
              <a:rPr lang="en-US" dirty="0"/>
              <a:t>n </a:t>
            </a:r>
            <a:r>
              <a:rPr lang="he-IL" dirty="0"/>
              <a:t>וזרים לו. מספרים זרים הם מספרים שאין להם גורם משותף פרט ל-1.</a:t>
            </a:r>
          </a:p>
          <a:p>
            <a:r>
              <a:rPr lang="he-IL" dirty="0"/>
              <a:t>פונקציית </a:t>
            </a:r>
            <a:r>
              <a:rPr lang="he-IL" dirty="0" err="1"/>
              <a:t>אוילר</a:t>
            </a:r>
            <a:r>
              <a:rPr lang="he-IL" dirty="0"/>
              <a:t> משחקת תפקיד חשוב בחישוב המפתח הפרטי </a:t>
            </a:r>
            <a:r>
              <a:rPr lang="en-US" dirty="0"/>
              <a:t>d</a:t>
            </a:r>
            <a:r>
              <a:rPr lang="he-IL" dirty="0"/>
              <a:t>.</a:t>
            </a:r>
            <a:endParaRPr lang="en-US" dirty="0"/>
          </a:p>
          <a:p>
            <a:endParaRPr lang="he-IL" dirty="0"/>
          </a:p>
        </p:txBody>
      </p:sp>
    </p:spTree>
    <p:extLst>
      <p:ext uri="{BB962C8B-B14F-4D97-AF65-F5344CB8AC3E}">
        <p14:creationId xmlns:p14="http://schemas.microsoft.com/office/powerpoint/2010/main" val="3081540949"/>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A5166DF-E4EB-FD8C-5868-774EC54D8158}"/>
              </a:ext>
            </a:extLst>
          </p:cNvPr>
          <p:cNvSpPr>
            <a:spLocks noGrp="1"/>
          </p:cNvSpPr>
          <p:nvPr>
            <p:ph type="title"/>
          </p:nvPr>
        </p:nvSpPr>
        <p:spPr>
          <a:xfrm>
            <a:off x="7884160" y="642594"/>
            <a:ext cx="3241040" cy="1371600"/>
          </a:xfrm>
        </p:spPr>
        <p:txBody>
          <a:bodyPr/>
          <a:lstStyle/>
          <a:p>
            <a:r>
              <a:rPr lang="he-IL" dirty="0"/>
              <a:t>משפט </a:t>
            </a:r>
            <a:r>
              <a:rPr lang="he-IL" dirty="0" err="1"/>
              <a:t>אוילר</a:t>
            </a:r>
            <a:endParaRPr lang="he-IL" dirty="0"/>
          </a:p>
        </p:txBody>
      </p:sp>
      <p:sp>
        <p:nvSpPr>
          <p:cNvPr id="3" name="מציין מיקום תוכן 2">
            <a:extLst>
              <a:ext uri="{FF2B5EF4-FFF2-40B4-BE49-F238E27FC236}">
                <a16:creationId xmlns:a16="http://schemas.microsoft.com/office/drawing/2014/main" id="{587FEFFD-9CFD-C812-7183-C7665DA549FA}"/>
              </a:ext>
            </a:extLst>
          </p:cNvPr>
          <p:cNvSpPr>
            <a:spLocks noGrp="1"/>
          </p:cNvSpPr>
          <p:nvPr>
            <p:ph idx="1"/>
          </p:nvPr>
        </p:nvSpPr>
        <p:spPr/>
        <p:txBody>
          <a:bodyPr/>
          <a:lstStyle/>
          <a:p>
            <a:r>
              <a:rPr lang="he-IL" dirty="0"/>
              <a:t>משפט </a:t>
            </a:r>
            <a:r>
              <a:rPr lang="he-IL" dirty="0" err="1"/>
              <a:t>אוילר</a:t>
            </a:r>
            <a:r>
              <a:rPr lang="he-IL" dirty="0"/>
              <a:t> קובע שאם </a:t>
            </a:r>
            <a:r>
              <a:rPr lang="en-US" dirty="0"/>
              <a:t> a</a:t>
            </a:r>
            <a:r>
              <a:rPr lang="he-IL" dirty="0"/>
              <a:t>ו-</a:t>
            </a:r>
            <a:r>
              <a:rPr lang="en-US" dirty="0"/>
              <a:t>n </a:t>
            </a:r>
            <a:r>
              <a:rPr lang="he-IL" dirty="0"/>
              <a:t> הם מספרים זרים, אז </a:t>
            </a:r>
            <a:r>
              <a:rPr lang="en-US" dirty="0"/>
              <a:t>a^(</a:t>
            </a:r>
            <a:r>
              <a:rPr lang="el-GR" dirty="0"/>
              <a:t>φ(</a:t>
            </a:r>
            <a:r>
              <a:rPr lang="en-US" dirty="0"/>
              <a:t>n)) ≡ 1 (mod n)</a:t>
            </a:r>
            <a:r>
              <a:rPr lang="he-IL" dirty="0"/>
              <a:t> </a:t>
            </a:r>
            <a:r>
              <a:rPr lang="he-IL" dirty="0" smtClean="0"/>
              <a:t>(הסימן שדומה לשווה הכוונה ל"שקילות") משפט </a:t>
            </a:r>
            <a:r>
              <a:rPr lang="he-IL" dirty="0"/>
              <a:t>זה הוא הבסיס המתמטי להוכחת נכונותה של </a:t>
            </a:r>
            <a:r>
              <a:rPr lang="en-US" dirty="0"/>
              <a:t>RSA</a:t>
            </a:r>
            <a:r>
              <a:rPr lang="he-IL" dirty="0" smtClean="0"/>
              <a:t>.</a:t>
            </a:r>
          </a:p>
          <a:p>
            <a:endParaRPr lang="he-IL" dirty="0"/>
          </a:p>
          <a:p>
            <a:r>
              <a:rPr lang="he-IL" dirty="0" smtClean="0"/>
              <a:t>* </a:t>
            </a:r>
            <a:r>
              <a:rPr lang="he-IL" dirty="0"/>
              <a:t>סימן השקילות אומר ששני האגפים משאירים </a:t>
            </a:r>
            <a:r>
              <a:rPr lang="he-IL" b="1" dirty="0"/>
              <a:t>אותה שארית</a:t>
            </a:r>
            <a:r>
              <a:rPr lang="he-IL" dirty="0"/>
              <a:t> כאשר מחלקים אותם במספר מסוים</a:t>
            </a:r>
          </a:p>
        </p:txBody>
      </p:sp>
    </p:spTree>
    <p:extLst>
      <p:ext uri="{BB962C8B-B14F-4D97-AF65-F5344CB8AC3E}">
        <p14:creationId xmlns:p14="http://schemas.microsoft.com/office/powerpoint/2010/main" val="2080089468"/>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896CCEC-7002-320D-8AF4-96C45B4365CC}"/>
              </a:ext>
            </a:extLst>
          </p:cNvPr>
          <p:cNvSpPr>
            <a:spLocks noGrp="1"/>
          </p:cNvSpPr>
          <p:nvPr>
            <p:ph type="title"/>
          </p:nvPr>
        </p:nvSpPr>
        <p:spPr>
          <a:xfrm>
            <a:off x="4206240" y="642594"/>
            <a:ext cx="6918960" cy="1371600"/>
          </a:xfrm>
        </p:spPr>
        <p:txBody>
          <a:bodyPr/>
          <a:lstStyle/>
          <a:p>
            <a:r>
              <a:rPr lang="he-IL" dirty="0"/>
              <a:t>אלגוריתם </a:t>
            </a:r>
            <a:r>
              <a:rPr lang="he-IL" dirty="0" err="1"/>
              <a:t>אוקלידס</a:t>
            </a:r>
            <a:r>
              <a:rPr lang="he-IL" dirty="0"/>
              <a:t> המורחב</a:t>
            </a:r>
          </a:p>
        </p:txBody>
      </p:sp>
      <p:sp>
        <p:nvSpPr>
          <p:cNvPr id="3" name="מציין מיקום תוכן 2">
            <a:extLst>
              <a:ext uri="{FF2B5EF4-FFF2-40B4-BE49-F238E27FC236}">
                <a16:creationId xmlns:a16="http://schemas.microsoft.com/office/drawing/2014/main" id="{B8319358-91A0-2D8A-B491-F27C6360820A}"/>
              </a:ext>
            </a:extLst>
          </p:cNvPr>
          <p:cNvSpPr>
            <a:spLocks noGrp="1"/>
          </p:cNvSpPr>
          <p:nvPr>
            <p:ph idx="1"/>
          </p:nvPr>
        </p:nvSpPr>
        <p:spPr>
          <a:xfrm>
            <a:off x="-1" y="2103120"/>
            <a:ext cx="11878887" cy="3931920"/>
          </a:xfrm>
        </p:spPr>
        <p:txBody>
          <a:bodyPr/>
          <a:lstStyle/>
          <a:p>
            <a:r>
              <a:rPr lang="he-IL" dirty="0"/>
              <a:t>אלגוריתם </a:t>
            </a:r>
            <a:r>
              <a:rPr lang="he-IL" dirty="0" err="1"/>
              <a:t>אוקלידס</a:t>
            </a:r>
            <a:r>
              <a:rPr lang="he-IL" dirty="0"/>
              <a:t> המורחב משמש למציאת המספרים </a:t>
            </a:r>
            <a:r>
              <a:rPr lang="en-US" dirty="0"/>
              <a:t>d</a:t>
            </a:r>
            <a:r>
              <a:rPr lang="he-IL" dirty="0"/>
              <a:t> ו-</a:t>
            </a:r>
            <a:r>
              <a:rPr lang="en-US" dirty="0"/>
              <a:t>e </a:t>
            </a:r>
            <a:r>
              <a:rPr lang="he-IL" dirty="0"/>
              <a:t> שמקיימים את </a:t>
            </a:r>
            <a:r>
              <a:rPr lang="he-IL" dirty="0" err="1"/>
              <a:t>הקונגרואנציה</a:t>
            </a:r>
            <a:r>
              <a:rPr lang="en-US" dirty="0"/>
              <a:t>d * e ≡ 1 (mod (p-1) * (q-1))</a:t>
            </a:r>
            <a:r>
              <a:rPr lang="he-IL" dirty="0"/>
              <a:t> אלגוריתם זה הוא חיוני ליצירת המפתחות ב-</a:t>
            </a:r>
            <a:r>
              <a:rPr lang="en-US" dirty="0"/>
              <a:t>RSA</a:t>
            </a:r>
            <a:r>
              <a:rPr lang="he-IL" dirty="0"/>
              <a:t>.</a:t>
            </a:r>
          </a:p>
        </p:txBody>
      </p:sp>
    </p:spTree>
    <p:extLst>
      <p:ext uri="{BB962C8B-B14F-4D97-AF65-F5344CB8AC3E}">
        <p14:creationId xmlns:p14="http://schemas.microsoft.com/office/powerpoint/2010/main" val="1754995081"/>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3E2BFC0-0D4F-7891-9812-47189C1F34F4}"/>
              </a:ext>
            </a:extLst>
          </p:cNvPr>
          <p:cNvSpPr>
            <a:spLocks noGrp="1"/>
          </p:cNvSpPr>
          <p:nvPr>
            <p:ph type="title"/>
          </p:nvPr>
        </p:nvSpPr>
        <p:spPr>
          <a:xfrm>
            <a:off x="5720080" y="642594"/>
            <a:ext cx="5405120" cy="1371600"/>
          </a:xfrm>
        </p:spPr>
        <p:txBody>
          <a:bodyPr/>
          <a:lstStyle/>
          <a:p>
            <a:r>
              <a:rPr lang="he-IL" dirty="0"/>
              <a:t>תהליך הצפנה ופענוח</a:t>
            </a:r>
          </a:p>
        </p:txBody>
      </p:sp>
      <p:sp>
        <p:nvSpPr>
          <p:cNvPr id="3" name="מציין מיקום תוכן 2">
            <a:extLst>
              <a:ext uri="{FF2B5EF4-FFF2-40B4-BE49-F238E27FC236}">
                <a16:creationId xmlns:a16="http://schemas.microsoft.com/office/drawing/2014/main" id="{BCB6BB26-5111-D963-CB80-3053EDDEE845}"/>
              </a:ext>
            </a:extLst>
          </p:cNvPr>
          <p:cNvSpPr>
            <a:spLocks noGrp="1"/>
          </p:cNvSpPr>
          <p:nvPr>
            <p:ph idx="1"/>
          </p:nvPr>
        </p:nvSpPr>
        <p:spPr/>
        <p:txBody>
          <a:bodyPr>
            <a:normAutofit/>
          </a:bodyPr>
          <a:lstStyle/>
          <a:p>
            <a:r>
              <a:rPr lang="he-IL" dirty="0"/>
              <a:t>תהליך ההצפנה והפענוח כולל את השלבים הבאים:</a:t>
            </a:r>
          </a:p>
          <a:p>
            <a:r>
              <a:rPr lang="he-IL" dirty="0"/>
              <a:t>1. </a:t>
            </a:r>
            <a:r>
              <a:rPr lang="he-IL" b="1" dirty="0"/>
              <a:t>יצירת מפתחות:</a:t>
            </a:r>
            <a:endParaRPr lang="he-IL" dirty="0"/>
          </a:p>
          <a:p>
            <a:pPr>
              <a:buFont typeface="Arial" panose="020B0604020202020204" pitchFamily="34" charset="0"/>
              <a:buChar char="•"/>
            </a:pPr>
            <a:r>
              <a:rPr lang="he-IL" dirty="0"/>
              <a:t>בוחרים שני מספרים ראשוניים גדולים ושונים זה מזה, </a:t>
            </a:r>
            <a:r>
              <a:rPr lang="en-US" dirty="0"/>
              <a:t>p </a:t>
            </a:r>
            <a:r>
              <a:rPr lang="he-IL" dirty="0"/>
              <a:t> ו- </a:t>
            </a:r>
            <a:r>
              <a:rPr lang="en-US" dirty="0"/>
              <a:t>q</a:t>
            </a:r>
            <a:endParaRPr lang="he-IL" dirty="0"/>
          </a:p>
          <a:p>
            <a:pPr>
              <a:buFont typeface="Arial" panose="020B0604020202020204" pitchFamily="34" charset="0"/>
              <a:buChar char="•"/>
            </a:pPr>
            <a:r>
              <a:rPr lang="he-IL" dirty="0"/>
              <a:t>בחירת שני מספרים ראשוניים גדולים </a:t>
            </a:r>
            <a:r>
              <a:rPr lang="en-US" dirty="0"/>
              <a:t>p </a:t>
            </a:r>
            <a:r>
              <a:rPr lang="he-IL" dirty="0"/>
              <a:t> ו-</a:t>
            </a:r>
            <a:r>
              <a:rPr lang="en-US" dirty="0"/>
              <a:t>q </a:t>
            </a:r>
            <a:r>
              <a:rPr lang="he-IL" dirty="0"/>
              <a:t> היא קריטית לאבטחת</a:t>
            </a:r>
            <a:r>
              <a:rPr lang="en-US" dirty="0"/>
              <a:t> RSA </a:t>
            </a:r>
            <a:r>
              <a:rPr lang="he-IL" dirty="0"/>
              <a:t>ככל שהמספרים גדולים יותר, כך קשה יותר למצוא אותם, ולכן ההצפנה בטוחה יותר.</a:t>
            </a:r>
          </a:p>
          <a:p>
            <a:pPr>
              <a:buFont typeface="Arial" panose="020B0604020202020204" pitchFamily="34" charset="0"/>
              <a:buChar char="•"/>
            </a:pPr>
            <a:r>
              <a:rPr lang="he-IL" dirty="0"/>
              <a:t>בעולם האמיתי, משתמשים במספרים ראשוניים בני מאות ספרות ויותר.</a:t>
            </a:r>
          </a:p>
          <a:p>
            <a:pPr>
              <a:buFont typeface="Arial" panose="020B0604020202020204" pitchFamily="34" charset="0"/>
              <a:buChar char="•"/>
            </a:pPr>
            <a:r>
              <a:rPr lang="he-IL" dirty="0"/>
              <a:t>חשוב לבחור מספרים ראשוניים שונים זה מזה, כדי למנוע חולשות אפשריות.</a:t>
            </a:r>
          </a:p>
          <a:p>
            <a:pPr>
              <a:buFont typeface="Arial" panose="020B0604020202020204" pitchFamily="34" charset="0"/>
              <a:buChar char="•"/>
            </a:pPr>
            <a:r>
              <a:rPr lang="he-IL" dirty="0"/>
              <a:t>2. חישוב </a:t>
            </a:r>
            <a:r>
              <a:rPr lang="en-US" dirty="0"/>
              <a:t>n</a:t>
            </a:r>
            <a:r>
              <a:rPr lang="he-IL" dirty="0"/>
              <a:t>:</a:t>
            </a:r>
            <a:endParaRPr lang="en-US" dirty="0"/>
          </a:p>
          <a:p>
            <a:pPr>
              <a:buFont typeface="Arial" panose="020B0604020202020204" pitchFamily="34" charset="0"/>
              <a:buChar char="•"/>
            </a:pPr>
            <a:r>
              <a:rPr lang="he-IL" dirty="0"/>
              <a:t>מכפילים אותם זה בזה: </a:t>
            </a:r>
            <a:r>
              <a:rPr lang="en-US" dirty="0"/>
              <a:t>n = p * q</a:t>
            </a:r>
            <a:endParaRPr lang="he-IL" dirty="0"/>
          </a:p>
          <a:p>
            <a:pPr>
              <a:buFont typeface="Arial" panose="020B0604020202020204" pitchFamily="34" charset="0"/>
              <a:buChar char="•"/>
            </a:pPr>
            <a:r>
              <a:rPr lang="en-US" dirty="0"/>
              <a:t>n </a:t>
            </a:r>
            <a:r>
              <a:rPr lang="he-IL" dirty="0" smtClean="0"/>
              <a:t> יהיה </a:t>
            </a:r>
            <a:r>
              <a:rPr lang="he-IL" dirty="0"/>
              <a:t>חלק מהמפתח הציבורי והמפתח הפרטי.</a:t>
            </a:r>
          </a:p>
          <a:p>
            <a:pPr>
              <a:buFont typeface="Arial" panose="020B0604020202020204" pitchFamily="34" charset="0"/>
              <a:buChar char="•"/>
            </a:pPr>
            <a:endParaRPr lang="en-US" dirty="0"/>
          </a:p>
          <a:p>
            <a:endParaRPr lang="he-IL" dirty="0"/>
          </a:p>
        </p:txBody>
      </p:sp>
    </p:spTree>
    <p:extLst>
      <p:ext uri="{BB962C8B-B14F-4D97-AF65-F5344CB8AC3E}">
        <p14:creationId xmlns:p14="http://schemas.microsoft.com/office/powerpoint/2010/main" val="1426071826"/>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62F400D-CF4E-307D-B96C-FD1F9C28D24F}"/>
              </a:ext>
            </a:extLst>
          </p:cNvPr>
          <p:cNvSpPr>
            <a:spLocks noGrp="1"/>
          </p:cNvSpPr>
          <p:nvPr>
            <p:ph type="title"/>
          </p:nvPr>
        </p:nvSpPr>
        <p:spPr>
          <a:xfrm>
            <a:off x="3677920" y="642594"/>
            <a:ext cx="7447280" cy="1371600"/>
          </a:xfrm>
        </p:spPr>
        <p:txBody>
          <a:bodyPr/>
          <a:lstStyle/>
          <a:p>
            <a:r>
              <a:rPr lang="he-IL" dirty="0"/>
              <a:t>המשך - תהליך הצפנה ופענוח</a:t>
            </a:r>
          </a:p>
        </p:txBody>
      </p:sp>
      <p:sp>
        <p:nvSpPr>
          <p:cNvPr id="3" name="מציין מיקום תוכן 2">
            <a:extLst>
              <a:ext uri="{FF2B5EF4-FFF2-40B4-BE49-F238E27FC236}">
                <a16:creationId xmlns:a16="http://schemas.microsoft.com/office/drawing/2014/main" id="{C007AC52-1478-0F8C-777C-2A1B26800A1E}"/>
              </a:ext>
            </a:extLst>
          </p:cNvPr>
          <p:cNvSpPr>
            <a:spLocks noGrp="1"/>
          </p:cNvSpPr>
          <p:nvPr>
            <p:ph idx="1"/>
          </p:nvPr>
        </p:nvSpPr>
        <p:spPr/>
        <p:txBody>
          <a:bodyPr/>
          <a:lstStyle/>
          <a:p>
            <a:pPr>
              <a:buFont typeface="Arial" panose="020B0604020202020204" pitchFamily="34" charset="0"/>
              <a:buChar char="•"/>
            </a:pPr>
            <a:r>
              <a:rPr lang="he-IL" dirty="0"/>
              <a:t>3. חיפוש </a:t>
            </a:r>
            <a:r>
              <a:rPr lang="en-US" dirty="0"/>
              <a:t>e</a:t>
            </a:r>
            <a:r>
              <a:rPr lang="he-IL" dirty="0"/>
              <a:t>:</a:t>
            </a:r>
          </a:p>
          <a:p>
            <a:pPr>
              <a:buFont typeface="Arial" panose="020B0604020202020204" pitchFamily="34" charset="0"/>
              <a:buChar char="•"/>
            </a:pPr>
            <a:r>
              <a:rPr lang="he-IL" dirty="0"/>
              <a:t>מחפשים מספר </a:t>
            </a:r>
            <a:r>
              <a:rPr lang="en-US" dirty="0"/>
              <a:t> e</a:t>
            </a:r>
            <a:r>
              <a:rPr lang="he-IL" dirty="0"/>
              <a:t>שזר ל- </a:t>
            </a:r>
            <a:r>
              <a:rPr lang="en-US" dirty="0"/>
              <a:t>p-1) * (q-1) </a:t>
            </a:r>
            <a:r>
              <a:rPr lang="he-IL" dirty="0"/>
              <a:t>) וגם גדול מ-1.</a:t>
            </a:r>
          </a:p>
          <a:p>
            <a:pPr>
              <a:buFont typeface="Arial" panose="020B0604020202020204" pitchFamily="34" charset="0"/>
              <a:buChar char="•"/>
            </a:pPr>
            <a:r>
              <a:rPr lang="he-IL" dirty="0"/>
              <a:t>מספרים זרים הם מספרים שאין להם גורם משותף פרט ל-1.</a:t>
            </a:r>
          </a:p>
          <a:p>
            <a:pPr>
              <a:buFont typeface="Arial" panose="020B0604020202020204" pitchFamily="34" charset="0"/>
              <a:buChar char="•"/>
            </a:pPr>
            <a:r>
              <a:rPr lang="en-US" dirty="0"/>
              <a:t>e</a:t>
            </a:r>
            <a:r>
              <a:rPr lang="he-IL" dirty="0"/>
              <a:t> משמש להצפנה, ולכן חשוב לבחור אותו כך שיהיה קל לחישוב.</a:t>
            </a:r>
          </a:p>
          <a:p>
            <a:pPr>
              <a:buFont typeface="Arial" panose="020B0604020202020204" pitchFamily="34" charset="0"/>
              <a:buChar char="•"/>
            </a:pPr>
            <a:r>
              <a:rPr lang="he-IL" dirty="0"/>
              <a:t>4. חיפוש </a:t>
            </a:r>
            <a:r>
              <a:rPr lang="en-US" dirty="0"/>
              <a:t>d</a:t>
            </a:r>
            <a:r>
              <a:rPr lang="he-IL" dirty="0"/>
              <a:t>:</a:t>
            </a:r>
          </a:p>
          <a:p>
            <a:pPr>
              <a:buFont typeface="Arial" panose="020B0604020202020204" pitchFamily="34" charset="0"/>
              <a:buChar char="•"/>
            </a:pPr>
            <a:r>
              <a:rPr lang="he-IL" dirty="0"/>
              <a:t>מחפשים מספר</a:t>
            </a:r>
            <a:r>
              <a:rPr lang="en-US" dirty="0"/>
              <a:t>d </a:t>
            </a:r>
            <a:r>
              <a:rPr lang="he-IL" dirty="0"/>
              <a:t> כך ש- </a:t>
            </a:r>
            <a:r>
              <a:rPr lang="en-US" dirty="0"/>
              <a:t>d * e ≡ 1 [(mod (p-1) * (q-1)]</a:t>
            </a:r>
            <a:endParaRPr lang="he-IL" dirty="0"/>
          </a:p>
          <a:p>
            <a:pPr>
              <a:buFont typeface="Arial" panose="020B0604020202020204" pitchFamily="34" charset="0"/>
              <a:buChar char="•"/>
            </a:pPr>
            <a:r>
              <a:rPr lang="he-IL" dirty="0"/>
              <a:t>משמעות הדבר היא ש - </a:t>
            </a:r>
            <a:r>
              <a:rPr lang="en-US" dirty="0"/>
              <a:t>d * e</a:t>
            </a:r>
            <a:r>
              <a:rPr lang="he-IL" dirty="0"/>
              <a:t> חלקי</a:t>
            </a:r>
            <a:r>
              <a:rPr lang="en-US" dirty="0"/>
              <a:t> (p-1) * (q-1) </a:t>
            </a:r>
            <a:r>
              <a:rPr lang="he-IL" dirty="0"/>
              <a:t>נותן שארית 1.</a:t>
            </a:r>
          </a:p>
          <a:p>
            <a:pPr>
              <a:buFont typeface="Arial" panose="020B0604020202020204" pitchFamily="34" charset="0"/>
              <a:buChar char="•"/>
            </a:pPr>
            <a:r>
              <a:rPr lang="en-US" dirty="0"/>
              <a:t> d</a:t>
            </a:r>
            <a:r>
              <a:rPr lang="he-IL" dirty="0"/>
              <a:t>משמש לפענוח, והוא חייב להיות סודי.</a:t>
            </a:r>
          </a:p>
          <a:p>
            <a:pPr>
              <a:buFont typeface="Arial" panose="020B0604020202020204" pitchFamily="34" charset="0"/>
              <a:buChar char="•"/>
            </a:pPr>
            <a:endParaRPr lang="en-US" dirty="0"/>
          </a:p>
          <a:p>
            <a:pPr>
              <a:buFont typeface="Arial" panose="020B0604020202020204" pitchFamily="34" charset="0"/>
              <a:buChar char="•"/>
            </a:pPr>
            <a:r>
              <a:rPr lang="he-IL" dirty="0"/>
              <a:t>המפתח הציבורי הוא</a:t>
            </a:r>
            <a:r>
              <a:rPr lang="en-US" dirty="0"/>
              <a:t>n, e) </a:t>
            </a:r>
            <a:r>
              <a:rPr lang="he-IL" dirty="0"/>
              <a:t>) והמפתח הפרטי הוא </a:t>
            </a:r>
            <a:r>
              <a:rPr lang="en-US" dirty="0"/>
              <a:t>n, d)</a:t>
            </a:r>
            <a:r>
              <a:rPr lang="he-IL" dirty="0"/>
              <a:t>).</a:t>
            </a:r>
            <a:endParaRPr lang="en-US" dirty="0"/>
          </a:p>
          <a:p>
            <a:endParaRPr lang="he-IL" dirty="0"/>
          </a:p>
        </p:txBody>
      </p:sp>
    </p:spTree>
    <p:extLst>
      <p:ext uri="{BB962C8B-B14F-4D97-AF65-F5344CB8AC3E}">
        <p14:creationId xmlns:p14="http://schemas.microsoft.com/office/powerpoint/2010/main" val="2242030981"/>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F3F1A3C-72F4-9181-7574-ADFEC1C88E14}"/>
              </a:ext>
            </a:extLst>
          </p:cNvPr>
          <p:cNvSpPr>
            <a:spLocks noGrp="1"/>
          </p:cNvSpPr>
          <p:nvPr>
            <p:ph type="title"/>
          </p:nvPr>
        </p:nvSpPr>
        <p:spPr>
          <a:xfrm>
            <a:off x="3810000" y="0"/>
            <a:ext cx="7528560" cy="1371600"/>
          </a:xfrm>
        </p:spPr>
        <p:txBody>
          <a:bodyPr/>
          <a:lstStyle/>
          <a:p>
            <a:r>
              <a:rPr lang="he-IL" dirty="0"/>
              <a:t>המשך - תהליך הצפנה ופענוח</a:t>
            </a:r>
          </a:p>
        </p:txBody>
      </p:sp>
      <p:sp>
        <p:nvSpPr>
          <p:cNvPr id="3" name="מציין מיקום תוכן 2">
            <a:extLst>
              <a:ext uri="{FF2B5EF4-FFF2-40B4-BE49-F238E27FC236}">
                <a16:creationId xmlns:a16="http://schemas.microsoft.com/office/drawing/2014/main" id="{F710BC44-2DE8-7C22-8B1B-E42DF15E612B}"/>
              </a:ext>
            </a:extLst>
          </p:cNvPr>
          <p:cNvSpPr>
            <a:spLocks noGrp="1"/>
          </p:cNvSpPr>
          <p:nvPr>
            <p:ph idx="1"/>
          </p:nvPr>
        </p:nvSpPr>
        <p:spPr>
          <a:xfrm>
            <a:off x="1066800" y="1127760"/>
            <a:ext cx="10058400" cy="5425440"/>
          </a:xfrm>
        </p:spPr>
        <p:txBody>
          <a:bodyPr>
            <a:normAutofit fontScale="92500" lnSpcReduction="20000"/>
          </a:bodyPr>
          <a:lstStyle/>
          <a:p>
            <a:r>
              <a:rPr lang="en-US" sz="2200" b="1" u="sng" dirty="0"/>
              <a:t> d </a:t>
            </a:r>
            <a:r>
              <a:rPr lang="he-IL" sz="2200" b="1" u="sng" dirty="0"/>
              <a:t>הוא מספר שלם כך ש- </a:t>
            </a:r>
            <a:r>
              <a:rPr lang="en-US" sz="2200" b="1" u="sng" dirty="0"/>
              <a:t>d * e ≡ 1 (mod (p-1) * (q-1))</a:t>
            </a:r>
            <a:endParaRPr lang="he-IL" sz="2200" b="1" u="sng" dirty="0"/>
          </a:p>
          <a:p>
            <a:endParaRPr lang="he-IL" dirty="0"/>
          </a:p>
          <a:p>
            <a:r>
              <a:rPr lang="he-IL" b="1" dirty="0"/>
              <a:t>מה זה אומר?</a:t>
            </a:r>
          </a:p>
          <a:p>
            <a:pPr>
              <a:buFont typeface="Arial" panose="020B0604020202020204" pitchFamily="34" charset="0"/>
              <a:buChar char="•"/>
            </a:pPr>
            <a:r>
              <a:rPr lang="en-US" b="1" dirty="0"/>
              <a:t>d</a:t>
            </a:r>
            <a:r>
              <a:rPr lang="he-IL" b="1" dirty="0"/>
              <a:t> הוא מספר שלם:</a:t>
            </a:r>
            <a:r>
              <a:rPr lang="he-IL" dirty="0"/>
              <a:t> זה אומר ש-</a:t>
            </a:r>
            <a:r>
              <a:rPr lang="en-US" dirty="0"/>
              <a:t> d </a:t>
            </a:r>
            <a:r>
              <a:rPr lang="he-IL" dirty="0"/>
              <a:t>יכול להיות כל מספר שלם (חיובי</a:t>
            </a:r>
            <a:r>
              <a:rPr lang="he-IL"/>
              <a:t>, </a:t>
            </a:r>
            <a:r>
              <a:rPr lang="he-IL" smtClean="0"/>
              <a:t>שלילי).</a:t>
            </a:r>
            <a:endParaRPr lang="he-IL" dirty="0"/>
          </a:p>
          <a:p>
            <a:pPr>
              <a:buFont typeface="Arial" panose="020B0604020202020204" pitchFamily="34" charset="0"/>
              <a:buChar char="•"/>
            </a:pPr>
            <a:r>
              <a:rPr lang="en-US" b="1" dirty="0"/>
              <a:t>:d * e ≡ 1 (mod (p-1) * (q-1))</a:t>
            </a:r>
            <a:r>
              <a:rPr lang="he-IL" b="1" dirty="0"/>
              <a:t> </a:t>
            </a:r>
            <a:r>
              <a:rPr lang="he-IL" dirty="0"/>
              <a:t>זהו סימון מתמטי שנקרא "</a:t>
            </a:r>
            <a:r>
              <a:rPr lang="he-IL" dirty="0" err="1"/>
              <a:t>קונגרואנציה</a:t>
            </a:r>
            <a:r>
              <a:rPr lang="he-IL" dirty="0"/>
              <a:t> מודולרית". המשמעות שלו היא:</a:t>
            </a:r>
          </a:p>
          <a:p>
            <a:pPr>
              <a:buFont typeface="Arial" panose="020B0604020202020204" pitchFamily="34" charset="0"/>
              <a:buChar char="•"/>
            </a:pPr>
            <a:r>
              <a:rPr lang="he-IL" dirty="0"/>
              <a:t>כאשר מחלקים את המכפלה של</a:t>
            </a:r>
            <a:r>
              <a:rPr lang="en-US" dirty="0"/>
              <a:t> d </a:t>
            </a:r>
            <a:r>
              <a:rPr lang="he-IL" dirty="0"/>
              <a:t>ו-</a:t>
            </a:r>
            <a:r>
              <a:rPr lang="en-US" dirty="0"/>
              <a:t> e </a:t>
            </a:r>
            <a:r>
              <a:rPr lang="he-IL" dirty="0"/>
              <a:t>במספר</a:t>
            </a:r>
            <a:r>
              <a:rPr lang="en-US" dirty="0"/>
              <a:t> (p-1) * (q-1) </a:t>
            </a:r>
            <a:r>
              <a:rPr lang="he-IL" dirty="0"/>
              <a:t>השארית המתקבלת היא 1.</a:t>
            </a:r>
          </a:p>
          <a:p>
            <a:r>
              <a:rPr lang="he-IL" b="1" dirty="0"/>
              <a:t>דוגמה מספרית</a:t>
            </a:r>
          </a:p>
          <a:p>
            <a:r>
              <a:rPr lang="he-IL" dirty="0"/>
              <a:t>נחזור לדוגמה שלנו:</a:t>
            </a:r>
          </a:p>
          <a:p>
            <a:pPr>
              <a:buFont typeface="Arial" panose="020B0604020202020204" pitchFamily="34" charset="0"/>
              <a:buChar char="•"/>
            </a:pPr>
            <a:r>
              <a:rPr lang="en-US" dirty="0"/>
              <a:t>p = 5, q = 11</a:t>
            </a:r>
          </a:p>
          <a:p>
            <a:pPr>
              <a:buFont typeface="Arial" panose="020B0604020202020204" pitchFamily="34" charset="0"/>
              <a:buChar char="•"/>
            </a:pPr>
            <a:r>
              <a:rPr lang="en-US" dirty="0"/>
              <a:t>(p-1) * (q-1) = 4 * 10 = 40</a:t>
            </a:r>
          </a:p>
          <a:p>
            <a:pPr>
              <a:buFont typeface="Arial" panose="020B0604020202020204" pitchFamily="34" charset="0"/>
              <a:buChar char="•"/>
            </a:pPr>
            <a:r>
              <a:rPr lang="en-US" dirty="0"/>
              <a:t>e = 7</a:t>
            </a:r>
          </a:p>
          <a:p>
            <a:pPr>
              <a:buFont typeface="Arial" panose="020B0604020202020204" pitchFamily="34" charset="0"/>
              <a:buChar char="•"/>
            </a:pPr>
            <a:r>
              <a:rPr lang="en-US" dirty="0"/>
              <a:t>d = 23</a:t>
            </a:r>
          </a:p>
          <a:p>
            <a:r>
              <a:rPr lang="he-IL" dirty="0"/>
              <a:t>בואו נבדוק את </a:t>
            </a:r>
            <a:r>
              <a:rPr lang="he-IL" dirty="0" err="1"/>
              <a:t>הקונגרואנציה</a:t>
            </a:r>
            <a:r>
              <a:rPr lang="he-IL" dirty="0"/>
              <a:t>:</a:t>
            </a:r>
          </a:p>
          <a:p>
            <a:r>
              <a:rPr lang="he-IL" dirty="0"/>
              <a:t>23 * 7 = 161</a:t>
            </a:r>
          </a:p>
          <a:p>
            <a:r>
              <a:rPr lang="he-IL" dirty="0"/>
              <a:t>161 / 40 = 4 עם שארית 1</a:t>
            </a:r>
          </a:p>
          <a:p>
            <a:r>
              <a:rPr lang="he-IL" dirty="0"/>
              <a:t>אכן, 23 * 7 ≡ 1 </a:t>
            </a:r>
            <a:r>
              <a:rPr lang="en-US" dirty="0"/>
              <a:t>mod 40)</a:t>
            </a:r>
            <a:r>
              <a:rPr lang="he-IL" dirty="0"/>
              <a:t>)</a:t>
            </a:r>
            <a:endParaRPr lang="en-US" dirty="0"/>
          </a:p>
          <a:p>
            <a:pPr>
              <a:buFont typeface="Arial" panose="020B0604020202020204" pitchFamily="34" charset="0"/>
              <a:buChar char="•"/>
            </a:pPr>
            <a:endParaRPr lang="he-IL" dirty="0"/>
          </a:p>
          <a:p>
            <a:endParaRPr lang="he-IL" dirty="0"/>
          </a:p>
        </p:txBody>
      </p:sp>
    </p:spTree>
    <p:extLst>
      <p:ext uri="{BB962C8B-B14F-4D97-AF65-F5344CB8AC3E}">
        <p14:creationId xmlns:p14="http://schemas.microsoft.com/office/powerpoint/2010/main" val="555958123"/>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256B37B-B20F-F1FF-EDFA-8721A94CE4BC}"/>
              </a:ext>
            </a:extLst>
          </p:cNvPr>
          <p:cNvSpPr>
            <a:spLocks noGrp="1"/>
          </p:cNvSpPr>
          <p:nvPr>
            <p:ph type="title"/>
          </p:nvPr>
        </p:nvSpPr>
        <p:spPr>
          <a:xfrm>
            <a:off x="9458960" y="642594"/>
            <a:ext cx="1666240" cy="1371600"/>
          </a:xfrm>
        </p:spPr>
        <p:txBody>
          <a:bodyPr/>
          <a:lstStyle/>
          <a:p>
            <a:r>
              <a:rPr lang="he-IL" dirty="0"/>
              <a:t>דוגמא</a:t>
            </a:r>
          </a:p>
        </p:txBody>
      </p:sp>
      <p:sp>
        <p:nvSpPr>
          <p:cNvPr id="3" name="מציין מיקום תוכן 2">
            <a:extLst>
              <a:ext uri="{FF2B5EF4-FFF2-40B4-BE49-F238E27FC236}">
                <a16:creationId xmlns:a16="http://schemas.microsoft.com/office/drawing/2014/main" id="{570AD26E-A3EE-A299-3350-3B10AC2D4DA6}"/>
              </a:ext>
            </a:extLst>
          </p:cNvPr>
          <p:cNvSpPr>
            <a:spLocks noGrp="1"/>
          </p:cNvSpPr>
          <p:nvPr>
            <p:ph idx="1"/>
          </p:nvPr>
        </p:nvSpPr>
        <p:spPr/>
        <p:txBody>
          <a:bodyPr/>
          <a:lstStyle/>
          <a:p>
            <a:r>
              <a:rPr lang="he-IL" dirty="0"/>
              <a:t>בואו נראה דוגמה עם מספרים גדולים יותר:</a:t>
            </a:r>
          </a:p>
          <a:p>
            <a:pPr>
              <a:buFont typeface="+mj-lt"/>
              <a:buAutoNum type="arabicPeriod"/>
            </a:pPr>
            <a:r>
              <a:rPr lang="he-IL" b="1" dirty="0"/>
              <a:t> יצירת מפתחות:</a:t>
            </a:r>
            <a:endParaRPr lang="he-IL" dirty="0"/>
          </a:p>
          <a:p>
            <a:pPr marL="742950" lvl="1" indent="-285750">
              <a:buFont typeface="+mj-lt"/>
              <a:buAutoNum type="arabicPeriod"/>
            </a:pPr>
            <a:r>
              <a:rPr lang="en-US" dirty="0"/>
              <a:t>p = 61, q = 53</a:t>
            </a:r>
          </a:p>
          <a:p>
            <a:pPr marL="742950" lvl="1" indent="-285750">
              <a:buFont typeface="+mj-lt"/>
              <a:buAutoNum type="arabicPeriod"/>
            </a:pPr>
            <a:r>
              <a:rPr lang="en-US" dirty="0"/>
              <a:t>n = 61 * 53 = 3233</a:t>
            </a:r>
          </a:p>
          <a:p>
            <a:pPr marL="742950" lvl="1" indent="-285750">
              <a:buFont typeface="+mj-lt"/>
              <a:buAutoNum type="arabicPeriod"/>
            </a:pPr>
            <a:r>
              <a:rPr lang="en-US" dirty="0"/>
              <a:t>(p-1) * (q-1) = 60 * 52 = 3120</a:t>
            </a:r>
          </a:p>
          <a:p>
            <a:pPr marL="742950" lvl="1" indent="-285750">
              <a:buFont typeface="+mj-lt"/>
              <a:buAutoNum type="arabicPeriod"/>
            </a:pPr>
            <a:r>
              <a:rPr lang="en-US" dirty="0"/>
              <a:t> e = 17 </a:t>
            </a:r>
            <a:r>
              <a:rPr lang="he-IL" dirty="0"/>
              <a:t>(כי הוא זר ל- 3120)</a:t>
            </a:r>
          </a:p>
          <a:p>
            <a:pPr marL="742950" lvl="1" indent="-285750">
              <a:buFont typeface="+mj-lt"/>
              <a:buAutoNum type="arabicPeriod"/>
            </a:pPr>
            <a:r>
              <a:rPr lang="en-US" dirty="0"/>
              <a:t>d = 2753 </a:t>
            </a:r>
            <a:r>
              <a:rPr lang="he-IL" dirty="0"/>
              <a:t> כי 2753 * 17 ≡ 1 </a:t>
            </a:r>
            <a:r>
              <a:rPr lang="en-US" dirty="0"/>
              <a:t>mod 3120)</a:t>
            </a:r>
            <a:r>
              <a:rPr lang="he-IL" dirty="0" smtClean="0"/>
              <a:t>))</a:t>
            </a:r>
          </a:p>
          <a:p>
            <a:pPr marL="742950" lvl="1" indent="-285750">
              <a:buFont typeface="+mj-lt"/>
              <a:buAutoNum type="arabicPeriod"/>
            </a:pPr>
            <a:r>
              <a:rPr lang="he-IL" dirty="0" smtClean="0"/>
              <a:t>[</a:t>
            </a:r>
            <a:r>
              <a:rPr lang="he-IL" dirty="0" err="1" smtClean="0"/>
              <a:t>בישבילכם</a:t>
            </a:r>
            <a:r>
              <a:rPr lang="he-IL" dirty="0"/>
              <a:t>: כלומר, אנחנו מחפשים </a:t>
            </a:r>
            <a:r>
              <a:rPr lang="he-IL" dirty="0" smtClean="0"/>
              <a:t>מספר </a:t>
            </a:r>
            <a:r>
              <a:rPr lang="en-US" dirty="0" smtClean="0"/>
              <a:t>d</a:t>
            </a:r>
            <a:r>
              <a:rPr lang="he-IL" dirty="0"/>
              <a:t> שכאשר נכפיל אותו </a:t>
            </a:r>
            <a:r>
              <a:rPr lang="he-IL" dirty="0" smtClean="0"/>
              <a:t>ב- </a:t>
            </a:r>
            <a:r>
              <a:rPr lang="en-US" dirty="0" smtClean="0"/>
              <a:t>e</a:t>
            </a:r>
            <a:r>
              <a:rPr lang="he-IL" dirty="0"/>
              <a:t> (שהוא 17 בדוגמה שלך), התוצאה שתתקבל תשאיר </a:t>
            </a:r>
            <a:r>
              <a:rPr lang="he-IL" b="1" dirty="0"/>
              <a:t>שארית 1</a:t>
            </a:r>
            <a:r>
              <a:rPr lang="he-IL" dirty="0"/>
              <a:t> בחילוק ב- 3121 (שהוא </a:t>
            </a:r>
            <a:r>
              <a:rPr lang="he-IL" dirty="0" err="1" smtClean="0"/>
              <a:t>הפוקנציה</a:t>
            </a:r>
            <a:r>
              <a:rPr lang="he-IL" dirty="0" smtClean="0"/>
              <a:t> של </a:t>
            </a:r>
            <a:r>
              <a:rPr lang="en-US" dirty="0" smtClean="0"/>
              <a:t>n</a:t>
            </a:r>
            <a:r>
              <a:rPr lang="he-IL" dirty="0"/>
              <a:t> שחושב בשלב </a:t>
            </a:r>
            <a:r>
              <a:rPr lang="he-IL" dirty="0" smtClean="0"/>
              <a:t>3]</a:t>
            </a:r>
            <a:endParaRPr lang="en-US" dirty="0"/>
          </a:p>
          <a:p>
            <a:pPr marL="742950" lvl="1" indent="-285750">
              <a:buFont typeface="+mj-lt"/>
              <a:buAutoNum type="arabicPeriod"/>
            </a:pPr>
            <a:r>
              <a:rPr lang="he-IL" dirty="0"/>
              <a:t>המפתח הציבורי הוא (3233, 17), והמפתח הפרטי הוא (3233, 2753).</a:t>
            </a:r>
          </a:p>
          <a:p>
            <a:pPr marL="742950" lvl="1" indent="-285750">
              <a:buFont typeface="+mj-lt"/>
              <a:buAutoNum type="arabicPeriod"/>
            </a:pPr>
            <a:endParaRPr lang="he-IL" dirty="0"/>
          </a:p>
          <a:p>
            <a:endParaRPr lang="he-IL" dirty="0"/>
          </a:p>
        </p:txBody>
      </p:sp>
    </p:spTree>
    <p:extLst>
      <p:ext uri="{BB962C8B-B14F-4D97-AF65-F5344CB8AC3E}">
        <p14:creationId xmlns:p14="http://schemas.microsoft.com/office/powerpoint/2010/main" val="2518609578"/>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1D89223-DA82-0BAD-D402-8E00CA0AD12F}"/>
              </a:ext>
            </a:extLst>
          </p:cNvPr>
          <p:cNvSpPr>
            <a:spLocks noGrp="1"/>
          </p:cNvSpPr>
          <p:nvPr>
            <p:ph type="title"/>
          </p:nvPr>
        </p:nvSpPr>
        <p:spPr>
          <a:xfrm>
            <a:off x="4724400" y="642594"/>
            <a:ext cx="6400800" cy="1371600"/>
          </a:xfrm>
        </p:spPr>
        <p:txBody>
          <a:bodyPr/>
          <a:lstStyle/>
          <a:p>
            <a:r>
              <a:rPr lang="he-IL" dirty="0"/>
              <a:t>הסבר על שורת ההשוואה</a:t>
            </a:r>
          </a:p>
        </p:txBody>
      </p:sp>
      <p:sp>
        <p:nvSpPr>
          <p:cNvPr id="3" name="מציין מיקום תוכן 2">
            <a:extLst>
              <a:ext uri="{FF2B5EF4-FFF2-40B4-BE49-F238E27FC236}">
                <a16:creationId xmlns:a16="http://schemas.microsoft.com/office/drawing/2014/main" id="{D55B3045-71D8-D8F1-0E07-FC022BBAE9C9}"/>
              </a:ext>
            </a:extLst>
          </p:cNvPr>
          <p:cNvSpPr>
            <a:spLocks noGrp="1"/>
          </p:cNvSpPr>
          <p:nvPr>
            <p:ph idx="1"/>
          </p:nvPr>
        </p:nvSpPr>
        <p:spPr>
          <a:xfrm>
            <a:off x="1066800" y="2103120"/>
            <a:ext cx="10058400" cy="4378960"/>
          </a:xfrm>
        </p:spPr>
        <p:txBody>
          <a:bodyPr>
            <a:normAutofit/>
          </a:bodyPr>
          <a:lstStyle/>
          <a:p>
            <a:r>
              <a:rPr lang="he-IL" dirty="0"/>
              <a:t>נתונה לנו השורה: </a:t>
            </a:r>
            <a:r>
              <a:rPr lang="en-US" dirty="0"/>
              <a:t>d = 2753 </a:t>
            </a:r>
            <a:r>
              <a:rPr lang="he-IL" dirty="0"/>
              <a:t> (כי 2753 * 17 ≡ 1 </a:t>
            </a:r>
            <a:r>
              <a:rPr lang="en-US" dirty="0"/>
              <a:t>mod 3120)</a:t>
            </a:r>
            <a:r>
              <a:rPr lang="he-IL" dirty="0"/>
              <a:t>)):</a:t>
            </a:r>
          </a:p>
          <a:p>
            <a:r>
              <a:rPr lang="en-US" b="1" dirty="0"/>
              <a:t>:d = 2753</a:t>
            </a:r>
            <a:r>
              <a:rPr lang="en-US" dirty="0"/>
              <a:t> </a:t>
            </a:r>
            <a:r>
              <a:rPr lang="he-IL" dirty="0"/>
              <a:t> זה אומר ש-</a:t>
            </a:r>
            <a:r>
              <a:rPr lang="en-US" dirty="0"/>
              <a:t> d </a:t>
            </a:r>
            <a:r>
              <a:rPr lang="he-IL" dirty="0"/>
              <a:t>הוא מספר שלם שערכו 2753. </a:t>
            </a:r>
            <a:r>
              <a:rPr lang="en-US" dirty="0"/>
              <a:t>d</a:t>
            </a:r>
            <a:r>
              <a:rPr lang="he-IL" dirty="0"/>
              <a:t> הוא חלק מהמפתח הפרטי שלנו, והוא משמש לפענוח הודעות.</a:t>
            </a:r>
          </a:p>
          <a:p>
            <a:r>
              <a:rPr lang="he-IL" b="1" dirty="0"/>
              <a:t>(כי 2753 * 17 ≡ 1 </a:t>
            </a:r>
            <a:r>
              <a:rPr lang="en-US" b="1" dirty="0"/>
              <a:t>((mod 3120)</a:t>
            </a:r>
            <a:r>
              <a:rPr lang="en-US" dirty="0"/>
              <a:t> </a:t>
            </a:r>
            <a:r>
              <a:rPr lang="he-IL" dirty="0"/>
              <a:t>: זו הסיבה מדוע </a:t>
            </a:r>
            <a:r>
              <a:rPr lang="en-US" dirty="0"/>
              <a:t> ,d=2753</a:t>
            </a:r>
            <a:r>
              <a:rPr lang="he-IL" dirty="0"/>
              <a:t>הסימן ≡ נקרא "</a:t>
            </a:r>
            <a:r>
              <a:rPr lang="he-IL" dirty="0" err="1"/>
              <a:t>קונגרואנציה</a:t>
            </a:r>
            <a:r>
              <a:rPr lang="he-IL" dirty="0"/>
              <a:t> מודולרית". בוא נפשט אותו עוד יותר:</a:t>
            </a:r>
          </a:p>
          <a:p>
            <a:r>
              <a:rPr lang="he-IL" b="1" dirty="0"/>
              <a:t>2753 * 17:</a:t>
            </a:r>
            <a:r>
              <a:rPr lang="he-IL" dirty="0"/>
              <a:t> זו פשוט מכפלה של שני מספרים. 2753 כפול 17 שווה 46801.</a:t>
            </a:r>
          </a:p>
          <a:p>
            <a:r>
              <a:rPr lang="en-US" b="1" dirty="0"/>
              <a:t> :1 (mod 3120)</a:t>
            </a:r>
            <a:r>
              <a:rPr lang="en-US" dirty="0"/>
              <a:t> </a:t>
            </a:r>
            <a:r>
              <a:rPr lang="he-IL" dirty="0"/>
              <a:t>זה החלק המעניין. זה אומר שאנחנו מתעניינים בשארית שתתקבל כאשר נחלק את התוצאה (46801) ב-3120.</a:t>
            </a:r>
          </a:p>
          <a:p>
            <a:r>
              <a:rPr lang="he-IL" b="1" dirty="0"/>
              <a:t>במילים אחרות:</a:t>
            </a:r>
            <a:r>
              <a:rPr lang="he-IL" dirty="0"/>
              <a:t> אנחנו מחפשים את השארית של 46801 כשמחלקים אותו ב-3120.</a:t>
            </a:r>
          </a:p>
          <a:p>
            <a:r>
              <a:rPr lang="he-IL" dirty="0"/>
              <a:t>בואו נחשב את זה:</a:t>
            </a:r>
          </a:p>
          <a:p>
            <a:r>
              <a:rPr lang="he-IL" dirty="0"/>
              <a:t>46801 / 3120 = 15 עם שארית 1.</a:t>
            </a:r>
          </a:p>
          <a:p>
            <a:r>
              <a:rPr lang="he-IL" dirty="0"/>
              <a:t>אז, 46801 אכן שקול ל-1 </a:t>
            </a:r>
            <a:r>
              <a:rPr lang="he-IL" dirty="0" err="1"/>
              <a:t>מודולו</a:t>
            </a:r>
            <a:r>
              <a:rPr lang="he-IL" dirty="0"/>
              <a:t> 3120. לכן, </a:t>
            </a:r>
            <a:r>
              <a:rPr lang="he-IL" dirty="0" err="1"/>
              <a:t>הקונגרואנציה</a:t>
            </a:r>
            <a:r>
              <a:rPr lang="he-IL" dirty="0"/>
              <a:t> מתקיימת.</a:t>
            </a:r>
          </a:p>
          <a:p>
            <a:endParaRPr lang="he-IL" dirty="0"/>
          </a:p>
          <a:p>
            <a:endParaRPr lang="he-IL" dirty="0"/>
          </a:p>
        </p:txBody>
      </p:sp>
    </p:spTree>
    <p:extLst>
      <p:ext uri="{BB962C8B-B14F-4D97-AF65-F5344CB8AC3E}">
        <p14:creationId xmlns:p14="http://schemas.microsoft.com/office/powerpoint/2010/main" val="1156848827"/>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5925F0A-F557-E8AD-9857-8EBF567D4B55}"/>
              </a:ext>
            </a:extLst>
          </p:cNvPr>
          <p:cNvSpPr>
            <a:spLocks noGrp="1"/>
          </p:cNvSpPr>
          <p:nvPr>
            <p:ph type="title"/>
          </p:nvPr>
        </p:nvSpPr>
        <p:spPr>
          <a:xfrm>
            <a:off x="7386320" y="642594"/>
            <a:ext cx="3738880" cy="1371600"/>
          </a:xfrm>
        </p:spPr>
        <p:txBody>
          <a:bodyPr/>
          <a:lstStyle/>
          <a:p>
            <a:r>
              <a:rPr lang="he-IL" dirty="0"/>
              <a:t>המשך - דוגמא</a:t>
            </a:r>
          </a:p>
        </p:txBody>
      </p:sp>
      <p:sp>
        <p:nvSpPr>
          <p:cNvPr id="3" name="מציין מיקום תוכן 2">
            <a:extLst>
              <a:ext uri="{FF2B5EF4-FFF2-40B4-BE49-F238E27FC236}">
                <a16:creationId xmlns:a16="http://schemas.microsoft.com/office/drawing/2014/main" id="{EAA76887-A33B-6850-9FAC-E491F98DBB25}"/>
              </a:ext>
            </a:extLst>
          </p:cNvPr>
          <p:cNvSpPr>
            <a:spLocks noGrp="1"/>
          </p:cNvSpPr>
          <p:nvPr>
            <p:ph idx="1"/>
          </p:nvPr>
        </p:nvSpPr>
        <p:spPr/>
        <p:txBody>
          <a:bodyPr/>
          <a:lstStyle/>
          <a:p>
            <a:r>
              <a:rPr lang="he-IL" dirty="0"/>
              <a:t>2. </a:t>
            </a:r>
            <a:r>
              <a:rPr lang="he-IL" b="1" dirty="0"/>
              <a:t>הצפנה:</a:t>
            </a:r>
            <a:endParaRPr lang="he-IL" dirty="0"/>
          </a:p>
          <a:p>
            <a:pPr>
              <a:buFont typeface="Arial" panose="020B0604020202020204" pitchFamily="34" charset="0"/>
              <a:buChar char="•"/>
            </a:pPr>
            <a:r>
              <a:rPr lang="he-IL" dirty="0"/>
              <a:t>ההודעה </a:t>
            </a:r>
            <a:r>
              <a:rPr lang="en-US" dirty="0"/>
              <a:t>m = 1234</a:t>
            </a:r>
          </a:p>
          <a:p>
            <a:pPr>
              <a:buFont typeface="Arial" panose="020B0604020202020204" pitchFamily="34" charset="0"/>
              <a:buChar char="•"/>
            </a:pPr>
            <a:r>
              <a:rPr lang="en-US" dirty="0"/>
              <a:t>c = 1234^17 (mod 3233) = </a:t>
            </a:r>
            <a:r>
              <a:rPr lang="en-US" dirty="0" smtClean="0"/>
              <a:t>855</a:t>
            </a:r>
            <a:endParaRPr lang="he-IL" dirty="0" smtClean="0"/>
          </a:p>
          <a:p>
            <a:pPr>
              <a:buFont typeface="Arial" panose="020B0604020202020204" pitchFamily="34" charset="0"/>
              <a:buChar char="•"/>
            </a:pPr>
            <a:r>
              <a:rPr lang="he-IL" dirty="0"/>
              <a:t>כלומר: נניח שההודעה שרוצים לשלוח היא </a:t>
            </a:r>
            <a:r>
              <a:rPr lang="he-IL" dirty="0" smtClean="0"/>
              <a:t>המספר 1234, </a:t>
            </a:r>
            <a:r>
              <a:rPr lang="he-IL" dirty="0"/>
              <a:t>לכן אנו </a:t>
            </a:r>
            <a:r>
              <a:rPr lang="he-IL" dirty="0" smtClean="0"/>
              <a:t>(אושרי) מעלים </a:t>
            </a:r>
            <a:r>
              <a:rPr lang="he-IL" dirty="0"/>
              <a:t>את ההודעה בחזקת המפתח </a:t>
            </a:r>
            <a:r>
              <a:rPr lang="he-IL" dirty="0" smtClean="0"/>
              <a:t>הציבורי </a:t>
            </a:r>
            <a:r>
              <a:rPr lang="en-US" dirty="0" smtClean="0"/>
              <a:t>e</a:t>
            </a:r>
            <a:r>
              <a:rPr lang="he-IL" dirty="0"/>
              <a:t>=17 ומבצעים </a:t>
            </a:r>
            <a:r>
              <a:rPr lang="he-IL" dirty="0" err="1" smtClean="0"/>
              <a:t>מודולו</a:t>
            </a:r>
            <a:r>
              <a:rPr lang="he-IL" dirty="0" smtClean="0"/>
              <a:t> </a:t>
            </a:r>
            <a:r>
              <a:rPr lang="en-US" dirty="0" smtClean="0"/>
              <a:t>n</a:t>
            </a:r>
            <a:r>
              <a:rPr lang="he-IL" dirty="0" smtClean="0"/>
              <a:t> , וזה בעצם החישוב שאנו רואים למעלה.</a:t>
            </a:r>
            <a:endParaRPr lang="en-US" dirty="0"/>
          </a:p>
          <a:p>
            <a:endParaRPr lang="he-IL" dirty="0"/>
          </a:p>
          <a:p>
            <a:r>
              <a:rPr lang="he-IL" dirty="0"/>
              <a:t>3. </a:t>
            </a:r>
            <a:r>
              <a:rPr lang="he-IL" b="1" dirty="0"/>
              <a:t>פענוח:</a:t>
            </a:r>
            <a:endParaRPr lang="he-IL" dirty="0"/>
          </a:p>
          <a:p>
            <a:pPr>
              <a:buFont typeface="Arial" panose="020B0604020202020204" pitchFamily="34" charset="0"/>
              <a:buChar char="•"/>
            </a:pPr>
            <a:r>
              <a:rPr lang="en-US" dirty="0"/>
              <a:t>m = 855^2753 (mod 3233) = </a:t>
            </a:r>
            <a:r>
              <a:rPr lang="en-US" dirty="0" smtClean="0"/>
              <a:t>1234</a:t>
            </a:r>
            <a:endParaRPr lang="he-IL" dirty="0" smtClean="0"/>
          </a:p>
          <a:p>
            <a:pPr>
              <a:buFont typeface="Arial" panose="020B0604020202020204" pitchFamily="34" charset="0"/>
              <a:buChar char="•"/>
            </a:pPr>
            <a:r>
              <a:rPr lang="he-IL" dirty="0"/>
              <a:t>כלומר: </a:t>
            </a:r>
            <a:r>
              <a:rPr lang="he-IL" dirty="0" smtClean="0"/>
              <a:t>לוקחים </a:t>
            </a:r>
            <a:r>
              <a:rPr lang="he-IL" dirty="0"/>
              <a:t>את הטקסט המוצפן (855) ומעלה אותו בחזקת המפתח הפרטי </a:t>
            </a:r>
            <a:r>
              <a:rPr lang="he-IL" dirty="0" smtClean="0"/>
              <a:t>שלך </a:t>
            </a:r>
            <a:r>
              <a:rPr lang="en-US" dirty="0" smtClean="0"/>
              <a:t>d=2753</a:t>
            </a:r>
            <a:r>
              <a:rPr lang="he-IL" dirty="0" smtClean="0"/>
              <a:t> </a:t>
            </a:r>
            <a:r>
              <a:rPr lang="he-IL" dirty="0"/>
              <a:t>ומבצעים </a:t>
            </a:r>
            <a:r>
              <a:rPr lang="he-IL" dirty="0" err="1"/>
              <a:t>מודולו</a:t>
            </a:r>
            <a:r>
              <a:rPr lang="he-IL" dirty="0"/>
              <a:t> </a:t>
            </a:r>
            <a:r>
              <a:rPr lang="en-US" dirty="0"/>
              <a:t>n</a:t>
            </a:r>
            <a:r>
              <a:rPr lang="he-IL" dirty="0"/>
              <a:t> , וזה בעצם החישוב שאנו רואים </a:t>
            </a:r>
            <a:r>
              <a:rPr lang="he-IL" dirty="0" smtClean="0"/>
              <a:t>למעלה, היינו קבלנו את ההודעה 1234.</a:t>
            </a:r>
            <a:endParaRPr lang="en-US" dirty="0"/>
          </a:p>
          <a:p>
            <a:pPr>
              <a:buFont typeface="Arial" panose="020B0604020202020204" pitchFamily="34" charset="0"/>
              <a:buChar char="•"/>
            </a:pPr>
            <a:endParaRPr lang="en-US" dirty="0"/>
          </a:p>
          <a:p>
            <a:endParaRPr lang="he-IL" dirty="0"/>
          </a:p>
        </p:txBody>
      </p:sp>
    </p:spTree>
    <p:extLst>
      <p:ext uri="{BB962C8B-B14F-4D97-AF65-F5344CB8AC3E}">
        <p14:creationId xmlns:p14="http://schemas.microsoft.com/office/powerpoint/2010/main" val="30134757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18A8751-0389-46F9-FA15-1A4FC3D2EB11}"/>
              </a:ext>
            </a:extLst>
          </p:cNvPr>
          <p:cNvSpPr>
            <a:spLocks noGrp="1"/>
          </p:cNvSpPr>
          <p:nvPr>
            <p:ph type="title"/>
          </p:nvPr>
        </p:nvSpPr>
        <p:spPr>
          <a:xfrm>
            <a:off x="9042400" y="642594"/>
            <a:ext cx="2082800" cy="1371600"/>
          </a:xfrm>
        </p:spPr>
        <p:txBody>
          <a:bodyPr/>
          <a:lstStyle/>
          <a:p>
            <a:r>
              <a:rPr lang="he-IL" dirty="0"/>
              <a:t>שאלות</a:t>
            </a:r>
          </a:p>
        </p:txBody>
      </p:sp>
      <p:sp>
        <p:nvSpPr>
          <p:cNvPr id="3" name="מציין מיקום תוכן 2">
            <a:extLst>
              <a:ext uri="{FF2B5EF4-FFF2-40B4-BE49-F238E27FC236}">
                <a16:creationId xmlns:a16="http://schemas.microsoft.com/office/drawing/2014/main" id="{82A6360A-3D10-511E-057D-9B45D1F1577F}"/>
              </a:ext>
            </a:extLst>
          </p:cNvPr>
          <p:cNvSpPr>
            <a:spLocks noGrp="1"/>
          </p:cNvSpPr>
          <p:nvPr>
            <p:ph idx="1"/>
          </p:nvPr>
        </p:nvSpPr>
        <p:spPr/>
        <p:txBody>
          <a:bodyPr/>
          <a:lstStyle/>
          <a:p>
            <a:r>
              <a:rPr lang="he-IL" dirty="0"/>
              <a:t>1. מהם שני המפתחות המשמשים בהצפנת</a:t>
            </a:r>
            <a:r>
              <a:rPr lang="en-US" dirty="0"/>
              <a:t> RSA </a:t>
            </a:r>
            <a:r>
              <a:rPr lang="he-IL" dirty="0"/>
              <a:t>ומה תפקידו של כל אחד מהם?</a:t>
            </a:r>
          </a:p>
          <a:p>
            <a:r>
              <a:rPr lang="he-IL" dirty="0"/>
              <a:t>2. מהי הבעיה המתמטית שעליה מבוססת אבטחת </a:t>
            </a:r>
            <a:r>
              <a:rPr lang="en-US" dirty="0"/>
              <a:t>RSA</a:t>
            </a:r>
            <a:r>
              <a:rPr lang="he-IL" dirty="0"/>
              <a:t>?</a:t>
            </a:r>
          </a:p>
          <a:p>
            <a:r>
              <a:rPr lang="he-IL" dirty="0"/>
              <a:t>3. הסבר במילים פשוטות את תהליך ההצפנה והפענוח ב-</a:t>
            </a:r>
            <a:r>
              <a:rPr lang="en-US" dirty="0"/>
              <a:t>RSA</a:t>
            </a:r>
            <a:r>
              <a:rPr lang="he-IL" dirty="0"/>
              <a:t>?</a:t>
            </a:r>
          </a:p>
          <a:p>
            <a:r>
              <a:rPr lang="he-IL" dirty="0"/>
              <a:t>4. מהו חשבון מודולרי, וכיצד הוא קשור ל-</a:t>
            </a:r>
            <a:r>
              <a:rPr lang="en-US" dirty="0"/>
              <a:t>RSA</a:t>
            </a:r>
            <a:r>
              <a:rPr lang="he-IL" dirty="0"/>
              <a:t>?</a:t>
            </a:r>
          </a:p>
          <a:p>
            <a:r>
              <a:rPr lang="he-IL" dirty="0"/>
              <a:t>5. מהי פונקציית </a:t>
            </a:r>
            <a:r>
              <a:rPr lang="he-IL" dirty="0" err="1"/>
              <a:t>אוילר</a:t>
            </a:r>
            <a:r>
              <a:rPr lang="he-IL" dirty="0"/>
              <a:t>, ומה חשיבותה ב-</a:t>
            </a:r>
            <a:r>
              <a:rPr lang="en-US" dirty="0"/>
              <a:t>RSA</a:t>
            </a:r>
            <a:r>
              <a:rPr lang="he-IL" dirty="0"/>
              <a:t>?</a:t>
            </a:r>
          </a:p>
          <a:p>
            <a:r>
              <a:rPr lang="he-IL" dirty="0"/>
              <a:t>6. נתונים שני מספרים ראשוניים</a:t>
            </a:r>
            <a:r>
              <a:rPr lang="en-US" dirty="0"/>
              <a:t>p = 7 </a:t>
            </a:r>
            <a:r>
              <a:rPr lang="he-IL" dirty="0"/>
              <a:t> ו-</a:t>
            </a:r>
            <a:r>
              <a:rPr lang="en-US" dirty="0"/>
              <a:t>q = 11 </a:t>
            </a:r>
            <a:r>
              <a:rPr lang="he-IL" dirty="0"/>
              <a:t> חשב את </a:t>
            </a:r>
            <a:r>
              <a:rPr lang="en-US" dirty="0" smtClean="0"/>
              <a:t> n </a:t>
            </a:r>
            <a:r>
              <a:rPr lang="en-US" dirty="0"/>
              <a:t>(p-1) * (q-1) </a:t>
            </a:r>
            <a:r>
              <a:rPr lang="he-IL" dirty="0"/>
              <a:t>ובחר מספר</a:t>
            </a:r>
            <a:r>
              <a:rPr lang="en-US" dirty="0"/>
              <a:t>e </a:t>
            </a:r>
            <a:r>
              <a:rPr lang="he-IL" dirty="0"/>
              <a:t> מתאים.</a:t>
            </a:r>
          </a:p>
        </p:txBody>
      </p:sp>
    </p:spTree>
    <p:extLst>
      <p:ext uri="{BB962C8B-B14F-4D97-AF65-F5344CB8AC3E}">
        <p14:creationId xmlns:p14="http://schemas.microsoft.com/office/powerpoint/2010/main" val="272607709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F482F38-8DEA-8FEF-7A67-DBA9C89B1EB1}"/>
              </a:ext>
            </a:extLst>
          </p:cNvPr>
          <p:cNvSpPr>
            <a:spLocks noGrp="1"/>
          </p:cNvSpPr>
          <p:nvPr>
            <p:ph type="title"/>
          </p:nvPr>
        </p:nvSpPr>
        <p:spPr>
          <a:xfrm>
            <a:off x="8961120" y="642594"/>
            <a:ext cx="2164080" cy="1371600"/>
          </a:xfrm>
        </p:spPr>
        <p:txBody>
          <a:bodyPr/>
          <a:lstStyle/>
          <a:p>
            <a:r>
              <a:rPr lang="he-IL" dirty="0"/>
              <a:t>תשובות</a:t>
            </a:r>
          </a:p>
        </p:txBody>
      </p:sp>
      <p:sp>
        <p:nvSpPr>
          <p:cNvPr id="3" name="מציין מיקום תוכן 2">
            <a:extLst>
              <a:ext uri="{FF2B5EF4-FFF2-40B4-BE49-F238E27FC236}">
                <a16:creationId xmlns:a16="http://schemas.microsoft.com/office/drawing/2014/main" id="{19A63D6C-694C-278E-A951-64F358580CF9}"/>
              </a:ext>
            </a:extLst>
          </p:cNvPr>
          <p:cNvSpPr>
            <a:spLocks noGrp="1"/>
          </p:cNvSpPr>
          <p:nvPr>
            <p:ph idx="1"/>
          </p:nvPr>
        </p:nvSpPr>
        <p:spPr/>
        <p:txBody>
          <a:bodyPr/>
          <a:lstStyle/>
          <a:p>
            <a:r>
              <a:rPr lang="he-IL" dirty="0"/>
              <a:t>1. </a:t>
            </a:r>
            <a:r>
              <a:rPr lang="he-IL" b="1" dirty="0"/>
              <a:t>מפתח ציבורי</a:t>
            </a:r>
            <a:r>
              <a:rPr lang="he-IL" dirty="0"/>
              <a:t>: משמש להצפנת הודעות. </a:t>
            </a:r>
            <a:r>
              <a:rPr lang="he-IL" b="1" dirty="0"/>
              <a:t>מפתח פרטי</a:t>
            </a:r>
            <a:r>
              <a:rPr lang="he-IL" dirty="0"/>
              <a:t>: משמש לפענוח הודעות.</a:t>
            </a:r>
          </a:p>
          <a:p>
            <a:r>
              <a:rPr lang="he-IL" dirty="0"/>
              <a:t>2. בעיית פירוק לגורמים ראשוניים.</a:t>
            </a:r>
          </a:p>
          <a:p>
            <a:r>
              <a:rPr lang="he-IL" dirty="0"/>
              <a:t>3. </a:t>
            </a:r>
            <a:r>
              <a:rPr lang="he-IL" b="1" dirty="0"/>
              <a:t>הצפנה</a:t>
            </a:r>
            <a:r>
              <a:rPr lang="he-IL" dirty="0"/>
              <a:t>: ההודעה המקורית מועלית בחזקת </a:t>
            </a:r>
            <a:r>
              <a:rPr lang="en-US" dirty="0"/>
              <a:t> e</a:t>
            </a:r>
            <a:r>
              <a:rPr lang="he-IL" dirty="0" err="1"/>
              <a:t>מודולו</a:t>
            </a:r>
            <a:r>
              <a:rPr lang="en-US" dirty="0"/>
              <a:t>n </a:t>
            </a:r>
            <a:r>
              <a:rPr lang="he-IL" dirty="0"/>
              <a:t> </a:t>
            </a:r>
            <a:r>
              <a:rPr lang="he-IL" b="1" dirty="0"/>
              <a:t>פענוח</a:t>
            </a:r>
            <a:r>
              <a:rPr lang="he-IL" dirty="0"/>
              <a:t>: ההודעה המוצפנת מועלית בחזקת</a:t>
            </a:r>
            <a:r>
              <a:rPr lang="en-US" dirty="0"/>
              <a:t> d </a:t>
            </a:r>
            <a:r>
              <a:rPr lang="he-IL" dirty="0" err="1"/>
              <a:t>מודולו</a:t>
            </a:r>
            <a:r>
              <a:rPr lang="he-IL" dirty="0"/>
              <a:t> </a:t>
            </a:r>
            <a:r>
              <a:rPr lang="en-US" dirty="0"/>
              <a:t>n</a:t>
            </a:r>
            <a:endParaRPr lang="he-IL" dirty="0"/>
          </a:p>
          <a:p>
            <a:r>
              <a:rPr lang="he-IL" dirty="0"/>
              <a:t>4. חשבון שבו המספרים "מתגלגלים" לאחר מספר מסוים. ב-</a:t>
            </a:r>
            <a:r>
              <a:rPr lang="en-US" dirty="0"/>
              <a:t> RSA </a:t>
            </a:r>
            <a:r>
              <a:rPr lang="he-IL" dirty="0"/>
              <a:t>כל החישובים מתבצעים </a:t>
            </a:r>
            <a:r>
              <a:rPr lang="he-IL" dirty="0" err="1"/>
              <a:t>מודולו</a:t>
            </a:r>
            <a:r>
              <a:rPr lang="he-IL" dirty="0"/>
              <a:t> </a:t>
            </a:r>
            <a:r>
              <a:rPr lang="en-US" dirty="0"/>
              <a:t>n</a:t>
            </a:r>
            <a:endParaRPr lang="he-IL" dirty="0"/>
          </a:p>
          <a:p>
            <a:r>
              <a:rPr lang="he-IL" dirty="0"/>
              <a:t>5. פונקציה שמחשבת את מספר המספרים הטבעיים הקטנים מ-</a:t>
            </a:r>
            <a:r>
              <a:rPr lang="en-US" dirty="0"/>
              <a:t> n </a:t>
            </a:r>
            <a:r>
              <a:rPr lang="he-IL" dirty="0"/>
              <a:t>וזרים לו. היא משמשת לחישוב המפתח הפרטי.</a:t>
            </a:r>
          </a:p>
          <a:p>
            <a:r>
              <a:rPr lang="he-IL" dirty="0"/>
              <a:t>6. </a:t>
            </a:r>
            <a:r>
              <a:rPr lang="en-US" dirty="0"/>
              <a:t> n = 7 * 11 = 77  , (p-1) * (q-1) = 6 * 10 = 60 . e </a:t>
            </a:r>
            <a:r>
              <a:rPr lang="he-IL" dirty="0"/>
              <a:t>יכול להיות 7, 11, 13, 17, 19, 23, 29, 31, 37, 41, 43, 47, 49, 53, 59.</a:t>
            </a:r>
          </a:p>
          <a:p>
            <a:endParaRPr lang="he-IL" dirty="0"/>
          </a:p>
          <a:p>
            <a:endParaRPr lang="he-IL" dirty="0"/>
          </a:p>
        </p:txBody>
      </p:sp>
    </p:spTree>
    <p:extLst>
      <p:ext uri="{BB962C8B-B14F-4D97-AF65-F5344CB8AC3E}">
        <p14:creationId xmlns:p14="http://schemas.microsoft.com/office/powerpoint/2010/main" val="222708084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7FAB938-3003-F033-D199-75A7AC532950}"/>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8DF58768-147F-8487-5B65-16367E47E9D1}"/>
              </a:ext>
            </a:extLst>
          </p:cNvPr>
          <p:cNvSpPr>
            <a:spLocks noGrp="1"/>
          </p:cNvSpPr>
          <p:nvPr>
            <p:ph idx="1"/>
          </p:nvPr>
        </p:nvSpPr>
        <p:spPr>
          <a:xfrm>
            <a:off x="965200" y="2519680"/>
            <a:ext cx="10058400" cy="3931920"/>
          </a:xfrm>
        </p:spPr>
        <p:txBody>
          <a:bodyPr>
            <a:normAutofit/>
          </a:bodyPr>
          <a:lstStyle/>
          <a:p>
            <a:pPr algn="ctr"/>
            <a:r>
              <a:rPr lang="he-IL" sz="6000" dirty="0"/>
              <a:t>צופן אל-</a:t>
            </a:r>
            <a:r>
              <a:rPr lang="he-IL" sz="6000" dirty="0" err="1"/>
              <a:t>גמאל</a:t>
            </a:r>
            <a:endParaRPr lang="he-IL" sz="6000" dirty="0"/>
          </a:p>
        </p:txBody>
      </p:sp>
    </p:spTree>
    <p:extLst>
      <p:ext uri="{BB962C8B-B14F-4D97-AF65-F5344CB8AC3E}">
        <p14:creationId xmlns:p14="http://schemas.microsoft.com/office/powerpoint/2010/main" val="304690080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A9BA312-9EF9-CB6C-517B-82C17868DB7D}"/>
              </a:ext>
            </a:extLst>
          </p:cNvPr>
          <p:cNvSpPr>
            <a:spLocks noGrp="1"/>
          </p:cNvSpPr>
          <p:nvPr>
            <p:ph type="title"/>
          </p:nvPr>
        </p:nvSpPr>
        <p:spPr>
          <a:xfrm>
            <a:off x="5862320" y="642594"/>
            <a:ext cx="5262880" cy="1371600"/>
          </a:xfrm>
        </p:spPr>
        <p:txBody>
          <a:bodyPr/>
          <a:lstStyle/>
          <a:p>
            <a:r>
              <a:rPr lang="he-IL" dirty="0"/>
              <a:t>מהו צופן אל-</a:t>
            </a:r>
            <a:r>
              <a:rPr lang="he-IL" dirty="0" err="1"/>
              <a:t>גמאל</a:t>
            </a:r>
            <a:r>
              <a:rPr lang="he-IL" dirty="0"/>
              <a:t>?</a:t>
            </a:r>
          </a:p>
        </p:txBody>
      </p:sp>
      <p:sp>
        <p:nvSpPr>
          <p:cNvPr id="3" name="מציין מיקום תוכן 2">
            <a:extLst>
              <a:ext uri="{FF2B5EF4-FFF2-40B4-BE49-F238E27FC236}">
                <a16:creationId xmlns:a16="http://schemas.microsoft.com/office/drawing/2014/main" id="{4882315C-1C61-0ED0-EEC3-ABCEC9E211DB}"/>
              </a:ext>
            </a:extLst>
          </p:cNvPr>
          <p:cNvSpPr>
            <a:spLocks noGrp="1"/>
          </p:cNvSpPr>
          <p:nvPr>
            <p:ph idx="1"/>
          </p:nvPr>
        </p:nvSpPr>
        <p:spPr/>
        <p:txBody>
          <a:bodyPr/>
          <a:lstStyle/>
          <a:p>
            <a:r>
              <a:rPr lang="he-IL" dirty="0"/>
              <a:t>צופן אל-</a:t>
            </a:r>
            <a:r>
              <a:rPr lang="he-IL" dirty="0" err="1"/>
              <a:t>גמאל</a:t>
            </a:r>
            <a:r>
              <a:rPr lang="he-IL" dirty="0"/>
              <a:t> הוא שיטת הצפנה אסימטרית, כלומר היא משתמשת בשני מפתחות שונים:</a:t>
            </a:r>
          </a:p>
          <a:p>
            <a:pPr>
              <a:buFont typeface="Arial" panose="020B0604020202020204" pitchFamily="34" charset="0"/>
              <a:buChar char="•"/>
            </a:pPr>
            <a:r>
              <a:rPr lang="he-IL" b="1" dirty="0"/>
              <a:t>מפתח ציבורי</a:t>
            </a:r>
            <a:r>
              <a:rPr lang="en-US" b="1" dirty="0"/>
              <a:t> :Public Key</a:t>
            </a:r>
            <a:r>
              <a:rPr lang="en-US" dirty="0"/>
              <a:t> </a:t>
            </a:r>
            <a:r>
              <a:rPr lang="he-IL" dirty="0"/>
              <a:t>משמש להצפנת הודעות. כל אחד יכול להשתמש בו כדי להצפין הודעה עבורך.</a:t>
            </a:r>
          </a:p>
          <a:p>
            <a:pPr>
              <a:buFont typeface="Arial" panose="020B0604020202020204" pitchFamily="34" charset="0"/>
              <a:buChar char="•"/>
            </a:pPr>
            <a:r>
              <a:rPr lang="he-IL" b="1" dirty="0"/>
              <a:t>מפתח פרטי</a:t>
            </a:r>
            <a:r>
              <a:rPr lang="en-US" b="1" dirty="0"/>
              <a:t>Private Key</a:t>
            </a:r>
            <a:r>
              <a:rPr lang="en-US" dirty="0"/>
              <a:t> </a:t>
            </a:r>
            <a:r>
              <a:rPr lang="he-IL" dirty="0"/>
              <a:t>: משמש לפענוח הודעות. רק אתה יכול להשתמש בו כדי לפענח הודעות שהוצפנו עבורך.</a:t>
            </a:r>
          </a:p>
          <a:p>
            <a:pPr>
              <a:buFont typeface="Arial" panose="020B0604020202020204" pitchFamily="34" charset="0"/>
              <a:buChar char="•"/>
            </a:pPr>
            <a:endParaRPr lang="he-IL" dirty="0"/>
          </a:p>
          <a:p>
            <a:r>
              <a:rPr lang="he-IL" b="1" dirty="0"/>
              <a:t>כיצד זה עובד?</a:t>
            </a:r>
          </a:p>
          <a:p>
            <a:r>
              <a:rPr lang="he-IL" dirty="0"/>
              <a:t>צופן אל-</a:t>
            </a:r>
            <a:r>
              <a:rPr lang="he-IL" dirty="0" err="1"/>
              <a:t>גמאל</a:t>
            </a:r>
            <a:r>
              <a:rPr lang="he-IL" dirty="0"/>
              <a:t> מבוסס על בעיה מתמטית שנקראת "בעיית הלוגריתם הבדיד". קשה מאוד למצוא את הלוגריתם הבדיד של מספר גדול, וזה מה שמבטיח את אבטחת ההצפנה.</a:t>
            </a:r>
          </a:p>
          <a:p>
            <a:r>
              <a:rPr lang="he-IL" dirty="0"/>
              <a:t>בנוסף, צופן אל-</a:t>
            </a:r>
            <a:r>
              <a:rPr lang="he-IL" dirty="0" err="1"/>
              <a:t>גמאל</a:t>
            </a:r>
            <a:r>
              <a:rPr lang="he-IL" dirty="0"/>
              <a:t> מבוסס על בעיית הלוגריתם הדיסקרטי, שדומה במורכבותה לבעיית פירוק לגורמים עליה מבוסס</a:t>
            </a:r>
            <a:r>
              <a:rPr lang="en-US" dirty="0"/>
              <a:t> RSA </a:t>
            </a:r>
            <a:r>
              <a:rPr lang="he-IL" dirty="0"/>
              <a:t>במילים פשוטות, זוהי בעיה מתמטית שקשה לפתור כאשר המספרים גדולים.</a:t>
            </a:r>
          </a:p>
          <a:p>
            <a:pPr>
              <a:buFont typeface="Arial" panose="020B0604020202020204" pitchFamily="34" charset="0"/>
              <a:buChar char="•"/>
            </a:pPr>
            <a:endParaRPr lang="he-IL" dirty="0"/>
          </a:p>
          <a:p>
            <a:endParaRPr lang="he-IL" dirty="0"/>
          </a:p>
        </p:txBody>
      </p:sp>
    </p:spTree>
    <p:extLst>
      <p:ext uri="{BB962C8B-B14F-4D97-AF65-F5344CB8AC3E}">
        <p14:creationId xmlns:p14="http://schemas.microsoft.com/office/powerpoint/2010/main" val="174978262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650182" y="642594"/>
            <a:ext cx="4475018" cy="1371600"/>
          </a:xfrm>
        </p:spPr>
        <p:txBody>
          <a:bodyPr/>
          <a:lstStyle/>
          <a:p>
            <a:r>
              <a:rPr lang="he-IL" dirty="0"/>
              <a:t>שימושים עיקריים:</a:t>
            </a:r>
          </a:p>
        </p:txBody>
      </p:sp>
      <p:sp>
        <p:nvSpPr>
          <p:cNvPr id="3" name="מציין מיקום תוכן 2"/>
          <p:cNvSpPr>
            <a:spLocks noGrp="1"/>
          </p:cNvSpPr>
          <p:nvPr>
            <p:ph idx="1"/>
          </p:nvPr>
        </p:nvSpPr>
        <p:spPr/>
        <p:txBody>
          <a:bodyPr/>
          <a:lstStyle/>
          <a:p>
            <a:r>
              <a:rPr lang="he-IL" dirty="0"/>
              <a:t>1. הצפנת מידע: צופן אל </a:t>
            </a:r>
            <a:r>
              <a:rPr lang="he-IL" dirty="0" err="1"/>
              <a:t>גמאל</a:t>
            </a:r>
            <a:r>
              <a:rPr lang="he-IL" dirty="0"/>
              <a:t> משמש להצפנה של מידע רגיש כמו סיסמאות, מספרי כרטיסי אשראי ומידע אישי אחר.</a:t>
            </a:r>
          </a:p>
          <a:p>
            <a:endParaRPr lang="he-IL" dirty="0"/>
          </a:p>
          <a:p>
            <a:r>
              <a:rPr lang="he-IL" dirty="0"/>
              <a:t>2. חתימה דיגיטלית: צופן אל </a:t>
            </a:r>
            <a:r>
              <a:rPr lang="he-IL" dirty="0" err="1"/>
              <a:t>גמאל</a:t>
            </a:r>
            <a:r>
              <a:rPr lang="he-IL" dirty="0"/>
              <a:t> יכול לשמש ליצירת חתימות דיגיטליות, שמאפשרות לוודא את מקוריות המידע ולוודא שהוא לא השתנה.</a:t>
            </a:r>
          </a:p>
          <a:p>
            <a:endParaRPr lang="he-IL" dirty="0"/>
          </a:p>
        </p:txBody>
      </p:sp>
    </p:spTree>
    <p:extLst>
      <p:ext uri="{BB962C8B-B14F-4D97-AF65-F5344CB8AC3E}">
        <p14:creationId xmlns:p14="http://schemas.microsoft.com/office/powerpoint/2010/main" val="231023536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680200" y="642594"/>
            <a:ext cx="4445000" cy="1371600"/>
          </a:xfrm>
        </p:spPr>
        <p:txBody>
          <a:bodyPr/>
          <a:lstStyle/>
          <a:p>
            <a:r>
              <a:rPr lang="he-IL" dirty="0"/>
              <a:t>יתרונות וחסרונות</a:t>
            </a:r>
          </a:p>
        </p:txBody>
      </p:sp>
      <p:sp>
        <p:nvSpPr>
          <p:cNvPr id="3" name="מציין מיקום תוכן 2"/>
          <p:cNvSpPr>
            <a:spLocks noGrp="1"/>
          </p:cNvSpPr>
          <p:nvPr>
            <p:ph idx="1"/>
          </p:nvPr>
        </p:nvSpPr>
        <p:spPr/>
        <p:txBody>
          <a:bodyPr/>
          <a:lstStyle/>
          <a:p>
            <a:r>
              <a:rPr lang="he-IL" b="1" dirty="0"/>
              <a:t>יתרונות:</a:t>
            </a:r>
            <a:endParaRPr lang="he-IL" dirty="0"/>
          </a:p>
          <a:p>
            <a:r>
              <a:rPr lang="he-IL" dirty="0"/>
              <a:t>1. ביטחון גבוה: צופן אל </a:t>
            </a:r>
            <a:r>
              <a:rPr lang="he-IL" dirty="0" err="1"/>
              <a:t>גמאל</a:t>
            </a:r>
            <a:r>
              <a:rPr lang="he-IL" dirty="0"/>
              <a:t> נחשב לאלגוריתם בטוח מאוד, כל עוד משתמשים במפתחות חזקים ובאקראיות נכונה.</a:t>
            </a:r>
          </a:p>
          <a:p>
            <a:r>
              <a:rPr lang="he-IL" dirty="0"/>
              <a:t>2. גמישות: צופן אל </a:t>
            </a:r>
            <a:r>
              <a:rPr lang="he-IL" dirty="0" err="1"/>
              <a:t>גמאל</a:t>
            </a:r>
            <a:r>
              <a:rPr lang="he-IL" dirty="0"/>
              <a:t> יכול לשמש גם להצפנה וגם לחתימה דיגיטלית.</a:t>
            </a:r>
          </a:p>
          <a:p>
            <a:r>
              <a:rPr lang="he-IL" b="1" dirty="0"/>
              <a:t>חסרונות:</a:t>
            </a:r>
            <a:endParaRPr lang="he-IL" dirty="0"/>
          </a:p>
          <a:p>
            <a:r>
              <a:rPr lang="he-IL" dirty="0"/>
              <a:t>1. יעילות: צופן אל </a:t>
            </a:r>
            <a:r>
              <a:rPr lang="he-IL" dirty="0" err="1"/>
              <a:t>גמאל</a:t>
            </a:r>
            <a:r>
              <a:rPr lang="he-IL" dirty="0"/>
              <a:t> אינו יעיל כמו אלגוריתמים סימטריים, ולכן הוא לא מתאים להצפנה של כמויות גדולות של מידע.</a:t>
            </a:r>
          </a:p>
          <a:p>
            <a:r>
              <a:rPr lang="he-IL" dirty="0"/>
              <a:t>2. גודל מפתח: גודל המפתחות בצופן אל </a:t>
            </a:r>
            <a:r>
              <a:rPr lang="he-IL" dirty="0" err="1"/>
              <a:t>גמאל</a:t>
            </a:r>
            <a:r>
              <a:rPr lang="he-IL" dirty="0"/>
              <a:t> גדול יחסית, מה שיכול להשפיע על הביצועים.</a:t>
            </a:r>
          </a:p>
          <a:p>
            <a:endParaRPr lang="he-IL" dirty="0"/>
          </a:p>
        </p:txBody>
      </p:sp>
    </p:spTree>
    <p:extLst>
      <p:ext uri="{BB962C8B-B14F-4D97-AF65-F5344CB8AC3E}">
        <p14:creationId xmlns:p14="http://schemas.microsoft.com/office/powerpoint/2010/main" val="375685649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00D9A1F-4EA1-2C73-3D7F-E6F5FB900EDF}"/>
              </a:ext>
            </a:extLst>
          </p:cNvPr>
          <p:cNvSpPr>
            <a:spLocks noGrp="1"/>
          </p:cNvSpPr>
          <p:nvPr>
            <p:ph type="title"/>
          </p:nvPr>
        </p:nvSpPr>
        <p:spPr>
          <a:xfrm>
            <a:off x="7040880" y="0"/>
            <a:ext cx="4084320" cy="1371600"/>
          </a:xfrm>
        </p:spPr>
        <p:txBody>
          <a:bodyPr/>
          <a:lstStyle/>
          <a:p>
            <a:r>
              <a:rPr lang="he-IL" dirty="0"/>
              <a:t>תהליך ההצפנה</a:t>
            </a:r>
          </a:p>
        </p:txBody>
      </p:sp>
      <p:sp>
        <p:nvSpPr>
          <p:cNvPr id="3" name="מציין מיקום תוכן 2">
            <a:extLst>
              <a:ext uri="{FF2B5EF4-FFF2-40B4-BE49-F238E27FC236}">
                <a16:creationId xmlns:a16="http://schemas.microsoft.com/office/drawing/2014/main" id="{8EDADF07-C8BC-6671-1009-B4D24A2BAF88}"/>
              </a:ext>
            </a:extLst>
          </p:cNvPr>
          <p:cNvSpPr>
            <a:spLocks noGrp="1"/>
          </p:cNvSpPr>
          <p:nvPr>
            <p:ph idx="1"/>
          </p:nvPr>
        </p:nvSpPr>
        <p:spPr>
          <a:xfrm>
            <a:off x="1066800" y="1117600"/>
            <a:ext cx="10058400" cy="5344160"/>
          </a:xfrm>
        </p:spPr>
        <p:txBody>
          <a:bodyPr>
            <a:normAutofit/>
          </a:bodyPr>
          <a:lstStyle/>
          <a:p>
            <a:r>
              <a:rPr lang="he-IL" sz="2000" dirty="0"/>
              <a:t>תהליך ההצפנה והפענוח כולל את השלבים הבאים:</a:t>
            </a:r>
          </a:p>
          <a:p>
            <a:pPr>
              <a:buFont typeface="+mj-lt"/>
              <a:buAutoNum type="arabicPeriod"/>
            </a:pPr>
            <a:r>
              <a:rPr lang="he-IL" sz="2000" b="1" dirty="0"/>
              <a:t>יצירת מפתחות:</a:t>
            </a:r>
            <a:endParaRPr lang="he-IL" sz="2000" dirty="0"/>
          </a:p>
          <a:p>
            <a:pPr marL="742950" lvl="1" indent="-285750">
              <a:buFont typeface="+mj-lt"/>
              <a:buAutoNum type="arabicPeriod"/>
            </a:pPr>
            <a:r>
              <a:rPr lang="he-IL" sz="2000" dirty="0"/>
              <a:t>בוחרים מספר ראשוני גדול </a:t>
            </a:r>
            <a:r>
              <a:rPr lang="en-US" sz="2000" dirty="0"/>
              <a:t>p</a:t>
            </a:r>
            <a:r>
              <a:rPr lang="he-IL" sz="2000" dirty="0"/>
              <a:t>.</a:t>
            </a:r>
            <a:endParaRPr lang="en-US" sz="2000" dirty="0"/>
          </a:p>
          <a:p>
            <a:pPr marL="742950" lvl="1" indent="-285750">
              <a:buFont typeface="+mj-lt"/>
              <a:buAutoNum type="arabicPeriod"/>
            </a:pPr>
            <a:r>
              <a:rPr lang="he-IL" sz="2000" dirty="0"/>
              <a:t>בוחרים מספר שלם </a:t>
            </a:r>
            <a:r>
              <a:rPr lang="en-US" sz="2000" dirty="0"/>
              <a:t>g</a:t>
            </a:r>
            <a:r>
              <a:rPr lang="he-IL" sz="2000" dirty="0"/>
              <a:t> שהוא שורש </a:t>
            </a:r>
            <a:r>
              <a:rPr lang="he-IL" sz="2000" dirty="0" smtClean="0"/>
              <a:t>פרימיטיבי (חכו להמשך) </a:t>
            </a:r>
            <a:r>
              <a:rPr lang="he-IL" sz="2000" dirty="0" err="1"/>
              <a:t>מודולו</a:t>
            </a:r>
            <a:r>
              <a:rPr lang="he-IL" sz="2000" dirty="0"/>
              <a:t> </a:t>
            </a:r>
            <a:r>
              <a:rPr lang="en-US" sz="2000" dirty="0"/>
              <a:t>p</a:t>
            </a:r>
            <a:r>
              <a:rPr lang="he-IL" sz="2000" dirty="0"/>
              <a:t>.</a:t>
            </a:r>
            <a:endParaRPr lang="en-US" sz="2000" dirty="0"/>
          </a:p>
          <a:p>
            <a:pPr marL="742950" lvl="1" indent="-285750">
              <a:buFont typeface="+mj-lt"/>
              <a:buAutoNum type="arabicPeriod"/>
            </a:pPr>
            <a:r>
              <a:rPr lang="he-IL" sz="2000" dirty="0"/>
              <a:t>בוחרים מספר שלם פרטי </a:t>
            </a:r>
            <a:r>
              <a:rPr lang="en-US" sz="2000" dirty="0"/>
              <a:t>x</a:t>
            </a:r>
            <a:r>
              <a:rPr lang="he-IL" sz="2000" dirty="0"/>
              <a:t>.</a:t>
            </a:r>
            <a:endParaRPr lang="en-US" sz="2000" dirty="0"/>
          </a:p>
          <a:p>
            <a:pPr marL="742950" lvl="1" indent="-285750">
              <a:buFont typeface="+mj-lt"/>
              <a:buAutoNum type="arabicPeriod"/>
            </a:pPr>
            <a:r>
              <a:rPr lang="he-IL" sz="2000" dirty="0"/>
              <a:t>מחשבים את </a:t>
            </a:r>
            <a:r>
              <a:rPr lang="en-US" sz="2000" dirty="0"/>
              <a:t>y = </a:t>
            </a:r>
            <a:r>
              <a:rPr lang="en-US" sz="2000" dirty="0" err="1"/>
              <a:t>g^x</a:t>
            </a:r>
            <a:r>
              <a:rPr lang="en-US" sz="2000" dirty="0"/>
              <a:t> (mod p)</a:t>
            </a:r>
            <a:r>
              <a:rPr lang="he-IL" sz="2000" dirty="0"/>
              <a:t>.</a:t>
            </a:r>
            <a:endParaRPr lang="en-US" sz="2000" dirty="0"/>
          </a:p>
          <a:p>
            <a:pPr marL="742950" lvl="1" indent="-285750">
              <a:buFont typeface="+mj-lt"/>
              <a:buAutoNum type="arabicPeriod"/>
            </a:pPr>
            <a:r>
              <a:rPr lang="he-IL" sz="2000" dirty="0"/>
              <a:t>המפתח הציבורי הוא</a:t>
            </a:r>
            <a:r>
              <a:rPr lang="en-US" sz="2000" dirty="0"/>
              <a:t> ,(p, g, y) </a:t>
            </a:r>
            <a:r>
              <a:rPr lang="he-IL" sz="2000" dirty="0"/>
              <a:t>והמפתח הפרטי הוא </a:t>
            </a:r>
            <a:r>
              <a:rPr lang="en-US" sz="2000" dirty="0"/>
              <a:t>x</a:t>
            </a:r>
            <a:r>
              <a:rPr lang="he-IL" sz="2000" dirty="0"/>
              <a:t>.</a:t>
            </a:r>
            <a:endParaRPr lang="en-US" sz="2000" dirty="0"/>
          </a:p>
          <a:p>
            <a:pPr>
              <a:buFont typeface="+mj-lt"/>
              <a:buAutoNum type="arabicPeriod"/>
            </a:pPr>
            <a:r>
              <a:rPr lang="he-IL" sz="2000" b="1" dirty="0"/>
              <a:t>הצפנה:</a:t>
            </a:r>
            <a:endParaRPr lang="he-IL" sz="2000" dirty="0"/>
          </a:p>
          <a:p>
            <a:pPr marL="742950" lvl="1" indent="-285750">
              <a:buFont typeface="+mj-lt"/>
              <a:buAutoNum type="arabicPeriod"/>
            </a:pPr>
            <a:r>
              <a:rPr lang="he-IL" sz="2000" dirty="0"/>
              <a:t>כדי להצפין הודעה </a:t>
            </a:r>
            <a:r>
              <a:rPr lang="en-US" sz="2000" dirty="0"/>
              <a:t>m</a:t>
            </a:r>
            <a:r>
              <a:rPr lang="he-IL" sz="2000" dirty="0"/>
              <a:t> בוחרים מספר שלם אקראי </a:t>
            </a:r>
            <a:r>
              <a:rPr lang="en-US" sz="2000" dirty="0"/>
              <a:t>k</a:t>
            </a:r>
            <a:r>
              <a:rPr lang="he-IL" sz="2000" dirty="0"/>
              <a:t>.</a:t>
            </a:r>
            <a:endParaRPr lang="en-US" sz="2000" dirty="0"/>
          </a:p>
          <a:p>
            <a:pPr marL="742950" lvl="1" indent="-285750">
              <a:buFont typeface="+mj-lt"/>
              <a:buAutoNum type="arabicPeriod"/>
            </a:pPr>
            <a:r>
              <a:rPr lang="he-IL" sz="2000" dirty="0"/>
              <a:t>מחשבים את </a:t>
            </a:r>
            <a:r>
              <a:rPr lang="en-US" sz="2000" dirty="0"/>
              <a:t>a = </a:t>
            </a:r>
            <a:r>
              <a:rPr lang="en-US" sz="2000" dirty="0" err="1"/>
              <a:t>g^k</a:t>
            </a:r>
            <a:r>
              <a:rPr lang="en-US" sz="2000" dirty="0"/>
              <a:t> (mod p)</a:t>
            </a:r>
            <a:r>
              <a:rPr lang="he-IL" sz="2000" dirty="0"/>
              <a:t>.</a:t>
            </a:r>
            <a:endParaRPr lang="en-US" sz="2000" dirty="0"/>
          </a:p>
          <a:p>
            <a:pPr marL="742950" lvl="1" indent="-285750">
              <a:buFont typeface="+mj-lt"/>
              <a:buAutoNum type="arabicPeriod"/>
            </a:pPr>
            <a:r>
              <a:rPr lang="he-IL" sz="2000" dirty="0"/>
              <a:t>מחשבים את </a:t>
            </a:r>
            <a:r>
              <a:rPr lang="en-US" sz="2000" dirty="0"/>
              <a:t>b = m * </a:t>
            </a:r>
            <a:r>
              <a:rPr lang="en-US" sz="2000" dirty="0" err="1"/>
              <a:t>y^k</a:t>
            </a:r>
            <a:r>
              <a:rPr lang="en-US" sz="2000" dirty="0"/>
              <a:t> (mod p)</a:t>
            </a:r>
            <a:r>
              <a:rPr lang="he-IL" sz="2000" dirty="0"/>
              <a:t>.</a:t>
            </a:r>
            <a:endParaRPr lang="en-US" sz="2000" dirty="0"/>
          </a:p>
          <a:p>
            <a:pPr marL="742950" lvl="1" indent="-285750">
              <a:buFont typeface="+mj-lt"/>
              <a:buAutoNum type="arabicPeriod"/>
            </a:pPr>
            <a:r>
              <a:rPr lang="he-IL" sz="2000" dirty="0"/>
              <a:t>ההודעה המוצפנת היא </a:t>
            </a:r>
            <a:r>
              <a:rPr lang="en-US" sz="2000" dirty="0"/>
              <a:t>a, b)</a:t>
            </a:r>
            <a:r>
              <a:rPr lang="he-IL" sz="2000" dirty="0"/>
              <a:t>)</a:t>
            </a:r>
            <a:endParaRPr lang="en-US" sz="2000" dirty="0"/>
          </a:p>
          <a:p>
            <a:pPr>
              <a:buFont typeface="+mj-lt"/>
              <a:buAutoNum type="arabicPeriod"/>
            </a:pPr>
            <a:r>
              <a:rPr lang="he-IL" sz="2000" b="1" dirty="0"/>
              <a:t>פענוח:</a:t>
            </a:r>
            <a:endParaRPr lang="he-IL" sz="2000" dirty="0"/>
          </a:p>
          <a:p>
            <a:pPr marL="742950" lvl="1" indent="-285750">
              <a:buFont typeface="+mj-lt"/>
              <a:buAutoNum type="arabicPeriod"/>
            </a:pPr>
            <a:r>
              <a:rPr lang="he-IL" sz="2000" dirty="0"/>
              <a:t>כדי לפענח את ההודעה המוצפנת</a:t>
            </a:r>
            <a:r>
              <a:rPr lang="en-US" sz="2000" dirty="0"/>
              <a:t>, (a, b) </a:t>
            </a:r>
            <a:r>
              <a:rPr lang="he-IL" sz="2000" dirty="0"/>
              <a:t>מחשבים את </a:t>
            </a:r>
            <a:r>
              <a:rPr lang="en-US" sz="2000" dirty="0"/>
              <a:t>m = b * a^(-x) (mod p)</a:t>
            </a:r>
          </a:p>
          <a:p>
            <a:endParaRPr lang="he-IL" sz="2000" dirty="0"/>
          </a:p>
        </p:txBody>
      </p:sp>
    </p:spTree>
    <p:extLst>
      <p:ext uri="{BB962C8B-B14F-4D97-AF65-F5344CB8AC3E}">
        <p14:creationId xmlns:p14="http://schemas.microsoft.com/office/powerpoint/2010/main" val="222780205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CDBA92F-2638-0D79-A20B-0A4A2F6B4296}"/>
              </a:ext>
            </a:extLst>
          </p:cNvPr>
          <p:cNvSpPr>
            <a:spLocks noGrp="1"/>
          </p:cNvSpPr>
          <p:nvPr>
            <p:ph type="title"/>
          </p:nvPr>
        </p:nvSpPr>
        <p:spPr>
          <a:xfrm>
            <a:off x="5821680" y="642594"/>
            <a:ext cx="5303520" cy="1371600"/>
          </a:xfrm>
        </p:spPr>
        <p:txBody>
          <a:bodyPr/>
          <a:lstStyle/>
          <a:p>
            <a:r>
              <a:rPr lang="he-IL" dirty="0"/>
              <a:t>דוגמא הלכה למעשה</a:t>
            </a:r>
          </a:p>
        </p:txBody>
      </p:sp>
      <p:sp>
        <p:nvSpPr>
          <p:cNvPr id="3" name="מציין מיקום תוכן 2">
            <a:extLst>
              <a:ext uri="{FF2B5EF4-FFF2-40B4-BE49-F238E27FC236}">
                <a16:creationId xmlns:a16="http://schemas.microsoft.com/office/drawing/2014/main" id="{06E13C29-DEFC-C15B-E620-37958FA5A9C8}"/>
              </a:ext>
            </a:extLst>
          </p:cNvPr>
          <p:cNvSpPr>
            <a:spLocks noGrp="1"/>
          </p:cNvSpPr>
          <p:nvPr>
            <p:ph idx="1"/>
          </p:nvPr>
        </p:nvSpPr>
        <p:spPr/>
        <p:txBody>
          <a:bodyPr/>
          <a:lstStyle/>
          <a:p>
            <a:r>
              <a:rPr lang="he-IL" dirty="0"/>
              <a:t>בואו ניקח דוגמה פשוטה עם מספרים קטנים כדי להמחיש את התהליך:</a:t>
            </a:r>
          </a:p>
          <a:p>
            <a:pPr>
              <a:buFont typeface="+mj-lt"/>
              <a:buAutoNum type="arabicPeriod"/>
            </a:pPr>
            <a:r>
              <a:rPr lang="he-IL" b="1" dirty="0"/>
              <a:t> יצירת מפתחות:</a:t>
            </a:r>
            <a:endParaRPr lang="he-IL" dirty="0"/>
          </a:p>
          <a:p>
            <a:pPr marL="742950" lvl="1" indent="-285750">
              <a:buFont typeface="+mj-lt"/>
              <a:buAutoNum type="arabicPeriod"/>
            </a:pPr>
            <a:r>
              <a:rPr lang="en-US" dirty="0"/>
              <a:t>p = 11</a:t>
            </a:r>
          </a:p>
          <a:p>
            <a:pPr marL="742950" lvl="1" indent="-285750">
              <a:buFont typeface="+mj-lt"/>
              <a:buAutoNum type="arabicPeriod"/>
            </a:pPr>
            <a:r>
              <a:rPr lang="en-US" dirty="0"/>
              <a:t>g = 2</a:t>
            </a:r>
          </a:p>
          <a:p>
            <a:pPr marL="742950" lvl="1" indent="-285750">
              <a:buFont typeface="+mj-lt"/>
              <a:buAutoNum type="arabicPeriod"/>
            </a:pPr>
            <a:r>
              <a:rPr lang="en-US" dirty="0"/>
              <a:t>x = 3</a:t>
            </a:r>
          </a:p>
          <a:p>
            <a:pPr marL="742950" lvl="1" indent="-285750">
              <a:buFont typeface="+mj-lt"/>
              <a:buAutoNum type="arabicPeriod"/>
            </a:pPr>
            <a:r>
              <a:rPr lang="en-US" dirty="0"/>
              <a:t>y = 2^3 (mod 11) = 8</a:t>
            </a:r>
          </a:p>
          <a:p>
            <a:pPr marL="742950" lvl="1" indent="-285750"/>
            <a:r>
              <a:rPr lang="en-US" b="1" dirty="0"/>
              <a:t>3</a:t>
            </a:r>
            <a:r>
              <a:rPr lang="he-IL" b="1" dirty="0"/>
              <a:t>^</a:t>
            </a:r>
            <a:r>
              <a:rPr lang="en-US" b="1" dirty="0"/>
              <a:t>2</a:t>
            </a:r>
            <a:r>
              <a:rPr lang="he-IL" b="1" dirty="0"/>
              <a:t>:</a:t>
            </a:r>
            <a:r>
              <a:rPr lang="he-IL" dirty="0"/>
              <a:t> זה פשוט 2 בחזקת 3, כלומר 2 * 2 * 2 = 8.</a:t>
            </a:r>
            <a:endParaRPr lang="en-US" dirty="0"/>
          </a:p>
          <a:p>
            <a:pPr marL="742950" lvl="1" indent="-285750"/>
            <a:r>
              <a:rPr lang="en-US" b="1" dirty="0"/>
              <a:t> :(mod 11)</a:t>
            </a:r>
            <a:r>
              <a:rPr lang="en-US" dirty="0"/>
              <a:t> </a:t>
            </a:r>
            <a:r>
              <a:rPr lang="he-IL" dirty="0"/>
              <a:t>זה החלק המעניין. זה אומר שאנחנו מתעניינים בשארית שתתקבל כאשר נחלק את התוצאה (8) ב-11.</a:t>
            </a:r>
          </a:p>
          <a:p>
            <a:pPr marL="742950" lvl="1" indent="-285750"/>
            <a:r>
              <a:rPr lang="he-IL" b="1" dirty="0"/>
              <a:t>8:</a:t>
            </a:r>
            <a:r>
              <a:rPr lang="he-IL" dirty="0"/>
              <a:t> זה אומר שהתוצאה הסופית של הביטוי היא 8.</a:t>
            </a:r>
            <a:endParaRPr lang="en-US" dirty="0"/>
          </a:p>
          <a:p>
            <a:pPr marL="742950" lvl="1" indent="-285750">
              <a:buFont typeface="+mj-lt"/>
              <a:buAutoNum type="arabicPeriod"/>
            </a:pPr>
            <a:r>
              <a:rPr lang="he-IL" dirty="0"/>
              <a:t>המפתח הציבורי הוא (11, 2, 8), והמפתח הפרטי הוא 3.</a:t>
            </a:r>
          </a:p>
          <a:p>
            <a:pPr marL="742950" lvl="1" indent="-285750"/>
            <a:endParaRPr lang="he-IL" dirty="0"/>
          </a:p>
          <a:p>
            <a:endParaRPr lang="he-IL" dirty="0"/>
          </a:p>
        </p:txBody>
      </p:sp>
    </p:spTree>
    <p:extLst>
      <p:ext uri="{BB962C8B-B14F-4D97-AF65-F5344CB8AC3E}">
        <p14:creationId xmlns:p14="http://schemas.microsoft.com/office/powerpoint/2010/main" val="417170056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E0616FD-7149-8991-E946-76CB318767F0}"/>
              </a:ext>
            </a:extLst>
          </p:cNvPr>
          <p:cNvSpPr>
            <a:spLocks noGrp="1"/>
          </p:cNvSpPr>
          <p:nvPr>
            <p:ph type="title"/>
          </p:nvPr>
        </p:nvSpPr>
        <p:spPr>
          <a:xfrm>
            <a:off x="3901440" y="642594"/>
            <a:ext cx="7223760" cy="1371600"/>
          </a:xfrm>
        </p:spPr>
        <p:txBody>
          <a:bodyPr/>
          <a:lstStyle/>
          <a:p>
            <a:r>
              <a:rPr lang="he-IL" dirty="0"/>
              <a:t>המשך - דוגמא הלכה למעשה</a:t>
            </a:r>
          </a:p>
        </p:txBody>
      </p:sp>
      <p:sp>
        <p:nvSpPr>
          <p:cNvPr id="3" name="מציין מיקום תוכן 2">
            <a:extLst>
              <a:ext uri="{FF2B5EF4-FFF2-40B4-BE49-F238E27FC236}">
                <a16:creationId xmlns:a16="http://schemas.microsoft.com/office/drawing/2014/main" id="{18F62148-BD8E-FA83-7592-02AB0BEB29AF}"/>
              </a:ext>
            </a:extLst>
          </p:cNvPr>
          <p:cNvSpPr>
            <a:spLocks noGrp="1"/>
          </p:cNvSpPr>
          <p:nvPr>
            <p:ph idx="1"/>
          </p:nvPr>
        </p:nvSpPr>
        <p:spPr/>
        <p:txBody>
          <a:bodyPr/>
          <a:lstStyle/>
          <a:p>
            <a:r>
              <a:rPr lang="he-IL" b="1" dirty="0"/>
              <a:t>הצפנה:</a:t>
            </a:r>
            <a:endParaRPr lang="he-IL" dirty="0"/>
          </a:p>
          <a:p>
            <a:pPr>
              <a:buFont typeface="Arial" panose="020B0604020202020204" pitchFamily="34" charset="0"/>
              <a:buChar char="•"/>
            </a:pPr>
            <a:r>
              <a:rPr lang="he-IL" dirty="0"/>
              <a:t>ההודעה </a:t>
            </a:r>
            <a:r>
              <a:rPr lang="en-US" dirty="0"/>
              <a:t>m = 7</a:t>
            </a:r>
          </a:p>
          <a:p>
            <a:pPr>
              <a:buFont typeface="Arial" panose="020B0604020202020204" pitchFamily="34" charset="0"/>
              <a:buChar char="•"/>
            </a:pPr>
            <a:r>
              <a:rPr lang="en-US" dirty="0"/>
              <a:t>k = 5</a:t>
            </a:r>
          </a:p>
          <a:p>
            <a:pPr>
              <a:buFont typeface="Arial" panose="020B0604020202020204" pitchFamily="34" charset="0"/>
              <a:buChar char="•"/>
            </a:pPr>
            <a:r>
              <a:rPr lang="en-US" dirty="0"/>
              <a:t>a = 2^5 (mod 11) = 10</a:t>
            </a:r>
          </a:p>
          <a:p>
            <a:pPr>
              <a:buFont typeface="Arial" panose="020B0604020202020204" pitchFamily="34" charset="0"/>
              <a:buChar char="•"/>
            </a:pPr>
            <a:r>
              <a:rPr lang="en-US" dirty="0"/>
              <a:t>b = 7 * 8^5 (mod 11) = 7 * </a:t>
            </a:r>
            <a:r>
              <a:rPr lang="en-US" dirty="0">
                <a:solidFill>
                  <a:srgbClr val="FF0000"/>
                </a:solidFill>
              </a:rPr>
              <a:t>32768 (mod 11) </a:t>
            </a:r>
            <a:r>
              <a:rPr lang="en-US" dirty="0"/>
              <a:t>= 7 * </a:t>
            </a:r>
            <a:r>
              <a:rPr lang="en-US" dirty="0">
                <a:solidFill>
                  <a:srgbClr val="FF0000"/>
                </a:solidFill>
              </a:rPr>
              <a:t>10</a:t>
            </a:r>
            <a:r>
              <a:rPr lang="en-US" dirty="0"/>
              <a:t> (mod 11) = </a:t>
            </a:r>
            <a:r>
              <a:rPr lang="en-US" dirty="0">
                <a:solidFill>
                  <a:srgbClr val="FF0000"/>
                </a:solidFill>
              </a:rPr>
              <a:t>70</a:t>
            </a:r>
            <a:r>
              <a:rPr lang="en-US" dirty="0"/>
              <a:t> (mod 11) = </a:t>
            </a:r>
            <a:r>
              <a:rPr lang="en-US" dirty="0" smtClean="0"/>
              <a:t>4</a:t>
            </a:r>
            <a:endParaRPr lang="he-IL" dirty="0" smtClean="0"/>
          </a:p>
          <a:p>
            <a:pPr>
              <a:buFont typeface="Arial" panose="020B0604020202020204" pitchFamily="34" charset="0"/>
              <a:buChar char="•"/>
            </a:pPr>
            <a:r>
              <a:rPr lang="he-IL" dirty="0" smtClean="0"/>
              <a:t>כלומר: </a:t>
            </a:r>
            <a:r>
              <a:rPr lang="en-US" dirty="0" smtClean="0"/>
              <a:t>32,768 % 11 = 10</a:t>
            </a:r>
            <a:r>
              <a:rPr lang="he-IL" dirty="0" smtClean="0"/>
              <a:t> , ועכשיו נחשב 7</a:t>
            </a:r>
            <a:r>
              <a:rPr lang="en-US" dirty="0" smtClean="0"/>
              <a:t>X</a:t>
            </a:r>
            <a:r>
              <a:rPr lang="he-IL" dirty="0" smtClean="0"/>
              <a:t>10 = 70.</a:t>
            </a:r>
            <a:endParaRPr lang="en-US" dirty="0"/>
          </a:p>
          <a:p>
            <a:pPr>
              <a:buFont typeface="Arial" panose="020B0604020202020204" pitchFamily="34" charset="0"/>
              <a:buChar char="•"/>
            </a:pPr>
            <a:r>
              <a:rPr lang="he-IL" dirty="0"/>
              <a:t>ההודעה המוצפנת היא (10, 4).</a:t>
            </a:r>
          </a:p>
          <a:p>
            <a:endParaRPr lang="he-IL" dirty="0"/>
          </a:p>
        </p:txBody>
      </p:sp>
    </p:spTree>
    <p:extLst>
      <p:ext uri="{BB962C8B-B14F-4D97-AF65-F5344CB8AC3E}">
        <p14:creationId xmlns:p14="http://schemas.microsoft.com/office/powerpoint/2010/main" val="426736942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9DA280F-9630-ABFA-AAFB-24781A910281}"/>
              </a:ext>
            </a:extLst>
          </p:cNvPr>
          <p:cNvSpPr>
            <a:spLocks noGrp="1"/>
          </p:cNvSpPr>
          <p:nvPr>
            <p:ph type="title"/>
          </p:nvPr>
        </p:nvSpPr>
        <p:spPr>
          <a:xfrm>
            <a:off x="1571105" y="642594"/>
            <a:ext cx="9554095" cy="1371600"/>
          </a:xfrm>
        </p:spPr>
        <p:txBody>
          <a:bodyPr>
            <a:normAutofit fontScale="90000"/>
          </a:bodyPr>
          <a:lstStyle/>
          <a:p>
            <a:r>
              <a:rPr lang="he-IL" dirty="0"/>
              <a:t>המשך - דוגמא הלכה </a:t>
            </a:r>
            <a:r>
              <a:rPr lang="he-IL" dirty="0" smtClean="0"/>
              <a:t>למעשה – דרך שניה</a:t>
            </a:r>
            <a:endParaRPr lang="he-IL" dirty="0"/>
          </a:p>
        </p:txBody>
      </p:sp>
      <p:sp>
        <p:nvSpPr>
          <p:cNvPr id="3" name="מציין מיקום תוכן 2">
            <a:extLst>
              <a:ext uri="{FF2B5EF4-FFF2-40B4-BE49-F238E27FC236}">
                <a16:creationId xmlns:a16="http://schemas.microsoft.com/office/drawing/2014/main" id="{4ADCAB7A-0D81-400D-439C-BD7B11C9EF55}"/>
              </a:ext>
            </a:extLst>
          </p:cNvPr>
          <p:cNvSpPr>
            <a:spLocks noGrp="1"/>
          </p:cNvSpPr>
          <p:nvPr>
            <p:ph idx="1"/>
          </p:nvPr>
        </p:nvSpPr>
        <p:spPr>
          <a:xfrm>
            <a:off x="325120" y="2103120"/>
            <a:ext cx="10800080" cy="3931920"/>
          </a:xfrm>
        </p:spPr>
        <p:txBody>
          <a:bodyPr/>
          <a:lstStyle/>
          <a:p>
            <a:r>
              <a:rPr lang="he-IL" dirty="0"/>
              <a:t>הסבר על השורה: </a:t>
            </a:r>
            <a:r>
              <a:rPr lang="da-DK" dirty="0"/>
              <a:t>b = 7 * 8^5 (mod 11) = 7 * 32768 (mod 11) = 7 * 10 (mod 11) = 70 (mod 11) = 4</a:t>
            </a:r>
            <a:endParaRPr lang="he-IL" dirty="0"/>
          </a:p>
          <a:p>
            <a:r>
              <a:rPr lang="he-IL" dirty="0"/>
              <a:t> </a:t>
            </a:r>
            <a:r>
              <a:rPr lang="en-US" dirty="0"/>
              <a:t>:</a:t>
            </a:r>
            <a:r>
              <a:rPr lang="en-US" b="1" dirty="0"/>
              <a:t>b = 7 * 8^5 (mod 11)</a:t>
            </a:r>
            <a:r>
              <a:rPr lang="en-US" dirty="0"/>
              <a:t> .1</a:t>
            </a:r>
            <a:r>
              <a:rPr lang="he-IL" dirty="0"/>
              <a:t> זה אומר שאנחנו מחפשים את הערך של </a:t>
            </a:r>
            <a:r>
              <a:rPr lang="en-US" dirty="0"/>
              <a:t>b </a:t>
            </a:r>
            <a:r>
              <a:rPr lang="he-IL" dirty="0"/>
              <a:t> הביטוי בצד ימין של המשוואה הוא הביטוי שנחשב כדי למצוא את </a:t>
            </a:r>
            <a:r>
              <a:rPr lang="en-US" dirty="0"/>
              <a:t>b</a:t>
            </a:r>
            <a:r>
              <a:rPr lang="he-IL" dirty="0"/>
              <a:t>.</a:t>
            </a:r>
          </a:p>
          <a:p>
            <a:r>
              <a:rPr lang="he-IL" b="1" dirty="0"/>
              <a:t>7</a:t>
            </a:r>
            <a:r>
              <a:rPr lang="en-US" b="1" dirty="0"/>
              <a:t> </a:t>
            </a:r>
            <a:r>
              <a:rPr lang="he-IL" b="1" dirty="0"/>
              <a:t> * 8^5:</a:t>
            </a:r>
            <a:r>
              <a:rPr lang="he-IL" dirty="0"/>
              <a:t> זה פשוט אומר 7 כפול 8 בחזקת 5. 8 בחזקת 5 זה 8 * 8 * 8 * 8 * 8, ששווה ל-32768. אז יש לנו 7 כפול 32768.</a:t>
            </a:r>
          </a:p>
          <a:p>
            <a:r>
              <a:rPr lang="en-US" b="1" dirty="0"/>
              <a:t>(mod 11) .3</a:t>
            </a:r>
            <a:r>
              <a:rPr lang="en-US" dirty="0"/>
              <a:t> </a:t>
            </a:r>
            <a:r>
              <a:rPr lang="he-IL" dirty="0"/>
              <a:t>: זה אומר שאנחנו מתעניינים בשארית שתתקבל כאשר נחלק את התוצאה (7 * 32768) ב-11.</a:t>
            </a:r>
          </a:p>
          <a:p>
            <a:r>
              <a:rPr lang="en-US" b="1" dirty="0"/>
              <a:t>7 * 32768 (mod 11) .4</a:t>
            </a:r>
            <a:r>
              <a:rPr lang="en-US" dirty="0"/>
              <a:t> </a:t>
            </a:r>
            <a:r>
              <a:rPr lang="he-IL" dirty="0"/>
              <a:t>: עכשיו נחשב את זה. 7 כפול 32768 שווה ל-229376.</a:t>
            </a:r>
          </a:p>
          <a:p>
            <a:r>
              <a:rPr lang="en-US" b="1" dirty="0"/>
              <a:t> :229376 (mod 11) .5</a:t>
            </a:r>
            <a:r>
              <a:rPr lang="en-US" dirty="0"/>
              <a:t> </a:t>
            </a:r>
            <a:r>
              <a:rPr lang="he-IL" dirty="0"/>
              <a:t>כאן אנחנו מחפשים את השארית של 229376 כשמחלקים ב-11. אפשר לעשות חילוק ארוך או להשתמש במחשבון. התוצאה היא 20852 ושארית 4.</a:t>
            </a:r>
          </a:p>
          <a:p>
            <a:endParaRPr lang="he-IL" dirty="0"/>
          </a:p>
        </p:txBody>
      </p:sp>
    </p:spTree>
    <p:extLst>
      <p:ext uri="{BB962C8B-B14F-4D97-AF65-F5344CB8AC3E}">
        <p14:creationId xmlns:p14="http://schemas.microsoft.com/office/powerpoint/2010/main" val="242466842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E7102A8-69BC-F731-FEFA-B5BE59D87E16}"/>
              </a:ext>
            </a:extLst>
          </p:cNvPr>
          <p:cNvSpPr>
            <a:spLocks noGrp="1"/>
          </p:cNvSpPr>
          <p:nvPr>
            <p:ph type="title"/>
          </p:nvPr>
        </p:nvSpPr>
        <p:spPr>
          <a:xfrm>
            <a:off x="3667760" y="642594"/>
            <a:ext cx="7457440" cy="1371600"/>
          </a:xfrm>
        </p:spPr>
        <p:txBody>
          <a:bodyPr/>
          <a:lstStyle/>
          <a:p>
            <a:r>
              <a:rPr lang="he-IL" dirty="0"/>
              <a:t>המשך - דוגמא הלכה למעשה</a:t>
            </a:r>
          </a:p>
        </p:txBody>
      </p:sp>
      <p:sp>
        <p:nvSpPr>
          <p:cNvPr id="3" name="מציין מיקום תוכן 2">
            <a:extLst>
              <a:ext uri="{FF2B5EF4-FFF2-40B4-BE49-F238E27FC236}">
                <a16:creationId xmlns:a16="http://schemas.microsoft.com/office/drawing/2014/main" id="{92F26F10-606D-723A-AEDB-C9831B2F90ED}"/>
              </a:ext>
            </a:extLst>
          </p:cNvPr>
          <p:cNvSpPr>
            <a:spLocks noGrp="1"/>
          </p:cNvSpPr>
          <p:nvPr>
            <p:ph idx="1"/>
          </p:nvPr>
        </p:nvSpPr>
        <p:spPr>
          <a:xfrm>
            <a:off x="162560" y="2103120"/>
            <a:ext cx="12029440" cy="3931920"/>
          </a:xfrm>
        </p:spPr>
        <p:txBody>
          <a:bodyPr/>
          <a:lstStyle/>
          <a:p>
            <a:r>
              <a:rPr lang="he-IL" b="1" dirty="0"/>
              <a:t>פענוח:</a:t>
            </a:r>
            <a:endParaRPr lang="he-IL" dirty="0"/>
          </a:p>
          <a:p>
            <a:pPr>
              <a:buFont typeface="Arial" panose="020B0604020202020204" pitchFamily="34" charset="0"/>
              <a:buChar char="•"/>
            </a:pPr>
            <a:r>
              <a:rPr lang="en-US" dirty="0"/>
              <a:t>m = 4 * 10^(-3) (mod 11) = 4 * </a:t>
            </a:r>
            <a:r>
              <a:rPr lang="en-US" dirty="0" smtClean="0"/>
              <a:t>10^8 </a:t>
            </a:r>
            <a:r>
              <a:rPr lang="en-US" dirty="0"/>
              <a:t>(mod 11) = 4 * 100000000 (mod 11) = 4 * 10 (mod 11) = 40 (mod 11) = 7</a:t>
            </a:r>
          </a:p>
          <a:p>
            <a:pPr>
              <a:buFont typeface="Arial" panose="020B0604020202020204" pitchFamily="34" charset="0"/>
              <a:buChar char="•"/>
            </a:pPr>
            <a:r>
              <a:rPr lang="da-DK" dirty="0"/>
              <a:t>m = 4 * 10^(-3) (mod 11)</a:t>
            </a:r>
            <a:r>
              <a:rPr lang="he-IL" dirty="0"/>
              <a:t>:</a:t>
            </a:r>
          </a:p>
          <a:p>
            <a:pPr>
              <a:buFont typeface="Arial" panose="020B0604020202020204" pitchFamily="34" charset="0"/>
              <a:buChar char="•"/>
            </a:pPr>
            <a:r>
              <a:rPr lang="en-US" dirty="0"/>
              <a:t>m </a:t>
            </a:r>
            <a:r>
              <a:rPr lang="he-IL" dirty="0"/>
              <a:t> מייצג את ההודעה המקורית שאנו מנסים לפענח.</a:t>
            </a:r>
          </a:p>
          <a:p>
            <a:pPr>
              <a:buFont typeface="Arial" panose="020B0604020202020204" pitchFamily="34" charset="0"/>
              <a:buChar char="•"/>
            </a:pPr>
            <a:r>
              <a:rPr lang="he-IL" dirty="0"/>
              <a:t>4 הוא חלק מההודעה המוצפנת.</a:t>
            </a:r>
          </a:p>
          <a:p>
            <a:pPr>
              <a:buFont typeface="Arial" panose="020B0604020202020204" pitchFamily="34" charset="0"/>
              <a:buChar char="•"/>
            </a:pPr>
            <a:r>
              <a:rPr lang="he-IL" dirty="0"/>
              <a:t>10 הוא בסיס החזקה.</a:t>
            </a:r>
          </a:p>
          <a:p>
            <a:pPr>
              <a:buFont typeface="Arial" panose="020B0604020202020204" pitchFamily="34" charset="0"/>
              <a:buChar char="•"/>
            </a:pPr>
            <a:r>
              <a:rPr lang="he-IL" dirty="0"/>
              <a:t>-3 היא החזקה השלילית.</a:t>
            </a:r>
          </a:p>
          <a:p>
            <a:pPr>
              <a:buFont typeface="Arial" panose="020B0604020202020204" pitchFamily="34" charset="0"/>
              <a:buChar char="•"/>
            </a:pPr>
            <a:r>
              <a:rPr lang="en-US" dirty="0"/>
              <a:t> (mod 11) </a:t>
            </a:r>
            <a:r>
              <a:rPr lang="he-IL" dirty="0"/>
              <a:t>אומר שאנו עובדים בחשבון </a:t>
            </a:r>
            <a:r>
              <a:rPr lang="he-IL" dirty="0" err="1"/>
              <a:t>מודולו</a:t>
            </a:r>
            <a:r>
              <a:rPr lang="he-IL" dirty="0"/>
              <a:t> 11, כלומר, אנו מתעניינים בשארית לאחר חילוק ב-11.</a:t>
            </a:r>
          </a:p>
          <a:p>
            <a:pPr>
              <a:buFont typeface="Arial" panose="020B0604020202020204" pitchFamily="34" charset="0"/>
              <a:buChar char="•"/>
            </a:pPr>
            <a:r>
              <a:rPr lang="he-IL" dirty="0"/>
              <a:t>חזקה שלילית פירושה 1 חלקי הבסיס בחזקה חיובית. לכן, 10 בחזקת -3 שווה ל-1 חלקי 10 בחזקת 3: 10^(-3) = 1 / 10^3</a:t>
            </a:r>
            <a:endParaRPr lang="en-US" dirty="0"/>
          </a:p>
          <a:p>
            <a:endParaRPr lang="he-IL" dirty="0"/>
          </a:p>
        </p:txBody>
      </p:sp>
    </p:spTree>
    <p:extLst>
      <p:ext uri="{BB962C8B-B14F-4D97-AF65-F5344CB8AC3E}">
        <p14:creationId xmlns:p14="http://schemas.microsoft.com/office/powerpoint/2010/main" val="344453137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6D60B21-63E3-84A0-5B0A-C31D93275EB1}"/>
              </a:ext>
            </a:extLst>
          </p:cNvPr>
          <p:cNvSpPr>
            <a:spLocks noGrp="1"/>
          </p:cNvSpPr>
          <p:nvPr>
            <p:ph type="title"/>
          </p:nvPr>
        </p:nvSpPr>
        <p:spPr>
          <a:xfrm>
            <a:off x="3820160" y="0"/>
            <a:ext cx="7305040" cy="1371600"/>
          </a:xfrm>
        </p:spPr>
        <p:txBody>
          <a:bodyPr/>
          <a:lstStyle/>
          <a:p>
            <a:r>
              <a:rPr lang="he-IL" dirty="0"/>
              <a:t>המשך - דוגמא הלכה למעשה</a:t>
            </a:r>
          </a:p>
        </p:txBody>
      </p:sp>
      <p:sp>
        <p:nvSpPr>
          <p:cNvPr id="3" name="מציין מיקום תוכן 2">
            <a:extLst>
              <a:ext uri="{FF2B5EF4-FFF2-40B4-BE49-F238E27FC236}">
                <a16:creationId xmlns:a16="http://schemas.microsoft.com/office/drawing/2014/main" id="{B7D1EC8A-43D8-A85A-D27C-65A89B93BA19}"/>
              </a:ext>
            </a:extLst>
          </p:cNvPr>
          <p:cNvSpPr>
            <a:spLocks noGrp="1"/>
          </p:cNvSpPr>
          <p:nvPr>
            <p:ph idx="1"/>
          </p:nvPr>
        </p:nvSpPr>
        <p:spPr>
          <a:xfrm>
            <a:off x="0" y="944880"/>
            <a:ext cx="12011891" cy="5648960"/>
          </a:xfrm>
        </p:spPr>
        <p:txBody>
          <a:bodyPr>
            <a:normAutofit fontScale="92500" lnSpcReduction="20000"/>
          </a:bodyPr>
          <a:lstStyle/>
          <a:p>
            <a:r>
              <a:rPr lang="he-IL" dirty="0"/>
              <a:t>אך אנו עובדים </a:t>
            </a:r>
            <a:r>
              <a:rPr lang="he-IL" dirty="0" err="1"/>
              <a:t>במודולו</a:t>
            </a:r>
            <a:r>
              <a:rPr lang="he-IL" dirty="0"/>
              <a:t> 11. כדי למצוא את ההופכי הכפלי של 10 </a:t>
            </a:r>
            <a:r>
              <a:rPr lang="en-US" dirty="0"/>
              <a:t> (mod 11) </a:t>
            </a:r>
            <a:r>
              <a:rPr lang="he-IL" dirty="0"/>
              <a:t>נשתמש בעובדה ש-10  * 10 ≡ 100 ≡ 1 </a:t>
            </a:r>
            <a:r>
              <a:rPr lang="en-US" dirty="0"/>
              <a:t>(mod 11) </a:t>
            </a:r>
            <a:r>
              <a:rPr lang="he-IL" dirty="0"/>
              <a:t> לכן, ההופכי הכפלי של 10 הוא 10. אז, 10^(-3)</a:t>
            </a:r>
            <a:r>
              <a:rPr lang="en-US" dirty="0"/>
              <a:t> (mod 11) </a:t>
            </a:r>
            <a:r>
              <a:rPr lang="he-IL" dirty="0"/>
              <a:t>שקול </a:t>
            </a:r>
            <a:r>
              <a:rPr lang="he-IL" dirty="0" smtClean="0"/>
              <a:t>ל-10^8 </a:t>
            </a:r>
            <a:r>
              <a:rPr lang="en-US" dirty="0"/>
              <a:t>(mod 11</a:t>
            </a:r>
            <a:r>
              <a:rPr lang="en-US" dirty="0" smtClean="0"/>
              <a:t>)</a:t>
            </a:r>
            <a:endParaRPr lang="he-IL" dirty="0" smtClean="0"/>
          </a:p>
          <a:p>
            <a:r>
              <a:rPr lang="he-IL" dirty="0" smtClean="0"/>
              <a:t>{כלומר</a:t>
            </a:r>
            <a:r>
              <a:rPr lang="he-IL" dirty="0"/>
              <a:t>: אנחנו מחפשים מספר שאם נכפיל אותו ב- 10 נקבל שארית 1 חלוקה ב- 11 המשוואה היא</a:t>
            </a:r>
            <a:r>
              <a:rPr lang="he-IL" dirty="0" smtClean="0"/>
              <a:t>: </a:t>
            </a:r>
            <a:r>
              <a:rPr lang="en-US" dirty="0" smtClean="0"/>
              <a:t>10 x</a:t>
            </a:r>
            <a:r>
              <a:rPr lang="he-IL" dirty="0" smtClean="0"/>
              <a:t> ≡</a:t>
            </a:r>
            <a:r>
              <a:rPr lang="en-US" dirty="0" smtClean="0"/>
              <a:t> 1(mod11) </a:t>
            </a:r>
            <a:r>
              <a:rPr lang="he-IL" dirty="0" smtClean="0"/>
              <a:t>, ובגלל ש </a:t>
            </a:r>
            <a:r>
              <a:rPr lang="en-US" dirty="0" smtClean="0"/>
              <a:t>10X10 </a:t>
            </a:r>
            <a:r>
              <a:rPr lang="he-IL" dirty="0" smtClean="0"/>
              <a:t>שווה ל100 ואם נחלק 100 ב11 נקבל 9 עם שארית 1. לכן הביטוי הזה 100 </a:t>
            </a:r>
            <a:r>
              <a:rPr lang="he-IL" dirty="0"/>
              <a:t>≡ 1 </a:t>
            </a:r>
            <a:r>
              <a:rPr lang="en-US" dirty="0"/>
              <a:t>(mod 11) </a:t>
            </a:r>
            <a:r>
              <a:rPr lang="he-IL" dirty="0" smtClean="0"/>
              <a:t>. ומיכון ש- </a:t>
            </a:r>
            <a:r>
              <a:rPr lang="en-US" dirty="0" smtClean="0"/>
              <a:t>10X10</a:t>
            </a:r>
            <a:r>
              <a:rPr lang="he-IL" dirty="0" smtClean="0"/>
              <a:t> נותן שארית 1 במקרה שלנו אז ההופכי של 10 הוא 10. ולכן </a:t>
            </a:r>
            <a:r>
              <a:rPr lang="he-IL" dirty="0"/>
              <a:t>יש כאן טריק של "חזקות שליליות". במתמטיקה </a:t>
            </a:r>
            <a:r>
              <a:rPr lang="he-IL" dirty="0" smtClean="0"/>
              <a:t>רגילה </a:t>
            </a:r>
            <a:r>
              <a:rPr lang="en-US" dirty="0" smtClean="0"/>
              <a:t>10^-3</a:t>
            </a:r>
            <a:r>
              <a:rPr lang="he-IL" dirty="0"/>
              <a:t> זה 0.001 אבל בהצפנה אין שברים. משתמשים ב</a:t>
            </a:r>
            <a:r>
              <a:rPr lang="he-IL" b="1" dirty="0"/>
              <a:t>משפט פרמה</a:t>
            </a:r>
            <a:r>
              <a:rPr lang="he-IL" dirty="0"/>
              <a:t> כדי להפוך את החזקה השלילית </a:t>
            </a:r>
            <a:r>
              <a:rPr lang="he-IL" dirty="0" smtClean="0"/>
              <a:t>לחיובית היינו מוסיפים ל 3- עוד 10 וזה הופך ל-7 וחסר לנו עדין 1 לקבל 8 בחזקה ולכן הביטו למטה.}</a:t>
            </a:r>
            <a:endParaRPr lang="en-US" dirty="0" smtClean="0"/>
          </a:p>
          <a:p>
            <a:r>
              <a:rPr lang="he-IL" dirty="0" smtClean="0"/>
              <a:t>לכן, המשוואה הופכת להיות:</a:t>
            </a:r>
            <a:endParaRPr lang="en-US" dirty="0" smtClean="0"/>
          </a:p>
          <a:p>
            <a:r>
              <a:rPr lang="da-DK" dirty="0" smtClean="0"/>
              <a:t>m </a:t>
            </a:r>
            <a:r>
              <a:rPr lang="da-DK" dirty="0"/>
              <a:t>= 4 * </a:t>
            </a:r>
            <a:r>
              <a:rPr lang="da-DK" dirty="0" smtClean="0"/>
              <a:t>10^8 </a:t>
            </a:r>
            <a:r>
              <a:rPr lang="da-DK" dirty="0"/>
              <a:t>(mod 11)</a:t>
            </a:r>
            <a:endParaRPr lang="he-IL" dirty="0"/>
          </a:p>
          <a:p>
            <a:r>
              <a:rPr lang="he-IL" dirty="0"/>
              <a:t>הסבר מפורט:</a:t>
            </a:r>
          </a:p>
          <a:p>
            <a:r>
              <a:rPr lang="en-US" b="1" dirty="0"/>
              <a:t>m = 4 * 10^(-3) (mod 11) .1</a:t>
            </a:r>
            <a:r>
              <a:rPr lang="he-IL" b="1" dirty="0"/>
              <a:t>:</a:t>
            </a:r>
            <a:endParaRPr lang="en-US" dirty="0"/>
          </a:p>
          <a:p>
            <a:r>
              <a:rPr lang="he-IL" dirty="0"/>
              <a:t>זהו תרגיל חשבוני בשיטת </a:t>
            </a:r>
            <a:r>
              <a:rPr lang="he-IL" dirty="0" err="1"/>
              <a:t>מודולו</a:t>
            </a:r>
            <a:r>
              <a:rPr lang="he-IL" dirty="0"/>
              <a:t> 11.</a:t>
            </a:r>
          </a:p>
          <a:p>
            <a:r>
              <a:rPr lang="he-IL" dirty="0"/>
              <a:t>הביטוי 10^(3-) שקול ל- 1 חלקי 10 בחזקת 3, כלומר 1/1000.</a:t>
            </a:r>
          </a:p>
          <a:p>
            <a:r>
              <a:rPr lang="he-IL" dirty="0"/>
              <a:t>בחשבון מודולרי, אנחנו מחפשים את המספר החיובי הקטן ביותר שהוא שקול לתוצאה.</a:t>
            </a:r>
          </a:p>
          <a:p>
            <a:r>
              <a:rPr lang="en-US" b="1" dirty="0"/>
              <a:t>= 4 * 10^8 (mod 11) .2</a:t>
            </a:r>
            <a:endParaRPr lang="en-US" dirty="0"/>
          </a:p>
          <a:p>
            <a:r>
              <a:rPr lang="he-IL" dirty="0"/>
              <a:t>כאן החליפו את 10^(3</a:t>
            </a:r>
            <a:r>
              <a:rPr lang="en-US" dirty="0"/>
              <a:t>-</a:t>
            </a:r>
            <a:r>
              <a:rPr lang="he-IL" dirty="0"/>
              <a:t>) ב- </a:t>
            </a:r>
            <a:r>
              <a:rPr lang="he-IL" dirty="0" smtClean="0"/>
              <a:t>10^8. </a:t>
            </a:r>
            <a:r>
              <a:rPr lang="he-IL" dirty="0"/>
              <a:t>למה זה נכון?</a:t>
            </a:r>
          </a:p>
          <a:p>
            <a:r>
              <a:rPr lang="he-IL" dirty="0"/>
              <a:t>בחשבון מודולרי, כאשר עובדים עם מספרים שליליים בחזקה, אפשר להוסיף כפולות של המודול (במקרה הזה 11) לחזקה עד שמגיעים לחזקה חיובית.</a:t>
            </a:r>
          </a:p>
          <a:p>
            <a:r>
              <a:rPr lang="he-IL" dirty="0">
                <a:solidFill>
                  <a:srgbClr val="FF0000"/>
                </a:solidFill>
              </a:rPr>
              <a:t>במקרה הזה, (3</a:t>
            </a:r>
            <a:r>
              <a:rPr lang="en-US" dirty="0">
                <a:solidFill>
                  <a:srgbClr val="FF0000"/>
                </a:solidFill>
              </a:rPr>
              <a:t>(-</a:t>
            </a:r>
            <a:r>
              <a:rPr lang="he-IL" dirty="0">
                <a:solidFill>
                  <a:srgbClr val="FF0000"/>
                </a:solidFill>
              </a:rPr>
              <a:t> + 11 = 8. לכן, 10^(3</a:t>
            </a:r>
            <a:r>
              <a:rPr lang="en-US" dirty="0">
                <a:solidFill>
                  <a:srgbClr val="FF0000"/>
                </a:solidFill>
              </a:rPr>
              <a:t>-</a:t>
            </a:r>
            <a:r>
              <a:rPr lang="he-IL" dirty="0">
                <a:solidFill>
                  <a:srgbClr val="FF0000"/>
                </a:solidFill>
              </a:rPr>
              <a:t>) שקול ל- 10^</a:t>
            </a:r>
            <a:r>
              <a:rPr lang="en-US" dirty="0">
                <a:solidFill>
                  <a:srgbClr val="FF0000"/>
                </a:solidFill>
              </a:rPr>
              <a:t> </a:t>
            </a:r>
            <a:r>
              <a:rPr lang="he-IL" dirty="0">
                <a:solidFill>
                  <a:srgbClr val="FF0000"/>
                </a:solidFill>
              </a:rPr>
              <a:t>8</a:t>
            </a:r>
            <a:r>
              <a:rPr lang="en-US" dirty="0">
                <a:solidFill>
                  <a:srgbClr val="FF0000"/>
                </a:solidFill>
              </a:rPr>
              <a:t> (mod 11)</a:t>
            </a:r>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238200305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857104" y="642594"/>
            <a:ext cx="7268095" cy="1371600"/>
          </a:xfrm>
        </p:spPr>
        <p:txBody>
          <a:bodyPr/>
          <a:lstStyle/>
          <a:p>
            <a:r>
              <a:rPr lang="he-IL" dirty="0"/>
              <a:t>המשך - דוגמא הלכה למעשה</a:t>
            </a:r>
          </a:p>
        </p:txBody>
      </p:sp>
      <p:sp>
        <p:nvSpPr>
          <p:cNvPr id="3" name="מציין מיקום תוכן 2"/>
          <p:cNvSpPr>
            <a:spLocks noGrp="1"/>
          </p:cNvSpPr>
          <p:nvPr>
            <p:ph idx="1"/>
          </p:nvPr>
        </p:nvSpPr>
        <p:spPr>
          <a:xfrm>
            <a:off x="1066800" y="2103120"/>
            <a:ext cx="10058400" cy="4389120"/>
          </a:xfrm>
        </p:spPr>
        <p:txBody>
          <a:bodyPr>
            <a:normAutofit fontScale="92500" lnSpcReduction="10000"/>
          </a:bodyPr>
          <a:lstStyle/>
          <a:p>
            <a:r>
              <a:rPr lang="he-IL" dirty="0"/>
              <a:t>3. </a:t>
            </a:r>
            <a:r>
              <a:rPr lang="en-US" b="1" dirty="0"/>
              <a:t>= 4 * 100000000 (mod 11)</a:t>
            </a:r>
            <a:endParaRPr lang="en-US" dirty="0"/>
          </a:p>
          <a:p>
            <a:r>
              <a:rPr lang="he-IL" dirty="0"/>
              <a:t>פשוט חישבו את 10 בחזקת 8 וקיבלו 100,000,000.</a:t>
            </a:r>
          </a:p>
          <a:p>
            <a:r>
              <a:rPr lang="he-IL" dirty="0"/>
              <a:t>4. </a:t>
            </a:r>
            <a:r>
              <a:rPr lang="en-US" b="1" dirty="0"/>
              <a:t>= 4 * 10 (mod 11)</a:t>
            </a:r>
            <a:endParaRPr lang="en-US" dirty="0"/>
          </a:p>
          <a:p>
            <a:r>
              <a:rPr lang="he-IL" dirty="0"/>
              <a:t>כאן חישבו את השארית של 100,000,000 </a:t>
            </a:r>
            <a:r>
              <a:rPr lang="en-US" dirty="0"/>
              <a:t>mod 11)</a:t>
            </a:r>
            <a:r>
              <a:rPr lang="he-IL" dirty="0"/>
              <a:t>).</a:t>
            </a:r>
            <a:endParaRPr lang="en-US" dirty="0"/>
          </a:p>
          <a:p>
            <a:r>
              <a:rPr lang="en-US" dirty="0"/>
              <a:t>100,000,000 / 11 = 9090909.0909</a:t>
            </a:r>
          </a:p>
          <a:p>
            <a:r>
              <a:rPr lang="he-IL" dirty="0"/>
              <a:t>השארית היא 10.</a:t>
            </a:r>
          </a:p>
          <a:p>
            <a:r>
              <a:rPr lang="he-IL" dirty="0"/>
              <a:t>5. </a:t>
            </a:r>
            <a:r>
              <a:rPr lang="en-US" b="1" dirty="0"/>
              <a:t>= 40 (mod 11)</a:t>
            </a:r>
            <a:endParaRPr lang="en-US" dirty="0"/>
          </a:p>
          <a:p>
            <a:r>
              <a:rPr lang="he-IL" dirty="0"/>
              <a:t>כפלו את 4 ב-10 וקיבלו 40.</a:t>
            </a:r>
          </a:p>
          <a:p>
            <a:r>
              <a:rPr lang="he-IL" dirty="0"/>
              <a:t>6. </a:t>
            </a:r>
            <a:r>
              <a:rPr lang="he-IL" b="1" dirty="0"/>
              <a:t>= 7</a:t>
            </a:r>
            <a:endParaRPr lang="he-IL" dirty="0"/>
          </a:p>
          <a:p>
            <a:r>
              <a:rPr lang="he-IL" dirty="0"/>
              <a:t>חישבו את השארית של 40 </a:t>
            </a:r>
            <a:r>
              <a:rPr lang="en-US" dirty="0"/>
              <a:t>mod 11)</a:t>
            </a:r>
            <a:r>
              <a:rPr lang="he-IL" dirty="0"/>
              <a:t>)</a:t>
            </a:r>
            <a:endParaRPr lang="en-US" dirty="0"/>
          </a:p>
          <a:p>
            <a:r>
              <a:rPr lang="en-US" dirty="0"/>
              <a:t>40 / 11 = 3.6363...</a:t>
            </a:r>
          </a:p>
          <a:p>
            <a:r>
              <a:rPr lang="he-IL" dirty="0"/>
              <a:t>השארית היא 7.</a:t>
            </a:r>
          </a:p>
          <a:p>
            <a:endParaRPr lang="he-IL" dirty="0"/>
          </a:p>
          <a:p>
            <a:endParaRPr lang="he-IL" dirty="0"/>
          </a:p>
          <a:p>
            <a:endParaRPr lang="he-IL" dirty="0"/>
          </a:p>
          <a:p>
            <a:pPr marL="0" indent="0">
              <a:buNone/>
            </a:pPr>
            <a:endParaRPr lang="he-IL" dirty="0"/>
          </a:p>
        </p:txBody>
      </p:sp>
    </p:spTree>
    <p:extLst>
      <p:ext uri="{BB962C8B-B14F-4D97-AF65-F5344CB8AC3E}">
        <p14:creationId xmlns:p14="http://schemas.microsoft.com/office/powerpoint/2010/main" val="246409912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60378" y="642594"/>
            <a:ext cx="1864822"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מהם שני המפתחות המשמשים בצופן אל </a:t>
            </a:r>
            <a:r>
              <a:rPr lang="he-IL" dirty="0" err="1"/>
              <a:t>גמאל</a:t>
            </a:r>
            <a:r>
              <a:rPr lang="he-IL" dirty="0"/>
              <a:t>, ומה תפקידו של כל אחד מהם?</a:t>
            </a:r>
          </a:p>
          <a:p>
            <a:r>
              <a:rPr lang="he-IL" dirty="0"/>
              <a:t>2. מה הבעיה המתמטית הקשה שעליה מבוסס ביטחון צופן אל </a:t>
            </a:r>
            <a:r>
              <a:rPr lang="he-IL" dirty="0" err="1"/>
              <a:t>גמאל</a:t>
            </a:r>
            <a:r>
              <a:rPr lang="he-IL" dirty="0"/>
              <a:t>?</a:t>
            </a:r>
          </a:p>
          <a:p>
            <a:r>
              <a:rPr lang="he-IL" dirty="0"/>
              <a:t>3. צופן אל </a:t>
            </a:r>
            <a:r>
              <a:rPr lang="he-IL" dirty="0" err="1"/>
              <a:t>גמאל</a:t>
            </a:r>
            <a:r>
              <a:rPr lang="he-IL" dirty="0"/>
              <a:t> משמש בעיקר להצפנה, אך הוא יכול לשמש גם למטרה נוספת. מהי?</a:t>
            </a:r>
          </a:p>
          <a:p>
            <a:r>
              <a:rPr lang="he-IL" dirty="0"/>
              <a:t>4. מהם שני הערכים המחושבים בתהליך ההצפנה בצופן אל </a:t>
            </a:r>
            <a:r>
              <a:rPr lang="he-IL" dirty="0" err="1"/>
              <a:t>גמאל</a:t>
            </a:r>
            <a:r>
              <a:rPr lang="he-IL" dirty="0"/>
              <a:t>?</a:t>
            </a:r>
          </a:p>
          <a:p>
            <a:r>
              <a:rPr lang="he-IL" dirty="0"/>
              <a:t>5. כיצד מתבצע תהליך הפענוח בצופן אל </a:t>
            </a:r>
            <a:r>
              <a:rPr lang="he-IL" dirty="0" err="1"/>
              <a:t>גמאל</a:t>
            </a:r>
            <a:r>
              <a:rPr lang="he-IL" dirty="0"/>
              <a:t>?</a:t>
            </a:r>
          </a:p>
          <a:p>
            <a:r>
              <a:rPr lang="he-IL" dirty="0"/>
              <a:t>6. מהם השימושים העיקריים של צופן אל </a:t>
            </a:r>
            <a:r>
              <a:rPr lang="he-IL" dirty="0" err="1"/>
              <a:t>גמאל</a:t>
            </a:r>
            <a:r>
              <a:rPr lang="he-IL" dirty="0"/>
              <a:t> כיום, ומהם האתגרים העומדים בפניו?</a:t>
            </a:r>
          </a:p>
          <a:p>
            <a:endParaRPr lang="he-IL" dirty="0"/>
          </a:p>
        </p:txBody>
      </p:sp>
    </p:spTree>
    <p:extLst>
      <p:ext uri="{BB962C8B-B14F-4D97-AF65-F5344CB8AC3E}">
        <p14:creationId xmlns:p14="http://schemas.microsoft.com/office/powerpoint/2010/main" val="3421877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27622" y="642594"/>
            <a:ext cx="2097578" cy="1371600"/>
          </a:xfrm>
        </p:spPr>
        <p:txBody>
          <a:bodyPr/>
          <a:lstStyle/>
          <a:p>
            <a:r>
              <a:rPr lang="he-IL" dirty="0"/>
              <a:t>תשובות</a:t>
            </a:r>
          </a:p>
        </p:txBody>
      </p:sp>
      <p:sp>
        <p:nvSpPr>
          <p:cNvPr id="3" name="מציין מיקום תוכן 2"/>
          <p:cNvSpPr>
            <a:spLocks noGrp="1"/>
          </p:cNvSpPr>
          <p:nvPr>
            <p:ph idx="1"/>
          </p:nvPr>
        </p:nvSpPr>
        <p:spPr/>
        <p:txBody>
          <a:bodyPr/>
          <a:lstStyle/>
          <a:p>
            <a:r>
              <a:rPr lang="he-IL" dirty="0"/>
              <a:t>1. </a:t>
            </a:r>
            <a:r>
              <a:rPr lang="he-IL" b="1" dirty="0"/>
              <a:t>מפתח ציבורי:</a:t>
            </a:r>
            <a:r>
              <a:rPr lang="he-IL" dirty="0"/>
              <a:t> משמש להצפנה. </a:t>
            </a:r>
            <a:r>
              <a:rPr lang="he-IL" b="1" dirty="0"/>
              <a:t>מפתח פרטי:</a:t>
            </a:r>
            <a:r>
              <a:rPr lang="he-IL" dirty="0"/>
              <a:t> משמש לפענוח.</a:t>
            </a:r>
          </a:p>
          <a:p>
            <a:r>
              <a:rPr lang="he-IL" dirty="0"/>
              <a:t>2. בעיית הלוגריתם הדיסקרטי.</a:t>
            </a:r>
          </a:p>
          <a:p>
            <a:r>
              <a:rPr lang="he-IL" dirty="0"/>
              <a:t>3. חתימה דיגיטלית.</a:t>
            </a:r>
          </a:p>
          <a:p>
            <a:r>
              <a:rPr lang="he-IL" dirty="0"/>
              <a:t>4. </a:t>
            </a:r>
            <a:r>
              <a:rPr lang="en-US" dirty="0"/>
              <a:t> a </a:t>
            </a:r>
            <a:r>
              <a:rPr lang="he-IL" dirty="0"/>
              <a:t>ו-</a:t>
            </a:r>
            <a:r>
              <a:rPr lang="en-US" dirty="0"/>
              <a:t>b </a:t>
            </a:r>
            <a:r>
              <a:rPr lang="he-IL" dirty="0"/>
              <a:t> </a:t>
            </a:r>
          </a:p>
          <a:p>
            <a:r>
              <a:rPr lang="he-IL" dirty="0"/>
              <a:t>5. על ידי שימוש במפתח הפרטי.</a:t>
            </a:r>
          </a:p>
          <a:p>
            <a:r>
              <a:rPr lang="he-IL" dirty="0"/>
              <a:t>6 . הצפנה וחתימה דיגיטלית. אתגרים: יעילות ופגיעות אפשרית למחשבים קוונטיים.</a:t>
            </a:r>
          </a:p>
        </p:txBody>
      </p:sp>
    </p:spTree>
    <p:extLst>
      <p:ext uri="{BB962C8B-B14F-4D97-AF65-F5344CB8AC3E}">
        <p14:creationId xmlns:p14="http://schemas.microsoft.com/office/powerpoint/2010/main" val="149057308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a:xfrm>
            <a:off x="1066800" y="2477192"/>
            <a:ext cx="10058400" cy="3931920"/>
          </a:xfrm>
        </p:spPr>
        <p:txBody>
          <a:bodyPr>
            <a:normAutofit/>
          </a:bodyPr>
          <a:lstStyle/>
          <a:p>
            <a:pPr algn="ctr"/>
            <a:r>
              <a:rPr lang="en-US" sz="6600" dirty="0"/>
              <a:t>NTRU</a:t>
            </a:r>
            <a:endParaRPr lang="he-IL" sz="6600" dirty="0"/>
          </a:p>
        </p:txBody>
      </p:sp>
    </p:spTree>
    <p:extLst>
      <p:ext uri="{BB962C8B-B14F-4D97-AF65-F5344CB8AC3E}">
        <p14:creationId xmlns:p14="http://schemas.microsoft.com/office/powerpoint/2010/main" val="291269698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168044" y="642594"/>
            <a:ext cx="4957156" cy="1371600"/>
          </a:xfrm>
        </p:spPr>
        <p:txBody>
          <a:bodyPr/>
          <a:lstStyle/>
          <a:p>
            <a:r>
              <a:rPr lang="he-IL" dirty="0"/>
              <a:t>מהי הצפנת </a:t>
            </a:r>
            <a:r>
              <a:rPr lang="en-US" dirty="0"/>
              <a:t>NTRU</a:t>
            </a:r>
            <a:r>
              <a:rPr lang="he-IL" dirty="0"/>
              <a:t>?</a:t>
            </a:r>
          </a:p>
        </p:txBody>
      </p:sp>
      <p:sp>
        <p:nvSpPr>
          <p:cNvPr id="3" name="מציין מיקום תוכן 2"/>
          <p:cNvSpPr>
            <a:spLocks noGrp="1"/>
          </p:cNvSpPr>
          <p:nvPr>
            <p:ph idx="1"/>
          </p:nvPr>
        </p:nvSpPr>
        <p:spPr/>
        <p:txBody>
          <a:bodyPr/>
          <a:lstStyle/>
          <a:p>
            <a:r>
              <a:rPr lang="en-US" b="1" dirty="0"/>
              <a:t> NTRU (</a:t>
            </a:r>
            <a:r>
              <a:rPr lang="en-US" b="1" dirty="0" err="1"/>
              <a:t>NTRUEncrypt</a:t>
            </a:r>
            <a:r>
              <a:rPr lang="en-US" b="1" dirty="0"/>
              <a:t>)</a:t>
            </a:r>
            <a:r>
              <a:rPr lang="he-IL" dirty="0"/>
              <a:t>היא שיטת הצפנה מבוססת סריגים</a:t>
            </a:r>
            <a:r>
              <a:rPr lang="en-US" b="1" dirty="0"/>
              <a:t>Lattice-Based Cryptography</a:t>
            </a:r>
            <a:r>
              <a:rPr lang="en-US" dirty="0"/>
              <a:t>) </a:t>
            </a:r>
            <a:r>
              <a:rPr lang="he-IL" dirty="0"/>
              <a:t>)</a:t>
            </a:r>
            <a:r>
              <a:rPr lang="en-US" dirty="0"/>
              <a:t/>
            </a:r>
            <a:br>
              <a:rPr lang="en-US" dirty="0"/>
            </a:br>
            <a:r>
              <a:rPr lang="he-IL" dirty="0"/>
              <a:t>היא נחשבת בטוחה גם מול מחשבים קוונטיים, ולכן מהווה אלטרנטיבה </a:t>
            </a:r>
            <a:r>
              <a:rPr lang="he-IL" dirty="0" err="1"/>
              <a:t>להצפנות</a:t>
            </a:r>
            <a:r>
              <a:rPr lang="he-IL" dirty="0"/>
              <a:t> כמו</a:t>
            </a:r>
            <a:r>
              <a:rPr lang="en-US" dirty="0"/>
              <a:t> </a:t>
            </a:r>
            <a:r>
              <a:rPr lang="en-US" b="1" dirty="0"/>
              <a:t>RSA</a:t>
            </a:r>
            <a:r>
              <a:rPr lang="en-US" dirty="0"/>
              <a:t> </a:t>
            </a:r>
            <a:r>
              <a:rPr lang="he-IL" dirty="0"/>
              <a:t>ו-</a:t>
            </a:r>
            <a:r>
              <a:rPr lang="en-US" b="1" dirty="0"/>
              <a:t>ECC</a:t>
            </a:r>
            <a:r>
              <a:rPr lang="en-US" dirty="0"/>
              <a:t> </a:t>
            </a:r>
          </a:p>
          <a:p>
            <a:r>
              <a:rPr lang="he-IL" b="1" dirty="0"/>
              <a:t>למה</a:t>
            </a:r>
            <a:r>
              <a:rPr lang="en-US" b="1" dirty="0"/>
              <a:t> NTRU </a:t>
            </a:r>
            <a:r>
              <a:rPr lang="he-IL" b="1" dirty="0"/>
              <a:t>שונה </a:t>
            </a:r>
            <a:r>
              <a:rPr lang="he-IL" b="1" dirty="0" err="1"/>
              <a:t>מהצפנות</a:t>
            </a:r>
            <a:r>
              <a:rPr lang="he-IL" b="1" dirty="0"/>
              <a:t> קלאסיות כמו </a:t>
            </a:r>
            <a:r>
              <a:rPr lang="en-US" b="1" dirty="0"/>
              <a:t>RSA</a:t>
            </a:r>
            <a:r>
              <a:rPr lang="he-IL" b="1" dirty="0"/>
              <a:t>?</a:t>
            </a:r>
            <a:endParaRPr lang="en-US" b="1" dirty="0"/>
          </a:p>
          <a:p>
            <a:r>
              <a:rPr lang="he-IL" b="1" dirty="0"/>
              <a:t>מהירות</a:t>
            </a:r>
            <a:r>
              <a:rPr lang="he-IL" dirty="0"/>
              <a:t> – אלגוריתם</a:t>
            </a:r>
            <a:r>
              <a:rPr lang="en-US" dirty="0"/>
              <a:t> NTRU </a:t>
            </a:r>
            <a:r>
              <a:rPr lang="he-IL" dirty="0"/>
              <a:t>מהיר יותר מ-</a:t>
            </a:r>
            <a:r>
              <a:rPr lang="en-US" dirty="0"/>
              <a:t> RSA </a:t>
            </a:r>
            <a:r>
              <a:rPr lang="he-IL" dirty="0"/>
              <a:t>גם בהצפנה וגם בפענוח.</a:t>
            </a:r>
          </a:p>
          <a:p>
            <a:r>
              <a:rPr lang="he-IL" dirty="0"/>
              <a:t/>
            </a:r>
            <a:br>
              <a:rPr lang="he-IL" dirty="0"/>
            </a:br>
            <a:r>
              <a:rPr lang="he-IL" b="1" dirty="0"/>
              <a:t>עמידות בפני מחשוב קוונטי</a:t>
            </a:r>
            <a:r>
              <a:rPr lang="he-IL" dirty="0"/>
              <a:t> – בשונה מ-</a:t>
            </a:r>
            <a:r>
              <a:rPr lang="en-US" dirty="0"/>
              <a:t> RSA </a:t>
            </a:r>
            <a:r>
              <a:rPr lang="he-IL" dirty="0"/>
              <a:t>ו-</a:t>
            </a:r>
            <a:r>
              <a:rPr lang="en-US" dirty="0"/>
              <a:t> ECC </a:t>
            </a:r>
            <a:r>
              <a:rPr lang="he-IL" dirty="0"/>
              <a:t>הצפנה זו בטוחה מפני התקפות קוונטיות.</a:t>
            </a:r>
          </a:p>
          <a:p>
            <a:r>
              <a:rPr lang="he-IL" dirty="0"/>
              <a:t/>
            </a:r>
            <a:br>
              <a:rPr lang="he-IL" dirty="0"/>
            </a:br>
            <a:r>
              <a:rPr lang="he-IL" b="1" dirty="0"/>
              <a:t>שימוש בפולינומים</a:t>
            </a:r>
            <a:r>
              <a:rPr lang="he-IL" dirty="0"/>
              <a:t> – במקום מספרים גדולים </a:t>
            </a:r>
            <a:r>
              <a:rPr lang="en-US" dirty="0"/>
              <a:t> NTRU</a:t>
            </a:r>
            <a:r>
              <a:rPr lang="he-IL" dirty="0"/>
              <a:t>משתמש בפולינומים עם חישובים מודולריים.</a:t>
            </a:r>
          </a:p>
          <a:p>
            <a:endParaRPr lang="he-IL" dirty="0"/>
          </a:p>
        </p:txBody>
      </p:sp>
    </p:spTree>
    <p:extLst>
      <p:ext uri="{BB962C8B-B14F-4D97-AF65-F5344CB8AC3E}">
        <p14:creationId xmlns:p14="http://schemas.microsoft.com/office/powerpoint/2010/main" val="237011839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971010" y="642594"/>
            <a:ext cx="6154189" cy="1371600"/>
          </a:xfrm>
        </p:spPr>
        <p:txBody>
          <a:bodyPr/>
          <a:lstStyle/>
          <a:p>
            <a:r>
              <a:rPr lang="he-IL" dirty="0"/>
              <a:t>שלבי ההצפנה ב-</a:t>
            </a:r>
            <a:r>
              <a:rPr lang="en-US" dirty="0"/>
              <a:t>NTRU </a:t>
            </a:r>
            <a:r>
              <a:rPr lang="he-IL" dirty="0"/>
              <a:t> </a:t>
            </a:r>
          </a:p>
        </p:txBody>
      </p:sp>
      <p:sp>
        <p:nvSpPr>
          <p:cNvPr id="3" name="מציין מיקום תוכן 2"/>
          <p:cNvSpPr>
            <a:spLocks noGrp="1"/>
          </p:cNvSpPr>
          <p:nvPr>
            <p:ph idx="1"/>
          </p:nvPr>
        </p:nvSpPr>
        <p:spPr/>
        <p:txBody>
          <a:bodyPr/>
          <a:lstStyle/>
          <a:p>
            <a:r>
              <a:rPr lang="he-IL" dirty="0"/>
              <a:t>ההצפנה ב-</a:t>
            </a:r>
            <a:r>
              <a:rPr lang="en-US" dirty="0"/>
              <a:t> NTRU </a:t>
            </a:r>
            <a:r>
              <a:rPr lang="he-IL" dirty="0"/>
              <a:t>מבוססת על חישובים במערכת </a:t>
            </a:r>
            <a:r>
              <a:rPr lang="he-IL" dirty="0" err="1"/>
              <a:t>פולינומית</a:t>
            </a:r>
            <a:r>
              <a:rPr lang="he-IL" dirty="0"/>
              <a:t> מודולרית.</a:t>
            </a:r>
            <a:br>
              <a:rPr lang="he-IL" dirty="0"/>
            </a:br>
            <a:r>
              <a:rPr lang="he-IL" dirty="0"/>
              <a:t>נחלק את התהליך ל-3 שלבים:</a:t>
            </a:r>
          </a:p>
          <a:p>
            <a:endParaRPr lang="he-IL" dirty="0"/>
          </a:p>
          <a:p>
            <a:r>
              <a:rPr lang="he-IL" b="1" dirty="0"/>
              <a:t>1. יצירת מפתחות</a:t>
            </a:r>
          </a:p>
          <a:p>
            <a:endParaRPr lang="he-IL" dirty="0"/>
          </a:p>
          <a:p>
            <a:r>
              <a:rPr lang="he-IL" b="1" dirty="0"/>
              <a:t>2. הצפנת הודעה</a:t>
            </a:r>
          </a:p>
          <a:p>
            <a:endParaRPr lang="he-IL" dirty="0"/>
          </a:p>
          <a:p>
            <a:r>
              <a:rPr lang="he-IL" b="1" dirty="0"/>
              <a:t>3. פענוח הודעה</a:t>
            </a:r>
            <a:endParaRPr lang="he-IL" dirty="0"/>
          </a:p>
          <a:p>
            <a:endParaRPr lang="he-IL" dirty="0"/>
          </a:p>
        </p:txBody>
      </p:sp>
    </p:spTree>
    <p:extLst>
      <p:ext uri="{BB962C8B-B14F-4D97-AF65-F5344CB8AC3E}">
        <p14:creationId xmlns:p14="http://schemas.microsoft.com/office/powerpoint/2010/main" val="289186903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062450" y="642594"/>
            <a:ext cx="6062749" cy="1371600"/>
          </a:xfrm>
        </p:spPr>
        <p:txBody>
          <a:bodyPr/>
          <a:lstStyle/>
          <a:p>
            <a:r>
              <a:rPr lang="he-IL" dirty="0"/>
              <a:t>שלבי ההצפנה ב-</a:t>
            </a:r>
            <a:r>
              <a:rPr lang="en-US" dirty="0"/>
              <a:t>NTRU</a:t>
            </a:r>
            <a:r>
              <a:rPr lang="he-IL" dirty="0"/>
              <a:t>:</a:t>
            </a:r>
          </a:p>
        </p:txBody>
      </p:sp>
      <p:sp>
        <p:nvSpPr>
          <p:cNvPr id="3" name="מציין מיקום תוכן 2"/>
          <p:cNvSpPr>
            <a:spLocks noGrp="1"/>
          </p:cNvSpPr>
          <p:nvPr>
            <p:ph idx="1"/>
          </p:nvPr>
        </p:nvSpPr>
        <p:spPr/>
        <p:txBody>
          <a:bodyPr>
            <a:normAutofit fontScale="92500" lnSpcReduction="10000"/>
          </a:bodyPr>
          <a:lstStyle/>
          <a:p>
            <a:r>
              <a:rPr lang="he-IL" b="1" dirty="0"/>
              <a:t>1. יצירת מפתחות:</a:t>
            </a:r>
            <a:endParaRPr lang="he-IL" dirty="0"/>
          </a:p>
          <a:p>
            <a:pPr lvl="1"/>
            <a:r>
              <a:rPr lang="he-IL" dirty="0"/>
              <a:t>בוחרים מספרים שלמים גדולים </a:t>
            </a:r>
            <a:r>
              <a:rPr lang="en-US" dirty="0"/>
              <a:t> N ,p </a:t>
            </a:r>
            <a:r>
              <a:rPr lang="he-IL" dirty="0"/>
              <a:t>ו-</a:t>
            </a:r>
            <a:r>
              <a:rPr lang="en-US" dirty="0"/>
              <a:t>q </a:t>
            </a:r>
            <a:r>
              <a:rPr lang="he-IL" dirty="0"/>
              <a:t>.</a:t>
            </a:r>
            <a:endParaRPr lang="en-US" dirty="0"/>
          </a:p>
          <a:p>
            <a:pPr lvl="1"/>
            <a:r>
              <a:rPr lang="he-IL" dirty="0"/>
              <a:t>יוצרים שני פולינומים</a:t>
            </a:r>
            <a:r>
              <a:rPr lang="en-US" dirty="0"/>
              <a:t>f </a:t>
            </a:r>
            <a:r>
              <a:rPr lang="he-IL" dirty="0"/>
              <a:t> ו-</a:t>
            </a:r>
            <a:r>
              <a:rPr lang="en-US" dirty="0"/>
              <a:t>g </a:t>
            </a:r>
            <a:r>
              <a:rPr lang="he-IL" dirty="0"/>
              <a:t> עם מקדמים קטנים.</a:t>
            </a:r>
          </a:p>
          <a:p>
            <a:pPr lvl="1"/>
            <a:r>
              <a:rPr lang="he-IL" dirty="0"/>
              <a:t>מחשבים את הפולינום </a:t>
            </a:r>
            <a:r>
              <a:rPr lang="en-US" dirty="0"/>
              <a:t>h = (p * f * g) / q</a:t>
            </a:r>
            <a:r>
              <a:rPr lang="he-IL" dirty="0"/>
              <a:t>.</a:t>
            </a:r>
            <a:endParaRPr lang="en-US" dirty="0"/>
          </a:p>
          <a:p>
            <a:pPr lvl="1"/>
            <a:r>
              <a:rPr lang="he-IL" dirty="0"/>
              <a:t>המפתח הציבורי הוא </a:t>
            </a:r>
            <a:r>
              <a:rPr lang="en-US" dirty="0"/>
              <a:t>N, p, q, h)</a:t>
            </a:r>
            <a:r>
              <a:rPr lang="he-IL" dirty="0"/>
              <a:t>)</a:t>
            </a:r>
            <a:endParaRPr lang="en-US" dirty="0"/>
          </a:p>
          <a:p>
            <a:pPr lvl="1"/>
            <a:r>
              <a:rPr lang="he-IL" dirty="0"/>
              <a:t>המפתח הפרטי הוא </a:t>
            </a:r>
            <a:r>
              <a:rPr lang="en-US" dirty="0"/>
              <a:t>f, g)</a:t>
            </a:r>
            <a:r>
              <a:rPr lang="he-IL" dirty="0"/>
              <a:t>)</a:t>
            </a:r>
            <a:endParaRPr lang="en-US" dirty="0"/>
          </a:p>
          <a:p>
            <a:r>
              <a:rPr lang="he-IL" b="1" dirty="0"/>
              <a:t>2. הצפנה:</a:t>
            </a:r>
            <a:endParaRPr lang="he-IL" dirty="0"/>
          </a:p>
          <a:p>
            <a:pPr lvl="1"/>
            <a:r>
              <a:rPr lang="he-IL" dirty="0"/>
              <a:t>כדי להצפין הודעה </a:t>
            </a:r>
            <a:r>
              <a:rPr lang="en-US" dirty="0"/>
              <a:t> ,m</a:t>
            </a:r>
            <a:r>
              <a:rPr lang="he-IL" dirty="0"/>
              <a:t>בוחרים פולינום אקראי </a:t>
            </a:r>
            <a:r>
              <a:rPr lang="en-US" dirty="0"/>
              <a:t>r </a:t>
            </a:r>
            <a:r>
              <a:rPr lang="he-IL" dirty="0"/>
              <a:t>עם מקדמים קטנים.</a:t>
            </a:r>
          </a:p>
          <a:p>
            <a:pPr lvl="1"/>
            <a:r>
              <a:rPr lang="he-IL" dirty="0"/>
              <a:t>מחשבים את הפולינום </a:t>
            </a:r>
            <a:r>
              <a:rPr lang="en-US" dirty="0"/>
              <a:t>c = (p * r * h + m) mod q</a:t>
            </a:r>
            <a:r>
              <a:rPr lang="he-IL" dirty="0"/>
              <a:t>.</a:t>
            </a:r>
            <a:endParaRPr lang="en-US" dirty="0"/>
          </a:p>
          <a:p>
            <a:pPr lvl="1"/>
            <a:r>
              <a:rPr lang="he-IL" dirty="0"/>
              <a:t>הטקסט המוצפן הוא </a:t>
            </a:r>
            <a:r>
              <a:rPr lang="en-US" dirty="0"/>
              <a:t>c</a:t>
            </a:r>
            <a:r>
              <a:rPr lang="he-IL" dirty="0"/>
              <a:t>.</a:t>
            </a:r>
            <a:endParaRPr lang="en-US" dirty="0"/>
          </a:p>
          <a:p>
            <a:r>
              <a:rPr lang="he-IL" b="1" dirty="0"/>
              <a:t>3. פענוח:</a:t>
            </a:r>
            <a:endParaRPr lang="he-IL" dirty="0"/>
          </a:p>
          <a:p>
            <a:pPr lvl="1"/>
            <a:r>
              <a:rPr lang="he-IL" dirty="0"/>
              <a:t>כדי לפענח את הטקסט המוצפן </a:t>
            </a:r>
            <a:r>
              <a:rPr lang="en-US" dirty="0"/>
              <a:t>c, </a:t>
            </a:r>
            <a:r>
              <a:rPr lang="he-IL" dirty="0"/>
              <a:t>מחשבים: </a:t>
            </a:r>
          </a:p>
          <a:p>
            <a:pPr lvl="2"/>
            <a:r>
              <a:rPr lang="en-US" dirty="0"/>
              <a:t>a = (f * c) mod q</a:t>
            </a:r>
          </a:p>
          <a:p>
            <a:pPr lvl="2"/>
            <a:r>
              <a:rPr lang="en-US" dirty="0"/>
              <a:t>m = (a * g) mod p</a:t>
            </a:r>
          </a:p>
          <a:p>
            <a:endParaRPr lang="he-IL" dirty="0"/>
          </a:p>
        </p:txBody>
      </p:sp>
    </p:spTree>
    <p:extLst>
      <p:ext uri="{BB962C8B-B14F-4D97-AF65-F5344CB8AC3E}">
        <p14:creationId xmlns:p14="http://schemas.microsoft.com/office/powerpoint/2010/main" val="165007741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410006" y="642594"/>
            <a:ext cx="1715193" cy="1371600"/>
          </a:xfrm>
        </p:spPr>
        <p:txBody>
          <a:bodyPr/>
          <a:lstStyle/>
          <a:p>
            <a:r>
              <a:rPr lang="he-IL" dirty="0"/>
              <a:t>דוגמא</a:t>
            </a:r>
          </a:p>
        </p:txBody>
      </p:sp>
      <p:sp>
        <p:nvSpPr>
          <p:cNvPr id="3" name="מציין מיקום תוכן 2"/>
          <p:cNvSpPr>
            <a:spLocks noGrp="1"/>
          </p:cNvSpPr>
          <p:nvPr>
            <p:ph idx="1"/>
          </p:nvPr>
        </p:nvSpPr>
        <p:spPr>
          <a:xfrm>
            <a:off x="1066800" y="2103119"/>
            <a:ext cx="10058400" cy="4463935"/>
          </a:xfrm>
        </p:spPr>
        <p:txBody>
          <a:bodyPr/>
          <a:lstStyle/>
          <a:p>
            <a:r>
              <a:rPr lang="he-IL" b="1" dirty="0"/>
              <a:t>1. פרמטרים:</a:t>
            </a:r>
            <a:endParaRPr lang="he-IL" dirty="0"/>
          </a:p>
          <a:p>
            <a:r>
              <a:rPr lang="en-US" dirty="0"/>
              <a:t>N = 7</a:t>
            </a:r>
          </a:p>
          <a:p>
            <a:r>
              <a:rPr lang="en-US" dirty="0"/>
              <a:t>p = 3</a:t>
            </a:r>
          </a:p>
          <a:p>
            <a:r>
              <a:rPr lang="en-US" dirty="0"/>
              <a:t>q = 32</a:t>
            </a:r>
          </a:p>
          <a:p>
            <a:r>
              <a:rPr lang="he-IL" b="1" dirty="0"/>
              <a:t>2. יצירת מפתחות:</a:t>
            </a:r>
            <a:endParaRPr lang="he-IL" dirty="0"/>
          </a:p>
          <a:p>
            <a:r>
              <a:rPr lang="he-IL" b="1" dirty="0"/>
              <a:t>בחירת </a:t>
            </a:r>
            <a:r>
              <a:rPr lang="en-US" b="1" dirty="0"/>
              <a:t>f </a:t>
            </a:r>
            <a:r>
              <a:rPr lang="he-IL" b="1" dirty="0"/>
              <a:t> ו- </a:t>
            </a:r>
            <a:r>
              <a:rPr lang="en-US" b="1" dirty="0"/>
              <a:t>g</a:t>
            </a:r>
            <a:r>
              <a:rPr lang="he-IL" b="1" dirty="0"/>
              <a:t>:</a:t>
            </a:r>
            <a:endParaRPr lang="en-US" dirty="0"/>
          </a:p>
          <a:p>
            <a:pPr lvl="1"/>
            <a:r>
              <a:rPr lang="en-US" dirty="0"/>
              <a:t>f = x^2 - 1</a:t>
            </a:r>
          </a:p>
          <a:p>
            <a:pPr lvl="1"/>
            <a:r>
              <a:rPr lang="en-US" dirty="0"/>
              <a:t>g = 2x + 1</a:t>
            </a:r>
          </a:p>
          <a:p>
            <a:r>
              <a:rPr lang="he-IL" b="1" dirty="0"/>
              <a:t>חישוב </a:t>
            </a:r>
            <a:r>
              <a:rPr lang="en-US" b="1" dirty="0"/>
              <a:t>h</a:t>
            </a:r>
            <a:r>
              <a:rPr lang="he-IL" b="1" dirty="0"/>
              <a:t>:</a:t>
            </a:r>
            <a:endParaRPr lang="en-US" dirty="0"/>
          </a:p>
          <a:p>
            <a:pPr lvl="1"/>
            <a:r>
              <a:rPr lang="en-US" dirty="0"/>
              <a:t>h = (p * f * g) / q = (3 * (x^2 - 1) * (2x + 1)) / 32 = (6x^3 + 3x^2 - 6x - 3) / 32</a:t>
            </a:r>
          </a:p>
          <a:p>
            <a:pPr lvl="1"/>
            <a:r>
              <a:rPr lang="he-IL" dirty="0"/>
              <a:t>לאחר חישוב </a:t>
            </a:r>
            <a:r>
              <a:rPr lang="he-IL" dirty="0" err="1"/>
              <a:t>מודולו</a:t>
            </a:r>
            <a:r>
              <a:rPr lang="he-IL" dirty="0"/>
              <a:t> 32, נקבל: </a:t>
            </a:r>
            <a:r>
              <a:rPr lang="en-US" dirty="0"/>
              <a:t>h = 10x^3 + 15x^2 + 26x + 29</a:t>
            </a:r>
            <a:endParaRPr lang="he-IL" dirty="0"/>
          </a:p>
          <a:p>
            <a:pPr lvl="1"/>
            <a:r>
              <a:rPr lang="he-IL" dirty="0"/>
              <a:t>הסבר שקופית הבאה..</a:t>
            </a:r>
            <a:endParaRPr lang="en-US" dirty="0"/>
          </a:p>
          <a:p>
            <a:endParaRPr lang="he-IL" dirty="0"/>
          </a:p>
        </p:txBody>
      </p:sp>
    </p:spTree>
    <p:extLst>
      <p:ext uri="{BB962C8B-B14F-4D97-AF65-F5344CB8AC3E}">
        <p14:creationId xmlns:p14="http://schemas.microsoft.com/office/powerpoint/2010/main" val="62411454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340138" y="642594"/>
            <a:ext cx="3785062" cy="1371600"/>
          </a:xfrm>
        </p:spPr>
        <p:txBody>
          <a:bodyPr/>
          <a:lstStyle/>
          <a:p>
            <a:r>
              <a:rPr lang="he-IL" dirty="0"/>
              <a:t>המשך - דוגמא</a:t>
            </a:r>
          </a:p>
        </p:txBody>
      </p:sp>
      <p:sp>
        <p:nvSpPr>
          <p:cNvPr id="3" name="מציין מיקום תוכן 2"/>
          <p:cNvSpPr>
            <a:spLocks noGrp="1"/>
          </p:cNvSpPr>
          <p:nvPr>
            <p:ph idx="1"/>
          </p:nvPr>
        </p:nvSpPr>
        <p:spPr/>
        <p:txBody>
          <a:bodyPr/>
          <a:lstStyle/>
          <a:p>
            <a:r>
              <a:rPr lang="he-IL" dirty="0"/>
              <a:t>במשוואה שלנו, </a:t>
            </a:r>
            <a:r>
              <a:rPr lang="en-US" dirty="0"/>
              <a:t> h = (6x^3 + 3x^2 - 6x - 3) / 32 </a:t>
            </a:r>
            <a:r>
              <a:rPr lang="he-IL" dirty="0"/>
              <a:t>עלינו למצוא את השארית של כל מקדם לאחר חילוק ב-32.</a:t>
            </a:r>
          </a:p>
          <a:p>
            <a:r>
              <a:rPr lang="en-US" b="1" dirty="0"/>
              <a:t> :mod 32 = 6 :</a:t>
            </a:r>
            <a:r>
              <a:rPr lang="en-US" dirty="0"/>
              <a:t> 6 </a:t>
            </a:r>
            <a:r>
              <a:rPr lang="he-IL" dirty="0"/>
              <a:t>קטן מ-32, ולכן השארית היא 6 עצמה.</a:t>
            </a:r>
          </a:p>
          <a:p>
            <a:r>
              <a:rPr lang="en-US" b="1" dirty="0"/>
              <a:t> :mod 32 = 3 :</a:t>
            </a:r>
            <a:r>
              <a:rPr lang="en-US" dirty="0"/>
              <a:t> 3 </a:t>
            </a:r>
            <a:r>
              <a:rPr lang="he-IL" dirty="0"/>
              <a:t>קטן מ-32, ולכן השארית היא 3 עצמה.</a:t>
            </a:r>
          </a:p>
          <a:p>
            <a:r>
              <a:rPr lang="he-IL" b="1" dirty="0"/>
              <a:t>6-</a:t>
            </a:r>
            <a:r>
              <a:rPr lang="en-US" b="1" dirty="0"/>
              <a:t>: mod 32 = 26</a:t>
            </a:r>
            <a:r>
              <a:rPr lang="en-US" dirty="0"/>
              <a:t> </a:t>
            </a:r>
            <a:r>
              <a:rPr lang="he-IL" dirty="0"/>
              <a:t>כאן אנו נתקלים במספר שלילי. כדי למצוא את השארית, אנו מוסיפים 32 למספר השלילי עד שנקבל מספר חיובי. במקרה זה, 6- + 32 = 26.</a:t>
            </a:r>
          </a:p>
          <a:p>
            <a:r>
              <a:rPr lang="he-IL" b="1" dirty="0"/>
              <a:t>3- </a:t>
            </a:r>
            <a:r>
              <a:rPr lang="en-US" b="1" dirty="0"/>
              <a:t> :mod 32 =  29:</a:t>
            </a:r>
            <a:r>
              <a:rPr lang="en-US" dirty="0"/>
              <a:t> </a:t>
            </a:r>
            <a:r>
              <a:rPr lang="he-IL" dirty="0"/>
              <a:t>כמו קודם, אנו מוסיפים 32 למספר השלילי: 3- + 32 = 29.</a:t>
            </a:r>
          </a:p>
          <a:p>
            <a:endParaRPr lang="he-IL" dirty="0"/>
          </a:p>
        </p:txBody>
      </p:sp>
    </p:spTree>
    <p:extLst>
      <p:ext uri="{BB962C8B-B14F-4D97-AF65-F5344CB8AC3E}">
        <p14:creationId xmlns:p14="http://schemas.microsoft.com/office/powerpoint/2010/main" val="357460252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315200" y="642594"/>
            <a:ext cx="3810000" cy="1371600"/>
          </a:xfrm>
        </p:spPr>
        <p:txBody>
          <a:bodyPr/>
          <a:lstStyle/>
          <a:p>
            <a:r>
              <a:rPr lang="he-IL" dirty="0"/>
              <a:t>המשך - דוגמא</a:t>
            </a:r>
          </a:p>
        </p:txBody>
      </p:sp>
      <p:sp>
        <p:nvSpPr>
          <p:cNvPr id="3" name="מציין מיקום תוכן 2"/>
          <p:cNvSpPr>
            <a:spLocks noGrp="1"/>
          </p:cNvSpPr>
          <p:nvPr>
            <p:ph idx="1"/>
          </p:nvPr>
        </p:nvSpPr>
        <p:spPr/>
        <p:txBody>
          <a:bodyPr/>
          <a:lstStyle/>
          <a:p>
            <a:r>
              <a:rPr lang="he-IL" b="1" dirty="0"/>
              <a:t>הצפנה:</a:t>
            </a:r>
            <a:endParaRPr lang="he-IL" dirty="0"/>
          </a:p>
          <a:p>
            <a:r>
              <a:rPr lang="he-IL" b="1" dirty="0"/>
              <a:t>1. בחירת </a:t>
            </a:r>
            <a:r>
              <a:rPr lang="en-US" b="1" dirty="0"/>
              <a:t>r</a:t>
            </a:r>
            <a:r>
              <a:rPr lang="he-IL" b="1" dirty="0"/>
              <a:t>:</a:t>
            </a:r>
            <a:endParaRPr lang="en-US" dirty="0"/>
          </a:p>
          <a:p>
            <a:pPr lvl="1"/>
            <a:r>
              <a:rPr lang="en-US" dirty="0"/>
              <a:t>r = x + 1</a:t>
            </a:r>
          </a:p>
          <a:p>
            <a:r>
              <a:rPr lang="he-IL" b="1" dirty="0"/>
              <a:t>2. חישוב </a:t>
            </a:r>
            <a:r>
              <a:rPr lang="en-US" b="1" dirty="0"/>
              <a:t>c</a:t>
            </a:r>
            <a:r>
              <a:rPr lang="he-IL" b="1" dirty="0"/>
              <a:t>:</a:t>
            </a:r>
            <a:endParaRPr lang="en-US" dirty="0"/>
          </a:p>
          <a:p>
            <a:pPr lvl="1"/>
            <a:r>
              <a:rPr lang="en-US" dirty="0"/>
              <a:t> m = x^2</a:t>
            </a:r>
            <a:r>
              <a:rPr lang="he-IL" dirty="0"/>
              <a:t>(ההודעה שלנו)</a:t>
            </a:r>
          </a:p>
          <a:p>
            <a:pPr lvl="1"/>
            <a:r>
              <a:rPr lang="en-US" dirty="0"/>
              <a:t>c = (p * r * h + m) mod q = (3 * (x + 1) * (10x^3 + 15x^2 + 26x + 29) + x^2) mod 32</a:t>
            </a:r>
          </a:p>
          <a:p>
            <a:pPr lvl="1"/>
            <a:r>
              <a:rPr lang="he-IL" dirty="0"/>
              <a:t>לאחר חישוב </a:t>
            </a:r>
            <a:r>
              <a:rPr lang="he-IL" dirty="0" err="1"/>
              <a:t>מודולו</a:t>
            </a:r>
            <a:r>
              <a:rPr lang="he-IL" dirty="0"/>
              <a:t> 32, נקבל: </a:t>
            </a:r>
            <a:r>
              <a:rPr lang="en-US" dirty="0"/>
              <a:t>c = 2x^3 + 17x^2 + 15x + 2</a:t>
            </a:r>
          </a:p>
          <a:p>
            <a:endParaRPr lang="he-IL" dirty="0"/>
          </a:p>
        </p:txBody>
      </p:sp>
    </p:spTree>
    <p:extLst>
      <p:ext uri="{BB962C8B-B14F-4D97-AF65-F5344CB8AC3E}">
        <p14:creationId xmlns:p14="http://schemas.microsoft.com/office/powerpoint/2010/main" val="20692201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373388" y="642594"/>
            <a:ext cx="3751811" cy="1371600"/>
          </a:xfrm>
        </p:spPr>
        <p:txBody>
          <a:bodyPr/>
          <a:lstStyle/>
          <a:p>
            <a:r>
              <a:rPr lang="he-IL" dirty="0"/>
              <a:t>המשך - דוגמא</a:t>
            </a:r>
          </a:p>
        </p:txBody>
      </p:sp>
      <p:sp>
        <p:nvSpPr>
          <p:cNvPr id="3" name="מציין מיקום תוכן 2"/>
          <p:cNvSpPr>
            <a:spLocks noGrp="1"/>
          </p:cNvSpPr>
          <p:nvPr>
            <p:ph idx="1"/>
          </p:nvPr>
        </p:nvSpPr>
        <p:spPr/>
        <p:txBody>
          <a:bodyPr/>
          <a:lstStyle/>
          <a:p>
            <a:r>
              <a:rPr lang="he-IL" b="1" dirty="0"/>
              <a:t>בואו נפשט את זה:</a:t>
            </a:r>
            <a:endParaRPr lang="he-IL" dirty="0"/>
          </a:p>
          <a:p>
            <a:r>
              <a:rPr lang="he-IL" b="1" dirty="0"/>
              <a:t>1. נפתח את הסוגריים:</a:t>
            </a:r>
            <a:endParaRPr lang="he-IL" dirty="0"/>
          </a:p>
          <a:p>
            <a:pPr lvl="1"/>
            <a:r>
              <a:rPr lang="en-US" dirty="0"/>
              <a:t>x + 1) * (10x^3 + 15x^2 + 26x + 29) = 10x^4 + 25x^3 + 41x^2 + 55x + 29</a:t>
            </a:r>
            <a:r>
              <a:rPr lang="he-IL" dirty="0"/>
              <a:t>)</a:t>
            </a:r>
            <a:endParaRPr lang="en-US" dirty="0"/>
          </a:p>
          <a:p>
            <a:r>
              <a:rPr lang="he-IL" b="1" dirty="0"/>
              <a:t>2. נכפיל ב-3:</a:t>
            </a:r>
            <a:endParaRPr lang="he-IL" dirty="0"/>
          </a:p>
          <a:p>
            <a:pPr lvl="1"/>
            <a:r>
              <a:rPr lang="he-IL" dirty="0"/>
              <a:t>3 * 10</a:t>
            </a:r>
            <a:r>
              <a:rPr lang="en-US" dirty="0"/>
              <a:t>x^4 + 25x^3 + 41x^2 + 55x + 29) = 30x^4 + 75x^3 + 123x^2 + 165x + 87</a:t>
            </a:r>
            <a:r>
              <a:rPr lang="he-IL" dirty="0"/>
              <a:t>)</a:t>
            </a:r>
            <a:endParaRPr lang="en-US" dirty="0"/>
          </a:p>
          <a:p>
            <a:r>
              <a:rPr lang="he-IL" b="1" dirty="0"/>
              <a:t>3. נוסיף </a:t>
            </a:r>
            <a:r>
              <a:rPr lang="en-US" b="1" dirty="0"/>
              <a:t>x^2</a:t>
            </a:r>
            <a:r>
              <a:rPr lang="he-IL" b="1" dirty="0"/>
              <a:t>:</a:t>
            </a:r>
            <a:endParaRPr lang="en-US" dirty="0"/>
          </a:p>
          <a:p>
            <a:pPr lvl="1"/>
            <a:r>
              <a:rPr lang="en-US" dirty="0"/>
              <a:t>30x^4 + 75x^3 + 123x^2 + 165x + 87 + x^2 = 30x^4 + 75x^3 + 124x^2 + 165x + 87</a:t>
            </a:r>
          </a:p>
          <a:p>
            <a:endParaRPr lang="he-IL" dirty="0"/>
          </a:p>
        </p:txBody>
      </p:sp>
    </p:spTree>
    <p:extLst>
      <p:ext uri="{BB962C8B-B14F-4D97-AF65-F5344CB8AC3E}">
        <p14:creationId xmlns:p14="http://schemas.microsoft.com/office/powerpoint/2010/main" val="133736682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165570" y="642594"/>
            <a:ext cx="3959629" cy="1371600"/>
          </a:xfrm>
        </p:spPr>
        <p:txBody>
          <a:bodyPr/>
          <a:lstStyle/>
          <a:p>
            <a:r>
              <a:rPr lang="he-IL" dirty="0"/>
              <a:t>המשך  - דוגמא</a:t>
            </a:r>
          </a:p>
        </p:txBody>
      </p:sp>
      <p:sp>
        <p:nvSpPr>
          <p:cNvPr id="3" name="מציין מיקום תוכן 2"/>
          <p:cNvSpPr>
            <a:spLocks noGrp="1"/>
          </p:cNvSpPr>
          <p:nvPr>
            <p:ph idx="1"/>
          </p:nvPr>
        </p:nvSpPr>
        <p:spPr>
          <a:xfrm>
            <a:off x="1066800" y="2103120"/>
            <a:ext cx="10058400" cy="4347556"/>
          </a:xfrm>
        </p:spPr>
        <p:txBody>
          <a:bodyPr>
            <a:normAutofit fontScale="92500" lnSpcReduction="20000"/>
          </a:bodyPr>
          <a:lstStyle/>
          <a:p>
            <a:r>
              <a:rPr lang="he-IL" b="1" dirty="0"/>
              <a:t>ניקח את השארית </a:t>
            </a:r>
            <a:r>
              <a:rPr lang="he-IL" b="1" dirty="0" err="1"/>
              <a:t>מודולו</a:t>
            </a:r>
            <a:r>
              <a:rPr lang="he-IL" b="1" dirty="0"/>
              <a:t> 32:</a:t>
            </a:r>
            <a:endParaRPr lang="he-IL" dirty="0"/>
          </a:p>
          <a:p>
            <a:r>
              <a:rPr lang="he-IL" dirty="0"/>
              <a:t>לכל מקדם, נמצא את השארית לאחר חילוק ב-32: </a:t>
            </a:r>
          </a:p>
          <a:p>
            <a:pPr lvl="1"/>
            <a:r>
              <a:rPr lang="he-IL" dirty="0"/>
              <a:t>30 </a:t>
            </a:r>
            <a:r>
              <a:rPr lang="en-US" dirty="0"/>
              <a:t>mod 32 =</a:t>
            </a:r>
            <a:r>
              <a:rPr lang="he-IL" dirty="0"/>
              <a:t> </a:t>
            </a:r>
            <a:r>
              <a:rPr lang="en-US" dirty="0"/>
              <a:t>30</a:t>
            </a:r>
          </a:p>
          <a:p>
            <a:pPr lvl="1"/>
            <a:r>
              <a:rPr lang="en-US" dirty="0"/>
              <a:t>75 mod 32 = 11</a:t>
            </a:r>
          </a:p>
          <a:p>
            <a:pPr lvl="1"/>
            <a:r>
              <a:rPr lang="en-US" dirty="0"/>
              <a:t>124 mod 32 = 28</a:t>
            </a:r>
          </a:p>
          <a:p>
            <a:pPr lvl="1"/>
            <a:r>
              <a:rPr lang="en-US" dirty="0"/>
              <a:t>165 mod 32 = 5</a:t>
            </a:r>
          </a:p>
          <a:p>
            <a:pPr lvl="1"/>
            <a:r>
              <a:rPr lang="en-US" dirty="0"/>
              <a:t>87 mod 32 = 23</a:t>
            </a:r>
            <a:endParaRPr lang="he-IL" dirty="0"/>
          </a:p>
          <a:p>
            <a:r>
              <a:rPr lang="he-IL" dirty="0"/>
              <a:t>דמיינו שיש לנו שעון שמראה רק 32 שעות.</a:t>
            </a:r>
          </a:p>
          <a:p>
            <a:r>
              <a:rPr lang="he-IL" dirty="0"/>
              <a:t>אם השעה היא 30, אז השעה "</a:t>
            </a:r>
            <a:r>
              <a:rPr lang="he-IL" dirty="0" err="1"/>
              <a:t>האמיתית</a:t>
            </a:r>
            <a:r>
              <a:rPr lang="he-IL" dirty="0"/>
              <a:t>" היא 30, כי היא קטנה מ-32.</a:t>
            </a:r>
          </a:p>
          <a:p>
            <a:r>
              <a:rPr lang="he-IL" dirty="0"/>
              <a:t>אם השעה היא 75, אז השעה "</a:t>
            </a:r>
            <a:r>
              <a:rPr lang="he-IL" dirty="0" err="1"/>
              <a:t>האמיתית</a:t>
            </a:r>
            <a:r>
              <a:rPr lang="he-IL" dirty="0"/>
              <a:t>" היא 11, כי 75 - 32 - 32 = 11.</a:t>
            </a:r>
          </a:p>
          <a:p>
            <a:r>
              <a:rPr lang="he-IL" dirty="0"/>
              <a:t>אם השעה היא 124, אז השעה "</a:t>
            </a:r>
            <a:r>
              <a:rPr lang="he-IL" dirty="0" err="1"/>
              <a:t>האמיתית</a:t>
            </a:r>
            <a:r>
              <a:rPr lang="he-IL" dirty="0"/>
              <a:t>" היא 28, כי 124 - 32 - 32 - 32 - 32 = 28.</a:t>
            </a:r>
          </a:p>
          <a:p>
            <a:r>
              <a:rPr lang="he-IL" dirty="0"/>
              <a:t>אם השעה היא 165, אז השעה "</a:t>
            </a:r>
            <a:r>
              <a:rPr lang="he-IL" dirty="0" err="1"/>
              <a:t>האמיתית</a:t>
            </a:r>
            <a:r>
              <a:rPr lang="he-IL" dirty="0"/>
              <a:t>" היא 5, כי 165 - 32 - 32 - 32 - 32 - 32 = 5.</a:t>
            </a:r>
          </a:p>
          <a:p>
            <a:r>
              <a:rPr lang="he-IL" dirty="0"/>
              <a:t>אם השעה היא 87, אז השעה "</a:t>
            </a:r>
            <a:r>
              <a:rPr lang="he-IL" dirty="0" err="1"/>
              <a:t>האמיתית</a:t>
            </a:r>
            <a:r>
              <a:rPr lang="he-IL" dirty="0"/>
              <a:t>" היא 23, כי 87 - 32 - 32 - 32 = 23.</a:t>
            </a:r>
          </a:p>
          <a:p>
            <a:r>
              <a:rPr lang="en-US" dirty="0"/>
              <a:t>c = 30x^4 + 11x^3 + 28x^2 + 5x + 23   </a:t>
            </a:r>
            <a:r>
              <a:rPr lang="he-IL" dirty="0"/>
              <a:t> וזאת התוצאה </a:t>
            </a:r>
            <a:r>
              <a:rPr lang="en-US" dirty="0"/>
              <a:t> </a:t>
            </a:r>
            <a:endParaRPr lang="he-IL" dirty="0"/>
          </a:p>
          <a:p>
            <a:pPr lvl="1"/>
            <a:endParaRPr lang="en-US" dirty="0"/>
          </a:p>
          <a:p>
            <a:endParaRPr lang="he-IL" dirty="0"/>
          </a:p>
        </p:txBody>
      </p:sp>
    </p:spTree>
    <p:extLst>
      <p:ext uri="{BB962C8B-B14F-4D97-AF65-F5344CB8AC3E}">
        <p14:creationId xmlns:p14="http://schemas.microsoft.com/office/powerpoint/2010/main" val="405606037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340138" y="642594"/>
            <a:ext cx="3785062" cy="1371600"/>
          </a:xfrm>
        </p:spPr>
        <p:txBody>
          <a:bodyPr/>
          <a:lstStyle/>
          <a:p>
            <a:r>
              <a:rPr lang="he-IL" dirty="0"/>
              <a:t>המשך - דוגמא</a:t>
            </a:r>
          </a:p>
        </p:txBody>
      </p:sp>
      <p:sp>
        <p:nvSpPr>
          <p:cNvPr id="3" name="מציין מיקום תוכן 2"/>
          <p:cNvSpPr>
            <a:spLocks noGrp="1"/>
          </p:cNvSpPr>
          <p:nvPr>
            <p:ph idx="1"/>
          </p:nvPr>
        </p:nvSpPr>
        <p:spPr/>
        <p:txBody>
          <a:bodyPr/>
          <a:lstStyle/>
          <a:p>
            <a:r>
              <a:rPr lang="he-IL" b="1" dirty="0"/>
              <a:t>פענוח:</a:t>
            </a:r>
            <a:endParaRPr lang="he-IL" dirty="0"/>
          </a:p>
          <a:p>
            <a:r>
              <a:rPr lang="he-IL" b="1" dirty="0"/>
              <a:t>חישוב </a:t>
            </a:r>
            <a:r>
              <a:rPr lang="en-US" b="1" dirty="0"/>
              <a:t>a</a:t>
            </a:r>
            <a:r>
              <a:rPr lang="he-IL" b="1" dirty="0"/>
              <a:t>:</a:t>
            </a:r>
            <a:endParaRPr lang="en-US" dirty="0"/>
          </a:p>
          <a:p>
            <a:pPr lvl="1"/>
            <a:r>
              <a:rPr lang="en-US" dirty="0"/>
              <a:t>a = (f * c) mod q = ((x^2 - 1) * (2x^3 + 17x^2 + 15x + 2)) mod 32</a:t>
            </a:r>
          </a:p>
          <a:p>
            <a:pPr lvl="1"/>
            <a:r>
              <a:rPr lang="he-IL" dirty="0"/>
              <a:t>לאחר חישוב </a:t>
            </a:r>
            <a:r>
              <a:rPr lang="he-IL" dirty="0" err="1"/>
              <a:t>מודולו</a:t>
            </a:r>
            <a:r>
              <a:rPr lang="he-IL" dirty="0"/>
              <a:t> 32, נקבל: </a:t>
            </a:r>
            <a:r>
              <a:rPr lang="en-US" dirty="0"/>
              <a:t>a = 2x^3 + 15x^2 + 2x + 30</a:t>
            </a:r>
          </a:p>
          <a:p>
            <a:r>
              <a:rPr lang="he-IL" b="1" dirty="0"/>
              <a:t>חישוב </a:t>
            </a:r>
            <a:r>
              <a:rPr lang="en-US" b="1" dirty="0"/>
              <a:t>m</a:t>
            </a:r>
            <a:r>
              <a:rPr lang="he-IL" b="1" dirty="0"/>
              <a:t>:</a:t>
            </a:r>
            <a:endParaRPr lang="en-US" dirty="0"/>
          </a:p>
          <a:p>
            <a:pPr lvl="1"/>
            <a:r>
              <a:rPr lang="en-US" dirty="0"/>
              <a:t>m = (a * g) mod p = ((2x^3 + 15x^2 + 2x + 30) * (2x + 1)) mod 3</a:t>
            </a:r>
          </a:p>
          <a:p>
            <a:pPr lvl="1"/>
            <a:r>
              <a:rPr lang="he-IL" dirty="0"/>
              <a:t>לאחר חישוב </a:t>
            </a:r>
            <a:r>
              <a:rPr lang="he-IL" dirty="0" err="1"/>
              <a:t>מודולו</a:t>
            </a:r>
            <a:r>
              <a:rPr lang="he-IL" dirty="0"/>
              <a:t> 3, נקבל: </a:t>
            </a:r>
            <a:r>
              <a:rPr lang="en-US" dirty="0"/>
              <a:t>m = x^2</a:t>
            </a:r>
          </a:p>
          <a:p>
            <a:r>
              <a:rPr lang="he-IL" b="1" dirty="0"/>
              <a:t>תוצאה:</a:t>
            </a:r>
            <a:endParaRPr lang="he-IL" dirty="0"/>
          </a:p>
          <a:p>
            <a:r>
              <a:rPr lang="he-IL" dirty="0"/>
              <a:t>הצלחנו לפענח את ההודעה המקורית </a:t>
            </a:r>
            <a:r>
              <a:rPr lang="en-US" dirty="0"/>
              <a:t>m = x^2</a:t>
            </a:r>
            <a:r>
              <a:rPr lang="he-IL" dirty="0"/>
              <a:t>.</a:t>
            </a:r>
            <a:endParaRPr lang="en-US" dirty="0"/>
          </a:p>
        </p:txBody>
      </p:sp>
    </p:spTree>
    <p:extLst>
      <p:ext uri="{BB962C8B-B14F-4D97-AF65-F5344CB8AC3E}">
        <p14:creationId xmlns:p14="http://schemas.microsoft.com/office/powerpoint/2010/main" val="289792151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43752" y="642594"/>
            <a:ext cx="1881447"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על איזו בעיה מתמטית קשה מבוסס ביטחון צופן </a:t>
            </a:r>
            <a:r>
              <a:rPr lang="en-US" dirty="0"/>
              <a:t>NTRU</a:t>
            </a:r>
            <a:r>
              <a:rPr lang="he-IL" dirty="0"/>
              <a:t>?</a:t>
            </a:r>
          </a:p>
          <a:p>
            <a:r>
              <a:rPr lang="he-IL" dirty="0"/>
              <a:t>2. מהם שלושת הפרמטרים המרכזיים שקובעים את גודל המפתחות ורמת הביטחון בצופן </a:t>
            </a:r>
            <a:r>
              <a:rPr lang="en-US" dirty="0"/>
              <a:t>NTRU</a:t>
            </a:r>
            <a:r>
              <a:rPr lang="he-IL" dirty="0"/>
              <a:t>?</a:t>
            </a:r>
          </a:p>
          <a:p>
            <a:r>
              <a:rPr lang="he-IL" dirty="0"/>
              <a:t>3. מהם שני סוגי הפולינומים המשמשים ליצירת המפתח הפרטי בצופן </a:t>
            </a:r>
            <a:r>
              <a:rPr lang="en-US" dirty="0"/>
              <a:t>NTRU</a:t>
            </a:r>
            <a:r>
              <a:rPr lang="he-IL" dirty="0"/>
              <a:t>?</a:t>
            </a:r>
          </a:p>
          <a:p>
            <a:r>
              <a:rPr lang="he-IL" dirty="0"/>
              <a:t>4. מהו הפולינום המשמש ליצירת המפתח הציבורי בצופן </a:t>
            </a:r>
            <a:r>
              <a:rPr lang="en-US" dirty="0"/>
              <a:t>NTRU</a:t>
            </a:r>
            <a:r>
              <a:rPr lang="he-IL" dirty="0"/>
              <a:t>?</a:t>
            </a:r>
          </a:p>
          <a:p>
            <a:r>
              <a:rPr lang="he-IL" dirty="0"/>
              <a:t>5. הסבר את ההבדל בין מפתח ציבורי למפתח פרטי בצופן </a:t>
            </a:r>
            <a:r>
              <a:rPr lang="en-US" dirty="0"/>
              <a:t> NTRU</a:t>
            </a:r>
            <a:r>
              <a:rPr lang="he-IL" dirty="0"/>
              <a:t>ומה תפקידו של כל אחד מהם?</a:t>
            </a:r>
          </a:p>
          <a:p>
            <a:r>
              <a:rPr lang="he-IL" dirty="0"/>
              <a:t>6. מהם היתרונות של צופן</a:t>
            </a:r>
            <a:r>
              <a:rPr lang="en-US" dirty="0"/>
              <a:t> NTRU </a:t>
            </a:r>
            <a:r>
              <a:rPr lang="he-IL" dirty="0"/>
              <a:t>בהשוואה לצופן </a:t>
            </a:r>
            <a:r>
              <a:rPr lang="en-US" dirty="0"/>
              <a:t>RSA</a:t>
            </a:r>
            <a:r>
              <a:rPr lang="he-IL" dirty="0"/>
              <a:t>? </a:t>
            </a:r>
          </a:p>
          <a:p>
            <a:endParaRPr lang="he-IL" dirty="0"/>
          </a:p>
        </p:txBody>
      </p:sp>
    </p:spTree>
    <p:extLst>
      <p:ext uri="{BB962C8B-B14F-4D97-AF65-F5344CB8AC3E}">
        <p14:creationId xmlns:p14="http://schemas.microsoft.com/office/powerpoint/2010/main" val="202869551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10996" y="642594"/>
            <a:ext cx="2114204" cy="1371600"/>
          </a:xfrm>
        </p:spPr>
        <p:txBody>
          <a:bodyPr/>
          <a:lstStyle/>
          <a:p>
            <a:r>
              <a:rPr lang="he-IL" dirty="0"/>
              <a:t>תשובות</a:t>
            </a:r>
          </a:p>
        </p:txBody>
      </p:sp>
      <p:sp>
        <p:nvSpPr>
          <p:cNvPr id="3" name="מציין מיקום תוכן 2"/>
          <p:cNvSpPr>
            <a:spLocks noGrp="1"/>
          </p:cNvSpPr>
          <p:nvPr>
            <p:ph idx="1"/>
          </p:nvPr>
        </p:nvSpPr>
        <p:spPr/>
        <p:txBody>
          <a:bodyPr/>
          <a:lstStyle/>
          <a:p>
            <a:r>
              <a:rPr lang="he-IL" dirty="0"/>
              <a:t>1. בעיית הסריג הקרוב ביותר </a:t>
            </a:r>
            <a:r>
              <a:rPr lang="en-US" dirty="0"/>
              <a:t>Closest Vector Problem - CVP)</a:t>
            </a:r>
            <a:r>
              <a:rPr lang="he-IL" dirty="0"/>
              <a:t>)</a:t>
            </a:r>
          </a:p>
          <a:p>
            <a:r>
              <a:rPr lang="he-IL" dirty="0"/>
              <a:t>2. </a:t>
            </a:r>
            <a:r>
              <a:rPr lang="en-US" dirty="0"/>
              <a:t>N , p </a:t>
            </a:r>
            <a:r>
              <a:rPr lang="he-IL" dirty="0"/>
              <a:t> ו-</a:t>
            </a:r>
            <a:r>
              <a:rPr lang="en-US" dirty="0"/>
              <a:t>q </a:t>
            </a:r>
            <a:endParaRPr lang="he-IL" dirty="0"/>
          </a:p>
          <a:p>
            <a:r>
              <a:rPr lang="he-IL" dirty="0"/>
              <a:t>3. </a:t>
            </a:r>
            <a:r>
              <a:rPr lang="en-US" dirty="0"/>
              <a:t>f </a:t>
            </a:r>
            <a:r>
              <a:rPr lang="he-IL" dirty="0"/>
              <a:t> ו-</a:t>
            </a:r>
            <a:r>
              <a:rPr lang="en-US" dirty="0"/>
              <a:t>g </a:t>
            </a:r>
            <a:endParaRPr lang="he-IL" dirty="0"/>
          </a:p>
          <a:p>
            <a:r>
              <a:rPr lang="he-IL" dirty="0"/>
              <a:t>4. </a:t>
            </a:r>
            <a:r>
              <a:rPr lang="en-US" dirty="0"/>
              <a:t>h</a:t>
            </a:r>
            <a:r>
              <a:rPr lang="he-IL" dirty="0"/>
              <a:t>.</a:t>
            </a:r>
          </a:p>
          <a:p>
            <a:r>
              <a:rPr lang="he-IL" dirty="0"/>
              <a:t>5. המפתח הציבורי משמש להצפנת הודעות, והמפתח הפרטי משמש לפענוחן. המפתח הציבורי גלוי לכולם, בעוד שהמפתח הפרטי נשמר בסוד על ידי בעל המפתח.</a:t>
            </a:r>
          </a:p>
          <a:p>
            <a:r>
              <a:rPr lang="he-IL" dirty="0"/>
              <a:t>6. </a:t>
            </a:r>
            <a:r>
              <a:rPr lang="en-US" dirty="0"/>
              <a:t> NTRU</a:t>
            </a:r>
            <a:r>
              <a:rPr lang="he-IL" dirty="0"/>
              <a:t>נחשב לעמיד יותר בפני התקפות קוונטיות, יעיל יותר מבחינת מהירות הצפנה ופענוח, ובעל גודל מפתח קטן יותר.</a:t>
            </a:r>
          </a:p>
          <a:p>
            <a:endParaRPr lang="he-IL" dirty="0"/>
          </a:p>
        </p:txBody>
      </p:sp>
    </p:spTree>
    <p:extLst>
      <p:ext uri="{BB962C8B-B14F-4D97-AF65-F5344CB8AC3E}">
        <p14:creationId xmlns:p14="http://schemas.microsoft.com/office/powerpoint/2010/main" val="106912931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a:xfrm>
            <a:off x="1066800" y="2527069"/>
            <a:ext cx="10058400" cy="3931920"/>
          </a:xfrm>
        </p:spPr>
        <p:txBody>
          <a:bodyPr>
            <a:normAutofit/>
          </a:bodyPr>
          <a:lstStyle/>
          <a:p>
            <a:pPr algn="ctr"/>
            <a:r>
              <a:rPr lang="he-IL" sz="5400" dirty="0"/>
              <a:t>הצפנת רבין </a:t>
            </a:r>
          </a:p>
        </p:txBody>
      </p:sp>
    </p:spTree>
    <p:extLst>
      <p:ext uri="{BB962C8B-B14F-4D97-AF65-F5344CB8AC3E}">
        <p14:creationId xmlns:p14="http://schemas.microsoft.com/office/powerpoint/2010/main" val="341638309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634450" y="642594"/>
            <a:ext cx="1490749" cy="1371600"/>
          </a:xfrm>
        </p:spPr>
        <p:txBody>
          <a:bodyPr/>
          <a:lstStyle/>
          <a:p>
            <a:r>
              <a:rPr lang="he-IL" dirty="0"/>
              <a:t>מבוא</a:t>
            </a:r>
          </a:p>
        </p:txBody>
      </p:sp>
      <p:sp>
        <p:nvSpPr>
          <p:cNvPr id="3" name="מציין מיקום תוכן 2"/>
          <p:cNvSpPr>
            <a:spLocks noGrp="1"/>
          </p:cNvSpPr>
          <p:nvPr>
            <p:ph idx="1"/>
          </p:nvPr>
        </p:nvSpPr>
        <p:spPr/>
        <p:txBody>
          <a:bodyPr/>
          <a:lstStyle/>
          <a:p>
            <a:r>
              <a:rPr lang="he-IL" dirty="0"/>
              <a:t>הצפנת רבין היא מערכת הצפנה אסימטרית שהומצאה על ידי מיכאל רבין בשנת 1979. המערכת מבוססת על הקושי של בעיית שארית הריבוע המודולרית, מה שהופך אותה לאחת השיטות </a:t>
            </a:r>
            <a:r>
              <a:rPr lang="he-IL" dirty="0" err="1"/>
              <a:t>הקריפטוגרפיות</a:t>
            </a:r>
            <a:r>
              <a:rPr lang="he-IL" dirty="0"/>
              <a:t> הבטוחות מבחינה תאורטית.</a:t>
            </a:r>
          </a:p>
          <a:p>
            <a:r>
              <a:rPr lang="he-IL" dirty="0"/>
              <a:t>שלא כמו </a:t>
            </a:r>
            <a:r>
              <a:rPr lang="en-US" dirty="0"/>
              <a:t> RSA</a:t>
            </a:r>
            <a:r>
              <a:rPr lang="he-IL" dirty="0"/>
              <a:t>שהביטחון שלו תלוי בבעיית פירוק לגורמים (שהיא קשה אך לא בהכרח בלתי אפשרית לפתרון), הביטחון של הצפנת רבין מוכח מתמטית כלומר, אם ניתן לפענח את ההצפנה ביעילות, ניתן גם לפרק לגורמים מספרים שלמים גדולים, מה שנחשב לבעיה קשה מבחינה חישובית.</a:t>
            </a:r>
          </a:p>
          <a:p>
            <a:endParaRPr lang="he-IL" dirty="0"/>
          </a:p>
        </p:txBody>
      </p:sp>
    </p:spTree>
    <p:extLst>
      <p:ext uri="{BB962C8B-B14F-4D97-AF65-F5344CB8AC3E}">
        <p14:creationId xmlns:p14="http://schemas.microsoft.com/office/powerpoint/2010/main" val="6735907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675120" y="642594"/>
            <a:ext cx="4450080" cy="1371600"/>
          </a:xfrm>
        </p:spPr>
        <p:txBody>
          <a:bodyPr/>
          <a:lstStyle/>
          <a:p>
            <a:r>
              <a:rPr lang="he-IL" dirty="0"/>
              <a:t>עקרונות מרכזיים:</a:t>
            </a:r>
          </a:p>
        </p:txBody>
      </p:sp>
      <p:sp>
        <p:nvSpPr>
          <p:cNvPr id="3" name="מציין מיקום תוכן 2"/>
          <p:cNvSpPr>
            <a:spLocks noGrp="1"/>
          </p:cNvSpPr>
          <p:nvPr>
            <p:ph idx="1"/>
          </p:nvPr>
        </p:nvSpPr>
        <p:spPr/>
        <p:txBody>
          <a:bodyPr/>
          <a:lstStyle/>
          <a:p>
            <a:pPr marL="0" indent="0">
              <a:buNone/>
            </a:pPr>
            <a:endParaRPr lang="he-IL" dirty="0"/>
          </a:p>
          <a:p>
            <a:r>
              <a:rPr lang="he-IL" b="1" dirty="0"/>
              <a:t>הצפנה אסימטרית:</a:t>
            </a:r>
            <a:r>
              <a:rPr lang="he-IL" dirty="0"/>
              <a:t> צופן רבין משתמש בשני מפתחות שונים - מפתח ציבורי ומפתח פרטי. המפתח הציבורי משמש להצפנה, והמפתח הפרטי משמש לפענוח.</a:t>
            </a:r>
          </a:p>
          <a:p>
            <a:endParaRPr lang="he-IL" dirty="0"/>
          </a:p>
          <a:p>
            <a:r>
              <a:rPr lang="he-IL" b="1" dirty="0"/>
              <a:t>בעיית פירוק לגורמים:</a:t>
            </a:r>
            <a:r>
              <a:rPr lang="he-IL" dirty="0"/>
              <a:t> ביטחון הצופן מבוסס על הקושי שבפירוק מספרים גדולים לגורמים ראשוניים.</a:t>
            </a:r>
          </a:p>
          <a:p>
            <a:endParaRPr lang="he-IL" dirty="0"/>
          </a:p>
          <a:p>
            <a:r>
              <a:rPr lang="he-IL" b="1" dirty="0"/>
              <a:t>שורשים ריבועיים:</a:t>
            </a:r>
            <a:r>
              <a:rPr lang="he-IL" dirty="0"/>
              <a:t> תהליך הפענוח בצופן רבין כולל מציאת שורשים ריבועיים </a:t>
            </a:r>
            <a:r>
              <a:rPr lang="he-IL" dirty="0" err="1"/>
              <a:t>מודולו</a:t>
            </a:r>
            <a:r>
              <a:rPr lang="he-IL" dirty="0"/>
              <a:t> מספר פריק.</a:t>
            </a:r>
          </a:p>
          <a:p>
            <a:endParaRPr lang="he-IL" dirty="0"/>
          </a:p>
        </p:txBody>
      </p:sp>
    </p:spTree>
    <p:extLst>
      <p:ext uri="{BB962C8B-B14F-4D97-AF65-F5344CB8AC3E}">
        <p14:creationId xmlns:p14="http://schemas.microsoft.com/office/powerpoint/2010/main" val="394264647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065818" y="642594"/>
            <a:ext cx="4059382" cy="1371600"/>
          </a:xfrm>
        </p:spPr>
        <p:txBody>
          <a:bodyPr/>
          <a:lstStyle/>
          <a:p>
            <a:r>
              <a:rPr lang="he-IL" dirty="0"/>
              <a:t>התהליך שעברנו</a:t>
            </a:r>
          </a:p>
        </p:txBody>
      </p:sp>
      <p:sp>
        <p:nvSpPr>
          <p:cNvPr id="3" name="מציין מיקום תוכן 2"/>
          <p:cNvSpPr>
            <a:spLocks noGrp="1"/>
          </p:cNvSpPr>
          <p:nvPr>
            <p:ph idx="1"/>
          </p:nvPr>
        </p:nvSpPr>
        <p:spPr/>
        <p:txBody>
          <a:bodyPr>
            <a:normAutofit fontScale="92500" lnSpcReduction="20000"/>
          </a:bodyPr>
          <a:lstStyle/>
          <a:p>
            <a:r>
              <a:rPr lang="he-IL" b="1" dirty="0"/>
              <a:t>יצירת מפתחות:</a:t>
            </a:r>
            <a:endParaRPr lang="he-IL" dirty="0"/>
          </a:p>
          <a:p>
            <a:r>
              <a:rPr lang="he-IL" dirty="0"/>
              <a:t>בוחרים שני מספרים ראשוניים גדולים ואקראיים </a:t>
            </a:r>
            <a:r>
              <a:rPr lang="en-US" dirty="0"/>
              <a:t>p</a:t>
            </a:r>
            <a:r>
              <a:rPr lang="he-IL" dirty="0"/>
              <a:t> ו-</a:t>
            </a:r>
            <a:r>
              <a:rPr lang="en-US" dirty="0"/>
              <a:t>q </a:t>
            </a:r>
          </a:p>
          <a:p>
            <a:r>
              <a:rPr lang="he-IL" dirty="0"/>
              <a:t>מחשבים את </a:t>
            </a:r>
            <a:r>
              <a:rPr lang="en-US" dirty="0"/>
              <a:t>n = p * q</a:t>
            </a:r>
          </a:p>
          <a:p>
            <a:r>
              <a:rPr lang="he-IL" dirty="0"/>
              <a:t>המפתח הציבורי הוא </a:t>
            </a:r>
            <a:r>
              <a:rPr lang="en-US" dirty="0"/>
              <a:t>n.</a:t>
            </a:r>
          </a:p>
          <a:p>
            <a:r>
              <a:rPr lang="he-IL" dirty="0"/>
              <a:t>המפתח הפרטי הוא </a:t>
            </a:r>
            <a:r>
              <a:rPr lang="en-US" dirty="0"/>
              <a:t>p, q)</a:t>
            </a:r>
            <a:r>
              <a:rPr lang="he-IL" dirty="0"/>
              <a:t>)</a:t>
            </a:r>
            <a:endParaRPr lang="en-US" dirty="0"/>
          </a:p>
          <a:p>
            <a:r>
              <a:rPr lang="he-IL" b="1" dirty="0"/>
              <a:t>הצפנה:</a:t>
            </a:r>
            <a:endParaRPr lang="he-IL" dirty="0"/>
          </a:p>
          <a:p>
            <a:r>
              <a:rPr lang="he-IL" dirty="0"/>
              <a:t>כדי להצפין הודעה </a:t>
            </a:r>
            <a:r>
              <a:rPr lang="en-US" dirty="0"/>
              <a:t> m</a:t>
            </a:r>
            <a:r>
              <a:rPr lang="he-IL" dirty="0"/>
              <a:t>מחשבים את </a:t>
            </a:r>
            <a:r>
              <a:rPr lang="en-US" dirty="0"/>
              <a:t>c = m^2 mod n</a:t>
            </a:r>
          </a:p>
          <a:p>
            <a:r>
              <a:rPr lang="he-IL" dirty="0"/>
              <a:t>הטקסט המוצפן הוא </a:t>
            </a:r>
            <a:r>
              <a:rPr lang="en-US" dirty="0"/>
              <a:t>c</a:t>
            </a:r>
          </a:p>
          <a:p>
            <a:r>
              <a:rPr lang="he-IL" b="1" dirty="0"/>
              <a:t>פענוח:</a:t>
            </a:r>
            <a:endParaRPr lang="he-IL" dirty="0"/>
          </a:p>
          <a:p>
            <a:r>
              <a:rPr lang="he-IL" dirty="0"/>
              <a:t>כדי לפענח את הטקסט המוצפן </a:t>
            </a:r>
            <a:r>
              <a:rPr lang="en-US" dirty="0"/>
              <a:t> c</a:t>
            </a:r>
            <a:r>
              <a:rPr lang="he-IL" dirty="0"/>
              <a:t>יש למצוא את השורשים הריבועיים של </a:t>
            </a:r>
            <a:r>
              <a:rPr lang="en-US" dirty="0"/>
              <a:t>c</a:t>
            </a:r>
            <a:r>
              <a:rPr lang="he-IL" dirty="0"/>
              <a:t> </a:t>
            </a:r>
            <a:r>
              <a:rPr lang="he-IL" dirty="0" err="1"/>
              <a:t>מודולו</a:t>
            </a:r>
            <a:r>
              <a:rPr lang="he-IL" dirty="0"/>
              <a:t> </a:t>
            </a:r>
            <a:r>
              <a:rPr lang="en-US" dirty="0"/>
              <a:t>n</a:t>
            </a:r>
          </a:p>
          <a:p>
            <a:r>
              <a:rPr lang="he-IL" dirty="0"/>
              <a:t>בעזרת המפתח הפרטי</a:t>
            </a:r>
            <a:r>
              <a:rPr lang="en-US" dirty="0"/>
              <a:t>p, q) </a:t>
            </a:r>
            <a:r>
              <a:rPr lang="he-IL" dirty="0"/>
              <a:t>) ניתן למצוא ארבעה שורשים ריבועיים אפשריים.</a:t>
            </a:r>
          </a:p>
          <a:p>
            <a:r>
              <a:rPr lang="he-IL" dirty="0"/>
              <a:t>יש לבחור את השורש המתאים, שהוא ההודעה המקורית </a:t>
            </a:r>
            <a:r>
              <a:rPr lang="en-US" dirty="0"/>
              <a:t>m</a:t>
            </a:r>
          </a:p>
          <a:p>
            <a:endParaRPr lang="he-IL" dirty="0"/>
          </a:p>
        </p:txBody>
      </p:sp>
    </p:spTree>
    <p:extLst>
      <p:ext uri="{BB962C8B-B14F-4D97-AF65-F5344CB8AC3E}">
        <p14:creationId xmlns:p14="http://schemas.microsoft.com/office/powerpoint/2010/main" val="117267848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617825" y="634281"/>
            <a:ext cx="1814946" cy="1371600"/>
          </a:xfrm>
        </p:spPr>
        <p:txBody>
          <a:bodyPr/>
          <a:lstStyle/>
          <a:p>
            <a:r>
              <a:rPr lang="he-IL" dirty="0"/>
              <a:t>דוגמא</a:t>
            </a:r>
          </a:p>
        </p:txBody>
      </p:sp>
      <p:sp>
        <p:nvSpPr>
          <p:cNvPr id="3" name="מציין מיקום תוכן 2"/>
          <p:cNvSpPr>
            <a:spLocks noGrp="1"/>
          </p:cNvSpPr>
          <p:nvPr>
            <p:ph idx="1"/>
          </p:nvPr>
        </p:nvSpPr>
        <p:spPr/>
        <p:txBody>
          <a:bodyPr/>
          <a:lstStyle/>
          <a:p>
            <a:r>
              <a:rPr lang="he-IL" b="1" u="sng" dirty="0"/>
              <a:t>א. יצירת מפתחות:</a:t>
            </a:r>
            <a:endParaRPr lang="he-IL" u="sng" dirty="0"/>
          </a:p>
          <a:p>
            <a:r>
              <a:rPr lang="he-IL" b="1" dirty="0"/>
              <a:t>1. בחירת מספרים ראשוניים:</a:t>
            </a:r>
            <a:endParaRPr lang="he-IL" dirty="0"/>
          </a:p>
          <a:p>
            <a:pPr lvl="1"/>
            <a:r>
              <a:rPr lang="en-US" dirty="0"/>
              <a:t>p = 5</a:t>
            </a:r>
          </a:p>
          <a:p>
            <a:pPr lvl="1"/>
            <a:r>
              <a:rPr lang="en-US" dirty="0"/>
              <a:t>q = 11</a:t>
            </a:r>
          </a:p>
          <a:p>
            <a:r>
              <a:rPr lang="he-IL" b="1" dirty="0"/>
              <a:t>2. חישוב </a:t>
            </a:r>
            <a:r>
              <a:rPr lang="en-US" b="1" dirty="0"/>
              <a:t>n</a:t>
            </a:r>
            <a:endParaRPr lang="en-US" dirty="0"/>
          </a:p>
          <a:p>
            <a:pPr lvl="1"/>
            <a:r>
              <a:rPr lang="en-US" dirty="0"/>
              <a:t>n = p * q = 5 * 11 = 55</a:t>
            </a:r>
          </a:p>
          <a:p>
            <a:r>
              <a:rPr lang="he-IL" b="1" dirty="0"/>
              <a:t>המפתח הציבורי:</a:t>
            </a:r>
            <a:r>
              <a:rPr lang="he-IL" dirty="0"/>
              <a:t> </a:t>
            </a:r>
            <a:r>
              <a:rPr lang="en-US" dirty="0"/>
              <a:t>n = 55 </a:t>
            </a:r>
            <a:r>
              <a:rPr lang="he-IL" dirty="0"/>
              <a:t> </a:t>
            </a:r>
            <a:r>
              <a:rPr lang="he-IL" b="1" dirty="0"/>
              <a:t>המפתח הפרטי:</a:t>
            </a:r>
            <a:r>
              <a:rPr lang="he-IL" dirty="0"/>
              <a:t> </a:t>
            </a:r>
            <a:r>
              <a:rPr lang="en-US" dirty="0"/>
              <a:t>p, q) = (5, 11)</a:t>
            </a:r>
            <a:r>
              <a:rPr lang="he-IL" dirty="0"/>
              <a:t>)</a:t>
            </a:r>
            <a:endParaRPr lang="en-US" dirty="0"/>
          </a:p>
          <a:p>
            <a:endParaRPr lang="he-IL" dirty="0"/>
          </a:p>
        </p:txBody>
      </p:sp>
    </p:spTree>
    <p:extLst>
      <p:ext uri="{BB962C8B-B14F-4D97-AF65-F5344CB8AC3E}">
        <p14:creationId xmlns:p14="http://schemas.microsoft.com/office/powerpoint/2010/main" val="91253123"/>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273636" y="642594"/>
            <a:ext cx="3851564" cy="1371600"/>
          </a:xfrm>
        </p:spPr>
        <p:txBody>
          <a:bodyPr/>
          <a:lstStyle/>
          <a:p>
            <a:r>
              <a:rPr lang="he-IL" dirty="0"/>
              <a:t>המשך - דוגמא</a:t>
            </a:r>
          </a:p>
        </p:txBody>
      </p:sp>
      <p:sp>
        <p:nvSpPr>
          <p:cNvPr id="3" name="מציין מיקום תוכן 2"/>
          <p:cNvSpPr>
            <a:spLocks noGrp="1"/>
          </p:cNvSpPr>
          <p:nvPr>
            <p:ph idx="1"/>
          </p:nvPr>
        </p:nvSpPr>
        <p:spPr/>
        <p:txBody>
          <a:bodyPr/>
          <a:lstStyle/>
          <a:p>
            <a:r>
              <a:rPr lang="he-IL" b="1" u="sng" dirty="0"/>
              <a:t>ב. הצפנה:</a:t>
            </a:r>
            <a:endParaRPr lang="he-IL" u="sng" dirty="0"/>
          </a:p>
          <a:p>
            <a:r>
              <a:rPr lang="he-IL" b="1" dirty="0"/>
              <a:t>1. בחירת הודעה:</a:t>
            </a:r>
            <a:endParaRPr lang="he-IL" dirty="0"/>
          </a:p>
          <a:p>
            <a:pPr lvl="1"/>
            <a:r>
              <a:rPr lang="en-US" dirty="0"/>
              <a:t>m = 7</a:t>
            </a:r>
          </a:p>
          <a:p>
            <a:r>
              <a:rPr lang="he-IL" b="1" dirty="0"/>
              <a:t>2. חישוב </a:t>
            </a:r>
            <a:r>
              <a:rPr lang="en-US" b="1" dirty="0"/>
              <a:t>c</a:t>
            </a:r>
            <a:r>
              <a:rPr lang="he-IL" b="1" dirty="0"/>
              <a:t>:</a:t>
            </a:r>
            <a:endParaRPr lang="en-US" dirty="0"/>
          </a:p>
          <a:p>
            <a:pPr lvl="1"/>
            <a:r>
              <a:rPr lang="en-US" dirty="0"/>
              <a:t>c = m^2 mod n = 7^2 mod 55 = 49 mod 55 = 49</a:t>
            </a:r>
          </a:p>
          <a:p>
            <a:r>
              <a:rPr lang="he-IL" b="1" dirty="0"/>
              <a:t>הטקסט המוצפן:</a:t>
            </a:r>
            <a:r>
              <a:rPr lang="he-IL" dirty="0"/>
              <a:t> </a:t>
            </a:r>
            <a:r>
              <a:rPr lang="en-US" dirty="0"/>
              <a:t>c = 49</a:t>
            </a:r>
          </a:p>
          <a:p>
            <a:endParaRPr lang="he-IL" dirty="0"/>
          </a:p>
        </p:txBody>
      </p:sp>
    </p:spTree>
    <p:extLst>
      <p:ext uri="{BB962C8B-B14F-4D97-AF65-F5344CB8AC3E}">
        <p14:creationId xmlns:p14="http://schemas.microsoft.com/office/powerpoint/2010/main" val="5685669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390014" y="642594"/>
            <a:ext cx="3735185" cy="1371600"/>
          </a:xfrm>
        </p:spPr>
        <p:txBody>
          <a:bodyPr/>
          <a:lstStyle/>
          <a:p>
            <a:r>
              <a:rPr lang="he-IL" dirty="0"/>
              <a:t>המשך - דוגמא</a:t>
            </a:r>
          </a:p>
        </p:txBody>
      </p:sp>
      <p:sp>
        <p:nvSpPr>
          <p:cNvPr id="3" name="מציין מיקום תוכן 2"/>
          <p:cNvSpPr>
            <a:spLocks noGrp="1"/>
          </p:cNvSpPr>
          <p:nvPr>
            <p:ph idx="1"/>
          </p:nvPr>
        </p:nvSpPr>
        <p:spPr/>
        <p:txBody>
          <a:bodyPr/>
          <a:lstStyle/>
          <a:p>
            <a:r>
              <a:rPr lang="he-IL" b="1" u="sng" dirty="0"/>
              <a:t>ג. פענוח:</a:t>
            </a:r>
            <a:endParaRPr lang="he-IL" u="sng" dirty="0"/>
          </a:p>
          <a:p>
            <a:r>
              <a:rPr lang="he-IL" b="1" dirty="0"/>
              <a:t>1. חישוב שורשים ריבועיים:</a:t>
            </a:r>
            <a:endParaRPr lang="he-IL" dirty="0"/>
          </a:p>
          <a:p>
            <a:pPr lvl="1"/>
            <a:r>
              <a:rPr lang="he-IL" dirty="0"/>
              <a:t>יש למצוא </a:t>
            </a:r>
            <a:r>
              <a:rPr lang="en-US" dirty="0"/>
              <a:t> x</a:t>
            </a:r>
            <a:r>
              <a:rPr lang="he-IL" dirty="0"/>
              <a:t>כך ש-</a:t>
            </a:r>
            <a:r>
              <a:rPr lang="en-US" dirty="0"/>
              <a:t>x^2 mod 55 = 49 </a:t>
            </a:r>
          </a:p>
          <a:p>
            <a:pPr lvl="1"/>
            <a:r>
              <a:rPr lang="he-IL" dirty="0"/>
              <a:t>בעזרת המפתח הפרטי (5, 11), ניתן למצוא את ארבעת השורשים הריבועיים הבאים: </a:t>
            </a:r>
          </a:p>
          <a:p>
            <a:pPr lvl="2"/>
            <a:r>
              <a:rPr lang="en-US" dirty="0"/>
              <a:t>x1 = 7</a:t>
            </a:r>
          </a:p>
          <a:p>
            <a:pPr lvl="2"/>
            <a:r>
              <a:rPr lang="en-US" dirty="0"/>
              <a:t>x2 = 48</a:t>
            </a:r>
          </a:p>
          <a:p>
            <a:pPr lvl="2"/>
            <a:r>
              <a:rPr lang="en-US" dirty="0"/>
              <a:t>x3 = 18</a:t>
            </a:r>
          </a:p>
          <a:p>
            <a:pPr lvl="2"/>
            <a:r>
              <a:rPr lang="en-US" dirty="0"/>
              <a:t>x4 = 37</a:t>
            </a:r>
          </a:p>
          <a:p>
            <a:r>
              <a:rPr lang="he-IL" b="1" dirty="0"/>
              <a:t>2. בחירת ההודעה המקורית:</a:t>
            </a:r>
            <a:endParaRPr lang="he-IL" dirty="0"/>
          </a:p>
          <a:p>
            <a:pPr lvl="1"/>
            <a:r>
              <a:rPr lang="he-IL" dirty="0"/>
              <a:t>מתוך ארבעת השורשים הריבועיים, רק </a:t>
            </a:r>
            <a:r>
              <a:rPr lang="en-US" dirty="0"/>
              <a:t>x1 = 7</a:t>
            </a:r>
            <a:r>
              <a:rPr lang="he-IL" dirty="0"/>
              <a:t> הוא ההודעה המקורית </a:t>
            </a:r>
            <a:r>
              <a:rPr lang="en-US" dirty="0"/>
              <a:t>m</a:t>
            </a:r>
          </a:p>
          <a:p>
            <a:endParaRPr lang="he-IL" dirty="0"/>
          </a:p>
        </p:txBody>
      </p:sp>
    </p:spTree>
    <p:extLst>
      <p:ext uri="{BB962C8B-B14F-4D97-AF65-F5344CB8AC3E}">
        <p14:creationId xmlns:p14="http://schemas.microsoft.com/office/powerpoint/2010/main" val="10811323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024254" y="642594"/>
            <a:ext cx="4100945" cy="1371600"/>
          </a:xfrm>
        </p:spPr>
        <p:txBody>
          <a:bodyPr/>
          <a:lstStyle/>
          <a:p>
            <a:r>
              <a:rPr lang="he-IL" dirty="0"/>
              <a:t>יוצא לנו למעשה</a:t>
            </a:r>
          </a:p>
        </p:txBody>
      </p:sp>
      <p:sp>
        <p:nvSpPr>
          <p:cNvPr id="3" name="מציין מיקום תוכן 2"/>
          <p:cNvSpPr>
            <a:spLocks noGrp="1"/>
          </p:cNvSpPr>
          <p:nvPr>
            <p:ph idx="1"/>
          </p:nvPr>
        </p:nvSpPr>
        <p:spPr/>
        <p:txBody>
          <a:bodyPr/>
          <a:lstStyle/>
          <a:p>
            <a:r>
              <a:rPr lang="he-IL" b="1" dirty="0"/>
              <a:t>הערות:</a:t>
            </a:r>
            <a:endParaRPr lang="he-IL" dirty="0"/>
          </a:p>
          <a:p>
            <a:r>
              <a:rPr lang="he-IL" dirty="0"/>
              <a:t>בדוגמה זו, השתמשנו במספרים קטנים מאוד כדי לפשט את ההבנה.</a:t>
            </a:r>
          </a:p>
          <a:p>
            <a:r>
              <a:rPr lang="he-IL" dirty="0"/>
              <a:t>במערכות הצפנה </a:t>
            </a:r>
            <a:r>
              <a:rPr lang="he-IL" dirty="0" err="1"/>
              <a:t>אמיתיות</a:t>
            </a:r>
            <a:r>
              <a:rPr lang="he-IL" dirty="0"/>
              <a:t>, משתמשים במספרים ראשוניים גדולים מאוד, בעלי מאות ספרות.</a:t>
            </a:r>
          </a:p>
          <a:p>
            <a:r>
              <a:rPr lang="he-IL" dirty="0"/>
              <a:t>תהליך מציאת השורשים הריבועיים עשוי להיות מורכב יותר כאשר מדובר במספרים גדולים.</a:t>
            </a:r>
          </a:p>
          <a:p>
            <a:r>
              <a:rPr lang="he-IL" b="1" dirty="0"/>
              <a:t>לסיכום:</a:t>
            </a:r>
            <a:endParaRPr lang="he-IL" dirty="0"/>
          </a:p>
          <a:p>
            <a:r>
              <a:rPr lang="he-IL" dirty="0"/>
              <a:t>הצפנו את ההודעה</a:t>
            </a:r>
            <a:r>
              <a:rPr lang="en-US" dirty="0"/>
              <a:t> m = 7 </a:t>
            </a:r>
            <a:r>
              <a:rPr lang="he-IL" dirty="0"/>
              <a:t>וקיבלנו את הטקסט המוצפן </a:t>
            </a:r>
            <a:r>
              <a:rPr lang="en-US" dirty="0"/>
              <a:t>c = 49</a:t>
            </a:r>
            <a:r>
              <a:rPr lang="he-IL" dirty="0"/>
              <a:t> לאחר מכן, פענחנו את הטקסט המוצפן וקיבלנו את ההודעה המקורית </a:t>
            </a:r>
            <a:r>
              <a:rPr lang="en-US" dirty="0"/>
              <a:t>m = 7</a:t>
            </a:r>
          </a:p>
          <a:p>
            <a:endParaRPr lang="he-IL" dirty="0"/>
          </a:p>
        </p:txBody>
      </p:sp>
    </p:spTree>
    <p:extLst>
      <p:ext uri="{BB962C8B-B14F-4D97-AF65-F5344CB8AC3E}">
        <p14:creationId xmlns:p14="http://schemas.microsoft.com/office/powerpoint/2010/main" val="148843757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724996" y="642594"/>
            <a:ext cx="4400204" cy="1371600"/>
          </a:xfrm>
        </p:spPr>
        <p:txBody>
          <a:bodyPr/>
          <a:lstStyle/>
          <a:p>
            <a:r>
              <a:rPr lang="he-IL" dirty="0"/>
              <a:t>יתרונות וחסרונות</a:t>
            </a:r>
          </a:p>
        </p:txBody>
      </p:sp>
      <p:sp>
        <p:nvSpPr>
          <p:cNvPr id="3" name="מציין מיקום תוכן 2"/>
          <p:cNvSpPr>
            <a:spLocks noGrp="1"/>
          </p:cNvSpPr>
          <p:nvPr>
            <p:ph idx="1"/>
          </p:nvPr>
        </p:nvSpPr>
        <p:spPr/>
        <p:txBody>
          <a:bodyPr/>
          <a:lstStyle/>
          <a:p>
            <a:r>
              <a:rPr lang="he-IL" b="1" dirty="0"/>
              <a:t>יתרונות:</a:t>
            </a:r>
          </a:p>
          <a:p>
            <a:r>
              <a:rPr lang="he-IL" b="1" dirty="0"/>
              <a:t>ביטחון מוכח מתמטית</a:t>
            </a:r>
            <a:r>
              <a:rPr lang="he-IL" dirty="0"/>
              <a:t> – אם ניתן לשבור את הצפנת רבין, ניתן גם לפרק לגורמים את</a:t>
            </a:r>
            <a:r>
              <a:rPr lang="en-US" dirty="0"/>
              <a:t> n </a:t>
            </a:r>
            <a:r>
              <a:rPr lang="he-IL" dirty="0"/>
              <a:t>מה שנחשב בעיה קשה.</a:t>
            </a:r>
            <a:br>
              <a:rPr lang="he-IL" dirty="0"/>
            </a:br>
            <a:r>
              <a:rPr lang="he-IL" b="1" dirty="0"/>
              <a:t>פשוט ומהיר יותר מ-</a:t>
            </a:r>
            <a:r>
              <a:rPr lang="en-US" b="1" dirty="0"/>
              <a:t> RSA</a:t>
            </a:r>
            <a:r>
              <a:rPr lang="en-US" dirty="0"/>
              <a:t> – </a:t>
            </a:r>
            <a:r>
              <a:rPr lang="he-IL" dirty="0"/>
              <a:t>הפעולות העיקריות הן העלאת חזקות מודולריות.</a:t>
            </a:r>
          </a:p>
          <a:p>
            <a:endParaRPr lang="he-IL" dirty="0"/>
          </a:p>
          <a:p>
            <a:r>
              <a:rPr lang="he-IL" b="1" dirty="0"/>
              <a:t>חסרונות:</a:t>
            </a:r>
          </a:p>
          <a:p>
            <a:r>
              <a:rPr lang="he-IL" b="1" dirty="0"/>
              <a:t>פענוח לא חד-חד-ערכי</a:t>
            </a:r>
            <a:r>
              <a:rPr lang="he-IL" dirty="0"/>
              <a:t> – מתקבלים </a:t>
            </a:r>
            <a:r>
              <a:rPr lang="he-IL" b="1" dirty="0"/>
              <a:t>4 פתרונות אפשריים</a:t>
            </a:r>
            <a:r>
              <a:rPr lang="he-IL" dirty="0"/>
              <a:t>, ולכן יש צורך במנגנון נוסף כדי לזהות את ההודעה הנכונה.</a:t>
            </a:r>
            <a:br>
              <a:rPr lang="he-IL" dirty="0"/>
            </a:br>
            <a:r>
              <a:rPr lang="he-IL" b="1" dirty="0"/>
              <a:t>לא בשימוש רחב</a:t>
            </a:r>
            <a:r>
              <a:rPr lang="he-IL" dirty="0"/>
              <a:t> – בניגוד ל-</a:t>
            </a:r>
            <a:r>
              <a:rPr lang="en-US" dirty="0"/>
              <a:t>RSA </a:t>
            </a:r>
            <a:r>
              <a:rPr lang="he-IL" dirty="0"/>
              <a:t> ו-</a:t>
            </a:r>
            <a:r>
              <a:rPr lang="en-US" dirty="0"/>
              <a:t>ECC </a:t>
            </a:r>
            <a:r>
              <a:rPr lang="he-IL" dirty="0"/>
              <a:t> צופן רבין פחות פופולרי בקריפטוגרפיה מעשית.</a:t>
            </a:r>
            <a:br>
              <a:rPr lang="he-IL" dirty="0"/>
            </a:br>
            <a:r>
              <a:rPr lang="he-IL" b="1" dirty="0"/>
              <a:t>רגישות להתקפות מסוימות</a:t>
            </a:r>
            <a:r>
              <a:rPr lang="he-IL" dirty="0"/>
              <a:t> – אם התוקף יודע תכונות מסוימות על </a:t>
            </a:r>
            <a:r>
              <a:rPr lang="en-US" dirty="0"/>
              <a:t> p</a:t>
            </a:r>
            <a:r>
              <a:rPr lang="he-IL" dirty="0"/>
              <a:t>ו-</a:t>
            </a:r>
            <a:r>
              <a:rPr lang="en-US" dirty="0"/>
              <a:t> q </a:t>
            </a:r>
            <a:r>
              <a:rPr lang="he-IL" dirty="0"/>
              <a:t>ניתן לשפר התקפות.</a:t>
            </a:r>
          </a:p>
          <a:p>
            <a:endParaRPr lang="he-IL" dirty="0"/>
          </a:p>
          <a:p>
            <a:endParaRPr lang="he-IL" dirty="0"/>
          </a:p>
        </p:txBody>
      </p:sp>
    </p:spTree>
    <p:extLst>
      <p:ext uri="{BB962C8B-B14F-4D97-AF65-F5344CB8AC3E}">
        <p14:creationId xmlns:p14="http://schemas.microsoft.com/office/powerpoint/2010/main" val="300190312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77498" y="642594"/>
            <a:ext cx="2047702"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כיצד מתבצע תהליך ההצפנה בצופן רבין?</a:t>
            </a:r>
          </a:p>
          <a:p>
            <a:r>
              <a:rPr lang="he-IL" dirty="0"/>
              <a:t>2. מהם השלבים הנדרשים לפענוח הודעה בצופן רבין?</a:t>
            </a:r>
          </a:p>
          <a:p>
            <a:r>
              <a:rPr lang="he-IL" dirty="0"/>
              <a:t>3. מדוע פענוח בצופן רבין עשוי להניב ארבעה פתרונות אפשריים?</a:t>
            </a:r>
          </a:p>
          <a:p>
            <a:r>
              <a:rPr lang="he-IL" dirty="0"/>
              <a:t>4. מהם היתרונות והחסרונות של צופן רבין בהשוואה לצופן </a:t>
            </a:r>
            <a:r>
              <a:rPr lang="en-US" dirty="0"/>
              <a:t>RSA</a:t>
            </a:r>
            <a:r>
              <a:rPr lang="he-IL" dirty="0"/>
              <a:t>?</a:t>
            </a:r>
          </a:p>
          <a:p>
            <a:r>
              <a:rPr lang="he-IL" dirty="0"/>
              <a:t>5. מהם השימושים העיקריים של צופן רבין כיום?</a:t>
            </a:r>
          </a:p>
          <a:p>
            <a:r>
              <a:rPr lang="he-IL" dirty="0"/>
              <a:t>6. מהו המפתח הפרטי בצופן רבין?</a:t>
            </a:r>
          </a:p>
          <a:p>
            <a:r>
              <a:rPr lang="he-IL" dirty="0"/>
              <a:t>7. מהו המפתח הציבורי בצופן רבין?</a:t>
            </a:r>
          </a:p>
          <a:p>
            <a:r>
              <a:rPr lang="he-IL" dirty="0"/>
              <a:t>8. מהם שני המספרים הראשוניים הגדולים שבוחרים ליצירת מפתחות בצופן רבין?</a:t>
            </a:r>
          </a:p>
          <a:p>
            <a:endParaRPr lang="he-IL" dirty="0"/>
          </a:p>
          <a:p>
            <a:endParaRPr lang="he-IL" dirty="0"/>
          </a:p>
          <a:p>
            <a:endParaRPr lang="he-IL" dirty="0"/>
          </a:p>
        </p:txBody>
      </p:sp>
    </p:spTree>
    <p:extLst>
      <p:ext uri="{BB962C8B-B14F-4D97-AF65-F5344CB8AC3E}">
        <p14:creationId xmlns:p14="http://schemas.microsoft.com/office/powerpoint/2010/main" val="249096861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44246" y="642594"/>
            <a:ext cx="2080953" cy="1371600"/>
          </a:xfrm>
        </p:spPr>
        <p:txBody>
          <a:bodyPr/>
          <a:lstStyle/>
          <a:p>
            <a:r>
              <a:rPr lang="he-IL" dirty="0"/>
              <a:t>תשובות</a:t>
            </a:r>
          </a:p>
        </p:txBody>
      </p:sp>
      <p:sp>
        <p:nvSpPr>
          <p:cNvPr id="3" name="מציין מיקום תוכן 2"/>
          <p:cNvSpPr>
            <a:spLocks noGrp="1"/>
          </p:cNvSpPr>
          <p:nvPr>
            <p:ph idx="1"/>
          </p:nvPr>
        </p:nvSpPr>
        <p:spPr/>
        <p:txBody>
          <a:bodyPr/>
          <a:lstStyle/>
          <a:p>
            <a:r>
              <a:rPr lang="he-IL" dirty="0"/>
              <a:t>1. ההצפנה מתבצעת על ידי חישוב </a:t>
            </a:r>
            <a:r>
              <a:rPr lang="en-US" dirty="0"/>
              <a:t> c = m^2 mod n</a:t>
            </a:r>
            <a:r>
              <a:rPr lang="he-IL" dirty="0"/>
              <a:t>כאשר </a:t>
            </a:r>
            <a:r>
              <a:rPr lang="en-US" dirty="0"/>
              <a:t>m </a:t>
            </a:r>
            <a:r>
              <a:rPr lang="he-IL" dirty="0"/>
              <a:t>היא ההודעה ו-</a:t>
            </a:r>
            <a:r>
              <a:rPr lang="en-US" dirty="0"/>
              <a:t> n </a:t>
            </a:r>
            <a:r>
              <a:rPr lang="he-IL" dirty="0"/>
              <a:t>הוא המפתח הציבורי.</a:t>
            </a:r>
          </a:p>
          <a:p>
            <a:r>
              <a:rPr lang="he-IL" dirty="0"/>
              <a:t>2. יש למצוא את השורשים הריבועיים של </a:t>
            </a:r>
            <a:r>
              <a:rPr lang="en-US" dirty="0"/>
              <a:t> c</a:t>
            </a:r>
            <a:r>
              <a:rPr lang="he-IL" dirty="0" err="1"/>
              <a:t>מודולו</a:t>
            </a:r>
            <a:r>
              <a:rPr lang="en-US" dirty="0"/>
              <a:t> n </a:t>
            </a:r>
            <a:r>
              <a:rPr lang="he-IL" dirty="0"/>
              <a:t>בעזרת המפתח הפרטי</a:t>
            </a:r>
            <a:r>
              <a:rPr lang="en-US" dirty="0"/>
              <a:t>p, q) </a:t>
            </a:r>
            <a:r>
              <a:rPr lang="he-IL" dirty="0"/>
              <a:t>)</a:t>
            </a:r>
          </a:p>
          <a:p>
            <a:r>
              <a:rPr lang="he-IL" dirty="0"/>
              <a:t>3. מכיוון שלמשוואה ריבועית </a:t>
            </a:r>
            <a:r>
              <a:rPr lang="he-IL" dirty="0" err="1"/>
              <a:t>מודולו</a:t>
            </a:r>
            <a:r>
              <a:rPr lang="he-IL" dirty="0"/>
              <a:t> מספר פריק עשויים להיות ארבעה פתרונות.</a:t>
            </a:r>
          </a:p>
          <a:p>
            <a:r>
              <a:rPr lang="he-IL" dirty="0"/>
              <a:t>4. </a:t>
            </a:r>
            <a:r>
              <a:rPr lang="he-IL" b="1" dirty="0"/>
              <a:t>יתרונות:</a:t>
            </a:r>
            <a:r>
              <a:rPr lang="he-IL" dirty="0"/>
              <a:t> רבין - יעילות, </a:t>
            </a:r>
            <a:r>
              <a:rPr lang="en-US" dirty="0"/>
              <a:t>RSA - </a:t>
            </a:r>
            <a:r>
              <a:rPr lang="he-IL" dirty="0"/>
              <a:t> נפוץ יותר. </a:t>
            </a:r>
            <a:r>
              <a:rPr lang="he-IL" b="1" dirty="0"/>
              <a:t>חסרונות:</a:t>
            </a:r>
            <a:r>
              <a:rPr lang="he-IL" dirty="0"/>
              <a:t> רבין - פענוח מורכב </a:t>
            </a:r>
            <a:r>
              <a:rPr lang="en-US" dirty="0"/>
              <a:t> RSA - </a:t>
            </a:r>
            <a:r>
              <a:rPr lang="he-IL" dirty="0"/>
              <a:t>פגיע להתקפות קוונטיות.</a:t>
            </a:r>
          </a:p>
          <a:p>
            <a:r>
              <a:rPr lang="he-IL" dirty="0"/>
              <a:t>5. חתימה דיגיטלית.</a:t>
            </a:r>
          </a:p>
          <a:p>
            <a:r>
              <a:rPr lang="he-IL" dirty="0"/>
              <a:t>6. </a:t>
            </a:r>
            <a:r>
              <a:rPr lang="en-US" dirty="0"/>
              <a:t>(p, q)</a:t>
            </a:r>
            <a:endParaRPr lang="he-IL" dirty="0"/>
          </a:p>
          <a:p>
            <a:r>
              <a:rPr lang="he-IL" dirty="0"/>
              <a:t>7. </a:t>
            </a:r>
            <a:r>
              <a:rPr lang="en-US" dirty="0"/>
              <a:t>n = p * q</a:t>
            </a:r>
            <a:endParaRPr lang="he-IL" dirty="0"/>
          </a:p>
          <a:p>
            <a:r>
              <a:rPr lang="he-IL" dirty="0"/>
              <a:t>8. </a:t>
            </a:r>
            <a:r>
              <a:rPr lang="en-US" dirty="0"/>
              <a:t>p </a:t>
            </a:r>
            <a:r>
              <a:rPr lang="he-IL" dirty="0"/>
              <a:t> ו-</a:t>
            </a:r>
            <a:r>
              <a:rPr lang="en-US" dirty="0"/>
              <a:t>q </a:t>
            </a:r>
            <a:endParaRPr lang="he-IL" dirty="0"/>
          </a:p>
          <a:p>
            <a:endParaRPr lang="he-IL" dirty="0"/>
          </a:p>
        </p:txBody>
      </p:sp>
    </p:spTree>
    <p:extLst>
      <p:ext uri="{BB962C8B-B14F-4D97-AF65-F5344CB8AC3E}">
        <p14:creationId xmlns:p14="http://schemas.microsoft.com/office/powerpoint/2010/main" val="1375071620"/>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a:xfrm>
            <a:off x="1066800" y="2261062"/>
            <a:ext cx="10058400" cy="3931920"/>
          </a:xfrm>
        </p:spPr>
        <p:txBody>
          <a:bodyPr>
            <a:normAutofit/>
          </a:bodyPr>
          <a:lstStyle/>
          <a:p>
            <a:pPr algn="ctr"/>
            <a:r>
              <a:rPr lang="he-IL" sz="6000" dirty="0"/>
              <a:t>צופן </a:t>
            </a:r>
            <a:r>
              <a:rPr lang="he-IL" sz="6000" dirty="0" err="1"/>
              <a:t>קריימר-שופ</a:t>
            </a:r>
            <a:endParaRPr lang="he-IL" sz="6000" dirty="0"/>
          </a:p>
        </p:txBody>
      </p:sp>
    </p:spTree>
    <p:extLst>
      <p:ext uri="{BB962C8B-B14F-4D97-AF65-F5344CB8AC3E}">
        <p14:creationId xmlns:p14="http://schemas.microsoft.com/office/powerpoint/2010/main" val="3927169227"/>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733309" y="642594"/>
            <a:ext cx="4391890" cy="1371600"/>
          </a:xfrm>
        </p:spPr>
        <p:txBody>
          <a:bodyPr>
            <a:normAutofit/>
          </a:bodyPr>
          <a:lstStyle/>
          <a:p>
            <a:r>
              <a:rPr lang="he-IL" dirty="0"/>
              <a:t>עקרונות מרכזיים:</a:t>
            </a:r>
          </a:p>
        </p:txBody>
      </p:sp>
      <p:sp>
        <p:nvSpPr>
          <p:cNvPr id="3" name="מציין מיקום תוכן 2"/>
          <p:cNvSpPr>
            <a:spLocks noGrp="1"/>
          </p:cNvSpPr>
          <p:nvPr>
            <p:ph idx="1"/>
          </p:nvPr>
        </p:nvSpPr>
        <p:spPr/>
        <p:txBody>
          <a:bodyPr/>
          <a:lstStyle/>
          <a:p>
            <a:r>
              <a:rPr lang="he-IL" b="1" dirty="0"/>
              <a:t>הצפנה אסימטרית:</a:t>
            </a:r>
            <a:r>
              <a:rPr lang="he-IL" dirty="0"/>
              <a:t> בדומה ל-</a:t>
            </a:r>
            <a:r>
              <a:rPr lang="en-US" dirty="0"/>
              <a:t>RSA </a:t>
            </a:r>
            <a:r>
              <a:rPr lang="he-IL" dirty="0"/>
              <a:t> גם </a:t>
            </a:r>
            <a:r>
              <a:rPr lang="he-IL" dirty="0" err="1"/>
              <a:t>קריימר-שופ</a:t>
            </a:r>
            <a:r>
              <a:rPr lang="he-IL" dirty="0"/>
              <a:t> משתמש בשני מפתחות שונים: מפתח ציבורי (משמש להצפנה) ומפתח פרטי (משמש לפענוח).</a:t>
            </a:r>
          </a:p>
          <a:p>
            <a:endParaRPr lang="he-IL" dirty="0"/>
          </a:p>
          <a:p>
            <a:r>
              <a:rPr lang="he-IL" b="1" dirty="0"/>
              <a:t>בעיית הלוגריתם הדיסקרטי:</a:t>
            </a:r>
            <a:r>
              <a:rPr lang="he-IL" dirty="0"/>
              <a:t> ביטחון הצופן מבוסס על הקושי שבפתרון בעיית הלוגריתם הדיסקרטי, בדומה לצופן אל </a:t>
            </a:r>
            <a:r>
              <a:rPr lang="he-IL" dirty="0" err="1"/>
              <a:t>גמאל</a:t>
            </a:r>
            <a:r>
              <a:rPr lang="he-IL" dirty="0"/>
              <a:t>.</a:t>
            </a:r>
          </a:p>
          <a:p>
            <a:endParaRPr lang="he-IL" dirty="0"/>
          </a:p>
          <a:p>
            <a:r>
              <a:rPr lang="he-IL" b="1" dirty="0"/>
              <a:t>הוכחת אפס ידע:</a:t>
            </a:r>
            <a:r>
              <a:rPr lang="he-IL" dirty="0"/>
              <a:t> </a:t>
            </a:r>
            <a:r>
              <a:rPr lang="he-IL" dirty="0" err="1"/>
              <a:t>קריימר-שופ</a:t>
            </a:r>
            <a:r>
              <a:rPr lang="he-IL" dirty="0"/>
              <a:t> משלב מנגנון של הוכחת אפס ידע, המאפשר לצדדים להוכיח שהם מחזיקים במידע מסוים מבלי לחשוף אותו.</a:t>
            </a:r>
          </a:p>
          <a:p>
            <a:endParaRPr lang="he-IL" dirty="0"/>
          </a:p>
        </p:txBody>
      </p:sp>
    </p:spTree>
    <p:extLst>
      <p:ext uri="{BB962C8B-B14F-4D97-AF65-F5344CB8AC3E}">
        <p14:creationId xmlns:p14="http://schemas.microsoft.com/office/powerpoint/2010/main" val="1796838326"/>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132320" y="642594"/>
            <a:ext cx="3992880" cy="1371600"/>
          </a:xfrm>
        </p:spPr>
        <p:txBody>
          <a:bodyPr>
            <a:normAutofit/>
          </a:bodyPr>
          <a:lstStyle/>
          <a:p>
            <a:r>
              <a:rPr lang="he-IL" dirty="0"/>
              <a:t>יצירת מפתחות:</a:t>
            </a:r>
          </a:p>
        </p:txBody>
      </p:sp>
      <p:sp>
        <p:nvSpPr>
          <p:cNvPr id="3" name="מציין מיקום תוכן 2"/>
          <p:cNvSpPr>
            <a:spLocks noGrp="1"/>
          </p:cNvSpPr>
          <p:nvPr>
            <p:ph idx="1"/>
          </p:nvPr>
        </p:nvSpPr>
        <p:spPr/>
        <p:txBody>
          <a:bodyPr/>
          <a:lstStyle/>
          <a:p>
            <a:r>
              <a:rPr lang="he-IL" b="1" dirty="0"/>
              <a:t>1. בחירת פרמטרים:</a:t>
            </a:r>
            <a:r>
              <a:rPr lang="he-IL" dirty="0"/>
              <a:t> בוחרים מספר ראשוני גדול </a:t>
            </a:r>
            <a:r>
              <a:rPr lang="en-US" dirty="0" smtClean="0"/>
              <a:t> p </a:t>
            </a:r>
            <a:r>
              <a:rPr lang="he-IL" dirty="0"/>
              <a:t>יוצר ראשוני </a:t>
            </a:r>
            <a:r>
              <a:rPr lang="en-US" dirty="0"/>
              <a:t>q</a:t>
            </a:r>
            <a:r>
              <a:rPr lang="he-IL" dirty="0"/>
              <a:t> ומספר שלם</a:t>
            </a:r>
            <a:r>
              <a:rPr lang="en-US" dirty="0"/>
              <a:t> g </a:t>
            </a:r>
            <a:r>
              <a:rPr lang="he-IL" dirty="0"/>
              <a:t>שהוא יוצר של החבורה </a:t>
            </a:r>
            <a:r>
              <a:rPr lang="he-IL" dirty="0" err="1"/>
              <a:t>הכפלית</a:t>
            </a:r>
            <a:r>
              <a:rPr lang="he-IL" dirty="0"/>
              <a:t> של </a:t>
            </a:r>
            <a:r>
              <a:rPr lang="en-US" dirty="0" smtClean="0"/>
              <a:t>Z/p Z</a:t>
            </a:r>
            <a:r>
              <a:rPr lang="he-IL" dirty="0"/>
              <a:t>.</a:t>
            </a:r>
          </a:p>
          <a:p>
            <a:endParaRPr lang="en-US" dirty="0"/>
          </a:p>
          <a:p>
            <a:r>
              <a:rPr lang="he-IL" b="1" dirty="0"/>
              <a:t>2. בחירת מפתח פרטי:</a:t>
            </a:r>
            <a:r>
              <a:rPr lang="he-IL" dirty="0"/>
              <a:t> בוחרים שני מספרים שלמים אקראיים </a:t>
            </a:r>
            <a:r>
              <a:rPr lang="en-US" dirty="0"/>
              <a:t>x1</a:t>
            </a:r>
            <a:r>
              <a:rPr lang="he-IL" dirty="0"/>
              <a:t> ו-</a:t>
            </a:r>
            <a:r>
              <a:rPr lang="en-US" dirty="0"/>
              <a:t>x2 </a:t>
            </a:r>
            <a:r>
              <a:rPr lang="he-IL" dirty="0"/>
              <a:t>.</a:t>
            </a:r>
          </a:p>
          <a:p>
            <a:endParaRPr lang="en-US" dirty="0"/>
          </a:p>
          <a:p>
            <a:r>
              <a:rPr lang="he-IL" b="1" dirty="0"/>
              <a:t>3. חישוב מפתח ציבורי:</a:t>
            </a:r>
            <a:r>
              <a:rPr lang="he-IL" dirty="0"/>
              <a:t> מחשבים את </a:t>
            </a:r>
            <a:r>
              <a:rPr lang="en-US" dirty="0"/>
              <a:t> y1 = g^x1 mod p</a:t>
            </a:r>
            <a:r>
              <a:rPr lang="he-IL" dirty="0"/>
              <a:t>ו-</a:t>
            </a:r>
            <a:r>
              <a:rPr lang="en-US" dirty="0"/>
              <a:t>y2 = g^x2 mod p </a:t>
            </a:r>
            <a:endParaRPr lang="he-IL" dirty="0"/>
          </a:p>
          <a:p>
            <a:endParaRPr lang="en-US" dirty="0"/>
          </a:p>
          <a:p>
            <a:r>
              <a:rPr lang="he-IL" b="1" dirty="0"/>
              <a:t>4. המפתח הציבורי:</a:t>
            </a:r>
            <a:r>
              <a:rPr lang="he-IL" dirty="0"/>
              <a:t> </a:t>
            </a:r>
            <a:r>
              <a:rPr lang="en-US" dirty="0"/>
              <a:t>p, g, y1, y2)</a:t>
            </a:r>
            <a:r>
              <a:rPr lang="he-IL" dirty="0"/>
              <a:t>)</a:t>
            </a:r>
          </a:p>
          <a:p>
            <a:endParaRPr lang="en-US" dirty="0"/>
          </a:p>
          <a:p>
            <a:r>
              <a:rPr lang="he-IL" b="1" dirty="0"/>
              <a:t>5. המפתח הפרטי:</a:t>
            </a:r>
            <a:r>
              <a:rPr lang="he-IL" dirty="0"/>
              <a:t> </a:t>
            </a:r>
            <a:r>
              <a:rPr lang="en-US" dirty="0"/>
              <a:t>x1, x2)</a:t>
            </a:r>
            <a:r>
              <a:rPr lang="he-IL" dirty="0"/>
              <a:t>)</a:t>
            </a:r>
            <a:endParaRPr lang="en-US" dirty="0"/>
          </a:p>
          <a:p>
            <a:endParaRPr lang="he-IL" dirty="0"/>
          </a:p>
        </p:txBody>
      </p:sp>
    </p:spTree>
    <p:extLst>
      <p:ext uri="{BB962C8B-B14F-4D97-AF65-F5344CB8AC3E}">
        <p14:creationId xmlns:p14="http://schemas.microsoft.com/office/powerpoint/2010/main" val="3547914991"/>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44000" y="642594"/>
            <a:ext cx="1981200" cy="1371600"/>
          </a:xfrm>
        </p:spPr>
        <p:txBody>
          <a:bodyPr>
            <a:normAutofit/>
          </a:bodyPr>
          <a:lstStyle/>
          <a:p>
            <a:r>
              <a:rPr lang="he-IL" dirty="0"/>
              <a:t>הצפנה:</a:t>
            </a:r>
          </a:p>
        </p:txBody>
      </p:sp>
      <p:sp>
        <p:nvSpPr>
          <p:cNvPr id="3" name="מציין מיקום תוכן 2"/>
          <p:cNvSpPr>
            <a:spLocks noGrp="1"/>
          </p:cNvSpPr>
          <p:nvPr>
            <p:ph idx="1"/>
          </p:nvPr>
        </p:nvSpPr>
        <p:spPr/>
        <p:txBody>
          <a:bodyPr/>
          <a:lstStyle/>
          <a:p>
            <a:r>
              <a:rPr lang="he-IL" b="1" dirty="0"/>
              <a:t>1. בחירת הודעה:</a:t>
            </a:r>
            <a:r>
              <a:rPr lang="he-IL" dirty="0"/>
              <a:t> ההודעה </a:t>
            </a:r>
            <a:r>
              <a:rPr lang="en-US" dirty="0" smtClean="0"/>
              <a:t> m </a:t>
            </a:r>
            <a:r>
              <a:rPr lang="he-IL" dirty="0"/>
              <a:t>צריכה להיות מספר שלם בין 0 ל-</a:t>
            </a:r>
            <a:r>
              <a:rPr lang="en-US" dirty="0"/>
              <a:t>p - 1 </a:t>
            </a:r>
            <a:endParaRPr lang="he-IL" dirty="0"/>
          </a:p>
          <a:p>
            <a:endParaRPr lang="en-US" dirty="0"/>
          </a:p>
          <a:p>
            <a:r>
              <a:rPr lang="he-IL" b="1" dirty="0"/>
              <a:t>2. בחירת מספר אקראי:</a:t>
            </a:r>
            <a:r>
              <a:rPr lang="he-IL" dirty="0"/>
              <a:t> בוחרים מספר שלם אקראי </a:t>
            </a:r>
            <a:r>
              <a:rPr lang="en-US" dirty="0"/>
              <a:t>r</a:t>
            </a:r>
            <a:r>
              <a:rPr lang="he-IL" dirty="0"/>
              <a:t>.</a:t>
            </a:r>
          </a:p>
          <a:p>
            <a:endParaRPr lang="en-US" dirty="0"/>
          </a:p>
          <a:p>
            <a:r>
              <a:rPr lang="he-IL" b="1" dirty="0"/>
              <a:t>3. חישוב הטקסט המוצפן:</a:t>
            </a:r>
            <a:r>
              <a:rPr lang="he-IL" dirty="0"/>
              <a:t> </a:t>
            </a:r>
          </a:p>
          <a:p>
            <a:pPr lvl="1"/>
            <a:r>
              <a:rPr lang="en-US" dirty="0"/>
              <a:t>u1 = </a:t>
            </a:r>
            <a:r>
              <a:rPr lang="en-US" dirty="0" err="1"/>
              <a:t>g^r</a:t>
            </a:r>
            <a:r>
              <a:rPr lang="en-US" dirty="0"/>
              <a:t> mod p</a:t>
            </a:r>
          </a:p>
          <a:p>
            <a:pPr lvl="1"/>
            <a:r>
              <a:rPr lang="en-US" dirty="0"/>
              <a:t>u2 = y1^r mod p</a:t>
            </a:r>
          </a:p>
          <a:p>
            <a:pPr lvl="1"/>
            <a:r>
              <a:rPr lang="en-US" dirty="0"/>
              <a:t>u3 = y2^r mod p</a:t>
            </a:r>
          </a:p>
          <a:p>
            <a:pPr lvl="1"/>
            <a:r>
              <a:rPr lang="en-US" dirty="0"/>
              <a:t>v = m * (y1^r)^x2 mod p</a:t>
            </a:r>
            <a:endParaRPr lang="he-IL" dirty="0"/>
          </a:p>
          <a:p>
            <a:pPr lvl="1"/>
            <a:endParaRPr lang="en-US" dirty="0"/>
          </a:p>
          <a:p>
            <a:r>
              <a:rPr lang="he-IL" b="1" dirty="0"/>
              <a:t>הטקסט המוצפן:</a:t>
            </a:r>
            <a:r>
              <a:rPr lang="he-IL" dirty="0"/>
              <a:t> </a:t>
            </a:r>
            <a:r>
              <a:rPr lang="en-US" dirty="0"/>
              <a:t>u1, u2, u3, v)</a:t>
            </a:r>
            <a:r>
              <a:rPr lang="he-IL" dirty="0"/>
              <a:t>).</a:t>
            </a:r>
            <a:endParaRPr lang="en-US" dirty="0"/>
          </a:p>
          <a:p>
            <a:endParaRPr lang="he-IL" dirty="0"/>
          </a:p>
        </p:txBody>
      </p:sp>
    </p:spTree>
    <p:extLst>
      <p:ext uri="{BB962C8B-B14F-4D97-AF65-F5344CB8AC3E}">
        <p14:creationId xmlns:p14="http://schemas.microsoft.com/office/powerpoint/2010/main" val="3115696320"/>
      </p:ext>
    </p:extLst>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351818" y="642594"/>
            <a:ext cx="1773382" cy="1371600"/>
          </a:xfrm>
        </p:spPr>
        <p:txBody>
          <a:bodyPr>
            <a:normAutofit/>
          </a:bodyPr>
          <a:lstStyle/>
          <a:p>
            <a:r>
              <a:rPr lang="he-IL" dirty="0"/>
              <a:t>פענוח:</a:t>
            </a:r>
          </a:p>
        </p:txBody>
      </p:sp>
      <p:sp>
        <p:nvSpPr>
          <p:cNvPr id="3" name="מציין מיקום תוכן 2"/>
          <p:cNvSpPr>
            <a:spLocks noGrp="1"/>
          </p:cNvSpPr>
          <p:nvPr>
            <p:ph idx="1"/>
          </p:nvPr>
        </p:nvSpPr>
        <p:spPr/>
        <p:txBody>
          <a:bodyPr/>
          <a:lstStyle/>
          <a:p>
            <a:r>
              <a:rPr lang="he-IL" b="1" dirty="0"/>
              <a:t>חישוב ההודעה המקורית:</a:t>
            </a:r>
            <a:r>
              <a:rPr lang="he-IL" dirty="0"/>
              <a:t> </a:t>
            </a:r>
          </a:p>
          <a:p>
            <a:pPr lvl="1"/>
            <a:r>
              <a:rPr lang="en-US" dirty="0"/>
              <a:t>m = v * (u2^(x1) * u3^(-1)) mod p</a:t>
            </a:r>
            <a:endParaRPr lang="he-IL" dirty="0"/>
          </a:p>
          <a:p>
            <a:pPr marL="274320" lvl="1" indent="0">
              <a:buNone/>
            </a:pPr>
            <a:endParaRPr lang="en-US" dirty="0"/>
          </a:p>
          <a:p>
            <a:r>
              <a:rPr lang="he-IL" b="1" dirty="0"/>
              <a:t>ביטחון:</a:t>
            </a:r>
            <a:endParaRPr lang="he-IL" dirty="0"/>
          </a:p>
          <a:p>
            <a:r>
              <a:rPr lang="he-IL" dirty="0"/>
              <a:t>צופן </a:t>
            </a:r>
            <a:r>
              <a:rPr lang="he-IL" dirty="0" err="1"/>
              <a:t>קריימר-שופ</a:t>
            </a:r>
            <a:r>
              <a:rPr lang="he-IL" dirty="0"/>
              <a:t> נחשב לאחד מצפני ההצפנה האסימטריים הבטוחים ביותר כיום. הוא מספק רמת אבטחה גבוהה מאוד, ועמיד בפני התקפות ידועות, כולל התקפות של מחשבים קוונטיים.</a:t>
            </a:r>
          </a:p>
          <a:p>
            <a:endParaRPr lang="he-IL" dirty="0"/>
          </a:p>
        </p:txBody>
      </p:sp>
    </p:spTree>
    <p:extLst>
      <p:ext uri="{BB962C8B-B14F-4D97-AF65-F5344CB8AC3E}">
        <p14:creationId xmlns:p14="http://schemas.microsoft.com/office/powerpoint/2010/main" val="3980677628"/>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434945" y="185394"/>
            <a:ext cx="1690255" cy="1371600"/>
          </a:xfrm>
        </p:spPr>
        <p:txBody>
          <a:bodyPr/>
          <a:lstStyle/>
          <a:p>
            <a:r>
              <a:rPr lang="he-IL" dirty="0"/>
              <a:t>דוגמא </a:t>
            </a:r>
          </a:p>
        </p:txBody>
      </p:sp>
      <p:sp>
        <p:nvSpPr>
          <p:cNvPr id="3" name="מציין מיקום תוכן 2"/>
          <p:cNvSpPr>
            <a:spLocks noGrp="1"/>
          </p:cNvSpPr>
          <p:nvPr>
            <p:ph idx="1"/>
          </p:nvPr>
        </p:nvSpPr>
        <p:spPr>
          <a:xfrm>
            <a:off x="1066800" y="1556994"/>
            <a:ext cx="10058400" cy="4478046"/>
          </a:xfrm>
        </p:spPr>
        <p:txBody>
          <a:bodyPr>
            <a:normAutofit/>
          </a:bodyPr>
          <a:lstStyle/>
          <a:p>
            <a:r>
              <a:rPr lang="he-IL" sz="3200" b="1" u="sng" dirty="0"/>
              <a:t>יצירת מפתחות:</a:t>
            </a:r>
            <a:endParaRPr lang="he-IL" sz="3200" u="sng" dirty="0"/>
          </a:p>
          <a:p>
            <a:r>
              <a:rPr lang="he-IL" b="1" dirty="0"/>
              <a:t>בחירת פרמטרים:</a:t>
            </a:r>
            <a:r>
              <a:rPr lang="he-IL" dirty="0"/>
              <a:t> </a:t>
            </a:r>
          </a:p>
          <a:p>
            <a:pPr lvl="1"/>
            <a:r>
              <a:rPr lang="en-US" dirty="0"/>
              <a:t>) p = 23 </a:t>
            </a:r>
            <a:r>
              <a:rPr lang="he-IL" dirty="0"/>
              <a:t>מספר ראשוני גדול)</a:t>
            </a:r>
          </a:p>
          <a:p>
            <a:pPr lvl="1"/>
            <a:r>
              <a:rPr lang="en-US" dirty="0"/>
              <a:t>) g = 5 </a:t>
            </a:r>
            <a:r>
              <a:rPr lang="he-IL" dirty="0"/>
              <a:t>יוצר של החבורה </a:t>
            </a:r>
            <a:r>
              <a:rPr lang="he-IL" dirty="0" err="1"/>
              <a:t>הכפלית</a:t>
            </a:r>
            <a:r>
              <a:rPr lang="he-IL" dirty="0"/>
              <a:t> של </a:t>
            </a:r>
            <a:r>
              <a:rPr lang="en-US" dirty="0"/>
              <a:t>Z/23Z</a:t>
            </a:r>
            <a:r>
              <a:rPr lang="he-IL" dirty="0"/>
              <a:t>)</a:t>
            </a:r>
            <a:endParaRPr lang="en-US" dirty="0"/>
          </a:p>
          <a:p>
            <a:r>
              <a:rPr lang="he-IL" b="1" dirty="0"/>
              <a:t>בחירת מפתח פרטי:</a:t>
            </a:r>
            <a:r>
              <a:rPr lang="he-IL" dirty="0"/>
              <a:t> </a:t>
            </a:r>
          </a:p>
          <a:p>
            <a:pPr lvl="1"/>
            <a:r>
              <a:rPr lang="en-US" dirty="0"/>
              <a:t>x1 = 7</a:t>
            </a:r>
          </a:p>
          <a:p>
            <a:pPr lvl="1"/>
            <a:r>
              <a:rPr lang="en-US" dirty="0"/>
              <a:t>x2 = 11</a:t>
            </a:r>
          </a:p>
          <a:p>
            <a:r>
              <a:rPr lang="he-IL" b="1" dirty="0"/>
              <a:t>חישוב מפתח ציבורי:</a:t>
            </a:r>
            <a:r>
              <a:rPr lang="he-IL" dirty="0"/>
              <a:t> </a:t>
            </a:r>
          </a:p>
          <a:p>
            <a:pPr lvl="1"/>
            <a:r>
              <a:rPr lang="en-US" dirty="0"/>
              <a:t>y1 = g^x1 mod p = 5^7 mod 23 = 19</a:t>
            </a:r>
          </a:p>
          <a:p>
            <a:pPr lvl="1"/>
            <a:r>
              <a:rPr lang="en-US" dirty="0"/>
              <a:t>y2 = g^x2 mod p = 5^11 mod 23 = 2</a:t>
            </a:r>
          </a:p>
          <a:p>
            <a:r>
              <a:rPr lang="he-IL" b="1" dirty="0"/>
              <a:t>המפתח הציבורי:</a:t>
            </a:r>
            <a:r>
              <a:rPr lang="he-IL" dirty="0"/>
              <a:t> (23, 5, 19, 2)</a:t>
            </a:r>
          </a:p>
          <a:p>
            <a:r>
              <a:rPr lang="he-IL" b="1" dirty="0"/>
              <a:t>המפתח הפרטי:</a:t>
            </a:r>
            <a:r>
              <a:rPr lang="he-IL" dirty="0"/>
              <a:t> (7, 11)</a:t>
            </a:r>
          </a:p>
          <a:p>
            <a:endParaRPr lang="he-IL" dirty="0"/>
          </a:p>
        </p:txBody>
      </p:sp>
    </p:spTree>
    <p:extLst>
      <p:ext uri="{BB962C8B-B14F-4D97-AF65-F5344CB8AC3E}">
        <p14:creationId xmlns:p14="http://schemas.microsoft.com/office/powerpoint/2010/main" val="222246170"/>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348450" y="642594"/>
            <a:ext cx="3776749" cy="1371600"/>
          </a:xfrm>
        </p:spPr>
        <p:txBody>
          <a:bodyPr/>
          <a:lstStyle/>
          <a:p>
            <a:r>
              <a:rPr lang="he-IL" dirty="0"/>
              <a:t>דוגמא - המשך</a:t>
            </a:r>
          </a:p>
        </p:txBody>
      </p:sp>
      <p:sp>
        <p:nvSpPr>
          <p:cNvPr id="3" name="מציין מיקום תוכן 2"/>
          <p:cNvSpPr>
            <a:spLocks noGrp="1"/>
          </p:cNvSpPr>
          <p:nvPr>
            <p:ph idx="1"/>
          </p:nvPr>
        </p:nvSpPr>
        <p:spPr>
          <a:xfrm>
            <a:off x="1066800" y="2103120"/>
            <a:ext cx="10058400" cy="4164676"/>
          </a:xfrm>
        </p:spPr>
        <p:txBody>
          <a:bodyPr>
            <a:normAutofit lnSpcReduction="10000"/>
          </a:bodyPr>
          <a:lstStyle/>
          <a:p>
            <a:r>
              <a:rPr lang="he-IL" sz="3200" b="1" u="sng" dirty="0"/>
              <a:t>הצפנה:</a:t>
            </a:r>
            <a:endParaRPr lang="he-IL" sz="3200" u="sng" dirty="0"/>
          </a:p>
          <a:p>
            <a:r>
              <a:rPr lang="he-IL" b="1" dirty="0"/>
              <a:t>בחירת הודעה:</a:t>
            </a:r>
            <a:r>
              <a:rPr lang="he-IL" dirty="0"/>
              <a:t> </a:t>
            </a:r>
          </a:p>
          <a:p>
            <a:pPr lvl="1"/>
            <a:r>
              <a:rPr lang="en-US" dirty="0"/>
              <a:t>m = 15</a:t>
            </a:r>
          </a:p>
          <a:p>
            <a:r>
              <a:rPr lang="he-IL" b="1" dirty="0"/>
              <a:t>בחירת מספר אקראי:</a:t>
            </a:r>
            <a:r>
              <a:rPr lang="he-IL" dirty="0"/>
              <a:t> </a:t>
            </a:r>
          </a:p>
          <a:p>
            <a:pPr lvl="1"/>
            <a:r>
              <a:rPr lang="en-US" dirty="0"/>
              <a:t>r = 3</a:t>
            </a:r>
          </a:p>
          <a:p>
            <a:r>
              <a:rPr lang="he-IL" b="1" dirty="0"/>
              <a:t>חישוב הטקסט המוצפן:</a:t>
            </a:r>
            <a:r>
              <a:rPr lang="he-IL" dirty="0"/>
              <a:t> </a:t>
            </a:r>
          </a:p>
          <a:p>
            <a:pPr lvl="1"/>
            <a:r>
              <a:rPr lang="en-US" dirty="0"/>
              <a:t>u1 = </a:t>
            </a:r>
            <a:r>
              <a:rPr lang="en-US" dirty="0" err="1"/>
              <a:t>g^r</a:t>
            </a:r>
            <a:r>
              <a:rPr lang="en-US" dirty="0"/>
              <a:t> mod p = 5^3 mod 23 = 125 mod 23 = 10</a:t>
            </a:r>
          </a:p>
          <a:p>
            <a:pPr lvl="1"/>
            <a:r>
              <a:rPr lang="en-US" dirty="0"/>
              <a:t>u2 = y1^r mod p = 19^3 mod 23 = 6859 mod 23 = 16</a:t>
            </a:r>
          </a:p>
          <a:p>
            <a:pPr lvl="1"/>
            <a:r>
              <a:rPr lang="en-US" dirty="0"/>
              <a:t>u3 = y2^r mod p = 2^3 mod 23 = 8</a:t>
            </a:r>
          </a:p>
          <a:p>
            <a:pPr lvl="1"/>
            <a:r>
              <a:rPr lang="en-US" dirty="0"/>
              <a:t>v = m * (y1^r)^x2 mod p = 15 * (19^3)^11 mod 23 = 15 * 6859^11 mod 23 = 15 * 16^11 mod 23 = 15 * 2048 mod 23 = 15 * 2 mod 23 = 30 mod 23 = 7</a:t>
            </a:r>
          </a:p>
          <a:p>
            <a:r>
              <a:rPr lang="he-IL" b="1" dirty="0"/>
              <a:t>הטקסט המוצפן:</a:t>
            </a:r>
            <a:r>
              <a:rPr lang="he-IL" dirty="0"/>
              <a:t> (10, 16, 8, 7)</a:t>
            </a:r>
          </a:p>
        </p:txBody>
      </p:sp>
    </p:spTree>
    <p:extLst>
      <p:ext uri="{BB962C8B-B14F-4D97-AF65-F5344CB8AC3E}">
        <p14:creationId xmlns:p14="http://schemas.microsoft.com/office/powerpoint/2010/main" val="362906097"/>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223760" y="0"/>
            <a:ext cx="3901440" cy="1371600"/>
          </a:xfrm>
        </p:spPr>
        <p:txBody>
          <a:bodyPr/>
          <a:lstStyle/>
          <a:p>
            <a:r>
              <a:rPr lang="he-IL" dirty="0"/>
              <a:t>דוגמא - המשך</a:t>
            </a:r>
          </a:p>
        </p:txBody>
      </p:sp>
      <p:sp>
        <p:nvSpPr>
          <p:cNvPr id="3" name="מציין מיקום תוכן 2"/>
          <p:cNvSpPr>
            <a:spLocks noGrp="1"/>
          </p:cNvSpPr>
          <p:nvPr>
            <p:ph idx="1"/>
          </p:nvPr>
        </p:nvSpPr>
        <p:spPr>
          <a:xfrm>
            <a:off x="1066800" y="1429790"/>
            <a:ext cx="10058400" cy="4871258"/>
          </a:xfrm>
        </p:spPr>
        <p:txBody>
          <a:bodyPr>
            <a:normAutofit fontScale="85000" lnSpcReduction="10000"/>
          </a:bodyPr>
          <a:lstStyle/>
          <a:p>
            <a:r>
              <a:rPr lang="he-IL" dirty="0"/>
              <a:t>הסבר על: </a:t>
            </a:r>
            <a:r>
              <a:rPr lang="en-US" dirty="0"/>
              <a:t>15 * 6859^11 mod 23</a:t>
            </a:r>
            <a:endParaRPr lang="he-IL" dirty="0"/>
          </a:p>
          <a:p>
            <a:r>
              <a:rPr lang="he-IL" dirty="0"/>
              <a:t>נתחיל עם החזקה: 6859 בחזקת 11. זהו מספר עצום, אך לנו מעניין רק השארית שלו מחלוקה ב-23.</a:t>
            </a:r>
          </a:p>
          <a:p>
            <a:r>
              <a:rPr lang="he-IL" dirty="0"/>
              <a:t>בגלל שאנו משתמשים בחשבון מודולרי לכן, במקום לחשב 6859^11 ואז לחלק ב-23, נמצא את השארית של 6859 מחלוקה ב-23, ואז נעלה את השארית הזאת בחזקת 11. </a:t>
            </a:r>
          </a:p>
          <a:p>
            <a:r>
              <a:rPr lang="he-IL" dirty="0"/>
              <a:t>לכן, נקבל </a:t>
            </a:r>
            <a:r>
              <a:rPr lang="en-US" dirty="0"/>
              <a:t>16^11 mod 23</a:t>
            </a:r>
            <a:endParaRPr lang="he-IL" dirty="0"/>
          </a:p>
          <a:p>
            <a:r>
              <a:rPr lang="he-IL" dirty="0"/>
              <a:t>כעת נעלה את 16 בחזקת 11. גם כאן נקפיד למצוא את השארית מחלוקה ב-23 בכל שלב, כדי לא לעבוד עם מספרים עצומים.</a:t>
            </a:r>
          </a:p>
          <a:p>
            <a:r>
              <a:rPr lang="he-IL" dirty="0"/>
              <a:t>אחרי כמה פעולות של העלאה בריבוע ומציאת שארית, נקבל </a:t>
            </a:r>
            <a:r>
              <a:rPr lang="en-US" dirty="0"/>
              <a:t>mod 23 = 2048 mod 23</a:t>
            </a:r>
            <a:r>
              <a:rPr lang="he-IL" dirty="0"/>
              <a:t> 16^11</a:t>
            </a:r>
          </a:p>
          <a:p>
            <a:r>
              <a:rPr lang="en-US" dirty="0"/>
              <a:t>15 * 2048 mod 23</a:t>
            </a:r>
          </a:p>
          <a:p>
            <a:r>
              <a:rPr lang="he-IL" dirty="0"/>
              <a:t>נכפיל את 15 ב-2048. שוב, מעניין אותנו רק השארית מחלוקה ב-23.</a:t>
            </a:r>
          </a:p>
          <a:p>
            <a:r>
              <a:rPr lang="en-US" dirty="0"/>
              <a:t>mod 23 = 2</a:t>
            </a:r>
            <a:r>
              <a:rPr lang="he-IL" dirty="0"/>
              <a:t> 2048</a:t>
            </a:r>
            <a:endParaRPr lang="en-US" dirty="0"/>
          </a:p>
          <a:p>
            <a:r>
              <a:rPr lang="he-IL" dirty="0"/>
              <a:t>לכן, </a:t>
            </a:r>
            <a:r>
              <a:rPr lang="en-US" dirty="0"/>
              <a:t>mod 23 = 15 * 2 mod 23</a:t>
            </a:r>
            <a:r>
              <a:rPr lang="he-IL" dirty="0"/>
              <a:t> 15 * 2048 </a:t>
            </a:r>
          </a:p>
          <a:p>
            <a:r>
              <a:rPr lang="en-US" dirty="0"/>
              <a:t>15 * 2 mod 23 = 30 mod 23</a:t>
            </a:r>
          </a:p>
          <a:p>
            <a:r>
              <a:rPr lang="he-IL" dirty="0"/>
              <a:t>נכפיל את 15 ב-2 ונקבל 30.</a:t>
            </a:r>
          </a:p>
          <a:p>
            <a:r>
              <a:rPr lang="en-US" b="1" dirty="0"/>
              <a:t>30 mod 23 = 7</a:t>
            </a:r>
            <a:endParaRPr lang="en-US" dirty="0"/>
          </a:p>
          <a:p>
            <a:r>
              <a:rPr lang="he-IL" dirty="0"/>
              <a:t>השארית של 30 מחלוקה ב-23 היא 7.</a:t>
            </a:r>
          </a:p>
          <a:p>
            <a:endParaRPr lang="he-IL" dirty="0"/>
          </a:p>
          <a:p>
            <a:endParaRPr lang="en-US" dirty="0"/>
          </a:p>
          <a:p>
            <a:endParaRPr lang="he-IL" dirty="0"/>
          </a:p>
        </p:txBody>
      </p:sp>
    </p:spTree>
    <p:extLst>
      <p:ext uri="{BB962C8B-B14F-4D97-AF65-F5344CB8AC3E}">
        <p14:creationId xmlns:p14="http://schemas.microsoft.com/office/powerpoint/2010/main" val="2478888376"/>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115694" y="642594"/>
            <a:ext cx="4009505" cy="1371600"/>
          </a:xfrm>
        </p:spPr>
        <p:txBody>
          <a:bodyPr/>
          <a:lstStyle/>
          <a:p>
            <a:r>
              <a:rPr lang="he-IL" dirty="0"/>
              <a:t>דוגמא  - המשך</a:t>
            </a:r>
          </a:p>
        </p:txBody>
      </p:sp>
      <p:sp>
        <p:nvSpPr>
          <p:cNvPr id="3" name="מציין מיקום תוכן 2"/>
          <p:cNvSpPr>
            <a:spLocks noGrp="1"/>
          </p:cNvSpPr>
          <p:nvPr>
            <p:ph idx="1"/>
          </p:nvPr>
        </p:nvSpPr>
        <p:spPr>
          <a:xfrm>
            <a:off x="498764" y="2078182"/>
            <a:ext cx="11205556" cy="3931920"/>
          </a:xfrm>
        </p:spPr>
        <p:txBody>
          <a:bodyPr/>
          <a:lstStyle/>
          <a:p>
            <a:r>
              <a:rPr lang="he-IL" sz="3200" b="1" u="sng" dirty="0"/>
              <a:t>פענוח:</a:t>
            </a:r>
            <a:endParaRPr lang="he-IL" sz="3200" u="sng" dirty="0"/>
          </a:p>
          <a:p>
            <a:r>
              <a:rPr lang="he-IL" b="1" dirty="0"/>
              <a:t>חישוב ההודעה המקורית:</a:t>
            </a:r>
            <a:r>
              <a:rPr lang="he-IL" dirty="0"/>
              <a:t> </a:t>
            </a:r>
          </a:p>
          <a:p>
            <a:pPr lvl="1"/>
            <a:r>
              <a:rPr lang="en-US" dirty="0"/>
              <a:t>m = v * (u2^(x1) * u3^(-1)) mod p = 7 * (16^7 * 8^(-1)) mod 23</a:t>
            </a:r>
          </a:p>
          <a:p>
            <a:pPr lvl="1"/>
            <a:r>
              <a:rPr lang="en-US" dirty="0"/>
              <a:t>mod 23 = 3 (-1) ^ 8 </a:t>
            </a:r>
            <a:r>
              <a:rPr lang="he-IL" dirty="0"/>
              <a:t>(כי 8 * 3</a:t>
            </a:r>
            <a:r>
              <a:rPr lang="en-US" dirty="0"/>
              <a:t>mod 23 = 1</a:t>
            </a:r>
            <a:r>
              <a:rPr lang="he-IL" dirty="0"/>
              <a:t>)</a:t>
            </a:r>
            <a:endParaRPr lang="en-US" dirty="0"/>
          </a:p>
          <a:p>
            <a:pPr lvl="1"/>
            <a:r>
              <a:rPr lang="en-US" dirty="0"/>
              <a:t>m = 7 * (16^7 * 3) mod 23 = 7 * (279936 * 3) mod 23 = 7 * 839808 mod 23 = 7 * 15 mod 23 = 105 mod 23 = 15</a:t>
            </a:r>
            <a:endParaRPr lang="he-IL" dirty="0"/>
          </a:p>
          <a:p>
            <a:pPr lvl="1"/>
            <a:r>
              <a:rPr lang="he-IL" b="1" dirty="0"/>
              <a:t>ההודעה המקורית:</a:t>
            </a:r>
            <a:r>
              <a:rPr lang="he-IL" dirty="0"/>
              <a:t> 15</a:t>
            </a:r>
            <a:endParaRPr lang="en-US" dirty="0"/>
          </a:p>
          <a:p>
            <a:endParaRPr lang="he-IL" dirty="0"/>
          </a:p>
          <a:p>
            <a:r>
              <a:rPr lang="he-IL" b="1" dirty="0"/>
              <a:t>לסיכום:</a:t>
            </a:r>
            <a:endParaRPr lang="he-IL" dirty="0"/>
          </a:p>
          <a:p>
            <a:r>
              <a:rPr lang="he-IL" dirty="0"/>
              <a:t>הצפנו את ההודעה </a:t>
            </a:r>
            <a:r>
              <a:rPr lang="en-US" dirty="0"/>
              <a:t>m = 15 </a:t>
            </a:r>
            <a:r>
              <a:rPr lang="he-IL" dirty="0"/>
              <a:t>וקיבלנו את הטקסט המוצפן (10, 16, 8, 7). לאחר מכן, פענחנו את הטקסט המוצפן וקיבלנו את ההודעה המקורית </a:t>
            </a:r>
            <a:r>
              <a:rPr lang="en-US" dirty="0"/>
              <a:t>m = 15</a:t>
            </a:r>
          </a:p>
          <a:p>
            <a:endParaRPr lang="he-IL" dirty="0"/>
          </a:p>
        </p:txBody>
      </p:sp>
    </p:spTree>
    <p:extLst>
      <p:ext uri="{BB962C8B-B14F-4D97-AF65-F5344CB8AC3E}">
        <p14:creationId xmlns:p14="http://schemas.microsoft.com/office/powerpoint/2010/main" val="1317975177"/>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641869" y="193706"/>
            <a:ext cx="4483331" cy="1371600"/>
          </a:xfrm>
        </p:spPr>
        <p:txBody>
          <a:bodyPr/>
          <a:lstStyle/>
          <a:p>
            <a:r>
              <a:rPr lang="he-IL" dirty="0"/>
              <a:t>יתרונות וחסרונות</a:t>
            </a:r>
          </a:p>
        </p:txBody>
      </p:sp>
      <p:sp>
        <p:nvSpPr>
          <p:cNvPr id="3" name="מציין מיקום תוכן 2"/>
          <p:cNvSpPr>
            <a:spLocks noGrp="1"/>
          </p:cNvSpPr>
          <p:nvPr>
            <p:ph idx="1"/>
          </p:nvPr>
        </p:nvSpPr>
        <p:spPr>
          <a:xfrm>
            <a:off x="1066800" y="1404851"/>
            <a:ext cx="10058400" cy="4630189"/>
          </a:xfrm>
        </p:spPr>
        <p:txBody>
          <a:bodyPr>
            <a:normAutofit fontScale="92500" lnSpcReduction="10000"/>
          </a:bodyPr>
          <a:lstStyle/>
          <a:p>
            <a:r>
              <a:rPr lang="he-IL" b="1" dirty="0"/>
              <a:t>יתרונות:</a:t>
            </a:r>
            <a:endParaRPr lang="he-IL" dirty="0"/>
          </a:p>
          <a:p>
            <a:r>
              <a:rPr lang="he-IL" b="1" dirty="0"/>
              <a:t>1. ביטחון גבוה:</a:t>
            </a:r>
            <a:r>
              <a:rPr lang="he-IL" dirty="0"/>
              <a:t> עמידות מוכחת בפני התקפות שונות.</a:t>
            </a:r>
          </a:p>
          <a:p>
            <a:r>
              <a:rPr lang="he-IL" b="1" dirty="0"/>
              <a:t>2. גמישות:</a:t>
            </a:r>
            <a:r>
              <a:rPr lang="he-IL" dirty="0"/>
              <a:t> מתאים למגוון יישומים, כולל הצפנה וחתימה דיגיטלית.</a:t>
            </a:r>
          </a:p>
          <a:p>
            <a:endParaRPr lang="he-IL" dirty="0"/>
          </a:p>
          <a:p>
            <a:r>
              <a:rPr lang="he-IL" b="1" dirty="0"/>
              <a:t>חסרונות:</a:t>
            </a:r>
            <a:endParaRPr lang="he-IL" dirty="0"/>
          </a:p>
          <a:p>
            <a:r>
              <a:rPr lang="he-IL" b="1" dirty="0"/>
              <a:t>1. מורכבות:</a:t>
            </a:r>
            <a:r>
              <a:rPr lang="he-IL" dirty="0"/>
              <a:t> האלגוריתם מורכב יחסית להבנה וליישום.</a:t>
            </a:r>
          </a:p>
          <a:p>
            <a:r>
              <a:rPr lang="he-IL" b="1" dirty="0"/>
              <a:t>2. יעילות:</a:t>
            </a:r>
            <a:r>
              <a:rPr lang="he-IL" dirty="0"/>
              <a:t> פעולות ההצפנה והפענוח עשויות להיות איטיות יחסית.</a:t>
            </a:r>
          </a:p>
          <a:p>
            <a:endParaRPr lang="he-IL" dirty="0"/>
          </a:p>
          <a:p>
            <a:r>
              <a:rPr lang="he-IL" b="1" dirty="0"/>
              <a:t>שימושים:</a:t>
            </a:r>
            <a:endParaRPr lang="he-IL" dirty="0"/>
          </a:p>
          <a:p>
            <a:r>
              <a:rPr lang="he-IL" dirty="0"/>
              <a:t>צופן </a:t>
            </a:r>
            <a:r>
              <a:rPr lang="he-IL" dirty="0" err="1"/>
              <a:t>קריימר-שופ</a:t>
            </a:r>
            <a:r>
              <a:rPr lang="he-IL" dirty="0"/>
              <a:t> משמש בעיקר ביישומים שבהם נדרשת רמת אבטחה גבוהה במיוחד, כמו למשל:</a:t>
            </a:r>
          </a:p>
          <a:p>
            <a:r>
              <a:rPr lang="he-IL" dirty="0"/>
              <a:t>הצפנת מידע רגיש.</a:t>
            </a:r>
          </a:p>
          <a:p>
            <a:r>
              <a:rPr lang="he-IL" dirty="0"/>
              <a:t>חתימה דיגיטלית מאובטחת.</a:t>
            </a:r>
          </a:p>
          <a:p>
            <a:r>
              <a:rPr lang="he-IL" dirty="0"/>
              <a:t>פרוטוקולים </a:t>
            </a:r>
            <a:r>
              <a:rPr lang="he-IL" dirty="0" err="1"/>
              <a:t>קריפטוגרפיים</a:t>
            </a:r>
            <a:r>
              <a:rPr lang="he-IL" dirty="0"/>
              <a:t> מתקדמים.</a:t>
            </a:r>
          </a:p>
          <a:p>
            <a:endParaRPr lang="he-IL" dirty="0"/>
          </a:p>
        </p:txBody>
      </p:sp>
    </p:spTree>
    <p:extLst>
      <p:ext uri="{BB962C8B-B14F-4D97-AF65-F5344CB8AC3E}">
        <p14:creationId xmlns:p14="http://schemas.microsoft.com/office/powerpoint/2010/main" val="679098168"/>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a:xfrm>
            <a:off x="1066800" y="2427317"/>
            <a:ext cx="10058400" cy="3931920"/>
          </a:xfrm>
        </p:spPr>
        <p:txBody>
          <a:bodyPr>
            <a:normAutofit/>
          </a:bodyPr>
          <a:lstStyle/>
          <a:p>
            <a:pPr algn="ctr"/>
            <a:r>
              <a:rPr lang="he-IL" sz="6000" dirty="0"/>
              <a:t>הצפנת </a:t>
            </a:r>
            <a:r>
              <a:rPr lang="he-IL" sz="6000" dirty="0" err="1"/>
              <a:t>מאקליס</a:t>
            </a:r>
            <a:endParaRPr lang="he-IL" sz="6000" dirty="0"/>
          </a:p>
        </p:txBody>
      </p:sp>
    </p:spTree>
    <p:extLst>
      <p:ext uri="{BB962C8B-B14F-4D97-AF65-F5344CB8AC3E}">
        <p14:creationId xmlns:p14="http://schemas.microsoft.com/office/powerpoint/2010/main" val="4292551796"/>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567948" y="642594"/>
            <a:ext cx="1557251" cy="1371600"/>
          </a:xfrm>
        </p:spPr>
        <p:txBody>
          <a:bodyPr/>
          <a:lstStyle/>
          <a:p>
            <a:r>
              <a:rPr lang="he-IL" dirty="0"/>
              <a:t>מבוא</a:t>
            </a:r>
          </a:p>
        </p:txBody>
      </p:sp>
      <p:sp>
        <p:nvSpPr>
          <p:cNvPr id="3" name="מציין מיקום תוכן 2"/>
          <p:cNvSpPr>
            <a:spLocks noGrp="1"/>
          </p:cNvSpPr>
          <p:nvPr>
            <p:ph idx="1"/>
          </p:nvPr>
        </p:nvSpPr>
        <p:spPr/>
        <p:txBody>
          <a:bodyPr/>
          <a:lstStyle/>
          <a:p>
            <a:r>
              <a:rPr lang="he-IL" dirty="0"/>
              <a:t>צופן </a:t>
            </a:r>
            <a:r>
              <a:rPr lang="he-IL" dirty="0" err="1"/>
              <a:t>מקאליס</a:t>
            </a:r>
            <a:r>
              <a:rPr lang="he-IL" dirty="0"/>
              <a:t> הוא מערכת הצפנה אסימטרית שפותחה על ידי רוברט </a:t>
            </a:r>
            <a:r>
              <a:rPr lang="he-IL" dirty="0" err="1"/>
              <a:t>מקאליס</a:t>
            </a:r>
            <a:r>
              <a:rPr lang="he-IL" dirty="0"/>
              <a:t> בשנת 1978. היא נחשבת לאחת ממערכות ההצפנה הפוסט-קוונטיות המבטיחות ביותר, שכן היא עמידה בפני התקפות של מחשבים קוונטיים עתידיים.</a:t>
            </a:r>
          </a:p>
        </p:txBody>
      </p:sp>
    </p:spTree>
    <p:extLst>
      <p:ext uri="{BB962C8B-B14F-4D97-AF65-F5344CB8AC3E}">
        <p14:creationId xmlns:p14="http://schemas.microsoft.com/office/powerpoint/2010/main" val="436542461"/>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724996" y="642594"/>
            <a:ext cx="4400204" cy="1371600"/>
          </a:xfrm>
        </p:spPr>
        <p:txBody>
          <a:bodyPr/>
          <a:lstStyle/>
          <a:p>
            <a:r>
              <a:rPr lang="he-IL" dirty="0"/>
              <a:t>עקרונות מרכזיים:</a:t>
            </a:r>
          </a:p>
        </p:txBody>
      </p:sp>
      <p:sp>
        <p:nvSpPr>
          <p:cNvPr id="3" name="מציין מיקום תוכן 2"/>
          <p:cNvSpPr>
            <a:spLocks noGrp="1"/>
          </p:cNvSpPr>
          <p:nvPr>
            <p:ph idx="1"/>
          </p:nvPr>
        </p:nvSpPr>
        <p:spPr/>
        <p:txBody>
          <a:bodyPr/>
          <a:lstStyle/>
          <a:p>
            <a:r>
              <a:rPr lang="he-IL" b="1" dirty="0"/>
              <a:t>1. הצפנה אסימטרית:</a:t>
            </a:r>
            <a:r>
              <a:rPr lang="he-IL" dirty="0"/>
              <a:t> צופן </a:t>
            </a:r>
            <a:r>
              <a:rPr lang="he-IL" dirty="0" err="1"/>
              <a:t>מקאליס</a:t>
            </a:r>
            <a:r>
              <a:rPr lang="he-IL" dirty="0"/>
              <a:t> משתמש בשני מפתחות שונים - מפתח ציבורי ומפתח פרטי. המפתח הציבורי משמש להצפנה, והמפתח הפרטי משמש לפענוח.</a:t>
            </a:r>
          </a:p>
          <a:p>
            <a:endParaRPr lang="he-IL" dirty="0"/>
          </a:p>
          <a:p>
            <a:r>
              <a:rPr lang="he-IL" b="1" dirty="0"/>
              <a:t>2. קוד תיקון שגיאות:</a:t>
            </a:r>
            <a:r>
              <a:rPr lang="he-IL" dirty="0"/>
              <a:t> צופן </a:t>
            </a:r>
            <a:r>
              <a:rPr lang="he-IL" dirty="0" err="1"/>
              <a:t>מקאליס</a:t>
            </a:r>
            <a:r>
              <a:rPr lang="he-IL" dirty="0"/>
              <a:t> מבוסס על קוד תיקון שגיאות, שהוא קוד מתמטי שמאפשר זיהוי ותיקון שגיאות בהעברת מידע.</a:t>
            </a:r>
          </a:p>
          <a:p>
            <a:endParaRPr lang="he-IL" dirty="0"/>
          </a:p>
          <a:p>
            <a:r>
              <a:rPr lang="he-IL" b="1" dirty="0"/>
              <a:t>3. בעיית פענוח קוד ליניארי:</a:t>
            </a:r>
            <a:r>
              <a:rPr lang="he-IL" dirty="0"/>
              <a:t> ביטחון הצופן מבוסס על הקושי שבפענוח קוד ליניארי כללי, בעיה מתמטית קשה שדורשת כוח חישוב עצום.</a:t>
            </a:r>
          </a:p>
          <a:p>
            <a:endParaRPr lang="he-IL" dirty="0"/>
          </a:p>
        </p:txBody>
      </p:sp>
    </p:spTree>
    <p:extLst>
      <p:ext uri="{BB962C8B-B14F-4D97-AF65-F5344CB8AC3E}">
        <p14:creationId xmlns:p14="http://schemas.microsoft.com/office/powerpoint/2010/main" val="2102345964"/>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049192" y="642594"/>
            <a:ext cx="4076007" cy="1371600"/>
          </a:xfrm>
        </p:spPr>
        <p:txBody>
          <a:bodyPr/>
          <a:lstStyle/>
          <a:p>
            <a:r>
              <a:rPr lang="he-IL" dirty="0"/>
              <a:t>יצירת מפתחות:</a:t>
            </a:r>
          </a:p>
        </p:txBody>
      </p:sp>
      <p:sp>
        <p:nvSpPr>
          <p:cNvPr id="3" name="מציין מיקום תוכן 2"/>
          <p:cNvSpPr>
            <a:spLocks noGrp="1"/>
          </p:cNvSpPr>
          <p:nvPr>
            <p:ph idx="1"/>
          </p:nvPr>
        </p:nvSpPr>
        <p:spPr/>
        <p:txBody>
          <a:bodyPr/>
          <a:lstStyle/>
          <a:p>
            <a:r>
              <a:rPr lang="he-IL" b="1" dirty="0"/>
              <a:t>1. בחירת פרמטרים:</a:t>
            </a:r>
            <a:r>
              <a:rPr lang="he-IL" dirty="0"/>
              <a:t> בוחרים פרמטרים מתאימים, כמו אורך הקוד ויכולת תיקון השגיאות.</a:t>
            </a:r>
          </a:p>
          <a:p>
            <a:endParaRPr lang="he-IL" dirty="0"/>
          </a:p>
          <a:p>
            <a:r>
              <a:rPr lang="he-IL" b="1" dirty="0"/>
              <a:t>2. יצירת מטריצות:</a:t>
            </a:r>
            <a:r>
              <a:rPr lang="he-IL" dirty="0"/>
              <a:t> יוצרים מטריצה יוצרת </a:t>
            </a:r>
            <a:r>
              <a:rPr lang="en-US" dirty="0"/>
              <a:t> G</a:t>
            </a:r>
            <a:r>
              <a:rPr lang="he-IL" dirty="0"/>
              <a:t>ומטריצת בדיקה </a:t>
            </a:r>
            <a:r>
              <a:rPr lang="en-US" dirty="0"/>
              <a:t>H</a:t>
            </a:r>
            <a:endParaRPr lang="he-IL" dirty="0"/>
          </a:p>
          <a:p>
            <a:endParaRPr lang="en-US" dirty="0"/>
          </a:p>
          <a:p>
            <a:r>
              <a:rPr lang="he-IL" b="1" dirty="0"/>
              <a:t>3. המפתח הציבורי:</a:t>
            </a:r>
            <a:r>
              <a:rPr lang="he-IL" dirty="0"/>
              <a:t> המטריצה </a:t>
            </a:r>
            <a:r>
              <a:rPr lang="en-US" dirty="0"/>
              <a:t>G</a:t>
            </a:r>
            <a:endParaRPr lang="he-IL" dirty="0"/>
          </a:p>
          <a:p>
            <a:endParaRPr lang="en-US" dirty="0"/>
          </a:p>
          <a:p>
            <a:r>
              <a:rPr lang="he-IL" b="1" dirty="0"/>
              <a:t>4. המפתח הפרטי:</a:t>
            </a:r>
            <a:r>
              <a:rPr lang="he-IL" dirty="0"/>
              <a:t> מידע נוסף שמאפשר פענוח יעיל, כמו מטריצת הפענוח או מבנה הקוד.</a:t>
            </a:r>
          </a:p>
          <a:p>
            <a:endParaRPr lang="he-IL" dirty="0"/>
          </a:p>
        </p:txBody>
      </p:sp>
    </p:spTree>
    <p:extLst>
      <p:ext uri="{BB962C8B-B14F-4D97-AF65-F5344CB8AC3E}">
        <p14:creationId xmlns:p14="http://schemas.microsoft.com/office/powerpoint/2010/main" val="2738553817"/>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19062" y="642594"/>
            <a:ext cx="2006138" cy="1371600"/>
          </a:xfrm>
        </p:spPr>
        <p:txBody>
          <a:bodyPr>
            <a:normAutofit/>
          </a:bodyPr>
          <a:lstStyle/>
          <a:p>
            <a:r>
              <a:rPr lang="he-IL" dirty="0"/>
              <a:t>הצפנה:</a:t>
            </a:r>
          </a:p>
        </p:txBody>
      </p:sp>
      <p:sp>
        <p:nvSpPr>
          <p:cNvPr id="3" name="מציין מיקום תוכן 2"/>
          <p:cNvSpPr>
            <a:spLocks noGrp="1"/>
          </p:cNvSpPr>
          <p:nvPr>
            <p:ph idx="1"/>
          </p:nvPr>
        </p:nvSpPr>
        <p:spPr/>
        <p:txBody>
          <a:bodyPr/>
          <a:lstStyle/>
          <a:p>
            <a:r>
              <a:rPr lang="he-IL" b="1" dirty="0"/>
              <a:t>1. הכנת ההודעה:</a:t>
            </a:r>
            <a:r>
              <a:rPr lang="he-IL" dirty="0"/>
              <a:t> ההודעה </a:t>
            </a:r>
            <a:r>
              <a:rPr lang="en-US" smtClean="0"/>
              <a:t>m</a:t>
            </a:r>
            <a:r>
              <a:rPr lang="he-IL" smtClean="0"/>
              <a:t> מיוצגת </a:t>
            </a:r>
            <a:r>
              <a:rPr lang="he-IL" dirty="0"/>
              <a:t>כווקטור.</a:t>
            </a:r>
          </a:p>
          <a:p>
            <a:endParaRPr lang="he-IL" dirty="0"/>
          </a:p>
          <a:p>
            <a:r>
              <a:rPr lang="he-IL" b="1" dirty="0"/>
              <a:t>2. הוספת שגיאות:</a:t>
            </a:r>
            <a:r>
              <a:rPr lang="he-IL" dirty="0"/>
              <a:t> מוסיפים וקטור שגיאות אקראי </a:t>
            </a:r>
            <a:r>
              <a:rPr lang="en-US" dirty="0"/>
              <a:t>z</a:t>
            </a:r>
            <a:endParaRPr lang="he-IL" dirty="0"/>
          </a:p>
          <a:p>
            <a:endParaRPr lang="en-US" dirty="0"/>
          </a:p>
          <a:p>
            <a:r>
              <a:rPr lang="he-IL" b="1" dirty="0"/>
              <a:t>3. חישוב הטקסט המוצפן:</a:t>
            </a:r>
            <a:r>
              <a:rPr lang="he-IL" dirty="0"/>
              <a:t> </a:t>
            </a:r>
            <a:r>
              <a:rPr lang="en-US" dirty="0"/>
              <a:t>c = </a:t>
            </a:r>
            <a:r>
              <a:rPr lang="en-US" dirty="0" err="1"/>
              <a:t>mG</a:t>
            </a:r>
            <a:r>
              <a:rPr lang="en-US" dirty="0"/>
              <a:t> + z</a:t>
            </a:r>
          </a:p>
          <a:p>
            <a:endParaRPr lang="he-IL" dirty="0"/>
          </a:p>
        </p:txBody>
      </p:sp>
    </p:spTree>
    <p:extLst>
      <p:ext uri="{BB962C8B-B14F-4D97-AF65-F5344CB8AC3E}">
        <p14:creationId xmlns:p14="http://schemas.microsoft.com/office/powerpoint/2010/main" val="185476824"/>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68690" y="642594"/>
            <a:ext cx="1856509" cy="1371600"/>
          </a:xfrm>
        </p:spPr>
        <p:txBody>
          <a:bodyPr/>
          <a:lstStyle/>
          <a:p>
            <a:r>
              <a:rPr lang="he-IL" dirty="0"/>
              <a:t>פענוח:</a:t>
            </a:r>
          </a:p>
        </p:txBody>
      </p:sp>
      <p:sp>
        <p:nvSpPr>
          <p:cNvPr id="3" name="מציין מיקום תוכן 2"/>
          <p:cNvSpPr>
            <a:spLocks noGrp="1"/>
          </p:cNvSpPr>
          <p:nvPr>
            <p:ph idx="1"/>
          </p:nvPr>
        </p:nvSpPr>
        <p:spPr>
          <a:xfrm>
            <a:off x="1066799" y="2103120"/>
            <a:ext cx="10058400" cy="3931920"/>
          </a:xfrm>
        </p:spPr>
        <p:txBody>
          <a:bodyPr/>
          <a:lstStyle/>
          <a:p>
            <a:r>
              <a:rPr lang="he-IL" b="1" dirty="0"/>
              <a:t>1. תיקון שגיאות:</a:t>
            </a:r>
            <a:r>
              <a:rPr lang="he-IL" dirty="0"/>
              <a:t> משתמשים במפתח הפרטי כדי לתקן את השגיאות בטקסט המוצפן </a:t>
            </a:r>
            <a:r>
              <a:rPr lang="en-US" dirty="0"/>
              <a:t>c</a:t>
            </a:r>
          </a:p>
          <a:p>
            <a:endParaRPr lang="en-US" dirty="0"/>
          </a:p>
          <a:p>
            <a:r>
              <a:rPr lang="he-IL" b="1" dirty="0"/>
              <a:t>2. חילוץ ההודעה:</a:t>
            </a:r>
            <a:r>
              <a:rPr lang="he-IL" dirty="0"/>
              <a:t> לאחר תיקון השגיאות, מקבלים את ההודעה המקורית </a:t>
            </a:r>
            <a:r>
              <a:rPr lang="en-US" dirty="0"/>
              <a:t>m</a:t>
            </a:r>
          </a:p>
          <a:p>
            <a:endParaRPr lang="he-IL" dirty="0"/>
          </a:p>
        </p:txBody>
      </p:sp>
    </p:spTree>
    <p:extLst>
      <p:ext uri="{BB962C8B-B14F-4D97-AF65-F5344CB8AC3E}">
        <p14:creationId xmlns:p14="http://schemas.microsoft.com/office/powerpoint/2010/main" val="465976936"/>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310254" y="642594"/>
            <a:ext cx="1814945" cy="1371600"/>
          </a:xfrm>
        </p:spPr>
        <p:txBody>
          <a:bodyPr/>
          <a:lstStyle/>
          <a:p>
            <a:r>
              <a:rPr lang="he-IL" dirty="0"/>
              <a:t>דוגמא</a:t>
            </a:r>
          </a:p>
        </p:txBody>
      </p:sp>
      <p:sp>
        <p:nvSpPr>
          <p:cNvPr id="3" name="מציין מיקום תוכן 2"/>
          <p:cNvSpPr>
            <a:spLocks noGrp="1"/>
          </p:cNvSpPr>
          <p:nvPr>
            <p:ph idx="1"/>
          </p:nvPr>
        </p:nvSpPr>
        <p:spPr/>
        <p:txBody>
          <a:bodyPr>
            <a:normAutofit lnSpcReduction="10000"/>
          </a:bodyPr>
          <a:lstStyle/>
          <a:p>
            <a:r>
              <a:rPr lang="he-IL" b="1" dirty="0"/>
              <a:t>פרמטרים:</a:t>
            </a:r>
            <a:endParaRPr lang="he-IL" dirty="0"/>
          </a:p>
          <a:p>
            <a:r>
              <a:rPr lang="he-IL" dirty="0"/>
              <a:t>אורך הקוד: </a:t>
            </a:r>
            <a:r>
              <a:rPr lang="en-US" dirty="0"/>
              <a:t>n = 7</a:t>
            </a:r>
          </a:p>
          <a:p>
            <a:r>
              <a:rPr lang="he-IL" dirty="0" err="1"/>
              <a:t>מימד</a:t>
            </a:r>
            <a:r>
              <a:rPr lang="he-IL" dirty="0"/>
              <a:t> ההודעה: </a:t>
            </a:r>
            <a:r>
              <a:rPr lang="en-US" dirty="0"/>
              <a:t>k = 4</a:t>
            </a:r>
          </a:p>
          <a:p>
            <a:r>
              <a:rPr lang="he-IL" dirty="0"/>
              <a:t>יכולת תיקון שגיאות: </a:t>
            </a:r>
            <a:r>
              <a:rPr lang="en-US" dirty="0"/>
              <a:t>t = 1</a:t>
            </a:r>
          </a:p>
          <a:p>
            <a:r>
              <a:rPr lang="he-IL" sz="3200" b="1" u="sng" dirty="0"/>
              <a:t>יצירת מפתחות:</a:t>
            </a:r>
            <a:endParaRPr lang="he-IL" sz="3200" u="sng" dirty="0"/>
          </a:p>
          <a:p>
            <a:r>
              <a:rPr lang="he-IL" b="1" dirty="0"/>
              <a:t>מטריצה יוצרת </a:t>
            </a:r>
            <a:r>
              <a:rPr lang="en-US" b="1" dirty="0"/>
              <a:t>G</a:t>
            </a:r>
            <a:r>
              <a:rPr lang="he-IL" b="1" dirty="0"/>
              <a:t>:</a:t>
            </a:r>
          </a:p>
          <a:p>
            <a:pPr algn="l"/>
            <a:r>
              <a:rPr lang="en-US" dirty="0"/>
              <a:t>G = | 1 0 0 0 | | 0 1 0 0 | | 0 0 1 0 | | 0 0 0 1 | | 1 1 0 1 | | 0 1 1 0 | | 1 0 1 1 |</a:t>
            </a:r>
          </a:p>
          <a:p>
            <a:r>
              <a:rPr lang="he-IL" dirty="0"/>
              <a:t>מטריצת בדיקה </a:t>
            </a:r>
            <a:r>
              <a:rPr lang="en-US" dirty="0"/>
              <a:t>H</a:t>
            </a:r>
            <a:r>
              <a:rPr lang="he-IL" dirty="0"/>
              <a:t>:</a:t>
            </a:r>
          </a:p>
          <a:p>
            <a:pPr algn="l"/>
            <a:r>
              <a:rPr lang="en-US" dirty="0"/>
              <a:t>H = | 1 0 1 | | 1 1 1 | | 0 1 0 | | 1 0 1 | | 1 0 0 | | 0 1 0 | | 0 0 1 |</a:t>
            </a:r>
            <a:endParaRPr lang="he-IL" dirty="0"/>
          </a:p>
          <a:p>
            <a:r>
              <a:rPr lang="he-IL" b="1" dirty="0"/>
              <a:t>המפתח הציבורי:</a:t>
            </a:r>
            <a:r>
              <a:rPr lang="he-IL" dirty="0"/>
              <a:t> </a:t>
            </a:r>
            <a:r>
              <a:rPr lang="en-US" dirty="0"/>
              <a:t>G</a:t>
            </a:r>
            <a:r>
              <a:rPr lang="he-IL" dirty="0"/>
              <a:t> </a:t>
            </a:r>
            <a:r>
              <a:rPr lang="he-IL" b="1" dirty="0"/>
              <a:t>המפתח הפרטי:</a:t>
            </a:r>
            <a:r>
              <a:rPr lang="he-IL" dirty="0"/>
              <a:t> מידע נוסף שמאפשר פענוח יעיל (לא נכלל בדוגמה זו)</a:t>
            </a:r>
            <a:endParaRPr lang="en-US" dirty="0"/>
          </a:p>
          <a:p>
            <a:endParaRPr lang="he-IL" dirty="0"/>
          </a:p>
        </p:txBody>
      </p:sp>
    </p:spTree>
    <p:extLst>
      <p:ext uri="{BB962C8B-B14F-4D97-AF65-F5344CB8AC3E}">
        <p14:creationId xmlns:p14="http://schemas.microsoft.com/office/powerpoint/2010/main" val="409815833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365076" y="642594"/>
            <a:ext cx="3760124" cy="1371600"/>
          </a:xfrm>
        </p:spPr>
        <p:txBody>
          <a:bodyPr/>
          <a:lstStyle/>
          <a:p>
            <a:r>
              <a:rPr lang="he-IL" dirty="0"/>
              <a:t>דוגמא – המשך </a:t>
            </a:r>
          </a:p>
        </p:txBody>
      </p:sp>
      <p:sp>
        <p:nvSpPr>
          <p:cNvPr id="3" name="מציין מיקום תוכן 2"/>
          <p:cNvSpPr>
            <a:spLocks noGrp="1"/>
          </p:cNvSpPr>
          <p:nvPr>
            <p:ph idx="1"/>
          </p:nvPr>
        </p:nvSpPr>
        <p:spPr/>
        <p:txBody>
          <a:bodyPr/>
          <a:lstStyle/>
          <a:p>
            <a:r>
              <a:rPr lang="he-IL" sz="3200" b="1" u="sng" dirty="0"/>
              <a:t>הצפנה:</a:t>
            </a:r>
            <a:endParaRPr lang="he-IL" sz="3200" u="sng" dirty="0"/>
          </a:p>
          <a:p>
            <a:r>
              <a:rPr lang="he-IL" b="1" dirty="0"/>
              <a:t>הודעה:</a:t>
            </a:r>
            <a:r>
              <a:rPr lang="he-IL" dirty="0"/>
              <a:t> </a:t>
            </a:r>
            <a:r>
              <a:rPr lang="en-US" dirty="0"/>
              <a:t>m = (1 0 1 1)</a:t>
            </a:r>
          </a:p>
          <a:p>
            <a:r>
              <a:rPr lang="he-IL" b="1" dirty="0"/>
              <a:t>וקטור שגיאות:</a:t>
            </a:r>
            <a:r>
              <a:rPr lang="he-IL" dirty="0"/>
              <a:t> </a:t>
            </a:r>
            <a:r>
              <a:rPr lang="en-US" dirty="0"/>
              <a:t>z = (0 0 1 0 0 0 0)</a:t>
            </a:r>
          </a:p>
          <a:p>
            <a:r>
              <a:rPr lang="he-IL" b="1" dirty="0"/>
              <a:t>חישוב הטקסט המוצפן:</a:t>
            </a:r>
            <a:endParaRPr lang="he-IL" dirty="0"/>
          </a:p>
          <a:p>
            <a:pPr lvl="1"/>
            <a:r>
              <a:rPr lang="en-US" dirty="0"/>
              <a:t>c = </a:t>
            </a:r>
            <a:r>
              <a:rPr lang="en-US" dirty="0" err="1"/>
              <a:t>mG</a:t>
            </a:r>
            <a:r>
              <a:rPr lang="en-US" dirty="0"/>
              <a:t> + z = (1 0 1 1) * G + (0 0 1 0 0 0 0) = (1 1 0 1 1 0 1) + (0 0 1 0 0 0 0) = (1 1 1 1 1 0 1)</a:t>
            </a:r>
          </a:p>
          <a:p>
            <a:r>
              <a:rPr lang="he-IL" b="1" dirty="0"/>
              <a:t>הטקסט המוצפן:</a:t>
            </a:r>
            <a:r>
              <a:rPr lang="he-IL" dirty="0"/>
              <a:t> </a:t>
            </a:r>
            <a:r>
              <a:rPr lang="en-US" dirty="0"/>
              <a:t>c = (1 1 1 1 1 0 1)</a:t>
            </a:r>
          </a:p>
          <a:p>
            <a:endParaRPr lang="he-IL" dirty="0"/>
          </a:p>
        </p:txBody>
      </p:sp>
    </p:spTree>
    <p:extLst>
      <p:ext uri="{BB962C8B-B14F-4D97-AF65-F5344CB8AC3E}">
        <p14:creationId xmlns:p14="http://schemas.microsoft.com/office/powerpoint/2010/main" val="228416024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248698" y="642594"/>
            <a:ext cx="3876502" cy="1371600"/>
          </a:xfrm>
        </p:spPr>
        <p:txBody>
          <a:bodyPr/>
          <a:lstStyle/>
          <a:p>
            <a:r>
              <a:rPr lang="he-IL" dirty="0"/>
              <a:t>דוגמא  - המשך</a:t>
            </a:r>
          </a:p>
        </p:txBody>
      </p:sp>
      <p:sp>
        <p:nvSpPr>
          <p:cNvPr id="3" name="מציין מיקום תוכן 2"/>
          <p:cNvSpPr>
            <a:spLocks noGrp="1"/>
          </p:cNvSpPr>
          <p:nvPr>
            <p:ph idx="1"/>
          </p:nvPr>
        </p:nvSpPr>
        <p:spPr/>
        <p:txBody>
          <a:bodyPr/>
          <a:lstStyle/>
          <a:p>
            <a:r>
              <a:rPr lang="he-IL" sz="3200" b="1" u="sng" dirty="0"/>
              <a:t>פענוח:</a:t>
            </a:r>
            <a:endParaRPr lang="he-IL" sz="3200" u="sng" dirty="0"/>
          </a:p>
          <a:p>
            <a:r>
              <a:rPr lang="he-IL" b="1" dirty="0"/>
              <a:t>1. תיקון שגיאות:</a:t>
            </a:r>
            <a:endParaRPr lang="he-IL" dirty="0"/>
          </a:p>
          <a:p>
            <a:pPr lvl="1"/>
            <a:r>
              <a:rPr lang="he-IL" dirty="0"/>
              <a:t>בעזרת המפתח הפרטי (לא נכלל בדוגמה זו), ניתן לזהות ולתקן את השגיאה בטקסט המוצפן.</a:t>
            </a:r>
          </a:p>
          <a:p>
            <a:pPr lvl="1"/>
            <a:endParaRPr lang="he-IL" dirty="0"/>
          </a:p>
          <a:p>
            <a:r>
              <a:rPr lang="he-IL" b="1" dirty="0"/>
              <a:t>2. חילוץ ההודעה:</a:t>
            </a:r>
            <a:endParaRPr lang="he-IL" dirty="0"/>
          </a:p>
          <a:p>
            <a:pPr lvl="1"/>
            <a:r>
              <a:rPr lang="he-IL" dirty="0"/>
              <a:t>לאחר תיקון השגיאות, מתקבלת ההודעה המקורית </a:t>
            </a:r>
            <a:r>
              <a:rPr lang="en-US" dirty="0"/>
              <a:t>m = (1 0 1 1)</a:t>
            </a:r>
            <a:r>
              <a:rPr lang="he-IL" dirty="0"/>
              <a:t>.</a:t>
            </a:r>
            <a:endParaRPr lang="en-US" dirty="0"/>
          </a:p>
          <a:p>
            <a:endParaRPr lang="he-IL" dirty="0"/>
          </a:p>
        </p:txBody>
      </p:sp>
    </p:spTree>
    <p:extLst>
      <p:ext uri="{BB962C8B-B14F-4D97-AF65-F5344CB8AC3E}">
        <p14:creationId xmlns:p14="http://schemas.microsoft.com/office/powerpoint/2010/main" val="22016097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724996" y="127205"/>
            <a:ext cx="4400204" cy="1371600"/>
          </a:xfrm>
        </p:spPr>
        <p:txBody>
          <a:bodyPr/>
          <a:lstStyle/>
          <a:p>
            <a:r>
              <a:rPr lang="he-IL" dirty="0"/>
              <a:t>יתרונות וחסרונות</a:t>
            </a:r>
          </a:p>
        </p:txBody>
      </p:sp>
      <p:sp>
        <p:nvSpPr>
          <p:cNvPr id="3" name="מציין מיקום תוכן 2"/>
          <p:cNvSpPr>
            <a:spLocks noGrp="1"/>
          </p:cNvSpPr>
          <p:nvPr>
            <p:ph idx="1"/>
          </p:nvPr>
        </p:nvSpPr>
        <p:spPr>
          <a:xfrm>
            <a:off x="1066800" y="1122219"/>
            <a:ext cx="10058400" cy="5386646"/>
          </a:xfrm>
        </p:spPr>
        <p:txBody>
          <a:bodyPr>
            <a:normAutofit fontScale="92500" lnSpcReduction="20000"/>
          </a:bodyPr>
          <a:lstStyle/>
          <a:p>
            <a:r>
              <a:rPr lang="he-IL" b="1" dirty="0"/>
              <a:t>ביטחון:</a:t>
            </a:r>
            <a:endParaRPr lang="he-IL" dirty="0"/>
          </a:p>
          <a:p>
            <a:r>
              <a:rPr lang="he-IL" dirty="0"/>
              <a:t>ביטחון צופן </a:t>
            </a:r>
            <a:r>
              <a:rPr lang="he-IL" dirty="0" err="1"/>
              <a:t>מקאליס</a:t>
            </a:r>
            <a:r>
              <a:rPr lang="he-IL" dirty="0"/>
              <a:t> מבוסס על הקושי שבפענוח קוד ליניארי כללי. בעיה זו נחשבת קשה מאוד לפתרון, ולכן צופן </a:t>
            </a:r>
            <a:r>
              <a:rPr lang="he-IL" dirty="0" err="1"/>
              <a:t>מקאליס</a:t>
            </a:r>
            <a:r>
              <a:rPr lang="he-IL" dirty="0"/>
              <a:t> נחשב לבטוח.</a:t>
            </a:r>
          </a:p>
          <a:p>
            <a:endParaRPr lang="he-IL" dirty="0"/>
          </a:p>
          <a:p>
            <a:r>
              <a:rPr lang="he-IL" b="1" dirty="0"/>
              <a:t>יתרונות:</a:t>
            </a:r>
            <a:endParaRPr lang="he-IL" dirty="0"/>
          </a:p>
          <a:p>
            <a:r>
              <a:rPr lang="he-IL" b="1" dirty="0"/>
              <a:t>1. עמידות בפני התקפות קוונטיות:</a:t>
            </a:r>
            <a:r>
              <a:rPr lang="he-IL" dirty="0"/>
              <a:t> צופן </a:t>
            </a:r>
            <a:r>
              <a:rPr lang="he-IL" dirty="0" err="1"/>
              <a:t>מקאליס</a:t>
            </a:r>
            <a:r>
              <a:rPr lang="he-IL" dirty="0"/>
              <a:t> נחשב לעמיד בפני התקפות של מחשבים קוונטיים עתידיים.</a:t>
            </a:r>
          </a:p>
          <a:p>
            <a:r>
              <a:rPr lang="he-IL" b="1" dirty="0"/>
              <a:t>2. יעילות:</a:t>
            </a:r>
            <a:r>
              <a:rPr lang="he-IL" dirty="0"/>
              <a:t> פעולות ההצפנה והפענוח יחסית מהירות.</a:t>
            </a:r>
          </a:p>
          <a:p>
            <a:endParaRPr lang="he-IL" dirty="0"/>
          </a:p>
          <a:p>
            <a:r>
              <a:rPr lang="he-IL" b="1" dirty="0"/>
              <a:t>חסרונות:</a:t>
            </a:r>
            <a:endParaRPr lang="he-IL" dirty="0"/>
          </a:p>
          <a:p>
            <a:r>
              <a:rPr lang="he-IL" b="1" dirty="0"/>
              <a:t>1. גודל מפתח גדול:</a:t>
            </a:r>
            <a:r>
              <a:rPr lang="he-IL" dirty="0"/>
              <a:t> המפתח הציבורי בצופן </a:t>
            </a:r>
            <a:r>
              <a:rPr lang="he-IL" dirty="0" err="1"/>
              <a:t>מקאליס</a:t>
            </a:r>
            <a:r>
              <a:rPr lang="he-IL" dirty="0"/>
              <a:t> גדול מאוד, מהווה חיסרון מבחינת אחסון ושידור.</a:t>
            </a:r>
          </a:p>
          <a:p>
            <a:r>
              <a:rPr lang="he-IL" b="1" dirty="0"/>
              <a:t>2. מורכבות:</a:t>
            </a:r>
            <a:r>
              <a:rPr lang="he-IL" dirty="0"/>
              <a:t> האלגוריתם מורכב יחסית להבנה וליישום.</a:t>
            </a:r>
          </a:p>
          <a:p>
            <a:endParaRPr lang="he-IL" dirty="0"/>
          </a:p>
          <a:p>
            <a:r>
              <a:rPr lang="he-IL" b="1" dirty="0"/>
              <a:t>שימושים:</a:t>
            </a:r>
            <a:endParaRPr lang="he-IL" dirty="0"/>
          </a:p>
          <a:p>
            <a:r>
              <a:rPr lang="he-IL" dirty="0"/>
              <a:t>צופן </a:t>
            </a:r>
            <a:r>
              <a:rPr lang="he-IL" dirty="0" err="1"/>
              <a:t>מקאליס</a:t>
            </a:r>
            <a:r>
              <a:rPr lang="he-IL" dirty="0"/>
              <a:t> משמש בעיקר ביישומים שבהם נדרשת עמידות בפני התקפות קוונטיות, כמו למשל:</a:t>
            </a:r>
          </a:p>
          <a:p>
            <a:r>
              <a:rPr lang="he-IL" dirty="0"/>
              <a:t>הצפנת מידע רגיש.</a:t>
            </a:r>
          </a:p>
          <a:p>
            <a:r>
              <a:rPr lang="he-IL" dirty="0"/>
              <a:t>חתימה דיגיטלית מאובטחת.</a:t>
            </a:r>
          </a:p>
          <a:p>
            <a:r>
              <a:rPr lang="he-IL" dirty="0"/>
              <a:t>פרוטוקולים </a:t>
            </a:r>
            <a:r>
              <a:rPr lang="he-IL" dirty="0" err="1"/>
              <a:t>קריפטוגרפיים</a:t>
            </a:r>
            <a:r>
              <a:rPr lang="he-IL" dirty="0"/>
              <a:t> עמידים בפני קוונטים.</a:t>
            </a:r>
          </a:p>
          <a:p>
            <a:endParaRPr lang="he-IL" dirty="0"/>
          </a:p>
        </p:txBody>
      </p:sp>
    </p:spTree>
    <p:extLst>
      <p:ext uri="{BB962C8B-B14F-4D97-AF65-F5344CB8AC3E}">
        <p14:creationId xmlns:p14="http://schemas.microsoft.com/office/powerpoint/2010/main" val="1098776635"/>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18814" y="642594"/>
            <a:ext cx="1906385"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מהו סוג ההצפנה שבו משתמש צופן </a:t>
            </a:r>
            <a:r>
              <a:rPr lang="he-IL" dirty="0" err="1"/>
              <a:t>מקאליס</a:t>
            </a:r>
            <a:r>
              <a:rPr lang="he-IL" dirty="0"/>
              <a:t>?</a:t>
            </a:r>
          </a:p>
          <a:p>
            <a:r>
              <a:rPr lang="he-IL" dirty="0"/>
              <a:t>2. על איזה רעיון מתמטי מבוסס צופן </a:t>
            </a:r>
            <a:r>
              <a:rPr lang="he-IL" dirty="0" err="1"/>
              <a:t>מקאליס</a:t>
            </a:r>
            <a:r>
              <a:rPr lang="he-IL" dirty="0"/>
              <a:t>?</a:t>
            </a:r>
          </a:p>
          <a:p>
            <a:r>
              <a:rPr lang="he-IL" dirty="0"/>
              <a:t>3. מהם שני המרכיבים המרכזיים של המפתח הציבורי בצופן </a:t>
            </a:r>
            <a:r>
              <a:rPr lang="he-IL" dirty="0" err="1"/>
              <a:t>מקאליס</a:t>
            </a:r>
            <a:r>
              <a:rPr lang="he-IL" dirty="0"/>
              <a:t>?</a:t>
            </a:r>
          </a:p>
          <a:p>
            <a:r>
              <a:rPr lang="he-IL" dirty="0"/>
              <a:t>4. מהו המפתח הפרטי בצופן </a:t>
            </a:r>
            <a:r>
              <a:rPr lang="he-IL" dirty="0" err="1"/>
              <a:t>מקאליס</a:t>
            </a:r>
            <a:r>
              <a:rPr lang="he-IL" dirty="0"/>
              <a:t>?</a:t>
            </a:r>
          </a:p>
          <a:p>
            <a:r>
              <a:rPr lang="he-IL" dirty="0"/>
              <a:t>5. מהם שלושת השלבים העיקריים בתהליך ההצפנה בצופן </a:t>
            </a:r>
            <a:r>
              <a:rPr lang="he-IL" dirty="0" err="1"/>
              <a:t>מקאליס</a:t>
            </a:r>
            <a:r>
              <a:rPr lang="he-IL" dirty="0"/>
              <a:t>?</a:t>
            </a:r>
          </a:p>
          <a:p>
            <a:r>
              <a:rPr lang="he-IL" dirty="0"/>
              <a:t>6. כיצד מתבצעת ההצפנה בפועל בצופן </a:t>
            </a:r>
            <a:r>
              <a:rPr lang="he-IL" dirty="0" err="1"/>
              <a:t>מקאליס</a:t>
            </a:r>
            <a:r>
              <a:rPr lang="he-IL" dirty="0"/>
              <a:t>?</a:t>
            </a:r>
          </a:p>
          <a:p>
            <a:endParaRPr lang="he-IL" dirty="0"/>
          </a:p>
        </p:txBody>
      </p:sp>
    </p:spTree>
    <p:extLst>
      <p:ext uri="{BB962C8B-B14F-4D97-AF65-F5344CB8AC3E}">
        <p14:creationId xmlns:p14="http://schemas.microsoft.com/office/powerpoint/2010/main" val="613397385"/>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86058" y="642594"/>
            <a:ext cx="2139142" cy="1371600"/>
          </a:xfrm>
        </p:spPr>
        <p:txBody>
          <a:bodyPr/>
          <a:lstStyle/>
          <a:p>
            <a:r>
              <a:rPr lang="he-IL" dirty="0"/>
              <a:t>תשובות</a:t>
            </a:r>
          </a:p>
        </p:txBody>
      </p:sp>
      <p:sp>
        <p:nvSpPr>
          <p:cNvPr id="3" name="מציין מיקום תוכן 2"/>
          <p:cNvSpPr>
            <a:spLocks noGrp="1"/>
          </p:cNvSpPr>
          <p:nvPr>
            <p:ph idx="1"/>
          </p:nvPr>
        </p:nvSpPr>
        <p:spPr/>
        <p:txBody>
          <a:bodyPr/>
          <a:lstStyle/>
          <a:p>
            <a:r>
              <a:rPr lang="he-IL" dirty="0"/>
              <a:t>1. הצפנה אסימטרית.</a:t>
            </a:r>
          </a:p>
          <a:p>
            <a:r>
              <a:rPr lang="he-IL" dirty="0"/>
              <a:t>2. קוד תיקון שגיאות.</a:t>
            </a:r>
          </a:p>
          <a:p>
            <a:r>
              <a:rPr lang="he-IL" dirty="0"/>
              <a:t>3. מטריצה יוצרת</a:t>
            </a:r>
            <a:r>
              <a:rPr lang="en-US" dirty="0"/>
              <a:t> G </a:t>
            </a:r>
            <a:r>
              <a:rPr lang="he-IL" dirty="0"/>
              <a:t>ומטריצת בדיקה </a:t>
            </a:r>
            <a:r>
              <a:rPr lang="en-US" dirty="0"/>
              <a:t>H</a:t>
            </a:r>
            <a:endParaRPr lang="he-IL" dirty="0"/>
          </a:p>
          <a:p>
            <a:r>
              <a:rPr lang="he-IL" dirty="0"/>
              <a:t>4. מידע נוסף שמאפשר פענוח יעיל, כמו מטריצת הפענוח או מבנה הקוד.</a:t>
            </a:r>
          </a:p>
          <a:p>
            <a:r>
              <a:rPr lang="he-IL" dirty="0"/>
              <a:t>5. הכנת ההודעה, הוספת שגיאות, חישוב הטקסט המוצפן.</a:t>
            </a:r>
          </a:p>
          <a:p>
            <a:r>
              <a:rPr lang="he-IL" dirty="0"/>
              <a:t>6. ההצפנה מתבצעת על ידי חישוב </a:t>
            </a:r>
            <a:r>
              <a:rPr lang="en-US" dirty="0"/>
              <a:t> c = </a:t>
            </a:r>
            <a:r>
              <a:rPr lang="en-US" dirty="0" err="1"/>
              <a:t>mG</a:t>
            </a:r>
            <a:r>
              <a:rPr lang="en-US" dirty="0"/>
              <a:t> + z</a:t>
            </a:r>
            <a:r>
              <a:rPr lang="he-IL" dirty="0"/>
              <a:t>כאשר </a:t>
            </a:r>
            <a:r>
              <a:rPr lang="en-US" dirty="0"/>
              <a:t>m </a:t>
            </a:r>
            <a:r>
              <a:rPr lang="he-IL" dirty="0"/>
              <a:t>היא ההודעה,</a:t>
            </a:r>
            <a:r>
              <a:rPr lang="en-US" dirty="0"/>
              <a:t> G </a:t>
            </a:r>
            <a:r>
              <a:rPr lang="he-IL" dirty="0"/>
              <a:t>היא המטריצה היוצרת ו-</a:t>
            </a:r>
            <a:r>
              <a:rPr lang="en-US" dirty="0"/>
              <a:t>z </a:t>
            </a:r>
            <a:r>
              <a:rPr lang="he-IL" dirty="0"/>
              <a:t> הוא וקטור השגיאות.</a:t>
            </a:r>
          </a:p>
          <a:p>
            <a:endParaRPr lang="he-IL" dirty="0"/>
          </a:p>
        </p:txBody>
      </p:sp>
    </p:spTree>
    <p:extLst>
      <p:ext uri="{BB962C8B-B14F-4D97-AF65-F5344CB8AC3E}">
        <p14:creationId xmlns:p14="http://schemas.microsoft.com/office/powerpoint/2010/main" val="44368938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a:xfrm>
            <a:off x="1066800" y="2651760"/>
            <a:ext cx="10058400" cy="3931920"/>
          </a:xfrm>
        </p:spPr>
        <p:txBody>
          <a:bodyPr>
            <a:normAutofit/>
          </a:bodyPr>
          <a:lstStyle/>
          <a:p>
            <a:pPr algn="ctr"/>
            <a:r>
              <a:rPr lang="he-IL" sz="5400" dirty="0"/>
              <a:t>הצפנת התרמיל</a:t>
            </a:r>
          </a:p>
        </p:txBody>
      </p:sp>
    </p:spTree>
    <p:extLst>
      <p:ext uri="{BB962C8B-B14F-4D97-AF65-F5344CB8AC3E}">
        <p14:creationId xmlns:p14="http://schemas.microsoft.com/office/powerpoint/2010/main" val="755377368"/>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584574" y="642594"/>
            <a:ext cx="1540625" cy="1371600"/>
          </a:xfrm>
        </p:spPr>
        <p:txBody>
          <a:bodyPr/>
          <a:lstStyle/>
          <a:p>
            <a:r>
              <a:rPr lang="he-IL" dirty="0"/>
              <a:t>מבוא</a:t>
            </a:r>
          </a:p>
        </p:txBody>
      </p:sp>
      <p:sp>
        <p:nvSpPr>
          <p:cNvPr id="3" name="מציין מיקום תוכן 2"/>
          <p:cNvSpPr>
            <a:spLocks noGrp="1"/>
          </p:cNvSpPr>
          <p:nvPr>
            <p:ph idx="1"/>
          </p:nvPr>
        </p:nvSpPr>
        <p:spPr/>
        <p:txBody>
          <a:bodyPr/>
          <a:lstStyle/>
          <a:p>
            <a:r>
              <a:rPr lang="he-IL" dirty="0"/>
              <a:t>הצפנת התרמיל היא שיטת הצפנה אסימטרית מוקדמת שהוצעה בשנת 1978 על ידי </a:t>
            </a:r>
            <a:r>
              <a:rPr lang="he-IL" dirty="0" err="1"/>
              <a:t>רלף</a:t>
            </a:r>
            <a:r>
              <a:rPr lang="he-IL" dirty="0"/>
              <a:t> מרקל ומרטין הלמן. הרעיון המרכזי מבוסס על בעיית </a:t>
            </a:r>
            <a:r>
              <a:rPr lang="he-IL" b="1" dirty="0"/>
              <a:t>התרמיל</a:t>
            </a:r>
            <a:r>
              <a:rPr lang="en-US" b="1" dirty="0"/>
              <a:t>Knapsack Problem</a:t>
            </a:r>
            <a:r>
              <a:rPr lang="en-US" dirty="0"/>
              <a:t> </a:t>
            </a:r>
            <a:r>
              <a:rPr lang="he-IL" dirty="0"/>
              <a:t> שהיא בעיה קשה חישובית. עם זאת, האלגוריתם עצמו התגלה כפריץ והוא אינו בשימוש כיום בשל התקפה מוצלחת של </a:t>
            </a:r>
            <a:r>
              <a:rPr lang="he-IL" dirty="0" err="1"/>
              <a:t>אדלמן</a:t>
            </a:r>
            <a:r>
              <a:rPr lang="he-IL" dirty="0"/>
              <a:t>, שניר </a:t>
            </a:r>
            <a:r>
              <a:rPr lang="he-IL" dirty="0" err="1"/>
              <a:t>וטרז'אן</a:t>
            </a:r>
            <a:r>
              <a:rPr lang="he-IL" dirty="0"/>
              <a:t> (1982).</a:t>
            </a:r>
          </a:p>
          <a:p>
            <a:endParaRPr lang="he-IL" dirty="0"/>
          </a:p>
          <a:p>
            <a:r>
              <a:rPr lang="he-IL" b="1" dirty="0"/>
              <a:t>הרעיון המרכזי:</a:t>
            </a:r>
            <a:endParaRPr lang="he-IL" dirty="0"/>
          </a:p>
          <a:p>
            <a:r>
              <a:rPr lang="he-IL" dirty="0"/>
              <a:t>דמיינו שיש לכם תרמיל עם חפצים שונים, שלכל אחד משקל שונה. ️ המפתח הציבורי הוא רשימה של משקלים, והמפתח הפרטי הוא "סוד" שמאפשר לגלות אילו חפצים נבחרו כדי להגיע למשקל מסוים. ️‍</a:t>
            </a:r>
          </a:p>
        </p:txBody>
      </p:sp>
    </p:spTree>
    <p:extLst>
      <p:ext uri="{BB962C8B-B14F-4D97-AF65-F5344CB8AC3E}">
        <p14:creationId xmlns:p14="http://schemas.microsoft.com/office/powerpoint/2010/main" val="6748707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381702" y="642594"/>
            <a:ext cx="3743498" cy="1371600"/>
          </a:xfrm>
        </p:spPr>
        <p:txBody>
          <a:bodyPr/>
          <a:lstStyle/>
          <a:p>
            <a:r>
              <a:rPr lang="he-IL" dirty="0"/>
              <a:t>כיצד זה עובד?</a:t>
            </a:r>
          </a:p>
        </p:txBody>
      </p:sp>
      <p:sp>
        <p:nvSpPr>
          <p:cNvPr id="3" name="מציין מיקום תוכן 2"/>
          <p:cNvSpPr>
            <a:spLocks noGrp="1"/>
          </p:cNvSpPr>
          <p:nvPr>
            <p:ph idx="1"/>
          </p:nvPr>
        </p:nvSpPr>
        <p:spPr/>
        <p:txBody>
          <a:bodyPr/>
          <a:lstStyle/>
          <a:p>
            <a:r>
              <a:rPr lang="he-IL" b="1" dirty="0"/>
              <a:t>1. יצירת מפתחות:</a:t>
            </a:r>
            <a:endParaRPr lang="he-IL" dirty="0"/>
          </a:p>
          <a:p>
            <a:pPr lvl="1"/>
            <a:r>
              <a:rPr lang="he-IL" dirty="0"/>
              <a:t>המפתח הפרטי מורכב מרצף של מספרים שנקראים "סופר-גדלים"</a:t>
            </a:r>
            <a:r>
              <a:rPr lang="en-US" dirty="0"/>
              <a:t> </a:t>
            </a:r>
            <a:r>
              <a:rPr lang="en-US" dirty="0" err="1"/>
              <a:t>Superincreasing</a:t>
            </a:r>
            <a:r>
              <a:rPr lang="en-US" dirty="0"/>
              <a:t> Sequence </a:t>
            </a:r>
            <a:r>
              <a:rPr lang="he-IL" dirty="0"/>
              <a:t>כל מספר גדול מסכום כל המספרים הקודמים לו. </a:t>
            </a:r>
          </a:p>
          <a:p>
            <a:pPr lvl="1"/>
            <a:r>
              <a:rPr lang="he-IL" dirty="0"/>
              <a:t>המפתח הציבורי נוצר על ידי "ערבוב" המספרים בסופר-גדלים בעזרת שני מספרים נוספים: כופל </a:t>
            </a:r>
            <a:r>
              <a:rPr lang="he-IL" dirty="0" err="1"/>
              <a:t>ומודולו</a:t>
            </a:r>
            <a:r>
              <a:rPr lang="he-IL" dirty="0"/>
              <a:t>. ️</a:t>
            </a:r>
          </a:p>
          <a:p>
            <a:r>
              <a:rPr lang="he-IL" b="1" dirty="0"/>
              <a:t>2. הצפנה:</a:t>
            </a:r>
            <a:endParaRPr lang="he-IL" dirty="0"/>
          </a:p>
          <a:p>
            <a:pPr lvl="1"/>
            <a:r>
              <a:rPr lang="he-IL" dirty="0"/>
              <a:t>כדי להצפין הודעה, ממירים אותה לסדרת מספרים בינאריים (0 ו-1).</a:t>
            </a:r>
          </a:p>
          <a:p>
            <a:pPr lvl="1"/>
            <a:r>
              <a:rPr lang="he-IL" dirty="0"/>
              <a:t>כל מספר בינארי מוכפל במספר המתאים לו במפתח הציבורי. </a:t>
            </a:r>
          </a:p>
          <a:p>
            <a:pPr lvl="1"/>
            <a:r>
              <a:rPr lang="he-IL" dirty="0"/>
              <a:t>סכום התוצאות הוא הטקסט המוצפן.</a:t>
            </a:r>
          </a:p>
          <a:p>
            <a:r>
              <a:rPr lang="he-IL" b="1" dirty="0"/>
              <a:t>3. פענוח:</a:t>
            </a:r>
            <a:endParaRPr lang="he-IL" dirty="0"/>
          </a:p>
          <a:p>
            <a:pPr lvl="1"/>
            <a:r>
              <a:rPr lang="he-IL" dirty="0"/>
              <a:t>בעזרת המפתח הפרטי, ניתן "לפתור" את בעיית התרמיל ולקבל את ההודעה המקורית. ️</a:t>
            </a:r>
          </a:p>
          <a:p>
            <a:endParaRPr lang="he-IL" dirty="0"/>
          </a:p>
        </p:txBody>
      </p:sp>
    </p:spTree>
    <p:extLst>
      <p:ext uri="{BB962C8B-B14F-4D97-AF65-F5344CB8AC3E}">
        <p14:creationId xmlns:p14="http://schemas.microsoft.com/office/powerpoint/2010/main" val="113994083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468196" y="642594"/>
            <a:ext cx="1657004" cy="1371600"/>
          </a:xfrm>
        </p:spPr>
        <p:txBody>
          <a:bodyPr/>
          <a:lstStyle/>
          <a:p>
            <a:r>
              <a:rPr lang="he-IL" dirty="0"/>
              <a:t>דוגמא</a:t>
            </a:r>
          </a:p>
        </p:txBody>
      </p:sp>
      <p:sp>
        <p:nvSpPr>
          <p:cNvPr id="3" name="מציין מיקום תוכן 2"/>
          <p:cNvSpPr>
            <a:spLocks noGrp="1"/>
          </p:cNvSpPr>
          <p:nvPr>
            <p:ph idx="1"/>
          </p:nvPr>
        </p:nvSpPr>
        <p:spPr/>
        <p:txBody>
          <a:bodyPr/>
          <a:lstStyle/>
          <a:p>
            <a:r>
              <a:rPr lang="he-IL" b="1" dirty="0"/>
              <a:t>1</a:t>
            </a:r>
            <a:r>
              <a:rPr lang="he-IL" b="1" u="sng" dirty="0"/>
              <a:t>. יצירת מפתחות:</a:t>
            </a:r>
            <a:endParaRPr lang="he-IL" u="sng" dirty="0"/>
          </a:p>
          <a:p>
            <a:r>
              <a:rPr lang="he-IL" b="1" dirty="0"/>
              <a:t>מפתח פרטי (סופר-גדלים):</a:t>
            </a:r>
            <a:r>
              <a:rPr lang="he-IL" dirty="0"/>
              <a:t> </a:t>
            </a:r>
          </a:p>
          <a:p>
            <a:pPr lvl="1"/>
            <a:r>
              <a:rPr lang="en-US" dirty="0"/>
              <a:t>w = (2, 3, 7, 14, 30)</a:t>
            </a:r>
          </a:p>
          <a:p>
            <a:r>
              <a:rPr lang="he-IL" b="1" dirty="0"/>
              <a:t>כופל:</a:t>
            </a:r>
            <a:r>
              <a:rPr lang="he-IL" dirty="0"/>
              <a:t> </a:t>
            </a:r>
          </a:p>
          <a:p>
            <a:pPr lvl="1"/>
            <a:r>
              <a:rPr lang="en-US" dirty="0"/>
              <a:t>a = 17</a:t>
            </a:r>
          </a:p>
          <a:p>
            <a:r>
              <a:rPr lang="he-IL" b="1" dirty="0" err="1"/>
              <a:t>מודולו</a:t>
            </a:r>
            <a:r>
              <a:rPr lang="he-IL" b="1" dirty="0"/>
              <a:t>:</a:t>
            </a:r>
            <a:r>
              <a:rPr lang="he-IL" dirty="0"/>
              <a:t> </a:t>
            </a:r>
          </a:p>
          <a:p>
            <a:pPr lvl="1"/>
            <a:r>
              <a:rPr lang="en-US" dirty="0"/>
              <a:t>m = 105</a:t>
            </a:r>
          </a:p>
          <a:p>
            <a:r>
              <a:rPr lang="he-IL" b="1" dirty="0"/>
              <a:t>מפתח ציבורי:</a:t>
            </a:r>
            <a:r>
              <a:rPr lang="he-IL" dirty="0"/>
              <a:t> </a:t>
            </a:r>
          </a:p>
          <a:p>
            <a:pPr lvl="1"/>
            <a:r>
              <a:rPr lang="en-US" dirty="0"/>
              <a:t>b = (a * w) mod m = (34, 51, 119, 238, 510) mod 105 = (34, 51, 14, 23, 80)</a:t>
            </a:r>
          </a:p>
          <a:p>
            <a:endParaRPr lang="he-IL" dirty="0"/>
          </a:p>
        </p:txBody>
      </p:sp>
    </p:spTree>
    <p:extLst>
      <p:ext uri="{BB962C8B-B14F-4D97-AF65-F5344CB8AC3E}">
        <p14:creationId xmlns:p14="http://schemas.microsoft.com/office/powerpoint/2010/main" val="857501570"/>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414952" y="642594"/>
            <a:ext cx="3710247" cy="1371600"/>
          </a:xfrm>
        </p:spPr>
        <p:txBody>
          <a:bodyPr/>
          <a:lstStyle/>
          <a:p>
            <a:r>
              <a:rPr lang="he-IL" dirty="0"/>
              <a:t>דוגמא - המשך</a:t>
            </a:r>
          </a:p>
        </p:txBody>
      </p:sp>
      <p:sp>
        <p:nvSpPr>
          <p:cNvPr id="3" name="מציין מיקום תוכן 2"/>
          <p:cNvSpPr>
            <a:spLocks noGrp="1"/>
          </p:cNvSpPr>
          <p:nvPr>
            <p:ph idx="1"/>
          </p:nvPr>
        </p:nvSpPr>
        <p:spPr/>
        <p:txBody>
          <a:bodyPr/>
          <a:lstStyle/>
          <a:p>
            <a:r>
              <a:rPr lang="he-IL" b="1" dirty="0"/>
              <a:t>2</a:t>
            </a:r>
            <a:r>
              <a:rPr lang="he-IL" b="1" u="sng" dirty="0"/>
              <a:t>. הצפנה:</a:t>
            </a:r>
            <a:endParaRPr lang="he-IL" u="sng" dirty="0"/>
          </a:p>
          <a:p>
            <a:r>
              <a:rPr lang="he-IL" b="1" dirty="0"/>
              <a:t>הודעה:</a:t>
            </a:r>
            <a:r>
              <a:rPr lang="he-IL" dirty="0"/>
              <a:t> </a:t>
            </a:r>
          </a:p>
          <a:p>
            <a:pPr lvl="1"/>
            <a:r>
              <a:rPr lang="en-US" dirty="0"/>
              <a:t>message = "cat"</a:t>
            </a:r>
          </a:p>
          <a:p>
            <a:r>
              <a:rPr lang="he-IL" b="1" dirty="0"/>
              <a:t>ייצוג בינארי:</a:t>
            </a:r>
            <a:r>
              <a:rPr lang="he-IL" dirty="0"/>
              <a:t> </a:t>
            </a:r>
          </a:p>
          <a:p>
            <a:pPr lvl="1"/>
            <a:r>
              <a:rPr lang="en-US" dirty="0" err="1"/>
              <a:t>message_binary</a:t>
            </a:r>
            <a:r>
              <a:rPr lang="en-US" dirty="0"/>
              <a:t> = (01100011, 01100001, 01110100)</a:t>
            </a:r>
          </a:p>
          <a:p>
            <a:r>
              <a:rPr lang="he-IL" b="1" dirty="0"/>
              <a:t>הצפנה:</a:t>
            </a:r>
            <a:r>
              <a:rPr lang="he-IL" dirty="0"/>
              <a:t> </a:t>
            </a:r>
          </a:p>
          <a:p>
            <a:pPr lvl="1"/>
            <a:r>
              <a:rPr lang="en-US" dirty="0" err="1"/>
              <a:t>ciphertext</a:t>
            </a:r>
            <a:r>
              <a:rPr lang="en-US" dirty="0"/>
              <a:t> = (0 * 34 + 1 * 51 + 1 * 14 + 0 * 23 + 0 * 80, 0 * 34 + 1 * 51 + 1 * 14 + 0 * 23 + 0 * 80, 0 * 34 + 1 * 51 + 1 * 14 + 1 * 23 + 0 * 80) = (65, 65, 88)</a:t>
            </a:r>
          </a:p>
          <a:p>
            <a:endParaRPr lang="he-IL" dirty="0"/>
          </a:p>
        </p:txBody>
      </p:sp>
    </p:spTree>
    <p:extLst>
      <p:ext uri="{BB962C8B-B14F-4D97-AF65-F5344CB8AC3E}">
        <p14:creationId xmlns:p14="http://schemas.microsoft.com/office/powerpoint/2010/main" val="984294938"/>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265324" y="642594"/>
            <a:ext cx="3859876" cy="1371600"/>
          </a:xfrm>
        </p:spPr>
        <p:txBody>
          <a:bodyPr/>
          <a:lstStyle/>
          <a:p>
            <a:r>
              <a:rPr lang="he-IL" dirty="0"/>
              <a:t>דוגמא  - המשך </a:t>
            </a:r>
          </a:p>
        </p:txBody>
      </p:sp>
      <p:sp>
        <p:nvSpPr>
          <p:cNvPr id="3" name="מציין מיקום תוכן 2"/>
          <p:cNvSpPr>
            <a:spLocks noGrp="1"/>
          </p:cNvSpPr>
          <p:nvPr>
            <p:ph idx="1"/>
          </p:nvPr>
        </p:nvSpPr>
        <p:spPr/>
        <p:txBody>
          <a:bodyPr/>
          <a:lstStyle/>
          <a:p>
            <a:r>
              <a:rPr lang="he-IL" b="1" u="sng" dirty="0"/>
              <a:t>3. פענוח:</a:t>
            </a:r>
            <a:endParaRPr lang="he-IL" u="sng" dirty="0"/>
          </a:p>
          <a:p>
            <a:r>
              <a:rPr lang="he-IL" b="1" dirty="0"/>
              <a:t>חישוב ההופכי </a:t>
            </a:r>
            <a:r>
              <a:rPr lang="he-IL" b="1" dirty="0" err="1"/>
              <a:t>הכפלי</a:t>
            </a:r>
            <a:r>
              <a:rPr lang="he-IL" b="1" dirty="0"/>
              <a:t> של </a:t>
            </a:r>
            <a:r>
              <a:rPr lang="en-US" b="1" dirty="0"/>
              <a:t>a </a:t>
            </a:r>
            <a:r>
              <a:rPr lang="he-IL" b="1" dirty="0"/>
              <a:t> </a:t>
            </a:r>
            <a:r>
              <a:rPr lang="he-IL" b="1" dirty="0" err="1"/>
              <a:t>מודולו</a:t>
            </a:r>
            <a:r>
              <a:rPr lang="he-IL" b="1" dirty="0"/>
              <a:t> </a:t>
            </a:r>
            <a:r>
              <a:rPr lang="en-US" b="1" dirty="0"/>
              <a:t>m</a:t>
            </a:r>
            <a:endParaRPr lang="en-US" dirty="0"/>
          </a:p>
          <a:p>
            <a:pPr lvl="1"/>
            <a:r>
              <a:rPr lang="en-US" dirty="0"/>
              <a:t>) </a:t>
            </a:r>
            <a:r>
              <a:rPr lang="en-US" dirty="0" err="1"/>
              <a:t>a_inv</a:t>
            </a:r>
            <a:r>
              <a:rPr lang="en-US" dirty="0"/>
              <a:t> = </a:t>
            </a:r>
            <a:r>
              <a:rPr lang="en-US" b="1" dirty="0"/>
              <a:t>62</a:t>
            </a:r>
            <a:r>
              <a:rPr lang="en-US" dirty="0"/>
              <a:t> </a:t>
            </a:r>
            <a:r>
              <a:rPr lang="he-IL" dirty="0"/>
              <a:t>כי 17 * </a:t>
            </a:r>
            <a:r>
              <a:rPr lang="he-IL" b="1" dirty="0"/>
              <a:t>62</a:t>
            </a:r>
            <a:r>
              <a:rPr lang="en-US" dirty="0"/>
              <a:t> mod 105 = </a:t>
            </a:r>
            <a:r>
              <a:rPr lang="he-IL" dirty="0"/>
              <a:t>) מתי יהיה שווה לשארית 1</a:t>
            </a:r>
            <a:endParaRPr lang="en-US" dirty="0"/>
          </a:p>
          <a:p>
            <a:r>
              <a:rPr lang="he-IL" b="1" dirty="0"/>
              <a:t>חישוב </a:t>
            </a:r>
            <a:r>
              <a:rPr lang="en-US" b="1" dirty="0"/>
              <a:t>t</a:t>
            </a:r>
            <a:r>
              <a:rPr lang="he-IL" b="1" dirty="0"/>
              <a:t>:</a:t>
            </a:r>
            <a:endParaRPr lang="en-US" dirty="0"/>
          </a:p>
          <a:p>
            <a:pPr lvl="1"/>
            <a:r>
              <a:rPr lang="en-US" dirty="0"/>
              <a:t>t = (</a:t>
            </a:r>
            <a:r>
              <a:rPr lang="en-US" dirty="0" err="1"/>
              <a:t>ciphertext</a:t>
            </a:r>
            <a:r>
              <a:rPr lang="en-US" dirty="0"/>
              <a:t> * </a:t>
            </a:r>
            <a:r>
              <a:rPr lang="en-US" dirty="0" err="1"/>
              <a:t>a_inv</a:t>
            </a:r>
            <a:r>
              <a:rPr lang="en-US" dirty="0"/>
              <a:t>) mod m = (65 * 62, 65 * 62, 88 * 62) mod 105 = (4030, 4030, 5456) mod 105 = (2, 3, 7)</a:t>
            </a:r>
          </a:p>
          <a:p>
            <a:r>
              <a:rPr lang="he-IL" b="1" dirty="0"/>
              <a:t>פענוח:</a:t>
            </a:r>
            <a:r>
              <a:rPr lang="he-IL" dirty="0"/>
              <a:t> </a:t>
            </a:r>
          </a:p>
          <a:p>
            <a:pPr lvl="1"/>
            <a:r>
              <a:rPr lang="en-US" dirty="0" err="1"/>
              <a:t>message_binary</a:t>
            </a:r>
            <a:r>
              <a:rPr lang="en-US" dirty="0"/>
              <a:t> = (01100011, 01100001, 01110100)</a:t>
            </a:r>
          </a:p>
          <a:p>
            <a:pPr lvl="1"/>
            <a:r>
              <a:rPr lang="en-US" dirty="0"/>
              <a:t>message = "cat"</a:t>
            </a:r>
          </a:p>
          <a:p>
            <a:endParaRPr lang="he-IL" dirty="0"/>
          </a:p>
        </p:txBody>
      </p:sp>
    </p:spTree>
    <p:extLst>
      <p:ext uri="{BB962C8B-B14F-4D97-AF65-F5344CB8AC3E}">
        <p14:creationId xmlns:p14="http://schemas.microsoft.com/office/powerpoint/2010/main" val="4143421491"/>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315200" y="642594"/>
            <a:ext cx="3810000" cy="1371600"/>
          </a:xfrm>
        </p:spPr>
        <p:txBody>
          <a:bodyPr/>
          <a:lstStyle/>
          <a:p>
            <a:r>
              <a:rPr lang="he-IL" dirty="0"/>
              <a:t>דוגמא - המשך</a:t>
            </a:r>
          </a:p>
        </p:txBody>
      </p:sp>
      <p:sp>
        <p:nvSpPr>
          <p:cNvPr id="3" name="מציין מיקום תוכן 2"/>
          <p:cNvSpPr>
            <a:spLocks noGrp="1"/>
          </p:cNvSpPr>
          <p:nvPr>
            <p:ph idx="1"/>
          </p:nvPr>
        </p:nvSpPr>
        <p:spPr/>
        <p:txBody>
          <a:bodyPr/>
          <a:lstStyle/>
          <a:p>
            <a:pPr marL="182880" lvl="1">
              <a:spcBef>
                <a:spcPts val="900"/>
              </a:spcBef>
            </a:pPr>
            <a:r>
              <a:rPr lang="he-IL" dirty="0"/>
              <a:t>הסבר על </a:t>
            </a:r>
            <a:r>
              <a:rPr lang="en-US" dirty="0"/>
              <a:t>) </a:t>
            </a:r>
            <a:r>
              <a:rPr lang="en-US" dirty="0" err="1"/>
              <a:t>a_inv</a:t>
            </a:r>
            <a:r>
              <a:rPr lang="en-US" dirty="0"/>
              <a:t> = </a:t>
            </a:r>
            <a:r>
              <a:rPr lang="en-US" b="1" dirty="0"/>
              <a:t>62</a:t>
            </a:r>
            <a:r>
              <a:rPr lang="en-US" dirty="0"/>
              <a:t> </a:t>
            </a:r>
            <a:r>
              <a:rPr lang="he-IL" dirty="0"/>
              <a:t>כי 17 * </a:t>
            </a:r>
            <a:r>
              <a:rPr lang="he-IL" b="1" dirty="0"/>
              <a:t>62</a:t>
            </a:r>
            <a:r>
              <a:rPr lang="en-US" dirty="0"/>
              <a:t> mod 105 = </a:t>
            </a:r>
            <a:r>
              <a:rPr lang="he-IL" dirty="0"/>
              <a:t>) מתי יהיה שווה לשארית 1</a:t>
            </a:r>
            <a:endParaRPr lang="en-US" dirty="0"/>
          </a:p>
          <a:p>
            <a:r>
              <a:rPr lang="he-IL" b="1" dirty="0"/>
              <a:t>הגדרה:</a:t>
            </a:r>
            <a:endParaRPr lang="he-IL" dirty="0"/>
          </a:p>
          <a:p>
            <a:r>
              <a:rPr lang="he-IL" dirty="0"/>
              <a:t>ההופכי </a:t>
            </a:r>
            <a:r>
              <a:rPr lang="he-IL" dirty="0" err="1"/>
              <a:t>הכפלי</a:t>
            </a:r>
            <a:r>
              <a:rPr lang="he-IL" dirty="0"/>
              <a:t> של מספר </a:t>
            </a:r>
            <a:r>
              <a:rPr lang="en-US" dirty="0"/>
              <a:t>a </a:t>
            </a:r>
            <a:r>
              <a:rPr lang="he-IL" dirty="0"/>
              <a:t> </a:t>
            </a:r>
            <a:r>
              <a:rPr lang="he-IL" dirty="0" err="1"/>
              <a:t>מודולו</a:t>
            </a:r>
            <a:r>
              <a:rPr lang="en-US" dirty="0"/>
              <a:t>m </a:t>
            </a:r>
            <a:r>
              <a:rPr lang="he-IL" dirty="0"/>
              <a:t> הוא מספר </a:t>
            </a:r>
            <a:r>
              <a:rPr lang="en-US" dirty="0"/>
              <a:t>b</a:t>
            </a:r>
            <a:r>
              <a:rPr lang="he-IL" dirty="0"/>
              <a:t> כך ש:</a:t>
            </a:r>
          </a:p>
          <a:p>
            <a:r>
              <a:rPr lang="en-US" dirty="0"/>
              <a:t>a * b ≡ 1 (mod m)</a:t>
            </a:r>
          </a:p>
          <a:p>
            <a:r>
              <a:rPr lang="he-IL" dirty="0"/>
              <a:t>במילים פשוטות, זהו מספר שאם נכפיל אותו במספר המקורי </a:t>
            </a:r>
            <a:r>
              <a:rPr lang="en-US" dirty="0"/>
              <a:t>a</a:t>
            </a:r>
            <a:r>
              <a:rPr lang="he-IL" dirty="0"/>
              <a:t> נקבל שארית 1 לאחר חילוק ב-</a:t>
            </a:r>
            <a:r>
              <a:rPr lang="en-US" dirty="0"/>
              <a:t>m</a:t>
            </a:r>
            <a:r>
              <a:rPr lang="he-IL" dirty="0"/>
              <a:t>.</a:t>
            </a:r>
          </a:p>
          <a:p>
            <a:endParaRPr lang="he-IL" dirty="0"/>
          </a:p>
          <a:p>
            <a:endParaRPr lang="he-IL" dirty="0"/>
          </a:p>
        </p:txBody>
      </p:sp>
    </p:spTree>
    <p:extLst>
      <p:ext uri="{BB962C8B-B14F-4D97-AF65-F5344CB8AC3E}">
        <p14:creationId xmlns:p14="http://schemas.microsoft.com/office/powerpoint/2010/main" val="486816320"/>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439890" y="-74814"/>
            <a:ext cx="3801687" cy="1371600"/>
          </a:xfrm>
        </p:spPr>
        <p:txBody>
          <a:bodyPr/>
          <a:lstStyle/>
          <a:p>
            <a:r>
              <a:rPr lang="he-IL" dirty="0"/>
              <a:t>דוגמא - המשך</a:t>
            </a:r>
          </a:p>
        </p:txBody>
      </p:sp>
      <p:sp>
        <p:nvSpPr>
          <p:cNvPr id="3" name="מציין מיקום תוכן 2"/>
          <p:cNvSpPr>
            <a:spLocks noGrp="1"/>
          </p:cNvSpPr>
          <p:nvPr>
            <p:ph idx="1"/>
          </p:nvPr>
        </p:nvSpPr>
        <p:spPr>
          <a:xfrm>
            <a:off x="1091739" y="889461"/>
            <a:ext cx="10058400" cy="5769033"/>
          </a:xfrm>
        </p:spPr>
        <p:txBody>
          <a:bodyPr>
            <a:normAutofit fontScale="62500" lnSpcReduction="20000"/>
          </a:bodyPr>
          <a:lstStyle/>
          <a:p>
            <a:r>
              <a:rPr lang="he-IL" dirty="0"/>
              <a:t>הסבר על </a:t>
            </a:r>
            <a:r>
              <a:rPr lang="he-IL" dirty="0" err="1"/>
              <a:t>הפענול</a:t>
            </a:r>
            <a:r>
              <a:rPr lang="he-IL" dirty="0"/>
              <a:t> של </a:t>
            </a:r>
            <a:r>
              <a:rPr lang="en-US" dirty="0"/>
              <a:t>T</a:t>
            </a:r>
            <a:r>
              <a:rPr lang="he-IL" dirty="0"/>
              <a:t>:</a:t>
            </a:r>
          </a:p>
          <a:p>
            <a:pPr lvl="1"/>
            <a:r>
              <a:rPr lang="en-US" dirty="0" err="1"/>
              <a:t>ciphertext</a:t>
            </a:r>
            <a:r>
              <a:rPr lang="en-US" dirty="0"/>
              <a:t> = (65, 65, 88)</a:t>
            </a:r>
          </a:p>
          <a:p>
            <a:pPr lvl="1"/>
            <a:r>
              <a:rPr lang="en-US" dirty="0" err="1"/>
              <a:t>a_inv</a:t>
            </a:r>
            <a:r>
              <a:rPr lang="en-US" dirty="0"/>
              <a:t> = 62</a:t>
            </a:r>
          </a:p>
          <a:p>
            <a:pPr lvl="1"/>
            <a:r>
              <a:rPr lang="en-US" dirty="0"/>
              <a:t>m = 105</a:t>
            </a:r>
          </a:p>
          <a:p>
            <a:pPr lvl="1"/>
            <a:r>
              <a:rPr lang="en-US" dirty="0"/>
              <a:t>t = (65 * 62 mod 105, 65 * 62 mod 105, 88 * 62 mod 105) = (2, 3, 7)</a:t>
            </a:r>
          </a:p>
          <a:p>
            <a:r>
              <a:rPr lang="he-IL" b="1" dirty="0"/>
              <a:t>1. המרת</a:t>
            </a:r>
            <a:r>
              <a:rPr lang="en-US" b="1" dirty="0"/>
              <a:t> t </a:t>
            </a:r>
            <a:r>
              <a:rPr lang="he-IL" b="1" dirty="0"/>
              <a:t>לייצוג בינארי:</a:t>
            </a:r>
            <a:endParaRPr lang="he-IL" dirty="0"/>
          </a:p>
          <a:p>
            <a:r>
              <a:rPr lang="he-IL" b="1" dirty="0"/>
              <a:t>המטרה:</a:t>
            </a:r>
            <a:r>
              <a:rPr lang="he-IL" dirty="0"/>
              <a:t> לקבל רצף של 0 ו-1 שנוכל לפענח.</a:t>
            </a:r>
          </a:p>
          <a:p>
            <a:r>
              <a:rPr lang="he-IL" b="1" dirty="0"/>
              <a:t>השיטה:</a:t>
            </a:r>
            <a:r>
              <a:rPr lang="he-IL" dirty="0"/>
              <a:t> ממירים כל מספר ב-</a:t>
            </a:r>
            <a:r>
              <a:rPr lang="en-US" dirty="0"/>
              <a:t>t </a:t>
            </a:r>
            <a:r>
              <a:rPr lang="he-IL" dirty="0"/>
              <a:t> לייצוג בינארי שלו.</a:t>
            </a:r>
          </a:p>
          <a:p>
            <a:r>
              <a:rPr lang="he-IL" b="1" dirty="0"/>
              <a:t>דוגמה:</a:t>
            </a:r>
            <a:r>
              <a:rPr lang="he-IL" dirty="0"/>
              <a:t> </a:t>
            </a:r>
          </a:p>
          <a:p>
            <a:pPr lvl="1"/>
            <a:r>
              <a:rPr lang="he-IL" dirty="0"/>
              <a:t>2 = 010</a:t>
            </a:r>
          </a:p>
          <a:p>
            <a:pPr lvl="1"/>
            <a:r>
              <a:rPr lang="he-IL" dirty="0"/>
              <a:t>3 = 011</a:t>
            </a:r>
          </a:p>
          <a:p>
            <a:pPr lvl="1"/>
            <a:r>
              <a:rPr lang="he-IL" dirty="0"/>
              <a:t>7 = 111</a:t>
            </a:r>
          </a:p>
          <a:p>
            <a:pPr lvl="1"/>
            <a:r>
              <a:rPr lang="en-US" dirty="0"/>
              <a:t>t = (2, 3, 7) = (010, 011, 111)</a:t>
            </a:r>
          </a:p>
          <a:p>
            <a:r>
              <a:rPr lang="he-IL" b="1" dirty="0"/>
              <a:t>2.</a:t>
            </a:r>
            <a:r>
              <a:rPr lang="en-US" b="1" dirty="0"/>
              <a:t> </a:t>
            </a:r>
            <a:r>
              <a:rPr lang="he-IL" b="1" dirty="0"/>
              <a:t>פענוח ההודעה הבינארית:</a:t>
            </a:r>
            <a:endParaRPr lang="he-IL" dirty="0"/>
          </a:p>
          <a:p>
            <a:r>
              <a:rPr lang="he-IL" b="1" dirty="0"/>
              <a:t>המטרה:</a:t>
            </a:r>
            <a:r>
              <a:rPr lang="he-IL" dirty="0"/>
              <a:t> לקבל את ההודעה המקורית.</a:t>
            </a:r>
          </a:p>
          <a:p>
            <a:r>
              <a:rPr lang="en-US" b="1" dirty="0" err="1"/>
              <a:t>message_binary</a:t>
            </a:r>
            <a:r>
              <a:rPr lang="en-US" b="1" dirty="0"/>
              <a:t> = (01100011, 01100001, 01110100):</a:t>
            </a:r>
            <a:endParaRPr lang="en-US" dirty="0"/>
          </a:p>
          <a:p>
            <a:r>
              <a:rPr lang="he-IL" b="1" dirty="0"/>
              <a:t>הקשר:</a:t>
            </a:r>
            <a:r>
              <a:rPr lang="he-IL" dirty="0"/>
              <a:t> כל מספר ב-</a:t>
            </a:r>
            <a:r>
              <a:rPr lang="en-US" dirty="0"/>
              <a:t>t </a:t>
            </a:r>
            <a:r>
              <a:rPr lang="he-IL" dirty="0"/>
              <a:t>מתאים לרצף בינארי שמרכיב אות.</a:t>
            </a:r>
          </a:p>
          <a:p>
            <a:r>
              <a:rPr lang="he-IL" b="1" dirty="0"/>
              <a:t>ההמרה:</a:t>
            </a:r>
            <a:r>
              <a:rPr lang="he-IL" dirty="0"/>
              <a:t> </a:t>
            </a:r>
          </a:p>
          <a:p>
            <a:pPr lvl="1"/>
            <a:r>
              <a:rPr lang="he-IL" dirty="0"/>
              <a:t>2 -&gt; 01100011</a:t>
            </a:r>
          </a:p>
          <a:p>
            <a:pPr lvl="1"/>
            <a:r>
              <a:rPr lang="he-IL" dirty="0"/>
              <a:t>3 -&gt; 01100001</a:t>
            </a:r>
          </a:p>
          <a:p>
            <a:pPr lvl="1"/>
            <a:r>
              <a:rPr lang="he-IL" dirty="0"/>
              <a:t>7 -&gt; 01110100</a:t>
            </a:r>
          </a:p>
          <a:p>
            <a:r>
              <a:rPr lang="he-IL" b="1" dirty="0"/>
              <a:t>דוגמה:</a:t>
            </a:r>
            <a:r>
              <a:rPr lang="he-IL" dirty="0"/>
              <a:t> </a:t>
            </a:r>
          </a:p>
          <a:p>
            <a:pPr lvl="1"/>
            <a:r>
              <a:rPr lang="he-IL" dirty="0"/>
              <a:t>01100011 = </a:t>
            </a:r>
            <a:r>
              <a:rPr lang="en-US" dirty="0"/>
              <a:t>c"</a:t>
            </a:r>
            <a:r>
              <a:rPr lang="he-IL" dirty="0"/>
              <a:t>"</a:t>
            </a:r>
            <a:endParaRPr lang="en-US" dirty="0"/>
          </a:p>
          <a:p>
            <a:pPr lvl="1"/>
            <a:r>
              <a:rPr lang="en-US" dirty="0"/>
              <a:t>01100001 = "a"</a:t>
            </a:r>
          </a:p>
          <a:p>
            <a:pPr lvl="1"/>
            <a:r>
              <a:rPr lang="en-US" dirty="0"/>
              <a:t>01110100 = "t"</a:t>
            </a:r>
          </a:p>
          <a:p>
            <a:pPr lvl="1"/>
            <a:r>
              <a:rPr lang="en-US" dirty="0" err="1"/>
              <a:t>message_binary</a:t>
            </a:r>
            <a:r>
              <a:rPr lang="en-US" dirty="0"/>
              <a:t> = (01100011, 01100001, 01110100)</a:t>
            </a:r>
          </a:p>
          <a:p>
            <a:pPr lvl="1"/>
            <a:r>
              <a:rPr lang="en-US" dirty="0"/>
              <a:t>message = "cat"</a:t>
            </a:r>
          </a:p>
          <a:p>
            <a:endParaRPr lang="he-IL" dirty="0"/>
          </a:p>
        </p:txBody>
      </p:sp>
    </p:spTree>
    <p:extLst>
      <p:ext uri="{BB962C8B-B14F-4D97-AF65-F5344CB8AC3E}">
        <p14:creationId xmlns:p14="http://schemas.microsoft.com/office/powerpoint/2010/main" val="5217213"/>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916189" y="440575"/>
            <a:ext cx="4209011" cy="1371600"/>
          </a:xfrm>
        </p:spPr>
        <p:txBody>
          <a:bodyPr/>
          <a:lstStyle/>
          <a:p>
            <a:r>
              <a:rPr lang="he-IL" dirty="0"/>
              <a:t>סוגים ושימושים:</a:t>
            </a:r>
          </a:p>
        </p:txBody>
      </p:sp>
      <p:sp>
        <p:nvSpPr>
          <p:cNvPr id="3" name="מציין מיקום תוכן 2"/>
          <p:cNvSpPr>
            <a:spLocks noGrp="1"/>
          </p:cNvSpPr>
          <p:nvPr>
            <p:ph idx="1"/>
          </p:nvPr>
        </p:nvSpPr>
        <p:spPr>
          <a:xfrm>
            <a:off x="1066800" y="1812175"/>
            <a:ext cx="10058400" cy="4522123"/>
          </a:xfrm>
        </p:spPr>
        <p:txBody>
          <a:bodyPr>
            <a:normAutofit/>
          </a:bodyPr>
          <a:lstStyle/>
          <a:p>
            <a:r>
              <a:rPr lang="he-IL" b="1" dirty="0"/>
              <a:t>למה זה בטוח?</a:t>
            </a:r>
            <a:endParaRPr lang="he-IL" dirty="0"/>
          </a:p>
          <a:p>
            <a:r>
              <a:rPr lang="he-IL" dirty="0"/>
              <a:t>בעיית "פתרון תרמיל" באופן כללי היא בעיה קשה מאוד לפתרון, במיוחד כאשר מדובר במספרים גדולים.</a:t>
            </a:r>
          </a:p>
          <a:p>
            <a:endParaRPr lang="he-IL" dirty="0"/>
          </a:p>
          <a:p>
            <a:r>
              <a:rPr lang="he-IL" b="1" dirty="0"/>
              <a:t>סוגי הצפנת תרמיל:</a:t>
            </a:r>
            <a:endParaRPr lang="he-IL" dirty="0"/>
          </a:p>
          <a:p>
            <a:r>
              <a:rPr lang="he-IL" dirty="0"/>
              <a:t>קיימים סוגים שונים של הצפנת תרמיל, כאשר המפורסמת ביותר היא </a:t>
            </a:r>
            <a:r>
              <a:rPr lang="he-IL" b="1" dirty="0"/>
              <a:t>הצפנת מרקל-הלמן</a:t>
            </a:r>
            <a:r>
              <a:rPr lang="he-IL" dirty="0"/>
              <a:t>. ‍</a:t>
            </a:r>
          </a:p>
          <a:p>
            <a:r>
              <a:rPr lang="he-IL" b="1" dirty="0"/>
              <a:t>שימושים:</a:t>
            </a:r>
          </a:p>
          <a:p>
            <a:endParaRPr lang="he-IL" dirty="0"/>
          </a:p>
          <a:p>
            <a:r>
              <a:rPr lang="he-IL" dirty="0"/>
              <a:t>הצפנת תרמיל יכולה לשמש למגוון מטרות, כגון:</a:t>
            </a:r>
          </a:p>
          <a:p>
            <a:r>
              <a:rPr lang="he-IL" dirty="0"/>
              <a:t>הצפנת הודעות דואר אלקטרוני</a:t>
            </a:r>
          </a:p>
          <a:p>
            <a:r>
              <a:rPr lang="he-IL" dirty="0"/>
              <a:t>חתימה דיגיטלית ️</a:t>
            </a:r>
          </a:p>
          <a:p>
            <a:r>
              <a:rPr lang="he-IL" dirty="0"/>
              <a:t>העברת מידע רגיש</a:t>
            </a:r>
          </a:p>
          <a:p>
            <a:endParaRPr lang="he-IL" dirty="0"/>
          </a:p>
        </p:txBody>
      </p:sp>
    </p:spTree>
    <p:extLst>
      <p:ext uri="{BB962C8B-B14F-4D97-AF65-F5344CB8AC3E}">
        <p14:creationId xmlns:p14="http://schemas.microsoft.com/office/powerpoint/2010/main" val="1501142171"/>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741622" y="642594"/>
            <a:ext cx="4383578" cy="1371600"/>
          </a:xfrm>
        </p:spPr>
        <p:txBody>
          <a:bodyPr/>
          <a:lstStyle/>
          <a:p>
            <a:r>
              <a:rPr lang="he-IL" dirty="0"/>
              <a:t>יתרונות וחסרונות</a:t>
            </a:r>
          </a:p>
        </p:txBody>
      </p:sp>
      <p:sp>
        <p:nvSpPr>
          <p:cNvPr id="3" name="מציין מיקום תוכן 2"/>
          <p:cNvSpPr>
            <a:spLocks noGrp="1"/>
          </p:cNvSpPr>
          <p:nvPr>
            <p:ph idx="1"/>
          </p:nvPr>
        </p:nvSpPr>
        <p:spPr/>
        <p:txBody>
          <a:bodyPr>
            <a:normAutofit lnSpcReduction="10000"/>
          </a:bodyPr>
          <a:lstStyle/>
          <a:p>
            <a:r>
              <a:rPr lang="he-IL" b="1" dirty="0"/>
              <a:t>יתרונות:</a:t>
            </a:r>
            <a:endParaRPr lang="he-IL" dirty="0"/>
          </a:p>
          <a:p>
            <a:r>
              <a:rPr lang="he-IL" dirty="0"/>
              <a:t>1. יעילות יחסית </a:t>
            </a:r>
          </a:p>
          <a:p>
            <a:r>
              <a:rPr lang="he-IL" dirty="0"/>
              <a:t>2. פוטנציאל לעמידות בפני התקפות קוונטיות ️</a:t>
            </a:r>
          </a:p>
          <a:p>
            <a:endParaRPr lang="he-IL" dirty="0"/>
          </a:p>
          <a:p>
            <a:r>
              <a:rPr lang="he-IL" b="1" dirty="0"/>
              <a:t>חסרונות:</a:t>
            </a:r>
            <a:endParaRPr lang="he-IL" dirty="0"/>
          </a:p>
          <a:p>
            <a:r>
              <a:rPr lang="he-IL" dirty="0"/>
              <a:t>1. מורכבות יחסית להבנה</a:t>
            </a:r>
          </a:p>
          <a:p>
            <a:r>
              <a:rPr lang="he-IL" dirty="0"/>
              <a:t>2. גודל מפתח גדול</a:t>
            </a:r>
          </a:p>
          <a:p>
            <a:endParaRPr lang="he-IL" dirty="0"/>
          </a:p>
          <a:p>
            <a:r>
              <a:rPr lang="he-IL" b="1" dirty="0"/>
              <a:t>לסיכום:</a:t>
            </a:r>
            <a:endParaRPr lang="he-IL" dirty="0"/>
          </a:p>
          <a:p>
            <a:r>
              <a:rPr lang="he-IL" dirty="0"/>
              <a:t>הצפנת תרמיל היא שיטת הצפנה אסימטרית ייחודית ומעניינת, המציעה רמת אבטחה גבוהה. עם זאת, חשוב להבין את המורכבות שלה ואת מגבלותיה.</a:t>
            </a:r>
          </a:p>
          <a:p>
            <a:endParaRPr lang="he-IL" dirty="0"/>
          </a:p>
        </p:txBody>
      </p:sp>
    </p:spTree>
    <p:extLst>
      <p:ext uri="{BB962C8B-B14F-4D97-AF65-F5344CB8AC3E}">
        <p14:creationId xmlns:p14="http://schemas.microsoft.com/office/powerpoint/2010/main" val="3334194062"/>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35440" y="642594"/>
            <a:ext cx="1889760"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כיצד נוצר המפתח הציבורי מצופן תרמיל?</a:t>
            </a:r>
          </a:p>
          <a:p>
            <a:r>
              <a:rPr lang="he-IL" dirty="0"/>
              <a:t>2. מהו תפקידם של הכופל </a:t>
            </a:r>
            <a:r>
              <a:rPr lang="he-IL" dirty="0" err="1"/>
              <a:t>והמודולו</a:t>
            </a:r>
            <a:r>
              <a:rPr lang="he-IL" dirty="0"/>
              <a:t> ביצירת המפתח הציבורי?</a:t>
            </a:r>
          </a:p>
          <a:p>
            <a:r>
              <a:rPr lang="he-IL" dirty="0"/>
              <a:t>3. כיצד מתבצעת ההצפנה בפועל בצופן תרמיל?</a:t>
            </a:r>
          </a:p>
          <a:p>
            <a:r>
              <a:rPr lang="he-IL" dirty="0"/>
              <a:t>4. מדוע פענוח בצופן תרמיל נחשב לקשה מבחינה חישובית?</a:t>
            </a:r>
          </a:p>
          <a:p>
            <a:r>
              <a:rPr lang="he-IL" dirty="0"/>
              <a:t>5. מהם היתרונות והחסרונות של צופן תרמיל?</a:t>
            </a:r>
          </a:p>
          <a:p>
            <a:r>
              <a:rPr lang="he-IL" dirty="0"/>
              <a:t>6. מהם שלושת השלבים העיקריים בתהליך ההצפנה בצופן תרמיל?</a:t>
            </a:r>
          </a:p>
          <a:p>
            <a:endParaRPr lang="he-IL" dirty="0"/>
          </a:p>
        </p:txBody>
      </p:sp>
    </p:spTree>
    <p:extLst>
      <p:ext uri="{BB962C8B-B14F-4D97-AF65-F5344CB8AC3E}">
        <p14:creationId xmlns:p14="http://schemas.microsoft.com/office/powerpoint/2010/main" val="360388524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69184" y="642594"/>
            <a:ext cx="2056015" cy="1371600"/>
          </a:xfrm>
        </p:spPr>
        <p:txBody>
          <a:bodyPr/>
          <a:lstStyle/>
          <a:p>
            <a:r>
              <a:rPr lang="he-IL" dirty="0"/>
              <a:t>תשובות</a:t>
            </a:r>
          </a:p>
        </p:txBody>
      </p:sp>
      <p:sp>
        <p:nvSpPr>
          <p:cNvPr id="3" name="מציין מיקום תוכן 2"/>
          <p:cNvSpPr>
            <a:spLocks noGrp="1"/>
          </p:cNvSpPr>
          <p:nvPr>
            <p:ph idx="1"/>
          </p:nvPr>
        </p:nvSpPr>
        <p:spPr/>
        <p:txBody>
          <a:bodyPr/>
          <a:lstStyle/>
          <a:p>
            <a:r>
              <a:rPr lang="he-IL" dirty="0"/>
              <a:t>1. המפתח הציבורי נוצר על ידי "ערבוב" המספרים בסופר-גדלים בעזרת שני מספרים נוספים: כופל </a:t>
            </a:r>
            <a:r>
              <a:rPr lang="he-IL" dirty="0" err="1"/>
              <a:t>ומודולו</a:t>
            </a:r>
            <a:r>
              <a:rPr lang="he-IL" dirty="0"/>
              <a:t>.</a:t>
            </a:r>
          </a:p>
          <a:p>
            <a:r>
              <a:rPr lang="he-IL" dirty="0"/>
              <a:t>2. הכופל </a:t>
            </a:r>
            <a:r>
              <a:rPr lang="he-IL" dirty="0" err="1"/>
              <a:t>והמודולו</a:t>
            </a:r>
            <a:r>
              <a:rPr lang="he-IL" dirty="0"/>
              <a:t> משמשים להסוואת הסופר-גדלים במפתח הציבורי, מה שהופך את הפענוח לקשה ללא המפתח הפרטי.</a:t>
            </a:r>
          </a:p>
          <a:p>
            <a:r>
              <a:rPr lang="he-IL" dirty="0"/>
              <a:t>3. ההצפנה מתבצעת על ידי כפל כל מספר בינארי בהודעה במספר המתאים לו במפתח הציבורי וחיבור התוצאות.</a:t>
            </a:r>
          </a:p>
          <a:p>
            <a:r>
              <a:rPr lang="he-IL" dirty="0"/>
              <a:t>4. פענוח דורש פתרון של בעיית "פתרון תרמיל", בעיה מתמטית קשה מאוד</a:t>
            </a:r>
          </a:p>
          <a:p>
            <a:r>
              <a:rPr lang="he-IL" dirty="0"/>
              <a:t>5. </a:t>
            </a:r>
            <a:r>
              <a:rPr lang="he-IL" b="1" dirty="0"/>
              <a:t>יתרונות:</a:t>
            </a:r>
            <a:r>
              <a:rPr lang="he-IL" dirty="0"/>
              <a:t> יעילות יחסית, פוטנציאל לעמידות בפני התקפות קוונטיות. </a:t>
            </a:r>
            <a:r>
              <a:rPr lang="he-IL" b="1" dirty="0"/>
              <a:t>חסרונות:</a:t>
            </a:r>
            <a:r>
              <a:rPr lang="he-IL" dirty="0"/>
              <a:t> מורכבות, גודל מפתח גדול.</a:t>
            </a:r>
          </a:p>
          <a:p>
            <a:r>
              <a:rPr lang="he-IL" dirty="0"/>
              <a:t>6. יצירת מפתחות, הצפנה, פענוח.</a:t>
            </a:r>
          </a:p>
          <a:p>
            <a:endParaRPr lang="he-IL" dirty="0"/>
          </a:p>
        </p:txBody>
      </p:sp>
    </p:spTree>
    <p:extLst>
      <p:ext uri="{BB962C8B-B14F-4D97-AF65-F5344CB8AC3E}">
        <p14:creationId xmlns:p14="http://schemas.microsoft.com/office/powerpoint/2010/main" val="41993316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dirty="0"/>
          </a:p>
        </p:txBody>
      </p:sp>
      <p:pic>
        <p:nvPicPr>
          <p:cNvPr id="4" name="מציין מיקום תוכן 3"/>
          <p:cNvPicPr>
            <a:picLocks noGrp="1" noChangeAspect="1"/>
          </p:cNvPicPr>
          <p:nvPr>
            <p:ph idx="1"/>
          </p:nvPr>
        </p:nvPicPr>
        <p:blipFill>
          <a:blip r:embed="rId2"/>
          <a:stretch>
            <a:fillRect/>
          </a:stretch>
        </p:blipFill>
        <p:spPr>
          <a:xfrm>
            <a:off x="1066800" y="282109"/>
            <a:ext cx="10058400" cy="6206275"/>
          </a:xfrm>
          <a:prstGeom prst="rect">
            <a:avLst/>
          </a:prstGeom>
        </p:spPr>
      </p:pic>
    </p:spTree>
    <p:extLst>
      <p:ext uri="{BB962C8B-B14F-4D97-AF65-F5344CB8AC3E}">
        <p14:creationId xmlns:p14="http://schemas.microsoft.com/office/powerpoint/2010/main" val="106669216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pic>
        <p:nvPicPr>
          <p:cNvPr id="4" name="מציין מיקום תוכן 3"/>
          <p:cNvPicPr>
            <a:picLocks noGrp="1" noChangeAspect="1"/>
          </p:cNvPicPr>
          <p:nvPr>
            <p:ph idx="1"/>
          </p:nvPr>
        </p:nvPicPr>
        <p:blipFill>
          <a:blip r:embed="rId2"/>
          <a:stretch>
            <a:fillRect/>
          </a:stretch>
        </p:blipFill>
        <p:spPr>
          <a:xfrm>
            <a:off x="677471" y="532015"/>
            <a:ext cx="10652312" cy="436137"/>
          </a:xfrm>
          <a:prstGeom prst="rect">
            <a:avLst/>
          </a:prstGeom>
        </p:spPr>
      </p:pic>
      <p:pic>
        <p:nvPicPr>
          <p:cNvPr id="5" name="תמונה 4"/>
          <p:cNvPicPr>
            <a:picLocks noChangeAspect="1"/>
          </p:cNvPicPr>
          <p:nvPr/>
        </p:nvPicPr>
        <p:blipFill>
          <a:blip r:embed="rId3"/>
          <a:stretch>
            <a:fillRect/>
          </a:stretch>
        </p:blipFill>
        <p:spPr>
          <a:xfrm>
            <a:off x="677471" y="968152"/>
            <a:ext cx="10652312" cy="5438043"/>
          </a:xfrm>
          <a:prstGeom prst="rect">
            <a:avLst/>
          </a:prstGeom>
        </p:spPr>
      </p:pic>
    </p:spTree>
    <p:extLst>
      <p:ext uri="{BB962C8B-B14F-4D97-AF65-F5344CB8AC3E}">
        <p14:creationId xmlns:p14="http://schemas.microsoft.com/office/powerpoint/2010/main" val="5200472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a:xfrm>
            <a:off x="1066800" y="2468880"/>
            <a:ext cx="10058400" cy="3931920"/>
          </a:xfrm>
        </p:spPr>
        <p:txBody>
          <a:bodyPr>
            <a:normAutofit/>
          </a:bodyPr>
          <a:lstStyle/>
          <a:p>
            <a:pPr algn="ctr"/>
            <a:r>
              <a:rPr lang="he-IL" sz="6600" dirty="0"/>
              <a:t>פרוטוקול </a:t>
            </a:r>
            <a:r>
              <a:rPr lang="he-IL" sz="6600" dirty="0" err="1"/>
              <a:t>דיפי</a:t>
            </a:r>
            <a:r>
              <a:rPr lang="he-IL" sz="6600" dirty="0"/>
              <a:t> הלמן</a:t>
            </a:r>
          </a:p>
        </p:txBody>
      </p:sp>
    </p:spTree>
    <p:extLst>
      <p:ext uri="{BB962C8B-B14F-4D97-AF65-F5344CB8AC3E}">
        <p14:creationId xmlns:p14="http://schemas.microsoft.com/office/powerpoint/2010/main" val="347984636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750828" y="642594"/>
            <a:ext cx="1374371" cy="1371600"/>
          </a:xfrm>
        </p:spPr>
        <p:txBody>
          <a:bodyPr>
            <a:normAutofit fontScale="90000"/>
          </a:bodyPr>
          <a:lstStyle/>
          <a:p>
            <a:r>
              <a:rPr lang="he-IL" dirty="0"/>
              <a:t>מבוא</a:t>
            </a:r>
          </a:p>
        </p:txBody>
      </p:sp>
      <p:sp>
        <p:nvSpPr>
          <p:cNvPr id="3" name="מציין מיקום תוכן 2"/>
          <p:cNvSpPr>
            <a:spLocks noGrp="1"/>
          </p:cNvSpPr>
          <p:nvPr>
            <p:ph idx="1"/>
          </p:nvPr>
        </p:nvSpPr>
        <p:spPr/>
        <p:txBody>
          <a:bodyPr/>
          <a:lstStyle/>
          <a:p>
            <a:r>
              <a:rPr lang="he-IL" dirty="0"/>
              <a:t>פרוטוקול </a:t>
            </a:r>
            <a:r>
              <a:rPr lang="he-IL" dirty="0" err="1"/>
              <a:t>דיפי</a:t>
            </a:r>
            <a:r>
              <a:rPr lang="he-IL" dirty="0"/>
              <a:t>-הלמן</a:t>
            </a:r>
            <a:r>
              <a:rPr lang="en-US" dirty="0" err="1"/>
              <a:t>Diffie</a:t>
            </a:r>
            <a:r>
              <a:rPr lang="en-US" dirty="0"/>
              <a:t>-Hellman Key Exchange </a:t>
            </a:r>
            <a:r>
              <a:rPr lang="he-IL" dirty="0"/>
              <a:t>הוא שיטה לחילופי מפתחות </a:t>
            </a:r>
            <a:r>
              <a:rPr lang="he-IL" dirty="0" err="1"/>
              <a:t>קריפטוגרפיים</a:t>
            </a:r>
            <a:r>
              <a:rPr lang="he-IL" dirty="0"/>
              <a:t> בצורה מאובטחת על גבי ערוץ תקשורת שאינו בטוח. הפרוטוקול פותח בשנת 1976 על ידי </a:t>
            </a:r>
            <a:r>
              <a:rPr lang="he-IL" dirty="0" err="1"/>
              <a:t>ויטפילד</a:t>
            </a:r>
            <a:r>
              <a:rPr lang="he-IL" dirty="0"/>
              <a:t> </a:t>
            </a:r>
            <a:r>
              <a:rPr lang="he-IL" dirty="0" err="1"/>
              <a:t>דיפי</a:t>
            </a:r>
            <a:r>
              <a:rPr lang="he-IL" dirty="0"/>
              <a:t> ומרטין הלמן, והוא נחשב לאבן יסוד בקריפטוגרפיה מודרנית.</a:t>
            </a:r>
          </a:p>
          <a:p>
            <a:endParaRPr lang="he-IL" dirty="0"/>
          </a:p>
          <a:p>
            <a:r>
              <a:rPr lang="he-IL" b="1" dirty="0"/>
              <a:t>המטרה של הפרוטוקול</a:t>
            </a:r>
          </a:p>
          <a:p>
            <a:r>
              <a:rPr lang="he-IL" dirty="0"/>
              <a:t>המטרה היא ששני צדדים (למשל, אליס ובוב) יוכלו לייצר מפתח סודי משותף </a:t>
            </a:r>
            <a:r>
              <a:rPr lang="he-IL" b="1" dirty="0"/>
              <a:t>ללא צורך בהעברת המפתח עצמו</a:t>
            </a:r>
            <a:r>
              <a:rPr lang="he-IL" dirty="0"/>
              <a:t> על גבי הרשת. המפתח הסודי הזה ישמש להצפנה סימטרית כגון</a:t>
            </a:r>
            <a:r>
              <a:rPr lang="en-US" dirty="0"/>
              <a:t> AES </a:t>
            </a:r>
            <a:r>
              <a:rPr lang="he-IL" dirty="0"/>
              <a:t>לתקשורת מאובטחת.</a:t>
            </a:r>
          </a:p>
          <a:p>
            <a:endParaRPr lang="he-IL" dirty="0"/>
          </a:p>
        </p:txBody>
      </p:sp>
    </p:spTree>
    <p:extLst>
      <p:ext uri="{BB962C8B-B14F-4D97-AF65-F5344CB8AC3E}">
        <p14:creationId xmlns:p14="http://schemas.microsoft.com/office/powerpoint/2010/main" val="2291144861"/>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32262" y="642594"/>
            <a:ext cx="11490960" cy="1371600"/>
          </a:xfrm>
        </p:spPr>
        <p:txBody>
          <a:bodyPr>
            <a:normAutofit fontScale="90000"/>
          </a:bodyPr>
          <a:lstStyle/>
          <a:p>
            <a:r>
              <a:rPr lang="he-IL" dirty="0"/>
              <a:t>הרקע לקריפטוגרפיה אסימטרית ולצורך </a:t>
            </a:r>
            <a:r>
              <a:rPr lang="he-IL" dirty="0" err="1"/>
              <a:t>בדיפי</a:t>
            </a:r>
            <a:r>
              <a:rPr lang="he-IL" dirty="0"/>
              <a:t>-הלמן</a:t>
            </a:r>
          </a:p>
        </p:txBody>
      </p:sp>
      <p:sp>
        <p:nvSpPr>
          <p:cNvPr id="3" name="מציין מיקום תוכן 2"/>
          <p:cNvSpPr>
            <a:spLocks noGrp="1"/>
          </p:cNvSpPr>
          <p:nvPr>
            <p:ph idx="1"/>
          </p:nvPr>
        </p:nvSpPr>
        <p:spPr/>
        <p:txBody>
          <a:bodyPr/>
          <a:lstStyle/>
          <a:p>
            <a:r>
              <a:rPr lang="he-IL" dirty="0"/>
              <a:t>לפני המצאת </a:t>
            </a:r>
            <a:r>
              <a:rPr lang="he-IL" dirty="0" err="1"/>
              <a:t>דיפי</a:t>
            </a:r>
            <a:r>
              <a:rPr lang="he-IL" dirty="0"/>
              <a:t>-הלמן (1976), תקשורת מאובטחת בין שני צדדים דרשה חלוקה מראש של מפתח סודי משותף – בעיה לוגיסטית משמעותית. אם שני צדדים רצו לתקשר, הם היו צריכים למצוא דרך בטוחה להחליף ביניהם את המפתח הסודי מראש, מה שהגביל את היכולת לקיים תקשורת מאובטחת על פני ערוצים ציבוריים.</a:t>
            </a:r>
          </a:p>
          <a:p>
            <a:r>
              <a:rPr lang="he-IL" dirty="0"/>
              <a:t>הפתרון הגיע עם פיתוח </a:t>
            </a:r>
            <a:r>
              <a:rPr lang="he-IL" b="1" dirty="0"/>
              <a:t>קריפטוגרפיה אסימטרית</a:t>
            </a:r>
            <a:r>
              <a:rPr lang="he-IL" dirty="0"/>
              <a:t>, שבה ניתן ליצור תקשורת מאובטחת גם בין צדדים שמעולם לא נפגשו קודם לכן. </a:t>
            </a:r>
            <a:r>
              <a:rPr lang="he-IL" dirty="0" err="1"/>
              <a:t>דיפי</a:t>
            </a:r>
            <a:r>
              <a:rPr lang="he-IL" dirty="0"/>
              <a:t>-הלמן היה </a:t>
            </a:r>
            <a:r>
              <a:rPr lang="he-IL" b="1" dirty="0"/>
              <a:t>האלגוריתם הראשון שהציע דרך בטוחה להחלפת מפתחות על גבי רשת פומבית</a:t>
            </a:r>
            <a:r>
              <a:rPr lang="he-IL" dirty="0"/>
              <a:t>.</a:t>
            </a:r>
          </a:p>
          <a:p>
            <a:endParaRPr lang="he-IL" dirty="0"/>
          </a:p>
        </p:txBody>
      </p:sp>
    </p:spTree>
    <p:extLst>
      <p:ext uri="{BB962C8B-B14F-4D97-AF65-F5344CB8AC3E}">
        <p14:creationId xmlns:p14="http://schemas.microsoft.com/office/powerpoint/2010/main" val="2269831423"/>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059978" y="642594"/>
            <a:ext cx="5065222" cy="1371600"/>
          </a:xfrm>
        </p:spPr>
        <p:txBody>
          <a:bodyPr/>
          <a:lstStyle/>
          <a:p>
            <a:r>
              <a:rPr lang="he-IL" dirty="0"/>
              <a:t>איך הוא בעצם עובד</a:t>
            </a:r>
          </a:p>
        </p:txBody>
      </p:sp>
      <p:sp>
        <p:nvSpPr>
          <p:cNvPr id="3" name="מציין מיקום תוכן 2"/>
          <p:cNvSpPr>
            <a:spLocks noGrp="1"/>
          </p:cNvSpPr>
          <p:nvPr>
            <p:ph idx="1"/>
          </p:nvPr>
        </p:nvSpPr>
        <p:spPr/>
        <p:txBody>
          <a:bodyPr/>
          <a:lstStyle/>
          <a:p>
            <a:r>
              <a:rPr lang="he-IL" b="1" dirty="0"/>
              <a:t>בואו נדמיין שני אנשים, אליס ובוב, שרוצים להחליף ביניהם מידע מוצפן.</a:t>
            </a:r>
            <a:endParaRPr lang="he-IL" dirty="0"/>
          </a:p>
          <a:p>
            <a:r>
              <a:rPr lang="he-IL" b="1" dirty="0"/>
              <a:t>שלב 1: הסכמה על פרמטרים</a:t>
            </a:r>
            <a:endParaRPr lang="he-IL" dirty="0"/>
          </a:p>
          <a:p>
            <a:r>
              <a:rPr lang="he-IL" dirty="0"/>
              <a:t>אליס ובוב מסכימים על שני מספרים: </a:t>
            </a:r>
          </a:p>
          <a:p>
            <a:pPr lvl="1"/>
            <a:r>
              <a:rPr lang="en-US" b="1" dirty="0"/>
              <a:t> :p</a:t>
            </a:r>
            <a:r>
              <a:rPr lang="en-US" dirty="0"/>
              <a:t> </a:t>
            </a:r>
            <a:r>
              <a:rPr lang="he-IL" dirty="0"/>
              <a:t>מספר ראשוני גדול.</a:t>
            </a:r>
          </a:p>
          <a:p>
            <a:pPr lvl="1"/>
            <a:r>
              <a:rPr lang="en-US" b="1" dirty="0"/>
              <a:t> :g</a:t>
            </a:r>
            <a:r>
              <a:rPr lang="en-US" dirty="0"/>
              <a:t> </a:t>
            </a:r>
            <a:r>
              <a:rPr lang="he-IL" dirty="0"/>
              <a:t>מספר שלם קטן יותר, שנקרא "יוצר".</a:t>
            </a:r>
          </a:p>
          <a:p>
            <a:r>
              <a:rPr lang="he-IL" b="1" dirty="0"/>
              <a:t>שלב 2: בחירת מספרים סודיים</a:t>
            </a:r>
            <a:endParaRPr lang="he-IL" dirty="0"/>
          </a:p>
          <a:p>
            <a:r>
              <a:rPr lang="he-IL" dirty="0"/>
              <a:t>אליס בוחרת מספר סודי אקראי, </a:t>
            </a:r>
            <a:r>
              <a:rPr lang="en-US" dirty="0"/>
              <a:t>a</a:t>
            </a:r>
          </a:p>
          <a:p>
            <a:r>
              <a:rPr lang="he-IL" dirty="0"/>
              <a:t>בוב בוחר מספר סודי אקראי, </a:t>
            </a:r>
            <a:r>
              <a:rPr lang="en-US" dirty="0"/>
              <a:t>b</a:t>
            </a:r>
          </a:p>
          <a:p>
            <a:endParaRPr lang="he-IL" dirty="0"/>
          </a:p>
        </p:txBody>
      </p:sp>
    </p:spTree>
    <p:extLst>
      <p:ext uri="{BB962C8B-B14F-4D97-AF65-F5344CB8AC3E}">
        <p14:creationId xmlns:p14="http://schemas.microsoft.com/office/powerpoint/2010/main" val="2587331580"/>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998422" y="642594"/>
            <a:ext cx="7126778" cy="1371600"/>
          </a:xfrm>
        </p:spPr>
        <p:txBody>
          <a:bodyPr/>
          <a:lstStyle/>
          <a:p>
            <a:r>
              <a:rPr lang="he-IL" dirty="0"/>
              <a:t>המשך - איך הוא בעצם עובד</a:t>
            </a:r>
          </a:p>
        </p:txBody>
      </p:sp>
      <p:sp>
        <p:nvSpPr>
          <p:cNvPr id="3" name="מציין מיקום תוכן 2"/>
          <p:cNvSpPr>
            <a:spLocks noGrp="1"/>
          </p:cNvSpPr>
          <p:nvPr>
            <p:ph idx="1"/>
          </p:nvPr>
        </p:nvSpPr>
        <p:spPr/>
        <p:txBody>
          <a:bodyPr/>
          <a:lstStyle/>
          <a:p>
            <a:r>
              <a:rPr lang="he-IL" b="1" dirty="0"/>
              <a:t>שלב 3: שליחת מידע</a:t>
            </a:r>
            <a:endParaRPr lang="he-IL" dirty="0"/>
          </a:p>
          <a:p>
            <a:r>
              <a:rPr lang="he-IL" dirty="0"/>
              <a:t>אליס מחשבת את הערך</a:t>
            </a:r>
            <a:r>
              <a:rPr lang="en-US" dirty="0"/>
              <a:t> A = </a:t>
            </a:r>
            <a:r>
              <a:rPr lang="en-US" dirty="0" err="1"/>
              <a:t>g^a</a:t>
            </a:r>
            <a:r>
              <a:rPr lang="en-US" dirty="0"/>
              <a:t> mod p </a:t>
            </a:r>
            <a:r>
              <a:rPr lang="he-IL" dirty="0"/>
              <a:t>ושולחת אותו לבוב.</a:t>
            </a:r>
          </a:p>
          <a:p>
            <a:r>
              <a:rPr lang="he-IL" dirty="0"/>
              <a:t>בוב מחשב את הערך </a:t>
            </a:r>
            <a:r>
              <a:rPr lang="en-US" dirty="0"/>
              <a:t>B = </a:t>
            </a:r>
            <a:r>
              <a:rPr lang="en-US" dirty="0" err="1"/>
              <a:t>g^b</a:t>
            </a:r>
            <a:r>
              <a:rPr lang="en-US" dirty="0"/>
              <a:t> mod p</a:t>
            </a:r>
            <a:r>
              <a:rPr lang="he-IL" dirty="0"/>
              <a:t> ושולח אותו לאליס.</a:t>
            </a:r>
          </a:p>
          <a:p>
            <a:r>
              <a:rPr lang="he-IL" b="1" dirty="0"/>
              <a:t>שלב 4: חישוב המפתח המשותף</a:t>
            </a:r>
            <a:endParaRPr lang="he-IL" dirty="0"/>
          </a:p>
          <a:p>
            <a:r>
              <a:rPr lang="he-IL" dirty="0"/>
              <a:t>אליס מחשבת את המפתח המשותף: </a:t>
            </a:r>
            <a:r>
              <a:rPr lang="en-US" dirty="0"/>
              <a:t>K = </a:t>
            </a:r>
            <a:r>
              <a:rPr lang="en-US" dirty="0" err="1"/>
              <a:t>B^a</a:t>
            </a:r>
            <a:r>
              <a:rPr lang="en-US" dirty="0"/>
              <a:t> mod p</a:t>
            </a:r>
          </a:p>
          <a:p>
            <a:r>
              <a:rPr lang="he-IL" dirty="0"/>
              <a:t>בוב מחשב את המפתח המשותף: </a:t>
            </a:r>
            <a:r>
              <a:rPr lang="en-US" dirty="0"/>
              <a:t>K = </a:t>
            </a:r>
            <a:r>
              <a:rPr lang="en-US" dirty="0" err="1"/>
              <a:t>A^b</a:t>
            </a:r>
            <a:r>
              <a:rPr lang="en-US" dirty="0"/>
              <a:t> mod p</a:t>
            </a:r>
          </a:p>
          <a:p>
            <a:r>
              <a:rPr lang="he-IL" b="1" dirty="0"/>
              <a:t>שימו לב:</a:t>
            </a:r>
            <a:endParaRPr lang="he-IL" dirty="0"/>
          </a:p>
          <a:p>
            <a:r>
              <a:rPr lang="he-IL" dirty="0"/>
              <a:t>גם אליס וגם בוב הגיעו לאותו מפתח משותף, </a:t>
            </a:r>
            <a:r>
              <a:rPr lang="en-US" dirty="0"/>
              <a:t>K</a:t>
            </a:r>
          </a:p>
          <a:p>
            <a:r>
              <a:rPr lang="he-IL" dirty="0"/>
              <a:t>אדם זר שמצותת לערוץ התקשורת לא יכול לחשב את המפתח המשותף, מכיוון שהוא לא יודע את המספרים הסודיים</a:t>
            </a:r>
            <a:r>
              <a:rPr lang="en-US" dirty="0"/>
              <a:t>a </a:t>
            </a:r>
            <a:r>
              <a:rPr lang="he-IL" dirty="0"/>
              <a:t> ו-</a:t>
            </a:r>
            <a:r>
              <a:rPr lang="en-US" dirty="0"/>
              <a:t>b </a:t>
            </a:r>
          </a:p>
          <a:p>
            <a:endParaRPr lang="he-IL" dirty="0"/>
          </a:p>
        </p:txBody>
      </p:sp>
    </p:spTree>
    <p:extLst>
      <p:ext uri="{BB962C8B-B14F-4D97-AF65-F5344CB8AC3E}">
        <p14:creationId xmlns:p14="http://schemas.microsoft.com/office/powerpoint/2010/main" val="4218053605"/>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343504" y="642594"/>
            <a:ext cx="1781695" cy="1371600"/>
          </a:xfrm>
        </p:spPr>
        <p:txBody>
          <a:bodyPr/>
          <a:lstStyle/>
          <a:p>
            <a:r>
              <a:rPr lang="he-IL" dirty="0"/>
              <a:t>דוגמא</a:t>
            </a:r>
          </a:p>
        </p:txBody>
      </p:sp>
      <p:sp>
        <p:nvSpPr>
          <p:cNvPr id="3" name="מציין מיקום תוכן 2"/>
          <p:cNvSpPr>
            <a:spLocks noGrp="1"/>
          </p:cNvSpPr>
          <p:nvPr>
            <p:ph idx="1"/>
          </p:nvPr>
        </p:nvSpPr>
        <p:spPr/>
        <p:txBody>
          <a:bodyPr/>
          <a:lstStyle/>
          <a:p>
            <a:r>
              <a:rPr lang="he-IL" dirty="0"/>
              <a:t>נניח ש:</a:t>
            </a:r>
          </a:p>
          <a:p>
            <a:r>
              <a:rPr lang="en-US" dirty="0"/>
              <a:t>p = 11</a:t>
            </a:r>
          </a:p>
          <a:p>
            <a:r>
              <a:rPr lang="en-US" dirty="0"/>
              <a:t>g = 2</a:t>
            </a:r>
          </a:p>
          <a:p>
            <a:r>
              <a:rPr lang="en-US" dirty="0"/>
              <a:t>a = 3</a:t>
            </a:r>
          </a:p>
          <a:p>
            <a:r>
              <a:rPr lang="en-US" dirty="0"/>
              <a:t>b = 5</a:t>
            </a:r>
          </a:p>
          <a:p>
            <a:r>
              <a:rPr lang="he-IL" dirty="0"/>
              <a:t>אז:</a:t>
            </a:r>
          </a:p>
          <a:p>
            <a:r>
              <a:rPr lang="en-US" dirty="0"/>
              <a:t>A = 2^3 mod 11 = 8</a:t>
            </a:r>
          </a:p>
          <a:p>
            <a:r>
              <a:rPr lang="en-US" dirty="0"/>
              <a:t>B = 2^5 mod 11 = 10</a:t>
            </a:r>
          </a:p>
          <a:p>
            <a:r>
              <a:rPr lang="en-US" dirty="0"/>
              <a:t>K = 10^3 mod 11 = 1000 mod 11 = 10</a:t>
            </a:r>
          </a:p>
          <a:p>
            <a:pPr marL="0" indent="0">
              <a:buNone/>
            </a:pPr>
            <a:endParaRPr lang="he-IL" dirty="0"/>
          </a:p>
        </p:txBody>
      </p:sp>
    </p:spTree>
    <p:extLst>
      <p:ext uri="{BB962C8B-B14F-4D97-AF65-F5344CB8AC3E}">
        <p14:creationId xmlns:p14="http://schemas.microsoft.com/office/powerpoint/2010/main" val="1945728132"/>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730836" y="642594"/>
            <a:ext cx="3394364" cy="1371600"/>
          </a:xfrm>
        </p:spPr>
        <p:txBody>
          <a:bodyPr/>
          <a:lstStyle/>
          <a:p>
            <a:r>
              <a:rPr lang="he-IL" dirty="0"/>
              <a:t>ועוד יותר טוב</a:t>
            </a:r>
          </a:p>
        </p:txBody>
      </p:sp>
      <p:sp>
        <p:nvSpPr>
          <p:cNvPr id="3" name="מציין מיקום תוכן 2"/>
          <p:cNvSpPr>
            <a:spLocks noGrp="1"/>
          </p:cNvSpPr>
          <p:nvPr>
            <p:ph idx="1"/>
          </p:nvPr>
        </p:nvSpPr>
        <p:spPr/>
        <p:txBody>
          <a:bodyPr/>
          <a:lstStyle/>
          <a:p>
            <a:r>
              <a:rPr lang="he-IL" b="1" dirty="0"/>
              <a:t>דוגמה</a:t>
            </a:r>
            <a:endParaRPr lang="he-IL" dirty="0"/>
          </a:p>
          <a:p>
            <a:r>
              <a:rPr lang="he-IL" dirty="0"/>
              <a:t>נניח כי </a:t>
            </a:r>
            <a:r>
              <a:rPr lang="en-US" dirty="0"/>
              <a:t>p = 23 </a:t>
            </a:r>
            <a:r>
              <a:rPr lang="he-IL" dirty="0"/>
              <a:t> ו - </a:t>
            </a:r>
            <a:r>
              <a:rPr lang="en-US" dirty="0"/>
              <a:t>g = 5</a:t>
            </a:r>
          </a:p>
          <a:p>
            <a:r>
              <a:rPr lang="he-IL" dirty="0"/>
              <a:t>אליס בוחרת</a:t>
            </a:r>
            <a:r>
              <a:rPr lang="en-US" dirty="0"/>
              <a:t> a = 6 </a:t>
            </a:r>
            <a:r>
              <a:rPr lang="he-IL" dirty="0"/>
              <a:t>ומשתמשת בנוסחה </a:t>
            </a:r>
            <a:r>
              <a:rPr lang="en-US" dirty="0"/>
              <a:t>A = 5^6 mod 23 = 8</a:t>
            </a:r>
          </a:p>
          <a:p>
            <a:r>
              <a:rPr lang="he-IL" dirty="0"/>
              <a:t>בוב בוחר </a:t>
            </a:r>
            <a:r>
              <a:rPr lang="en-US" dirty="0"/>
              <a:t> b = 15</a:t>
            </a:r>
            <a:r>
              <a:rPr lang="he-IL" dirty="0"/>
              <a:t>ומשתמש בנוסחה </a:t>
            </a:r>
            <a:r>
              <a:rPr lang="en-US" dirty="0"/>
              <a:t>B = 5^15 mod 23 = 19</a:t>
            </a:r>
          </a:p>
          <a:p>
            <a:r>
              <a:rPr lang="he-IL" dirty="0"/>
              <a:t>אליס שולחת לבוב את המספר 8 ובוב שולח לאליס את המספר 19.</a:t>
            </a:r>
          </a:p>
          <a:p>
            <a:r>
              <a:rPr lang="he-IL" dirty="0"/>
              <a:t>אליס מחשבת את המפתח המשותף על ידי 19^6 </a:t>
            </a:r>
            <a:r>
              <a:rPr lang="en-US" dirty="0"/>
              <a:t>mod 23 = 2</a:t>
            </a:r>
          </a:p>
          <a:p>
            <a:r>
              <a:rPr lang="he-IL" dirty="0"/>
              <a:t>בוב מחשב את המפתח המשותף על ידי 8^15 </a:t>
            </a:r>
            <a:r>
              <a:rPr lang="en-US" dirty="0"/>
              <a:t>mod 23 = 2</a:t>
            </a:r>
          </a:p>
          <a:p>
            <a:r>
              <a:rPr lang="he-IL" dirty="0"/>
              <a:t>שני הצדדים הגיעו לאותו מפתח משותף, למרות העובדה שהם לא שיתפו ביניהם אף מידע פרט למספרים 8 ו-19.</a:t>
            </a:r>
          </a:p>
          <a:p>
            <a:endParaRPr lang="he-IL" dirty="0"/>
          </a:p>
        </p:txBody>
      </p:sp>
    </p:spTree>
    <p:extLst>
      <p:ext uri="{BB962C8B-B14F-4D97-AF65-F5344CB8AC3E}">
        <p14:creationId xmlns:p14="http://schemas.microsoft.com/office/powerpoint/2010/main" val="3964585610"/>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691744" y="642594"/>
            <a:ext cx="4433455" cy="1371600"/>
          </a:xfrm>
        </p:spPr>
        <p:txBody>
          <a:bodyPr/>
          <a:lstStyle/>
          <a:p>
            <a:r>
              <a:rPr lang="he-IL" dirty="0"/>
              <a:t>יתרונות וחסרונות</a:t>
            </a:r>
          </a:p>
        </p:txBody>
      </p:sp>
      <p:sp>
        <p:nvSpPr>
          <p:cNvPr id="3" name="מציין מיקום תוכן 2"/>
          <p:cNvSpPr>
            <a:spLocks noGrp="1"/>
          </p:cNvSpPr>
          <p:nvPr>
            <p:ph idx="1"/>
          </p:nvPr>
        </p:nvSpPr>
        <p:spPr/>
        <p:txBody>
          <a:bodyPr/>
          <a:lstStyle/>
          <a:p>
            <a:r>
              <a:rPr lang="he-IL" b="1" dirty="0"/>
              <a:t>יתרונות</a:t>
            </a:r>
            <a:r>
              <a:rPr lang="he-IL" dirty="0"/>
              <a:t>:</a:t>
            </a:r>
          </a:p>
          <a:p>
            <a:r>
              <a:rPr lang="he-IL" dirty="0"/>
              <a:t>1. מאפשר יצירת מפתח סימטרי משותף בלי להעביר אותו ישירות.</a:t>
            </a:r>
          </a:p>
          <a:p>
            <a:r>
              <a:rPr lang="he-IL" dirty="0"/>
              <a:t>2. עמיד בפני האזנות פסיביות (אף אחד שמאזין לא יכול לגלות את המפתח).</a:t>
            </a:r>
          </a:p>
          <a:p>
            <a:r>
              <a:rPr lang="he-IL" dirty="0"/>
              <a:t>3. מהווה בסיס לפרוטוקולים מאובטחים רבים (</a:t>
            </a:r>
            <a:r>
              <a:rPr lang="en-US" dirty="0"/>
              <a:t> TLS ,VPN</a:t>
            </a:r>
            <a:r>
              <a:rPr lang="he-IL" dirty="0"/>
              <a:t>וכו').</a:t>
            </a:r>
          </a:p>
          <a:p>
            <a:r>
              <a:rPr lang="he-IL" b="1" dirty="0"/>
              <a:t>חסרונות</a:t>
            </a:r>
            <a:r>
              <a:rPr lang="he-IL" dirty="0"/>
              <a:t>:</a:t>
            </a:r>
          </a:p>
          <a:p>
            <a:r>
              <a:rPr lang="he-IL" dirty="0"/>
              <a:t>1. חשוף ל</a:t>
            </a:r>
            <a:r>
              <a:rPr lang="he-IL" b="1" dirty="0"/>
              <a:t>מתקפת "אדם בתווך"</a:t>
            </a:r>
            <a:r>
              <a:rPr lang="en-US" b="1" dirty="0"/>
              <a:t> :MITM</a:t>
            </a:r>
            <a:r>
              <a:rPr lang="en-US" dirty="0"/>
              <a:t> </a:t>
            </a:r>
            <a:r>
              <a:rPr lang="he-IL" dirty="0"/>
              <a:t>תוקף יכול ליירט את ההתקשרות וליצור מפתחות נפרדים עם כל צד.</a:t>
            </a:r>
          </a:p>
          <a:p>
            <a:r>
              <a:rPr lang="he-IL" dirty="0"/>
              <a:t>2. אינו מספק </a:t>
            </a:r>
            <a:r>
              <a:rPr lang="he-IL" b="1" dirty="0"/>
              <a:t>אימות זהות</a:t>
            </a:r>
            <a:r>
              <a:rPr lang="he-IL" dirty="0"/>
              <a:t> – לא ניתן לדעת אם הצד השני הוא אכן מי שהוא טוען להיות.</a:t>
            </a:r>
          </a:p>
          <a:p>
            <a:r>
              <a:rPr lang="he-IL" dirty="0"/>
              <a:t>3. דורש מספרים גדולים מאוד כדי להיות בטוח נגד התקפות כוח גס.</a:t>
            </a:r>
          </a:p>
          <a:p>
            <a:endParaRPr lang="he-IL" dirty="0"/>
          </a:p>
        </p:txBody>
      </p:sp>
    </p:spTree>
    <p:extLst>
      <p:ext uri="{BB962C8B-B14F-4D97-AF65-F5344CB8AC3E}">
        <p14:creationId xmlns:p14="http://schemas.microsoft.com/office/powerpoint/2010/main" val="22005912"/>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671752" y="642594"/>
            <a:ext cx="6453447" cy="1371600"/>
          </a:xfrm>
        </p:spPr>
        <p:txBody>
          <a:bodyPr/>
          <a:lstStyle/>
          <a:p>
            <a:r>
              <a:rPr lang="he-IL" dirty="0"/>
              <a:t>שיפור אבטחת </a:t>
            </a:r>
            <a:r>
              <a:rPr lang="he-IL" dirty="0" err="1"/>
              <a:t>דיפי</a:t>
            </a:r>
            <a:r>
              <a:rPr lang="he-IL" dirty="0"/>
              <a:t>-הלמן</a:t>
            </a:r>
          </a:p>
        </p:txBody>
      </p:sp>
      <p:sp>
        <p:nvSpPr>
          <p:cNvPr id="3" name="מציין מיקום תוכן 2"/>
          <p:cNvSpPr>
            <a:spLocks noGrp="1"/>
          </p:cNvSpPr>
          <p:nvPr>
            <p:ph idx="1"/>
          </p:nvPr>
        </p:nvSpPr>
        <p:spPr/>
        <p:txBody>
          <a:bodyPr/>
          <a:lstStyle/>
          <a:p>
            <a:r>
              <a:rPr lang="he-IL" dirty="0"/>
              <a:t>כדי למנוע מתקפת </a:t>
            </a:r>
            <a:r>
              <a:rPr lang="en-US" dirty="0"/>
              <a:t> </a:t>
            </a:r>
            <a:r>
              <a:rPr lang="en-US" b="1" dirty="0"/>
              <a:t>MITM</a:t>
            </a:r>
            <a:r>
              <a:rPr lang="he-IL" dirty="0"/>
              <a:t>אפשר לשלב את הפרוטוקול עם חתימות דיגיטליות כגון</a:t>
            </a:r>
            <a:r>
              <a:rPr lang="en-US" dirty="0"/>
              <a:t> RSA </a:t>
            </a:r>
            <a:r>
              <a:rPr lang="he-IL" dirty="0"/>
              <a:t>או</a:t>
            </a:r>
            <a:r>
              <a:rPr lang="en-US" dirty="0"/>
              <a:t>ECC </a:t>
            </a:r>
            <a:r>
              <a:rPr lang="he-IL" dirty="0"/>
              <a:t> כדי לוודא שהצדדים הם אותנטיים. פרוטוקולים משופרים כוללים:</a:t>
            </a:r>
          </a:p>
          <a:p>
            <a:endParaRPr lang="he-IL" dirty="0"/>
          </a:p>
          <a:p>
            <a:r>
              <a:rPr lang="en-US" b="1" dirty="0"/>
              <a:t>DHE (</a:t>
            </a:r>
            <a:r>
              <a:rPr lang="en-US" b="1" dirty="0" err="1"/>
              <a:t>Diffie</a:t>
            </a:r>
            <a:r>
              <a:rPr lang="en-US" b="1" dirty="0"/>
              <a:t>-Hellman Ephemeral)</a:t>
            </a:r>
            <a:r>
              <a:rPr lang="he-IL" b="1" dirty="0"/>
              <a:t>: </a:t>
            </a:r>
            <a:r>
              <a:rPr lang="he-IL" dirty="0"/>
              <a:t>גרסה שבה מחליפים מפתחות לכל </a:t>
            </a:r>
            <a:r>
              <a:rPr lang="he-IL" dirty="0" err="1"/>
              <a:t>סשן</a:t>
            </a:r>
            <a:r>
              <a:rPr lang="he-IL" dirty="0"/>
              <a:t>, מגבירה את האבטחה.</a:t>
            </a:r>
          </a:p>
          <a:p>
            <a:endParaRPr lang="he-IL" dirty="0"/>
          </a:p>
          <a:p>
            <a:r>
              <a:rPr lang="en-US" b="1" dirty="0"/>
              <a:t> :ECDH (Elliptic Curve </a:t>
            </a:r>
            <a:r>
              <a:rPr lang="en-US" b="1" dirty="0" err="1"/>
              <a:t>Diffie</a:t>
            </a:r>
            <a:r>
              <a:rPr lang="en-US" b="1" dirty="0"/>
              <a:t>-Hellman)</a:t>
            </a:r>
            <a:r>
              <a:rPr lang="he-IL" dirty="0"/>
              <a:t>גרסה המשתמשת בעקומות אליפטיות</a:t>
            </a:r>
            <a:r>
              <a:rPr lang="en-US" dirty="0"/>
              <a:t>ECC </a:t>
            </a:r>
            <a:r>
              <a:rPr lang="he-IL" dirty="0"/>
              <a:t> להקטנת גודל המפתחות תוך שמירה על בטיחות.</a:t>
            </a:r>
          </a:p>
          <a:p>
            <a:endParaRPr lang="he-IL" dirty="0"/>
          </a:p>
        </p:txBody>
      </p:sp>
    </p:spTree>
    <p:extLst>
      <p:ext uri="{BB962C8B-B14F-4D97-AF65-F5344CB8AC3E}">
        <p14:creationId xmlns:p14="http://schemas.microsoft.com/office/powerpoint/2010/main" val="3966377671"/>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52312" y="642594"/>
            <a:ext cx="1972887"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מהו העיקרון המרכזי של פרוטוקול </a:t>
            </a:r>
            <a:r>
              <a:rPr lang="he-IL" dirty="0" err="1"/>
              <a:t>דיפי</a:t>
            </a:r>
            <a:r>
              <a:rPr lang="he-IL" dirty="0"/>
              <a:t>-הלמן?</a:t>
            </a:r>
          </a:p>
          <a:p>
            <a:r>
              <a:rPr lang="he-IL" dirty="0"/>
              <a:t>2. מדוע פרוטוקול </a:t>
            </a:r>
            <a:r>
              <a:rPr lang="he-IL" dirty="0" err="1"/>
              <a:t>דיפי</a:t>
            </a:r>
            <a:r>
              <a:rPr lang="he-IL" dirty="0"/>
              <a:t>-הלמן בטוח מפני האזנה </a:t>
            </a:r>
            <a:r>
              <a:rPr lang="en-US" dirty="0"/>
              <a:t>Eavesdropping</a:t>
            </a:r>
            <a:r>
              <a:rPr lang="he-IL" dirty="0"/>
              <a:t>?</a:t>
            </a:r>
          </a:p>
          <a:p>
            <a:r>
              <a:rPr lang="he-IL" dirty="0"/>
              <a:t>3. אילו שני מספרים ציבוריים נדרשים בפרוטוקול </a:t>
            </a:r>
            <a:r>
              <a:rPr lang="he-IL" dirty="0" err="1"/>
              <a:t>דיפי</a:t>
            </a:r>
            <a:r>
              <a:rPr lang="he-IL" dirty="0"/>
              <a:t>-הלמן?</a:t>
            </a:r>
          </a:p>
          <a:p>
            <a:r>
              <a:rPr lang="he-IL" dirty="0"/>
              <a:t>4. הוכח מדוע שני הצדדים מקבלים את אותו מפתח משותף בפרוטוקול </a:t>
            </a:r>
            <a:r>
              <a:rPr lang="he-IL" dirty="0" err="1"/>
              <a:t>דיפי</a:t>
            </a:r>
            <a:r>
              <a:rPr lang="he-IL" dirty="0"/>
              <a:t>-הלמן.</a:t>
            </a:r>
          </a:p>
          <a:p>
            <a:r>
              <a:rPr lang="he-IL" dirty="0"/>
              <a:t>5. כיצד מתקפת אדם-בתווך</a:t>
            </a:r>
            <a:r>
              <a:rPr lang="en-US" dirty="0"/>
              <a:t>MITM </a:t>
            </a:r>
            <a:r>
              <a:rPr lang="he-IL" dirty="0"/>
              <a:t> יכולה לשבור את פרוטוקול </a:t>
            </a:r>
            <a:r>
              <a:rPr lang="he-IL" dirty="0" err="1"/>
              <a:t>דיפי</a:t>
            </a:r>
            <a:r>
              <a:rPr lang="he-IL" dirty="0"/>
              <a:t>-הלמן?</a:t>
            </a:r>
          </a:p>
          <a:p>
            <a:r>
              <a:rPr lang="he-IL" dirty="0"/>
              <a:t>6. מדוע </a:t>
            </a:r>
            <a:r>
              <a:rPr lang="en-US" dirty="0"/>
              <a:t>ECDH </a:t>
            </a:r>
            <a:r>
              <a:rPr lang="he-IL" dirty="0" err="1"/>
              <a:t>דיפי</a:t>
            </a:r>
            <a:r>
              <a:rPr lang="he-IL" dirty="0"/>
              <a:t>-הלמן מבוסס עקומות אליפטיות נחשב לגרסה משופרת של </a:t>
            </a:r>
            <a:r>
              <a:rPr lang="he-IL" dirty="0" err="1"/>
              <a:t>דיפי</a:t>
            </a:r>
            <a:r>
              <a:rPr lang="he-IL" dirty="0"/>
              <a:t>-הלמן הקלאסי?</a:t>
            </a:r>
          </a:p>
          <a:p>
            <a:endParaRPr lang="he-IL" dirty="0"/>
          </a:p>
        </p:txBody>
      </p:sp>
    </p:spTree>
    <p:extLst>
      <p:ext uri="{BB962C8B-B14F-4D97-AF65-F5344CB8AC3E}">
        <p14:creationId xmlns:p14="http://schemas.microsoft.com/office/powerpoint/2010/main" val="3523374052"/>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69184" y="642594"/>
            <a:ext cx="2056015" cy="1371600"/>
          </a:xfrm>
        </p:spPr>
        <p:txBody>
          <a:bodyPr/>
          <a:lstStyle/>
          <a:p>
            <a:r>
              <a:rPr lang="he-IL" dirty="0"/>
              <a:t>תשובות</a:t>
            </a:r>
          </a:p>
        </p:txBody>
      </p:sp>
      <p:sp>
        <p:nvSpPr>
          <p:cNvPr id="3" name="מציין מיקום תוכן 2"/>
          <p:cNvSpPr>
            <a:spLocks noGrp="1"/>
          </p:cNvSpPr>
          <p:nvPr>
            <p:ph idx="1"/>
          </p:nvPr>
        </p:nvSpPr>
        <p:spPr/>
        <p:txBody>
          <a:bodyPr>
            <a:normAutofit fontScale="92500" lnSpcReduction="10000"/>
          </a:bodyPr>
          <a:lstStyle/>
          <a:p>
            <a:r>
              <a:rPr lang="he-IL" dirty="0"/>
              <a:t>1. פרוטוקול </a:t>
            </a:r>
            <a:r>
              <a:rPr lang="he-IL" dirty="0" err="1"/>
              <a:t>דיפי</a:t>
            </a:r>
            <a:r>
              <a:rPr lang="he-IL" dirty="0"/>
              <a:t>-הלמן הוא שיטה להחלפת מפתח הצפנה על פני ערוץ לא מאובטח. הוא מאפשר לשני צדדים ליצור מפתח סודי משותף באמצעות חישובים מתמטיים המבוססים על חזקות מודולריות, מבלי להעביר את המפתח עצמו.</a:t>
            </a:r>
          </a:p>
          <a:p>
            <a:r>
              <a:rPr lang="he-IL" dirty="0"/>
              <a:t>2. מכיוון שהמפתח הסודי </a:t>
            </a:r>
            <a:r>
              <a:rPr lang="he-IL" b="1" dirty="0"/>
              <a:t>לא מועבר</a:t>
            </a:r>
            <a:r>
              <a:rPr lang="he-IL" dirty="0"/>
              <a:t> דרך הרשת, מאזין יכול לראות רק את </a:t>
            </a:r>
            <a:r>
              <a:rPr lang="he-IL"/>
              <a:t>הפרמטרים הציבוריים</a:t>
            </a:r>
            <a:r>
              <a:rPr lang="en-US"/>
              <a:t>, </a:t>
            </a:r>
            <a:r>
              <a:rPr lang="he-IL" dirty="0"/>
              <a:t>ואת הערכים המחושבים</a:t>
            </a:r>
            <a:r>
              <a:rPr lang="en-US" dirty="0"/>
              <a:t>A, B) </a:t>
            </a:r>
            <a:r>
              <a:rPr lang="he-IL" dirty="0"/>
              <a:t>) אך לא יכול לשחזר את המפתח המשותף מבלי לפתור את בעיית הלוגריתם הדיסקרטי</a:t>
            </a:r>
            <a:r>
              <a:rPr lang="en-US" dirty="0"/>
              <a:t>DLP </a:t>
            </a:r>
            <a:r>
              <a:rPr lang="he-IL" dirty="0"/>
              <a:t> שהיא קשה חישובית.</a:t>
            </a:r>
          </a:p>
          <a:p>
            <a:r>
              <a:rPr lang="he-IL" dirty="0"/>
              <a:t>3. המספרים הציבוריים הם:</a:t>
            </a:r>
          </a:p>
          <a:p>
            <a:r>
              <a:rPr lang="en-US" b="1" dirty="0"/>
              <a:t>:p</a:t>
            </a:r>
            <a:r>
              <a:rPr lang="en-US" dirty="0"/>
              <a:t> </a:t>
            </a:r>
            <a:r>
              <a:rPr lang="he-IL" dirty="0"/>
              <a:t>מספר ראשוני גדול (משמש </a:t>
            </a:r>
            <a:r>
              <a:rPr lang="he-IL" dirty="0" err="1"/>
              <a:t>כמודולו</a:t>
            </a:r>
            <a:r>
              <a:rPr lang="he-IL" dirty="0"/>
              <a:t> לחישובים).</a:t>
            </a:r>
          </a:p>
          <a:p>
            <a:r>
              <a:rPr lang="en-US" b="1" dirty="0"/>
              <a:t>G</a:t>
            </a:r>
            <a:r>
              <a:rPr lang="he-IL" b="1" dirty="0"/>
              <a:t>: </a:t>
            </a:r>
            <a:r>
              <a:rPr lang="he-IL" dirty="0"/>
              <a:t>מחולל</a:t>
            </a:r>
            <a:r>
              <a:rPr lang="en-US" dirty="0"/>
              <a:t> </a:t>
            </a:r>
            <a:r>
              <a:rPr lang="en-US" b="1" dirty="0"/>
              <a:t>Generator</a:t>
            </a:r>
            <a:r>
              <a:rPr lang="en-US" dirty="0"/>
              <a:t> </a:t>
            </a:r>
            <a:r>
              <a:rPr lang="he-IL" dirty="0"/>
              <a:t>מספר קטן יחסית שמייצר קבוצה גדולה של ערכים מודולריים.</a:t>
            </a:r>
          </a:p>
          <a:p>
            <a:r>
              <a:rPr lang="he-IL" dirty="0"/>
              <a:t>4. תעשו לבד זה ארוך..</a:t>
            </a:r>
          </a:p>
          <a:p>
            <a:r>
              <a:rPr lang="he-IL" dirty="0"/>
              <a:t>5. כנ"ל</a:t>
            </a:r>
          </a:p>
          <a:p>
            <a:r>
              <a:rPr lang="he-IL" dirty="0"/>
              <a:t>6. </a:t>
            </a:r>
            <a:r>
              <a:rPr lang="he-IL" b="1" dirty="0"/>
              <a:t>מפתח קצר יותר עם אותה רמת אבטחה</a:t>
            </a:r>
            <a:r>
              <a:rPr lang="he-IL" dirty="0"/>
              <a:t> – למשל, 256 ביטים ב-</a:t>
            </a:r>
            <a:r>
              <a:rPr lang="en-US" dirty="0"/>
              <a:t> ECDH </a:t>
            </a:r>
            <a:r>
              <a:rPr lang="he-IL" dirty="0"/>
              <a:t>שווים בערך ל-3072 ביטים ב-</a:t>
            </a:r>
            <a:r>
              <a:rPr lang="en-US" dirty="0"/>
              <a:t>DH </a:t>
            </a:r>
            <a:r>
              <a:rPr lang="he-IL" dirty="0"/>
              <a:t>רגיל. וגם </a:t>
            </a:r>
            <a:r>
              <a:rPr lang="he-IL" b="1" dirty="0"/>
              <a:t>יעילות גבוהה יותר</a:t>
            </a:r>
            <a:r>
              <a:rPr lang="he-IL" dirty="0"/>
              <a:t> – חישובים עם עקומות אליפטיות דורשים פחות משאבים חישוביים.</a:t>
            </a:r>
          </a:p>
          <a:p>
            <a:endParaRPr lang="he-IL" dirty="0"/>
          </a:p>
        </p:txBody>
      </p:sp>
    </p:spTree>
    <p:extLst>
      <p:ext uri="{BB962C8B-B14F-4D97-AF65-F5344CB8AC3E}">
        <p14:creationId xmlns:p14="http://schemas.microsoft.com/office/powerpoint/2010/main" val="1376425101"/>
      </p:ext>
    </p:extLst>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a:xfrm>
            <a:off x="1066800" y="2460568"/>
            <a:ext cx="10058400" cy="3931920"/>
          </a:xfrm>
        </p:spPr>
        <p:txBody>
          <a:bodyPr>
            <a:normAutofit/>
          </a:bodyPr>
          <a:lstStyle/>
          <a:p>
            <a:pPr algn="ctr"/>
            <a:r>
              <a:rPr lang="he-IL" sz="5400" dirty="0" smtClean="0"/>
              <a:t>עקרון </a:t>
            </a:r>
            <a:r>
              <a:rPr lang="he-IL" sz="5400" dirty="0" err="1" smtClean="0"/>
              <a:t>קרקהופס</a:t>
            </a:r>
            <a:endParaRPr lang="he-IL" sz="5400" dirty="0"/>
          </a:p>
        </p:txBody>
      </p:sp>
    </p:spTree>
    <p:extLst>
      <p:ext uri="{BB962C8B-B14F-4D97-AF65-F5344CB8AC3E}">
        <p14:creationId xmlns:p14="http://schemas.microsoft.com/office/powerpoint/2010/main" val="2226827323"/>
      </p:ext>
    </p:extLst>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27374" y="642594"/>
            <a:ext cx="1997825" cy="1371600"/>
          </a:xfrm>
        </p:spPr>
        <p:txBody>
          <a:bodyPr/>
          <a:lstStyle/>
          <a:p>
            <a:r>
              <a:rPr lang="he-IL" dirty="0"/>
              <a:t>הגדרה</a:t>
            </a:r>
          </a:p>
        </p:txBody>
      </p:sp>
      <p:sp>
        <p:nvSpPr>
          <p:cNvPr id="3" name="מציין מיקום תוכן 2"/>
          <p:cNvSpPr>
            <a:spLocks noGrp="1"/>
          </p:cNvSpPr>
          <p:nvPr>
            <p:ph idx="1"/>
          </p:nvPr>
        </p:nvSpPr>
        <p:spPr/>
        <p:txBody>
          <a:bodyPr/>
          <a:lstStyle/>
          <a:p>
            <a:r>
              <a:rPr lang="he-IL" b="1" dirty="0"/>
              <a:t>עקרון </a:t>
            </a:r>
            <a:r>
              <a:rPr lang="he-IL" b="1" dirty="0" err="1" smtClean="0"/>
              <a:t>קרקהופס</a:t>
            </a:r>
            <a:r>
              <a:rPr lang="en-US" b="1" dirty="0" smtClean="0"/>
              <a:t> </a:t>
            </a:r>
            <a:r>
              <a:rPr lang="en-US" b="1" dirty="0" err="1" smtClean="0"/>
              <a:t>Kerckhoffs’s</a:t>
            </a:r>
            <a:r>
              <a:rPr lang="en-US" b="1" dirty="0" smtClean="0"/>
              <a:t> Principle</a:t>
            </a:r>
            <a:r>
              <a:rPr lang="en-US" dirty="0" smtClean="0"/>
              <a:t> </a:t>
            </a:r>
            <a:r>
              <a:rPr lang="he-IL" dirty="0"/>
              <a:t>הוא עיקרון יסודי בקריפטוגרפיה, הקובע</a:t>
            </a:r>
            <a:r>
              <a:rPr lang="he-IL" dirty="0" smtClean="0"/>
              <a:t>:</a:t>
            </a:r>
          </a:p>
          <a:p>
            <a:r>
              <a:rPr lang="he-IL" dirty="0"/>
              <a:t/>
            </a:r>
            <a:br>
              <a:rPr lang="he-IL" dirty="0"/>
            </a:br>
            <a:r>
              <a:rPr lang="he-IL" i="1" dirty="0"/>
              <a:t>"מערכת הצפנה צריכה להיות בטוחה גם אם כל פרטי האלגוריתם שלה ידועים לציבור, למעט המפתח הסודי</a:t>
            </a:r>
            <a:r>
              <a:rPr lang="he-IL" i="1" dirty="0" smtClean="0"/>
              <a:t>."</a:t>
            </a:r>
          </a:p>
          <a:p>
            <a:endParaRPr lang="he-IL" dirty="0"/>
          </a:p>
          <a:p>
            <a:r>
              <a:rPr lang="he-IL" dirty="0"/>
              <a:t>במילים אחרות, </a:t>
            </a:r>
            <a:r>
              <a:rPr lang="he-IL" b="1" dirty="0"/>
              <a:t>הביטחון של מערכת הצפנה לא צריך להיות תלוי בסודיות של האלגוריתם עצמו, אלא רק במפתח ההצפנה.</a:t>
            </a:r>
            <a:endParaRPr lang="he-IL" dirty="0"/>
          </a:p>
          <a:p>
            <a:endParaRPr lang="he-IL" dirty="0"/>
          </a:p>
        </p:txBody>
      </p:sp>
    </p:spTree>
    <p:extLst>
      <p:ext uri="{BB962C8B-B14F-4D97-AF65-F5344CB8AC3E}">
        <p14:creationId xmlns:p14="http://schemas.microsoft.com/office/powerpoint/2010/main" val="3284324237"/>
      </p:ext>
    </p:extLst>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356764" y="642594"/>
            <a:ext cx="3768436" cy="1371600"/>
          </a:xfrm>
        </p:spPr>
        <p:txBody>
          <a:bodyPr/>
          <a:lstStyle/>
          <a:p>
            <a:r>
              <a:rPr lang="he-IL" dirty="0"/>
              <a:t>למה זה חשוב?</a:t>
            </a:r>
          </a:p>
        </p:txBody>
      </p:sp>
      <p:sp>
        <p:nvSpPr>
          <p:cNvPr id="3" name="מציין מיקום תוכן 2"/>
          <p:cNvSpPr>
            <a:spLocks noGrp="1"/>
          </p:cNvSpPr>
          <p:nvPr>
            <p:ph idx="1"/>
          </p:nvPr>
        </p:nvSpPr>
        <p:spPr/>
        <p:txBody>
          <a:bodyPr/>
          <a:lstStyle/>
          <a:p>
            <a:r>
              <a:rPr lang="he-IL" b="1" dirty="0" smtClean="0"/>
              <a:t>1. עמידות </a:t>
            </a:r>
            <a:r>
              <a:rPr lang="he-IL" b="1" dirty="0"/>
              <a:t>בפני הדלפות מידע</a:t>
            </a:r>
            <a:endParaRPr lang="he-IL" dirty="0"/>
          </a:p>
          <a:p>
            <a:pPr lvl="1"/>
            <a:r>
              <a:rPr lang="he-IL" dirty="0"/>
              <a:t>אם מערכת הצפנה מבוססת על סודיות האלגוריתם, דליפה אחת עלולה לגרום לקריסתה.</a:t>
            </a:r>
          </a:p>
          <a:p>
            <a:pPr lvl="1"/>
            <a:r>
              <a:rPr lang="he-IL" dirty="0"/>
              <a:t>אם רק המפתח צריך להיות סודי, ניתן להחליף אותו במקרה של חשיפה בלי להחליף את כל המערכת.</a:t>
            </a:r>
          </a:p>
          <a:p>
            <a:r>
              <a:rPr lang="he-IL" b="1" dirty="0" smtClean="0"/>
              <a:t>2. נוחות </a:t>
            </a:r>
            <a:r>
              <a:rPr lang="he-IL" b="1" dirty="0"/>
              <a:t>בשימוש ובקרה</a:t>
            </a:r>
            <a:endParaRPr lang="he-IL" dirty="0"/>
          </a:p>
          <a:p>
            <a:pPr lvl="1"/>
            <a:r>
              <a:rPr lang="he-IL" dirty="0"/>
              <a:t>אם אלגוריתם ההצפנה פומבי, ניתן לנתח ולבדוק את רמת האבטחה שלו.</a:t>
            </a:r>
          </a:p>
          <a:p>
            <a:pPr lvl="1"/>
            <a:r>
              <a:rPr lang="he-IL" dirty="0"/>
              <a:t>מומחי אבטחה יכולים לזהות חולשות ולשפר את האלגוריתם.</a:t>
            </a:r>
          </a:p>
          <a:p>
            <a:r>
              <a:rPr lang="he-IL" b="1" dirty="0" smtClean="0"/>
              <a:t>3. אבטחה </a:t>
            </a:r>
            <a:r>
              <a:rPr lang="he-IL" b="1" dirty="0"/>
              <a:t>מבוססת מתמטיקה ולא על "ערפול"</a:t>
            </a:r>
            <a:endParaRPr lang="he-IL" dirty="0"/>
          </a:p>
          <a:p>
            <a:pPr lvl="1"/>
            <a:r>
              <a:rPr lang="he-IL" dirty="0"/>
              <a:t>אם האלגוריתם סודי, קשה להעריך עד כמה הוא באמת מאובטח.</a:t>
            </a:r>
          </a:p>
          <a:p>
            <a:pPr lvl="1"/>
            <a:r>
              <a:rPr lang="he-IL" dirty="0"/>
              <a:t>אם האלגוריתם גלוי, ניתן להוכיח מתמטית את רמת הבטיחות שלו.</a:t>
            </a:r>
          </a:p>
          <a:p>
            <a:endParaRPr lang="he-IL" dirty="0"/>
          </a:p>
        </p:txBody>
      </p:sp>
    </p:spTree>
    <p:extLst>
      <p:ext uri="{BB962C8B-B14F-4D97-AF65-F5344CB8AC3E}">
        <p14:creationId xmlns:p14="http://schemas.microsoft.com/office/powerpoint/2010/main" val="3437559350"/>
      </p:ext>
    </p:extLst>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031672" y="642594"/>
            <a:ext cx="7093527" cy="1371600"/>
          </a:xfrm>
        </p:spPr>
        <p:txBody>
          <a:bodyPr/>
          <a:lstStyle/>
          <a:p>
            <a:r>
              <a:rPr lang="he-IL" dirty="0"/>
              <a:t>עקרון </a:t>
            </a:r>
            <a:r>
              <a:rPr lang="he-IL" dirty="0" err="1"/>
              <a:t>קרקהופס</a:t>
            </a:r>
            <a:r>
              <a:rPr lang="he-IL" dirty="0"/>
              <a:t> מול "ערפול"</a:t>
            </a:r>
          </a:p>
        </p:txBody>
      </p:sp>
      <p:sp>
        <p:nvSpPr>
          <p:cNvPr id="3" name="מציין מיקום תוכן 2"/>
          <p:cNvSpPr>
            <a:spLocks noGrp="1"/>
          </p:cNvSpPr>
          <p:nvPr>
            <p:ph idx="1"/>
          </p:nvPr>
        </p:nvSpPr>
        <p:spPr/>
        <p:txBody>
          <a:bodyPr>
            <a:normAutofit lnSpcReduction="10000"/>
          </a:bodyPr>
          <a:lstStyle/>
          <a:p>
            <a:r>
              <a:rPr lang="he-IL" b="1" dirty="0"/>
              <a:t>עקרון </a:t>
            </a:r>
            <a:r>
              <a:rPr lang="he-IL" b="1" dirty="0" err="1"/>
              <a:t>קרקהופס</a:t>
            </a:r>
            <a:r>
              <a:rPr lang="he-IL" b="1" dirty="0"/>
              <a:t> מול "ערפול</a:t>
            </a:r>
            <a:r>
              <a:rPr lang="he-IL" b="1" dirty="0" smtClean="0"/>
              <a:t>"</a:t>
            </a:r>
          </a:p>
          <a:p>
            <a:r>
              <a:rPr lang="he-IL" b="1" dirty="0" smtClean="0"/>
              <a:t>"ערפול"</a:t>
            </a:r>
            <a:r>
              <a:rPr lang="en-US" b="1" dirty="0" smtClean="0"/>
              <a:t>:Obscurity</a:t>
            </a:r>
            <a:r>
              <a:rPr lang="en-US" dirty="0" smtClean="0"/>
              <a:t> </a:t>
            </a:r>
            <a:r>
              <a:rPr lang="he-IL" dirty="0" smtClean="0"/>
              <a:t> הוא </a:t>
            </a:r>
            <a:r>
              <a:rPr lang="he-IL" dirty="0"/>
              <a:t>מצב שבו מערכת מסתמכת על כך שהאויב לא מכיר את האלגוריתם שלה כדי להישאר בטוחה.</a:t>
            </a:r>
          </a:p>
          <a:p>
            <a:r>
              <a:rPr lang="he-IL" b="1" dirty="0" smtClean="0"/>
              <a:t>הבעיה </a:t>
            </a:r>
            <a:r>
              <a:rPr lang="he-IL" b="1" dirty="0"/>
              <a:t>בערפול:</a:t>
            </a:r>
            <a:endParaRPr lang="he-IL" dirty="0"/>
          </a:p>
          <a:p>
            <a:r>
              <a:rPr lang="he-IL" dirty="0"/>
              <a:t>אם התוקף מגלה את האלגוריתם – כל ההגנה קורסת.</a:t>
            </a:r>
          </a:p>
          <a:p>
            <a:r>
              <a:rPr lang="he-IL" dirty="0"/>
              <a:t>קשה לבדוק את רמת האבטחה של מערכת סודית.</a:t>
            </a:r>
          </a:p>
          <a:p>
            <a:r>
              <a:rPr lang="he-IL" dirty="0"/>
              <a:t>לרוב, ערפול מספק </a:t>
            </a:r>
            <a:r>
              <a:rPr lang="he-IL" b="1" dirty="0"/>
              <a:t>אשליית אבטחה</a:t>
            </a:r>
            <a:r>
              <a:rPr lang="he-IL" dirty="0"/>
              <a:t>, ולא אבטחה </a:t>
            </a:r>
            <a:r>
              <a:rPr lang="he-IL" dirty="0" err="1"/>
              <a:t>אמיתית</a:t>
            </a:r>
            <a:r>
              <a:rPr lang="he-IL" dirty="0"/>
              <a:t>.</a:t>
            </a:r>
          </a:p>
          <a:p>
            <a:r>
              <a:rPr lang="he-IL" b="1" dirty="0" err="1" smtClean="0"/>
              <a:t>קרקהופס</a:t>
            </a:r>
            <a:r>
              <a:rPr lang="he-IL" b="1" dirty="0" smtClean="0"/>
              <a:t> </a:t>
            </a:r>
            <a:r>
              <a:rPr lang="he-IL" b="1" dirty="0"/>
              <a:t>אומר את ההפך:</a:t>
            </a:r>
            <a:endParaRPr lang="he-IL" dirty="0"/>
          </a:p>
          <a:p>
            <a:r>
              <a:rPr lang="he-IL" dirty="0"/>
              <a:t>אין להסתמך על סודיות האלגוריתם – רק המפתח צריך להיות סודי.</a:t>
            </a:r>
          </a:p>
          <a:p>
            <a:r>
              <a:rPr lang="he-IL" dirty="0"/>
              <a:t>מערכות </a:t>
            </a:r>
            <a:r>
              <a:rPr lang="he-IL" dirty="0" err="1"/>
              <a:t>קריפטוגרפיות</a:t>
            </a:r>
            <a:r>
              <a:rPr lang="he-IL" dirty="0"/>
              <a:t> צריכות להיות </a:t>
            </a:r>
            <a:r>
              <a:rPr lang="he-IL" b="1" dirty="0"/>
              <a:t>פומביות ונבדקות על ידי מומחים</a:t>
            </a:r>
            <a:r>
              <a:rPr lang="he-IL" dirty="0"/>
              <a:t> כדי להבטיח שהן חזקות.</a:t>
            </a:r>
          </a:p>
          <a:p>
            <a:r>
              <a:rPr lang="he-IL" dirty="0"/>
              <a:t>יש להסתמך על </a:t>
            </a:r>
            <a:r>
              <a:rPr lang="he-IL" b="1" dirty="0"/>
              <a:t>בעיות מתמטיות קשות</a:t>
            </a:r>
            <a:r>
              <a:rPr lang="he-IL" dirty="0"/>
              <a:t> ולא על הסתרת קוד.</a:t>
            </a:r>
          </a:p>
          <a:p>
            <a:endParaRPr lang="he-IL" dirty="0"/>
          </a:p>
        </p:txBody>
      </p:sp>
    </p:spTree>
    <p:extLst>
      <p:ext uri="{BB962C8B-B14F-4D97-AF65-F5344CB8AC3E}">
        <p14:creationId xmlns:p14="http://schemas.microsoft.com/office/powerpoint/2010/main" val="4120902365"/>
      </p:ext>
    </p:extLst>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175462" y="0"/>
            <a:ext cx="7949738" cy="1371600"/>
          </a:xfrm>
        </p:spPr>
        <p:txBody>
          <a:bodyPr/>
          <a:lstStyle/>
          <a:p>
            <a:r>
              <a:rPr lang="he-IL" dirty="0"/>
              <a:t>דוגמאות ליישום עקרון </a:t>
            </a:r>
            <a:r>
              <a:rPr lang="he-IL" dirty="0" err="1"/>
              <a:t>קרקהופס</a:t>
            </a:r>
            <a:endParaRPr lang="he-IL" dirty="0"/>
          </a:p>
        </p:txBody>
      </p:sp>
      <p:sp>
        <p:nvSpPr>
          <p:cNvPr id="3" name="מציין מיקום תוכן 2"/>
          <p:cNvSpPr>
            <a:spLocks noGrp="1"/>
          </p:cNvSpPr>
          <p:nvPr>
            <p:ph idx="1"/>
          </p:nvPr>
        </p:nvSpPr>
        <p:spPr>
          <a:xfrm>
            <a:off x="1066800" y="1371601"/>
            <a:ext cx="10058400" cy="4663440"/>
          </a:xfrm>
        </p:spPr>
        <p:txBody>
          <a:bodyPr>
            <a:normAutofit fontScale="92500" lnSpcReduction="20000"/>
          </a:bodyPr>
          <a:lstStyle/>
          <a:p>
            <a:r>
              <a:rPr lang="he-IL" dirty="0"/>
              <a:t>הקריפטוגרפיה המודרנית מבוססת על עקרון </a:t>
            </a:r>
            <a:r>
              <a:rPr lang="he-IL" dirty="0" err="1"/>
              <a:t>קרקהופס</a:t>
            </a:r>
            <a:r>
              <a:rPr lang="he-IL" dirty="0"/>
              <a:t>.</a:t>
            </a:r>
            <a:br>
              <a:rPr lang="he-IL" dirty="0"/>
            </a:br>
            <a:r>
              <a:rPr lang="he-IL" dirty="0"/>
              <a:t>כל האלגוריתמים </a:t>
            </a:r>
            <a:r>
              <a:rPr lang="he-IL" dirty="0" err="1"/>
              <a:t>הקריפטוגרפיים</a:t>
            </a:r>
            <a:r>
              <a:rPr lang="he-IL" dirty="0"/>
              <a:t> </a:t>
            </a:r>
            <a:r>
              <a:rPr lang="he-IL" b="1" dirty="0"/>
              <a:t>הבטוחים</a:t>
            </a:r>
            <a:r>
              <a:rPr lang="he-IL" dirty="0"/>
              <a:t> בעולם הם כאלה שהאלגוריתם שלהם </a:t>
            </a:r>
            <a:r>
              <a:rPr lang="he-IL" b="1" dirty="0"/>
              <a:t>גלוי לכולם</a:t>
            </a:r>
            <a:r>
              <a:rPr lang="he-IL" dirty="0"/>
              <a:t>, והביטחון נשען </a:t>
            </a:r>
            <a:r>
              <a:rPr lang="he-IL" b="1" dirty="0"/>
              <a:t>אך ורק על סודיות המפתח</a:t>
            </a:r>
            <a:r>
              <a:rPr lang="he-IL" dirty="0"/>
              <a:t>.</a:t>
            </a:r>
          </a:p>
          <a:p>
            <a:r>
              <a:rPr lang="he-IL" b="1" u="sng" dirty="0" smtClean="0"/>
              <a:t>אלגוריתמים </a:t>
            </a:r>
            <a:r>
              <a:rPr lang="he-IL" b="1" u="sng" dirty="0"/>
              <a:t>העומדים בעיקרון </a:t>
            </a:r>
            <a:r>
              <a:rPr lang="he-IL" b="1" u="sng" dirty="0" err="1"/>
              <a:t>קרקהופס</a:t>
            </a:r>
            <a:r>
              <a:rPr lang="he-IL" b="1" u="sng" dirty="0"/>
              <a:t>:</a:t>
            </a:r>
            <a:endParaRPr lang="he-IL" u="sng" dirty="0"/>
          </a:p>
          <a:p>
            <a:r>
              <a:rPr lang="en-US" dirty="0"/>
              <a:t>AES (Advanced Encryption Standard)</a:t>
            </a:r>
          </a:p>
          <a:p>
            <a:r>
              <a:rPr lang="en-US" dirty="0"/>
              <a:t>RSA (</a:t>
            </a:r>
            <a:r>
              <a:rPr lang="en-US" dirty="0" err="1"/>
              <a:t>Rivest</a:t>
            </a:r>
            <a:r>
              <a:rPr lang="en-US" dirty="0"/>
              <a:t>-Shamir-</a:t>
            </a:r>
            <a:r>
              <a:rPr lang="en-US" dirty="0" err="1"/>
              <a:t>Adleman</a:t>
            </a:r>
            <a:r>
              <a:rPr lang="en-US" dirty="0"/>
              <a:t>)</a:t>
            </a:r>
          </a:p>
          <a:p>
            <a:r>
              <a:rPr lang="en-US" dirty="0"/>
              <a:t>ECC (Elliptic Curve Cryptography)</a:t>
            </a:r>
          </a:p>
          <a:p>
            <a:r>
              <a:rPr lang="en-US" dirty="0" err="1"/>
              <a:t>ElGamal</a:t>
            </a:r>
            <a:endParaRPr lang="en-US" dirty="0"/>
          </a:p>
          <a:p>
            <a:r>
              <a:rPr lang="en-US" dirty="0"/>
              <a:t>NTRU</a:t>
            </a:r>
          </a:p>
          <a:p>
            <a:r>
              <a:rPr lang="en-US" dirty="0" err="1"/>
              <a:t>Diffie</a:t>
            </a:r>
            <a:r>
              <a:rPr lang="en-US" dirty="0"/>
              <a:t>-Hellman</a:t>
            </a:r>
          </a:p>
          <a:p>
            <a:r>
              <a:rPr lang="en-US" dirty="0" smtClean="0"/>
              <a:t> SHA-256</a:t>
            </a:r>
            <a:r>
              <a:rPr lang="he-IL" dirty="0" smtClean="0"/>
              <a:t>(פונקציית </a:t>
            </a:r>
            <a:r>
              <a:rPr lang="he-IL" dirty="0"/>
              <a:t>גיבוב </a:t>
            </a:r>
            <a:r>
              <a:rPr lang="he-IL" dirty="0" err="1"/>
              <a:t>קריפטוגרפית</a:t>
            </a:r>
            <a:r>
              <a:rPr lang="he-IL" dirty="0"/>
              <a:t>)</a:t>
            </a:r>
          </a:p>
          <a:p>
            <a:r>
              <a:rPr lang="he-IL" b="1" u="sng" dirty="0" smtClean="0"/>
              <a:t>אלגוריתמים </a:t>
            </a:r>
            <a:r>
              <a:rPr lang="he-IL" b="1" u="sng" dirty="0"/>
              <a:t>שלא עומדים בעיקרון </a:t>
            </a:r>
            <a:r>
              <a:rPr lang="he-IL" b="1" u="sng" dirty="0" err="1"/>
              <a:t>קרקהופס</a:t>
            </a:r>
            <a:r>
              <a:rPr lang="he-IL" b="1" u="sng" dirty="0"/>
              <a:t> (ולכן לא מומלצים):</a:t>
            </a:r>
            <a:endParaRPr lang="he-IL" u="sng" dirty="0"/>
          </a:p>
          <a:p>
            <a:r>
              <a:rPr lang="he-IL" dirty="0" err="1"/>
              <a:t>הצפנות</a:t>
            </a:r>
            <a:r>
              <a:rPr lang="he-IL" dirty="0"/>
              <a:t> קנייניות שלא עברו סקירה ציבורית</a:t>
            </a:r>
          </a:p>
          <a:p>
            <a:r>
              <a:rPr lang="he-IL" dirty="0"/>
              <a:t>מערכות המסתמכות על "ערפול" במקום על בעיות מתמטיות קשות</a:t>
            </a:r>
          </a:p>
          <a:p>
            <a:r>
              <a:rPr lang="he-IL" dirty="0"/>
              <a:t>מערכות שבהן "אם הקוד דולף – כל ההגנה קורסת"</a:t>
            </a:r>
          </a:p>
        </p:txBody>
      </p:sp>
    </p:spTree>
    <p:extLst>
      <p:ext uri="{BB962C8B-B14F-4D97-AF65-F5344CB8AC3E}">
        <p14:creationId xmlns:p14="http://schemas.microsoft.com/office/powerpoint/2010/main" val="1198742581"/>
      </p:ext>
    </p:extLst>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560320" y="617655"/>
            <a:ext cx="8564880" cy="1371600"/>
          </a:xfrm>
        </p:spPr>
        <p:txBody>
          <a:bodyPr/>
          <a:lstStyle/>
          <a:p>
            <a:r>
              <a:rPr lang="he-IL" dirty="0"/>
              <a:t>דוגמאות מעשיות לעקרון </a:t>
            </a:r>
            <a:r>
              <a:rPr lang="he-IL" dirty="0" err="1"/>
              <a:t>קרקהופס</a:t>
            </a:r>
            <a:endParaRPr lang="he-IL" dirty="0"/>
          </a:p>
        </p:txBody>
      </p:sp>
      <p:sp>
        <p:nvSpPr>
          <p:cNvPr id="3" name="מציין מיקום תוכן 2"/>
          <p:cNvSpPr>
            <a:spLocks noGrp="1"/>
          </p:cNvSpPr>
          <p:nvPr>
            <p:ph idx="1"/>
          </p:nvPr>
        </p:nvSpPr>
        <p:spPr/>
        <p:txBody>
          <a:bodyPr/>
          <a:lstStyle/>
          <a:p>
            <a:r>
              <a:rPr lang="he-IL" b="1" dirty="0" smtClean="0"/>
              <a:t>דוגמא </a:t>
            </a:r>
            <a:r>
              <a:rPr lang="he-IL" b="1" dirty="0"/>
              <a:t>1: פרוטוקול </a:t>
            </a:r>
            <a:r>
              <a:rPr lang="en-US" b="1" dirty="0"/>
              <a:t>TLS </a:t>
            </a:r>
            <a:r>
              <a:rPr lang="he-IL" b="1" dirty="0" smtClean="0"/>
              <a:t> הצפנת </a:t>
            </a:r>
            <a:r>
              <a:rPr lang="en-US" b="1" dirty="0" smtClean="0"/>
              <a:t>HTTPS</a:t>
            </a:r>
            <a:endParaRPr lang="en-US" b="1" dirty="0"/>
          </a:p>
          <a:p>
            <a:r>
              <a:rPr lang="en-US" dirty="0" smtClean="0"/>
              <a:t>TLS</a:t>
            </a:r>
            <a:r>
              <a:rPr lang="he-IL" dirty="0" smtClean="0"/>
              <a:t> לשעבר </a:t>
            </a:r>
            <a:r>
              <a:rPr lang="en-US" dirty="0" smtClean="0"/>
              <a:t> SSL</a:t>
            </a:r>
            <a:r>
              <a:rPr lang="he-IL" dirty="0" smtClean="0"/>
              <a:t>הוא </a:t>
            </a:r>
            <a:r>
              <a:rPr lang="he-IL" dirty="0"/>
              <a:t>תקן הצפנה לאינטרנט שבו כל המנגנונים הציבוריים </a:t>
            </a:r>
            <a:r>
              <a:rPr lang="he-IL" b="1" dirty="0"/>
              <a:t>גלויים וידועים</a:t>
            </a:r>
            <a:r>
              <a:rPr lang="he-IL" dirty="0"/>
              <a:t>, ורק המפתחות משתנים בין המשתמשים.</a:t>
            </a:r>
            <a:br>
              <a:rPr lang="he-IL" dirty="0"/>
            </a:br>
            <a:r>
              <a:rPr lang="he-IL" dirty="0"/>
              <a:t>אם </a:t>
            </a:r>
            <a:r>
              <a:rPr lang="en-US" dirty="0" smtClean="0"/>
              <a:t> TLS</a:t>
            </a:r>
            <a:r>
              <a:rPr lang="he-IL" dirty="0" smtClean="0"/>
              <a:t>לא </a:t>
            </a:r>
            <a:r>
              <a:rPr lang="he-IL" dirty="0"/>
              <a:t>היה מבוסס על עקרון </a:t>
            </a:r>
            <a:r>
              <a:rPr lang="he-IL" dirty="0" err="1"/>
              <a:t>קרקהופס</a:t>
            </a:r>
            <a:r>
              <a:rPr lang="he-IL" dirty="0"/>
              <a:t>, כל עדכון של דפדפן היה עלול לסכן את כל האינטרנט</a:t>
            </a:r>
            <a:r>
              <a:rPr lang="he-IL" dirty="0" smtClean="0"/>
              <a:t>.</a:t>
            </a:r>
          </a:p>
          <a:p>
            <a:endParaRPr lang="he-IL" dirty="0"/>
          </a:p>
          <a:p>
            <a:r>
              <a:rPr lang="he-IL" b="1" dirty="0" smtClean="0"/>
              <a:t>דוגמא </a:t>
            </a:r>
            <a:r>
              <a:rPr lang="he-IL" b="1" dirty="0"/>
              <a:t>2: מערכת </a:t>
            </a:r>
            <a:r>
              <a:rPr lang="en-US" b="1" dirty="0" smtClean="0"/>
              <a:t> PGP</a:t>
            </a:r>
            <a:r>
              <a:rPr lang="he-IL" b="1" dirty="0" smtClean="0"/>
              <a:t>הצפנת אימיילים</a:t>
            </a:r>
          </a:p>
          <a:p>
            <a:r>
              <a:rPr lang="he-IL" dirty="0" smtClean="0"/>
              <a:t>האלגוריתמים </a:t>
            </a:r>
            <a:r>
              <a:rPr lang="he-IL" dirty="0"/>
              <a:t>שבהם משתמשים </a:t>
            </a:r>
            <a:r>
              <a:rPr lang="he-IL" dirty="0" smtClean="0"/>
              <a:t>ב-</a:t>
            </a:r>
            <a:r>
              <a:rPr lang="en-US" dirty="0" smtClean="0"/>
              <a:t> PGP </a:t>
            </a:r>
            <a:r>
              <a:rPr lang="he-IL" b="1" dirty="0"/>
              <a:t>פומביים</a:t>
            </a:r>
            <a:r>
              <a:rPr lang="he-IL" dirty="0"/>
              <a:t> וידועים </a:t>
            </a:r>
            <a:r>
              <a:rPr lang="he-IL" dirty="0" smtClean="0"/>
              <a:t>(</a:t>
            </a:r>
            <a:r>
              <a:rPr lang="en-US" dirty="0" smtClean="0"/>
              <a:t> AES ,RSA</a:t>
            </a:r>
            <a:r>
              <a:rPr lang="he-IL" dirty="0" smtClean="0"/>
              <a:t>וכו</a:t>
            </a:r>
            <a:r>
              <a:rPr lang="he-IL" dirty="0"/>
              <a:t>').</a:t>
            </a:r>
          </a:p>
          <a:p>
            <a:r>
              <a:rPr lang="he-IL" dirty="0"/>
              <a:t>למרות שהקוד פתוח, אם התוקף לא יודע את המפתח הפרטי – אין לו דרך לפענח הודעה מוצפנת.</a:t>
            </a:r>
          </a:p>
          <a:p>
            <a:endParaRPr lang="he-IL" dirty="0"/>
          </a:p>
        </p:txBody>
      </p:sp>
    </p:spTree>
    <p:extLst>
      <p:ext uri="{BB962C8B-B14F-4D97-AF65-F5344CB8AC3E}">
        <p14:creationId xmlns:p14="http://schemas.microsoft.com/office/powerpoint/2010/main" val="155548875"/>
      </p:ext>
    </p:extLst>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130531" y="576092"/>
            <a:ext cx="10543309" cy="1371600"/>
          </a:xfrm>
        </p:spPr>
        <p:txBody>
          <a:bodyPr>
            <a:normAutofit fontScale="90000"/>
          </a:bodyPr>
          <a:lstStyle/>
          <a:p>
            <a:r>
              <a:rPr lang="he-IL" dirty="0"/>
              <a:t>למה קריפטוגרפים מאמינים בעקרון </a:t>
            </a:r>
            <a:r>
              <a:rPr lang="he-IL" dirty="0" err="1"/>
              <a:t>קרקהופס</a:t>
            </a:r>
            <a:r>
              <a:rPr lang="he-IL" dirty="0"/>
              <a:t>?</a:t>
            </a:r>
          </a:p>
        </p:txBody>
      </p:sp>
      <p:sp>
        <p:nvSpPr>
          <p:cNvPr id="3" name="מציין מיקום תוכן 2"/>
          <p:cNvSpPr>
            <a:spLocks noGrp="1"/>
          </p:cNvSpPr>
          <p:nvPr>
            <p:ph idx="1"/>
          </p:nvPr>
        </p:nvSpPr>
        <p:spPr/>
        <p:txBody>
          <a:bodyPr/>
          <a:lstStyle/>
          <a:p>
            <a:r>
              <a:rPr lang="he-IL" dirty="0" smtClean="0"/>
              <a:t>אלגוריתמים </a:t>
            </a:r>
            <a:r>
              <a:rPr lang="he-IL" dirty="0"/>
              <a:t>שעוברים בדיקה ציבורית נוטים להיות בטוחים יותר.</a:t>
            </a:r>
            <a:br>
              <a:rPr lang="he-IL" dirty="0"/>
            </a:br>
            <a:r>
              <a:rPr lang="he-IL" dirty="0" smtClean="0"/>
              <a:t>אם </a:t>
            </a:r>
            <a:r>
              <a:rPr lang="he-IL" dirty="0"/>
              <a:t>מערכת ההצפנה תלויה רק בערפול, היא מועדת לכישלון אם האלגוריתם ידלוף.</a:t>
            </a:r>
            <a:br>
              <a:rPr lang="he-IL" dirty="0"/>
            </a:br>
            <a:r>
              <a:rPr lang="he-IL" dirty="0" smtClean="0"/>
              <a:t>תקנים </a:t>
            </a:r>
            <a:r>
              <a:rPr lang="he-IL" dirty="0"/>
              <a:t>פתוחים מאפשרים שימוש בטוח וחופשי בהצפנה, ללא תלות ביצרן יחיד</a:t>
            </a:r>
            <a:r>
              <a:rPr lang="he-IL" dirty="0" smtClean="0"/>
              <a:t>.</a:t>
            </a:r>
          </a:p>
          <a:p>
            <a:endParaRPr lang="he-IL" dirty="0"/>
          </a:p>
          <a:p>
            <a:r>
              <a:rPr lang="he-IL" dirty="0" smtClean="0"/>
              <a:t>דוגמה </a:t>
            </a:r>
            <a:r>
              <a:rPr lang="he-IL" dirty="0"/>
              <a:t>מציאותית:</a:t>
            </a:r>
          </a:p>
          <a:p>
            <a:r>
              <a:rPr lang="en-US" dirty="0" smtClean="0"/>
              <a:t>TLS</a:t>
            </a:r>
            <a:r>
              <a:rPr lang="he-IL" dirty="0" smtClean="0"/>
              <a:t> הפרוטוקול </a:t>
            </a:r>
            <a:r>
              <a:rPr lang="he-IL" dirty="0"/>
              <a:t>שמאבטח את </a:t>
            </a:r>
            <a:r>
              <a:rPr lang="he-IL" dirty="0" smtClean="0"/>
              <a:t>האינטרנט </a:t>
            </a:r>
            <a:r>
              <a:rPr lang="he-IL" dirty="0"/>
              <a:t>מבוסס על </a:t>
            </a:r>
            <a:r>
              <a:rPr lang="he-IL" dirty="0" err="1"/>
              <a:t>הצפנות</a:t>
            </a:r>
            <a:r>
              <a:rPr lang="he-IL" dirty="0"/>
              <a:t> שנבדקו היטב.</a:t>
            </a:r>
          </a:p>
          <a:p>
            <a:r>
              <a:rPr lang="he-IL" dirty="0"/>
              <a:t>מערכות כמו </a:t>
            </a:r>
            <a:r>
              <a:rPr lang="en-US" dirty="0"/>
              <a:t>Wi-Fi </a:t>
            </a:r>
            <a:r>
              <a:rPr lang="en-US" dirty="0" smtClean="0"/>
              <a:t>WEP</a:t>
            </a:r>
            <a:r>
              <a:rPr lang="he-IL" dirty="0" smtClean="0"/>
              <a:t> שהסתמכו </a:t>
            </a:r>
            <a:r>
              <a:rPr lang="he-IL" dirty="0"/>
              <a:t>על ערפול – נפרצו תוך שנים ספורות בלבד!</a:t>
            </a:r>
          </a:p>
          <a:p>
            <a:endParaRPr lang="he-IL" dirty="0"/>
          </a:p>
        </p:txBody>
      </p:sp>
    </p:spTree>
    <p:extLst>
      <p:ext uri="{BB962C8B-B14F-4D97-AF65-F5344CB8AC3E}">
        <p14:creationId xmlns:p14="http://schemas.microsoft.com/office/powerpoint/2010/main" val="3668387278"/>
      </p:ext>
    </p:extLst>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144684" y="642594"/>
            <a:ext cx="8980516" cy="1371600"/>
          </a:xfrm>
        </p:spPr>
        <p:txBody>
          <a:bodyPr/>
          <a:lstStyle/>
          <a:p>
            <a:r>
              <a:rPr lang="he-IL" dirty="0"/>
              <a:t>מתי כן משתמשים בערפול בהצפנה?</a:t>
            </a:r>
          </a:p>
        </p:txBody>
      </p:sp>
      <p:sp>
        <p:nvSpPr>
          <p:cNvPr id="3" name="מציין מיקום תוכן 2"/>
          <p:cNvSpPr>
            <a:spLocks noGrp="1"/>
          </p:cNvSpPr>
          <p:nvPr>
            <p:ph idx="1"/>
          </p:nvPr>
        </p:nvSpPr>
        <p:spPr/>
        <p:txBody>
          <a:bodyPr/>
          <a:lstStyle/>
          <a:p>
            <a:r>
              <a:rPr lang="he-IL" dirty="0"/>
              <a:t>יש מקרים שבהם ערפול יכול לעזור, אבל </a:t>
            </a:r>
            <a:r>
              <a:rPr lang="he-IL" b="1" dirty="0"/>
              <a:t>לא כתחליף לקריפטוגרפיה חזקה</a:t>
            </a:r>
            <a:r>
              <a:rPr lang="he-IL" dirty="0" smtClean="0"/>
              <a:t>.</a:t>
            </a:r>
          </a:p>
          <a:p>
            <a:r>
              <a:rPr lang="he-IL" dirty="0" smtClean="0"/>
              <a:t> </a:t>
            </a:r>
            <a:r>
              <a:rPr lang="he-IL" dirty="0"/>
              <a:t>לדוגמה:</a:t>
            </a:r>
            <a:br>
              <a:rPr lang="he-IL" dirty="0"/>
            </a:br>
            <a:r>
              <a:rPr lang="he-IL" dirty="0" smtClean="0"/>
              <a:t>הסתרת </a:t>
            </a:r>
            <a:r>
              <a:rPr lang="he-IL" dirty="0"/>
              <a:t>מפתחות הצפנה בזיכרון של תוכנות – כדי להקשות על גניבה דרך תקיפות צד.</a:t>
            </a:r>
            <a:br>
              <a:rPr lang="he-IL" dirty="0"/>
            </a:br>
            <a:r>
              <a:rPr lang="he-IL" dirty="0" smtClean="0"/>
              <a:t>ערפול </a:t>
            </a:r>
            <a:r>
              <a:rPr lang="he-IL" dirty="0"/>
              <a:t>קוד של תוכנות מסחריות – כדי להקשות על הנדסה לאחור.</a:t>
            </a:r>
            <a:br>
              <a:rPr lang="he-IL" dirty="0"/>
            </a:br>
            <a:r>
              <a:rPr lang="he-IL" dirty="0" smtClean="0"/>
              <a:t>הגנה </a:t>
            </a:r>
            <a:r>
              <a:rPr lang="he-IL" dirty="0"/>
              <a:t>זמנית על מידע מסווג – בצבא או במערכות רגישות.</a:t>
            </a:r>
          </a:p>
          <a:p>
            <a:r>
              <a:rPr lang="he-IL" b="1" dirty="0" smtClean="0"/>
              <a:t>אבל</a:t>
            </a:r>
            <a:r>
              <a:rPr lang="he-IL" b="1" dirty="0"/>
              <a:t>:</a:t>
            </a:r>
            <a:r>
              <a:rPr lang="he-IL" dirty="0"/>
              <a:t> ערפול לבדו </a:t>
            </a:r>
            <a:r>
              <a:rPr lang="he-IL" b="1" dirty="0"/>
              <a:t>אינו דרך בטוחה</a:t>
            </a:r>
            <a:r>
              <a:rPr lang="he-IL" dirty="0"/>
              <a:t> להגן על נתונים!</a:t>
            </a:r>
          </a:p>
          <a:p>
            <a:endParaRPr lang="he-IL" dirty="0"/>
          </a:p>
        </p:txBody>
      </p:sp>
    </p:spTree>
    <p:extLst>
      <p:ext uri="{BB962C8B-B14F-4D97-AF65-F5344CB8AC3E}">
        <p14:creationId xmlns:p14="http://schemas.microsoft.com/office/powerpoint/2010/main" val="3624227869"/>
      </p:ext>
    </p:extLst>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903614" y="642594"/>
            <a:ext cx="9221585" cy="1371600"/>
          </a:xfrm>
        </p:spPr>
        <p:txBody>
          <a:bodyPr/>
          <a:lstStyle/>
          <a:p>
            <a:r>
              <a:rPr lang="he-IL" dirty="0"/>
              <a:t>יתרונות וחסרונות של עקרון </a:t>
            </a:r>
            <a:r>
              <a:rPr lang="he-IL" dirty="0" err="1"/>
              <a:t>קרקהופס</a:t>
            </a:r>
            <a:endParaRPr lang="he-IL" dirty="0"/>
          </a:p>
        </p:txBody>
      </p:sp>
      <p:pic>
        <p:nvPicPr>
          <p:cNvPr id="4" name="מציין מיקום תוכן 3"/>
          <p:cNvPicPr>
            <a:picLocks noGrp="1" noChangeAspect="1"/>
          </p:cNvPicPr>
          <p:nvPr>
            <p:ph idx="1"/>
          </p:nvPr>
        </p:nvPicPr>
        <p:blipFill>
          <a:blip r:embed="rId2"/>
          <a:stretch>
            <a:fillRect/>
          </a:stretch>
        </p:blipFill>
        <p:spPr>
          <a:xfrm>
            <a:off x="878023" y="2014194"/>
            <a:ext cx="9962354" cy="2534165"/>
          </a:xfrm>
          <a:prstGeom prst="rect">
            <a:avLst/>
          </a:prstGeom>
        </p:spPr>
      </p:pic>
    </p:spTree>
    <p:extLst>
      <p:ext uri="{BB962C8B-B14F-4D97-AF65-F5344CB8AC3E}">
        <p14:creationId xmlns:p14="http://schemas.microsoft.com/office/powerpoint/2010/main" val="286100414"/>
      </p:ext>
    </p:extLst>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93876" y="642594"/>
            <a:ext cx="1931324" cy="1371600"/>
          </a:xfrm>
        </p:spPr>
        <p:txBody>
          <a:bodyPr/>
          <a:lstStyle/>
          <a:p>
            <a:r>
              <a:rPr lang="he-IL" dirty="0" smtClean="0"/>
              <a:t>שאלות</a:t>
            </a:r>
            <a:endParaRPr lang="he-IL" dirty="0"/>
          </a:p>
        </p:txBody>
      </p:sp>
      <p:sp>
        <p:nvSpPr>
          <p:cNvPr id="3" name="מציין מיקום תוכן 2"/>
          <p:cNvSpPr>
            <a:spLocks noGrp="1"/>
          </p:cNvSpPr>
          <p:nvPr>
            <p:ph idx="1"/>
          </p:nvPr>
        </p:nvSpPr>
        <p:spPr/>
        <p:txBody>
          <a:bodyPr/>
          <a:lstStyle/>
          <a:p>
            <a:r>
              <a:rPr lang="he-IL" dirty="0" smtClean="0"/>
              <a:t>1. </a:t>
            </a:r>
            <a:r>
              <a:rPr lang="he-IL" dirty="0"/>
              <a:t>מהו עקרון </a:t>
            </a:r>
            <a:r>
              <a:rPr lang="he-IL" dirty="0" err="1"/>
              <a:t>קרקהופס</a:t>
            </a:r>
            <a:r>
              <a:rPr lang="he-IL" dirty="0"/>
              <a:t>?</a:t>
            </a:r>
            <a:endParaRPr lang="he-IL" dirty="0" smtClean="0"/>
          </a:p>
          <a:p>
            <a:r>
              <a:rPr lang="he-IL" dirty="0" smtClean="0"/>
              <a:t>2</a:t>
            </a:r>
            <a:r>
              <a:rPr lang="he-IL" dirty="0"/>
              <a:t>. מדוע חשוב שהאלגוריתם </a:t>
            </a:r>
            <a:r>
              <a:rPr lang="he-IL" dirty="0" err="1"/>
              <a:t>הקריפטוגרפי</a:t>
            </a:r>
            <a:r>
              <a:rPr lang="he-IL" dirty="0"/>
              <a:t> יהיה גלוי לציבור?</a:t>
            </a:r>
            <a:endParaRPr lang="he-IL" dirty="0" smtClean="0"/>
          </a:p>
          <a:p>
            <a:r>
              <a:rPr lang="he-IL" dirty="0" smtClean="0"/>
              <a:t>3</a:t>
            </a:r>
            <a:r>
              <a:rPr lang="he-IL" dirty="0"/>
              <a:t>. איזו גישה נוגדת את עקרון </a:t>
            </a:r>
            <a:r>
              <a:rPr lang="he-IL" dirty="0" err="1"/>
              <a:t>קרקהופס</a:t>
            </a:r>
            <a:r>
              <a:rPr lang="he-IL" dirty="0"/>
              <a:t>?</a:t>
            </a:r>
            <a:endParaRPr lang="he-IL" dirty="0" smtClean="0"/>
          </a:p>
          <a:p>
            <a:r>
              <a:rPr lang="he-IL" dirty="0" smtClean="0"/>
              <a:t>4</a:t>
            </a:r>
            <a:r>
              <a:rPr lang="he-IL" dirty="0"/>
              <a:t>. </a:t>
            </a:r>
            <a:r>
              <a:rPr lang="he-IL" dirty="0" smtClean="0"/>
              <a:t>מהם </a:t>
            </a:r>
            <a:r>
              <a:rPr lang="he-IL" dirty="0"/>
              <a:t>מהשיטות </a:t>
            </a:r>
            <a:r>
              <a:rPr lang="he-IL" dirty="0" smtClean="0"/>
              <a:t>שעומדת </a:t>
            </a:r>
            <a:r>
              <a:rPr lang="he-IL" dirty="0"/>
              <a:t>בעיקרון </a:t>
            </a:r>
            <a:r>
              <a:rPr lang="he-IL" dirty="0" err="1"/>
              <a:t>קרקהופס</a:t>
            </a:r>
            <a:r>
              <a:rPr lang="he-IL" dirty="0"/>
              <a:t>?</a:t>
            </a:r>
            <a:endParaRPr lang="he-IL" dirty="0" smtClean="0"/>
          </a:p>
          <a:p>
            <a:r>
              <a:rPr lang="he-IL" dirty="0" smtClean="0"/>
              <a:t>5</a:t>
            </a:r>
            <a:r>
              <a:rPr lang="he-IL" dirty="0"/>
              <a:t>. מה החיסרון של מערכת הצפנה שמסתמכת על "ערפול" במקום על עקרון </a:t>
            </a:r>
            <a:r>
              <a:rPr lang="he-IL" dirty="0" err="1"/>
              <a:t>קרקהופס</a:t>
            </a:r>
            <a:r>
              <a:rPr lang="he-IL" dirty="0"/>
              <a:t>?</a:t>
            </a:r>
            <a:endParaRPr lang="he-IL" dirty="0" smtClean="0"/>
          </a:p>
          <a:p>
            <a:endParaRPr lang="he-IL" dirty="0" smtClean="0"/>
          </a:p>
          <a:p>
            <a:endParaRPr lang="he-IL" dirty="0"/>
          </a:p>
        </p:txBody>
      </p:sp>
    </p:spTree>
    <p:extLst>
      <p:ext uri="{BB962C8B-B14F-4D97-AF65-F5344CB8AC3E}">
        <p14:creationId xmlns:p14="http://schemas.microsoft.com/office/powerpoint/2010/main" val="1868826574"/>
      </p:ext>
    </p:extLst>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86058" y="642594"/>
            <a:ext cx="2139142" cy="1371600"/>
          </a:xfrm>
        </p:spPr>
        <p:txBody>
          <a:bodyPr/>
          <a:lstStyle/>
          <a:p>
            <a:r>
              <a:rPr lang="he-IL" dirty="0" smtClean="0"/>
              <a:t>תשובות</a:t>
            </a:r>
            <a:endParaRPr lang="he-IL" dirty="0"/>
          </a:p>
        </p:txBody>
      </p:sp>
      <p:sp>
        <p:nvSpPr>
          <p:cNvPr id="3" name="מציין מיקום תוכן 2"/>
          <p:cNvSpPr>
            <a:spLocks noGrp="1"/>
          </p:cNvSpPr>
          <p:nvPr>
            <p:ph idx="1"/>
          </p:nvPr>
        </p:nvSpPr>
        <p:spPr/>
        <p:txBody>
          <a:bodyPr/>
          <a:lstStyle/>
          <a:p>
            <a:r>
              <a:rPr lang="he-IL" dirty="0" smtClean="0"/>
              <a:t>1</a:t>
            </a:r>
            <a:r>
              <a:rPr lang="he-IL" dirty="0"/>
              <a:t>. מערכת הצפנה חייבת להיות בטוחה גם אם האלגוריתם שלה גלוי, ורק המפתח סודי.</a:t>
            </a:r>
            <a:endParaRPr lang="he-IL" dirty="0" smtClean="0"/>
          </a:p>
          <a:p>
            <a:r>
              <a:rPr lang="he-IL" dirty="0" smtClean="0"/>
              <a:t>2</a:t>
            </a:r>
            <a:r>
              <a:rPr lang="he-IL" dirty="0"/>
              <a:t>. כדי לוודא שאין בו חולשות.</a:t>
            </a:r>
            <a:endParaRPr lang="he-IL" dirty="0" smtClean="0"/>
          </a:p>
          <a:p>
            <a:r>
              <a:rPr lang="he-IL" dirty="0" smtClean="0"/>
              <a:t>3</a:t>
            </a:r>
            <a:r>
              <a:rPr lang="he-IL" dirty="0"/>
              <a:t>. "אם התוקף לא יודע את האלגוריתם, המערכת בטוחה."</a:t>
            </a:r>
            <a:endParaRPr lang="he-IL" dirty="0" smtClean="0"/>
          </a:p>
          <a:p>
            <a:r>
              <a:rPr lang="he-IL" dirty="0" smtClean="0"/>
              <a:t>4</a:t>
            </a:r>
            <a:r>
              <a:rPr lang="he-IL" dirty="0"/>
              <a:t>. שימוש באלגוריתמים פומביים כמו </a:t>
            </a:r>
            <a:r>
              <a:rPr lang="en-US" dirty="0" smtClean="0"/>
              <a:t>RSA</a:t>
            </a:r>
            <a:r>
              <a:rPr lang="he-IL" dirty="0" smtClean="0"/>
              <a:t> ו-</a:t>
            </a:r>
            <a:r>
              <a:rPr lang="en-US" dirty="0"/>
              <a:t>AES </a:t>
            </a:r>
            <a:r>
              <a:rPr lang="he-IL" dirty="0" smtClean="0"/>
              <a:t> עם </a:t>
            </a:r>
            <a:r>
              <a:rPr lang="he-IL" dirty="0"/>
              <a:t>מפתחות סודיים.</a:t>
            </a:r>
            <a:endParaRPr lang="he-IL" dirty="0" smtClean="0"/>
          </a:p>
          <a:p>
            <a:r>
              <a:rPr lang="he-IL" dirty="0" smtClean="0"/>
              <a:t>5</a:t>
            </a:r>
            <a:r>
              <a:rPr lang="he-IL" dirty="0"/>
              <a:t>. אם האלגוריתם נחשף, כל המערכת נפרצת.</a:t>
            </a:r>
            <a:br>
              <a:rPr lang="he-IL" dirty="0"/>
            </a:br>
            <a:r>
              <a:rPr lang="he-IL" dirty="0" smtClean="0"/>
              <a:t>אי </a:t>
            </a:r>
            <a:r>
              <a:rPr lang="he-IL" dirty="0"/>
              <a:t>אפשר לבדוק האם יש חולשות באלגוריתם.</a:t>
            </a:r>
            <a:br>
              <a:rPr lang="he-IL" dirty="0"/>
            </a:br>
            <a:r>
              <a:rPr lang="he-IL" dirty="0" smtClean="0"/>
              <a:t>קשה </a:t>
            </a:r>
            <a:r>
              <a:rPr lang="he-IL" dirty="0"/>
              <a:t>לבצע עדכוני אבטחה ושיפורים.</a:t>
            </a:r>
            <a:endParaRPr lang="he-IL" dirty="0" smtClean="0"/>
          </a:p>
          <a:p>
            <a:endParaRPr lang="he-IL" dirty="0"/>
          </a:p>
        </p:txBody>
      </p:sp>
    </p:spTree>
    <p:extLst>
      <p:ext uri="{BB962C8B-B14F-4D97-AF65-F5344CB8AC3E}">
        <p14:creationId xmlns:p14="http://schemas.microsoft.com/office/powerpoint/2010/main" val="1146603052"/>
      </p:ext>
    </p:extLst>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a:xfrm>
            <a:off x="1066800" y="2502131"/>
            <a:ext cx="10058400" cy="3931920"/>
          </a:xfrm>
        </p:spPr>
        <p:txBody>
          <a:bodyPr>
            <a:normAutofit/>
          </a:bodyPr>
          <a:lstStyle/>
          <a:p>
            <a:pPr algn="ctr"/>
            <a:r>
              <a:rPr lang="he-IL" sz="5400" dirty="0" err="1" smtClean="0"/>
              <a:t>פונקצית</a:t>
            </a:r>
            <a:r>
              <a:rPr lang="he-IL" sz="5400" dirty="0" smtClean="0"/>
              <a:t> גיבוב</a:t>
            </a:r>
            <a:endParaRPr lang="he-IL" sz="5400" dirty="0"/>
          </a:p>
        </p:txBody>
      </p:sp>
    </p:spTree>
    <p:extLst>
      <p:ext uri="{BB962C8B-B14F-4D97-AF65-F5344CB8AC3E}">
        <p14:creationId xmlns:p14="http://schemas.microsoft.com/office/powerpoint/2010/main" val="1956273750"/>
      </p:ext>
    </p:extLst>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978428" y="642594"/>
            <a:ext cx="9146771" cy="1371600"/>
          </a:xfrm>
        </p:spPr>
        <p:txBody>
          <a:bodyPr/>
          <a:lstStyle/>
          <a:p>
            <a:r>
              <a:rPr lang="he-IL" dirty="0"/>
              <a:t>מהי פונקציית גיבוב </a:t>
            </a:r>
            <a:r>
              <a:rPr lang="en-US" dirty="0" smtClean="0"/>
              <a:t>Hash Function</a:t>
            </a:r>
            <a:endParaRPr lang="he-IL" dirty="0"/>
          </a:p>
        </p:txBody>
      </p:sp>
      <p:sp>
        <p:nvSpPr>
          <p:cNvPr id="3" name="מציין מיקום תוכן 2"/>
          <p:cNvSpPr>
            <a:spLocks noGrp="1"/>
          </p:cNvSpPr>
          <p:nvPr>
            <p:ph idx="1"/>
          </p:nvPr>
        </p:nvSpPr>
        <p:spPr/>
        <p:txBody>
          <a:bodyPr/>
          <a:lstStyle/>
          <a:p>
            <a:r>
              <a:rPr lang="he-IL" dirty="0"/>
              <a:t>פונקציית גיבוב היא פונקציה </a:t>
            </a:r>
            <a:r>
              <a:rPr lang="he-IL" dirty="0" err="1"/>
              <a:t>קריפטוגרפית</a:t>
            </a:r>
            <a:r>
              <a:rPr lang="he-IL" dirty="0"/>
              <a:t> שממירה קלט (באורך משתנה) לפלט </a:t>
            </a:r>
            <a:r>
              <a:rPr lang="he-IL" b="1" dirty="0"/>
              <a:t>בגודל </a:t>
            </a:r>
            <a:r>
              <a:rPr lang="he-IL" b="1" dirty="0" smtClean="0"/>
              <a:t>קבוע</a:t>
            </a:r>
            <a:r>
              <a:rPr lang="he-IL" dirty="0" smtClean="0"/>
              <a:t>.</a:t>
            </a:r>
          </a:p>
          <a:p>
            <a:r>
              <a:rPr lang="he-IL" dirty="0" smtClean="0"/>
              <a:t>הפלט </a:t>
            </a:r>
            <a:r>
              <a:rPr lang="he-IL" dirty="0"/>
              <a:t>מכונה "ערך גיבוב" או </a:t>
            </a:r>
            <a:r>
              <a:rPr lang="en-US" dirty="0" smtClean="0"/>
              <a:t>Digest"</a:t>
            </a:r>
            <a:r>
              <a:rPr lang="he-IL" dirty="0" smtClean="0"/>
              <a:t>"</a:t>
            </a:r>
            <a:endParaRPr lang="en-US" dirty="0" smtClean="0"/>
          </a:p>
          <a:p>
            <a:r>
              <a:rPr lang="he-IL" dirty="0" smtClean="0"/>
              <a:t>פונקציות </a:t>
            </a:r>
            <a:r>
              <a:rPr lang="he-IL" dirty="0"/>
              <a:t>גיבוב </a:t>
            </a:r>
            <a:r>
              <a:rPr lang="he-IL" dirty="0" err="1"/>
              <a:t>קריפטוגרפיות</a:t>
            </a:r>
            <a:r>
              <a:rPr lang="he-IL" dirty="0"/>
              <a:t> משמשות </a:t>
            </a:r>
            <a:r>
              <a:rPr lang="he-IL" b="1" dirty="0"/>
              <a:t>לא</a:t>
            </a:r>
            <a:r>
              <a:rPr lang="he-IL" dirty="0"/>
              <a:t>ימות נתונים, חתימות דיגיטליות, אחסון סיסמאות </a:t>
            </a:r>
            <a:r>
              <a:rPr lang="he-IL" dirty="0" smtClean="0"/>
              <a:t>ועוד.</a:t>
            </a:r>
          </a:p>
          <a:p>
            <a:r>
              <a:rPr lang="he-IL" dirty="0" smtClean="0"/>
              <a:t>דוגמה:</a:t>
            </a:r>
          </a:p>
          <a:p>
            <a:r>
              <a:rPr lang="he-IL" dirty="0" smtClean="0"/>
              <a:t>אם </a:t>
            </a:r>
            <a:r>
              <a:rPr lang="he-IL" dirty="0"/>
              <a:t>נפעיל את פונקציית הגיבוב </a:t>
            </a:r>
            <a:r>
              <a:rPr lang="en-US" dirty="0" smtClean="0"/>
              <a:t> </a:t>
            </a:r>
            <a:r>
              <a:rPr lang="en-US" b="1" dirty="0" smtClean="0"/>
              <a:t>SHA-256</a:t>
            </a:r>
            <a:r>
              <a:rPr lang="en-US" dirty="0" smtClean="0"/>
              <a:t> </a:t>
            </a:r>
            <a:r>
              <a:rPr lang="he-IL" dirty="0"/>
              <a:t>על </a:t>
            </a:r>
            <a:r>
              <a:rPr lang="he-IL" dirty="0" smtClean="0"/>
              <a:t>המילה </a:t>
            </a:r>
            <a:r>
              <a:rPr lang="en-US" dirty="0" smtClean="0"/>
              <a:t>hello</a:t>
            </a:r>
            <a:r>
              <a:rPr lang="he-IL" dirty="0"/>
              <a:t> </a:t>
            </a:r>
            <a:r>
              <a:rPr lang="he-IL" dirty="0" smtClean="0"/>
              <a:t>נקבל:</a:t>
            </a:r>
          </a:p>
          <a:p>
            <a:pPr algn="l"/>
            <a:r>
              <a:rPr lang="en-US" dirty="0"/>
              <a:t>2cf24dba5fb0a30e26e83b2ac5b9e29e1b161e5c1fa7425e73043362938b9824</a:t>
            </a:r>
          </a:p>
          <a:p>
            <a:r>
              <a:rPr lang="he-IL" dirty="0"/>
              <a:t>גם אם נשנה אות אחת בקלט, נקבל תוצאה שונה לחלוטין!</a:t>
            </a:r>
          </a:p>
          <a:p>
            <a:endParaRPr lang="he-IL" dirty="0"/>
          </a:p>
        </p:txBody>
      </p:sp>
    </p:spTree>
    <p:extLst>
      <p:ext uri="{BB962C8B-B14F-4D97-AF65-F5344CB8AC3E}">
        <p14:creationId xmlns:p14="http://schemas.microsoft.com/office/powerpoint/2010/main" val="952893917"/>
      </p:ext>
    </p:extLst>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712422" y="642594"/>
            <a:ext cx="9412778" cy="1371600"/>
          </a:xfrm>
        </p:spPr>
        <p:txBody>
          <a:bodyPr>
            <a:normAutofit fontScale="90000"/>
          </a:bodyPr>
          <a:lstStyle/>
          <a:p>
            <a:r>
              <a:rPr lang="he-IL" dirty="0"/>
              <a:t>מאפיינים של פונקציית גיבוב </a:t>
            </a:r>
            <a:r>
              <a:rPr lang="he-IL" dirty="0" err="1"/>
              <a:t>קריפטוגרפית</a:t>
            </a:r>
            <a:endParaRPr lang="he-IL" dirty="0"/>
          </a:p>
        </p:txBody>
      </p:sp>
      <p:sp>
        <p:nvSpPr>
          <p:cNvPr id="3" name="מציין מיקום תוכן 2"/>
          <p:cNvSpPr>
            <a:spLocks noGrp="1"/>
          </p:cNvSpPr>
          <p:nvPr>
            <p:ph idx="1"/>
          </p:nvPr>
        </p:nvSpPr>
        <p:spPr/>
        <p:txBody>
          <a:bodyPr/>
          <a:lstStyle/>
          <a:p>
            <a:r>
              <a:rPr lang="he-IL" b="1" dirty="0" smtClean="0"/>
              <a:t>1. קביעה </a:t>
            </a:r>
            <a:r>
              <a:rPr lang="en-US" b="1" dirty="0" smtClean="0"/>
              <a:t> :Deterministic</a:t>
            </a:r>
            <a:r>
              <a:rPr lang="he-IL" dirty="0" smtClean="0"/>
              <a:t>אותו </a:t>
            </a:r>
            <a:r>
              <a:rPr lang="he-IL" dirty="0"/>
              <a:t>קלט תמיד ייתן את אותו </a:t>
            </a:r>
            <a:r>
              <a:rPr lang="he-IL" dirty="0" smtClean="0"/>
              <a:t>פלט.</a:t>
            </a:r>
          </a:p>
          <a:p>
            <a:endParaRPr lang="he-IL" dirty="0" smtClean="0"/>
          </a:p>
          <a:p>
            <a:r>
              <a:rPr lang="he-IL" b="1" dirty="0" smtClean="0"/>
              <a:t>2. מהירות חישוב:</a:t>
            </a:r>
            <a:r>
              <a:rPr lang="he-IL" dirty="0" smtClean="0"/>
              <a:t> פונקציית </a:t>
            </a:r>
            <a:r>
              <a:rPr lang="he-IL" dirty="0"/>
              <a:t>גיבוב צריכה להיות </a:t>
            </a:r>
            <a:r>
              <a:rPr lang="he-IL" b="1" dirty="0"/>
              <a:t>מהירה</a:t>
            </a:r>
            <a:r>
              <a:rPr lang="he-IL" dirty="0"/>
              <a:t> </a:t>
            </a:r>
            <a:r>
              <a:rPr lang="he-IL" dirty="0" smtClean="0"/>
              <a:t>לחישוב</a:t>
            </a:r>
          </a:p>
          <a:p>
            <a:endParaRPr lang="he-IL" dirty="0" smtClean="0"/>
          </a:p>
          <a:p>
            <a:r>
              <a:rPr lang="he-IL" b="1" dirty="0" smtClean="0"/>
              <a:t>3. עמידות </a:t>
            </a:r>
            <a:r>
              <a:rPr lang="he-IL" b="1" dirty="0"/>
              <a:t>להתנגשויות </a:t>
            </a:r>
            <a:r>
              <a:rPr lang="en-US" b="1" dirty="0" smtClean="0"/>
              <a:t> :Collision Resistance</a:t>
            </a:r>
            <a:r>
              <a:rPr lang="he-IL" dirty="0" smtClean="0"/>
              <a:t>קשה </a:t>
            </a:r>
            <a:r>
              <a:rPr lang="he-IL" dirty="0"/>
              <a:t>למצוא שני </a:t>
            </a:r>
            <a:r>
              <a:rPr lang="he-IL" dirty="0" err="1"/>
              <a:t>קלטים</a:t>
            </a:r>
            <a:r>
              <a:rPr lang="he-IL" dirty="0"/>
              <a:t> שונים עם אותו </a:t>
            </a:r>
            <a:r>
              <a:rPr lang="he-IL" dirty="0" smtClean="0"/>
              <a:t>פלט.</a:t>
            </a:r>
          </a:p>
          <a:p>
            <a:endParaRPr lang="he-IL" dirty="0" smtClean="0"/>
          </a:p>
          <a:p>
            <a:r>
              <a:rPr lang="he-IL" b="1" dirty="0" smtClean="0"/>
              <a:t>4. עמידות </a:t>
            </a:r>
            <a:r>
              <a:rPr lang="he-IL" b="1" dirty="0"/>
              <a:t>לחישוב קדם-תמונה </a:t>
            </a:r>
            <a:r>
              <a:rPr lang="en-US" b="1" dirty="0" smtClean="0"/>
              <a:t> :Preimage Resistance</a:t>
            </a:r>
            <a:r>
              <a:rPr lang="he-IL" dirty="0" smtClean="0"/>
              <a:t>אי </a:t>
            </a:r>
            <a:r>
              <a:rPr lang="he-IL" dirty="0"/>
              <a:t>אפשר לשחזר את הקלט </a:t>
            </a:r>
            <a:r>
              <a:rPr lang="he-IL" dirty="0" smtClean="0"/>
              <a:t>מהפלט.</a:t>
            </a:r>
          </a:p>
          <a:p>
            <a:endParaRPr lang="he-IL" dirty="0" smtClean="0"/>
          </a:p>
          <a:p>
            <a:r>
              <a:rPr lang="he-IL" b="1" dirty="0" smtClean="0"/>
              <a:t>5. עמידות </a:t>
            </a:r>
            <a:r>
              <a:rPr lang="he-IL" b="1" dirty="0"/>
              <a:t>לתקיפות יום הולדת </a:t>
            </a:r>
            <a:r>
              <a:rPr lang="en-US" b="1" dirty="0" smtClean="0"/>
              <a:t> :Birthday </a:t>
            </a:r>
            <a:r>
              <a:rPr lang="en-US" b="1" dirty="0"/>
              <a:t>Attack </a:t>
            </a:r>
            <a:r>
              <a:rPr lang="en-US" b="1" dirty="0" smtClean="0"/>
              <a:t>Resistance</a:t>
            </a:r>
            <a:r>
              <a:rPr lang="he-IL" dirty="0" smtClean="0"/>
              <a:t>הסיכוי </a:t>
            </a:r>
            <a:r>
              <a:rPr lang="he-IL" dirty="0"/>
              <a:t>למצוא שני </a:t>
            </a:r>
            <a:r>
              <a:rPr lang="he-IL" dirty="0" err="1"/>
              <a:t>קלטים</a:t>
            </a:r>
            <a:r>
              <a:rPr lang="he-IL" dirty="0"/>
              <a:t> עם אותו ערך גיבוב נמוך מאוד</a:t>
            </a:r>
          </a:p>
        </p:txBody>
      </p:sp>
    </p:spTree>
    <p:extLst>
      <p:ext uri="{BB962C8B-B14F-4D97-AF65-F5344CB8AC3E}">
        <p14:creationId xmlns:p14="http://schemas.microsoft.com/office/powerpoint/2010/main" val="2032820220"/>
      </p:ext>
    </p:extLst>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000894" y="642594"/>
            <a:ext cx="8124305" cy="1371600"/>
          </a:xfrm>
        </p:spPr>
        <p:txBody>
          <a:bodyPr/>
          <a:lstStyle/>
          <a:p>
            <a:r>
              <a:rPr lang="he-IL" dirty="0"/>
              <a:t>דוגמאות לפונקציות גיבוב נפוצות</a:t>
            </a:r>
          </a:p>
        </p:txBody>
      </p:sp>
      <p:sp>
        <p:nvSpPr>
          <p:cNvPr id="3" name="מציין מיקום תוכן 2"/>
          <p:cNvSpPr>
            <a:spLocks noGrp="1"/>
          </p:cNvSpPr>
          <p:nvPr>
            <p:ph idx="1"/>
          </p:nvPr>
        </p:nvSpPr>
        <p:spPr/>
        <p:txBody>
          <a:bodyPr/>
          <a:lstStyle/>
          <a:p>
            <a:r>
              <a:rPr lang="en-US" b="1" dirty="0" smtClean="0"/>
              <a:t> :MD5</a:t>
            </a:r>
            <a:r>
              <a:rPr lang="en-US" dirty="0" smtClean="0"/>
              <a:t> </a:t>
            </a:r>
            <a:r>
              <a:rPr lang="he-IL" dirty="0" smtClean="0"/>
              <a:t>ישן</a:t>
            </a:r>
            <a:r>
              <a:rPr lang="he-IL" dirty="0"/>
              <a:t>, אך לא בטוח (אפשר לפרוץ אותו</a:t>
            </a:r>
            <a:r>
              <a:rPr lang="he-IL" dirty="0" smtClean="0"/>
              <a:t>).</a:t>
            </a:r>
          </a:p>
          <a:p>
            <a:endParaRPr lang="he-IL" dirty="0" smtClean="0"/>
          </a:p>
          <a:p>
            <a:r>
              <a:rPr lang="en-US" b="1" dirty="0" smtClean="0"/>
              <a:t> :HA-1</a:t>
            </a:r>
            <a:r>
              <a:rPr lang="en-US" dirty="0" smtClean="0"/>
              <a:t> </a:t>
            </a:r>
            <a:r>
              <a:rPr lang="he-IL" dirty="0" smtClean="0"/>
              <a:t>בעבר </a:t>
            </a:r>
            <a:r>
              <a:rPr lang="he-IL" dirty="0"/>
              <a:t>היה בשימוש, אך גם נחשב לא </a:t>
            </a:r>
            <a:r>
              <a:rPr lang="he-IL" dirty="0" smtClean="0"/>
              <a:t>בטוח.</a:t>
            </a:r>
          </a:p>
          <a:p>
            <a:endParaRPr lang="he-IL" dirty="0" smtClean="0"/>
          </a:p>
          <a:p>
            <a:r>
              <a:rPr lang="en-US" b="1" dirty="0" smtClean="0"/>
              <a:t>SHA-256 </a:t>
            </a:r>
            <a:r>
              <a:rPr lang="en-US" b="1" dirty="0"/>
              <a:t>/ SHA-3</a:t>
            </a:r>
            <a:r>
              <a:rPr lang="en-US" dirty="0"/>
              <a:t> </a:t>
            </a:r>
            <a:r>
              <a:rPr lang="he-IL" dirty="0" smtClean="0"/>
              <a:t>: מאובטח </a:t>
            </a:r>
            <a:r>
              <a:rPr lang="he-IL" dirty="0"/>
              <a:t>ונמצא בשימוש </a:t>
            </a:r>
            <a:r>
              <a:rPr lang="he-IL" dirty="0" smtClean="0"/>
              <a:t>כיום.</a:t>
            </a:r>
          </a:p>
          <a:p>
            <a:endParaRPr lang="he-IL" dirty="0" smtClean="0"/>
          </a:p>
          <a:p>
            <a:r>
              <a:rPr lang="en-US" b="1" dirty="0" smtClean="0"/>
              <a:t> :BLAKE2 </a:t>
            </a:r>
            <a:r>
              <a:rPr lang="en-US" b="1" dirty="0"/>
              <a:t>/ BLAKE3</a:t>
            </a:r>
            <a:r>
              <a:rPr lang="en-US" dirty="0"/>
              <a:t> </a:t>
            </a:r>
            <a:r>
              <a:rPr lang="he-IL" dirty="0" smtClean="0"/>
              <a:t>מהיר </a:t>
            </a:r>
            <a:r>
              <a:rPr lang="he-IL" dirty="0"/>
              <a:t>יותר </a:t>
            </a:r>
            <a:r>
              <a:rPr lang="he-IL" dirty="0" smtClean="0"/>
              <a:t>מ-</a:t>
            </a:r>
            <a:r>
              <a:rPr lang="en-US" dirty="0" smtClean="0"/>
              <a:t> SHA </a:t>
            </a:r>
            <a:r>
              <a:rPr lang="he-IL" dirty="0"/>
              <a:t>ומשמש במערכות מתקדמות.</a:t>
            </a:r>
          </a:p>
        </p:txBody>
      </p:sp>
    </p:spTree>
    <p:extLst>
      <p:ext uri="{BB962C8B-B14F-4D97-AF65-F5344CB8AC3E}">
        <p14:creationId xmlns:p14="http://schemas.microsoft.com/office/powerpoint/2010/main" val="99894662"/>
      </p:ext>
    </p:extLst>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726574" y="642594"/>
            <a:ext cx="8398625" cy="1371600"/>
          </a:xfrm>
        </p:spPr>
        <p:txBody>
          <a:bodyPr/>
          <a:lstStyle/>
          <a:p>
            <a:r>
              <a:rPr lang="he-IL" dirty="0"/>
              <a:t>דוגמאות מעשיות לפונקציות גיבוב</a:t>
            </a:r>
          </a:p>
        </p:txBody>
      </p:sp>
      <p:sp>
        <p:nvSpPr>
          <p:cNvPr id="3" name="מציין מיקום תוכן 2"/>
          <p:cNvSpPr>
            <a:spLocks noGrp="1"/>
          </p:cNvSpPr>
          <p:nvPr>
            <p:ph idx="1"/>
          </p:nvPr>
        </p:nvSpPr>
        <p:spPr>
          <a:xfrm>
            <a:off x="814647" y="2103120"/>
            <a:ext cx="10310553" cy="3931920"/>
          </a:xfrm>
        </p:spPr>
        <p:txBody>
          <a:bodyPr/>
          <a:lstStyle/>
          <a:p>
            <a:r>
              <a:rPr lang="he-IL" b="1" dirty="0"/>
              <a:t>דוגמה 1 – שמירת סיסמאות בבסיס נתונים</a:t>
            </a:r>
          </a:p>
          <a:p>
            <a:r>
              <a:rPr lang="he-IL" dirty="0"/>
              <a:t>כאשר משתמש יוצר חשבון, </a:t>
            </a:r>
            <a:r>
              <a:rPr lang="he-IL" b="1" dirty="0"/>
              <a:t>במקום לשמור את הסיסמה שלו, נשמור את הגיבוב שלה</a:t>
            </a:r>
            <a:r>
              <a:rPr lang="he-IL" dirty="0"/>
              <a:t>.</a:t>
            </a:r>
            <a:br>
              <a:rPr lang="he-IL" dirty="0"/>
            </a:br>
            <a:r>
              <a:rPr lang="he-IL" dirty="0"/>
              <a:t>למשל, אם הסיסמה </a:t>
            </a:r>
            <a:r>
              <a:rPr lang="he-IL" dirty="0" smtClean="0"/>
              <a:t>היא </a:t>
            </a:r>
            <a:r>
              <a:rPr lang="en-US" dirty="0" smtClean="0"/>
              <a:t>password123</a:t>
            </a:r>
            <a:r>
              <a:rPr lang="he-IL" dirty="0"/>
              <a:t> נחשב את</a:t>
            </a:r>
            <a:r>
              <a:rPr lang="he-IL" dirty="0" smtClean="0"/>
              <a:t>:</a:t>
            </a:r>
          </a:p>
          <a:p>
            <a:pPr algn="l"/>
            <a:r>
              <a:rPr lang="en-US" dirty="0"/>
              <a:t>SHA-256("password123") = ef92b778ba93f49a4e4ddae84a2c807789618ca2734696ff97a8a6bcae1b3bc6</a:t>
            </a:r>
          </a:p>
          <a:p>
            <a:r>
              <a:rPr lang="he-IL" dirty="0"/>
              <a:t>בזמן התחברות, המערכת משווה את ערך הגיבוב שהוזן לזה ששמור בבסיס הנתונים</a:t>
            </a:r>
            <a:r>
              <a:rPr lang="he-IL" dirty="0" smtClean="0"/>
              <a:t>.</a:t>
            </a:r>
            <a:endParaRPr lang="en-US" dirty="0" smtClean="0"/>
          </a:p>
          <a:p>
            <a:r>
              <a:rPr lang="he-IL" b="1" dirty="0"/>
              <a:t>למה לא מומלץ להשתמש בגיבוב בלבד לסיסמאות?</a:t>
            </a:r>
            <a:r>
              <a:rPr lang="he-IL" dirty="0"/>
              <a:t/>
            </a:r>
            <a:br>
              <a:rPr lang="he-IL" dirty="0"/>
            </a:br>
            <a:r>
              <a:rPr lang="he-IL" dirty="0"/>
              <a:t>כי האקרים יכולים לבצע תקיפת טבלאות קשת </a:t>
            </a:r>
            <a:r>
              <a:rPr lang="en-US" dirty="0" smtClean="0"/>
              <a:t>Rainbow Tables</a:t>
            </a:r>
            <a:r>
              <a:rPr lang="en-US" dirty="0"/>
              <a:t/>
            </a:r>
            <a:br>
              <a:rPr lang="en-US" dirty="0"/>
            </a:br>
            <a:r>
              <a:rPr lang="he-IL" b="1" dirty="0" smtClean="0"/>
              <a:t>הפתרון</a:t>
            </a:r>
            <a:r>
              <a:rPr lang="he-IL" b="1" dirty="0"/>
              <a:t>: </a:t>
            </a:r>
            <a:r>
              <a:rPr lang="he-IL" dirty="0"/>
              <a:t>הוספת </a:t>
            </a:r>
            <a:r>
              <a:rPr lang="en-US" dirty="0" smtClean="0"/>
              <a:t> salt </a:t>
            </a:r>
            <a:r>
              <a:rPr lang="he-IL" dirty="0" smtClean="0"/>
              <a:t>ערך אקראי </a:t>
            </a:r>
            <a:r>
              <a:rPr lang="he-IL" dirty="0"/>
              <a:t>לכל סיסמה לפני הגיבוב.</a:t>
            </a:r>
          </a:p>
          <a:p>
            <a:endParaRPr lang="he-IL" dirty="0"/>
          </a:p>
        </p:txBody>
      </p:sp>
    </p:spTree>
    <p:extLst>
      <p:ext uri="{BB962C8B-B14F-4D97-AF65-F5344CB8AC3E}">
        <p14:creationId xmlns:p14="http://schemas.microsoft.com/office/powerpoint/2010/main" val="2467639674"/>
      </p:ext>
    </p:extLst>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803862" y="642594"/>
            <a:ext cx="9321338" cy="1371600"/>
          </a:xfrm>
        </p:spPr>
        <p:txBody>
          <a:bodyPr>
            <a:normAutofit fontScale="90000"/>
          </a:bodyPr>
          <a:lstStyle/>
          <a:p>
            <a:r>
              <a:rPr lang="he-IL" dirty="0" smtClean="0"/>
              <a:t>המשך - דוגמאות </a:t>
            </a:r>
            <a:r>
              <a:rPr lang="he-IL" dirty="0"/>
              <a:t>מעשיות לפונקציות גיבוב</a:t>
            </a:r>
          </a:p>
        </p:txBody>
      </p:sp>
      <p:sp>
        <p:nvSpPr>
          <p:cNvPr id="3" name="מציין מיקום תוכן 2"/>
          <p:cNvSpPr>
            <a:spLocks noGrp="1"/>
          </p:cNvSpPr>
          <p:nvPr>
            <p:ph idx="1"/>
          </p:nvPr>
        </p:nvSpPr>
        <p:spPr/>
        <p:txBody>
          <a:bodyPr/>
          <a:lstStyle/>
          <a:p>
            <a:r>
              <a:rPr lang="he-IL" b="1" dirty="0"/>
              <a:t>דוגמה 2 – שימוש בגיבוב באימות מסרים </a:t>
            </a:r>
            <a:r>
              <a:rPr lang="en-US" b="1" dirty="0" smtClean="0"/>
              <a:t>HMAC</a:t>
            </a:r>
            <a:r>
              <a:rPr lang="he-IL" b="1" dirty="0" smtClean="0"/>
              <a:t>:</a:t>
            </a:r>
          </a:p>
          <a:p>
            <a:r>
              <a:rPr lang="he-IL" dirty="0" smtClean="0"/>
              <a:t>מערכת </a:t>
            </a:r>
            <a:r>
              <a:rPr lang="he-IL" dirty="0"/>
              <a:t>תקשורת רוצה לוודא שההודעה לא שונתה </a:t>
            </a:r>
            <a:r>
              <a:rPr lang="he-IL" dirty="0" smtClean="0"/>
              <a:t>בדרך</a:t>
            </a:r>
          </a:p>
          <a:p>
            <a:r>
              <a:rPr lang="he-IL" dirty="0" smtClean="0"/>
              <a:t>שולח </a:t>
            </a:r>
            <a:r>
              <a:rPr lang="he-IL" dirty="0"/>
              <a:t>מחשב </a:t>
            </a:r>
            <a:r>
              <a:rPr lang="en-US" dirty="0" smtClean="0"/>
              <a:t> </a:t>
            </a:r>
            <a:r>
              <a:rPr lang="en-US" b="1" dirty="0" smtClean="0"/>
              <a:t>SHA-256</a:t>
            </a:r>
            <a:r>
              <a:rPr lang="he-IL" dirty="0" smtClean="0"/>
              <a:t>של </a:t>
            </a:r>
            <a:r>
              <a:rPr lang="he-IL" dirty="0"/>
              <a:t>ההודעה ושולח גם את הגיבוב יחד עם </a:t>
            </a:r>
            <a:r>
              <a:rPr lang="he-IL" dirty="0" smtClean="0"/>
              <a:t>ההודעה</a:t>
            </a:r>
          </a:p>
          <a:p>
            <a:r>
              <a:rPr lang="he-IL" dirty="0" smtClean="0"/>
              <a:t>המקבל </a:t>
            </a:r>
            <a:r>
              <a:rPr lang="he-IL" dirty="0"/>
              <a:t>מחשב את </a:t>
            </a:r>
            <a:r>
              <a:rPr lang="he-IL" dirty="0" smtClean="0"/>
              <a:t>ה-</a:t>
            </a:r>
            <a:r>
              <a:rPr lang="en-US" dirty="0" smtClean="0"/>
              <a:t> Hash </a:t>
            </a:r>
            <a:r>
              <a:rPr lang="he-IL" dirty="0"/>
              <a:t>מחדש ומשווה לערך שהתקבל. אם הם זהים – ההודעה לא שונתה.</a:t>
            </a:r>
          </a:p>
        </p:txBody>
      </p:sp>
    </p:spTree>
    <p:extLst>
      <p:ext uri="{BB962C8B-B14F-4D97-AF65-F5344CB8AC3E}">
        <p14:creationId xmlns:p14="http://schemas.microsoft.com/office/powerpoint/2010/main" val="2392528205"/>
      </p:ext>
    </p:extLst>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15389" y="642594"/>
            <a:ext cx="11676611" cy="1371600"/>
          </a:xfrm>
        </p:spPr>
        <p:txBody>
          <a:bodyPr>
            <a:normAutofit/>
          </a:bodyPr>
          <a:lstStyle/>
          <a:p>
            <a:r>
              <a:rPr lang="he-IL" sz="4000" dirty="0"/>
              <a:t>פונקציות גיבוב </a:t>
            </a:r>
            <a:r>
              <a:rPr lang="he-IL" sz="4000" dirty="0" err="1"/>
              <a:t>קריפטוגרפיות</a:t>
            </a:r>
            <a:r>
              <a:rPr lang="he-IL" sz="4000" dirty="0"/>
              <a:t> מול פונקציות גיבוב כלליות</a:t>
            </a:r>
          </a:p>
        </p:txBody>
      </p:sp>
      <p:sp>
        <p:nvSpPr>
          <p:cNvPr id="3" name="מציין מיקום תוכן 2"/>
          <p:cNvSpPr>
            <a:spLocks noGrp="1"/>
          </p:cNvSpPr>
          <p:nvPr>
            <p:ph idx="1"/>
          </p:nvPr>
        </p:nvSpPr>
        <p:spPr/>
        <p:txBody>
          <a:bodyPr/>
          <a:lstStyle/>
          <a:p>
            <a:r>
              <a:rPr lang="he-IL" dirty="0"/>
              <a:t>ישנן פונקציות גיבוב כלליות שמשמשות לבדיקת תקינות נתונים </a:t>
            </a:r>
            <a:r>
              <a:rPr lang="he-IL" dirty="0" smtClean="0"/>
              <a:t>כגון </a:t>
            </a:r>
            <a:r>
              <a:rPr lang="en-US" dirty="0" smtClean="0"/>
              <a:t>CRC32 </a:t>
            </a:r>
            <a:r>
              <a:rPr lang="he-IL" dirty="0" smtClean="0"/>
              <a:t> אך </a:t>
            </a:r>
            <a:r>
              <a:rPr lang="he-IL" dirty="0"/>
              <a:t>פונקציות גיבוב </a:t>
            </a:r>
            <a:r>
              <a:rPr lang="he-IL" dirty="0" err="1"/>
              <a:t>קריפטוגרפיות</a:t>
            </a:r>
            <a:r>
              <a:rPr lang="he-IL" dirty="0"/>
              <a:t> נדרשות להיות עמידות בפני תקיפות </a:t>
            </a:r>
            <a:r>
              <a:rPr lang="he-IL" dirty="0" err="1"/>
              <a:t>קריפטוגרפיות</a:t>
            </a:r>
            <a:r>
              <a:rPr lang="he-IL" dirty="0"/>
              <a:t> ולספק אבטחה גבוהה יותר</a:t>
            </a:r>
            <a:r>
              <a:rPr lang="he-IL" dirty="0" smtClean="0"/>
              <a:t>.</a:t>
            </a:r>
          </a:p>
          <a:p>
            <a:endParaRPr lang="he-IL" dirty="0"/>
          </a:p>
        </p:txBody>
      </p:sp>
      <p:pic>
        <p:nvPicPr>
          <p:cNvPr id="4" name="תמונה 3"/>
          <p:cNvPicPr>
            <a:picLocks noChangeAspect="1"/>
          </p:cNvPicPr>
          <p:nvPr/>
        </p:nvPicPr>
        <p:blipFill>
          <a:blip r:embed="rId2"/>
          <a:stretch>
            <a:fillRect/>
          </a:stretch>
        </p:blipFill>
        <p:spPr>
          <a:xfrm>
            <a:off x="1962366" y="2876205"/>
            <a:ext cx="8313009" cy="2008590"/>
          </a:xfrm>
          <a:prstGeom prst="rect">
            <a:avLst/>
          </a:prstGeom>
        </p:spPr>
      </p:pic>
    </p:spTree>
    <p:extLst>
      <p:ext uri="{BB962C8B-B14F-4D97-AF65-F5344CB8AC3E}">
        <p14:creationId xmlns:p14="http://schemas.microsoft.com/office/powerpoint/2010/main" val="1488985824"/>
      </p:ext>
    </p:extLst>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613564" y="642594"/>
            <a:ext cx="6511636" cy="1371600"/>
          </a:xfrm>
        </p:spPr>
        <p:txBody>
          <a:bodyPr/>
          <a:lstStyle/>
          <a:p>
            <a:r>
              <a:rPr lang="he-IL" dirty="0"/>
              <a:t>תקיפות על פונקציות גיבוב</a:t>
            </a:r>
          </a:p>
        </p:txBody>
      </p:sp>
      <p:sp>
        <p:nvSpPr>
          <p:cNvPr id="3" name="מציין מיקום תוכן 2"/>
          <p:cNvSpPr>
            <a:spLocks noGrp="1"/>
          </p:cNvSpPr>
          <p:nvPr>
            <p:ph idx="1"/>
          </p:nvPr>
        </p:nvSpPr>
        <p:spPr/>
        <p:txBody>
          <a:bodyPr/>
          <a:lstStyle/>
          <a:p>
            <a:r>
              <a:rPr lang="he-IL" b="1" dirty="0" smtClean="0"/>
              <a:t>1. תקיפת </a:t>
            </a:r>
            <a:r>
              <a:rPr lang="he-IL" b="1" dirty="0"/>
              <a:t>קדם-תמונה </a:t>
            </a:r>
            <a:r>
              <a:rPr lang="en-US" b="1" dirty="0" smtClean="0"/>
              <a:t>Preimage Attack</a:t>
            </a:r>
            <a:r>
              <a:rPr lang="he-IL" b="1" dirty="0" smtClean="0"/>
              <a:t>:</a:t>
            </a:r>
            <a:r>
              <a:rPr lang="en-US" dirty="0"/>
              <a:t/>
            </a:r>
            <a:br>
              <a:rPr lang="en-US" dirty="0"/>
            </a:br>
            <a:r>
              <a:rPr lang="he-IL" dirty="0" smtClean="0"/>
              <a:t>המטרה</a:t>
            </a:r>
            <a:r>
              <a:rPr lang="he-IL" dirty="0"/>
              <a:t>: למצוא קלט </a:t>
            </a:r>
            <a:r>
              <a:rPr lang="en-US" dirty="0" smtClean="0"/>
              <a:t> </a:t>
            </a:r>
            <a:r>
              <a:rPr lang="en-US" b="1" dirty="0" smtClean="0"/>
              <a:t>x</a:t>
            </a:r>
            <a:r>
              <a:rPr lang="he-IL" dirty="0" smtClean="0"/>
              <a:t>כך </a:t>
            </a:r>
            <a:r>
              <a:rPr lang="he-IL" dirty="0"/>
              <a:t>שהגיבוב שלו יהיה </a:t>
            </a:r>
            <a:r>
              <a:rPr lang="en-US" dirty="0" smtClean="0"/>
              <a:t> </a:t>
            </a:r>
            <a:r>
              <a:rPr lang="en-US" b="1" dirty="0" smtClean="0"/>
              <a:t>H(x</a:t>
            </a:r>
            <a:r>
              <a:rPr lang="en-US" b="1" dirty="0"/>
              <a:t>) = h</a:t>
            </a:r>
            <a:r>
              <a:rPr lang="en-US" dirty="0"/>
              <a:t> </a:t>
            </a:r>
            <a:r>
              <a:rPr lang="he-IL" dirty="0"/>
              <a:t>נתון.</a:t>
            </a:r>
            <a:br>
              <a:rPr lang="he-IL" dirty="0"/>
            </a:br>
            <a:r>
              <a:rPr lang="he-IL" dirty="0" smtClean="0"/>
              <a:t>מסובך </a:t>
            </a:r>
            <a:r>
              <a:rPr lang="he-IL" dirty="0"/>
              <a:t>אם הפונקציה חזקה מספיק (דורש כוח חישוב עצום).</a:t>
            </a:r>
            <a:br>
              <a:rPr lang="he-IL" dirty="0"/>
            </a:br>
            <a:r>
              <a:rPr lang="he-IL" dirty="0" smtClean="0"/>
              <a:t>פונקציות </a:t>
            </a:r>
            <a:r>
              <a:rPr lang="he-IL" dirty="0"/>
              <a:t>כמו </a:t>
            </a:r>
            <a:r>
              <a:rPr lang="en-US" dirty="0" smtClean="0"/>
              <a:t> </a:t>
            </a:r>
            <a:r>
              <a:rPr lang="en-US" b="1" dirty="0" smtClean="0"/>
              <a:t>SHA-256</a:t>
            </a:r>
            <a:r>
              <a:rPr lang="he-IL" dirty="0" smtClean="0"/>
              <a:t>ו-</a:t>
            </a:r>
            <a:r>
              <a:rPr lang="en-US" dirty="0" smtClean="0"/>
              <a:t> SHA-3 </a:t>
            </a:r>
            <a:r>
              <a:rPr lang="he-IL" dirty="0"/>
              <a:t>נחשבות עמידות לתקיפה זו.</a:t>
            </a:r>
          </a:p>
          <a:p>
            <a:r>
              <a:rPr lang="he-IL" b="1" dirty="0" smtClean="0"/>
              <a:t>2. תקיפת </a:t>
            </a:r>
            <a:r>
              <a:rPr lang="he-IL" b="1" dirty="0"/>
              <a:t>קדם-תמונה שנייה </a:t>
            </a:r>
            <a:r>
              <a:rPr lang="en-US" b="1" dirty="0" smtClean="0"/>
              <a:t>Second </a:t>
            </a:r>
            <a:r>
              <a:rPr lang="en-US" b="1" dirty="0"/>
              <a:t>Preimage </a:t>
            </a:r>
            <a:r>
              <a:rPr lang="en-US" b="1" dirty="0" smtClean="0"/>
              <a:t>Attack</a:t>
            </a:r>
            <a:r>
              <a:rPr lang="he-IL" b="1" dirty="0" smtClean="0"/>
              <a:t>:</a:t>
            </a:r>
            <a:r>
              <a:rPr lang="en-US" dirty="0"/>
              <a:t/>
            </a:r>
            <a:br>
              <a:rPr lang="en-US" dirty="0"/>
            </a:br>
            <a:r>
              <a:rPr lang="he-IL" dirty="0" smtClean="0"/>
              <a:t>המטרה</a:t>
            </a:r>
            <a:r>
              <a:rPr lang="he-IL" dirty="0"/>
              <a:t>: נתון </a:t>
            </a:r>
            <a:r>
              <a:rPr lang="he-IL" dirty="0" smtClean="0"/>
              <a:t>קלט</a:t>
            </a:r>
            <a:r>
              <a:rPr lang="en-US" dirty="0" smtClean="0"/>
              <a:t> </a:t>
            </a:r>
            <a:r>
              <a:rPr lang="en-US" b="1" dirty="0" smtClean="0"/>
              <a:t>x1</a:t>
            </a:r>
            <a:r>
              <a:rPr lang="en-US" dirty="0" smtClean="0"/>
              <a:t> </a:t>
            </a:r>
            <a:r>
              <a:rPr lang="he-IL" dirty="0" smtClean="0"/>
              <a:t>למצוא </a:t>
            </a:r>
            <a:r>
              <a:rPr lang="en-US" b="1" dirty="0"/>
              <a:t>x2 ≠ x1</a:t>
            </a:r>
            <a:r>
              <a:rPr lang="en-US" dirty="0"/>
              <a:t> </a:t>
            </a:r>
            <a:r>
              <a:rPr lang="he-IL" dirty="0" smtClean="0"/>
              <a:t> כך </a:t>
            </a:r>
            <a:r>
              <a:rPr lang="he-IL" dirty="0"/>
              <a:t>ש-</a:t>
            </a:r>
            <a:r>
              <a:rPr lang="en-US" b="1" dirty="0"/>
              <a:t>H(x1) = H(x2</a:t>
            </a:r>
            <a:r>
              <a:rPr lang="en-US" b="1" dirty="0" smtClean="0"/>
              <a:t>)</a:t>
            </a:r>
            <a:r>
              <a:rPr lang="en-US" dirty="0"/>
              <a:t/>
            </a:r>
            <a:br>
              <a:rPr lang="en-US" dirty="0"/>
            </a:br>
            <a:r>
              <a:rPr lang="he-IL" dirty="0" smtClean="0"/>
              <a:t>קשה </a:t>
            </a:r>
            <a:r>
              <a:rPr lang="he-IL" dirty="0"/>
              <a:t>כמו תקיפת קדם-תמונה, אך מתקפות מתקדמות עשויות להפחית את המאמץ החישובי.</a:t>
            </a:r>
          </a:p>
          <a:p>
            <a:r>
              <a:rPr lang="he-IL" b="1" dirty="0" smtClean="0"/>
              <a:t>3. תקיפת </a:t>
            </a:r>
            <a:r>
              <a:rPr lang="he-IL" b="1" dirty="0"/>
              <a:t>התנגשות </a:t>
            </a:r>
            <a:r>
              <a:rPr lang="en-US" b="1" dirty="0" smtClean="0"/>
              <a:t>Collision Attack</a:t>
            </a:r>
            <a:r>
              <a:rPr lang="he-IL" b="1" dirty="0" smtClean="0"/>
              <a:t>:</a:t>
            </a:r>
            <a:r>
              <a:rPr lang="en-US" dirty="0"/>
              <a:t/>
            </a:r>
            <a:br>
              <a:rPr lang="en-US" dirty="0"/>
            </a:br>
            <a:r>
              <a:rPr lang="he-IL" dirty="0" smtClean="0"/>
              <a:t>המטרה</a:t>
            </a:r>
            <a:r>
              <a:rPr lang="he-IL" dirty="0"/>
              <a:t>: למצוא שני </a:t>
            </a:r>
            <a:r>
              <a:rPr lang="he-IL" dirty="0" err="1"/>
              <a:t>קלטים</a:t>
            </a:r>
            <a:r>
              <a:rPr lang="he-IL" dirty="0"/>
              <a:t> שונים </a:t>
            </a:r>
            <a:r>
              <a:rPr lang="en-US" dirty="0" smtClean="0"/>
              <a:t> </a:t>
            </a:r>
            <a:r>
              <a:rPr lang="en-US" b="1" dirty="0" smtClean="0"/>
              <a:t>x1 </a:t>
            </a:r>
            <a:r>
              <a:rPr lang="en-US" b="1" dirty="0"/>
              <a:t>≠ x2</a:t>
            </a:r>
            <a:r>
              <a:rPr lang="en-US" dirty="0"/>
              <a:t> </a:t>
            </a:r>
            <a:r>
              <a:rPr lang="he-IL" dirty="0"/>
              <a:t>כך ש-</a:t>
            </a:r>
            <a:r>
              <a:rPr lang="en-US" b="1" dirty="0"/>
              <a:t>H(x1) = H(x2</a:t>
            </a:r>
            <a:r>
              <a:rPr lang="en-US" b="1" dirty="0" smtClean="0"/>
              <a:t>)</a:t>
            </a:r>
            <a:r>
              <a:rPr lang="en-US" dirty="0"/>
              <a:t/>
            </a:r>
            <a:br>
              <a:rPr lang="en-US" dirty="0"/>
            </a:br>
            <a:r>
              <a:rPr lang="he-IL" dirty="0" smtClean="0"/>
              <a:t>לפי </a:t>
            </a:r>
            <a:r>
              <a:rPr lang="he-IL" dirty="0"/>
              <a:t>עקרון יום ההולדת, הסיכוי להתנגשות עולה עם מספר </a:t>
            </a:r>
            <a:r>
              <a:rPr lang="he-IL" dirty="0" err="1"/>
              <a:t>הקלטים</a:t>
            </a:r>
            <a:r>
              <a:rPr lang="he-IL" dirty="0"/>
              <a:t>.</a:t>
            </a:r>
            <a:br>
              <a:rPr lang="he-IL" dirty="0"/>
            </a:br>
            <a:r>
              <a:rPr lang="he-IL" dirty="0" smtClean="0"/>
              <a:t>פונקציות כמו</a:t>
            </a:r>
            <a:r>
              <a:rPr lang="en-US" dirty="0" smtClean="0"/>
              <a:t> </a:t>
            </a:r>
            <a:r>
              <a:rPr lang="en-US" b="1" dirty="0" smtClean="0"/>
              <a:t>MD5</a:t>
            </a:r>
            <a:r>
              <a:rPr lang="en-US" dirty="0" smtClean="0"/>
              <a:t> </a:t>
            </a:r>
            <a:r>
              <a:rPr lang="he-IL" dirty="0"/>
              <a:t>ו-</a:t>
            </a:r>
            <a:r>
              <a:rPr lang="en-US" b="1" dirty="0"/>
              <a:t>SHA-1</a:t>
            </a:r>
            <a:r>
              <a:rPr lang="en-US" dirty="0"/>
              <a:t> </a:t>
            </a:r>
            <a:r>
              <a:rPr lang="he-IL" dirty="0" smtClean="0"/>
              <a:t> כבר </a:t>
            </a:r>
            <a:r>
              <a:rPr lang="he-IL" dirty="0"/>
              <a:t>הוכח שהן חלשות נגד תקיפה זו!</a:t>
            </a:r>
          </a:p>
          <a:p>
            <a:endParaRPr lang="he-IL" dirty="0"/>
          </a:p>
        </p:txBody>
      </p:sp>
    </p:spTree>
    <p:extLst>
      <p:ext uri="{BB962C8B-B14F-4D97-AF65-F5344CB8AC3E}">
        <p14:creationId xmlns:p14="http://schemas.microsoft.com/office/powerpoint/2010/main" val="1871935645"/>
      </p:ext>
    </p:extLst>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56556" y="642594"/>
            <a:ext cx="11878887" cy="1371600"/>
          </a:xfrm>
        </p:spPr>
        <p:txBody>
          <a:bodyPr>
            <a:normAutofit/>
          </a:bodyPr>
          <a:lstStyle/>
          <a:p>
            <a:r>
              <a:rPr lang="he-IL" sz="3700" dirty="0"/>
              <a:t>פונקציות גיבוב וסיסמאות – מדוע אסור להשתמש בגיבוב בלבד?</a:t>
            </a:r>
          </a:p>
        </p:txBody>
      </p:sp>
      <p:sp>
        <p:nvSpPr>
          <p:cNvPr id="3" name="מציין מיקום תוכן 2"/>
          <p:cNvSpPr>
            <a:spLocks noGrp="1"/>
          </p:cNvSpPr>
          <p:nvPr>
            <p:ph idx="1"/>
          </p:nvPr>
        </p:nvSpPr>
        <p:spPr/>
        <p:txBody>
          <a:bodyPr/>
          <a:lstStyle/>
          <a:p>
            <a:r>
              <a:rPr lang="he-IL" dirty="0"/>
              <a:t>שמירת סיסמאות כערך גיבוב בלבד עלולה להיות לא בטוחה!</a:t>
            </a:r>
            <a:br>
              <a:rPr lang="he-IL" dirty="0"/>
            </a:br>
            <a:r>
              <a:rPr lang="he-IL" dirty="0"/>
              <a:t>האקרים יכולים להשתמש בטכניקות כגון:</a:t>
            </a:r>
            <a:br>
              <a:rPr lang="he-IL" dirty="0"/>
            </a:br>
            <a:r>
              <a:rPr lang="he-IL" dirty="0" smtClean="0"/>
              <a:t>טבלאות </a:t>
            </a:r>
            <a:r>
              <a:rPr lang="he-IL" dirty="0"/>
              <a:t>קשת </a:t>
            </a:r>
            <a:r>
              <a:rPr lang="en-US" dirty="0" smtClean="0"/>
              <a:t> :Rainbow Tables</a:t>
            </a:r>
            <a:r>
              <a:rPr lang="he-IL" dirty="0" smtClean="0"/>
              <a:t>מסדי </a:t>
            </a:r>
            <a:r>
              <a:rPr lang="he-IL" dirty="0"/>
              <a:t>נתונים מוכנים של </a:t>
            </a:r>
            <a:r>
              <a:rPr lang="he-IL" dirty="0" err="1"/>
              <a:t>גיבובים</a:t>
            </a:r>
            <a:r>
              <a:rPr lang="he-IL" dirty="0"/>
              <a:t> וסיסמאות תואמות.</a:t>
            </a:r>
            <a:br>
              <a:rPr lang="he-IL" dirty="0"/>
            </a:br>
            <a:r>
              <a:rPr lang="en-US" dirty="0" smtClean="0"/>
              <a:t> :Brute-force</a:t>
            </a:r>
            <a:r>
              <a:rPr lang="he-IL" dirty="0" smtClean="0"/>
              <a:t>בדיקה </a:t>
            </a:r>
            <a:r>
              <a:rPr lang="he-IL" dirty="0"/>
              <a:t>שיטתית של כל האפשרויות.</a:t>
            </a:r>
          </a:p>
          <a:p>
            <a:r>
              <a:rPr lang="he-IL" b="1" dirty="0" smtClean="0"/>
              <a:t>הפתרון</a:t>
            </a:r>
            <a:r>
              <a:rPr lang="he-IL" b="1" dirty="0"/>
              <a:t>:</a:t>
            </a:r>
            <a:endParaRPr lang="he-IL" dirty="0"/>
          </a:p>
          <a:p>
            <a:r>
              <a:rPr lang="en-US" b="1" dirty="0" smtClean="0"/>
              <a:t> </a:t>
            </a:r>
            <a:r>
              <a:rPr lang="en-US" dirty="0" smtClean="0"/>
              <a:t>:Salt</a:t>
            </a:r>
            <a:r>
              <a:rPr lang="he-IL" dirty="0" smtClean="0"/>
              <a:t>הוספת </a:t>
            </a:r>
            <a:r>
              <a:rPr lang="he-IL" dirty="0"/>
              <a:t>מחרוזת אקראית לפני הגיבוב, כך ששתי סיסמאות זהות לא יניבו אותו ערך גיבוב.</a:t>
            </a:r>
          </a:p>
          <a:p>
            <a:r>
              <a:rPr lang="he-IL" b="1" dirty="0"/>
              <a:t>פונקציות גיבוב ייעודיות לסיסמאות:</a:t>
            </a:r>
            <a:endParaRPr lang="he-IL" dirty="0"/>
          </a:p>
          <a:p>
            <a:pPr lvl="1"/>
            <a:r>
              <a:rPr lang="en-US" dirty="0"/>
              <a:t>PBKDF2</a:t>
            </a:r>
          </a:p>
          <a:p>
            <a:pPr lvl="1"/>
            <a:r>
              <a:rPr lang="en-US" dirty="0" err="1"/>
              <a:t>bcrypt</a:t>
            </a:r>
            <a:endParaRPr lang="en-US" dirty="0"/>
          </a:p>
          <a:p>
            <a:pPr lvl="1"/>
            <a:r>
              <a:rPr lang="en-US" dirty="0" smtClean="0"/>
              <a:t>) Argon2</a:t>
            </a:r>
            <a:r>
              <a:rPr lang="he-IL" dirty="0" smtClean="0"/>
              <a:t>הטוב </a:t>
            </a:r>
            <a:r>
              <a:rPr lang="he-IL" dirty="0"/>
              <a:t>ביותר כיום!)</a:t>
            </a:r>
          </a:p>
          <a:p>
            <a:endParaRPr lang="he-IL" dirty="0"/>
          </a:p>
        </p:txBody>
      </p:sp>
    </p:spTree>
    <p:extLst>
      <p:ext uri="{BB962C8B-B14F-4D97-AF65-F5344CB8AC3E}">
        <p14:creationId xmlns:p14="http://schemas.microsoft.com/office/powerpoint/2010/main" val="3865877609"/>
      </p:ext>
    </p:extLst>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60378" y="642594"/>
            <a:ext cx="1864822" cy="1371600"/>
          </a:xfrm>
        </p:spPr>
        <p:txBody>
          <a:bodyPr/>
          <a:lstStyle/>
          <a:p>
            <a:r>
              <a:rPr lang="he-IL" dirty="0" smtClean="0"/>
              <a:t>שאלות</a:t>
            </a:r>
            <a:endParaRPr lang="he-IL" dirty="0"/>
          </a:p>
        </p:txBody>
      </p:sp>
      <p:sp>
        <p:nvSpPr>
          <p:cNvPr id="3" name="מציין מיקום תוכן 2"/>
          <p:cNvSpPr>
            <a:spLocks noGrp="1"/>
          </p:cNvSpPr>
          <p:nvPr>
            <p:ph idx="1"/>
          </p:nvPr>
        </p:nvSpPr>
        <p:spPr/>
        <p:txBody>
          <a:bodyPr/>
          <a:lstStyle/>
          <a:p>
            <a:r>
              <a:rPr lang="he-IL" dirty="0" smtClean="0"/>
              <a:t>1</a:t>
            </a:r>
            <a:r>
              <a:rPr lang="he-IL" dirty="0"/>
              <a:t>. מהו התפקיד העיקרי של פונקציית גיבוב בקריפטוגרפיה?</a:t>
            </a:r>
            <a:endParaRPr lang="he-IL" dirty="0" smtClean="0"/>
          </a:p>
          <a:p>
            <a:r>
              <a:rPr lang="he-IL" dirty="0" smtClean="0"/>
              <a:t>2</a:t>
            </a:r>
            <a:r>
              <a:rPr lang="he-IL" dirty="0"/>
              <a:t>. מהו אורך הפלט של </a:t>
            </a:r>
            <a:r>
              <a:rPr lang="en-US" dirty="0" smtClean="0"/>
              <a:t>SHA-256</a:t>
            </a:r>
            <a:r>
              <a:rPr lang="he-IL" dirty="0" smtClean="0"/>
              <a:t>?</a:t>
            </a:r>
          </a:p>
          <a:p>
            <a:r>
              <a:rPr lang="he-IL" dirty="0" smtClean="0"/>
              <a:t>4</a:t>
            </a:r>
            <a:r>
              <a:rPr lang="he-IL" dirty="0"/>
              <a:t>. איזה מהפונקציות הבאות נחשבת לבלתי בטוחה כיום לשימוש </a:t>
            </a:r>
            <a:r>
              <a:rPr lang="he-IL" dirty="0" err="1"/>
              <a:t>קריפטוגרפי</a:t>
            </a:r>
            <a:r>
              <a:rPr lang="he-IL" dirty="0"/>
              <a:t>?</a:t>
            </a:r>
            <a:endParaRPr lang="he-IL" dirty="0" smtClean="0"/>
          </a:p>
          <a:p>
            <a:r>
              <a:rPr lang="he-IL" dirty="0" smtClean="0"/>
              <a:t>5</a:t>
            </a:r>
            <a:r>
              <a:rPr lang="he-IL" dirty="0"/>
              <a:t>. מהו השימוש הנפוץ ביותר של פונקציות גיבוב</a:t>
            </a:r>
            <a:r>
              <a:rPr lang="he-IL" dirty="0" smtClean="0"/>
              <a:t>?</a:t>
            </a:r>
          </a:p>
          <a:p>
            <a:r>
              <a:rPr lang="he-IL" dirty="0"/>
              <a:t>6. מדוע אין אפשרות לשחזר את הנתונים המקוריים מתוך פונקציית גיבוב</a:t>
            </a:r>
            <a:r>
              <a:rPr lang="he-IL" dirty="0" smtClean="0"/>
              <a:t>?</a:t>
            </a:r>
          </a:p>
          <a:p>
            <a:r>
              <a:rPr lang="he-IL" dirty="0" smtClean="0"/>
              <a:t>7</a:t>
            </a:r>
            <a:r>
              <a:rPr lang="he-IL" dirty="0"/>
              <a:t>. למה מתייחסים לעקרון יום ההולדת בהקשר של פונקציות גיבוב?</a:t>
            </a:r>
            <a:endParaRPr lang="he-IL" dirty="0" smtClean="0"/>
          </a:p>
          <a:p>
            <a:r>
              <a:rPr lang="he-IL" dirty="0" smtClean="0"/>
              <a:t>8</a:t>
            </a:r>
            <a:r>
              <a:rPr lang="he-IL" dirty="0"/>
              <a:t>. כיצד ניתן להגן על סיסמאות מפני מתקפת טבלאות קשת </a:t>
            </a:r>
            <a:r>
              <a:rPr lang="en-US" dirty="0" smtClean="0"/>
              <a:t>Rainbow Tables</a:t>
            </a:r>
            <a:r>
              <a:rPr lang="he-IL" dirty="0" smtClean="0"/>
              <a:t>?</a:t>
            </a:r>
          </a:p>
          <a:p>
            <a:r>
              <a:rPr lang="he-IL" dirty="0" smtClean="0"/>
              <a:t>9</a:t>
            </a:r>
            <a:r>
              <a:rPr lang="he-IL" dirty="0"/>
              <a:t>. מהי נקודת התורפה המרכזית של </a:t>
            </a:r>
            <a:r>
              <a:rPr lang="en-US" dirty="0" smtClean="0"/>
              <a:t>SHA-1</a:t>
            </a:r>
            <a:r>
              <a:rPr lang="he-IL" dirty="0" smtClean="0"/>
              <a:t> שגרמה </a:t>
            </a:r>
            <a:r>
              <a:rPr lang="he-IL" dirty="0"/>
              <a:t>להפסקת השימוש בו?</a:t>
            </a:r>
            <a:endParaRPr lang="he-IL" dirty="0" smtClean="0"/>
          </a:p>
          <a:p>
            <a:endParaRPr lang="he-IL" dirty="0"/>
          </a:p>
          <a:p>
            <a:endParaRPr lang="he-IL" dirty="0" smtClean="0"/>
          </a:p>
          <a:p>
            <a:endParaRPr lang="he-IL" dirty="0"/>
          </a:p>
        </p:txBody>
      </p:sp>
    </p:spTree>
    <p:extLst>
      <p:ext uri="{BB962C8B-B14F-4D97-AF65-F5344CB8AC3E}">
        <p14:creationId xmlns:p14="http://schemas.microsoft.com/office/powerpoint/2010/main" val="2861897802"/>
      </p:ext>
    </p:extLst>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27622" y="642594"/>
            <a:ext cx="2097578" cy="1371600"/>
          </a:xfrm>
        </p:spPr>
        <p:txBody>
          <a:bodyPr/>
          <a:lstStyle/>
          <a:p>
            <a:r>
              <a:rPr lang="he-IL" dirty="0" smtClean="0"/>
              <a:t>תשובות</a:t>
            </a:r>
            <a:endParaRPr lang="he-IL" dirty="0"/>
          </a:p>
        </p:txBody>
      </p:sp>
      <p:sp>
        <p:nvSpPr>
          <p:cNvPr id="3" name="מציין מיקום תוכן 2"/>
          <p:cNvSpPr>
            <a:spLocks noGrp="1"/>
          </p:cNvSpPr>
          <p:nvPr>
            <p:ph idx="1"/>
          </p:nvPr>
        </p:nvSpPr>
        <p:spPr/>
        <p:txBody>
          <a:bodyPr/>
          <a:lstStyle/>
          <a:p>
            <a:r>
              <a:rPr lang="he-IL" dirty="0" smtClean="0"/>
              <a:t>1</a:t>
            </a:r>
            <a:r>
              <a:rPr lang="he-IL" dirty="0"/>
              <a:t>. להמיר נתונים בצורה בלתי הפיכה</a:t>
            </a:r>
            <a:endParaRPr lang="he-IL" dirty="0" smtClean="0"/>
          </a:p>
          <a:p>
            <a:r>
              <a:rPr lang="he-IL" dirty="0" smtClean="0"/>
              <a:t>2</a:t>
            </a:r>
            <a:r>
              <a:rPr lang="he-IL" dirty="0"/>
              <a:t>. 256 ביט</a:t>
            </a:r>
            <a:endParaRPr lang="he-IL" dirty="0" smtClean="0"/>
          </a:p>
          <a:p>
            <a:r>
              <a:rPr lang="he-IL" dirty="0" smtClean="0"/>
              <a:t>3</a:t>
            </a:r>
            <a:r>
              <a:rPr lang="he-IL" dirty="0"/>
              <a:t>. השפעת מפולת </a:t>
            </a:r>
            <a:r>
              <a:rPr lang="en-US" dirty="0" smtClean="0"/>
              <a:t>Avalanche Effect</a:t>
            </a:r>
            <a:endParaRPr lang="he-IL" dirty="0" smtClean="0"/>
          </a:p>
          <a:p>
            <a:r>
              <a:rPr lang="he-IL" dirty="0" smtClean="0"/>
              <a:t>4. </a:t>
            </a:r>
            <a:r>
              <a:rPr lang="en-US" dirty="0"/>
              <a:t>MD5</a:t>
            </a:r>
            <a:endParaRPr lang="he-IL" dirty="0" smtClean="0"/>
          </a:p>
          <a:p>
            <a:r>
              <a:rPr lang="he-IL" dirty="0" smtClean="0"/>
              <a:t>5</a:t>
            </a:r>
            <a:r>
              <a:rPr lang="he-IL" dirty="0"/>
              <a:t>. אבטחת </a:t>
            </a:r>
            <a:r>
              <a:rPr lang="he-IL" dirty="0" smtClean="0"/>
              <a:t>סיסמאות</a:t>
            </a:r>
          </a:p>
          <a:p>
            <a:r>
              <a:rPr lang="he-IL" dirty="0"/>
              <a:t>6. בגלל תהליך חד-כיווני ללא אינפורמציה </a:t>
            </a:r>
            <a:r>
              <a:rPr lang="he-IL" dirty="0" smtClean="0"/>
              <a:t>מספקת.</a:t>
            </a:r>
          </a:p>
          <a:p>
            <a:r>
              <a:rPr lang="he-IL" dirty="0" smtClean="0"/>
              <a:t>7</a:t>
            </a:r>
            <a:r>
              <a:rPr lang="he-IL" dirty="0"/>
              <a:t>. כדי לתאר את הסיכוי למצוא שני </a:t>
            </a:r>
            <a:r>
              <a:rPr lang="he-IL" dirty="0" err="1"/>
              <a:t>קלטים</a:t>
            </a:r>
            <a:r>
              <a:rPr lang="he-IL" dirty="0"/>
              <a:t> שונים עם אותו פלט גיבוב</a:t>
            </a:r>
            <a:endParaRPr lang="he-IL" dirty="0" smtClean="0"/>
          </a:p>
          <a:p>
            <a:r>
              <a:rPr lang="he-IL" dirty="0" smtClean="0"/>
              <a:t>8</a:t>
            </a:r>
            <a:r>
              <a:rPr lang="he-IL" dirty="0"/>
              <a:t>. הוספת </a:t>
            </a:r>
            <a:r>
              <a:rPr lang="en-US" dirty="0" smtClean="0"/>
              <a:t> Salt</a:t>
            </a:r>
            <a:r>
              <a:rPr lang="he-IL" dirty="0" smtClean="0"/>
              <a:t>לכל </a:t>
            </a:r>
            <a:r>
              <a:rPr lang="he-IL" dirty="0"/>
              <a:t>סיסמה לפני הגיבוב</a:t>
            </a:r>
            <a:endParaRPr lang="he-IL" dirty="0" smtClean="0"/>
          </a:p>
          <a:p>
            <a:r>
              <a:rPr lang="he-IL" dirty="0" smtClean="0"/>
              <a:t>9</a:t>
            </a:r>
            <a:r>
              <a:rPr lang="he-IL" dirty="0"/>
              <a:t>. אפשר למצוא התנגשויות בקלות יחסית</a:t>
            </a:r>
            <a:endParaRPr lang="he-IL" dirty="0" smtClean="0"/>
          </a:p>
          <a:p>
            <a:endParaRPr lang="he-IL" dirty="0"/>
          </a:p>
          <a:p>
            <a:endParaRPr lang="he-IL" dirty="0" smtClean="0"/>
          </a:p>
          <a:p>
            <a:endParaRPr lang="he-IL" dirty="0"/>
          </a:p>
        </p:txBody>
      </p:sp>
    </p:spTree>
    <p:extLst>
      <p:ext uri="{BB962C8B-B14F-4D97-AF65-F5344CB8AC3E}">
        <p14:creationId xmlns:p14="http://schemas.microsoft.com/office/powerpoint/2010/main" val="1245819927"/>
      </p:ext>
    </p:extLst>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908858" y="2310938"/>
            <a:ext cx="10058400" cy="3931920"/>
          </a:xfrm>
        </p:spPr>
        <p:txBody>
          <a:bodyPr>
            <a:normAutofit/>
          </a:bodyPr>
          <a:lstStyle/>
          <a:p>
            <a:r>
              <a:rPr lang="he-IL" sz="5400" dirty="0"/>
              <a:t>מחולל פסבדו-רנדומלי </a:t>
            </a:r>
            <a:r>
              <a:rPr lang="he-IL" sz="5400" dirty="0" err="1"/>
              <a:t>קריפטוגרפי</a:t>
            </a:r>
            <a:endParaRPr lang="he-IL" sz="5400" dirty="0"/>
          </a:p>
        </p:txBody>
      </p:sp>
    </p:spTree>
    <p:extLst>
      <p:ext uri="{BB962C8B-B14F-4D97-AF65-F5344CB8AC3E}">
        <p14:creationId xmlns:p14="http://schemas.microsoft.com/office/powerpoint/2010/main" val="4041773787"/>
      </p:ext>
    </p:extLst>
  </p:cSld>
  <p:clrMapOvr>
    <a:masterClrMapping/>
  </p:clrMapOvr>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24840" y="625968"/>
            <a:ext cx="10942320" cy="1371600"/>
          </a:xfrm>
        </p:spPr>
        <p:txBody>
          <a:bodyPr>
            <a:normAutofit fontScale="90000"/>
          </a:bodyPr>
          <a:lstStyle/>
          <a:p>
            <a:r>
              <a:rPr lang="he-IL" dirty="0"/>
              <a:t>מהו מחולל פסבדו-רנדומלי </a:t>
            </a:r>
            <a:r>
              <a:rPr lang="he-IL" dirty="0" err="1"/>
              <a:t>קריפטוגרפי</a:t>
            </a:r>
            <a:r>
              <a:rPr lang="he-IL" dirty="0"/>
              <a:t> </a:t>
            </a:r>
            <a:r>
              <a:rPr lang="en-US" dirty="0" smtClean="0"/>
              <a:t>CSPRNG</a:t>
            </a:r>
            <a:endParaRPr lang="he-IL" dirty="0"/>
          </a:p>
        </p:txBody>
      </p:sp>
      <p:sp>
        <p:nvSpPr>
          <p:cNvPr id="3" name="מציין מיקום תוכן 2"/>
          <p:cNvSpPr>
            <a:spLocks noGrp="1"/>
          </p:cNvSpPr>
          <p:nvPr>
            <p:ph idx="1"/>
          </p:nvPr>
        </p:nvSpPr>
        <p:spPr>
          <a:xfrm>
            <a:off x="624840" y="2103120"/>
            <a:ext cx="10942320" cy="3931920"/>
          </a:xfrm>
        </p:spPr>
        <p:txBody>
          <a:bodyPr/>
          <a:lstStyle/>
          <a:p>
            <a:r>
              <a:rPr lang="he-IL" dirty="0"/>
              <a:t>מחולל פסבדו-רנדומלי </a:t>
            </a:r>
            <a:r>
              <a:rPr lang="he-IL" dirty="0" err="1" smtClean="0"/>
              <a:t>קריפטוגרפי</a:t>
            </a:r>
            <a:r>
              <a:rPr lang="en-US" dirty="0" smtClean="0"/>
              <a:t>Cryptographically </a:t>
            </a:r>
            <a:r>
              <a:rPr lang="en-US" dirty="0"/>
              <a:t>Secure Pseudo-Random Number </a:t>
            </a:r>
            <a:r>
              <a:rPr lang="en-US" dirty="0" smtClean="0"/>
              <a:t> Generator – CSPRNG) </a:t>
            </a:r>
            <a:r>
              <a:rPr lang="he-IL" dirty="0" smtClean="0"/>
              <a:t>) הוא </a:t>
            </a:r>
            <a:r>
              <a:rPr lang="he-IL" dirty="0"/>
              <a:t>אלגוריתם שמייצר מספרים אקראיים באופן שנראה אקראי לחלוטין, אך מבוסס על חישובים דטרמיניסטיים. ההבדל בין </a:t>
            </a:r>
            <a:r>
              <a:rPr lang="en-US" dirty="0" smtClean="0"/>
              <a:t> CSPRNG</a:t>
            </a:r>
            <a:r>
              <a:rPr lang="he-IL" dirty="0" smtClean="0"/>
              <a:t>לבין </a:t>
            </a:r>
            <a:r>
              <a:rPr lang="he-IL" dirty="0"/>
              <a:t>מחולל פסבדו-רנדומלי רגיל </a:t>
            </a:r>
            <a:r>
              <a:rPr lang="en-US" dirty="0" smtClean="0"/>
              <a:t> PRNG</a:t>
            </a:r>
            <a:r>
              <a:rPr lang="he-IL" dirty="0" smtClean="0"/>
              <a:t>הוא </a:t>
            </a:r>
            <a:r>
              <a:rPr lang="he-IL" dirty="0"/>
              <a:t>בכך ש-</a:t>
            </a:r>
            <a:r>
              <a:rPr lang="en-US" dirty="0"/>
              <a:t>CSPRNG </a:t>
            </a:r>
            <a:r>
              <a:rPr lang="he-IL" dirty="0" smtClean="0"/>
              <a:t> חייב </a:t>
            </a:r>
            <a:r>
              <a:rPr lang="he-IL" dirty="0"/>
              <a:t>להיות </a:t>
            </a:r>
            <a:r>
              <a:rPr lang="he-IL" b="1" dirty="0"/>
              <a:t>בטוח לשימוש בקריפטוגרפיה</a:t>
            </a:r>
            <a:r>
              <a:rPr lang="he-IL" dirty="0"/>
              <a:t>, כלומר:</a:t>
            </a:r>
          </a:p>
          <a:p>
            <a:r>
              <a:rPr lang="he-IL" b="1" dirty="0" smtClean="0"/>
              <a:t>בלתי </a:t>
            </a:r>
            <a:r>
              <a:rPr lang="he-IL" b="1" dirty="0"/>
              <a:t>ניתן לחיזוי</a:t>
            </a:r>
            <a:r>
              <a:rPr lang="he-IL" dirty="0"/>
              <a:t> – אי אפשר לנחש את המספר הבא מתוך המספרים </a:t>
            </a:r>
            <a:r>
              <a:rPr lang="he-IL" dirty="0" smtClean="0"/>
              <a:t>הקודמים.</a:t>
            </a:r>
          </a:p>
          <a:p>
            <a:r>
              <a:rPr lang="he-IL" b="1" dirty="0" smtClean="0"/>
              <a:t>עמיד </a:t>
            </a:r>
            <a:r>
              <a:rPr lang="he-IL" b="1" dirty="0"/>
              <a:t>למתקפות</a:t>
            </a:r>
            <a:r>
              <a:rPr lang="he-IL" dirty="0"/>
              <a:t> – תוקף שמקבל גישה לכמה פלטים של המחולל לא יכול לשחזר את מצב המחולל או לחזות ערכים </a:t>
            </a:r>
            <a:r>
              <a:rPr lang="he-IL" dirty="0" smtClean="0"/>
              <a:t>עתידיים.</a:t>
            </a:r>
          </a:p>
          <a:p>
            <a:r>
              <a:rPr lang="he-IL" b="1" dirty="0" smtClean="0"/>
              <a:t>מבוסס </a:t>
            </a:r>
            <a:r>
              <a:rPr lang="he-IL" b="1" dirty="0"/>
              <a:t>על אנטרופיה גבוהה</a:t>
            </a:r>
            <a:r>
              <a:rPr lang="he-IL" dirty="0"/>
              <a:t> – משתמש במקור אנטרופיה חזק (למשל רעש תרמי, תנועות עכבר וכו').</a:t>
            </a:r>
          </a:p>
          <a:p>
            <a:endParaRPr lang="he-IL" dirty="0"/>
          </a:p>
        </p:txBody>
      </p:sp>
    </p:spTree>
    <p:extLst>
      <p:ext uri="{BB962C8B-B14F-4D97-AF65-F5344CB8AC3E}">
        <p14:creationId xmlns:p14="http://schemas.microsoft.com/office/powerpoint/2010/main" val="2029502374"/>
      </p:ext>
    </p:extLst>
  </p:cSld>
  <p:clrMapOvr>
    <a:masterClrMapping/>
  </p:clrMapOvr>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719156" y="642594"/>
            <a:ext cx="5406044" cy="1371600"/>
          </a:xfrm>
        </p:spPr>
        <p:txBody>
          <a:bodyPr/>
          <a:lstStyle/>
          <a:p>
            <a:r>
              <a:rPr lang="he-IL" dirty="0"/>
              <a:t>איך עובד </a:t>
            </a:r>
            <a:r>
              <a:rPr lang="en-US" dirty="0" smtClean="0"/>
              <a:t>CSPRNG</a:t>
            </a:r>
            <a:r>
              <a:rPr lang="he-IL" dirty="0" smtClean="0"/>
              <a:t>?</a:t>
            </a:r>
            <a:endParaRPr lang="he-IL" dirty="0"/>
          </a:p>
        </p:txBody>
      </p:sp>
      <p:sp>
        <p:nvSpPr>
          <p:cNvPr id="3" name="מציין מיקום תוכן 2"/>
          <p:cNvSpPr>
            <a:spLocks noGrp="1"/>
          </p:cNvSpPr>
          <p:nvPr>
            <p:ph idx="1"/>
          </p:nvPr>
        </p:nvSpPr>
        <p:spPr/>
        <p:txBody>
          <a:bodyPr/>
          <a:lstStyle/>
          <a:p>
            <a:r>
              <a:rPr lang="he-IL" b="1" dirty="0" smtClean="0"/>
              <a:t>1. מקור </a:t>
            </a:r>
            <a:r>
              <a:rPr lang="he-IL" b="1" dirty="0"/>
              <a:t>אנטרופיה </a:t>
            </a:r>
            <a:r>
              <a:rPr lang="en-US" b="1" dirty="0" smtClean="0"/>
              <a:t> :Seed Source</a:t>
            </a:r>
            <a:r>
              <a:rPr lang="he-IL" dirty="0" smtClean="0"/>
              <a:t>נבחר </a:t>
            </a:r>
            <a:r>
              <a:rPr lang="he-IL" dirty="0"/>
              <a:t>ערך ראשוני אקראי ממקור פיזי בלתי צפוי, כגון רעש תרמי במעבד או זמני תגובה ברשת</a:t>
            </a:r>
            <a:r>
              <a:rPr lang="he-IL" dirty="0" smtClean="0"/>
              <a:t>.</a:t>
            </a:r>
          </a:p>
          <a:p>
            <a:endParaRPr lang="he-IL" dirty="0" smtClean="0"/>
          </a:p>
          <a:p>
            <a:r>
              <a:rPr lang="he-IL" b="1" dirty="0" smtClean="0"/>
              <a:t>2. פונקציה חד-כיוונית:</a:t>
            </a:r>
            <a:r>
              <a:rPr lang="he-IL" dirty="0" smtClean="0"/>
              <a:t> הערך </a:t>
            </a:r>
            <a:r>
              <a:rPr lang="he-IL" dirty="0"/>
              <a:t>הראשוני עובר דרך פונקציה מתמטית, כמו פונקציית גיבוב או הצפנה אסימטרית, כדי להפוך אותו לבלתי צפוי</a:t>
            </a:r>
            <a:r>
              <a:rPr lang="he-IL" dirty="0" smtClean="0"/>
              <a:t>.</a:t>
            </a:r>
          </a:p>
          <a:p>
            <a:endParaRPr lang="he-IL" dirty="0" smtClean="0"/>
          </a:p>
          <a:p>
            <a:r>
              <a:rPr lang="he-IL" b="1" dirty="0" smtClean="0"/>
              <a:t>3. הרחבת האקראיות:</a:t>
            </a:r>
            <a:r>
              <a:rPr lang="he-IL" dirty="0" smtClean="0"/>
              <a:t> אלגוריתם </a:t>
            </a:r>
            <a:r>
              <a:rPr lang="he-IL" dirty="0"/>
              <a:t>מרחיב את הביטים האקראיים לכמות גדולה יותר של ביטים באופן פסבדו-אקראי</a:t>
            </a:r>
            <a:r>
              <a:rPr lang="he-IL" dirty="0" smtClean="0"/>
              <a:t>.</a:t>
            </a:r>
          </a:p>
          <a:p>
            <a:endParaRPr lang="he-IL" dirty="0" smtClean="0"/>
          </a:p>
          <a:p>
            <a:r>
              <a:rPr lang="he-IL" b="1" dirty="0" smtClean="0"/>
              <a:t>4. תפוקה</a:t>
            </a:r>
            <a:r>
              <a:rPr lang="en-US" b="1" dirty="0" smtClean="0"/>
              <a:t>Output</a:t>
            </a:r>
            <a:r>
              <a:rPr lang="en-US" dirty="0" smtClean="0"/>
              <a:t> </a:t>
            </a:r>
            <a:r>
              <a:rPr lang="he-IL" dirty="0" smtClean="0"/>
              <a:t>: מספרים </a:t>
            </a:r>
            <a:r>
              <a:rPr lang="he-IL" dirty="0"/>
              <a:t>שנראים אקראיים אך הם </a:t>
            </a:r>
            <a:r>
              <a:rPr lang="he-IL" dirty="0" err="1"/>
              <a:t>קריפטוגרפית</a:t>
            </a:r>
            <a:r>
              <a:rPr lang="he-IL" dirty="0"/>
              <a:t> בטוחים.</a:t>
            </a:r>
          </a:p>
        </p:txBody>
      </p:sp>
    </p:spTree>
    <p:extLst>
      <p:ext uri="{BB962C8B-B14F-4D97-AF65-F5344CB8AC3E}">
        <p14:creationId xmlns:p14="http://schemas.microsoft.com/office/powerpoint/2010/main" val="3019208036"/>
      </p:ext>
    </p:extLst>
  </p:cSld>
  <p:clrMapOvr>
    <a:masterClrMapping/>
  </p:clrMapOvr>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305993" y="642594"/>
            <a:ext cx="6819206" cy="1371600"/>
          </a:xfrm>
        </p:spPr>
        <p:txBody>
          <a:bodyPr>
            <a:normAutofit fontScale="90000"/>
          </a:bodyPr>
          <a:lstStyle/>
          <a:p>
            <a:r>
              <a:rPr lang="he-IL" dirty="0"/>
              <a:t>תכונות חשובות של </a:t>
            </a:r>
            <a:r>
              <a:rPr lang="en-US" dirty="0"/>
              <a:t>CSPRNG</a:t>
            </a:r>
            <a:endParaRPr lang="he-IL" dirty="0"/>
          </a:p>
        </p:txBody>
      </p:sp>
      <p:sp>
        <p:nvSpPr>
          <p:cNvPr id="3" name="מציין מיקום תוכן 2"/>
          <p:cNvSpPr>
            <a:spLocks noGrp="1"/>
          </p:cNvSpPr>
          <p:nvPr>
            <p:ph idx="1"/>
          </p:nvPr>
        </p:nvSpPr>
        <p:spPr/>
        <p:txBody>
          <a:bodyPr/>
          <a:lstStyle/>
          <a:p>
            <a:r>
              <a:rPr lang="he-IL" dirty="0"/>
              <a:t>כדי שמחולל פסבדו-רנדומלי ייחשב </a:t>
            </a:r>
            <a:r>
              <a:rPr lang="he-IL" b="1" dirty="0" err="1"/>
              <a:t>קריפטוגרפי</a:t>
            </a:r>
            <a:r>
              <a:rPr lang="he-IL" dirty="0"/>
              <a:t>, עליו לעמוד בדרישות הבאות:</a:t>
            </a:r>
          </a:p>
          <a:p>
            <a:r>
              <a:rPr lang="he-IL" b="1" dirty="0" smtClean="0"/>
              <a:t>א</a:t>
            </a:r>
            <a:r>
              <a:rPr lang="he-IL" b="1" dirty="0"/>
              <a:t>. עמידות קדימה </a:t>
            </a:r>
            <a:r>
              <a:rPr lang="en-US" b="1" dirty="0" smtClean="0"/>
              <a:t>Forward Security</a:t>
            </a:r>
            <a:r>
              <a:rPr lang="he-IL" b="1" dirty="0" smtClean="0"/>
              <a:t>: </a:t>
            </a:r>
            <a:endParaRPr lang="en-US" b="1" dirty="0"/>
          </a:p>
          <a:p>
            <a:r>
              <a:rPr lang="he-IL" dirty="0"/>
              <a:t>אם תוקף נחשף לחלק מהפלטים של המחולל, אסור לו להיות מסוגל להסיק על ערכים קודמים. כלומר, גם אם מישהו גילה את אחד המספרים האקראיים שיצאו, הוא לא יכול לשחזר את המספרים שנוצרו לפניו.</a:t>
            </a:r>
          </a:p>
          <a:p>
            <a:r>
              <a:rPr lang="he-IL" b="1" dirty="0" smtClean="0"/>
              <a:t>ב</a:t>
            </a:r>
            <a:r>
              <a:rPr lang="he-IL" b="1" dirty="0"/>
              <a:t>. עמידות אחורה </a:t>
            </a:r>
            <a:r>
              <a:rPr lang="en-US" b="1" dirty="0" smtClean="0"/>
              <a:t>Backward Security</a:t>
            </a:r>
            <a:r>
              <a:rPr lang="he-IL" b="1" dirty="0" smtClean="0"/>
              <a:t>:</a:t>
            </a:r>
            <a:endParaRPr lang="en-US" b="1" dirty="0"/>
          </a:p>
          <a:p>
            <a:r>
              <a:rPr lang="he-IL" dirty="0"/>
              <a:t>אם מחולל נפרץ ותוקף נחשף למצב הפנימי הנוכחי שלו, הוא לא אמור להיות מסוגל לחשב את כל הפלטים העתידיים. הדרך להתמודד עם זה היא </a:t>
            </a:r>
            <a:r>
              <a:rPr lang="en-US" b="1" dirty="0" smtClean="0"/>
              <a:t>Reseeding</a:t>
            </a:r>
            <a:r>
              <a:rPr lang="he-IL" b="1" dirty="0" smtClean="0"/>
              <a:t> </a:t>
            </a:r>
            <a:r>
              <a:rPr lang="he-IL" dirty="0" smtClean="0"/>
              <a:t>הזרקת </a:t>
            </a:r>
            <a:r>
              <a:rPr lang="he-IL" dirty="0"/>
              <a:t>אנטרופיה חדשה </a:t>
            </a:r>
            <a:r>
              <a:rPr lang="he-IL" dirty="0" smtClean="0"/>
              <a:t>למחולל.</a:t>
            </a:r>
            <a:endParaRPr lang="he-IL" dirty="0"/>
          </a:p>
          <a:p>
            <a:r>
              <a:rPr lang="he-IL" b="1" dirty="0" smtClean="0"/>
              <a:t>ג</a:t>
            </a:r>
            <a:r>
              <a:rPr lang="he-IL" b="1" dirty="0"/>
              <a:t>. חסינות לניבוי </a:t>
            </a:r>
            <a:r>
              <a:rPr lang="en-US" b="1" dirty="0" smtClean="0"/>
              <a:t>Prediction Resistance</a:t>
            </a:r>
            <a:r>
              <a:rPr lang="he-IL" b="1" dirty="0" smtClean="0"/>
              <a:t>:</a:t>
            </a:r>
            <a:endParaRPr lang="en-US" b="1" dirty="0"/>
          </a:p>
          <a:p>
            <a:r>
              <a:rPr lang="he-IL" dirty="0"/>
              <a:t>אפילו אם תוקף יודע את כל האלגוריתם של המחולל, אסור לו להיות מסוגל לנבא את הפלט הבא ללא ידיעת ה-</a:t>
            </a:r>
            <a:r>
              <a:rPr lang="en-US" dirty="0" smtClean="0"/>
              <a:t>Seed</a:t>
            </a:r>
            <a:r>
              <a:rPr lang="he-IL" dirty="0" smtClean="0"/>
              <a:t>.</a:t>
            </a:r>
            <a:endParaRPr lang="en-US" dirty="0"/>
          </a:p>
          <a:p>
            <a:endParaRPr lang="he-IL" dirty="0"/>
          </a:p>
        </p:txBody>
      </p:sp>
    </p:spTree>
    <p:extLst>
      <p:ext uri="{BB962C8B-B14F-4D97-AF65-F5344CB8AC3E}">
        <p14:creationId xmlns:p14="http://schemas.microsoft.com/office/powerpoint/2010/main" val="3697317635"/>
      </p:ext>
    </p:extLst>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793076" y="642594"/>
            <a:ext cx="8332124" cy="1371600"/>
          </a:xfrm>
        </p:spPr>
        <p:txBody>
          <a:bodyPr/>
          <a:lstStyle/>
          <a:p>
            <a:r>
              <a:rPr lang="he-IL" dirty="0"/>
              <a:t>איך בודקים אם </a:t>
            </a:r>
            <a:r>
              <a:rPr lang="en-US" dirty="0" smtClean="0"/>
              <a:t> CSPRNG</a:t>
            </a:r>
            <a:r>
              <a:rPr lang="he-IL" dirty="0" smtClean="0"/>
              <a:t>בטוח</a:t>
            </a:r>
            <a:r>
              <a:rPr lang="he-IL" dirty="0"/>
              <a:t>?</a:t>
            </a:r>
          </a:p>
        </p:txBody>
      </p:sp>
      <p:sp>
        <p:nvSpPr>
          <p:cNvPr id="3" name="מציין מיקום תוכן 2"/>
          <p:cNvSpPr>
            <a:spLocks noGrp="1"/>
          </p:cNvSpPr>
          <p:nvPr>
            <p:ph idx="1"/>
          </p:nvPr>
        </p:nvSpPr>
        <p:spPr/>
        <p:txBody>
          <a:bodyPr/>
          <a:lstStyle/>
          <a:p>
            <a:r>
              <a:rPr lang="he-IL" dirty="0"/>
              <a:t>כדי לוודא שמחולל עומד בדרישות </a:t>
            </a:r>
            <a:r>
              <a:rPr lang="he-IL" dirty="0" err="1"/>
              <a:t>קריפטוגרפיות</a:t>
            </a:r>
            <a:r>
              <a:rPr lang="he-IL" dirty="0"/>
              <a:t>, משתמשים במבחנים סטטיסטיים:</a:t>
            </a:r>
          </a:p>
          <a:p>
            <a:r>
              <a:rPr lang="he-IL" b="1" dirty="0" smtClean="0"/>
              <a:t>מבחן </a:t>
            </a:r>
            <a:r>
              <a:rPr lang="he-IL" b="1" dirty="0"/>
              <a:t>האנטרופיה </a:t>
            </a:r>
            <a:r>
              <a:rPr lang="en-US" b="1" dirty="0" smtClean="0"/>
              <a:t> :Entropy Test</a:t>
            </a:r>
            <a:r>
              <a:rPr lang="he-IL" dirty="0" smtClean="0"/>
              <a:t>מודד </a:t>
            </a:r>
            <a:r>
              <a:rPr lang="he-IL" dirty="0"/>
              <a:t>כמה מידע חדש (אקראי) קיים בזרם </a:t>
            </a:r>
            <a:r>
              <a:rPr lang="he-IL" dirty="0" smtClean="0"/>
              <a:t>הפלט.</a:t>
            </a:r>
          </a:p>
          <a:p>
            <a:endParaRPr lang="he-IL" dirty="0" smtClean="0"/>
          </a:p>
          <a:p>
            <a:r>
              <a:rPr lang="he-IL" b="1" dirty="0" smtClean="0"/>
              <a:t>מבחן </a:t>
            </a:r>
            <a:r>
              <a:rPr lang="he-IL" b="1" dirty="0"/>
              <a:t>ההתפלגות </a:t>
            </a:r>
            <a:r>
              <a:rPr lang="en-US" b="1" dirty="0" smtClean="0"/>
              <a:t> :Chi-Square Test</a:t>
            </a:r>
            <a:r>
              <a:rPr lang="he-IL" dirty="0" smtClean="0"/>
              <a:t>בודק </a:t>
            </a:r>
            <a:r>
              <a:rPr lang="he-IL" dirty="0"/>
              <a:t>אם הפלט מתפלג בצורה אחידה </a:t>
            </a:r>
            <a:r>
              <a:rPr lang="en-US" dirty="0" smtClean="0"/>
              <a:t>Uniform Distribution</a:t>
            </a:r>
          </a:p>
          <a:p>
            <a:endParaRPr lang="en-US" dirty="0" smtClean="0"/>
          </a:p>
          <a:p>
            <a:r>
              <a:rPr lang="he-IL" b="1" dirty="0" smtClean="0"/>
              <a:t>מבחן </a:t>
            </a:r>
            <a:r>
              <a:rPr lang="he-IL" b="1" dirty="0"/>
              <a:t>הרצת אפסים ואחדים </a:t>
            </a:r>
            <a:r>
              <a:rPr lang="en-US" b="1" dirty="0" smtClean="0"/>
              <a:t> :Runs Test</a:t>
            </a:r>
            <a:r>
              <a:rPr lang="he-IL" dirty="0" smtClean="0"/>
              <a:t>בודק </a:t>
            </a:r>
            <a:r>
              <a:rPr lang="he-IL" dirty="0"/>
              <a:t>אם מופעים רצופים של 0 או 1 מופיעים בתדירות </a:t>
            </a:r>
            <a:r>
              <a:rPr lang="he-IL" dirty="0" smtClean="0"/>
              <a:t>צפויה.</a:t>
            </a:r>
          </a:p>
          <a:p>
            <a:endParaRPr lang="he-IL" dirty="0" smtClean="0"/>
          </a:p>
          <a:p>
            <a:r>
              <a:rPr lang="he-IL" b="1" dirty="0" smtClean="0"/>
              <a:t>מבחן</a:t>
            </a:r>
            <a:r>
              <a:rPr lang="en-US" b="1" dirty="0" smtClean="0"/>
              <a:t>NIST SP800-22</a:t>
            </a:r>
            <a:r>
              <a:rPr lang="en-US" dirty="0" smtClean="0"/>
              <a:t> </a:t>
            </a:r>
            <a:r>
              <a:rPr lang="he-IL" dirty="0" smtClean="0"/>
              <a:t>: סדרת </a:t>
            </a:r>
            <a:r>
              <a:rPr lang="he-IL" dirty="0"/>
              <a:t>מבחנים סטטיסטיים שמספקים אישור לקריפטוגרפיה.</a:t>
            </a:r>
          </a:p>
          <a:p>
            <a:endParaRPr lang="he-IL" dirty="0"/>
          </a:p>
        </p:txBody>
      </p:sp>
    </p:spTree>
    <p:extLst>
      <p:ext uri="{BB962C8B-B14F-4D97-AF65-F5344CB8AC3E}">
        <p14:creationId xmlns:p14="http://schemas.microsoft.com/office/powerpoint/2010/main" val="1222981967"/>
      </p:ext>
    </p:extLst>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97966" y="532527"/>
            <a:ext cx="12164291" cy="1371600"/>
          </a:xfrm>
        </p:spPr>
        <p:txBody>
          <a:bodyPr>
            <a:normAutofit fontScale="90000"/>
          </a:bodyPr>
          <a:lstStyle/>
          <a:p>
            <a:r>
              <a:rPr lang="he-IL" dirty="0"/>
              <a:t>חסרונות של מחוללים פסבדו-רנדומליים </a:t>
            </a:r>
            <a:r>
              <a:rPr lang="he-IL" dirty="0" err="1"/>
              <a:t>קריפטוגרפיים</a:t>
            </a:r>
            <a:endParaRPr lang="he-IL" dirty="0"/>
          </a:p>
        </p:txBody>
      </p:sp>
      <p:sp>
        <p:nvSpPr>
          <p:cNvPr id="3" name="מציין מיקום תוכן 2"/>
          <p:cNvSpPr>
            <a:spLocks noGrp="1"/>
          </p:cNvSpPr>
          <p:nvPr>
            <p:ph idx="1"/>
          </p:nvPr>
        </p:nvSpPr>
        <p:spPr/>
        <p:txBody>
          <a:bodyPr/>
          <a:lstStyle/>
          <a:p>
            <a:r>
              <a:rPr lang="he-IL" dirty="0"/>
              <a:t>למרות שהם נחשבים בטוחים, </a:t>
            </a:r>
            <a:r>
              <a:rPr lang="en-US" dirty="0"/>
              <a:t>CSPRNG </a:t>
            </a:r>
            <a:r>
              <a:rPr lang="he-IL" dirty="0" smtClean="0"/>
              <a:t> לא </a:t>
            </a:r>
            <a:r>
              <a:rPr lang="he-IL" dirty="0"/>
              <a:t>חף מחסרונות:</a:t>
            </a:r>
          </a:p>
          <a:p>
            <a:r>
              <a:rPr lang="he-IL" b="1" dirty="0" smtClean="0"/>
              <a:t>1. תלות </a:t>
            </a:r>
            <a:r>
              <a:rPr lang="he-IL" b="1" dirty="0"/>
              <a:t>במקור אנטרופיה:</a:t>
            </a:r>
            <a:r>
              <a:rPr lang="he-IL" dirty="0"/>
              <a:t> אם המחולל מקבל </a:t>
            </a:r>
            <a:r>
              <a:rPr lang="en-US" dirty="0" smtClean="0"/>
              <a:t> Seed </a:t>
            </a:r>
            <a:r>
              <a:rPr lang="he-IL" dirty="0"/>
              <a:t>חלש (למשל, מספרים שנוצרו ע"י שעון מערכת), הוא לא </a:t>
            </a:r>
            <a:r>
              <a:rPr lang="he-IL" dirty="0" smtClean="0"/>
              <a:t>בטוח.</a:t>
            </a:r>
          </a:p>
          <a:p>
            <a:endParaRPr lang="he-IL" dirty="0" smtClean="0"/>
          </a:p>
          <a:p>
            <a:r>
              <a:rPr lang="he-IL" b="1" dirty="0" smtClean="0"/>
              <a:t>2. צורך </a:t>
            </a:r>
            <a:r>
              <a:rPr lang="he-IL" b="1" dirty="0"/>
              <a:t>בניהול </a:t>
            </a:r>
            <a:r>
              <a:rPr lang="en-US" b="1" dirty="0" smtClean="0"/>
              <a:t>Seed</a:t>
            </a:r>
            <a:r>
              <a:rPr lang="he-IL" b="1" dirty="0" smtClean="0"/>
              <a:t> נכון</a:t>
            </a:r>
            <a:r>
              <a:rPr lang="he-IL" b="1" dirty="0"/>
              <a:t>:</a:t>
            </a:r>
            <a:r>
              <a:rPr lang="he-IL" dirty="0"/>
              <a:t> אם המערכת מאחסנת את ה-</a:t>
            </a:r>
            <a:r>
              <a:rPr lang="en-US" dirty="0"/>
              <a:t>Seed </a:t>
            </a:r>
            <a:r>
              <a:rPr lang="he-IL" dirty="0" smtClean="0"/>
              <a:t> באופן </a:t>
            </a:r>
            <a:r>
              <a:rPr lang="he-IL" dirty="0"/>
              <a:t>גלוי, תוקף יכול לשחזר את כל </a:t>
            </a:r>
            <a:r>
              <a:rPr lang="he-IL" dirty="0" smtClean="0"/>
              <a:t>הפלטים.</a:t>
            </a:r>
          </a:p>
          <a:p>
            <a:endParaRPr lang="he-IL" dirty="0" smtClean="0"/>
          </a:p>
          <a:p>
            <a:r>
              <a:rPr lang="he-IL" b="1" dirty="0" smtClean="0"/>
              <a:t>3. ביצועים</a:t>
            </a:r>
            <a:r>
              <a:rPr lang="he-IL" b="1" dirty="0"/>
              <a:t>:</a:t>
            </a:r>
            <a:r>
              <a:rPr lang="he-IL" dirty="0"/>
              <a:t> מחוללים </a:t>
            </a:r>
            <a:r>
              <a:rPr lang="he-IL" dirty="0" err="1"/>
              <a:t>קריפטוגרפיים</a:t>
            </a:r>
            <a:r>
              <a:rPr lang="he-IL" dirty="0"/>
              <a:t> לעיתים איטיים יותר ממחוללים רגילים כי הם משתמשים בפונקציות </a:t>
            </a:r>
            <a:r>
              <a:rPr lang="he-IL" dirty="0" err="1"/>
              <a:t>קריפטוגרפיות</a:t>
            </a:r>
            <a:r>
              <a:rPr lang="he-IL" dirty="0"/>
              <a:t> כבדות.</a:t>
            </a:r>
          </a:p>
          <a:p>
            <a:endParaRPr lang="he-IL" dirty="0"/>
          </a:p>
        </p:txBody>
      </p:sp>
    </p:spTree>
    <p:extLst>
      <p:ext uri="{BB962C8B-B14F-4D97-AF65-F5344CB8AC3E}">
        <p14:creationId xmlns:p14="http://schemas.microsoft.com/office/powerpoint/2010/main" val="3175661642"/>
      </p:ext>
    </p:extLst>
  </p:cSld>
  <p:clrMapOvr>
    <a:masterClrMapping/>
  </p:clrMapOvr>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984269" y="110579"/>
            <a:ext cx="8140931" cy="1371600"/>
          </a:xfrm>
        </p:spPr>
        <p:txBody>
          <a:bodyPr/>
          <a:lstStyle/>
          <a:p>
            <a:r>
              <a:rPr lang="he-IL" dirty="0"/>
              <a:t>התקפות אפשריות על </a:t>
            </a:r>
            <a:r>
              <a:rPr lang="en-US" dirty="0"/>
              <a:t>CSPRNG</a:t>
            </a:r>
            <a:endParaRPr lang="he-IL" dirty="0"/>
          </a:p>
        </p:txBody>
      </p:sp>
      <p:sp>
        <p:nvSpPr>
          <p:cNvPr id="3" name="מציין מיקום תוכן 2"/>
          <p:cNvSpPr>
            <a:spLocks noGrp="1"/>
          </p:cNvSpPr>
          <p:nvPr>
            <p:ph idx="1"/>
          </p:nvPr>
        </p:nvSpPr>
        <p:spPr>
          <a:xfrm>
            <a:off x="1066800" y="1629295"/>
            <a:ext cx="10058400" cy="4862945"/>
          </a:xfrm>
        </p:spPr>
        <p:txBody>
          <a:bodyPr>
            <a:normAutofit/>
          </a:bodyPr>
          <a:lstStyle/>
          <a:p>
            <a:r>
              <a:rPr lang="he-IL" b="1" dirty="0" smtClean="0"/>
              <a:t>א</a:t>
            </a:r>
            <a:r>
              <a:rPr lang="he-IL" b="1" dirty="0"/>
              <a:t>. התקפת שחזור מצב פנימי </a:t>
            </a:r>
            <a:r>
              <a:rPr lang="en-US" b="1" dirty="0" smtClean="0"/>
              <a:t>State </a:t>
            </a:r>
            <a:r>
              <a:rPr lang="en-US" b="1" dirty="0"/>
              <a:t>Recovery </a:t>
            </a:r>
            <a:r>
              <a:rPr lang="en-US" b="1" dirty="0" smtClean="0"/>
              <a:t>Attack</a:t>
            </a:r>
            <a:r>
              <a:rPr lang="he-IL" b="1" dirty="0" smtClean="0"/>
              <a:t>:</a:t>
            </a:r>
            <a:endParaRPr lang="en-US" dirty="0" smtClean="0"/>
          </a:p>
          <a:p>
            <a:r>
              <a:rPr lang="he-IL" dirty="0" smtClean="0"/>
              <a:t>אם </a:t>
            </a:r>
            <a:r>
              <a:rPr lang="he-IL" dirty="0"/>
              <a:t>מחולל משתמש באלגוריתם חלש כמו </a:t>
            </a:r>
            <a:r>
              <a:rPr lang="en-US" dirty="0" smtClean="0"/>
              <a:t> </a:t>
            </a:r>
            <a:r>
              <a:rPr lang="en-US" dirty="0" err="1" smtClean="0"/>
              <a:t>Mersenne</a:t>
            </a:r>
            <a:r>
              <a:rPr lang="en-US" dirty="0" smtClean="0"/>
              <a:t> Twister</a:t>
            </a:r>
            <a:r>
              <a:rPr lang="he-IL" dirty="0" smtClean="0"/>
              <a:t>תוקף </a:t>
            </a:r>
            <a:r>
              <a:rPr lang="he-IL" dirty="0"/>
              <a:t>יכול להסיק מהמצב הנוכחי של המחולל מה יהיו הערכים </a:t>
            </a:r>
            <a:r>
              <a:rPr lang="he-IL" dirty="0" smtClean="0"/>
              <a:t>הבאים.</a:t>
            </a:r>
          </a:p>
          <a:p>
            <a:r>
              <a:rPr lang="he-IL" b="1" dirty="0" smtClean="0"/>
              <a:t>הגנה</a:t>
            </a:r>
            <a:r>
              <a:rPr lang="he-IL" b="1" dirty="0"/>
              <a:t>:</a:t>
            </a:r>
            <a:r>
              <a:rPr lang="he-IL" dirty="0"/>
              <a:t> שימוש ב-</a:t>
            </a:r>
            <a:r>
              <a:rPr lang="en-US" dirty="0"/>
              <a:t>CSPRNG </a:t>
            </a:r>
            <a:r>
              <a:rPr lang="he-IL" dirty="0" smtClean="0"/>
              <a:t> שעומד </a:t>
            </a:r>
            <a:r>
              <a:rPr lang="he-IL" dirty="0"/>
              <a:t>בתקנים כמו </a:t>
            </a:r>
            <a:r>
              <a:rPr lang="en-US" dirty="0" smtClean="0"/>
              <a:t>AES - CTR DRBG</a:t>
            </a:r>
            <a:endParaRPr lang="he-IL" dirty="0" smtClean="0"/>
          </a:p>
          <a:p>
            <a:endParaRPr lang="en-US" dirty="0"/>
          </a:p>
          <a:p>
            <a:r>
              <a:rPr lang="he-IL" b="1" dirty="0" smtClean="0"/>
              <a:t>ב</a:t>
            </a:r>
            <a:r>
              <a:rPr lang="he-IL" b="1" dirty="0"/>
              <a:t>. התקפת </a:t>
            </a:r>
            <a:r>
              <a:rPr lang="he-IL" b="1" dirty="0" smtClean="0"/>
              <a:t>זריעת</a:t>
            </a:r>
            <a:r>
              <a:rPr lang="en-US" b="1" dirty="0" smtClean="0"/>
              <a:t> Seed </a:t>
            </a:r>
            <a:r>
              <a:rPr lang="he-IL" b="1" dirty="0"/>
              <a:t>חלשה </a:t>
            </a:r>
            <a:r>
              <a:rPr lang="en-US" b="1" dirty="0" smtClean="0"/>
              <a:t>Weak </a:t>
            </a:r>
            <a:r>
              <a:rPr lang="en-US" b="1" dirty="0"/>
              <a:t>Seeding </a:t>
            </a:r>
            <a:r>
              <a:rPr lang="en-US" b="1" dirty="0" smtClean="0"/>
              <a:t>Attack</a:t>
            </a:r>
            <a:r>
              <a:rPr lang="he-IL" b="1" dirty="0" smtClean="0"/>
              <a:t>:</a:t>
            </a:r>
            <a:endParaRPr lang="en-US" dirty="0" smtClean="0"/>
          </a:p>
          <a:p>
            <a:r>
              <a:rPr lang="he-IL" dirty="0" smtClean="0"/>
              <a:t>אם ה-</a:t>
            </a:r>
            <a:r>
              <a:rPr lang="en-US" dirty="0" smtClean="0"/>
              <a:t> Seed </a:t>
            </a:r>
            <a:r>
              <a:rPr lang="he-IL" dirty="0"/>
              <a:t>מגיע משעון מערכת או </a:t>
            </a:r>
            <a:r>
              <a:rPr lang="he-IL" dirty="0" smtClean="0"/>
              <a:t>מספרי</a:t>
            </a:r>
            <a:r>
              <a:rPr lang="en-US" dirty="0" smtClean="0"/>
              <a:t> PID </a:t>
            </a:r>
            <a:r>
              <a:rPr lang="he-IL" dirty="0"/>
              <a:t>של תוכנות, ניתן לחזות את המספרים </a:t>
            </a:r>
            <a:r>
              <a:rPr lang="he-IL" dirty="0" smtClean="0"/>
              <a:t>העתידיים.</a:t>
            </a:r>
          </a:p>
          <a:p>
            <a:r>
              <a:rPr lang="he-IL" b="1" dirty="0" smtClean="0"/>
              <a:t>הגנה</a:t>
            </a:r>
            <a:r>
              <a:rPr lang="he-IL" b="1" dirty="0"/>
              <a:t>:</a:t>
            </a:r>
            <a:r>
              <a:rPr lang="he-IL" dirty="0"/>
              <a:t> שימוש במקור אנטרופיה חזק כמו תנועות עכבר, רעש תרמי, או קלט ממשתמשים</a:t>
            </a:r>
            <a:r>
              <a:rPr lang="he-IL" dirty="0" smtClean="0"/>
              <a:t>.</a:t>
            </a:r>
          </a:p>
          <a:p>
            <a:endParaRPr lang="he-IL" dirty="0"/>
          </a:p>
          <a:p>
            <a:r>
              <a:rPr lang="he-IL" b="1" dirty="0" smtClean="0"/>
              <a:t>ג</a:t>
            </a:r>
            <a:r>
              <a:rPr lang="he-IL" b="1" dirty="0"/>
              <a:t>. התקפת קורלציה </a:t>
            </a:r>
            <a:r>
              <a:rPr lang="en-US" b="1" dirty="0" smtClean="0"/>
              <a:t>Correlation Attack</a:t>
            </a:r>
            <a:r>
              <a:rPr lang="he-IL" b="1" dirty="0" smtClean="0"/>
              <a:t>:</a:t>
            </a:r>
            <a:endParaRPr lang="en-US" dirty="0" smtClean="0"/>
          </a:p>
          <a:p>
            <a:r>
              <a:rPr lang="he-IL" dirty="0" smtClean="0"/>
              <a:t>אם </a:t>
            </a:r>
            <a:r>
              <a:rPr lang="he-IL" dirty="0"/>
              <a:t>מחולל מבוסס על פונקציה ליניארית, אפשר לזהות דפוסים ולחזות את המספרים </a:t>
            </a:r>
            <a:r>
              <a:rPr lang="he-IL" dirty="0" smtClean="0"/>
              <a:t>הבאים.</a:t>
            </a:r>
          </a:p>
          <a:p>
            <a:r>
              <a:rPr lang="he-IL" b="1" dirty="0" smtClean="0"/>
              <a:t>הגנה</a:t>
            </a:r>
            <a:r>
              <a:rPr lang="he-IL" b="1" dirty="0"/>
              <a:t>:</a:t>
            </a:r>
            <a:r>
              <a:rPr lang="he-IL" dirty="0"/>
              <a:t> שימוש בפונקציות חד-כיווניות כמו </a:t>
            </a:r>
            <a:r>
              <a:rPr lang="en-US" dirty="0" smtClean="0"/>
              <a:t> SHA-256 </a:t>
            </a:r>
            <a:r>
              <a:rPr lang="he-IL" dirty="0"/>
              <a:t>להגדלת הבלתי-צפויות של הפלט.</a:t>
            </a:r>
          </a:p>
          <a:p>
            <a:pPr marL="0" indent="0">
              <a:buNone/>
            </a:pPr>
            <a:endParaRPr lang="he-IL" dirty="0"/>
          </a:p>
        </p:txBody>
      </p:sp>
    </p:spTree>
    <p:extLst>
      <p:ext uri="{BB962C8B-B14F-4D97-AF65-F5344CB8AC3E}">
        <p14:creationId xmlns:p14="http://schemas.microsoft.com/office/powerpoint/2010/main" val="2703326419"/>
      </p:ext>
    </p:extLst>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479664" y="642594"/>
            <a:ext cx="9645535" cy="1371600"/>
          </a:xfrm>
        </p:spPr>
        <p:txBody>
          <a:bodyPr/>
          <a:lstStyle/>
          <a:p>
            <a:r>
              <a:rPr lang="he-IL" dirty="0"/>
              <a:t>מה קורה אם מחולל </a:t>
            </a:r>
            <a:r>
              <a:rPr lang="he-IL" dirty="0" err="1"/>
              <a:t>קריפטוגרפי</a:t>
            </a:r>
            <a:r>
              <a:rPr lang="he-IL" dirty="0"/>
              <a:t> נשבר?</a:t>
            </a:r>
          </a:p>
        </p:txBody>
      </p:sp>
      <p:sp>
        <p:nvSpPr>
          <p:cNvPr id="3" name="מציין מיקום תוכן 2"/>
          <p:cNvSpPr>
            <a:spLocks noGrp="1"/>
          </p:cNvSpPr>
          <p:nvPr>
            <p:ph idx="1"/>
          </p:nvPr>
        </p:nvSpPr>
        <p:spPr/>
        <p:txBody>
          <a:bodyPr/>
          <a:lstStyle/>
          <a:p>
            <a:r>
              <a:rPr lang="he-IL" dirty="0"/>
              <a:t>דוגמאות לכשלי מחוללים בהיסטוריה:</a:t>
            </a:r>
          </a:p>
          <a:p>
            <a:r>
              <a:rPr lang="he-IL" dirty="0" smtClean="0"/>
              <a:t> </a:t>
            </a:r>
            <a:r>
              <a:rPr lang="en-US" dirty="0" smtClean="0"/>
              <a:t>:</a:t>
            </a:r>
            <a:r>
              <a:rPr lang="en-US" b="1" dirty="0" smtClean="0"/>
              <a:t>Windows </a:t>
            </a:r>
            <a:r>
              <a:rPr lang="en-US" b="1" dirty="0"/>
              <a:t>XP Random </a:t>
            </a:r>
            <a:r>
              <a:rPr lang="en-US" b="1" dirty="0" smtClean="0"/>
              <a:t>Generator .1</a:t>
            </a:r>
            <a:r>
              <a:rPr lang="he-IL" dirty="0" smtClean="0"/>
              <a:t> השתמש ב-</a:t>
            </a:r>
            <a:r>
              <a:rPr lang="en-US" dirty="0" smtClean="0"/>
              <a:t> Seed </a:t>
            </a:r>
            <a:r>
              <a:rPr lang="he-IL" dirty="0"/>
              <a:t>חלש, מה </a:t>
            </a:r>
            <a:r>
              <a:rPr lang="he-IL" dirty="0" err="1"/>
              <a:t>שאיפשר</a:t>
            </a:r>
            <a:r>
              <a:rPr lang="he-IL" dirty="0"/>
              <a:t> ניבוי מפתחות של משתמשים.</a:t>
            </a:r>
            <a:br>
              <a:rPr lang="he-IL" dirty="0"/>
            </a:br>
            <a:endParaRPr lang="en-US" dirty="0" smtClean="0"/>
          </a:p>
          <a:p>
            <a:r>
              <a:rPr lang="en-US" b="1" dirty="0" smtClean="0"/>
              <a:t> :OpenSSL </a:t>
            </a:r>
            <a:r>
              <a:rPr lang="en-US" b="1" dirty="0" err="1"/>
              <a:t>Debian</a:t>
            </a:r>
            <a:r>
              <a:rPr lang="en-US" b="1" dirty="0"/>
              <a:t> Bug (</a:t>
            </a:r>
            <a:r>
              <a:rPr lang="en-US" b="1" dirty="0" smtClean="0"/>
              <a:t>2008) .2</a:t>
            </a:r>
            <a:r>
              <a:rPr lang="he-IL" dirty="0" smtClean="0"/>
              <a:t>באג </a:t>
            </a:r>
            <a:r>
              <a:rPr lang="he-IL" dirty="0"/>
              <a:t>הפחית את האנטרופיה של מחולל המספרים האקראיים, מה </a:t>
            </a:r>
            <a:r>
              <a:rPr lang="he-IL" dirty="0" err="1"/>
              <a:t>שאיפשר</a:t>
            </a:r>
            <a:r>
              <a:rPr lang="he-IL" dirty="0"/>
              <a:t> פריצה למפתחות </a:t>
            </a:r>
            <a:r>
              <a:rPr lang="he-IL" dirty="0" smtClean="0"/>
              <a:t>הצפנה.</a:t>
            </a:r>
          </a:p>
          <a:p>
            <a:endParaRPr lang="he-IL" dirty="0" smtClean="0"/>
          </a:p>
          <a:p>
            <a:r>
              <a:rPr lang="en-US" b="1" dirty="0" err="1" smtClean="0"/>
              <a:t>Dual_EC_DRBG</a:t>
            </a:r>
            <a:r>
              <a:rPr lang="en-US" b="1" dirty="0" smtClean="0"/>
              <a:t> .3</a:t>
            </a:r>
            <a:r>
              <a:rPr lang="he-IL" b="1" dirty="0" smtClean="0"/>
              <a:t>: </a:t>
            </a:r>
            <a:r>
              <a:rPr lang="he-IL" dirty="0" smtClean="0"/>
              <a:t>מחולל </a:t>
            </a:r>
            <a:r>
              <a:rPr lang="he-IL" dirty="0"/>
              <a:t>רשמי של </a:t>
            </a:r>
            <a:r>
              <a:rPr lang="en-US" dirty="0" smtClean="0"/>
              <a:t> NIST</a:t>
            </a:r>
            <a:r>
              <a:rPr lang="he-IL" dirty="0" smtClean="0"/>
              <a:t>שהתברר </a:t>
            </a:r>
            <a:r>
              <a:rPr lang="he-IL" dirty="0"/>
              <a:t>כחשוד בכך שהכיל דלת אחורית אפשרית עבור </a:t>
            </a:r>
            <a:r>
              <a:rPr lang="he-IL" dirty="0" smtClean="0"/>
              <a:t>ה-</a:t>
            </a:r>
            <a:r>
              <a:rPr lang="en-US" dirty="0" smtClean="0"/>
              <a:t>NSA</a:t>
            </a:r>
            <a:r>
              <a:rPr lang="he-IL" dirty="0" smtClean="0"/>
              <a:t>.</a:t>
            </a:r>
            <a:endParaRPr lang="en-US" dirty="0"/>
          </a:p>
          <a:p>
            <a:endParaRPr lang="he-IL" dirty="0"/>
          </a:p>
        </p:txBody>
      </p:sp>
    </p:spTree>
    <p:extLst>
      <p:ext uri="{BB962C8B-B14F-4D97-AF65-F5344CB8AC3E}">
        <p14:creationId xmlns:p14="http://schemas.microsoft.com/office/powerpoint/2010/main" val="2511402870"/>
      </p:ext>
    </p:extLst>
  </p:cSld>
  <p:clrMapOvr>
    <a:masterClrMapping/>
  </p:clrMapOvr>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85404" y="91439"/>
            <a:ext cx="11621192" cy="908601"/>
          </a:xfrm>
        </p:spPr>
        <p:txBody>
          <a:bodyPr>
            <a:normAutofit fontScale="90000"/>
          </a:bodyPr>
          <a:lstStyle/>
          <a:p>
            <a:r>
              <a:rPr lang="he-IL" dirty="0"/>
              <a:t>דוגמאות לקוד של מחולל פסבדו-רנדומלי </a:t>
            </a:r>
            <a:r>
              <a:rPr lang="he-IL" dirty="0" err="1"/>
              <a:t>קריפטוגרפי</a:t>
            </a:r>
            <a:endParaRPr lang="he-IL" dirty="0"/>
          </a:p>
        </p:txBody>
      </p:sp>
      <p:sp>
        <p:nvSpPr>
          <p:cNvPr id="3" name="מציין מיקום תוכן 2"/>
          <p:cNvSpPr>
            <a:spLocks noGrp="1"/>
          </p:cNvSpPr>
          <p:nvPr>
            <p:ph idx="1"/>
          </p:nvPr>
        </p:nvSpPr>
        <p:spPr>
          <a:xfrm>
            <a:off x="1066800" y="864523"/>
            <a:ext cx="10058400" cy="5702532"/>
          </a:xfrm>
        </p:spPr>
        <p:txBody>
          <a:bodyPr>
            <a:normAutofit/>
          </a:bodyPr>
          <a:lstStyle/>
          <a:p>
            <a:r>
              <a:rPr lang="he-IL" dirty="0"/>
              <a:t>יצירת מספרים אקראיים בצורה בטוחה </a:t>
            </a:r>
            <a:r>
              <a:rPr lang="he-IL" dirty="0" err="1" smtClean="0"/>
              <a:t>בפייתון</a:t>
            </a:r>
            <a:r>
              <a:rPr lang="he-IL" dirty="0" smtClean="0"/>
              <a:t>:</a:t>
            </a:r>
          </a:p>
          <a:p>
            <a:pPr algn="l"/>
            <a:r>
              <a:rPr lang="en-US" dirty="0"/>
              <a:t>import </a:t>
            </a:r>
            <a:r>
              <a:rPr lang="en-US" dirty="0" smtClean="0"/>
              <a:t>secrets</a:t>
            </a:r>
            <a:endParaRPr lang="en-US" dirty="0"/>
          </a:p>
          <a:p>
            <a:pPr algn="l"/>
            <a:r>
              <a:rPr lang="he-IL" dirty="0" smtClean="0"/>
              <a:t>יצירת </a:t>
            </a:r>
            <a:r>
              <a:rPr lang="he-IL" dirty="0"/>
              <a:t>מספר אקראי בין 0 </a:t>
            </a:r>
            <a:r>
              <a:rPr lang="he-IL" dirty="0" smtClean="0"/>
              <a:t>ל-100</a:t>
            </a:r>
            <a:endParaRPr lang="he-IL" dirty="0"/>
          </a:p>
          <a:p>
            <a:pPr algn="l"/>
            <a:r>
              <a:rPr lang="en-US" dirty="0" err="1"/>
              <a:t>random_number</a:t>
            </a:r>
            <a:r>
              <a:rPr lang="en-US" dirty="0"/>
              <a:t> = </a:t>
            </a:r>
            <a:r>
              <a:rPr lang="en-US" dirty="0" err="1"/>
              <a:t>secrets.randbelow</a:t>
            </a:r>
            <a:r>
              <a:rPr lang="en-US" dirty="0"/>
              <a:t>(101)</a:t>
            </a:r>
          </a:p>
          <a:p>
            <a:pPr algn="l"/>
            <a:r>
              <a:rPr lang="en-US" dirty="0"/>
              <a:t>print(</a:t>
            </a:r>
            <a:r>
              <a:rPr lang="en-US" dirty="0" err="1"/>
              <a:t>random_number</a:t>
            </a:r>
            <a:r>
              <a:rPr lang="en-US" dirty="0"/>
              <a:t>)</a:t>
            </a:r>
          </a:p>
          <a:p>
            <a:pPr algn="l"/>
            <a:endParaRPr lang="en-US" dirty="0"/>
          </a:p>
          <a:p>
            <a:pPr algn="l"/>
            <a:r>
              <a:rPr lang="he-IL" dirty="0" smtClean="0"/>
              <a:t>יצירת </a:t>
            </a:r>
            <a:r>
              <a:rPr lang="he-IL" dirty="0"/>
              <a:t>מחרוזת אקראית של 16 בתים (כגון טוקן אימות)</a:t>
            </a:r>
          </a:p>
          <a:p>
            <a:pPr algn="l"/>
            <a:r>
              <a:rPr lang="en-US" dirty="0"/>
              <a:t>token = </a:t>
            </a:r>
            <a:r>
              <a:rPr lang="en-US" dirty="0" err="1"/>
              <a:t>secrets.token_hex</a:t>
            </a:r>
            <a:r>
              <a:rPr lang="en-US" dirty="0"/>
              <a:t>(16)</a:t>
            </a:r>
          </a:p>
          <a:p>
            <a:pPr algn="l"/>
            <a:r>
              <a:rPr lang="en-US" dirty="0"/>
              <a:t>print(token</a:t>
            </a:r>
            <a:r>
              <a:rPr lang="en-US" dirty="0" smtClean="0"/>
              <a:t>)</a:t>
            </a:r>
            <a:endParaRPr lang="he-IL" dirty="0" smtClean="0"/>
          </a:p>
          <a:p>
            <a:r>
              <a:rPr lang="he-IL" dirty="0"/>
              <a:t>יצירת מפתח </a:t>
            </a:r>
            <a:r>
              <a:rPr lang="en-US" dirty="0" smtClean="0"/>
              <a:t> AES</a:t>
            </a:r>
            <a:r>
              <a:rPr lang="he-IL" dirty="0" smtClean="0"/>
              <a:t>אקראי:</a:t>
            </a:r>
          </a:p>
          <a:p>
            <a:pPr algn="l"/>
            <a:r>
              <a:rPr lang="en-US" dirty="0"/>
              <a:t>import </a:t>
            </a:r>
            <a:r>
              <a:rPr lang="en-US" dirty="0" err="1" smtClean="0"/>
              <a:t>os</a:t>
            </a:r>
            <a:endParaRPr lang="en-US" dirty="0"/>
          </a:p>
          <a:p>
            <a:pPr algn="l"/>
            <a:r>
              <a:rPr lang="he-IL" dirty="0" smtClean="0"/>
              <a:t>יצירת </a:t>
            </a:r>
            <a:r>
              <a:rPr lang="he-IL" dirty="0"/>
              <a:t>מפתח אקראי של 256 ביט (32 בתים)</a:t>
            </a:r>
          </a:p>
          <a:p>
            <a:pPr algn="l"/>
            <a:r>
              <a:rPr lang="en-US" dirty="0"/>
              <a:t>key = </a:t>
            </a:r>
            <a:r>
              <a:rPr lang="en-US" dirty="0" err="1"/>
              <a:t>os.urandom</a:t>
            </a:r>
            <a:r>
              <a:rPr lang="en-US" dirty="0"/>
              <a:t>(32)</a:t>
            </a:r>
          </a:p>
          <a:p>
            <a:pPr algn="l"/>
            <a:r>
              <a:rPr lang="en-US" dirty="0"/>
              <a:t>print(</a:t>
            </a:r>
            <a:r>
              <a:rPr lang="en-US" dirty="0" err="1"/>
              <a:t>key.hex</a:t>
            </a:r>
            <a:r>
              <a:rPr lang="en-US" dirty="0"/>
              <a:t>())</a:t>
            </a:r>
          </a:p>
          <a:p>
            <a:pPr algn="l"/>
            <a:endParaRPr lang="he-IL" dirty="0" smtClean="0"/>
          </a:p>
          <a:p>
            <a:endParaRPr lang="en-US" dirty="0"/>
          </a:p>
          <a:p>
            <a:pPr algn="l"/>
            <a:endParaRPr lang="he-IL" dirty="0"/>
          </a:p>
        </p:txBody>
      </p:sp>
    </p:spTree>
    <p:extLst>
      <p:ext uri="{BB962C8B-B14F-4D97-AF65-F5344CB8AC3E}">
        <p14:creationId xmlns:p14="http://schemas.microsoft.com/office/powerpoint/2010/main" val="4227387281"/>
      </p:ext>
    </p:extLst>
  </p:cSld>
  <p:clrMapOvr>
    <a:masterClrMapping/>
  </p:clrMapOvr>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02436" y="642594"/>
            <a:ext cx="2022764" cy="1371600"/>
          </a:xfrm>
        </p:spPr>
        <p:txBody>
          <a:bodyPr/>
          <a:lstStyle/>
          <a:p>
            <a:r>
              <a:rPr lang="he-IL" dirty="0" smtClean="0"/>
              <a:t>שאלות</a:t>
            </a:r>
            <a:endParaRPr lang="he-IL" dirty="0"/>
          </a:p>
        </p:txBody>
      </p:sp>
      <p:sp>
        <p:nvSpPr>
          <p:cNvPr id="3" name="מציין מיקום תוכן 2"/>
          <p:cNvSpPr>
            <a:spLocks noGrp="1"/>
          </p:cNvSpPr>
          <p:nvPr>
            <p:ph idx="1"/>
          </p:nvPr>
        </p:nvSpPr>
        <p:spPr/>
        <p:txBody>
          <a:bodyPr/>
          <a:lstStyle/>
          <a:p>
            <a:r>
              <a:rPr lang="he-IL" dirty="0" smtClean="0"/>
              <a:t>1</a:t>
            </a:r>
            <a:r>
              <a:rPr lang="he-IL" dirty="0"/>
              <a:t>. מה ההבדל בין מחולל </a:t>
            </a:r>
            <a:r>
              <a:rPr lang="he-IL" dirty="0" smtClean="0"/>
              <a:t>פסבדו-רנדומלי</a:t>
            </a:r>
            <a:r>
              <a:rPr lang="en-US" dirty="0" smtClean="0"/>
              <a:t> PRNG </a:t>
            </a:r>
            <a:r>
              <a:rPr lang="he-IL" dirty="0"/>
              <a:t>לבין מחולל פסבדו-רנדומלי </a:t>
            </a:r>
            <a:r>
              <a:rPr lang="he-IL" dirty="0" err="1"/>
              <a:t>קריפטוגרפי</a:t>
            </a:r>
            <a:r>
              <a:rPr lang="he-IL" dirty="0"/>
              <a:t> </a:t>
            </a:r>
            <a:r>
              <a:rPr lang="en-US" dirty="0" smtClean="0"/>
              <a:t>CSPRNG</a:t>
            </a:r>
            <a:r>
              <a:rPr lang="he-IL" dirty="0" smtClean="0"/>
              <a:t>?</a:t>
            </a:r>
          </a:p>
          <a:p>
            <a:r>
              <a:rPr lang="he-IL" dirty="0" smtClean="0"/>
              <a:t>2</a:t>
            </a:r>
            <a:r>
              <a:rPr lang="he-IL" dirty="0"/>
              <a:t>. מדוע חשוב להשתמש במקור אנטרופיה חזק בעת </a:t>
            </a:r>
            <a:r>
              <a:rPr lang="he-IL" dirty="0" smtClean="0"/>
              <a:t>יצירת</a:t>
            </a:r>
            <a:r>
              <a:rPr lang="en-US" dirty="0" smtClean="0"/>
              <a:t> Seed </a:t>
            </a:r>
            <a:r>
              <a:rPr lang="he-IL" dirty="0"/>
              <a:t>עבור </a:t>
            </a:r>
            <a:r>
              <a:rPr lang="en-US" dirty="0" smtClean="0"/>
              <a:t>CSPRNG</a:t>
            </a:r>
            <a:r>
              <a:rPr lang="he-IL" dirty="0" smtClean="0"/>
              <a:t>?</a:t>
            </a:r>
          </a:p>
          <a:p>
            <a:r>
              <a:rPr lang="he-IL" dirty="0" smtClean="0"/>
              <a:t>3</a:t>
            </a:r>
            <a:r>
              <a:rPr lang="he-IL" dirty="0"/>
              <a:t>. איזו תכונה מבטיחה שמחולל פסבדו-רנדומלי </a:t>
            </a:r>
            <a:r>
              <a:rPr lang="he-IL" dirty="0" err="1"/>
              <a:t>קריפטוגרפי</a:t>
            </a:r>
            <a:r>
              <a:rPr lang="he-IL" dirty="0"/>
              <a:t> לא יאפשר לשחזר מספרים שנוצרו בעבר?</a:t>
            </a:r>
            <a:endParaRPr lang="he-IL" dirty="0" smtClean="0"/>
          </a:p>
          <a:p>
            <a:r>
              <a:rPr lang="he-IL" dirty="0" smtClean="0"/>
              <a:t>4. </a:t>
            </a:r>
            <a:r>
              <a:rPr lang="he-IL" dirty="0"/>
              <a:t>מדוע </a:t>
            </a:r>
            <a:r>
              <a:rPr lang="en-US" dirty="0" smtClean="0"/>
              <a:t> CSPRNG</a:t>
            </a:r>
            <a:r>
              <a:rPr lang="he-IL" dirty="0" smtClean="0"/>
              <a:t>נחשב </a:t>
            </a:r>
            <a:r>
              <a:rPr lang="he-IL" dirty="0"/>
              <a:t>בטוח יותר מאשר מחוללים פסבדו-רנדומליים רגילים כמו </a:t>
            </a:r>
            <a:r>
              <a:rPr lang="en-US" dirty="0" err="1" smtClean="0"/>
              <a:t>Mersenne</a:t>
            </a:r>
            <a:r>
              <a:rPr lang="en-US" dirty="0" smtClean="0"/>
              <a:t> Twister</a:t>
            </a:r>
            <a:r>
              <a:rPr lang="he-IL" dirty="0" smtClean="0"/>
              <a:t>?</a:t>
            </a:r>
          </a:p>
          <a:p>
            <a:r>
              <a:rPr lang="he-IL" dirty="0" smtClean="0"/>
              <a:t>5</a:t>
            </a:r>
            <a:r>
              <a:rPr lang="he-IL" dirty="0"/>
              <a:t>. איזו פונקציה </a:t>
            </a:r>
            <a:r>
              <a:rPr lang="he-IL" dirty="0" err="1"/>
              <a:t>קריפטוגרפית</a:t>
            </a:r>
            <a:r>
              <a:rPr lang="he-IL" dirty="0"/>
              <a:t> ניתן לשלב בתוך </a:t>
            </a:r>
            <a:r>
              <a:rPr lang="en-US" dirty="0" smtClean="0"/>
              <a:t>CSPRNG</a:t>
            </a:r>
            <a:r>
              <a:rPr lang="he-IL" dirty="0" smtClean="0"/>
              <a:t> כדי </a:t>
            </a:r>
            <a:r>
              <a:rPr lang="he-IL" dirty="0"/>
              <a:t>להבטיח אקראיות חזקה?</a:t>
            </a:r>
            <a:endParaRPr lang="he-IL" dirty="0" smtClean="0"/>
          </a:p>
          <a:p>
            <a:endParaRPr lang="he-IL" dirty="0"/>
          </a:p>
        </p:txBody>
      </p:sp>
    </p:spTree>
    <p:extLst>
      <p:ext uri="{BB962C8B-B14F-4D97-AF65-F5344CB8AC3E}">
        <p14:creationId xmlns:p14="http://schemas.microsoft.com/office/powerpoint/2010/main" val="842057880"/>
      </p:ext>
    </p:extLst>
  </p:cSld>
  <p:clrMapOvr>
    <a:masterClrMapping/>
  </p:clrMapOvr>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86058" y="642594"/>
            <a:ext cx="2139142" cy="1371600"/>
          </a:xfrm>
        </p:spPr>
        <p:txBody>
          <a:bodyPr/>
          <a:lstStyle/>
          <a:p>
            <a:r>
              <a:rPr lang="he-IL" dirty="0" smtClean="0"/>
              <a:t>תשובות</a:t>
            </a:r>
            <a:endParaRPr lang="he-IL" dirty="0"/>
          </a:p>
        </p:txBody>
      </p:sp>
      <p:sp>
        <p:nvSpPr>
          <p:cNvPr id="3" name="מציין מיקום תוכן 2"/>
          <p:cNvSpPr>
            <a:spLocks noGrp="1"/>
          </p:cNvSpPr>
          <p:nvPr>
            <p:ph idx="1"/>
          </p:nvPr>
        </p:nvSpPr>
        <p:spPr/>
        <p:txBody>
          <a:bodyPr>
            <a:normAutofit/>
          </a:bodyPr>
          <a:lstStyle/>
          <a:p>
            <a:r>
              <a:rPr lang="he-IL" dirty="0" smtClean="0"/>
              <a:t>1. </a:t>
            </a:r>
            <a:r>
              <a:rPr lang="en-US" b="1" dirty="0" smtClean="0"/>
              <a:t>PRNG</a:t>
            </a:r>
            <a:r>
              <a:rPr lang="he-IL" b="1" dirty="0" smtClean="0"/>
              <a:t>: </a:t>
            </a:r>
            <a:r>
              <a:rPr lang="he-IL" dirty="0" smtClean="0"/>
              <a:t>מחולל פסבדו-רנדומלי </a:t>
            </a:r>
            <a:r>
              <a:rPr lang="he-IL" dirty="0"/>
              <a:t>מייצר מספרים שנראים אקראיים אך ניתנים לניבוי אם יודעים את ה-</a:t>
            </a:r>
            <a:r>
              <a:rPr lang="en-US" dirty="0"/>
              <a:t>Seed.</a:t>
            </a:r>
          </a:p>
          <a:p>
            <a:r>
              <a:rPr lang="en-US" b="1" dirty="0" smtClean="0"/>
              <a:t> :CSPRNG</a:t>
            </a:r>
            <a:r>
              <a:rPr lang="he-IL" dirty="0" smtClean="0"/>
              <a:t>מחולל </a:t>
            </a:r>
            <a:r>
              <a:rPr lang="he-IL" dirty="0"/>
              <a:t>פסבדו-רנדומלי </a:t>
            </a:r>
            <a:r>
              <a:rPr lang="he-IL" dirty="0" err="1" smtClean="0"/>
              <a:t>קריפטוגרפי</a:t>
            </a:r>
            <a:r>
              <a:rPr lang="he-IL" dirty="0" smtClean="0"/>
              <a:t> </a:t>
            </a:r>
            <a:r>
              <a:rPr lang="he-IL" dirty="0"/>
              <a:t>עומד בדרישות ביטחוניות, כך שגם אם יודעים חלק מהפלטים, אי אפשר לשחזר את הקודמים או לחזות את הבאים</a:t>
            </a:r>
            <a:r>
              <a:rPr lang="he-IL" dirty="0" smtClean="0"/>
              <a:t>.</a:t>
            </a:r>
          </a:p>
          <a:p>
            <a:r>
              <a:rPr lang="he-IL" dirty="0" smtClean="0"/>
              <a:t>2</a:t>
            </a:r>
            <a:r>
              <a:rPr lang="he-IL" dirty="0"/>
              <a:t>. אם ה-</a:t>
            </a:r>
            <a:r>
              <a:rPr lang="en-US" dirty="0"/>
              <a:t>Seed </a:t>
            </a:r>
            <a:r>
              <a:rPr lang="he-IL" dirty="0" smtClean="0"/>
              <a:t> מגיע </a:t>
            </a:r>
            <a:r>
              <a:rPr lang="he-IL" dirty="0"/>
              <a:t>ממקור חלש (כמו שעון מערכת), תוקף יכול לנחש אותו ולשחזר את כל הפלטים העתידיים.</a:t>
            </a:r>
            <a:endParaRPr lang="he-IL" dirty="0" smtClean="0"/>
          </a:p>
          <a:p>
            <a:r>
              <a:rPr lang="he-IL" dirty="0" smtClean="0"/>
              <a:t>3. </a:t>
            </a:r>
            <a:r>
              <a:rPr lang="he-IL" b="1" dirty="0"/>
              <a:t>עמידות </a:t>
            </a:r>
            <a:r>
              <a:rPr lang="he-IL" b="1" dirty="0" smtClean="0"/>
              <a:t>קדימה</a:t>
            </a:r>
            <a:r>
              <a:rPr lang="en-US" b="1" dirty="0" smtClean="0"/>
              <a:t> :Forward Security</a:t>
            </a:r>
            <a:r>
              <a:rPr lang="en-US" dirty="0" smtClean="0"/>
              <a:t> </a:t>
            </a:r>
            <a:r>
              <a:rPr lang="he-IL" dirty="0"/>
              <a:t>גם אם תוקף רואה את הפלט הנוכחי, הוא לא יכול להסיק ממנו על מספרים קודמים.</a:t>
            </a:r>
            <a:endParaRPr lang="he-IL" dirty="0" smtClean="0"/>
          </a:p>
          <a:p>
            <a:r>
              <a:rPr lang="he-IL" dirty="0" smtClean="0"/>
              <a:t>4. </a:t>
            </a:r>
            <a:r>
              <a:rPr lang="en-US" dirty="0" smtClean="0"/>
              <a:t> </a:t>
            </a:r>
            <a:r>
              <a:rPr lang="en-US" dirty="0" err="1" smtClean="0"/>
              <a:t>Mersenne</a:t>
            </a:r>
            <a:r>
              <a:rPr lang="en-US" dirty="0" smtClean="0"/>
              <a:t> Twister</a:t>
            </a:r>
            <a:r>
              <a:rPr lang="he-IL" dirty="0" smtClean="0"/>
              <a:t>אינו </a:t>
            </a:r>
            <a:r>
              <a:rPr lang="he-IL" dirty="0" err="1"/>
              <a:t>קריפטוגרפי</a:t>
            </a:r>
            <a:r>
              <a:rPr lang="he-IL" dirty="0"/>
              <a:t>, ולכן ניתן לחשב את המצב הפנימי שלו ולחזות פלטים עתידיים.</a:t>
            </a:r>
          </a:p>
          <a:p>
            <a:r>
              <a:rPr lang="en-US" dirty="0" smtClean="0"/>
              <a:t> CSPRNG</a:t>
            </a:r>
            <a:r>
              <a:rPr lang="he-IL" dirty="0" smtClean="0"/>
              <a:t>משתמש </a:t>
            </a:r>
            <a:r>
              <a:rPr lang="he-IL" dirty="0"/>
              <a:t>בפונקציות חד-כיווניות חזקות כמו </a:t>
            </a:r>
            <a:r>
              <a:rPr lang="en-US" dirty="0" smtClean="0"/>
              <a:t> SHA-256 </a:t>
            </a:r>
            <a:r>
              <a:rPr lang="he-IL" dirty="0" smtClean="0"/>
              <a:t>או</a:t>
            </a:r>
            <a:r>
              <a:rPr lang="en-US" dirty="0" smtClean="0"/>
              <a:t>AES </a:t>
            </a:r>
            <a:r>
              <a:rPr lang="he-IL" dirty="0" smtClean="0"/>
              <a:t>כדי </a:t>
            </a:r>
            <a:r>
              <a:rPr lang="he-IL" dirty="0"/>
              <a:t>להבטיח אקראיות</a:t>
            </a:r>
            <a:r>
              <a:rPr lang="he-IL" dirty="0" smtClean="0"/>
              <a:t>.</a:t>
            </a:r>
          </a:p>
          <a:p>
            <a:r>
              <a:rPr lang="he-IL" dirty="0" smtClean="0"/>
              <a:t>5. </a:t>
            </a:r>
            <a:r>
              <a:rPr lang="en-US" dirty="0" smtClean="0"/>
              <a:t> :</a:t>
            </a:r>
            <a:r>
              <a:rPr lang="en-US" b="1" dirty="0" smtClean="0"/>
              <a:t>SHA-256</a:t>
            </a:r>
            <a:r>
              <a:rPr lang="he-IL" dirty="0" smtClean="0"/>
              <a:t>פונקציה </a:t>
            </a:r>
            <a:r>
              <a:rPr lang="he-IL" dirty="0"/>
              <a:t>חד-כיוונית שמספקת ערבוב חזק של נתונים.</a:t>
            </a:r>
            <a:endParaRPr lang="he-IL" dirty="0" smtClean="0"/>
          </a:p>
          <a:p>
            <a:endParaRPr lang="he-IL" dirty="0"/>
          </a:p>
        </p:txBody>
      </p:sp>
    </p:spTree>
    <p:extLst>
      <p:ext uri="{BB962C8B-B14F-4D97-AF65-F5344CB8AC3E}">
        <p14:creationId xmlns:p14="http://schemas.microsoft.com/office/powerpoint/2010/main" val="411248241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סבון">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סבון</Template>
  <TotalTime>1670</TotalTime>
  <Words>20897</Words>
  <Application>Microsoft Office PowerPoint</Application>
  <PresentationFormat>מסך רחב</PresentationFormat>
  <Paragraphs>1936</Paragraphs>
  <Slides>263</Slides>
  <Notes>0</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263</vt:i4>
      </vt:variant>
    </vt:vector>
  </HeadingPairs>
  <TitlesOfParts>
    <vt:vector size="268" baseType="lpstr">
      <vt:lpstr>Arial</vt:lpstr>
      <vt:lpstr>Century Gothic</vt:lpstr>
      <vt:lpstr>Garamond</vt:lpstr>
      <vt:lpstr>Gisha</vt:lpstr>
      <vt:lpstr>סבון</vt:lpstr>
      <vt:lpstr>הרצאה מס' 9</vt:lpstr>
      <vt:lpstr>מצגת של PowerPoint‏</vt:lpstr>
      <vt:lpstr>מצגת של PowerPoint‏</vt:lpstr>
      <vt:lpstr>מהי הצפנה סימטרית?</vt:lpstr>
      <vt:lpstr>שלב 1: הצפנה</vt:lpstr>
      <vt:lpstr>המשך - שלב 1: הצפנה</vt:lpstr>
      <vt:lpstr>שלב 2: פענוח</vt:lpstr>
      <vt:lpstr>דוגמה פשוטה לתהליך הצפנה ופענוח</vt:lpstr>
      <vt:lpstr>מפתח חשוב: ביטחון המפתח</vt:lpstr>
      <vt:lpstr>מצגת של PowerPoint‏</vt:lpstr>
      <vt:lpstr>מהו צופן בלוקים?</vt:lpstr>
      <vt:lpstr>מושג הבלוק Block</vt:lpstr>
      <vt:lpstr>איך זה עובד?</vt:lpstr>
      <vt:lpstr>אלגוריתם צופן בלוקים</vt:lpstr>
      <vt:lpstr>מה קורה בכל סבב של צופן בלוקים?</vt:lpstr>
      <vt:lpstr>ריפוד Padding</vt:lpstr>
      <vt:lpstr>מצבי פעולה של צופן בלוקים</vt:lpstr>
      <vt:lpstr>מבנה פנימי של צופן בלוקים</vt:lpstr>
      <vt:lpstr>חוזק אבטחה של צופן בלוקים</vt:lpstr>
      <vt:lpstr>דוגמה מוחשית</vt:lpstr>
      <vt:lpstr>יתרונות וחסרונות של צופן בלוקים</vt:lpstr>
      <vt:lpstr>שימושים נפוצים בצופן בלוקים</vt:lpstr>
      <vt:lpstr>חשוב לזכור למבחן הגמר שלכם ב16/3</vt:lpstr>
      <vt:lpstr>שאלות</vt:lpstr>
      <vt:lpstr>תשובות</vt:lpstr>
      <vt:lpstr>מצגת של PowerPoint‏</vt:lpstr>
      <vt:lpstr>מבוא לצופן זרם</vt:lpstr>
      <vt:lpstr>דוגמה פשוטה לצופן זרם:</vt:lpstr>
      <vt:lpstr>איך פועל צופן זרם?</vt:lpstr>
      <vt:lpstr>צופן זרם אסינכרוני / תלוי מצב </vt:lpstr>
      <vt:lpstr>מחוללי מספרים פסאודו-אקראיים PRNG בצופן זרם</vt:lpstr>
      <vt:lpstr>מתקפות על צופן זרם</vt:lpstr>
      <vt:lpstr>מה הבעיה עם שימוש חוזר ב- keystream בצופן זרם?</vt:lpstr>
      <vt:lpstr>השוואה בין צופן זרם לצופן בלוקים</vt:lpstr>
      <vt:lpstr>יתרונות וחסרונות של צופן זרם</vt:lpstr>
      <vt:lpstr>אלגוריתמים נפוצים של צופן זרם</vt:lpstr>
      <vt:lpstr>דוגמאות מעשיות</vt:lpstr>
      <vt:lpstr>המשך - דוגמאות מעשיות</vt:lpstr>
      <vt:lpstr>דוגמה פשוטה: הצפנת שתי מילים עם אותו keystream</vt:lpstr>
      <vt:lpstr>שאלות</vt:lpstr>
      <vt:lpstr>תשובות</vt:lpstr>
      <vt:lpstr>מצגת של PowerPoint‏</vt:lpstr>
      <vt:lpstr>הצפנת AES – Advanced Encryption Standard</vt:lpstr>
      <vt:lpstr>מאפייני AES</vt:lpstr>
      <vt:lpstr>איך AES עובד? – שלבי ההצפנה</vt:lpstr>
      <vt:lpstr>דוגמה מספרית לתהליך AES</vt:lpstr>
      <vt:lpstr>הרחבה על שלבי AES</vt:lpstr>
      <vt:lpstr>המשך - הרחבה על שלבי AES</vt:lpstr>
      <vt:lpstr>המשך - הרחבה על שלבי AES</vt:lpstr>
      <vt:lpstr>המשך - הרחבה על שלבי AES</vt:lpstr>
      <vt:lpstr>הרחבת מפתחות Key Expansion</vt:lpstr>
      <vt:lpstr>התקפות אפשריות על AES</vt:lpstr>
      <vt:lpstr>למה  AESנחשב בטוח?</vt:lpstr>
      <vt:lpstr>שאלות</vt:lpstr>
      <vt:lpstr>תשובות</vt:lpstr>
      <vt:lpstr>מצגת של PowerPoint‏</vt:lpstr>
      <vt:lpstr>מה זהDES  ולמה הוא פותח?</vt:lpstr>
      <vt:lpstr>איך עובד DES?</vt:lpstr>
      <vt:lpstr>הרחבה על שלבי ההצפנה</vt:lpstr>
      <vt:lpstr>המשך - הרחבה על שלבי ההצפנה</vt:lpstr>
      <vt:lpstr>המשך - הרחבה על שלבי ההצפנה</vt:lpstr>
      <vt:lpstr>פענוח ב-DES  </vt:lpstr>
      <vt:lpstr>דוגמה מעשית לאופן פעולתו של DES</vt:lpstr>
      <vt:lpstr>המשך - דוגמה מעשית לאופן פעולתו של DES</vt:lpstr>
      <vt:lpstr>המשך - דוגמה מעשית לאופן פעולתו של DES</vt:lpstr>
      <vt:lpstr>המשך - דוגמה מעשית לאופן פעולתו של DES</vt:lpstr>
      <vt:lpstr>המשך - דוגמה מעשית לאופן פעולתו של DES</vt:lpstr>
      <vt:lpstr>המשך - דוגמה מעשית לאופן פעולתו של DES</vt:lpstr>
      <vt:lpstr>התקפות ידועות על DES</vt:lpstr>
      <vt:lpstr> Triple DES (3DES) גרסה בטוחה יותר</vt:lpstr>
      <vt:lpstr>שאלות</vt:lpstr>
      <vt:lpstr>תשובות</vt:lpstr>
      <vt:lpstr>מצגת של PowerPoint‏</vt:lpstr>
      <vt:lpstr>מהו תיבת תמורה</vt:lpstr>
      <vt:lpstr>סוגים של תיבות תמורה</vt:lpstr>
      <vt:lpstr>איך תיבת תמורה פועלת?</vt:lpstr>
      <vt:lpstr>תיבת תמורה ב-DES  </vt:lpstr>
      <vt:lpstr>תיבות תמורה בצופן AES</vt:lpstr>
      <vt:lpstr>השפעה של סוג תיבת התמורה על קריפטואנליזה (ניתוח הצפנה)</vt:lpstr>
      <vt:lpstr>חשיבות תיבת תמורה באבטחה</vt:lpstr>
      <vt:lpstr>שאלה בנושא תיבת תמורה</vt:lpstr>
      <vt:lpstr>תשובה</vt:lpstr>
      <vt:lpstr>המשך - תשובה</vt:lpstr>
      <vt:lpstr>שאלות</vt:lpstr>
      <vt:lpstr>תשובות</vt:lpstr>
      <vt:lpstr>מצגת של PowerPoint‏</vt:lpstr>
      <vt:lpstr>מהי תיבת החלפהSubstitution Box - S-Box ?</vt:lpstr>
      <vt:lpstr>כיצד פועלת תיבת החלפה?</vt:lpstr>
      <vt:lpstr>תיבות החלפה באלגוריתמים ידועים</vt:lpstr>
      <vt:lpstr>סוגי S-Box באלגוריתמים שונים</vt:lpstr>
      <vt:lpstr>כיצד פועל S-Box באלגוריתם DES?</vt:lpstr>
      <vt:lpstr>דוגמה מעשית S-Box  ב-DES</vt:lpstr>
      <vt:lpstr>כיצד פועלS-Box  באלגוריתם AES?</vt:lpstr>
      <vt:lpstr>מתקפות על S-Box ואופן ההתמודדות איתן</vt:lpstr>
      <vt:lpstr>השוואה ביןDES  ל-AES  מבחינת S-Box</vt:lpstr>
      <vt:lpstr>תרגיל מעשי על תיבת החלפה S-Box ב-DES</vt:lpstr>
      <vt:lpstr>המשך - תרגיל מעשי על תיבת החלפה S-Box ב-DES</vt:lpstr>
      <vt:lpstr>מדועS-Box  חשוב בקריפטוגרפיה?</vt:lpstr>
      <vt:lpstr>שאלות</vt:lpstr>
      <vt:lpstr>תשובות</vt:lpstr>
      <vt:lpstr>יתרונות וחסרונות על כל תתי הנושאים של הצפנה סימטרית</vt:lpstr>
      <vt:lpstr>מצגת של PowerPoint‏</vt:lpstr>
      <vt:lpstr>מהי הצפנה א-סימטרית?</vt:lpstr>
      <vt:lpstr>דוגמה מעשית:</vt:lpstr>
      <vt:lpstr>דוגמאות לאלגוריתמים נפוצים בהצפנה א-סימטרית:</vt:lpstr>
      <vt:lpstr>שימושים נפוצים של הצפנה א-סימטרית</vt:lpstr>
      <vt:lpstr>יתרונות וחסרונות של הצפנה א-סימטרית</vt:lpstr>
      <vt:lpstr>אילו בעיות קיימות בהצפנה א-סימטרית?</vt:lpstr>
      <vt:lpstr>שאלות</vt:lpstr>
      <vt:lpstr>תשובות</vt:lpstr>
      <vt:lpstr>מצגת של PowerPoint‏</vt:lpstr>
      <vt:lpstr>מהו שיתוף מפתחות?</vt:lpstr>
      <vt:lpstr>שיתוף מפתחות בהצפנה סימטרית וא-סימטרית</vt:lpstr>
      <vt:lpstr>בעיות ואתגרים בשיתוף מפתחות</vt:lpstr>
      <vt:lpstr>הרחבות</vt:lpstr>
      <vt:lpstr>איך בוחרים שיטת שיתוף מפתחות?</vt:lpstr>
      <vt:lpstr>שאלות</vt:lpstr>
      <vt:lpstr>תשובות</vt:lpstr>
      <vt:lpstr>מצגת של PowerPoint‏</vt:lpstr>
      <vt:lpstr>מה זה PKI?</vt:lpstr>
      <vt:lpstr>רקע על הצפנה א-סימטרית</vt:lpstr>
      <vt:lpstr>איך PKI עובד?</vt:lpstr>
      <vt:lpstr>מרכיבי  PKIעיקריים</vt:lpstr>
      <vt:lpstr>מבנה של תעודה דיגיטלית X.509 Certificate</vt:lpstr>
      <vt:lpstr>סוגי תעודות דיגיטליות</vt:lpstr>
      <vt:lpstr>ניהול מחזור חיי תעודה דיגיטלית</vt:lpstr>
      <vt:lpstr>אתגרים ובעיות ב-PKI</vt:lpstr>
      <vt:lpstr>דוגמה מעשית - אתר אינטרנט עם HTTPS</vt:lpstr>
      <vt:lpstr>יתרונות וחסרונות של PKI</vt:lpstr>
      <vt:lpstr>שאלות</vt:lpstr>
      <vt:lpstr>תשובות</vt:lpstr>
      <vt:lpstr>מצגת של PowerPoint‏</vt:lpstr>
      <vt:lpstr>מה זה  RSAולמה הוא חשוב?</vt:lpstr>
      <vt:lpstr>מהי הצפנת RSA?</vt:lpstr>
      <vt:lpstr>בעיית פירוק לגורמים ראשוניים</vt:lpstr>
      <vt:lpstr>חשבון מודולרי</vt:lpstr>
      <vt:lpstr>פונקציית אוילר</vt:lpstr>
      <vt:lpstr>משפט אוילר</vt:lpstr>
      <vt:lpstr>אלגוריתם אוקלידס המורחב</vt:lpstr>
      <vt:lpstr>תהליך הצפנה ופענוח</vt:lpstr>
      <vt:lpstr>המשך - תהליך הצפנה ופענוח</vt:lpstr>
      <vt:lpstr>המשך - תהליך הצפנה ופענוח</vt:lpstr>
      <vt:lpstr>דוגמא</vt:lpstr>
      <vt:lpstr>הסבר על שורת ההשוואה</vt:lpstr>
      <vt:lpstr>המשך - דוגמא</vt:lpstr>
      <vt:lpstr>שאלות</vt:lpstr>
      <vt:lpstr>תשובות</vt:lpstr>
      <vt:lpstr>מצגת של PowerPoint‏</vt:lpstr>
      <vt:lpstr>מהו צופן אל-גמאל?</vt:lpstr>
      <vt:lpstr>שימושים עיקריים:</vt:lpstr>
      <vt:lpstr>יתרונות וחסרונות</vt:lpstr>
      <vt:lpstr>תהליך ההצפנה</vt:lpstr>
      <vt:lpstr>דוגמא הלכה למעשה</vt:lpstr>
      <vt:lpstr>המשך - דוגמא הלכה למעשה</vt:lpstr>
      <vt:lpstr>המשך - דוגמא הלכה למעשה – דרך שניה</vt:lpstr>
      <vt:lpstr>המשך - דוגמא הלכה למעשה</vt:lpstr>
      <vt:lpstr>המשך - דוגמא הלכה למעשה</vt:lpstr>
      <vt:lpstr>המשך - דוגמא הלכה למעשה</vt:lpstr>
      <vt:lpstr>שאלות</vt:lpstr>
      <vt:lpstr>תשובות</vt:lpstr>
      <vt:lpstr>מצגת של PowerPoint‏</vt:lpstr>
      <vt:lpstr>מהי הצפנת NTRU?</vt:lpstr>
      <vt:lpstr>שלבי ההצפנה ב-NTRU  </vt:lpstr>
      <vt:lpstr>שלבי ההצפנה ב-NTRU:</vt:lpstr>
      <vt:lpstr>דוגמא</vt:lpstr>
      <vt:lpstr>המשך - דוגמא</vt:lpstr>
      <vt:lpstr>המשך - דוגמא</vt:lpstr>
      <vt:lpstr>המשך - דוגמא</vt:lpstr>
      <vt:lpstr>המשך  - דוגמא</vt:lpstr>
      <vt:lpstr>המשך - דוגמא</vt:lpstr>
      <vt:lpstr>שאלות</vt:lpstr>
      <vt:lpstr>תשובות</vt:lpstr>
      <vt:lpstr>מצגת של PowerPoint‏</vt:lpstr>
      <vt:lpstr>מבוא</vt:lpstr>
      <vt:lpstr>עקרונות מרכזיים:</vt:lpstr>
      <vt:lpstr>התהליך שעברנו</vt:lpstr>
      <vt:lpstr>דוגמא</vt:lpstr>
      <vt:lpstr>המשך - דוגמא</vt:lpstr>
      <vt:lpstr>המשך - דוגמא</vt:lpstr>
      <vt:lpstr>יוצא לנו למעשה</vt:lpstr>
      <vt:lpstr>יתרונות וחסרונות</vt:lpstr>
      <vt:lpstr>שאלות</vt:lpstr>
      <vt:lpstr>תשובות</vt:lpstr>
      <vt:lpstr>מצגת של PowerPoint‏</vt:lpstr>
      <vt:lpstr>עקרונות מרכזיים:</vt:lpstr>
      <vt:lpstr>יצירת מפתחות:</vt:lpstr>
      <vt:lpstr>הצפנה:</vt:lpstr>
      <vt:lpstr>פענוח:</vt:lpstr>
      <vt:lpstr>דוגמא </vt:lpstr>
      <vt:lpstr>דוגמא - המשך</vt:lpstr>
      <vt:lpstr>דוגמא - המשך</vt:lpstr>
      <vt:lpstr>דוגמא  - המשך</vt:lpstr>
      <vt:lpstr>יתרונות וחסרונות</vt:lpstr>
      <vt:lpstr>מצגת של PowerPoint‏</vt:lpstr>
      <vt:lpstr>מבוא</vt:lpstr>
      <vt:lpstr>עקרונות מרכזיים:</vt:lpstr>
      <vt:lpstr>יצירת מפתחות:</vt:lpstr>
      <vt:lpstr>הצפנה:</vt:lpstr>
      <vt:lpstr>פענוח:</vt:lpstr>
      <vt:lpstr>דוגמא</vt:lpstr>
      <vt:lpstr>דוגמא – המשך </vt:lpstr>
      <vt:lpstr>דוגמא  - המשך</vt:lpstr>
      <vt:lpstr>יתרונות וחסרונות</vt:lpstr>
      <vt:lpstr>שאלות</vt:lpstr>
      <vt:lpstr>תשובות</vt:lpstr>
      <vt:lpstr>מצגת של PowerPoint‏</vt:lpstr>
      <vt:lpstr>מבוא</vt:lpstr>
      <vt:lpstr>כיצד זה עובד?</vt:lpstr>
      <vt:lpstr>דוגמא</vt:lpstr>
      <vt:lpstr>דוגמא - המשך</vt:lpstr>
      <vt:lpstr>דוגמא  - המשך </vt:lpstr>
      <vt:lpstr>דוגמא - המשך</vt:lpstr>
      <vt:lpstr>דוגמא - המשך</vt:lpstr>
      <vt:lpstr>סוגים ושימושים:</vt:lpstr>
      <vt:lpstr>יתרונות וחסרונות</vt:lpstr>
      <vt:lpstr>שאלות</vt:lpstr>
      <vt:lpstr>תשובות</vt:lpstr>
      <vt:lpstr>מצגת של PowerPoint‏</vt:lpstr>
      <vt:lpstr>מצגת של PowerPoint‏</vt:lpstr>
      <vt:lpstr>מצגת של PowerPoint‏</vt:lpstr>
      <vt:lpstr>מבוא</vt:lpstr>
      <vt:lpstr>הרקע לקריפטוגרפיה אסימטרית ולצורך בדיפי-הלמן</vt:lpstr>
      <vt:lpstr>איך הוא בעצם עובד</vt:lpstr>
      <vt:lpstr>המשך - איך הוא בעצם עובד</vt:lpstr>
      <vt:lpstr>דוגמא</vt:lpstr>
      <vt:lpstr>ועוד יותר טוב</vt:lpstr>
      <vt:lpstr>יתרונות וחסרונות</vt:lpstr>
      <vt:lpstr>שיפור אבטחת דיפי-הלמן</vt:lpstr>
      <vt:lpstr>שאלות</vt:lpstr>
      <vt:lpstr>תשובות</vt:lpstr>
      <vt:lpstr>מצגת של PowerPoint‏</vt:lpstr>
      <vt:lpstr>הגדרה</vt:lpstr>
      <vt:lpstr>למה זה חשוב?</vt:lpstr>
      <vt:lpstr>עקרון קרקהופס מול "ערפול"</vt:lpstr>
      <vt:lpstr>דוגמאות ליישום עקרון קרקהופס</vt:lpstr>
      <vt:lpstr>דוגמאות מעשיות לעקרון קרקהופס</vt:lpstr>
      <vt:lpstr>למה קריפטוגרפים מאמינים בעקרון קרקהופס?</vt:lpstr>
      <vt:lpstr>מתי כן משתמשים בערפול בהצפנה?</vt:lpstr>
      <vt:lpstr>יתרונות וחסרונות של עקרון קרקהופס</vt:lpstr>
      <vt:lpstr>שאלות</vt:lpstr>
      <vt:lpstr>תשובות</vt:lpstr>
      <vt:lpstr>מצגת של PowerPoint‏</vt:lpstr>
      <vt:lpstr>מהי פונקציית גיבוב Hash Function</vt:lpstr>
      <vt:lpstr>מאפיינים של פונקציית גיבוב קריפטוגרפית</vt:lpstr>
      <vt:lpstr>דוגמאות לפונקציות גיבוב נפוצות</vt:lpstr>
      <vt:lpstr>דוגמאות מעשיות לפונקציות גיבוב</vt:lpstr>
      <vt:lpstr>המשך - דוגמאות מעשיות לפונקציות גיבוב</vt:lpstr>
      <vt:lpstr>פונקציות גיבוב קריפטוגרפיות מול פונקציות גיבוב כלליות</vt:lpstr>
      <vt:lpstr>תקיפות על פונקציות גיבוב</vt:lpstr>
      <vt:lpstr>פונקציות גיבוב וסיסמאות – מדוע אסור להשתמש בגיבוב בלבד?</vt:lpstr>
      <vt:lpstr>שאלות</vt:lpstr>
      <vt:lpstr>תשובות</vt:lpstr>
      <vt:lpstr>מצגת של PowerPoint‏</vt:lpstr>
      <vt:lpstr>מהו מחולל פסבדו-רנדומלי קריפטוגרפי CSPRNG</vt:lpstr>
      <vt:lpstr>איך עובד CSPRNG?</vt:lpstr>
      <vt:lpstr>תכונות חשובות של CSPRNG</vt:lpstr>
      <vt:lpstr>איך בודקים אם  CSPRNGבטוח?</vt:lpstr>
      <vt:lpstr>חסרונות של מחוללים פסבדו-רנדומליים קריפטוגרפיים</vt:lpstr>
      <vt:lpstr>התקפות אפשריות על CSPRNG</vt:lpstr>
      <vt:lpstr>מה קורה אם מחולל קריפטוגרפי נשבר?</vt:lpstr>
      <vt:lpstr>דוגמאות לקוד של מחולל פסבדו-רנדומלי קריפטוגרפי</vt:lpstr>
      <vt:lpstr>שאלות</vt:lpstr>
      <vt:lpstr>תשובות</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הרצאה מס' 9</dc:title>
  <dc:creator>user</dc:creator>
  <cp:lastModifiedBy>itest</cp:lastModifiedBy>
  <cp:revision>120</cp:revision>
  <dcterms:created xsi:type="dcterms:W3CDTF">2025-01-27T10:27:14Z</dcterms:created>
  <dcterms:modified xsi:type="dcterms:W3CDTF">2026-02-01T13:33:01Z</dcterms:modified>
</cp:coreProperties>
</file>