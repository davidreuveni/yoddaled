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2" r:id="rId17"/>
    <p:sldId id="273" r:id="rId18"/>
    <p:sldId id="274" r:id="rId19"/>
    <p:sldId id="275" r:id="rId20"/>
    <p:sldId id="271"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5" r:id="rId40"/>
    <p:sldId id="296" r:id="rId41"/>
    <p:sldId id="297" r:id="rId42"/>
    <p:sldId id="298" r:id="rId43"/>
    <p:sldId id="294" r:id="rId44"/>
    <p:sldId id="299" r:id="rId45"/>
    <p:sldId id="300" r:id="rId46"/>
    <p:sldId id="301" r:id="rId47"/>
    <p:sldId id="302" r:id="rId48"/>
    <p:sldId id="303" r:id="rId49"/>
    <p:sldId id="304" r:id="rId50"/>
    <p:sldId id="305" r:id="rId51"/>
    <p:sldId id="306" r:id="rId52"/>
    <p:sldId id="311" r:id="rId53"/>
    <p:sldId id="318" r:id="rId54"/>
    <p:sldId id="310" r:id="rId55"/>
    <p:sldId id="312" r:id="rId56"/>
    <p:sldId id="313" r:id="rId57"/>
    <p:sldId id="314" r:id="rId58"/>
    <p:sldId id="315" r:id="rId59"/>
    <p:sldId id="316" r:id="rId60"/>
    <p:sldId id="317" r:id="rId61"/>
    <p:sldId id="319" r:id="rId62"/>
    <p:sldId id="320" r:id="rId63"/>
    <p:sldId id="321" r:id="rId64"/>
    <p:sldId id="322" r:id="rId65"/>
    <p:sldId id="324" r:id="rId66"/>
    <p:sldId id="323" r:id="rId67"/>
    <p:sldId id="325" r:id="rId68"/>
    <p:sldId id="326" r:id="rId69"/>
    <p:sldId id="327" r:id="rId70"/>
    <p:sldId id="328" r:id="rId71"/>
    <p:sldId id="329" r:id="rId72"/>
    <p:sldId id="330" r:id="rId73"/>
    <p:sldId id="331" r:id="rId74"/>
    <p:sldId id="332" r:id="rId75"/>
    <p:sldId id="333" r:id="rId76"/>
    <p:sldId id="334" r:id="rId77"/>
    <p:sldId id="335" r:id="rId78"/>
    <p:sldId id="336" r:id="rId79"/>
    <p:sldId id="337" r:id="rId80"/>
    <p:sldId id="338" r:id="rId81"/>
    <p:sldId id="339" r:id="rId82"/>
    <p:sldId id="340" r:id="rId83"/>
    <p:sldId id="341" r:id="rId84"/>
    <p:sldId id="342" r:id="rId85"/>
    <p:sldId id="343" r:id="rId86"/>
    <p:sldId id="344" r:id="rId87"/>
    <p:sldId id="345" r:id="rId88"/>
    <p:sldId id="346" r:id="rId89"/>
    <p:sldId id="347" r:id="rId90"/>
    <p:sldId id="348" r:id="rId91"/>
    <p:sldId id="349" r:id="rId92"/>
    <p:sldId id="350" r:id="rId93"/>
    <p:sldId id="351" r:id="rId94"/>
    <p:sldId id="352" r:id="rId95"/>
    <p:sldId id="353" r:id="rId96"/>
    <p:sldId id="354" r:id="rId97"/>
    <p:sldId id="355" r:id="rId98"/>
    <p:sldId id="356" r:id="rId99"/>
    <p:sldId id="357" r:id="rId100"/>
    <p:sldId id="358" r:id="rId101"/>
    <p:sldId id="359" r:id="rId102"/>
    <p:sldId id="360" r:id="rId103"/>
    <p:sldId id="361" r:id="rId104"/>
    <p:sldId id="362" r:id="rId105"/>
    <p:sldId id="363" r:id="rId106"/>
    <p:sldId id="364" r:id="rId107"/>
    <p:sldId id="365" r:id="rId108"/>
    <p:sldId id="366" r:id="rId109"/>
    <p:sldId id="367" r:id="rId110"/>
    <p:sldId id="368" r:id="rId111"/>
    <p:sldId id="369" r:id="rId112"/>
    <p:sldId id="370" r:id="rId113"/>
    <p:sldId id="371" r:id="rId114"/>
    <p:sldId id="372" r:id="rId115"/>
    <p:sldId id="373" r:id="rId116"/>
    <p:sldId id="374" r:id="rId117"/>
    <p:sldId id="375" r:id="rId118"/>
    <p:sldId id="382" r:id="rId119"/>
    <p:sldId id="383" r:id="rId120"/>
    <p:sldId id="384" r:id="rId121"/>
    <p:sldId id="376" r:id="rId122"/>
    <p:sldId id="377" r:id="rId123"/>
    <p:sldId id="378" r:id="rId124"/>
    <p:sldId id="385" r:id="rId125"/>
    <p:sldId id="379" r:id="rId126"/>
    <p:sldId id="380" r:id="rId127"/>
    <p:sldId id="381" r:id="rId128"/>
    <p:sldId id="386" r:id="rId129"/>
    <p:sldId id="387" r:id="rId130"/>
    <p:sldId id="388" r:id="rId131"/>
    <p:sldId id="389" r:id="rId132"/>
    <p:sldId id="390" r:id="rId133"/>
    <p:sldId id="391" r:id="rId134"/>
    <p:sldId id="392" r:id="rId135"/>
    <p:sldId id="393" r:id="rId136"/>
    <p:sldId id="394" r:id="rId137"/>
    <p:sldId id="395" r:id="rId138"/>
    <p:sldId id="398" r:id="rId139"/>
    <p:sldId id="399" r:id="rId140"/>
    <p:sldId id="400" r:id="rId141"/>
    <p:sldId id="401" r:id="rId142"/>
    <p:sldId id="402" r:id="rId143"/>
    <p:sldId id="404" r:id="rId144"/>
    <p:sldId id="396" r:id="rId145"/>
    <p:sldId id="397" r:id="rId146"/>
    <p:sldId id="405" r:id="rId147"/>
    <p:sldId id="406" r:id="rId148"/>
    <p:sldId id="407" r:id="rId149"/>
    <p:sldId id="408" r:id="rId150"/>
    <p:sldId id="411" r:id="rId151"/>
    <p:sldId id="412" r:id="rId152"/>
    <p:sldId id="413" r:id="rId153"/>
    <p:sldId id="414" r:id="rId154"/>
    <p:sldId id="415" r:id="rId155"/>
    <p:sldId id="417" r:id="rId156"/>
    <p:sldId id="416" r:id="rId157"/>
    <p:sldId id="418" r:id="rId158"/>
    <p:sldId id="419" r:id="rId159"/>
    <p:sldId id="420" r:id="rId160"/>
    <p:sldId id="421" r:id="rId161"/>
    <p:sldId id="409" r:id="rId162"/>
    <p:sldId id="410" r:id="rId16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5005" autoAdjust="0"/>
    <p:restoredTop sz="94660"/>
  </p:normalViewPr>
  <p:slideViewPr>
    <p:cSldViewPr snapToGrid="0">
      <p:cViewPr varScale="1">
        <p:scale>
          <a:sx n="109" d="100"/>
          <a:sy n="109" d="100"/>
        </p:scale>
        <p:origin x="672"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54" Type="http://schemas.openxmlformats.org/officeDocument/2006/relationships/slide" Target="slides/slide153.xml"/><Relationship Id="rId159" Type="http://schemas.openxmlformats.org/officeDocument/2006/relationships/slide" Target="slides/slide158.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60" Type="http://schemas.openxmlformats.org/officeDocument/2006/relationships/slide" Target="slides/slide159.xml"/><Relationship Id="rId165" Type="http://schemas.openxmlformats.org/officeDocument/2006/relationships/viewProps" Target="view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slide" Target="slides/slide142.xml"/><Relationship Id="rId148" Type="http://schemas.openxmlformats.org/officeDocument/2006/relationships/slide" Target="slides/slide147.xml"/><Relationship Id="rId151" Type="http://schemas.openxmlformats.org/officeDocument/2006/relationships/slide" Target="slides/slide150.xml"/><Relationship Id="rId156" Type="http://schemas.openxmlformats.org/officeDocument/2006/relationships/slide" Target="slides/slide155.xml"/><Relationship Id="rId16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שקופית כותרת">
    <p:bg>
      <p:bgRef idx="1002">
        <a:schemeClr val="bg2"/>
      </p:bgRef>
    </p:bg>
    <p:spTree>
      <p:nvGrpSpPr>
        <p:cNvPr id="1" name=""/>
        <p:cNvGrpSpPr/>
        <p:nvPr/>
      </p:nvGrpSpPr>
      <p:grpSpPr>
        <a:xfrm>
          <a:off x="0" y="0"/>
          <a:ext cx="0" cy="0"/>
          <a:chOff x="0" y="0"/>
          <a:chExt cx="0" cy="0"/>
        </a:xfrm>
      </p:grpSpPr>
      <p:sp>
        <p:nvSpPr>
          <p:cNvPr id="16" name="Rectangle 15"/>
          <p:cNvSpPr/>
          <p:nvPr/>
        </p:nvSpPr>
        <p:spPr>
          <a:xfrm>
            <a:off x="0" y="0"/>
            <a:ext cx="12192000" cy="68580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lumMod val="85000"/>
                    <a:lumOff val="15000"/>
                  </a:schemeClr>
                </a:solidFill>
                <a:effectLst/>
                <a:latin typeface="+mj-lt"/>
                <a:ea typeface="+mn-ea"/>
                <a:cs typeface="+mn-cs"/>
              </a:defRPr>
            </a:lvl1pPr>
          </a:lstStyle>
          <a:p>
            <a:r>
              <a:rPr lang="he-IL"/>
              <a:t>לחץ כדי לערוך סגנון כותרת של תבנית בסיס</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chemeClr val="tx1"/>
                </a:solidFill>
                <a:latin typeface="+mn-lt"/>
              </a:defRPr>
            </a:lvl1pPr>
          </a:lstStyle>
          <a:p>
            <a:fld id="{C9925559-03F5-4F7E-90DE-CB8C974664F8}" type="datetimeFigureOut">
              <a:rPr lang="he-IL" smtClean="0"/>
              <a:t>ג'/כסלו/תשפ"ו</a:t>
            </a:fld>
            <a:endParaRPr lang="he-IL"/>
          </a:p>
        </p:txBody>
      </p:sp>
      <p:sp>
        <p:nvSpPr>
          <p:cNvPr id="21" name="Footer Placeholder 20"/>
          <p:cNvSpPr>
            <a:spLocks noGrp="1"/>
          </p:cNvSpPr>
          <p:nvPr>
            <p:ph type="ftr" sz="quarter" idx="11"/>
          </p:nvPr>
        </p:nvSpPr>
        <p:spPr>
          <a:xfrm>
            <a:off x="1453896" y="5211060"/>
            <a:ext cx="5905500" cy="228600"/>
          </a:xfrm>
        </p:spPr>
        <p:txBody>
          <a:bodyPr/>
          <a:lstStyle>
            <a:lvl1pPr algn="l">
              <a:defRPr>
                <a:solidFill>
                  <a:schemeClr val="tx1">
                    <a:lumMod val="75000"/>
                    <a:lumOff val="25000"/>
                  </a:schemeClr>
                </a:solidFill>
              </a:defRPr>
            </a:lvl1pPr>
          </a:lstStyle>
          <a:p>
            <a:endParaRPr lang="he-IL"/>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1">
                    <a:lumMod val="75000"/>
                    <a:lumOff val="25000"/>
                  </a:schemeClr>
                </a:solidFill>
              </a:defRPr>
            </a:lvl1pPr>
          </a:lstStyle>
          <a:p>
            <a:fld id="{8971259D-3F76-4853-A463-CBF71F6F4BB6}" type="slidenum">
              <a:rPr lang="he-IL" smtClean="0"/>
              <a:t>‹#›</a:t>
            </a:fld>
            <a:endParaRPr lang="he-IL"/>
          </a:p>
        </p:txBody>
      </p:sp>
    </p:spTree>
    <p:extLst>
      <p:ext uri="{BB962C8B-B14F-4D97-AF65-F5344CB8AC3E}">
        <p14:creationId xmlns:p14="http://schemas.microsoft.com/office/powerpoint/2010/main" val="3176189101"/>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Content Placeholder 2"/>
          <p:cNvSpPr>
            <a:spLocks noGrp="1"/>
          </p:cNvSpPr>
          <p:nvPr>
            <p:ph idx="1"/>
          </p:nvPr>
        </p:nvSpPr>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7" name="Date Placeholder 6"/>
          <p:cNvSpPr>
            <a:spLocks noGrp="1"/>
          </p:cNvSpPr>
          <p:nvPr>
            <p:ph type="dt" sz="half" idx="10"/>
          </p:nvPr>
        </p:nvSpPr>
        <p:spPr/>
        <p:txBody>
          <a:bodyPr/>
          <a:lstStyle/>
          <a:p>
            <a:fld id="{C9925559-03F5-4F7E-90DE-CB8C974664F8}" type="datetimeFigureOut">
              <a:rPr lang="he-IL" smtClean="0"/>
              <a:t>ג'/כסלו/תשפ"ו</a:t>
            </a:fld>
            <a:endParaRPr lang="he-IL"/>
          </a:p>
        </p:txBody>
      </p:sp>
      <p:sp>
        <p:nvSpPr>
          <p:cNvPr id="8" name="Footer Placeholder 7"/>
          <p:cNvSpPr>
            <a:spLocks noGrp="1"/>
          </p:cNvSpPr>
          <p:nvPr>
            <p:ph type="ftr" sz="quarter" idx="11"/>
          </p:nvPr>
        </p:nvSpPr>
        <p:spPr/>
        <p:txBody>
          <a:bodyPr/>
          <a:lstStyle/>
          <a:p>
            <a:endParaRPr lang="he-IL"/>
          </a:p>
        </p:txBody>
      </p:sp>
      <p:sp>
        <p:nvSpPr>
          <p:cNvPr id="9" name="Slide Number Placeholder 8"/>
          <p:cNvSpPr>
            <a:spLocks noGrp="1"/>
          </p:cNvSpPr>
          <p:nvPr>
            <p:ph type="sldNum" sz="quarter" idx="12"/>
          </p:nvPr>
        </p:nvSpPr>
        <p:spPr/>
        <p:txBody>
          <a:bodyPr/>
          <a:lstStyle/>
          <a:p>
            <a:fld id="{8971259D-3F76-4853-A463-CBF71F6F4BB6}" type="slidenum">
              <a:rPr lang="he-IL" smtClean="0"/>
              <a:t>‹#›</a:t>
            </a:fld>
            <a:endParaRPr lang="he-IL"/>
          </a:p>
        </p:txBody>
      </p:sp>
    </p:spTree>
    <p:extLst>
      <p:ext uri="{BB962C8B-B14F-4D97-AF65-F5344CB8AC3E}">
        <p14:creationId xmlns:p14="http://schemas.microsoft.com/office/powerpoint/2010/main" val="27980877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כותרת מקטע עליונה">
    <p:bg>
      <p:bgRef idx="1002">
        <a:schemeClr val="bg2"/>
      </p:bgRef>
    </p:bg>
    <p:spTree>
      <p:nvGrpSpPr>
        <p:cNvPr id="1" name=""/>
        <p:cNvGrpSpPr/>
        <p:nvPr/>
      </p:nvGrpSpPr>
      <p:grpSpPr>
        <a:xfrm>
          <a:off x="0" y="0"/>
          <a:ext cx="0" cy="0"/>
          <a:chOff x="0" y="0"/>
          <a:chExt cx="0" cy="0"/>
        </a:xfrm>
      </p:grpSpPr>
      <p:sp>
        <p:nvSpPr>
          <p:cNvPr id="22" name="Rectangle 21"/>
          <p:cNvSpPr/>
          <p:nvPr/>
        </p:nvSpPr>
        <p:spPr>
          <a:xfrm>
            <a:off x="0" y="0"/>
            <a:ext cx="12192000" cy="6858000"/>
          </a:xfrm>
          <a:prstGeom prst="rect">
            <a:avLst/>
          </a:prstGeom>
          <a:blipFill dpi="0" rotWithShape="1">
            <a:blip r:embed="rId2">
              <a:alphaModFix amt="45000"/>
              <a:duotone>
                <a:schemeClr val="accent2">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0"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tx1">
                    <a:lumMod val="85000"/>
                    <a:lumOff val="15000"/>
                  </a:schemeClr>
                </a:solidFill>
                <a:effectLst/>
                <a:latin typeface="+mj-lt"/>
                <a:ea typeface="+mn-ea"/>
                <a:cs typeface="+mn-cs"/>
              </a:defRPr>
            </a:lvl1p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defRPr sz="1600">
                <a:solidFill>
                  <a:schemeClr val="tx1"/>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ערוך סגנונות טקסט של תבנית בסיס</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chemeClr val="tx1"/>
                </a:solidFill>
                <a:latin typeface="+mn-lt"/>
                <a:ea typeface="+mn-ea"/>
                <a:cs typeface="+mn-cs"/>
              </a:defRPr>
            </a:lvl1pPr>
          </a:lstStyle>
          <a:p>
            <a:fld id="{C9925559-03F5-4F7E-90DE-CB8C974664F8}" type="datetimeFigureOut">
              <a:rPr lang="he-IL" smtClean="0"/>
              <a:t>ג'/כסלו/תשפ"ו</a:t>
            </a:fld>
            <a:endParaRPr lang="he-IL"/>
          </a:p>
        </p:txBody>
      </p:sp>
      <p:sp>
        <p:nvSpPr>
          <p:cNvPr id="5" name="Footer Placeholder 4"/>
          <p:cNvSpPr>
            <a:spLocks noGrp="1"/>
          </p:cNvSpPr>
          <p:nvPr>
            <p:ph type="ftr" sz="quarter" idx="11"/>
          </p:nvPr>
        </p:nvSpPr>
        <p:spPr>
          <a:xfrm>
            <a:off x="1453553" y="5211060"/>
            <a:ext cx="5907024" cy="228600"/>
          </a:xfrm>
        </p:spPr>
        <p:txBody>
          <a:bodyPr/>
          <a:lstStyle>
            <a:lvl1pPr algn="l">
              <a:defRPr/>
            </a:lvl1pPr>
          </a:lstStyle>
          <a:p>
            <a:endParaRPr lang="he-IL"/>
          </a:p>
        </p:txBody>
      </p:sp>
      <p:sp>
        <p:nvSpPr>
          <p:cNvPr id="6" name="Slide Number Placeholder 5"/>
          <p:cNvSpPr>
            <a:spLocks noGrp="1"/>
          </p:cNvSpPr>
          <p:nvPr>
            <p:ph type="sldNum" sz="quarter" idx="12"/>
          </p:nvPr>
        </p:nvSpPr>
        <p:spPr>
          <a:xfrm>
            <a:off x="8604504" y="5211060"/>
            <a:ext cx="2112264" cy="228600"/>
          </a:xfrm>
        </p:spPr>
        <p:txBody>
          <a:bodyPr/>
          <a:lstStyle/>
          <a:p>
            <a:fld id="{8971259D-3F76-4853-A463-CBF71F6F4BB6}" type="slidenum">
              <a:rPr lang="he-IL" smtClean="0"/>
              <a:t>‹#›</a:t>
            </a:fld>
            <a:endParaRPr lang="he-IL"/>
          </a:p>
        </p:txBody>
      </p:sp>
    </p:spTree>
    <p:extLst>
      <p:ext uri="{BB962C8B-B14F-4D97-AF65-F5344CB8AC3E}">
        <p14:creationId xmlns:p14="http://schemas.microsoft.com/office/powerpoint/2010/main" val="2877891641"/>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he-IL"/>
              <a:t>לחץ כדי לערוך סגנון כותרת של תבנית בסיס</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5" name="Date Placeholder 4"/>
          <p:cNvSpPr>
            <a:spLocks noGrp="1"/>
          </p:cNvSpPr>
          <p:nvPr>
            <p:ph type="dt" sz="half" idx="10"/>
          </p:nvPr>
        </p:nvSpPr>
        <p:spPr/>
        <p:txBody>
          <a:bodyPr/>
          <a:lstStyle/>
          <a:p>
            <a:fld id="{C9925559-03F5-4F7E-90DE-CB8C974664F8}" type="datetimeFigureOut">
              <a:rPr lang="he-IL" smtClean="0"/>
              <a:t>ג'/כסלו/תשפ"ו</a:t>
            </a:fld>
            <a:endParaRPr lang="he-IL"/>
          </a:p>
        </p:txBody>
      </p:sp>
      <p:sp>
        <p:nvSpPr>
          <p:cNvPr id="6" name="Footer Placeholder 5"/>
          <p:cNvSpPr>
            <a:spLocks noGrp="1"/>
          </p:cNvSpPr>
          <p:nvPr>
            <p:ph type="ftr" sz="quarter" idx="11"/>
          </p:nvPr>
        </p:nvSpPr>
        <p:spPr/>
        <p:txBody>
          <a:bodyPr/>
          <a:lstStyle/>
          <a:p>
            <a:endParaRPr lang="he-IL"/>
          </a:p>
        </p:txBody>
      </p:sp>
      <p:sp>
        <p:nvSpPr>
          <p:cNvPr id="7" name="Slide Number Placeholder 6"/>
          <p:cNvSpPr>
            <a:spLocks noGrp="1"/>
          </p:cNvSpPr>
          <p:nvPr>
            <p:ph type="sldNum" sz="quarter" idx="12"/>
          </p:nvPr>
        </p:nvSpPr>
        <p:spPr/>
        <p:txBody>
          <a:bodyPr/>
          <a:lstStyle/>
          <a:p>
            <a:fld id="{8971259D-3F76-4853-A463-CBF71F6F4BB6}" type="slidenum">
              <a:rPr lang="he-IL" smtClean="0"/>
              <a:t>‹#›</a:t>
            </a:fld>
            <a:endParaRPr lang="he-IL"/>
          </a:p>
        </p:txBody>
      </p:sp>
    </p:spTree>
    <p:extLst>
      <p:ext uri="{BB962C8B-B14F-4D97-AF65-F5344CB8AC3E}">
        <p14:creationId xmlns:p14="http://schemas.microsoft.com/office/powerpoint/2010/main" val="24706724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900" b="0">
                <a:solidFill>
                  <a:schemeClr val="tx2"/>
                </a:solidFill>
                <a:latin typeface="+mn-lt"/>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900" b="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7" name="Date Placeholder 6"/>
          <p:cNvSpPr>
            <a:spLocks noGrp="1"/>
          </p:cNvSpPr>
          <p:nvPr>
            <p:ph type="dt" sz="half" idx="10"/>
          </p:nvPr>
        </p:nvSpPr>
        <p:spPr/>
        <p:txBody>
          <a:bodyPr/>
          <a:lstStyle/>
          <a:p>
            <a:fld id="{C9925559-03F5-4F7E-90DE-CB8C974664F8}" type="datetimeFigureOut">
              <a:rPr lang="he-IL" smtClean="0"/>
              <a:t>ג'/כסלו/תשפ"ו</a:t>
            </a:fld>
            <a:endParaRPr lang="he-IL"/>
          </a:p>
        </p:txBody>
      </p:sp>
      <p:sp>
        <p:nvSpPr>
          <p:cNvPr id="8" name="Footer Placeholder 7"/>
          <p:cNvSpPr>
            <a:spLocks noGrp="1"/>
          </p:cNvSpPr>
          <p:nvPr>
            <p:ph type="ftr" sz="quarter" idx="11"/>
          </p:nvPr>
        </p:nvSpPr>
        <p:spPr/>
        <p:txBody>
          <a:bodyPr/>
          <a:lstStyle/>
          <a:p>
            <a:endParaRPr lang="he-IL"/>
          </a:p>
        </p:txBody>
      </p:sp>
      <p:sp>
        <p:nvSpPr>
          <p:cNvPr id="9" name="Slide Number Placeholder 8"/>
          <p:cNvSpPr>
            <a:spLocks noGrp="1"/>
          </p:cNvSpPr>
          <p:nvPr>
            <p:ph type="sldNum" sz="quarter" idx="12"/>
          </p:nvPr>
        </p:nvSpPr>
        <p:spPr/>
        <p:txBody>
          <a:bodyPr/>
          <a:lstStyle/>
          <a:p>
            <a:fld id="{8971259D-3F76-4853-A463-CBF71F6F4BB6}" type="slidenum">
              <a:rPr lang="he-IL" smtClean="0"/>
              <a:t>‹#›</a:t>
            </a:fld>
            <a:endParaRPr lang="he-IL"/>
          </a:p>
        </p:txBody>
      </p:sp>
    </p:spTree>
    <p:extLst>
      <p:ext uri="{BB962C8B-B14F-4D97-AF65-F5344CB8AC3E}">
        <p14:creationId xmlns:p14="http://schemas.microsoft.com/office/powerpoint/2010/main" val="14665532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Date Placeholder 2"/>
          <p:cNvSpPr>
            <a:spLocks noGrp="1"/>
          </p:cNvSpPr>
          <p:nvPr>
            <p:ph type="dt" sz="half" idx="10"/>
          </p:nvPr>
        </p:nvSpPr>
        <p:spPr/>
        <p:txBody>
          <a:bodyPr/>
          <a:lstStyle/>
          <a:p>
            <a:fld id="{C9925559-03F5-4F7E-90DE-CB8C974664F8}" type="datetimeFigureOut">
              <a:rPr lang="he-IL" smtClean="0"/>
              <a:t>ג'/כסלו/תשפ"ו</a:t>
            </a:fld>
            <a:endParaRPr lang="he-IL"/>
          </a:p>
        </p:txBody>
      </p:sp>
      <p:sp>
        <p:nvSpPr>
          <p:cNvPr id="4" name="Footer Placeholder 3"/>
          <p:cNvSpPr>
            <a:spLocks noGrp="1"/>
          </p:cNvSpPr>
          <p:nvPr>
            <p:ph type="ftr" sz="quarter" idx="11"/>
          </p:nvPr>
        </p:nvSpPr>
        <p:spPr/>
        <p:txBody>
          <a:bodyPr/>
          <a:lstStyle/>
          <a:p>
            <a:endParaRPr lang="he-IL"/>
          </a:p>
        </p:txBody>
      </p:sp>
      <p:sp>
        <p:nvSpPr>
          <p:cNvPr id="5" name="Slide Number Placeholder 4"/>
          <p:cNvSpPr>
            <a:spLocks noGrp="1"/>
          </p:cNvSpPr>
          <p:nvPr>
            <p:ph type="sldNum" sz="quarter" idx="12"/>
          </p:nvPr>
        </p:nvSpPr>
        <p:spPr/>
        <p:txBody>
          <a:bodyPr/>
          <a:lstStyle/>
          <a:p>
            <a:fld id="{8971259D-3F76-4853-A463-CBF71F6F4BB6}" type="slidenum">
              <a:rPr lang="he-IL" smtClean="0"/>
              <a:t>‹#›</a:t>
            </a:fld>
            <a:endParaRPr lang="he-IL"/>
          </a:p>
        </p:txBody>
      </p:sp>
    </p:spTree>
    <p:extLst>
      <p:ext uri="{BB962C8B-B14F-4D97-AF65-F5344CB8AC3E}">
        <p14:creationId xmlns:p14="http://schemas.microsoft.com/office/powerpoint/2010/main" val="9272175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9925559-03F5-4F7E-90DE-CB8C974664F8}" type="datetimeFigureOut">
              <a:rPr lang="he-IL" smtClean="0"/>
              <a:t>ג'/כסלו/תשפ"ו</a:t>
            </a:fld>
            <a:endParaRPr lang="he-IL"/>
          </a:p>
        </p:txBody>
      </p:sp>
      <p:sp>
        <p:nvSpPr>
          <p:cNvPr id="3" name="Footer Placeholder 2"/>
          <p:cNvSpPr>
            <a:spLocks noGrp="1"/>
          </p:cNvSpPr>
          <p:nvPr>
            <p:ph type="ftr" sz="quarter" idx="11"/>
          </p:nvPr>
        </p:nvSpPr>
        <p:spPr/>
        <p:txBody>
          <a:bodyPr/>
          <a:lstStyle/>
          <a:p>
            <a:endParaRPr lang="he-IL"/>
          </a:p>
        </p:txBody>
      </p:sp>
      <p:sp>
        <p:nvSpPr>
          <p:cNvPr id="4" name="Slide Number Placeholder 3"/>
          <p:cNvSpPr>
            <a:spLocks noGrp="1"/>
          </p:cNvSpPr>
          <p:nvPr>
            <p:ph type="sldNum" sz="quarter" idx="12"/>
          </p:nvPr>
        </p:nvSpPr>
        <p:spPr/>
        <p:txBody>
          <a:bodyPr/>
          <a:lstStyle/>
          <a:p>
            <a:fld id="{8971259D-3F76-4853-A463-CBF71F6F4BB6}" type="slidenum">
              <a:rPr lang="he-IL" smtClean="0"/>
              <a:t>‹#›</a:t>
            </a:fld>
            <a:endParaRPr lang="he-IL"/>
          </a:p>
        </p:txBody>
      </p:sp>
    </p:spTree>
    <p:extLst>
      <p:ext uri="{BB962C8B-B14F-4D97-AF65-F5344CB8AC3E}">
        <p14:creationId xmlns:p14="http://schemas.microsoft.com/office/powerpoint/2010/main" val="41869551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תוכן עם כיתוב">
    <p:spTree>
      <p:nvGrpSpPr>
        <p:cNvPr id="1" name=""/>
        <p:cNvGrpSpPr/>
        <p:nvPr/>
      </p:nvGrpSpPr>
      <p:grpSpPr>
        <a:xfrm>
          <a:off x="0" y="0"/>
          <a:ext cx="0" cy="0"/>
          <a:chOff x="0" y="0"/>
          <a:chExt cx="0" cy="0"/>
        </a:xfrm>
      </p:grpSpPr>
      <p:sp>
        <p:nvSpPr>
          <p:cNvPr id="16" name="Rectangle 15"/>
          <p:cNvSpPr/>
          <p:nvPr/>
        </p:nvSpPr>
        <p:spPr>
          <a:xfrm>
            <a:off x="245529" y="237744"/>
            <a:ext cx="8531352"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rgbClr val="FFFFFF"/>
                </a:solidFill>
                <a:effectLst/>
                <a:latin typeface="+mj-lt"/>
                <a:ea typeface="+mn-ea"/>
                <a:cs typeface="+mn-cs"/>
              </a:defRPr>
            </a:lvl1pPr>
          </a:lstStyle>
          <a:p>
            <a:r>
              <a:rPr lang="he-IL"/>
              <a:t>לחץ כדי לערוך סגנון כותרת של תבנית בסיס</a:t>
            </a:r>
            <a:endParaRPr lang="en-US" dirty="0"/>
          </a:p>
        </p:txBody>
      </p:sp>
      <p:sp>
        <p:nvSpPr>
          <p:cNvPr id="3" name="Content Placeholder 2"/>
          <p:cNvSpPr>
            <a:spLocks noGrp="1"/>
          </p:cNvSpPr>
          <p:nvPr>
            <p:ph idx="1"/>
          </p:nvPr>
        </p:nvSpPr>
        <p:spPr>
          <a:xfrm>
            <a:off x="685800" y="609600"/>
            <a:ext cx="7772400" cy="53340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ערוך סגנונות טקסט של תבנית בסיס</a:t>
            </a:r>
          </a:p>
        </p:txBody>
      </p:sp>
      <p:sp>
        <p:nvSpPr>
          <p:cNvPr id="8" name="Date Placeholder 7"/>
          <p:cNvSpPr>
            <a:spLocks noGrp="1"/>
          </p:cNvSpPr>
          <p:nvPr>
            <p:ph type="dt" sz="half" idx="10"/>
          </p:nvPr>
        </p:nvSpPr>
        <p:spPr/>
        <p:txBody>
          <a:bodyPr/>
          <a:lstStyle/>
          <a:p>
            <a:fld id="{C9925559-03F5-4F7E-90DE-CB8C974664F8}" type="datetimeFigureOut">
              <a:rPr lang="he-IL" smtClean="0"/>
              <a:t>ג'/כסלו/תשפ"ו</a:t>
            </a:fld>
            <a:endParaRPr lang="he-IL"/>
          </a:p>
        </p:txBody>
      </p:sp>
      <p:sp>
        <p:nvSpPr>
          <p:cNvPr id="9" name="Footer Placeholder 8"/>
          <p:cNvSpPr>
            <a:spLocks noGrp="1"/>
          </p:cNvSpPr>
          <p:nvPr>
            <p:ph type="ftr" sz="quarter" idx="11"/>
          </p:nvPr>
        </p:nvSpPr>
        <p:spPr/>
        <p:txBody>
          <a:bodyPr/>
          <a:lstStyle>
            <a:lvl1pPr algn="r">
              <a:defRPr/>
            </a:lvl1pPr>
          </a:lstStyle>
          <a:p>
            <a:endParaRPr lang="he-IL"/>
          </a:p>
        </p:txBody>
      </p:sp>
      <p:sp>
        <p:nvSpPr>
          <p:cNvPr id="11" name="Slide Number Placeholder 10"/>
          <p:cNvSpPr>
            <a:spLocks noGrp="1"/>
          </p:cNvSpPr>
          <p:nvPr>
            <p:ph type="sldNum" sz="quarter" idx="12"/>
          </p:nvPr>
        </p:nvSpPr>
        <p:spPr>
          <a:xfrm>
            <a:off x="10393677" y="6223002"/>
            <a:ext cx="1463040" cy="274320"/>
          </a:xfrm>
        </p:spPr>
        <p:txBody>
          <a:bodyPr/>
          <a:lstStyle>
            <a:lvl1pPr>
              <a:defRPr>
                <a:solidFill>
                  <a:srgbClr val="FFFFFF"/>
                </a:solidFill>
              </a:defRPr>
            </a:lvl1pPr>
          </a:lstStyle>
          <a:p>
            <a:fld id="{8971259D-3F76-4853-A463-CBF71F6F4BB6}" type="slidenum">
              <a:rPr lang="he-IL" smtClean="0"/>
              <a:t>‹#›</a:t>
            </a:fld>
            <a:endParaRPr lang="he-IL"/>
          </a:p>
        </p:txBody>
      </p:sp>
      <p:sp>
        <p:nvSpPr>
          <p:cNvPr id="12" name="Rectangle 11"/>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1473450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תמונה עם כיתוב">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rgbClr val="FFFFFF"/>
                </a:solidFill>
                <a:latin typeface="+mj-lt"/>
              </a:defRPr>
            </a:lvl1pPr>
          </a:lstStyle>
          <a:p>
            <a:r>
              <a:rPr lang="he-IL"/>
              <a:t>לחץ כדי לערוך סגנון כותרת של תבנית בסיס</a:t>
            </a:r>
            <a:endParaRPr lang="en-US" dirty="0"/>
          </a:p>
        </p:txBody>
      </p:sp>
      <p:sp>
        <p:nvSpPr>
          <p:cNvPr id="3" name="Picture Placeholder 2"/>
          <p:cNvSpPr>
            <a:spLocks noGrp="1" noChangeAspect="1"/>
          </p:cNvSpPr>
          <p:nvPr>
            <p:ph type="pic" idx="1"/>
          </p:nvPr>
        </p:nvSpPr>
        <p:spPr>
          <a:xfrm>
            <a:off x="228599" y="237744"/>
            <a:ext cx="8531352"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he-IL"/>
              <a:t>לחץ על הסמל כדי להוסיף תמונה</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ערוך סגנונות טקסט של תבנית בסיס</a:t>
            </a:r>
          </a:p>
        </p:txBody>
      </p:sp>
      <p:sp>
        <p:nvSpPr>
          <p:cNvPr id="5" name="Date Placeholder 4"/>
          <p:cNvSpPr>
            <a:spLocks noGrp="1"/>
          </p:cNvSpPr>
          <p:nvPr>
            <p:ph type="dt" sz="half" idx="10"/>
          </p:nvPr>
        </p:nvSpPr>
        <p:spPr/>
        <p:txBody>
          <a:bodyPr/>
          <a:lstStyle>
            <a:lvl1pPr>
              <a:defRPr>
                <a:solidFill>
                  <a:srgbClr val="FFFFFF"/>
                </a:solidFill>
                <a:effectLst>
                  <a:outerShdw blurRad="12700" dist="6350" dir="2700000" algn="tl" rotWithShape="0">
                    <a:prstClr val="black">
                      <a:alpha val="40000"/>
                    </a:prstClr>
                  </a:outerShdw>
                </a:effectLst>
              </a:defRPr>
            </a:lvl1pPr>
          </a:lstStyle>
          <a:p>
            <a:fld id="{C9925559-03F5-4F7E-90DE-CB8C974664F8}" type="datetimeFigureOut">
              <a:rPr lang="he-IL" smtClean="0"/>
              <a:t>ג'/כסלו/תשפ"ו</a:t>
            </a:fld>
            <a:endParaRPr lang="he-IL"/>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2700" dist="6350" dir="2700000" algn="tl" rotWithShape="0">
                    <a:prstClr val="black">
                      <a:alpha val="40000"/>
                    </a:prstClr>
                  </a:outerShdw>
                </a:effectLst>
                <a:latin typeface="+mn-lt"/>
                <a:ea typeface="+mn-ea"/>
                <a:cs typeface="+mn-cs"/>
              </a:defRPr>
            </a:lvl1pPr>
          </a:lstStyle>
          <a:p>
            <a:endParaRPr lang="he-IL"/>
          </a:p>
        </p:txBody>
      </p:sp>
      <p:sp>
        <p:nvSpPr>
          <p:cNvPr id="7" name="Slide Number Placeholder 6"/>
          <p:cNvSpPr>
            <a:spLocks noGrp="1"/>
          </p:cNvSpPr>
          <p:nvPr>
            <p:ph type="sldNum" sz="quarter" idx="12"/>
          </p:nvPr>
        </p:nvSpPr>
        <p:spPr>
          <a:xfrm>
            <a:off x="10396728" y="6227064"/>
            <a:ext cx="1463040" cy="274320"/>
          </a:xfrm>
        </p:spPr>
        <p:txBody>
          <a:bodyPr/>
          <a:lstStyle>
            <a:lvl1pPr>
              <a:defRPr>
                <a:solidFill>
                  <a:srgbClr val="FFFFFF"/>
                </a:solidFill>
              </a:defRPr>
            </a:lvl1pPr>
          </a:lstStyle>
          <a:p>
            <a:fld id="{8971259D-3F76-4853-A463-CBF71F6F4BB6}" type="slidenum">
              <a:rPr lang="he-IL" smtClean="0"/>
              <a:t>‹#›</a:t>
            </a:fld>
            <a:endParaRPr lang="he-IL"/>
          </a:p>
        </p:txBody>
      </p:sp>
      <p:sp>
        <p:nvSpPr>
          <p:cNvPr id="10" name="Rectangle 9"/>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6954327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Vertical Text Placeholder 2"/>
          <p:cNvSpPr>
            <a:spLocks noGrp="1"/>
          </p:cNvSpPr>
          <p:nvPr>
            <p:ph type="body" orient="vert" idx="1"/>
          </p:nvPr>
        </p:nvSpPr>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C9925559-03F5-4F7E-90DE-CB8C974664F8}" type="datetimeFigureOut">
              <a:rPr lang="he-IL" smtClean="0"/>
              <a:t>ג'/כסלו/תשפ"ו</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8971259D-3F76-4853-A463-CBF71F6F4BB6}" type="slidenum">
              <a:rPr lang="he-IL" smtClean="0"/>
              <a:t>‹#›</a:t>
            </a:fld>
            <a:endParaRPr lang="he-IL"/>
          </a:p>
        </p:txBody>
      </p:sp>
    </p:spTree>
    <p:extLst>
      <p:ext uri="{BB962C8B-B14F-4D97-AF65-F5344CB8AC3E}">
        <p14:creationId xmlns:p14="http://schemas.microsoft.com/office/powerpoint/2010/main" val="292353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he-IL"/>
              <a:t>לחץ כדי לערוך סגנון כותרת של תבנית בסיס</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C9925559-03F5-4F7E-90DE-CB8C974664F8}" type="datetimeFigureOut">
              <a:rPr lang="he-IL" smtClean="0"/>
              <a:t>ג'/כסלו/תשפ"ו</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8971259D-3F76-4853-A463-CBF71F6F4BB6}" type="slidenum">
              <a:rPr lang="he-IL" smtClean="0"/>
              <a:t>‹#›</a:t>
            </a:fld>
            <a:endParaRPr lang="he-IL"/>
          </a:p>
        </p:txBody>
      </p:sp>
    </p:spTree>
    <p:extLst>
      <p:ext uri="{BB962C8B-B14F-4D97-AF65-F5344CB8AC3E}">
        <p14:creationId xmlns:p14="http://schemas.microsoft.com/office/powerpoint/2010/main" val="32785248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2"/>
          </p:nvPr>
        </p:nvSpPr>
        <p:spPr>
          <a:xfrm>
            <a:off x="274320" y="6307672"/>
            <a:ext cx="2743200" cy="274320"/>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C9925559-03F5-4F7E-90DE-CB8C974664F8}" type="datetimeFigureOut">
              <a:rPr lang="he-IL" smtClean="0"/>
              <a:t>ג'/כסלו/תשפ"ו</a:t>
            </a:fld>
            <a:endParaRPr lang="he-IL"/>
          </a:p>
        </p:txBody>
      </p:sp>
      <p:sp>
        <p:nvSpPr>
          <p:cNvPr id="5" name="Footer Placeholder 4"/>
          <p:cNvSpPr>
            <a:spLocks noGrp="1"/>
          </p:cNvSpPr>
          <p:nvPr>
            <p:ph type="ftr" sz="quarter" idx="3"/>
          </p:nvPr>
        </p:nvSpPr>
        <p:spPr>
          <a:xfrm>
            <a:off x="3489960" y="6307672"/>
            <a:ext cx="5212080" cy="274320"/>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endParaRPr lang="he-IL"/>
          </a:p>
        </p:txBody>
      </p:sp>
      <p:sp>
        <p:nvSpPr>
          <p:cNvPr id="6" name="Slide Number Placeholder 5"/>
          <p:cNvSpPr>
            <a:spLocks noGrp="1"/>
          </p:cNvSpPr>
          <p:nvPr>
            <p:ph type="sldNum" sz="quarter" idx="4"/>
          </p:nvPr>
        </p:nvSpPr>
        <p:spPr>
          <a:xfrm>
            <a:off x="10469880" y="6307672"/>
            <a:ext cx="1463040" cy="27432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8971259D-3F76-4853-A463-CBF71F6F4BB6}" type="slidenum">
              <a:rPr lang="he-IL" smtClean="0"/>
              <a:t>‹#›</a:t>
            </a:fld>
            <a:endParaRPr lang="he-IL"/>
          </a:p>
        </p:txBody>
      </p:sp>
    </p:spTree>
    <p:extLst>
      <p:ext uri="{BB962C8B-B14F-4D97-AF65-F5344CB8AC3E}">
        <p14:creationId xmlns:p14="http://schemas.microsoft.com/office/powerpoint/2010/main" val="311696081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1"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r" defTabSz="914400" rtl="1"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r" defTabSz="914400" rtl="1"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r" defTabSz="914400" rtl="1"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r" defTabSz="914400" rtl="1"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r" defTabSz="914400" rtl="1"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r" defTabSz="914400" rtl="1"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r" defTabSz="914400" rtl="1"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r" defTabSz="914400" rtl="1"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r" defTabSz="914400" rtl="1"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hyperlink" Target="https://example.com/search?query=hello%20world&amp;category=tools" TargetMode="Externa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E6CC5A5C-1C1F-8EBE-9C49-837DB593108D}"/>
              </a:ext>
            </a:extLst>
          </p:cNvPr>
          <p:cNvSpPr>
            <a:spLocks noGrp="1"/>
          </p:cNvSpPr>
          <p:nvPr>
            <p:ph type="ctrTitle"/>
          </p:nvPr>
        </p:nvSpPr>
        <p:spPr/>
        <p:txBody>
          <a:bodyPr/>
          <a:lstStyle/>
          <a:p>
            <a:r>
              <a:rPr lang="he-IL" dirty="0"/>
              <a:t>הרצאה מס' 7</a:t>
            </a:r>
          </a:p>
        </p:txBody>
      </p:sp>
      <p:sp>
        <p:nvSpPr>
          <p:cNvPr id="3" name="כותרת משנה 2">
            <a:extLst>
              <a:ext uri="{FF2B5EF4-FFF2-40B4-BE49-F238E27FC236}">
                <a16:creationId xmlns:a16="http://schemas.microsoft.com/office/drawing/2014/main" id="{F87C1F81-38F9-E598-68D1-B719ED4EE186}"/>
              </a:ext>
            </a:extLst>
          </p:cNvPr>
          <p:cNvSpPr>
            <a:spLocks noGrp="1"/>
          </p:cNvSpPr>
          <p:nvPr>
            <p:ph type="subTitle" idx="1"/>
          </p:nvPr>
        </p:nvSpPr>
        <p:spPr/>
        <p:txBody>
          <a:bodyPr/>
          <a:lstStyle/>
          <a:p>
            <a:r>
              <a:rPr lang="he-IL" dirty="0"/>
              <a:t>מרצה: יניב </a:t>
            </a:r>
            <a:r>
              <a:rPr lang="he-IL" dirty="0" err="1"/>
              <a:t>מורדוב</a:t>
            </a:r>
            <a:endParaRPr lang="he-IL" dirty="0"/>
          </a:p>
        </p:txBody>
      </p:sp>
    </p:spTree>
    <p:extLst>
      <p:ext uri="{BB962C8B-B14F-4D97-AF65-F5344CB8AC3E}">
        <p14:creationId xmlns:p14="http://schemas.microsoft.com/office/powerpoint/2010/main" val="37136731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a:extLst>
              <a:ext uri="{FF2B5EF4-FFF2-40B4-BE49-F238E27FC236}">
                <a16:creationId xmlns:a16="http://schemas.microsoft.com/office/drawing/2014/main" id="{A85D7932-3B7E-9670-D12F-BC253EC378AE}"/>
              </a:ext>
            </a:extLst>
          </p:cNvPr>
          <p:cNvSpPr>
            <a:spLocks noGrp="1"/>
          </p:cNvSpPr>
          <p:nvPr>
            <p:ph idx="1"/>
          </p:nvPr>
        </p:nvSpPr>
        <p:spPr/>
        <p:txBody>
          <a:bodyPr>
            <a:normAutofit/>
          </a:bodyPr>
          <a:lstStyle/>
          <a:p>
            <a:pPr algn="ctr"/>
            <a:r>
              <a:rPr lang="he-IL" sz="7200" i="0" dirty="0">
                <a:solidFill>
                  <a:srgbClr val="0D0D0D"/>
                </a:solidFill>
                <a:effectLst/>
                <a:latin typeface="ui-sans-serif"/>
              </a:rPr>
              <a:t>גילוי ואיתור </a:t>
            </a:r>
            <a:r>
              <a:rPr lang="en-US" sz="7200" i="0" dirty="0">
                <a:solidFill>
                  <a:srgbClr val="0D0D0D"/>
                </a:solidFill>
                <a:effectLst/>
                <a:latin typeface="ui-sans-serif"/>
              </a:rPr>
              <a:t>Proxy </a:t>
            </a:r>
            <a:r>
              <a:rPr lang="he-IL" sz="7200" i="0" dirty="0">
                <a:solidFill>
                  <a:srgbClr val="0D0D0D"/>
                </a:solidFill>
                <a:effectLst/>
                <a:latin typeface="ui-sans-serif"/>
              </a:rPr>
              <a:t> ו- </a:t>
            </a:r>
            <a:r>
              <a:rPr lang="en-US" sz="7200" i="0" dirty="0">
                <a:solidFill>
                  <a:srgbClr val="0D0D0D"/>
                </a:solidFill>
                <a:effectLst/>
                <a:latin typeface="ui-sans-serif"/>
              </a:rPr>
              <a:t>Firewalls</a:t>
            </a:r>
          </a:p>
          <a:p>
            <a:pPr algn="ctr"/>
            <a:endParaRPr lang="he-IL" sz="7200" dirty="0"/>
          </a:p>
        </p:txBody>
      </p:sp>
    </p:spTree>
    <p:extLst>
      <p:ext uri="{BB962C8B-B14F-4D97-AF65-F5344CB8AC3E}">
        <p14:creationId xmlns:p14="http://schemas.microsoft.com/office/powerpoint/2010/main" val="24393888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5CAC4C3-3965-8786-5372-DE38FCF24F9F}"/>
              </a:ext>
            </a:extLst>
          </p:cNvPr>
          <p:cNvSpPr>
            <a:spLocks noGrp="1"/>
          </p:cNvSpPr>
          <p:nvPr>
            <p:ph type="title"/>
          </p:nvPr>
        </p:nvSpPr>
        <p:spPr>
          <a:xfrm>
            <a:off x="913614" y="777557"/>
            <a:ext cx="10879318" cy="1325563"/>
          </a:xfrm>
        </p:spPr>
        <p:txBody>
          <a:bodyPr>
            <a:normAutofit fontScale="90000"/>
          </a:bodyPr>
          <a:lstStyle/>
          <a:p>
            <a:r>
              <a:rPr lang="he-IL" b="1" i="0" dirty="0">
                <a:solidFill>
                  <a:srgbClr val="0D0D0D"/>
                </a:solidFill>
                <a:effectLst/>
                <a:latin typeface="ui-sans-serif"/>
              </a:rPr>
              <a:t>גילוי ואיתור</a:t>
            </a:r>
            <a:r>
              <a:rPr lang="en-US" b="1" i="0" dirty="0">
                <a:solidFill>
                  <a:srgbClr val="0D0D0D"/>
                </a:solidFill>
                <a:effectLst/>
                <a:latin typeface="ui-sans-serif"/>
              </a:rPr>
              <a:t> Proxy </a:t>
            </a:r>
            <a:r>
              <a:rPr lang="he-IL" b="1" i="0" dirty="0">
                <a:solidFill>
                  <a:srgbClr val="0D0D0D"/>
                </a:solidFill>
                <a:effectLst/>
                <a:latin typeface="ui-sans-serif"/>
              </a:rPr>
              <a:t>ו-</a:t>
            </a:r>
            <a:r>
              <a:rPr lang="en-US" b="1" i="0" dirty="0">
                <a:solidFill>
                  <a:srgbClr val="0D0D0D"/>
                </a:solidFill>
                <a:effectLst/>
                <a:latin typeface="ui-sans-serif"/>
              </a:rPr>
              <a:t>Firewalls </a:t>
            </a:r>
            <a:r>
              <a:rPr lang="he-IL" b="1" i="0" dirty="0">
                <a:solidFill>
                  <a:srgbClr val="0D0D0D"/>
                </a:solidFill>
                <a:effectLst/>
                <a:latin typeface="ui-sans-serif"/>
              </a:rPr>
              <a:t> באבטחת מידע</a:t>
            </a:r>
            <a:br>
              <a:rPr lang="he-IL" b="1" i="0" dirty="0">
                <a:solidFill>
                  <a:srgbClr val="0D0D0D"/>
                </a:solidFill>
                <a:effectLst/>
                <a:latin typeface="ui-sans-serif"/>
              </a:rPr>
            </a:br>
            <a:endParaRPr lang="he-IL" dirty="0"/>
          </a:p>
        </p:txBody>
      </p:sp>
      <p:sp>
        <p:nvSpPr>
          <p:cNvPr id="3" name="מציין מיקום תוכן 2">
            <a:extLst>
              <a:ext uri="{FF2B5EF4-FFF2-40B4-BE49-F238E27FC236}">
                <a16:creationId xmlns:a16="http://schemas.microsoft.com/office/drawing/2014/main" id="{1C965932-F622-482E-E2C3-BF1CB8318154}"/>
              </a:ext>
            </a:extLst>
          </p:cNvPr>
          <p:cNvSpPr>
            <a:spLocks noGrp="1"/>
          </p:cNvSpPr>
          <p:nvPr>
            <p:ph idx="1"/>
          </p:nvPr>
        </p:nvSpPr>
        <p:spPr/>
        <p:txBody>
          <a:bodyPr/>
          <a:lstStyle/>
          <a:p>
            <a:r>
              <a:rPr lang="he-IL" b="1" i="0" dirty="0">
                <a:solidFill>
                  <a:srgbClr val="0D0D0D"/>
                </a:solidFill>
                <a:effectLst/>
                <a:latin typeface="ui-sans-serif"/>
              </a:rPr>
              <a:t>הקדמה:</a:t>
            </a:r>
          </a:p>
          <a:p>
            <a:r>
              <a:rPr lang="en-US" b="0" i="0" dirty="0">
                <a:solidFill>
                  <a:srgbClr val="0D0D0D"/>
                </a:solidFill>
                <a:effectLst/>
                <a:latin typeface="ui-sans-serif"/>
              </a:rPr>
              <a:t>Proxy </a:t>
            </a:r>
            <a:r>
              <a:rPr lang="he-IL" b="0" i="0" dirty="0">
                <a:solidFill>
                  <a:srgbClr val="0D0D0D"/>
                </a:solidFill>
                <a:effectLst/>
                <a:latin typeface="ui-sans-serif"/>
              </a:rPr>
              <a:t> ו-</a:t>
            </a:r>
            <a:r>
              <a:rPr lang="en-US" b="0" i="0" dirty="0">
                <a:solidFill>
                  <a:srgbClr val="0D0D0D"/>
                </a:solidFill>
                <a:effectLst/>
                <a:latin typeface="ui-sans-serif"/>
              </a:rPr>
              <a:t> Firewalls </a:t>
            </a:r>
            <a:r>
              <a:rPr lang="he-IL" b="0" i="0" dirty="0">
                <a:solidFill>
                  <a:srgbClr val="0D0D0D"/>
                </a:solidFill>
                <a:effectLst/>
                <a:latin typeface="ui-sans-serif"/>
              </a:rPr>
              <a:t>הם רכיבי מפתח באבטחת מידע שמטרתם להגן על מערכות מפני גישה לא מורשית, התקפות סייבר, וניטור תעבורת רשת.</a:t>
            </a:r>
          </a:p>
          <a:p>
            <a:r>
              <a:rPr lang="en-US" b="1" i="0" dirty="0">
                <a:solidFill>
                  <a:srgbClr val="0D0D0D"/>
                </a:solidFill>
                <a:effectLst/>
                <a:latin typeface="ui-sans-serif"/>
              </a:rPr>
              <a:t>Proxy</a:t>
            </a:r>
            <a:r>
              <a:rPr lang="he-IL" b="1" i="0" dirty="0">
                <a:solidFill>
                  <a:srgbClr val="0D0D0D"/>
                </a:solidFill>
                <a:effectLst/>
                <a:latin typeface="ui-sans-serif"/>
              </a:rPr>
              <a:t> שרת תווך:</a:t>
            </a:r>
            <a:r>
              <a:rPr lang="he-IL" b="0" i="0" dirty="0">
                <a:solidFill>
                  <a:srgbClr val="0D0D0D"/>
                </a:solidFill>
                <a:effectLst/>
                <a:latin typeface="ui-sans-serif"/>
              </a:rPr>
              <a:t> משמש כמתווך בין המשתמש לאינטרנט. הוא יכול להסתיר כתובות </a:t>
            </a:r>
            <a:r>
              <a:rPr lang="en-US" b="0" i="0" dirty="0">
                <a:solidFill>
                  <a:srgbClr val="0D0D0D"/>
                </a:solidFill>
                <a:effectLst/>
                <a:latin typeface="ui-sans-serif"/>
              </a:rPr>
              <a:t> IP</a:t>
            </a:r>
            <a:r>
              <a:rPr lang="he-IL" b="0" i="0" dirty="0">
                <a:solidFill>
                  <a:srgbClr val="0D0D0D"/>
                </a:solidFill>
                <a:effectLst/>
                <a:latin typeface="ui-sans-serif"/>
              </a:rPr>
              <a:t>לספק אבטחה נוספת ולבצע סינון תכנים.</a:t>
            </a:r>
          </a:p>
          <a:p>
            <a:r>
              <a:rPr lang="en-US" b="1" i="0" dirty="0">
                <a:solidFill>
                  <a:srgbClr val="0D0D0D"/>
                </a:solidFill>
                <a:effectLst/>
                <a:latin typeface="ui-sans-serif"/>
              </a:rPr>
              <a:t>Firewall </a:t>
            </a:r>
            <a:r>
              <a:rPr lang="he-IL" b="1" i="0" dirty="0">
                <a:solidFill>
                  <a:srgbClr val="0D0D0D"/>
                </a:solidFill>
                <a:effectLst/>
                <a:latin typeface="ui-sans-serif"/>
              </a:rPr>
              <a:t> חומת אש:</a:t>
            </a:r>
            <a:r>
              <a:rPr lang="he-IL" b="0" i="0" dirty="0">
                <a:solidFill>
                  <a:srgbClr val="0D0D0D"/>
                </a:solidFill>
                <a:effectLst/>
                <a:latin typeface="ui-sans-serif"/>
              </a:rPr>
              <a:t> מסנן תעבורה נכנסת ויוצאת על פי כללים מוגדרים מראש</a:t>
            </a:r>
          </a:p>
          <a:p>
            <a:endParaRPr lang="he-IL" b="1" i="0" dirty="0">
              <a:solidFill>
                <a:srgbClr val="0D0D0D"/>
              </a:solidFill>
              <a:effectLst/>
              <a:latin typeface="ui-sans-serif"/>
            </a:endParaRPr>
          </a:p>
        </p:txBody>
      </p:sp>
    </p:spTree>
    <p:extLst>
      <p:ext uri="{BB962C8B-B14F-4D97-AF65-F5344CB8AC3E}">
        <p14:creationId xmlns:p14="http://schemas.microsoft.com/office/powerpoint/2010/main" val="34620314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DB8D84D-5A07-E55A-853C-3362D9BCAC78}"/>
              </a:ext>
            </a:extLst>
          </p:cNvPr>
          <p:cNvSpPr>
            <a:spLocks noGrp="1"/>
          </p:cNvSpPr>
          <p:nvPr>
            <p:ph type="title"/>
          </p:nvPr>
        </p:nvSpPr>
        <p:spPr>
          <a:xfrm>
            <a:off x="3157978" y="500062"/>
            <a:ext cx="8195821" cy="1325563"/>
          </a:xfrm>
        </p:spPr>
        <p:txBody>
          <a:bodyPr>
            <a:normAutofit fontScale="90000"/>
          </a:bodyPr>
          <a:lstStyle/>
          <a:p>
            <a:r>
              <a:rPr lang="he-IL" b="1" i="0" dirty="0">
                <a:solidFill>
                  <a:srgbClr val="0D0D0D"/>
                </a:solidFill>
                <a:effectLst/>
                <a:latin typeface="ui-sans-serif"/>
              </a:rPr>
              <a:t>איך ניתן לגלות</a:t>
            </a:r>
            <a:r>
              <a:rPr lang="en-US" b="1" i="0" dirty="0">
                <a:solidFill>
                  <a:srgbClr val="0D0D0D"/>
                </a:solidFill>
                <a:effectLst/>
                <a:latin typeface="ui-sans-serif"/>
              </a:rPr>
              <a:t>Proxy </a:t>
            </a:r>
            <a:r>
              <a:rPr lang="he-IL" b="1" i="0" dirty="0">
                <a:solidFill>
                  <a:srgbClr val="0D0D0D"/>
                </a:solidFill>
                <a:effectLst/>
                <a:latin typeface="ui-sans-serif"/>
              </a:rPr>
              <a:t> ו- </a:t>
            </a:r>
            <a:r>
              <a:rPr lang="en-US" b="1" i="0" dirty="0">
                <a:solidFill>
                  <a:srgbClr val="0D0D0D"/>
                </a:solidFill>
                <a:effectLst/>
                <a:latin typeface="ui-sans-serif"/>
              </a:rPr>
              <a:t>Firewalls</a:t>
            </a:r>
            <a:r>
              <a:rPr lang="he-IL" b="1" i="0" dirty="0">
                <a:solidFill>
                  <a:srgbClr val="0D0D0D"/>
                </a:solidFill>
                <a:effectLst/>
                <a:latin typeface="ui-sans-serif"/>
              </a:rPr>
              <a:t>?</a:t>
            </a:r>
            <a:r>
              <a:rPr lang="en-US" b="1" i="0" dirty="0">
                <a:solidFill>
                  <a:srgbClr val="0D0D0D"/>
                </a:solidFill>
                <a:effectLst/>
                <a:latin typeface="ui-sans-serif"/>
              </a:rPr>
              <a:t> </a:t>
            </a:r>
            <a:br>
              <a:rPr lang="en-US" b="1" i="0" dirty="0">
                <a:solidFill>
                  <a:srgbClr val="0D0D0D"/>
                </a:solidFill>
                <a:effectLst/>
                <a:latin typeface="ui-sans-serif"/>
              </a:rPr>
            </a:br>
            <a:endParaRPr lang="he-IL" dirty="0"/>
          </a:p>
        </p:txBody>
      </p:sp>
      <p:sp>
        <p:nvSpPr>
          <p:cNvPr id="3" name="מציין מיקום תוכן 2">
            <a:extLst>
              <a:ext uri="{FF2B5EF4-FFF2-40B4-BE49-F238E27FC236}">
                <a16:creationId xmlns:a16="http://schemas.microsoft.com/office/drawing/2014/main" id="{2EBADC09-F706-B70B-4FB9-5274A41C54C5}"/>
              </a:ext>
            </a:extLst>
          </p:cNvPr>
          <p:cNvSpPr>
            <a:spLocks noGrp="1"/>
          </p:cNvSpPr>
          <p:nvPr>
            <p:ph idx="1"/>
          </p:nvPr>
        </p:nvSpPr>
        <p:spPr/>
        <p:txBody>
          <a:bodyPr>
            <a:normAutofit/>
          </a:bodyPr>
          <a:lstStyle/>
          <a:p>
            <a:r>
              <a:rPr lang="he-IL" b="1" i="0" dirty="0">
                <a:solidFill>
                  <a:srgbClr val="0D0D0D"/>
                </a:solidFill>
                <a:effectLst/>
                <a:latin typeface="ui-sans-serif"/>
              </a:rPr>
              <a:t>שיטות כלליות:</a:t>
            </a:r>
          </a:p>
          <a:p>
            <a:r>
              <a:rPr lang="he-IL" b="1" i="0" dirty="0">
                <a:solidFill>
                  <a:srgbClr val="0D0D0D"/>
                </a:solidFill>
                <a:effectLst/>
                <a:latin typeface="ui-sans-serif"/>
              </a:rPr>
              <a:t>ניתוח תעבורה: </a:t>
            </a:r>
            <a:r>
              <a:rPr lang="he-IL" b="0" i="0" dirty="0">
                <a:solidFill>
                  <a:srgbClr val="0D0D0D"/>
                </a:solidFill>
                <a:effectLst/>
                <a:latin typeface="ui-sans-serif"/>
              </a:rPr>
              <a:t>שימוש בכלי ניטור רשת, כמו</a:t>
            </a:r>
            <a:r>
              <a:rPr lang="en-US" b="0" i="0" dirty="0">
                <a:solidFill>
                  <a:srgbClr val="0D0D0D"/>
                </a:solidFill>
                <a:effectLst/>
                <a:latin typeface="ui-sans-serif"/>
              </a:rPr>
              <a:t> Wireshark </a:t>
            </a:r>
            <a:r>
              <a:rPr lang="he-IL" b="0" i="0" dirty="0">
                <a:solidFill>
                  <a:srgbClr val="0D0D0D"/>
                </a:solidFill>
                <a:effectLst/>
                <a:latin typeface="ui-sans-serif"/>
              </a:rPr>
              <a:t>לזיהוי דפוסים חריגים.</a:t>
            </a:r>
          </a:p>
          <a:p>
            <a:pPr>
              <a:buFont typeface="Arial" panose="020B0604020202020204" pitchFamily="34" charset="0"/>
              <a:buChar char="•"/>
            </a:pPr>
            <a:r>
              <a:rPr lang="he-IL" b="0" i="0" dirty="0">
                <a:solidFill>
                  <a:srgbClr val="0D0D0D"/>
                </a:solidFill>
                <a:effectLst/>
                <a:latin typeface="ui-sans-serif"/>
              </a:rPr>
              <a:t>לדוגמה, תעבורה שחוזרת על עצמה עשויה להצביע על נוכחות </a:t>
            </a:r>
            <a:r>
              <a:rPr lang="en-US" b="0" i="0" dirty="0">
                <a:solidFill>
                  <a:srgbClr val="0D0D0D"/>
                </a:solidFill>
                <a:effectLst/>
                <a:latin typeface="ui-sans-serif"/>
              </a:rPr>
              <a:t>Proxy</a:t>
            </a:r>
            <a:r>
              <a:rPr lang="he-IL" dirty="0">
                <a:solidFill>
                  <a:srgbClr val="0D0D0D"/>
                </a:solidFill>
                <a:latin typeface="ui-sans-serif"/>
              </a:rPr>
              <a:t>.</a:t>
            </a:r>
            <a:endParaRPr lang="he-IL" b="0" i="0" dirty="0">
              <a:solidFill>
                <a:srgbClr val="0D0D0D"/>
              </a:solidFill>
              <a:effectLst/>
              <a:latin typeface="ui-sans-serif"/>
            </a:endParaRPr>
          </a:p>
          <a:p>
            <a:pPr>
              <a:buFont typeface="Arial" panose="020B0604020202020204" pitchFamily="34" charset="0"/>
              <a:buChar char="•"/>
            </a:pPr>
            <a:r>
              <a:rPr lang="en-US" b="1" i="0" dirty="0">
                <a:solidFill>
                  <a:srgbClr val="0D0D0D"/>
                </a:solidFill>
                <a:effectLst/>
                <a:latin typeface="ui-sans-serif"/>
              </a:rPr>
              <a:t>Traceroute</a:t>
            </a:r>
            <a:r>
              <a:rPr lang="he-IL" dirty="0">
                <a:solidFill>
                  <a:srgbClr val="0D0D0D"/>
                </a:solidFill>
                <a:latin typeface="ui-sans-serif"/>
              </a:rPr>
              <a:t>: </a:t>
            </a:r>
            <a:r>
              <a:rPr lang="he-IL" b="0" i="0" dirty="0">
                <a:solidFill>
                  <a:srgbClr val="0D0D0D"/>
                </a:solidFill>
                <a:effectLst/>
                <a:latin typeface="ui-sans-serif"/>
              </a:rPr>
              <a:t>הרצה של </a:t>
            </a:r>
            <a:r>
              <a:rPr lang="en-US" b="0" i="0" dirty="0">
                <a:solidFill>
                  <a:srgbClr val="0D0D0D"/>
                </a:solidFill>
                <a:effectLst/>
                <a:latin typeface="ui-monospace"/>
              </a:rPr>
              <a:t>traceroute</a:t>
            </a:r>
            <a:r>
              <a:rPr lang="he-IL" b="0" i="0" dirty="0">
                <a:solidFill>
                  <a:srgbClr val="0D0D0D"/>
                </a:solidFill>
                <a:effectLst/>
                <a:latin typeface="ui-monospace"/>
              </a:rPr>
              <a:t> </a:t>
            </a:r>
            <a:r>
              <a:rPr lang="he-IL" b="0" i="0" dirty="0">
                <a:solidFill>
                  <a:srgbClr val="0D0D0D"/>
                </a:solidFill>
                <a:effectLst/>
                <a:latin typeface="ui-sans-serif"/>
              </a:rPr>
              <a:t>כדי לראות את הנתיבים שעוברת התעבורה.</a:t>
            </a:r>
            <a:r>
              <a:rPr lang="en-US" b="0" i="0" dirty="0">
                <a:solidFill>
                  <a:srgbClr val="0D0D0D"/>
                </a:solidFill>
                <a:effectLst/>
                <a:latin typeface="ui-sans-serif"/>
              </a:rPr>
              <a:t> Proxy </a:t>
            </a:r>
            <a:r>
              <a:rPr lang="he-IL" b="0" i="0" dirty="0">
                <a:solidFill>
                  <a:srgbClr val="0D0D0D"/>
                </a:solidFill>
                <a:effectLst/>
                <a:latin typeface="ui-sans-serif"/>
              </a:rPr>
              <a:t>מוסיף שכבות נוספות של</a:t>
            </a:r>
            <a:r>
              <a:rPr lang="en-US" b="0" i="0" dirty="0">
                <a:solidFill>
                  <a:srgbClr val="0D0D0D"/>
                </a:solidFill>
                <a:effectLst/>
                <a:latin typeface="ui-sans-serif"/>
              </a:rPr>
              <a:t> IP </a:t>
            </a:r>
            <a:r>
              <a:rPr lang="he-IL" b="0" i="0" dirty="0">
                <a:solidFill>
                  <a:srgbClr val="0D0D0D"/>
                </a:solidFill>
                <a:effectLst/>
                <a:latin typeface="ui-sans-serif"/>
              </a:rPr>
              <a:t>בנתיב.</a:t>
            </a:r>
          </a:p>
          <a:p>
            <a:pPr>
              <a:buFont typeface="Arial" panose="020B0604020202020204" pitchFamily="34" charset="0"/>
              <a:buChar char="•"/>
            </a:pPr>
            <a:r>
              <a:rPr lang="he-IL" b="1" i="0" dirty="0">
                <a:solidFill>
                  <a:srgbClr val="0D0D0D"/>
                </a:solidFill>
                <a:effectLst/>
                <a:latin typeface="ui-sans-serif"/>
              </a:rPr>
              <a:t>שליחת </a:t>
            </a:r>
            <a:r>
              <a:rPr lang="he-IL" b="1" i="0" dirty="0" err="1">
                <a:solidFill>
                  <a:srgbClr val="0D0D0D"/>
                </a:solidFill>
                <a:effectLst/>
                <a:latin typeface="ui-sans-serif"/>
              </a:rPr>
              <a:t>פינגים</a:t>
            </a:r>
            <a:r>
              <a:rPr lang="he-IL" dirty="0">
                <a:solidFill>
                  <a:srgbClr val="0D0D0D"/>
                </a:solidFill>
                <a:latin typeface="ui-sans-serif"/>
              </a:rPr>
              <a:t>: </a:t>
            </a:r>
            <a:r>
              <a:rPr lang="he-IL" b="0" i="0" dirty="0">
                <a:solidFill>
                  <a:srgbClr val="0D0D0D"/>
                </a:solidFill>
                <a:effectLst/>
                <a:latin typeface="ui-sans-serif"/>
              </a:rPr>
              <a:t>אם</a:t>
            </a:r>
            <a:r>
              <a:rPr lang="en-US" b="0" i="0" dirty="0">
                <a:solidFill>
                  <a:srgbClr val="0D0D0D"/>
                </a:solidFill>
                <a:effectLst/>
                <a:latin typeface="ui-sans-serif"/>
              </a:rPr>
              <a:t>Proxy </a:t>
            </a:r>
            <a:r>
              <a:rPr lang="he-IL" b="0" i="0" dirty="0">
                <a:solidFill>
                  <a:srgbClr val="0D0D0D"/>
                </a:solidFill>
                <a:effectLst/>
                <a:latin typeface="ui-sans-serif"/>
              </a:rPr>
              <a:t> חוסם </a:t>
            </a:r>
            <a:r>
              <a:rPr lang="en-US" b="0" i="0" dirty="0">
                <a:solidFill>
                  <a:srgbClr val="0D0D0D"/>
                </a:solidFill>
                <a:effectLst/>
                <a:latin typeface="ui-sans-serif"/>
              </a:rPr>
              <a:t>ICMP</a:t>
            </a:r>
            <a:r>
              <a:rPr lang="he-IL" b="0" i="0" dirty="0">
                <a:solidFill>
                  <a:srgbClr val="0D0D0D"/>
                </a:solidFill>
                <a:effectLst/>
                <a:latin typeface="ui-sans-serif"/>
              </a:rPr>
              <a:t> התגובה עשויה להיות</a:t>
            </a:r>
            <a:r>
              <a:rPr lang="en-US" b="0" i="0" dirty="0">
                <a:solidFill>
                  <a:srgbClr val="0D0D0D"/>
                </a:solidFill>
                <a:effectLst/>
                <a:latin typeface="ui-sans-serif"/>
              </a:rPr>
              <a:t>Destination Unreachable</a:t>
            </a:r>
            <a:endParaRPr lang="he-IL" b="0" i="0" dirty="0">
              <a:solidFill>
                <a:srgbClr val="0D0D0D"/>
              </a:solidFill>
              <a:effectLst/>
              <a:latin typeface="ui-sans-serif"/>
            </a:endParaRPr>
          </a:p>
          <a:p>
            <a:r>
              <a:rPr lang="he-IL" b="1" i="0" dirty="0">
                <a:solidFill>
                  <a:srgbClr val="0D0D0D"/>
                </a:solidFill>
                <a:effectLst/>
                <a:latin typeface="ui-sans-serif"/>
              </a:rPr>
              <a:t>ניסיון חיבור ליציאות חסומות: </a:t>
            </a:r>
            <a:r>
              <a:rPr lang="en-US" b="1" i="0" dirty="0">
                <a:solidFill>
                  <a:srgbClr val="0D0D0D"/>
                </a:solidFill>
                <a:effectLst/>
                <a:latin typeface="ui-sans-serif"/>
              </a:rPr>
              <a:t> </a:t>
            </a:r>
            <a:r>
              <a:rPr lang="en-US" b="0" i="0" dirty="0">
                <a:solidFill>
                  <a:srgbClr val="0D0D0D"/>
                </a:solidFill>
                <a:effectLst/>
                <a:latin typeface="ui-sans-serif"/>
              </a:rPr>
              <a:t>Firewalls</a:t>
            </a:r>
            <a:r>
              <a:rPr lang="he-IL" b="0" i="0" dirty="0">
                <a:solidFill>
                  <a:srgbClr val="0D0D0D"/>
                </a:solidFill>
                <a:effectLst/>
                <a:latin typeface="ui-sans-serif"/>
              </a:rPr>
              <a:t>חוסמים יציאות מסוימות. ניתן לבדוק חיבורים ליציאות כמו 22</a:t>
            </a:r>
            <a:r>
              <a:rPr lang="en-US" b="0" i="0" dirty="0">
                <a:solidFill>
                  <a:srgbClr val="0D0D0D"/>
                </a:solidFill>
                <a:effectLst/>
                <a:latin typeface="ui-sans-serif"/>
              </a:rPr>
              <a:t> SSH </a:t>
            </a:r>
            <a:r>
              <a:rPr lang="he-IL" b="0" i="0" dirty="0">
                <a:solidFill>
                  <a:srgbClr val="0D0D0D"/>
                </a:solidFill>
                <a:effectLst/>
                <a:latin typeface="ui-sans-serif"/>
              </a:rPr>
              <a:t>או 3306 </a:t>
            </a:r>
            <a:r>
              <a:rPr lang="en-US" b="0" i="0" dirty="0">
                <a:solidFill>
                  <a:srgbClr val="0D0D0D"/>
                </a:solidFill>
                <a:effectLst/>
                <a:latin typeface="ui-sans-serif"/>
              </a:rPr>
              <a:t>MySQL</a:t>
            </a:r>
          </a:p>
          <a:p>
            <a:pPr>
              <a:buFont typeface="Arial" panose="020B0604020202020204" pitchFamily="34" charset="0"/>
              <a:buChar char="•"/>
            </a:pPr>
            <a:endParaRPr lang="en-US" b="0" i="0" dirty="0">
              <a:solidFill>
                <a:srgbClr val="0D0D0D"/>
              </a:solidFill>
              <a:effectLst/>
              <a:latin typeface="ui-sans-serif"/>
            </a:endParaRPr>
          </a:p>
          <a:p>
            <a:pPr>
              <a:buFont typeface="Arial" panose="020B0604020202020204" pitchFamily="34" charset="0"/>
              <a:buChar char="•"/>
            </a:pPr>
            <a:endParaRPr lang="en-US" b="0" i="0" dirty="0">
              <a:solidFill>
                <a:srgbClr val="0D0D0D"/>
              </a:solidFill>
              <a:effectLst/>
              <a:latin typeface="ui-sans-serif"/>
            </a:endParaRPr>
          </a:p>
          <a:p>
            <a:endParaRPr lang="he-IL" dirty="0"/>
          </a:p>
        </p:txBody>
      </p:sp>
    </p:spTree>
    <p:extLst>
      <p:ext uri="{BB962C8B-B14F-4D97-AF65-F5344CB8AC3E}">
        <p14:creationId xmlns:p14="http://schemas.microsoft.com/office/powerpoint/2010/main" val="21675036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93AA06E2-27A5-809D-C182-E4C892C30770}"/>
              </a:ext>
            </a:extLst>
          </p:cNvPr>
          <p:cNvSpPr>
            <a:spLocks noGrp="1"/>
          </p:cNvSpPr>
          <p:nvPr>
            <p:ph type="title"/>
          </p:nvPr>
        </p:nvSpPr>
        <p:spPr>
          <a:xfrm>
            <a:off x="7843100" y="642594"/>
            <a:ext cx="3282099" cy="1371600"/>
          </a:xfrm>
        </p:spPr>
        <p:txBody>
          <a:bodyPr>
            <a:normAutofit fontScale="90000"/>
          </a:bodyPr>
          <a:lstStyle/>
          <a:p>
            <a:r>
              <a:rPr lang="he-IL" b="1" i="0" dirty="0">
                <a:solidFill>
                  <a:srgbClr val="0D0D0D"/>
                </a:solidFill>
                <a:effectLst/>
                <a:latin typeface="ui-sans-serif"/>
              </a:rPr>
              <a:t>זיהוי ספציפי:</a:t>
            </a:r>
            <a:br>
              <a:rPr lang="he-IL" b="1" i="0" dirty="0">
                <a:solidFill>
                  <a:srgbClr val="0D0D0D"/>
                </a:solidFill>
                <a:effectLst/>
                <a:latin typeface="ui-sans-serif"/>
              </a:rPr>
            </a:br>
            <a:r>
              <a:rPr lang="en-US" b="1" i="0" dirty="0">
                <a:solidFill>
                  <a:srgbClr val="0D0D0D"/>
                </a:solidFill>
                <a:effectLst/>
                <a:latin typeface="ui-sans-serif"/>
              </a:rPr>
              <a:t/>
            </a:r>
            <a:br>
              <a:rPr lang="en-US" b="1" i="0" dirty="0">
                <a:solidFill>
                  <a:srgbClr val="0D0D0D"/>
                </a:solidFill>
                <a:effectLst/>
                <a:latin typeface="ui-sans-serif"/>
              </a:rPr>
            </a:br>
            <a:endParaRPr lang="he-IL" dirty="0"/>
          </a:p>
        </p:txBody>
      </p:sp>
      <p:sp>
        <p:nvSpPr>
          <p:cNvPr id="3" name="מציין מיקום תוכן 2">
            <a:extLst>
              <a:ext uri="{FF2B5EF4-FFF2-40B4-BE49-F238E27FC236}">
                <a16:creationId xmlns:a16="http://schemas.microsoft.com/office/drawing/2014/main" id="{D9DA4090-764E-4F7A-0E09-E7B6C8C540C2}"/>
              </a:ext>
            </a:extLst>
          </p:cNvPr>
          <p:cNvSpPr>
            <a:spLocks noGrp="1"/>
          </p:cNvSpPr>
          <p:nvPr>
            <p:ph idx="1"/>
          </p:nvPr>
        </p:nvSpPr>
        <p:spPr/>
        <p:txBody>
          <a:bodyPr/>
          <a:lstStyle/>
          <a:p>
            <a:r>
              <a:rPr lang="en-US" b="1" i="0" dirty="0">
                <a:solidFill>
                  <a:srgbClr val="0D0D0D"/>
                </a:solidFill>
                <a:effectLst/>
                <a:latin typeface="ui-sans-serif"/>
              </a:rPr>
              <a:t>Proxy</a:t>
            </a:r>
            <a:r>
              <a:rPr lang="he-IL" b="1" i="0" dirty="0">
                <a:solidFill>
                  <a:srgbClr val="0D0D0D"/>
                </a:solidFill>
                <a:effectLst/>
                <a:latin typeface="ui-sans-serif"/>
              </a:rPr>
              <a:t>:</a:t>
            </a:r>
          </a:p>
          <a:p>
            <a:r>
              <a:rPr lang="he-IL" b="0" i="0" dirty="0">
                <a:solidFill>
                  <a:srgbClr val="0D0D0D"/>
                </a:solidFill>
                <a:effectLst/>
                <a:latin typeface="ui-sans-serif"/>
              </a:rPr>
              <a:t>חפשו תגובת </a:t>
            </a:r>
            <a:r>
              <a:rPr lang="en-US" b="0" i="0" dirty="0">
                <a:solidFill>
                  <a:srgbClr val="0D0D0D"/>
                </a:solidFill>
                <a:effectLst/>
                <a:latin typeface="ui-sans-serif"/>
              </a:rPr>
              <a:t>HTTP</a:t>
            </a:r>
            <a:r>
              <a:rPr lang="he-IL" b="0" i="0" dirty="0">
                <a:solidFill>
                  <a:srgbClr val="0D0D0D"/>
                </a:solidFill>
                <a:effectLst/>
                <a:latin typeface="ui-sans-serif"/>
              </a:rPr>
              <a:t> שמכילה שדות כמו</a:t>
            </a:r>
            <a:r>
              <a:rPr lang="he-IL" b="1" dirty="0">
                <a:solidFill>
                  <a:srgbClr val="0D0D0D"/>
                </a:solidFill>
                <a:latin typeface="ui-sans-serif"/>
              </a:rPr>
              <a:t> </a:t>
            </a:r>
            <a:r>
              <a:rPr lang="en-US" b="1" dirty="0">
                <a:solidFill>
                  <a:srgbClr val="0D0D0D"/>
                </a:solidFill>
                <a:latin typeface="ui-sans-serif"/>
              </a:rPr>
              <a:t>via </a:t>
            </a:r>
            <a:r>
              <a:rPr lang="he-IL" b="1" dirty="0">
                <a:solidFill>
                  <a:srgbClr val="0D0D0D"/>
                </a:solidFill>
                <a:latin typeface="ui-sans-serif"/>
              </a:rPr>
              <a:t> או </a:t>
            </a:r>
            <a:r>
              <a:rPr lang="en-US" b="0" i="0" dirty="0">
                <a:solidFill>
                  <a:srgbClr val="0D0D0D"/>
                </a:solidFill>
                <a:effectLst/>
                <a:latin typeface="ui-monospace"/>
              </a:rPr>
              <a:t>X-Forwarded-For</a:t>
            </a:r>
            <a:r>
              <a:rPr lang="he-IL" b="0" i="0" dirty="0">
                <a:solidFill>
                  <a:srgbClr val="0D0D0D"/>
                </a:solidFill>
                <a:effectLst/>
                <a:latin typeface="ui-monospace"/>
              </a:rPr>
              <a:t> </a:t>
            </a:r>
          </a:p>
          <a:p>
            <a:r>
              <a:rPr lang="he-IL" b="0" i="0" dirty="0">
                <a:solidFill>
                  <a:srgbClr val="0D0D0D"/>
                </a:solidFill>
                <a:effectLst/>
                <a:latin typeface="ui-sans-serif"/>
              </a:rPr>
              <a:t>שימוש בכלים כמו </a:t>
            </a:r>
            <a:r>
              <a:rPr lang="en-US" b="0" i="0" dirty="0">
                <a:solidFill>
                  <a:srgbClr val="0D0D0D"/>
                </a:solidFill>
                <a:effectLst/>
                <a:latin typeface="ui-sans-serif"/>
              </a:rPr>
              <a:t> </a:t>
            </a:r>
            <a:r>
              <a:rPr lang="en-US" b="1" i="0" dirty="0" err="1">
                <a:solidFill>
                  <a:srgbClr val="0D0D0D"/>
                </a:solidFill>
                <a:effectLst/>
                <a:latin typeface="ui-sans-serif"/>
              </a:rPr>
              <a:t>nmap</a:t>
            </a:r>
            <a:r>
              <a:rPr lang="he-IL" b="0" i="0" dirty="0">
                <a:solidFill>
                  <a:srgbClr val="0D0D0D"/>
                </a:solidFill>
                <a:effectLst/>
                <a:latin typeface="ui-sans-serif"/>
              </a:rPr>
              <a:t>עם סקריפטים המזהים </a:t>
            </a:r>
            <a:r>
              <a:rPr lang="en-US" b="0" i="0" dirty="0">
                <a:solidFill>
                  <a:srgbClr val="0D0D0D"/>
                </a:solidFill>
                <a:effectLst/>
                <a:latin typeface="ui-sans-serif"/>
              </a:rPr>
              <a:t>Proxy</a:t>
            </a:r>
            <a:r>
              <a:rPr lang="he-IL" b="0" i="0" dirty="0">
                <a:solidFill>
                  <a:srgbClr val="0D0D0D"/>
                </a:solidFill>
                <a:effectLst/>
                <a:latin typeface="ui-sans-serif"/>
              </a:rPr>
              <a:t>:</a:t>
            </a:r>
          </a:p>
          <a:p>
            <a:pPr algn="l"/>
            <a:r>
              <a:rPr lang="en-US" b="1" i="0" dirty="0" err="1">
                <a:solidFill>
                  <a:srgbClr val="0D0D0D"/>
                </a:solidFill>
                <a:effectLst/>
                <a:latin typeface="ui-sans-serif"/>
              </a:rPr>
              <a:t>nmap</a:t>
            </a:r>
            <a:r>
              <a:rPr lang="en-US" b="1" i="0" dirty="0">
                <a:solidFill>
                  <a:srgbClr val="0D0D0D"/>
                </a:solidFill>
                <a:effectLst/>
                <a:latin typeface="ui-sans-serif"/>
              </a:rPr>
              <a:t> --script http-proxy-info -p8080 &lt;target&gt;</a:t>
            </a:r>
          </a:p>
          <a:p>
            <a:r>
              <a:rPr lang="en-US" b="1" i="0" dirty="0">
                <a:solidFill>
                  <a:srgbClr val="0D0D0D"/>
                </a:solidFill>
                <a:effectLst/>
                <a:latin typeface="ui-sans-serif"/>
              </a:rPr>
              <a:t>Firewalls</a:t>
            </a:r>
            <a:r>
              <a:rPr lang="he-IL" b="1" i="0" dirty="0">
                <a:solidFill>
                  <a:srgbClr val="0D0D0D"/>
                </a:solidFill>
                <a:effectLst/>
                <a:latin typeface="ui-sans-serif"/>
              </a:rPr>
              <a:t>:</a:t>
            </a:r>
          </a:p>
          <a:p>
            <a:r>
              <a:rPr lang="he-IL" b="0" i="0" dirty="0">
                <a:solidFill>
                  <a:srgbClr val="0D0D0D"/>
                </a:solidFill>
                <a:effectLst/>
                <a:latin typeface="ui-sans-serif"/>
              </a:rPr>
              <a:t>בדקו תגובות לסריקות יציאות. חומת אש עשויה לחסום יציאות ולהחזיר הודעות כמו </a:t>
            </a:r>
            <a:r>
              <a:rPr lang="en-US" b="0" i="0" dirty="0">
                <a:solidFill>
                  <a:srgbClr val="0D0D0D"/>
                </a:solidFill>
                <a:effectLst/>
                <a:latin typeface="ui-sans-serif"/>
              </a:rPr>
              <a:t>Filtered</a:t>
            </a:r>
          </a:p>
          <a:p>
            <a:pPr algn="l"/>
            <a:r>
              <a:rPr lang="en-US" b="1" i="0" dirty="0" err="1">
                <a:solidFill>
                  <a:srgbClr val="0D0D0D"/>
                </a:solidFill>
                <a:effectLst/>
                <a:latin typeface="ui-sans-serif"/>
              </a:rPr>
              <a:t>nmap</a:t>
            </a:r>
            <a:r>
              <a:rPr lang="en-US" b="1" i="0" dirty="0">
                <a:solidFill>
                  <a:srgbClr val="0D0D0D"/>
                </a:solidFill>
                <a:effectLst/>
                <a:latin typeface="ui-sans-serif"/>
              </a:rPr>
              <a:t> -</a:t>
            </a:r>
            <a:r>
              <a:rPr lang="en-US" b="1" i="0" dirty="0" err="1">
                <a:solidFill>
                  <a:srgbClr val="0D0D0D"/>
                </a:solidFill>
                <a:effectLst/>
                <a:latin typeface="ui-sans-serif"/>
              </a:rPr>
              <a:t>sS</a:t>
            </a:r>
            <a:r>
              <a:rPr lang="en-US" b="1" i="0" dirty="0">
                <a:solidFill>
                  <a:srgbClr val="0D0D0D"/>
                </a:solidFill>
                <a:effectLst/>
                <a:latin typeface="ui-sans-serif"/>
              </a:rPr>
              <a:t> -p1-1000 &lt;target&gt;</a:t>
            </a:r>
          </a:p>
          <a:p>
            <a:pPr algn="l"/>
            <a:endParaRPr lang="he-IL" b="1" i="0" dirty="0">
              <a:solidFill>
                <a:srgbClr val="0D0D0D"/>
              </a:solidFill>
              <a:effectLst/>
              <a:latin typeface="ui-sans-serif"/>
            </a:endParaRPr>
          </a:p>
        </p:txBody>
      </p:sp>
    </p:spTree>
    <p:extLst>
      <p:ext uri="{BB962C8B-B14F-4D97-AF65-F5344CB8AC3E}">
        <p14:creationId xmlns:p14="http://schemas.microsoft.com/office/powerpoint/2010/main" val="2956155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2CB31EB-A574-3B29-17B9-A2979FB53CDE}"/>
              </a:ext>
            </a:extLst>
          </p:cNvPr>
          <p:cNvSpPr>
            <a:spLocks noGrp="1"/>
          </p:cNvSpPr>
          <p:nvPr>
            <p:ph type="title"/>
          </p:nvPr>
        </p:nvSpPr>
        <p:spPr>
          <a:xfrm>
            <a:off x="3007151" y="642594"/>
            <a:ext cx="8118048" cy="1371600"/>
          </a:xfrm>
        </p:spPr>
        <p:txBody>
          <a:bodyPr>
            <a:normAutofit fontScale="90000"/>
          </a:bodyPr>
          <a:lstStyle/>
          <a:p>
            <a:r>
              <a:rPr lang="he-IL" b="1" i="0" dirty="0">
                <a:solidFill>
                  <a:srgbClr val="0D0D0D"/>
                </a:solidFill>
                <a:effectLst/>
                <a:latin typeface="ui-sans-serif"/>
              </a:rPr>
              <a:t>סיפור: "</a:t>
            </a:r>
            <a:r>
              <a:rPr lang="he-IL" b="1" i="0" dirty="0" err="1">
                <a:solidFill>
                  <a:srgbClr val="0D0D0D"/>
                </a:solidFill>
                <a:effectLst/>
                <a:latin typeface="ui-sans-serif"/>
              </a:rPr>
              <a:t>ההאקר</a:t>
            </a:r>
            <a:r>
              <a:rPr lang="he-IL" b="1" i="0" dirty="0">
                <a:solidFill>
                  <a:srgbClr val="0D0D0D"/>
                </a:solidFill>
                <a:effectLst/>
                <a:latin typeface="ui-sans-serif"/>
              </a:rPr>
              <a:t> וה-</a:t>
            </a:r>
            <a:r>
              <a:rPr lang="en-US" b="1" i="0" dirty="0">
                <a:solidFill>
                  <a:srgbClr val="0D0D0D"/>
                </a:solidFill>
                <a:effectLst/>
                <a:latin typeface="ui-sans-serif"/>
              </a:rPr>
              <a:t> Proxy </a:t>
            </a:r>
            <a:r>
              <a:rPr lang="he-IL" b="1" i="0" dirty="0">
                <a:solidFill>
                  <a:srgbClr val="0D0D0D"/>
                </a:solidFill>
                <a:effectLst/>
                <a:latin typeface="ui-sans-serif"/>
              </a:rPr>
              <a:t>האבוד"</a:t>
            </a:r>
            <a:endParaRPr lang="he-IL" dirty="0"/>
          </a:p>
        </p:txBody>
      </p:sp>
      <p:sp>
        <p:nvSpPr>
          <p:cNvPr id="3" name="מציין מיקום תוכן 2">
            <a:extLst>
              <a:ext uri="{FF2B5EF4-FFF2-40B4-BE49-F238E27FC236}">
                <a16:creationId xmlns:a16="http://schemas.microsoft.com/office/drawing/2014/main" id="{984F25C5-32BD-2A2D-5E12-9362371AC0EA}"/>
              </a:ext>
            </a:extLst>
          </p:cNvPr>
          <p:cNvSpPr>
            <a:spLocks noGrp="1"/>
          </p:cNvSpPr>
          <p:nvPr>
            <p:ph idx="1"/>
          </p:nvPr>
        </p:nvSpPr>
        <p:spPr/>
        <p:txBody>
          <a:bodyPr/>
          <a:lstStyle/>
          <a:p>
            <a:r>
              <a:rPr lang="he-IL" b="0" i="0" dirty="0">
                <a:solidFill>
                  <a:srgbClr val="0D0D0D"/>
                </a:solidFill>
                <a:effectLst/>
                <a:latin typeface="ui-sans-serif"/>
              </a:rPr>
              <a:t>לפני כמה שנים, חוקר אבטחת מידע נתקל באתר ממשלתי שידע על קיומו של</a:t>
            </a:r>
            <a:r>
              <a:rPr lang="en-US" b="0" i="0" dirty="0">
                <a:solidFill>
                  <a:srgbClr val="0D0D0D"/>
                </a:solidFill>
                <a:effectLst/>
                <a:latin typeface="ui-sans-serif"/>
              </a:rPr>
              <a:t> Proxy </a:t>
            </a:r>
            <a:r>
              <a:rPr lang="he-IL" b="0" i="0" dirty="0">
                <a:solidFill>
                  <a:srgbClr val="0D0D0D"/>
                </a:solidFill>
                <a:effectLst/>
                <a:latin typeface="ui-sans-serif"/>
              </a:rPr>
              <a:t>אך לא ידע כיצד לעקוף אותו.</a:t>
            </a:r>
            <a:r>
              <a:rPr lang="he-IL" dirty="0"/>
              <a:t/>
            </a:r>
            <a:br>
              <a:rPr lang="he-IL" dirty="0"/>
            </a:br>
            <a:r>
              <a:rPr lang="he-IL" b="0" i="0" dirty="0">
                <a:solidFill>
                  <a:srgbClr val="0D0D0D"/>
                </a:solidFill>
                <a:effectLst/>
                <a:latin typeface="ui-sans-serif"/>
              </a:rPr>
              <a:t>הוא השתמש ב-</a:t>
            </a:r>
            <a:r>
              <a:rPr lang="en-US" b="0" i="0" dirty="0">
                <a:solidFill>
                  <a:srgbClr val="0D0D0D"/>
                </a:solidFill>
                <a:effectLst/>
                <a:latin typeface="ui-sans-serif"/>
              </a:rPr>
              <a:t> Wireshark </a:t>
            </a:r>
            <a:r>
              <a:rPr lang="he-IL" b="0" i="0" dirty="0">
                <a:solidFill>
                  <a:srgbClr val="0D0D0D"/>
                </a:solidFill>
                <a:effectLst/>
                <a:latin typeface="ui-sans-serif"/>
              </a:rPr>
              <a:t>לנתח את התעבורה וגילה שה-</a:t>
            </a:r>
            <a:r>
              <a:rPr lang="en-US" b="0" i="0" dirty="0">
                <a:solidFill>
                  <a:srgbClr val="0D0D0D"/>
                </a:solidFill>
                <a:effectLst/>
                <a:latin typeface="ui-sans-serif"/>
              </a:rPr>
              <a:t> Proxy </a:t>
            </a:r>
            <a:r>
              <a:rPr lang="he-IL" b="0" i="0" dirty="0">
                <a:solidFill>
                  <a:srgbClr val="0D0D0D"/>
                </a:solidFill>
                <a:effectLst/>
                <a:latin typeface="ui-sans-serif"/>
              </a:rPr>
              <a:t>מוסיף שדה </a:t>
            </a:r>
            <a:r>
              <a:rPr lang="en-US" b="0" i="0" dirty="0">
                <a:solidFill>
                  <a:srgbClr val="0D0D0D"/>
                </a:solidFill>
                <a:effectLst/>
                <a:latin typeface="ui-monospace"/>
              </a:rPr>
              <a:t>X-Forwarded-For</a:t>
            </a:r>
            <a:r>
              <a:rPr lang="he-IL" b="0" i="0" dirty="0">
                <a:solidFill>
                  <a:srgbClr val="0D0D0D"/>
                </a:solidFill>
                <a:effectLst/>
                <a:latin typeface="ui-monospace"/>
              </a:rPr>
              <a:t> </a:t>
            </a:r>
            <a:r>
              <a:rPr lang="he-IL" b="0" i="0" dirty="0">
                <a:solidFill>
                  <a:srgbClr val="0D0D0D"/>
                </a:solidFill>
                <a:effectLst/>
                <a:latin typeface="ui-sans-serif"/>
              </a:rPr>
              <a:t>עם כתובת ה-</a:t>
            </a:r>
            <a:r>
              <a:rPr lang="en-US" b="0" i="0" dirty="0">
                <a:solidFill>
                  <a:srgbClr val="0D0D0D"/>
                </a:solidFill>
                <a:effectLst/>
                <a:latin typeface="ui-sans-serif"/>
              </a:rPr>
              <a:t> IP </a:t>
            </a:r>
            <a:r>
              <a:rPr lang="he-IL" b="0" i="0" dirty="0">
                <a:solidFill>
                  <a:srgbClr val="0D0D0D"/>
                </a:solidFill>
                <a:effectLst/>
                <a:latin typeface="ui-sans-serif"/>
              </a:rPr>
              <a:t>האמיתית של המשתמש.</a:t>
            </a:r>
            <a:r>
              <a:rPr lang="he-IL" dirty="0"/>
              <a:t/>
            </a:r>
            <a:br>
              <a:rPr lang="he-IL" dirty="0"/>
            </a:br>
            <a:r>
              <a:rPr lang="he-IL" b="0" i="0" dirty="0">
                <a:solidFill>
                  <a:srgbClr val="0D0D0D"/>
                </a:solidFill>
                <a:effectLst/>
                <a:latin typeface="ui-sans-serif"/>
              </a:rPr>
              <a:t>החוקר ביצע ניסוי פשוט: הוא שלח בקשה מזויפת שהתחזתה לכתובת פנימית, וה-</a:t>
            </a:r>
            <a:r>
              <a:rPr lang="en-US" b="0" i="0" dirty="0">
                <a:solidFill>
                  <a:srgbClr val="0D0D0D"/>
                </a:solidFill>
                <a:effectLst/>
                <a:latin typeface="ui-sans-serif"/>
              </a:rPr>
              <a:t>Proxy </a:t>
            </a:r>
            <a:r>
              <a:rPr lang="he-IL" b="0" i="0" dirty="0">
                <a:solidFill>
                  <a:srgbClr val="0D0D0D"/>
                </a:solidFill>
                <a:effectLst/>
                <a:latin typeface="ui-sans-serif"/>
              </a:rPr>
              <a:t> אישר את הגישה! זו הייתה חולשה במערכת, מה שאפשר לו לדווח על הפרצה ולסייע בתיקון שלה.</a:t>
            </a:r>
            <a:endParaRPr lang="he-IL" b="0" i="0" dirty="0">
              <a:solidFill>
                <a:srgbClr val="0D0D0D"/>
              </a:solidFill>
              <a:effectLst/>
              <a:latin typeface="ui-monospace"/>
            </a:endParaRPr>
          </a:p>
          <a:p>
            <a:r>
              <a:rPr lang="he-IL" dirty="0"/>
              <a:t> </a:t>
            </a:r>
          </a:p>
        </p:txBody>
      </p:sp>
    </p:spTree>
    <p:extLst>
      <p:ext uri="{BB962C8B-B14F-4D97-AF65-F5344CB8AC3E}">
        <p14:creationId xmlns:p14="http://schemas.microsoft.com/office/powerpoint/2010/main" val="19785245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94B76EE-0906-7E57-2361-CF5E1D3F9EFE}"/>
              </a:ext>
            </a:extLst>
          </p:cNvPr>
          <p:cNvSpPr>
            <a:spLocks noGrp="1"/>
          </p:cNvSpPr>
          <p:nvPr>
            <p:ph type="title"/>
          </p:nvPr>
        </p:nvSpPr>
        <p:spPr>
          <a:xfrm>
            <a:off x="6985262" y="642594"/>
            <a:ext cx="4139938" cy="1371600"/>
          </a:xfrm>
        </p:spPr>
        <p:txBody>
          <a:bodyPr/>
          <a:lstStyle/>
          <a:p>
            <a:r>
              <a:rPr lang="he-IL" b="1" i="0" dirty="0">
                <a:solidFill>
                  <a:srgbClr val="0D0D0D"/>
                </a:solidFill>
                <a:effectLst/>
                <a:latin typeface="ui-sans-serif"/>
              </a:rPr>
              <a:t>דוגמה מעשית:</a:t>
            </a:r>
            <a:endParaRPr lang="he-IL" dirty="0"/>
          </a:p>
        </p:txBody>
      </p:sp>
      <p:sp>
        <p:nvSpPr>
          <p:cNvPr id="3" name="מציין מיקום תוכן 2">
            <a:extLst>
              <a:ext uri="{FF2B5EF4-FFF2-40B4-BE49-F238E27FC236}">
                <a16:creationId xmlns:a16="http://schemas.microsoft.com/office/drawing/2014/main" id="{20457E84-5622-1525-1107-387C4571F923}"/>
              </a:ext>
            </a:extLst>
          </p:cNvPr>
          <p:cNvSpPr>
            <a:spLocks noGrp="1"/>
          </p:cNvSpPr>
          <p:nvPr>
            <p:ph idx="1"/>
          </p:nvPr>
        </p:nvSpPr>
        <p:spPr/>
        <p:txBody>
          <a:bodyPr/>
          <a:lstStyle/>
          <a:p>
            <a:r>
              <a:rPr lang="he-IL" b="1" i="0" dirty="0">
                <a:solidFill>
                  <a:srgbClr val="0D0D0D"/>
                </a:solidFill>
                <a:effectLst/>
                <a:latin typeface="ui-sans-serif"/>
              </a:rPr>
              <a:t>בדיקה פשוטה לזיהוי</a:t>
            </a:r>
            <a:r>
              <a:rPr lang="en-US" b="1" i="0" dirty="0">
                <a:solidFill>
                  <a:srgbClr val="0D0D0D"/>
                </a:solidFill>
                <a:effectLst/>
                <a:latin typeface="ui-sans-serif"/>
              </a:rPr>
              <a:t>Proxy </a:t>
            </a:r>
            <a:r>
              <a:rPr lang="he-IL" b="1" i="0" dirty="0">
                <a:solidFill>
                  <a:srgbClr val="0D0D0D"/>
                </a:solidFill>
                <a:effectLst/>
                <a:latin typeface="ui-sans-serif"/>
              </a:rPr>
              <a:t> באמצעות </a:t>
            </a:r>
            <a:r>
              <a:rPr lang="en-US" b="1" i="0" dirty="0">
                <a:solidFill>
                  <a:srgbClr val="0D0D0D"/>
                </a:solidFill>
                <a:effectLst/>
                <a:latin typeface="ui-sans-serif"/>
              </a:rPr>
              <a:t>Curl</a:t>
            </a:r>
          </a:p>
          <a:p>
            <a:pPr algn="l"/>
            <a:r>
              <a:rPr lang="nn-NO" dirty="0"/>
              <a:t>curl -I http://example.com</a:t>
            </a:r>
          </a:p>
          <a:p>
            <a:r>
              <a:rPr lang="he-IL" b="0" i="0" dirty="0">
                <a:solidFill>
                  <a:srgbClr val="0D0D0D"/>
                </a:solidFill>
                <a:effectLst/>
                <a:latin typeface="ui-sans-serif"/>
              </a:rPr>
              <a:t>בדקו אם יש בשדות התגובה שדה </a:t>
            </a:r>
            <a:r>
              <a:rPr lang="en-US" b="0" i="0" dirty="0">
                <a:solidFill>
                  <a:srgbClr val="0D0D0D"/>
                </a:solidFill>
                <a:effectLst/>
                <a:latin typeface="ui-sans-serif"/>
              </a:rPr>
              <a:t>via</a:t>
            </a:r>
            <a:r>
              <a:rPr lang="he-IL" b="0" i="0" dirty="0">
                <a:solidFill>
                  <a:srgbClr val="0D0D0D"/>
                </a:solidFill>
                <a:effectLst/>
                <a:latin typeface="ui-sans-serif"/>
              </a:rPr>
              <a:t> או </a:t>
            </a:r>
            <a:r>
              <a:rPr lang="en-US" b="0" i="0" dirty="0">
                <a:solidFill>
                  <a:srgbClr val="0D0D0D"/>
                </a:solidFill>
                <a:effectLst/>
                <a:latin typeface="ui-monospace"/>
              </a:rPr>
              <a:t>X-Forwarded-For</a:t>
            </a:r>
            <a:endParaRPr lang="he-IL" b="0" i="0" dirty="0">
              <a:solidFill>
                <a:srgbClr val="0D0D0D"/>
              </a:solidFill>
              <a:effectLst/>
              <a:latin typeface="ui-monospace"/>
            </a:endParaRPr>
          </a:p>
          <a:p>
            <a:r>
              <a:rPr lang="he-IL" b="1" i="0" dirty="0">
                <a:solidFill>
                  <a:srgbClr val="0D0D0D"/>
                </a:solidFill>
                <a:effectLst/>
                <a:latin typeface="ui-sans-serif"/>
              </a:rPr>
              <a:t>סריקה לזיהוי</a:t>
            </a:r>
            <a:r>
              <a:rPr lang="en-US" b="1" i="0" dirty="0">
                <a:solidFill>
                  <a:srgbClr val="0D0D0D"/>
                </a:solidFill>
                <a:effectLst/>
                <a:latin typeface="ui-sans-serif"/>
              </a:rPr>
              <a:t>Firewall </a:t>
            </a:r>
            <a:r>
              <a:rPr lang="he-IL" b="1" i="0" dirty="0">
                <a:solidFill>
                  <a:srgbClr val="0D0D0D"/>
                </a:solidFill>
                <a:effectLst/>
                <a:latin typeface="ui-sans-serif"/>
              </a:rPr>
              <a:t> באמצעות </a:t>
            </a:r>
            <a:r>
              <a:rPr lang="en-US" b="1" i="0" dirty="0" err="1">
                <a:solidFill>
                  <a:srgbClr val="0D0D0D"/>
                </a:solidFill>
                <a:effectLst/>
                <a:latin typeface="ui-sans-serif"/>
              </a:rPr>
              <a:t>nmap</a:t>
            </a:r>
            <a:endParaRPr lang="en-US" b="1" i="0" dirty="0">
              <a:solidFill>
                <a:srgbClr val="0D0D0D"/>
              </a:solidFill>
              <a:effectLst/>
              <a:latin typeface="ui-sans-serif"/>
            </a:endParaRPr>
          </a:p>
          <a:p>
            <a:pPr algn="l"/>
            <a:r>
              <a:rPr lang="en-US" dirty="0" err="1"/>
              <a:t>nmap</a:t>
            </a:r>
            <a:r>
              <a:rPr lang="en-US" dirty="0"/>
              <a:t> -p1-1000 -</a:t>
            </a:r>
            <a:r>
              <a:rPr lang="en-US" dirty="0" err="1"/>
              <a:t>sS</a:t>
            </a:r>
            <a:r>
              <a:rPr lang="en-US" dirty="0"/>
              <a:t> &lt;target&gt;</a:t>
            </a:r>
          </a:p>
          <a:p>
            <a:r>
              <a:rPr lang="he-IL" b="0" i="0" dirty="0">
                <a:solidFill>
                  <a:srgbClr val="0D0D0D"/>
                </a:solidFill>
                <a:effectLst/>
                <a:latin typeface="ui-sans-serif"/>
              </a:rPr>
              <a:t>אם היציאות מסומנות כ- </a:t>
            </a:r>
            <a:r>
              <a:rPr lang="en-US" b="0" i="0" dirty="0">
                <a:solidFill>
                  <a:srgbClr val="0D0D0D"/>
                </a:solidFill>
                <a:effectLst/>
                <a:latin typeface="ui-sans-serif"/>
              </a:rPr>
              <a:t> Filtered</a:t>
            </a:r>
            <a:r>
              <a:rPr lang="he-IL" b="0" i="0" dirty="0">
                <a:solidFill>
                  <a:srgbClr val="0D0D0D"/>
                </a:solidFill>
                <a:effectLst/>
                <a:latin typeface="ui-sans-serif"/>
              </a:rPr>
              <a:t>סביר להניח שיש </a:t>
            </a:r>
            <a:r>
              <a:rPr lang="en-US" b="0" i="0" dirty="0">
                <a:solidFill>
                  <a:srgbClr val="0D0D0D"/>
                </a:solidFill>
                <a:effectLst/>
                <a:latin typeface="ui-sans-serif"/>
              </a:rPr>
              <a:t>Firewall</a:t>
            </a:r>
            <a:r>
              <a:rPr lang="he-IL" b="0" i="0" dirty="0">
                <a:solidFill>
                  <a:srgbClr val="0D0D0D"/>
                </a:solidFill>
                <a:effectLst/>
                <a:latin typeface="ui-sans-serif"/>
              </a:rPr>
              <a:t>.</a:t>
            </a:r>
            <a:endParaRPr lang="en-US" b="0" i="0" dirty="0">
              <a:solidFill>
                <a:srgbClr val="0D0D0D"/>
              </a:solidFill>
              <a:effectLst/>
              <a:latin typeface="ui-sans-serif"/>
            </a:endParaRPr>
          </a:p>
          <a:p>
            <a:endParaRPr lang="he-IL" dirty="0"/>
          </a:p>
        </p:txBody>
      </p:sp>
    </p:spTree>
    <p:extLst>
      <p:ext uri="{BB962C8B-B14F-4D97-AF65-F5344CB8AC3E}">
        <p14:creationId xmlns:p14="http://schemas.microsoft.com/office/powerpoint/2010/main" val="35632176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מציין מיקום תוכן 4">
            <a:extLst>
              <a:ext uri="{FF2B5EF4-FFF2-40B4-BE49-F238E27FC236}">
                <a16:creationId xmlns:a16="http://schemas.microsoft.com/office/drawing/2014/main" id="{10F82E3D-9698-7491-B44F-1300A56DE7E4}"/>
              </a:ext>
            </a:extLst>
          </p:cNvPr>
          <p:cNvPicPr>
            <a:picLocks noGrp="1" noChangeAspect="1"/>
          </p:cNvPicPr>
          <p:nvPr>
            <p:ph idx="1"/>
          </p:nvPr>
        </p:nvPicPr>
        <p:blipFill>
          <a:blip r:embed="rId2"/>
          <a:stretch>
            <a:fillRect/>
          </a:stretch>
        </p:blipFill>
        <p:spPr>
          <a:xfrm>
            <a:off x="1933124" y="1240741"/>
            <a:ext cx="7746709" cy="3505386"/>
          </a:xfrm>
          <a:prstGeom prst="rect">
            <a:avLst/>
          </a:prstGeom>
        </p:spPr>
      </p:pic>
    </p:spTree>
    <p:extLst>
      <p:ext uri="{BB962C8B-B14F-4D97-AF65-F5344CB8AC3E}">
        <p14:creationId xmlns:p14="http://schemas.microsoft.com/office/powerpoint/2010/main" val="21446893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74FF3DD-BD3E-446E-A61E-73E893CD8BFE}"/>
              </a:ext>
            </a:extLst>
          </p:cNvPr>
          <p:cNvSpPr>
            <a:spLocks noGrp="1"/>
          </p:cNvSpPr>
          <p:nvPr>
            <p:ph type="title"/>
          </p:nvPr>
        </p:nvSpPr>
        <p:spPr>
          <a:xfrm>
            <a:off x="9238268" y="642594"/>
            <a:ext cx="1886932" cy="1371600"/>
          </a:xfrm>
        </p:spPr>
        <p:txBody>
          <a:bodyPr/>
          <a:lstStyle/>
          <a:p>
            <a:r>
              <a:rPr lang="he-IL" dirty="0"/>
              <a:t>שאלות</a:t>
            </a:r>
          </a:p>
        </p:txBody>
      </p:sp>
      <p:sp>
        <p:nvSpPr>
          <p:cNvPr id="3" name="מציין מיקום תוכן 2">
            <a:extLst>
              <a:ext uri="{FF2B5EF4-FFF2-40B4-BE49-F238E27FC236}">
                <a16:creationId xmlns:a16="http://schemas.microsoft.com/office/drawing/2014/main" id="{FC9E1529-2CBD-4B09-81B5-54C4FF2962E8}"/>
              </a:ext>
            </a:extLst>
          </p:cNvPr>
          <p:cNvSpPr>
            <a:spLocks noGrp="1"/>
          </p:cNvSpPr>
          <p:nvPr>
            <p:ph idx="1"/>
          </p:nvPr>
        </p:nvSpPr>
        <p:spPr/>
        <p:txBody>
          <a:bodyPr/>
          <a:lstStyle/>
          <a:p>
            <a:r>
              <a:rPr lang="he-IL" dirty="0"/>
              <a:t>1. מה ההבדל בין </a:t>
            </a:r>
            <a:r>
              <a:rPr lang="en-US" dirty="0"/>
              <a:t> Firewall</a:t>
            </a:r>
            <a:r>
              <a:rPr lang="he-IL" dirty="0"/>
              <a:t>ל- </a:t>
            </a:r>
            <a:r>
              <a:rPr lang="en-US" dirty="0"/>
              <a:t>Proxy</a:t>
            </a:r>
            <a:r>
              <a:rPr lang="he-IL" dirty="0"/>
              <a:t>?</a:t>
            </a:r>
          </a:p>
          <a:p>
            <a:r>
              <a:rPr lang="he-IL" dirty="0"/>
              <a:t>2. איזה סוגי </a:t>
            </a:r>
            <a:r>
              <a:rPr lang="he-IL" dirty="0" err="1"/>
              <a:t>פיירוול</a:t>
            </a:r>
            <a:r>
              <a:rPr lang="he-IL" dirty="0"/>
              <a:t> אתה מכיר?</a:t>
            </a:r>
          </a:p>
          <a:p>
            <a:r>
              <a:rPr lang="he-IL" dirty="0"/>
              <a:t>3. מתי כדאי להשתמש ב-</a:t>
            </a:r>
            <a:r>
              <a:rPr lang="en-US" dirty="0"/>
              <a:t>Proxy </a:t>
            </a:r>
            <a:r>
              <a:rPr lang="he-IL" dirty="0"/>
              <a:t>?</a:t>
            </a:r>
          </a:p>
          <a:p>
            <a:endParaRPr lang="he-IL" dirty="0"/>
          </a:p>
        </p:txBody>
      </p:sp>
    </p:spTree>
    <p:extLst>
      <p:ext uri="{BB962C8B-B14F-4D97-AF65-F5344CB8AC3E}">
        <p14:creationId xmlns:p14="http://schemas.microsoft.com/office/powerpoint/2010/main" val="17253414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3C0BD39-5E33-42E8-A6D0-E9B478F2E906}"/>
              </a:ext>
            </a:extLst>
          </p:cNvPr>
          <p:cNvSpPr>
            <a:spLocks noGrp="1"/>
          </p:cNvSpPr>
          <p:nvPr>
            <p:ph type="title"/>
          </p:nvPr>
        </p:nvSpPr>
        <p:spPr>
          <a:xfrm>
            <a:off x="9030878" y="642594"/>
            <a:ext cx="2094322" cy="1371600"/>
          </a:xfrm>
        </p:spPr>
        <p:txBody>
          <a:bodyPr/>
          <a:lstStyle/>
          <a:p>
            <a:r>
              <a:rPr lang="he-IL" dirty="0"/>
              <a:t>תשובות</a:t>
            </a:r>
          </a:p>
        </p:txBody>
      </p:sp>
      <p:sp>
        <p:nvSpPr>
          <p:cNvPr id="3" name="מציין מיקום תוכן 2">
            <a:extLst>
              <a:ext uri="{FF2B5EF4-FFF2-40B4-BE49-F238E27FC236}">
                <a16:creationId xmlns:a16="http://schemas.microsoft.com/office/drawing/2014/main" id="{4EC8CAAC-BDD4-45E4-A45E-C7A22C3CE5B9}"/>
              </a:ext>
            </a:extLst>
          </p:cNvPr>
          <p:cNvSpPr>
            <a:spLocks noGrp="1"/>
          </p:cNvSpPr>
          <p:nvPr>
            <p:ph idx="1"/>
          </p:nvPr>
        </p:nvSpPr>
        <p:spPr/>
        <p:txBody>
          <a:bodyPr>
            <a:normAutofit/>
          </a:bodyPr>
          <a:lstStyle/>
          <a:p>
            <a:r>
              <a:rPr lang="he-IL" dirty="0"/>
              <a:t>1.</a:t>
            </a:r>
            <a:r>
              <a:rPr lang="en-US" dirty="0"/>
              <a:t> :</a:t>
            </a:r>
            <a:r>
              <a:rPr lang="en-US" b="1" dirty="0"/>
              <a:t>Firewall</a:t>
            </a:r>
            <a:r>
              <a:rPr lang="en-US" dirty="0"/>
              <a:t> </a:t>
            </a:r>
            <a:r>
              <a:rPr lang="he-IL" dirty="0"/>
              <a:t>משמש להגנה על הרשת מפני גישה לא מורשית ומתקפות. הוא מסנן את התעבורה הנכנסת והיוצאת ברמת </a:t>
            </a:r>
            <a:r>
              <a:rPr lang="he-IL" b="1" dirty="0"/>
              <a:t>רשת</a:t>
            </a:r>
            <a:r>
              <a:rPr lang="he-IL" dirty="0"/>
              <a:t> לפי חוקים מוגדרים.</a:t>
            </a:r>
          </a:p>
          <a:p>
            <a:r>
              <a:rPr lang="en-US" b="1" dirty="0"/>
              <a:t>Proxy</a:t>
            </a:r>
            <a:r>
              <a:rPr lang="en-US" dirty="0"/>
              <a:t> </a:t>
            </a:r>
            <a:r>
              <a:rPr lang="he-IL" dirty="0"/>
              <a:t>: מתווך בין המשתמש לאינטרנט. הוא מסתיר את כתובת ה-</a:t>
            </a:r>
            <a:r>
              <a:rPr lang="en-US" dirty="0"/>
              <a:t>IP</a:t>
            </a:r>
            <a:r>
              <a:rPr lang="he-IL" dirty="0"/>
              <a:t>,</a:t>
            </a:r>
            <a:r>
              <a:rPr lang="en-US" dirty="0"/>
              <a:t> </a:t>
            </a:r>
            <a:r>
              <a:rPr lang="he-IL" dirty="0"/>
              <a:t>מסנן תכנים מסוימים ומשפר ביצועים (כמו טעינת דפים מהר יותר).</a:t>
            </a:r>
          </a:p>
          <a:p>
            <a:r>
              <a:rPr lang="he-IL" dirty="0"/>
              <a:t>2.</a:t>
            </a:r>
            <a:r>
              <a:rPr lang="en-US" dirty="0"/>
              <a:t> </a:t>
            </a:r>
            <a:r>
              <a:rPr lang="en-US" b="1" dirty="0"/>
              <a:t>Firewall </a:t>
            </a:r>
            <a:r>
              <a:rPr lang="he-IL" b="1" dirty="0"/>
              <a:t>מבוסס חומרה</a:t>
            </a:r>
            <a:r>
              <a:rPr lang="he-IL" dirty="0"/>
              <a:t>: מכשיר פיזי שמגן על כל הרשת (לדוגמה, בחברות וארגונים גדולים).</a:t>
            </a:r>
          </a:p>
          <a:p>
            <a:r>
              <a:rPr lang="en-US" b="1" dirty="0"/>
              <a:t> Firewall </a:t>
            </a:r>
            <a:r>
              <a:rPr lang="he-IL" b="1" dirty="0"/>
              <a:t>מבוסס תוכנה</a:t>
            </a:r>
            <a:r>
              <a:rPr lang="he-IL" dirty="0"/>
              <a:t>: תוכנה שמותקנת במחשב מסוים ומגנה על אותו המחשב (למשל </a:t>
            </a:r>
            <a:r>
              <a:rPr lang="en-US" dirty="0"/>
              <a:t>Windows Firewall</a:t>
            </a:r>
            <a:r>
              <a:rPr lang="he-IL" dirty="0"/>
              <a:t>)</a:t>
            </a:r>
            <a:endParaRPr lang="en-US" dirty="0"/>
          </a:p>
          <a:p>
            <a:r>
              <a:rPr lang="en-US" b="1" dirty="0"/>
              <a:t> Firewall </a:t>
            </a:r>
            <a:r>
              <a:rPr lang="he-IL" b="1" dirty="0"/>
              <a:t>מבוסס ענן</a:t>
            </a:r>
            <a:r>
              <a:rPr lang="he-IL" dirty="0"/>
              <a:t>:</a:t>
            </a:r>
            <a:r>
              <a:rPr lang="en-US" dirty="0"/>
              <a:t> </a:t>
            </a:r>
            <a:r>
              <a:rPr lang="he-IL" dirty="0"/>
              <a:t>שירות בענן שמסנן תעבורה באופן מרוחק ומתאים לרשתות מבוזרות.</a:t>
            </a:r>
          </a:p>
          <a:p>
            <a:endParaRPr lang="en-US" dirty="0"/>
          </a:p>
          <a:p>
            <a:endParaRPr lang="he-IL" dirty="0"/>
          </a:p>
          <a:p>
            <a:endParaRPr lang="he-IL" dirty="0"/>
          </a:p>
          <a:p>
            <a:endParaRPr lang="he-IL" dirty="0"/>
          </a:p>
          <a:p>
            <a:pPr marL="0" indent="0">
              <a:buNone/>
            </a:pPr>
            <a:endParaRPr lang="he-IL" dirty="0"/>
          </a:p>
          <a:p>
            <a:endParaRPr lang="he-IL" dirty="0"/>
          </a:p>
        </p:txBody>
      </p:sp>
    </p:spTree>
    <p:extLst>
      <p:ext uri="{BB962C8B-B14F-4D97-AF65-F5344CB8AC3E}">
        <p14:creationId xmlns:p14="http://schemas.microsoft.com/office/powerpoint/2010/main" val="36022817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8EAFFF1-9D66-4121-9D9F-B41352A33F35}"/>
              </a:ext>
            </a:extLst>
          </p:cNvPr>
          <p:cNvSpPr>
            <a:spLocks noGrp="1"/>
          </p:cNvSpPr>
          <p:nvPr>
            <p:ph type="title"/>
          </p:nvPr>
        </p:nvSpPr>
        <p:spPr>
          <a:xfrm>
            <a:off x="6985262" y="642594"/>
            <a:ext cx="4139938" cy="1371600"/>
          </a:xfrm>
        </p:spPr>
        <p:txBody>
          <a:bodyPr/>
          <a:lstStyle/>
          <a:p>
            <a:r>
              <a:rPr lang="he-IL" dirty="0"/>
              <a:t>המשך - תשובות</a:t>
            </a:r>
          </a:p>
        </p:txBody>
      </p:sp>
      <p:sp>
        <p:nvSpPr>
          <p:cNvPr id="3" name="מציין מיקום תוכן 2">
            <a:extLst>
              <a:ext uri="{FF2B5EF4-FFF2-40B4-BE49-F238E27FC236}">
                <a16:creationId xmlns:a16="http://schemas.microsoft.com/office/drawing/2014/main" id="{3663C084-1EAE-4ED4-8526-6AA5D5D995B8}"/>
              </a:ext>
            </a:extLst>
          </p:cNvPr>
          <p:cNvSpPr>
            <a:spLocks noGrp="1"/>
          </p:cNvSpPr>
          <p:nvPr>
            <p:ph idx="1"/>
          </p:nvPr>
        </p:nvSpPr>
        <p:spPr/>
        <p:txBody>
          <a:bodyPr/>
          <a:lstStyle/>
          <a:p>
            <a:r>
              <a:rPr lang="he-IL" dirty="0"/>
              <a:t>3. כשצריך </a:t>
            </a:r>
            <a:r>
              <a:rPr lang="he-IL" b="1" dirty="0"/>
              <a:t>להסתיר את הזהות</a:t>
            </a:r>
            <a:r>
              <a:rPr lang="he-IL" dirty="0"/>
              <a:t> וכתובת ה-</a:t>
            </a:r>
            <a:r>
              <a:rPr lang="en-US" dirty="0"/>
              <a:t> IP </a:t>
            </a:r>
            <a:r>
              <a:rPr lang="he-IL" dirty="0"/>
              <a:t>של המשתמש.</a:t>
            </a:r>
          </a:p>
          <a:p>
            <a:r>
              <a:rPr lang="he-IL" dirty="0"/>
              <a:t>במקרים של </a:t>
            </a:r>
            <a:r>
              <a:rPr lang="he-IL" b="1" dirty="0"/>
              <a:t>סינון תכנים</a:t>
            </a:r>
            <a:r>
              <a:rPr lang="he-IL" dirty="0"/>
              <a:t>, לדוגמה חסימת אתרים לא רצויים (כמו בבית ספר או בעבודה).</a:t>
            </a:r>
          </a:p>
          <a:p>
            <a:r>
              <a:rPr lang="he-IL" dirty="0"/>
              <a:t>לשיפור ביצועים, כי שרת</a:t>
            </a:r>
            <a:r>
              <a:rPr lang="en-US" dirty="0"/>
              <a:t> Proxy </a:t>
            </a:r>
            <a:r>
              <a:rPr lang="he-IL" dirty="0"/>
              <a:t>שומר עותקים של תכנים פופולריים ומאיץ את הגלישה.</a:t>
            </a:r>
          </a:p>
          <a:p>
            <a:endParaRPr lang="he-IL" dirty="0"/>
          </a:p>
          <a:p>
            <a:endParaRPr lang="he-IL" dirty="0"/>
          </a:p>
        </p:txBody>
      </p:sp>
    </p:spTree>
    <p:extLst>
      <p:ext uri="{BB962C8B-B14F-4D97-AF65-F5344CB8AC3E}">
        <p14:creationId xmlns:p14="http://schemas.microsoft.com/office/powerpoint/2010/main" val="29009404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a:extLst>
              <a:ext uri="{FF2B5EF4-FFF2-40B4-BE49-F238E27FC236}">
                <a16:creationId xmlns:a16="http://schemas.microsoft.com/office/drawing/2014/main" id="{177BC50B-FEE5-4270-9A5B-6AB403B5FC80}"/>
              </a:ext>
            </a:extLst>
          </p:cNvPr>
          <p:cNvSpPr>
            <a:spLocks noGrp="1"/>
          </p:cNvSpPr>
          <p:nvPr>
            <p:ph idx="1"/>
          </p:nvPr>
        </p:nvSpPr>
        <p:spPr/>
        <p:txBody>
          <a:bodyPr>
            <a:normAutofit/>
          </a:bodyPr>
          <a:lstStyle/>
          <a:p>
            <a:pPr algn="ctr"/>
            <a:r>
              <a:rPr lang="he-IL" sz="7200" dirty="0"/>
              <a:t>בקרת גלישה אגרסיבית ברשת</a:t>
            </a:r>
          </a:p>
        </p:txBody>
      </p:sp>
    </p:spTree>
    <p:extLst>
      <p:ext uri="{BB962C8B-B14F-4D97-AF65-F5344CB8AC3E}">
        <p14:creationId xmlns:p14="http://schemas.microsoft.com/office/powerpoint/2010/main" val="21795552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CAFE2D1-8BEF-4507-8C9E-EDA83711A921}"/>
              </a:ext>
            </a:extLst>
          </p:cNvPr>
          <p:cNvSpPr>
            <a:spLocks noGrp="1"/>
          </p:cNvSpPr>
          <p:nvPr>
            <p:ph type="title"/>
          </p:nvPr>
        </p:nvSpPr>
        <p:spPr>
          <a:xfrm>
            <a:off x="2384980" y="642594"/>
            <a:ext cx="8740219" cy="1371600"/>
          </a:xfrm>
        </p:spPr>
        <p:txBody>
          <a:bodyPr/>
          <a:lstStyle/>
          <a:p>
            <a:r>
              <a:rPr lang="he-IL" dirty="0"/>
              <a:t>מהי בקרת גלישה אגרסיבית ברשת?</a:t>
            </a:r>
          </a:p>
        </p:txBody>
      </p:sp>
      <p:sp>
        <p:nvSpPr>
          <p:cNvPr id="3" name="מציין מיקום תוכן 2">
            <a:extLst>
              <a:ext uri="{FF2B5EF4-FFF2-40B4-BE49-F238E27FC236}">
                <a16:creationId xmlns:a16="http://schemas.microsoft.com/office/drawing/2014/main" id="{FFDD6976-1A94-49F1-840F-6C49A0F331DC}"/>
              </a:ext>
            </a:extLst>
          </p:cNvPr>
          <p:cNvSpPr>
            <a:spLocks noGrp="1"/>
          </p:cNvSpPr>
          <p:nvPr>
            <p:ph idx="1"/>
          </p:nvPr>
        </p:nvSpPr>
        <p:spPr/>
        <p:txBody>
          <a:bodyPr/>
          <a:lstStyle/>
          <a:p>
            <a:r>
              <a:rPr lang="he-IL" dirty="0"/>
              <a:t>בקרת גלישה אגרסיבית היא מנגנון המיושם על הרשת או על תעבורת האינטרנט במטרה </a:t>
            </a:r>
            <a:r>
              <a:rPr lang="he-IL" b="1" dirty="0"/>
              <a:t>לשלוט, לסנן או להגביל גישה</a:t>
            </a:r>
            <a:r>
              <a:rPr lang="he-IL" dirty="0"/>
              <a:t> של משתמשים לכתובות או תכנים לא רצויים.</a:t>
            </a:r>
          </a:p>
          <a:p>
            <a:r>
              <a:rPr lang="he-IL" dirty="0"/>
              <a:t>בקרת גלישה כזו נחשבת "אגרסיבית" כי היא חוסמת באופן </a:t>
            </a:r>
            <a:r>
              <a:rPr lang="he-IL" b="1" dirty="0" err="1"/>
              <a:t>מיידי</a:t>
            </a:r>
            <a:r>
              <a:rPr lang="he-IL" b="1" dirty="0"/>
              <a:t>, קשיח</a:t>
            </a:r>
            <a:r>
              <a:rPr lang="he-IL" dirty="0"/>
              <a:t> ורחב תכנים מסוימים או אתרים שזוהו כמסוכנים או לא רצויים, גם אם זה יוביל לחוויית גלישה פחות גמישה.</a:t>
            </a:r>
          </a:p>
          <a:p>
            <a:endParaRPr lang="he-IL" dirty="0"/>
          </a:p>
        </p:txBody>
      </p:sp>
    </p:spTree>
    <p:extLst>
      <p:ext uri="{BB962C8B-B14F-4D97-AF65-F5344CB8AC3E}">
        <p14:creationId xmlns:p14="http://schemas.microsoft.com/office/powerpoint/2010/main" val="14124227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3A591BE-DB96-4DB1-A95F-4A90E238EBE3}"/>
              </a:ext>
            </a:extLst>
          </p:cNvPr>
          <p:cNvSpPr>
            <a:spLocks noGrp="1"/>
          </p:cNvSpPr>
          <p:nvPr>
            <p:ph type="title"/>
          </p:nvPr>
        </p:nvSpPr>
        <p:spPr>
          <a:xfrm>
            <a:off x="3469064" y="642594"/>
            <a:ext cx="7656136" cy="1371600"/>
          </a:xfrm>
        </p:spPr>
        <p:txBody>
          <a:bodyPr/>
          <a:lstStyle/>
          <a:p>
            <a:r>
              <a:rPr lang="he-IL" dirty="0"/>
              <a:t>מטרות בקרת גלישה אגרסיבית:</a:t>
            </a:r>
          </a:p>
        </p:txBody>
      </p:sp>
      <p:sp>
        <p:nvSpPr>
          <p:cNvPr id="3" name="מציין מיקום תוכן 2">
            <a:extLst>
              <a:ext uri="{FF2B5EF4-FFF2-40B4-BE49-F238E27FC236}">
                <a16:creationId xmlns:a16="http://schemas.microsoft.com/office/drawing/2014/main" id="{367F6845-F405-4EF5-841F-4388865F0E3F}"/>
              </a:ext>
            </a:extLst>
          </p:cNvPr>
          <p:cNvSpPr>
            <a:spLocks noGrp="1"/>
          </p:cNvSpPr>
          <p:nvPr>
            <p:ph idx="1"/>
          </p:nvPr>
        </p:nvSpPr>
        <p:spPr/>
        <p:txBody>
          <a:bodyPr/>
          <a:lstStyle/>
          <a:p>
            <a:r>
              <a:rPr lang="he-IL" dirty="0"/>
              <a:t>1. </a:t>
            </a:r>
            <a:r>
              <a:rPr lang="he-IL" b="1" dirty="0"/>
              <a:t>שמירה על אבטחת מידע: </a:t>
            </a:r>
            <a:r>
              <a:rPr lang="he-IL" dirty="0"/>
              <a:t>חסימת אתרים מסוכנים שמכילים קבצים זדוניים (כגון וירוסים ותוכנות ריגול).</a:t>
            </a:r>
          </a:p>
          <a:p>
            <a:r>
              <a:rPr lang="he-IL" dirty="0"/>
              <a:t>2. </a:t>
            </a:r>
            <a:r>
              <a:rPr lang="he-IL" b="1" dirty="0"/>
              <a:t>הגנה מפני ניסיונות </a:t>
            </a:r>
            <a:r>
              <a:rPr lang="he-IL" b="1" dirty="0" err="1"/>
              <a:t>דיוג</a:t>
            </a:r>
            <a:r>
              <a:rPr lang="he-IL" b="1" dirty="0"/>
              <a:t> </a:t>
            </a:r>
            <a:r>
              <a:rPr lang="en-US" b="1" dirty="0"/>
              <a:t> :(Phishing)</a:t>
            </a:r>
            <a:r>
              <a:rPr lang="he-IL" dirty="0"/>
              <a:t>מניעת גישה לאתרים שמתחזים לאתרים לגיטימיים (למשל בנקים או שירותי דוא"ל).</a:t>
            </a:r>
          </a:p>
          <a:p>
            <a:r>
              <a:rPr lang="he-IL" dirty="0"/>
              <a:t>3. </a:t>
            </a:r>
            <a:r>
              <a:rPr lang="he-IL" b="1" dirty="0"/>
              <a:t>הגבלת גישה לתוכן לא רצוי: </a:t>
            </a:r>
            <a:r>
              <a:rPr lang="he-IL" dirty="0"/>
              <a:t>חסימת אתרים שאינם מתאימים לארגון, כגון אתרי הימורים, פורנוגרפיה או משחקים.</a:t>
            </a:r>
          </a:p>
          <a:p>
            <a:r>
              <a:rPr lang="he-IL" dirty="0"/>
              <a:t>4. </a:t>
            </a:r>
            <a:r>
              <a:rPr lang="he-IL" b="1" dirty="0"/>
              <a:t>ניהול יעיל של רוחב פס: </a:t>
            </a:r>
            <a:r>
              <a:rPr lang="he-IL" dirty="0"/>
              <a:t>מניעת גלישה באתרים כבדי תעבורה (למשל וידאו והזרמת תוכן), כדי לשפר ביצועי הרשת.</a:t>
            </a:r>
          </a:p>
          <a:p>
            <a:endParaRPr lang="he-IL" dirty="0"/>
          </a:p>
          <a:p>
            <a:endParaRPr lang="he-IL" dirty="0"/>
          </a:p>
          <a:p>
            <a:endParaRPr lang="he-IL" dirty="0"/>
          </a:p>
        </p:txBody>
      </p:sp>
    </p:spTree>
    <p:extLst>
      <p:ext uri="{BB962C8B-B14F-4D97-AF65-F5344CB8AC3E}">
        <p14:creationId xmlns:p14="http://schemas.microsoft.com/office/powerpoint/2010/main" val="37375548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ED79D46F-341D-463D-860F-E9B5E82EE8EC}"/>
              </a:ext>
            </a:extLst>
          </p:cNvPr>
          <p:cNvSpPr>
            <a:spLocks noGrp="1"/>
          </p:cNvSpPr>
          <p:nvPr>
            <p:ph type="title"/>
          </p:nvPr>
        </p:nvSpPr>
        <p:spPr>
          <a:xfrm>
            <a:off x="4100660" y="642594"/>
            <a:ext cx="7024540" cy="1371600"/>
          </a:xfrm>
        </p:spPr>
        <p:txBody>
          <a:bodyPr/>
          <a:lstStyle/>
          <a:p>
            <a:r>
              <a:rPr lang="he-IL" dirty="0"/>
              <a:t>איפה מיושמת בקרת גלישה?</a:t>
            </a:r>
          </a:p>
        </p:txBody>
      </p:sp>
      <p:sp>
        <p:nvSpPr>
          <p:cNvPr id="3" name="מציין מיקום תוכן 2">
            <a:extLst>
              <a:ext uri="{FF2B5EF4-FFF2-40B4-BE49-F238E27FC236}">
                <a16:creationId xmlns:a16="http://schemas.microsoft.com/office/drawing/2014/main" id="{90EAA79A-01B0-440D-AC67-44B1A08BDC2B}"/>
              </a:ext>
            </a:extLst>
          </p:cNvPr>
          <p:cNvSpPr>
            <a:spLocks noGrp="1"/>
          </p:cNvSpPr>
          <p:nvPr>
            <p:ph idx="1"/>
          </p:nvPr>
        </p:nvSpPr>
        <p:spPr/>
        <p:txBody>
          <a:bodyPr/>
          <a:lstStyle/>
          <a:p>
            <a:r>
              <a:rPr lang="he-IL" dirty="0"/>
              <a:t>בקרת גלישה יכולה להתבצע בכמה מקומות:</a:t>
            </a:r>
          </a:p>
          <a:p>
            <a:r>
              <a:rPr lang="he-IL" dirty="0"/>
              <a:t>1. </a:t>
            </a:r>
            <a:r>
              <a:rPr lang="he-IL" b="1" dirty="0" err="1"/>
              <a:t>בפיירוול</a:t>
            </a:r>
            <a:r>
              <a:rPr lang="he-IL" b="1" dirty="0"/>
              <a:t> </a:t>
            </a:r>
            <a:r>
              <a:rPr lang="en-US" b="1" dirty="0"/>
              <a:t> :(Firewall)</a:t>
            </a:r>
            <a:r>
              <a:rPr lang="he-IL" dirty="0"/>
              <a:t>חוקים שמגבילים את התעבורה הנכנסת והיוצאת.</a:t>
            </a:r>
          </a:p>
          <a:p>
            <a:r>
              <a:rPr lang="he-IL" dirty="0"/>
              <a:t>2. </a:t>
            </a:r>
            <a:r>
              <a:rPr lang="he-IL" b="1" dirty="0"/>
              <a:t>בשרת </a:t>
            </a:r>
            <a:r>
              <a:rPr lang="en-US" b="1" dirty="0"/>
              <a:t>Proxy</a:t>
            </a:r>
            <a:r>
              <a:rPr lang="he-IL" b="1" dirty="0"/>
              <a:t>: </a:t>
            </a:r>
            <a:r>
              <a:rPr lang="he-IL" dirty="0"/>
              <a:t>מסנן תכנים לפני שהמשתמש ניגש לאתר.</a:t>
            </a:r>
          </a:p>
          <a:p>
            <a:r>
              <a:rPr lang="he-IL" dirty="0"/>
              <a:t>3. </a:t>
            </a:r>
            <a:r>
              <a:rPr lang="he-IL" b="1" dirty="0"/>
              <a:t>בתוכנות ייעודיות לניהול רשת</a:t>
            </a:r>
            <a:r>
              <a:rPr lang="he-IL" dirty="0"/>
              <a:t> - כגון </a:t>
            </a:r>
            <a:r>
              <a:rPr lang="en-US" dirty="0"/>
              <a:t> :</a:t>
            </a:r>
            <a:r>
              <a:rPr lang="en-US" b="1" dirty="0"/>
              <a:t>Web Filters</a:t>
            </a:r>
            <a:r>
              <a:rPr lang="en-US" dirty="0"/>
              <a:t> </a:t>
            </a:r>
            <a:r>
              <a:rPr lang="he-IL" dirty="0"/>
              <a:t>או מערכות בקרת תכנים.</a:t>
            </a:r>
          </a:p>
          <a:p>
            <a:r>
              <a:rPr lang="he-IL" dirty="0"/>
              <a:t>4. </a:t>
            </a:r>
            <a:r>
              <a:rPr lang="he-IL" b="1" dirty="0"/>
              <a:t>בנתב הרשת (</a:t>
            </a:r>
            <a:r>
              <a:rPr lang="en-US" b="1" dirty="0"/>
              <a:t>Router</a:t>
            </a:r>
            <a:r>
              <a:rPr lang="he-IL" b="1" dirty="0"/>
              <a:t>): </a:t>
            </a:r>
            <a:r>
              <a:rPr lang="he-IL" dirty="0"/>
              <a:t>חסימה לפי כתובות </a:t>
            </a:r>
            <a:r>
              <a:rPr lang="en-US" dirty="0"/>
              <a:t> IP</a:t>
            </a:r>
            <a:r>
              <a:rPr lang="he-IL" dirty="0"/>
              <a:t>או </a:t>
            </a:r>
            <a:r>
              <a:rPr lang="en-US" dirty="0"/>
              <a:t>DNS</a:t>
            </a:r>
            <a:r>
              <a:rPr lang="he-IL" dirty="0"/>
              <a:t>.</a:t>
            </a:r>
          </a:p>
        </p:txBody>
      </p:sp>
    </p:spTree>
    <p:extLst>
      <p:ext uri="{BB962C8B-B14F-4D97-AF65-F5344CB8AC3E}">
        <p14:creationId xmlns:p14="http://schemas.microsoft.com/office/powerpoint/2010/main" val="6494678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3CCFA4B-DDF2-4A4F-84C9-442FB4574D79}"/>
              </a:ext>
            </a:extLst>
          </p:cNvPr>
          <p:cNvSpPr>
            <a:spLocks noGrp="1"/>
          </p:cNvSpPr>
          <p:nvPr>
            <p:ph type="title"/>
          </p:nvPr>
        </p:nvSpPr>
        <p:spPr>
          <a:xfrm>
            <a:off x="1970202" y="642594"/>
            <a:ext cx="9154998" cy="1371600"/>
          </a:xfrm>
        </p:spPr>
        <p:txBody>
          <a:bodyPr>
            <a:normAutofit fontScale="90000"/>
          </a:bodyPr>
          <a:lstStyle/>
          <a:p>
            <a:r>
              <a:rPr lang="he-IL" dirty="0"/>
              <a:t>טכנולוגיות ליישום בקרת גלישה אגרסיבית</a:t>
            </a:r>
          </a:p>
        </p:txBody>
      </p:sp>
      <p:sp>
        <p:nvSpPr>
          <p:cNvPr id="3" name="מציין מיקום תוכן 2">
            <a:extLst>
              <a:ext uri="{FF2B5EF4-FFF2-40B4-BE49-F238E27FC236}">
                <a16:creationId xmlns:a16="http://schemas.microsoft.com/office/drawing/2014/main" id="{8752CD31-9ECB-4AC0-BEFE-D5344F880197}"/>
              </a:ext>
            </a:extLst>
          </p:cNvPr>
          <p:cNvSpPr>
            <a:spLocks noGrp="1"/>
          </p:cNvSpPr>
          <p:nvPr>
            <p:ph idx="1"/>
          </p:nvPr>
        </p:nvSpPr>
        <p:spPr>
          <a:xfrm>
            <a:off x="838200" y="1825625"/>
            <a:ext cx="10515600" cy="4839126"/>
          </a:xfrm>
        </p:spPr>
        <p:txBody>
          <a:bodyPr>
            <a:normAutofit/>
          </a:bodyPr>
          <a:lstStyle/>
          <a:p>
            <a:r>
              <a:rPr lang="he-IL" dirty="0"/>
              <a:t>1. </a:t>
            </a:r>
            <a:r>
              <a:rPr lang="he-IL" b="1" dirty="0" err="1"/>
              <a:t>פיירוולים</a:t>
            </a:r>
            <a:r>
              <a:rPr lang="he-IL" b="1" dirty="0"/>
              <a:t>: </a:t>
            </a:r>
            <a:r>
              <a:rPr lang="he-IL" dirty="0"/>
              <a:t>משמשים לבקרה על התעבורה הנכנסת והיוצאת מהרשת.</a:t>
            </a:r>
          </a:p>
          <a:p>
            <a:r>
              <a:rPr lang="he-IL" dirty="0"/>
              <a:t>מבוססים על חוקים מוגדרים מראש </a:t>
            </a:r>
            <a:r>
              <a:rPr lang="en-US" dirty="0"/>
              <a:t>Access Control Lists - ACL)</a:t>
            </a:r>
            <a:r>
              <a:rPr lang="he-IL" dirty="0"/>
              <a:t>) – את זה תלמדו את </a:t>
            </a:r>
            <a:r>
              <a:rPr lang="he-IL" dirty="0" err="1"/>
              <a:t>מרגי</a:t>
            </a:r>
            <a:endParaRPr lang="he-IL" dirty="0"/>
          </a:p>
          <a:p>
            <a:r>
              <a:rPr lang="he-IL" dirty="0"/>
              <a:t>2. </a:t>
            </a:r>
            <a:r>
              <a:rPr lang="he-IL" b="1" dirty="0"/>
              <a:t>שרת </a:t>
            </a:r>
            <a:r>
              <a:rPr lang="en-US" b="1" dirty="0"/>
              <a:t>Proxy</a:t>
            </a:r>
            <a:r>
              <a:rPr lang="he-IL" b="1" dirty="0"/>
              <a:t>: </a:t>
            </a:r>
            <a:r>
              <a:rPr lang="he-IL" dirty="0"/>
              <a:t>משמש כמתווך בין המשתמש לאינטרנט ומסנן תכנים לפי </a:t>
            </a:r>
            <a:r>
              <a:rPr lang="he-IL" b="1" dirty="0"/>
              <a:t>רשימות שחורות</a:t>
            </a:r>
            <a:r>
              <a:rPr lang="he-IL" dirty="0"/>
              <a:t> או </a:t>
            </a:r>
            <a:r>
              <a:rPr lang="he-IL" b="1" dirty="0"/>
              <a:t>לבנות</a:t>
            </a:r>
            <a:r>
              <a:rPr lang="he-IL" dirty="0"/>
              <a:t>.</a:t>
            </a:r>
          </a:p>
          <a:p>
            <a:r>
              <a:rPr lang="he-IL" dirty="0"/>
              <a:t>3. </a:t>
            </a:r>
            <a:r>
              <a:rPr lang="en-US" dirty="0"/>
              <a:t> </a:t>
            </a:r>
            <a:r>
              <a:rPr lang="en-US" b="1" dirty="0"/>
              <a:t>DNS Filtering </a:t>
            </a:r>
            <a:r>
              <a:rPr lang="he-IL" b="1" dirty="0"/>
              <a:t>סינון: </a:t>
            </a:r>
            <a:r>
              <a:rPr lang="he-IL" dirty="0"/>
              <a:t>חסימה מבוססת על שמות </a:t>
            </a:r>
            <a:r>
              <a:rPr lang="he-IL" dirty="0" err="1"/>
              <a:t>דומיינים</a:t>
            </a:r>
            <a:r>
              <a:rPr lang="en-US" dirty="0"/>
              <a:t>(URL) </a:t>
            </a:r>
            <a:r>
              <a:rPr lang="he-IL" dirty="0"/>
              <a:t>המנותבים לשירות סינון חיצוני.</a:t>
            </a:r>
          </a:p>
          <a:p>
            <a:r>
              <a:rPr lang="he-IL" dirty="0"/>
              <a:t>4. </a:t>
            </a:r>
            <a:r>
              <a:rPr lang="en-US" dirty="0"/>
              <a:t> </a:t>
            </a:r>
            <a:r>
              <a:rPr lang="en-US" b="1" dirty="0"/>
              <a:t>Web Filtering Appliances </a:t>
            </a:r>
            <a:r>
              <a:rPr lang="he-IL" b="1" dirty="0"/>
              <a:t>מערכות סינון תכנים:</a:t>
            </a:r>
            <a:endParaRPr lang="he-IL" dirty="0"/>
          </a:p>
          <a:p>
            <a:r>
              <a:rPr lang="he-IL" dirty="0"/>
              <a:t>התקנים ייעודיים לבקרת גלישה שמסננים תכנים לפי קטגוריות או פרמטרים אחרים.</a:t>
            </a:r>
          </a:p>
          <a:p>
            <a:r>
              <a:rPr lang="he-IL" dirty="0"/>
              <a:t>5. </a:t>
            </a:r>
            <a:r>
              <a:rPr lang="he-IL" b="1" dirty="0"/>
              <a:t>אנטי-וירוס עם יכולות בקרת גלישה: </a:t>
            </a:r>
            <a:r>
              <a:rPr lang="he-IL" dirty="0"/>
              <a:t>חלק מתוכנות האנטי-וירוס המתקדמות מספקות גם יכולות סינון אתרים</a:t>
            </a:r>
          </a:p>
          <a:p>
            <a:endParaRPr lang="he-IL" dirty="0"/>
          </a:p>
          <a:p>
            <a:endParaRPr lang="he-IL" dirty="0"/>
          </a:p>
          <a:p>
            <a:endParaRPr lang="en-US" dirty="0"/>
          </a:p>
          <a:p>
            <a:endParaRPr lang="he-IL" dirty="0"/>
          </a:p>
        </p:txBody>
      </p:sp>
    </p:spTree>
    <p:extLst>
      <p:ext uri="{BB962C8B-B14F-4D97-AF65-F5344CB8AC3E}">
        <p14:creationId xmlns:p14="http://schemas.microsoft.com/office/powerpoint/2010/main" val="35893136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D60692AC-47D8-4BE3-B417-E99814351B24}"/>
              </a:ext>
            </a:extLst>
          </p:cNvPr>
          <p:cNvSpPr>
            <a:spLocks noGrp="1"/>
          </p:cNvSpPr>
          <p:nvPr>
            <p:ph type="title"/>
          </p:nvPr>
        </p:nvSpPr>
        <p:spPr>
          <a:xfrm>
            <a:off x="2224726" y="642594"/>
            <a:ext cx="8900474" cy="1371600"/>
          </a:xfrm>
        </p:spPr>
        <p:txBody>
          <a:bodyPr/>
          <a:lstStyle/>
          <a:p>
            <a:r>
              <a:rPr lang="he-IL" dirty="0"/>
              <a:t>שיטות יישום בקרת גלישה אגרסיבית</a:t>
            </a:r>
          </a:p>
        </p:txBody>
      </p:sp>
      <p:sp>
        <p:nvSpPr>
          <p:cNvPr id="3" name="מציין מיקום תוכן 2">
            <a:extLst>
              <a:ext uri="{FF2B5EF4-FFF2-40B4-BE49-F238E27FC236}">
                <a16:creationId xmlns:a16="http://schemas.microsoft.com/office/drawing/2014/main" id="{21128F05-4C8E-4C92-B759-15569424EC28}"/>
              </a:ext>
            </a:extLst>
          </p:cNvPr>
          <p:cNvSpPr>
            <a:spLocks noGrp="1"/>
          </p:cNvSpPr>
          <p:nvPr>
            <p:ph idx="1"/>
          </p:nvPr>
        </p:nvSpPr>
        <p:spPr>
          <a:xfrm>
            <a:off x="838200" y="1825624"/>
            <a:ext cx="10515600" cy="5032375"/>
          </a:xfrm>
        </p:spPr>
        <p:txBody>
          <a:bodyPr>
            <a:normAutofit/>
          </a:bodyPr>
          <a:lstStyle/>
          <a:p>
            <a:r>
              <a:rPr lang="he-IL" dirty="0"/>
              <a:t>1. </a:t>
            </a:r>
            <a:r>
              <a:rPr lang="he-IL" b="1" dirty="0"/>
              <a:t>סינון לפי כתובת</a:t>
            </a:r>
            <a:r>
              <a:rPr lang="en-US" b="1" dirty="0"/>
              <a:t>IP </a:t>
            </a:r>
            <a:r>
              <a:rPr lang="he-IL" b="1" dirty="0"/>
              <a:t> או </a:t>
            </a:r>
            <a:r>
              <a:rPr lang="en-US" b="1" dirty="0"/>
              <a:t> :URL</a:t>
            </a:r>
            <a:r>
              <a:rPr lang="he-IL" dirty="0"/>
              <a:t>חסימת גישה לאתרים ספציפיים על בסיס כתובת</a:t>
            </a:r>
            <a:r>
              <a:rPr lang="en-US" dirty="0"/>
              <a:t> IP </a:t>
            </a:r>
            <a:r>
              <a:rPr lang="he-IL" dirty="0"/>
              <a:t>או דומיין.</a:t>
            </a:r>
          </a:p>
          <a:p>
            <a:r>
              <a:rPr lang="he-IL" b="1" dirty="0"/>
              <a:t>דוגמה:</a:t>
            </a:r>
            <a:r>
              <a:rPr lang="he-IL" dirty="0"/>
              <a:t> חסימת כל האתרים המכילים את המילה </a:t>
            </a:r>
            <a:r>
              <a:rPr lang="en-US" dirty="0"/>
              <a:t> "social" </a:t>
            </a:r>
            <a:r>
              <a:rPr lang="he-IL" dirty="0"/>
              <a:t>או </a:t>
            </a:r>
            <a:r>
              <a:rPr lang="en-US" dirty="0"/>
              <a:t>game"</a:t>
            </a:r>
            <a:r>
              <a:rPr lang="he-IL" dirty="0"/>
              <a:t>"</a:t>
            </a:r>
          </a:p>
          <a:p>
            <a:r>
              <a:rPr lang="he-IL" dirty="0"/>
              <a:t>2.</a:t>
            </a:r>
            <a:r>
              <a:rPr lang="en-US" b="1" dirty="0"/>
              <a:t>Whitelisting </a:t>
            </a:r>
            <a:r>
              <a:rPr lang="he-IL" b="1" dirty="0"/>
              <a:t> (רשימה לבנה):</a:t>
            </a:r>
            <a:endParaRPr lang="he-IL" dirty="0"/>
          </a:p>
          <a:p>
            <a:r>
              <a:rPr lang="he-IL" dirty="0"/>
              <a:t>רק אתרים מאושרים ברשימה הלבנה יהיו נגישים. כל היתר ייחסמו.</a:t>
            </a:r>
          </a:p>
          <a:p>
            <a:r>
              <a:rPr lang="he-IL" dirty="0"/>
              <a:t>מתאים לארגונים עם דרישות אבטחה קפדניות (כגון בנקים, צבא).</a:t>
            </a:r>
          </a:p>
          <a:p>
            <a:r>
              <a:rPr lang="he-IL" dirty="0"/>
              <a:t>3. </a:t>
            </a:r>
            <a:r>
              <a:rPr lang="en-US" dirty="0"/>
              <a:t>) </a:t>
            </a:r>
            <a:r>
              <a:rPr lang="en-US" b="1" dirty="0"/>
              <a:t>Blacklisting</a:t>
            </a:r>
            <a:r>
              <a:rPr lang="he-IL" b="1" dirty="0"/>
              <a:t>רשימה שחורה):</a:t>
            </a:r>
            <a:endParaRPr lang="he-IL" dirty="0"/>
          </a:p>
          <a:p>
            <a:r>
              <a:rPr lang="he-IL" dirty="0"/>
              <a:t>חסימה של אתרים מסוימים או קטגוריות אתרים ידועים מראש (כגון הימורים, פורנוגרפיה).</a:t>
            </a:r>
          </a:p>
          <a:p>
            <a:r>
              <a:rPr lang="he-IL" dirty="0"/>
              <a:t>4. </a:t>
            </a:r>
            <a:r>
              <a:rPr lang="he-IL" b="1" dirty="0"/>
              <a:t>סינון לפי מילות מפתח: </a:t>
            </a:r>
            <a:r>
              <a:rPr lang="he-IL" dirty="0"/>
              <a:t>חסימה של עמודים המכילים מילות מפתח אסורות.</a:t>
            </a:r>
          </a:p>
          <a:p>
            <a:r>
              <a:rPr lang="he-IL" dirty="0"/>
              <a:t>5. </a:t>
            </a:r>
            <a:r>
              <a:rPr lang="he-IL" b="1" dirty="0"/>
              <a:t>סינון לפי קטגוריות (</a:t>
            </a:r>
            <a:r>
              <a:rPr lang="en-US" b="1" dirty="0"/>
              <a:t>Content Categories</a:t>
            </a:r>
            <a:r>
              <a:rPr lang="he-IL" b="1" dirty="0"/>
              <a:t>): </a:t>
            </a:r>
            <a:r>
              <a:rPr lang="he-IL" dirty="0"/>
              <a:t>שירותי סינון אוטומטיים המסווגים אתרים לפי תוכן (חינוך, בידור, חדשות, פורנוגרפיה, וכו').</a:t>
            </a:r>
          </a:p>
          <a:p>
            <a:endParaRPr lang="he-IL" dirty="0"/>
          </a:p>
          <a:p>
            <a:pPr marL="0" indent="0">
              <a:buNone/>
            </a:pPr>
            <a:endParaRPr lang="he-IL" dirty="0"/>
          </a:p>
        </p:txBody>
      </p:sp>
    </p:spTree>
    <p:extLst>
      <p:ext uri="{BB962C8B-B14F-4D97-AF65-F5344CB8AC3E}">
        <p14:creationId xmlns:p14="http://schemas.microsoft.com/office/powerpoint/2010/main" val="42351103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254CDA5-BFA7-4C56-9D6D-F5425940C060}"/>
              </a:ext>
            </a:extLst>
          </p:cNvPr>
          <p:cNvSpPr>
            <a:spLocks noGrp="1"/>
          </p:cNvSpPr>
          <p:nvPr>
            <p:ph type="title"/>
          </p:nvPr>
        </p:nvSpPr>
        <p:spPr>
          <a:xfrm>
            <a:off x="1253764" y="642594"/>
            <a:ext cx="9871435" cy="1371600"/>
          </a:xfrm>
        </p:spPr>
        <p:txBody>
          <a:bodyPr>
            <a:normAutofit fontScale="90000"/>
          </a:bodyPr>
          <a:lstStyle/>
          <a:p>
            <a:r>
              <a:rPr lang="he-IL" dirty="0"/>
              <a:t>יתרונות וחסרונות של בקרת גלישה אגרסיבית</a:t>
            </a:r>
          </a:p>
        </p:txBody>
      </p:sp>
      <p:sp>
        <p:nvSpPr>
          <p:cNvPr id="3" name="מציין מיקום תוכן 2">
            <a:extLst>
              <a:ext uri="{FF2B5EF4-FFF2-40B4-BE49-F238E27FC236}">
                <a16:creationId xmlns:a16="http://schemas.microsoft.com/office/drawing/2014/main" id="{B3027A9A-3A55-4394-8050-72C2365BBFB2}"/>
              </a:ext>
            </a:extLst>
          </p:cNvPr>
          <p:cNvSpPr>
            <a:spLocks noGrp="1"/>
          </p:cNvSpPr>
          <p:nvPr>
            <p:ph idx="1"/>
          </p:nvPr>
        </p:nvSpPr>
        <p:spPr/>
        <p:txBody>
          <a:bodyPr>
            <a:normAutofit/>
          </a:bodyPr>
          <a:lstStyle/>
          <a:p>
            <a:r>
              <a:rPr lang="he-IL" dirty="0"/>
              <a:t>יתרונות:</a:t>
            </a:r>
          </a:p>
          <a:p>
            <a:r>
              <a:rPr lang="he-IL" dirty="0"/>
              <a:t>1. </a:t>
            </a:r>
            <a:r>
              <a:rPr lang="he-IL" b="1" dirty="0"/>
              <a:t>אבטחה מוגברת</a:t>
            </a:r>
            <a:r>
              <a:rPr lang="he-IL" dirty="0"/>
              <a:t> - חוסם אתרים זדוניים ומונע מתקפות </a:t>
            </a:r>
            <a:r>
              <a:rPr lang="he-IL" dirty="0" err="1"/>
              <a:t>פישינג</a:t>
            </a:r>
            <a:r>
              <a:rPr lang="he-IL" dirty="0"/>
              <a:t>. </a:t>
            </a:r>
          </a:p>
          <a:p>
            <a:r>
              <a:rPr lang="he-IL" dirty="0"/>
              <a:t>2. </a:t>
            </a:r>
            <a:r>
              <a:rPr lang="he-IL" b="1" dirty="0"/>
              <a:t>שיפור פרודוקטיביות</a:t>
            </a:r>
            <a:r>
              <a:rPr lang="he-IL" dirty="0"/>
              <a:t> - מצמצם הסחות דעת לעובדים.</a:t>
            </a:r>
          </a:p>
          <a:p>
            <a:r>
              <a:rPr lang="he-IL" dirty="0"/>
              <a:t>3. </a:t>
            </a:r>
            <a:r>
              <a:rPr lang="he-IL" b="1" dirty="0"/>
              <a:t>שימוש יעיל במשאבי הרשת</a:t>
            </a:r>
            <a:r>
              <a:rPr lang="he-IL" dirty="0"/>
              <a:t> - מגביל תעבורה לא רצויה.</a:t>
            </a:r>
          </a:p>
          <a:p>
            <a:r>
              <a:rPr lang="he-IL" dirty="0"/>
              <a:t>4. </a:t>
            </a:r>
            <a:r>
              <a:rPr lang="he-IL" b="1" dirty="0"/>
              <a:t>עמידה ברגולציה</a:t>
            </a:r>
            <a:r>
              <a:rPr lang="he-IL" dirty="0"/>
              <a:t> - עוזר לעמוד בדרישות חוקיות ומדיניות אבטחה.</a:t>
            </a:r>
          </a:p>
          <a:p>
            <a:r>
              <a:rPr lang="he-IL" dirty="0"/>
              <a:t>חסרונות:</a:t>
            </a:r>
          </a:p>
          <a:p>
            <a:r>
              <a:rPr lang="he-IL" dirty="0"/>
              <a:t>1. </a:t>
            </a:r>
            <a:r>
              <a:rPr lang="he-IL" b="1" dirty="0"/>
              <a:t>חוויית משתמש מוגבלת</a:t>
            </a:r>
            <a:r>
              <a:rPr lang="he-IL" dirty="0"/>
              <a:t> - חלק מהתכנים הלגיטימיים עלולים להיחסם.</a:t>
            </a:r>
          </a:p>
          <a:p>
            <a:r>
              <a:rPr lang="he-IL" dirty="0"/>
              <a:t>2. </a:t>
            </a:r>
            <a:r>
              <a:rPr lang="he-IL" b="1" dirty="0"/>
              <a:t>תחזוקה מורכבת</a:t>
            </a:r>
            <a:r>
              <a:rPr lang="he-IL" dirty="0"/>
              <a:t> - נדרש עדכון תכוף של רשימות שחורות ולבנות.</a:t>
            </a:r>
          </a:p>
          <a:p>
            <a:r>
              <a:rPr lang="he-IL" dirty="0"/>
              <a:t>3. </a:t>
            </a:r>
            <a:r>
              <a:rPr lang="he-IL" b="1" dirty="0"/>
              <a:t>עקיפה אפשרית</a:t>
            </a:r>
            <a:r>
              <a:rPr lang="he-IL" dirty="0"/>
              <a:t> - משתמשים מתוחכמים יכולים לעקוף את החסימה (לדוגמה, באמצעות </a:t>
            </a:r>
            <a:r>
              <a:rPr lang="en-US" dirty="0"/>
              <a:t>VPN</a:t>
            </a:r>
            <a:r>
              <a:rPr lang="he-IL" dirty="0"/>
              <a:t>)</a:t>
            </a:r>
          </a:p>
          <a:p>
            <a:endParaRPr lang="he-IL" dirty="0"/>
          </a:p>
        </p:txBody>
      </p:sp>
    </p:spTree>
    <p:extLst>
      <p:ext uri="{BB962C8B-B14F-4D97-AF65-F5344CB8AC3E}">
        <p14:creationId xmlns:p14="http://schemas.microsoft.com/office/powerpoint/2010/main" val="10215400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a:extLst>
              <a:ext uri="{FF2B5EF4-FFF2-40B4-BE49-F238E27FC236}">
                <a16:creationId xmlns:a16="http://schemas.microsoft.com/office/drawing/2014/main" id="{C86B5D94-85F0-42B9-B729-2A992FCB5125}"/>
              </a:ext>
            </a:extLst>
          </p:cNvPr>
          <p:cNvSpPr>
            <a:spLocks noGrp="1"/>
          </p:cNvSpPr>
          <p:nvPr>
            <p:ph idx="1"/>
          </p:nvPr>
        </p:nvSpPr>
        <p:spPr>
          <a:xfrm>
            <a:off x="1066800" y="1113306"/>
            <a:ext cx="10058400" cy="3931920"/>
          </a:xfrm>
        </p:spPr>
        <p:txBody>
          <a:bodyPr>
            <a:normAutofit/>
          </a:bodyPr>
          <a:lstStyle/>
          <a:p>
            <a:r>
              <a:rPr lang="he-IL" b="1" dirty="0"/>
              <a:t>בעיה:</a:t>
            </a:r>
          </a:p>
          <a:p>
            <a:r>
              <a:rPr lang="he-IL" dirty="0"/>
              <a:t>בחברה מסוימת העובדים גולשים לאתרים כמו </a:t>
            </a:r>
            <a:r>
              <a:rPr lang="en-US" dirty="0"/>
              <a:t>Facebook </a:t>
            </a:r>
            <a:r>
              <a:rPr lang="he-IL" dirty="0"/>
              <a:t> ו-</a:t>
            </a:r>
            <a:r>
              <a:rPr lang="en-US" dirty="0"/>
              <a:t>YouTube </a:t>
            </a:r>
            <a:r>
              <a:rPr lang="he-IL" dirty="0"/>
              <a:t> במהלך שעות העבודה, מה שמוריד את התפוקה ומאט את הרשת.</a:t>
            </a:r>
          </a:p>
          <a:p>
            <a:r>
              <a:rPr lang="he-IL" dirty="0"/>
              <a:t>הפתרון:</a:t>
            </a:r>
          </a:p>
          <a:p>
            <a:r>
              <a:rPr lang="he-IL" b="1" dirty="0" err="1"/>
              <a:t>בפיירוול</a:t>
            </a:r>
            <a:r>
              <a:rPr lang="he-IL" dirty="0"/>
              <a:t>: יצירת חוקים שיחסמו תעבורה לכתובות האתרים הללו.</a:t>
            </a:r>
          </a:p>
          <a:p>
            <a:r>
              <a:rPr lang="he-IL" b="1" dirty="0"/>
              <a:t>בשרת</a:t>
            </a:r>
            <a:r>
              <a:rPr lang="en-US" b="1" dirty="0"/>
              <a:t>Proxy</a:t>
            </a:r>
            <a:r>
              <a:rPr lang="en-US" dirty="0"/>
              <a:t> </a:t>
            </a:r>
            <a:r>
              <a:rPr lang="he-IL" dirty="0"/>
              <a:t>: הגדרת </a:t>
            </a:r>
            <a:r>
              <a:rPr lang="en-US" dirty="0"/>
              <a:t>Web Filtering </a:t>
            </a:r>
            <a:r>
              <a:rPr lang="he-IL" dirty="0"/>
              <a:t>לפי קטגוריה של "מדיה חברתית" ו- </a:t>
            </a:r>
            <a:r>
              <a:rPr lang="en-US" dirty="0"/>
              <a:t>Streaming</a:t>
            </a:r>
            <a:endParaRPr lang="he-IL" dirty="0"/>
          </a:p>
          <a:p>
            <a:r>
              <a:rPr lang="he-IL" b="1" dirty="0"/>
              <a:t>ב- </a:t>
            </a:r>
            <a:r>
              <a:rPr lang="en-US" b="1" dirty="0"/>
              <a:t>DNS</a:t>
            </a:r>
            <a:r>
              <a:rPr lang="he-IL" b="1" dirty="0"/>
              <a:t>:</a:t>
            </a:r>
            <a:r>
              <a:rPr lang="en-US" dirty="0"/>
              <a:t> </a:t>
            </a:r>
            <a:r>
              <a:rPr lang="he-IL" dirty="0"/>
              <a:t>שימוש בשירות כמו</a:t>
            </a:r>
            <a:r>
              <a:rPr lang="en-US" dirty="0"/>
              <a:t> OpenDNS </a:t>
            </a:r>
            <a:r>
              <a:rPr lang="he-IL" dirty="0"/>
              <a:t>לחסימה של אתרים לפי שמות דומיין.</a:t>
            </a:r>
          </a:p>
        </p:txBody>
      </p:sp>
    </p:spTree>
    <p:extLst>
      <p:ext uri="{BB962C8B-B14F-4D97-AF65-F5344CB8AC3E}">
        <p14:creationId xmlns:p14="http://schemas.microsoft.com/office/powerpoint/2010/main" val="10256274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491E4A8-ECE3-41B7-9B5C-DF96CA5C9BDC}"/>
              </a:ext>
            </a:extLst>
          </p:cNvPr>
          <p:cNvSpPr>
            <a:spLocks noGrp="1"/>
          </p:cNvSpPr>
          <p:nvPr>
            <p:ph type="title"/>
          </p:nvPr>
        </p:nvSpPr>
        <p:spPr>
          <a:xfrm>
            <a:off x="9087438" y="642594"/>
            <a:ext cx="2037761" cy="1371600"/>
          </a:xfrm>
        </p:spPr>
        <p:txBody>
          <a:bodyPr/>
          <a:lstStyle/>
          <a:p>
            <a:r>
              <a:rPr lang="he-IL" dirty="0"/>
              <a:t>שאלות:</a:t>
            </a:r>
          </a:p>
        </p:txBody>
      </p:sp>
      <p:sp>
        <p:nvSpPr>
          <p:cNvPr id="3" name="מציין מיקום תוכן 2">
            <a:extLst>
              <a:ext uri="{FF2B5EF4-FFF2-40B4-BE49-F238E27FC236}">
                <a16:creationId xmlns:a16="http://schemas.microsoft.com/office/drawing/2014/main" id="{9C2264B9-94F4-4D2C-BC60-92CB36E311AD}"/>
              </a:ext>
            </a:extLst>
          </p:cNvPr>
          <p:cNvSpPr>
            <a:spLocks noGrp="1"/>
          </p:cNvSpPr>
          <p:nvPr>
            <p:ph idx="1"/>
          </p:nvPr>
        </p:nvSpPr>
        <p:spPr/>
        <p:txBody>
          <a:bodyPr/>
          <a:lstStyle/>
          <a:p>
            <a:r>
              <a:rPr lang="he-IL" dirty="0"/>
              <a:t>1. מה היתרון המרכזי של שימוש בסינון </a:t>
            </a:r>
            <a:r>
              <a:rPr lang="en-US" dirty="0"/>
              <a:t>DNS</a:t>
            </a:r>
            <a:r>
              <a:rPr lang="he-IL" dirty="0"/>
              <a:t>?</a:t>
            </a:r>
          </a:p>
          <a:p>
            <a:r>
              <a:rPr lang="he-IL" dirty="0"/>
              <a:t>2. מה ההבדל בין רשימה שחורה</a:t>
            </a:r>
            <a:r>
              <a:rPr lang="en-US" dirty="0"/>
              <a:t> (Blacklist) </a:t>
            </a:r>
            <a:r>
              <a:rPr lang="he-IL" dirty="0"/>
              <a:t>לרשימה לבנה </a:t>
            </a:r>
            <a:r>
              <a:rPr lang="en-US" dirty="0"/>
              <a:t>Whitelist)</a:t>
            </a:r>
            <a:r>
              <a:rPr lang="he-IL" dirty="0"/>
              <a:t>)?</a:t>
            </a:r>
          </a:p>
          <a:p>
            <a:r>
              <a:rPr lang="he-IL" dirty="0"/>
              <a:t>3. אילו טכנולוגיות מאפשרות יישום בקרת גלישה אגרסיבית?</a:t>
            </a:r>
          </a:p>
          <a:p>
            <a:r>
              <a:rPr lang="he-IL" dirty="0"/>
              <a:t>4. מה החסרונות של בקרת גלישה אגרסיבית?</a:t>
            </a:r>
          </a:p>
          <a:p>
            <a:endParaRPr lang="he-IL" dirty="0"/>
          </a:p>
        </p:txBody>
      </p:sp>
    </p:spTree>
    <p:extLst>
      <p:ext uri="{BB962C8B-B14F-4D97-AF65-F5344CB8AC3E}">
        <p14:creationId xmlns:p14="http://schemas.microsoft.com/office/powerpoint/2010/main" val="41831045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9002598" y="642594"/>
            <a:ext cx="2122602" cy="1371600"/>
          </a:xfrm>
        </p:spPr>
        <p:txBody>
          <a:bodyPr/>
          <a:lstStyle/>
          <a:p>
            <a:r>
              <a:rPr lang="he-IL" dirty="0"/>
              <a:t>תשובות</a:t>
            </a:r>
          </a:p>
        </p:txBody>
      </p:sp>
      <p:sp>
        <p:nvSpPr>
          <p:cNvPr id="3" name="מציין מיקום תוכן 2"/>
          <p:cNvSpPr>
            <a:spLocks noGrp="1"/>
          </p:cNvSpPr>
          <p:nvPr>
            <p:ph idx="1"/>
          </p:nvPr>
        </p:nvSpPr>
        <p:spPr/>
        <p:txBody>
          <a:bodyPr/>
          <a:lstStyle/>
          <a:p>
            <a:r>
              <a:rPr lang="he-IL" dirty="0"/>
              <a:t>1. היתרון המרכזי הוא </a:t>
            </a:r>
            <a:r>
              <a:rPr lang="he-IL" b="1" dirty="0"/>
              <a:t>מהירות חסימה גבוהה ברמת כתובת האתר</a:t>
            </a:r>
            <a:r>
              <a:rPr lang="he-IL" dirty="0"/>
              <a:t> (דומיין).</a:t>
            </a:r>
            <a:br>
              <a:rPr lang="he-IL" dirty="0"/>
            </a:br>
            <a:r>
              <a:rPr lang="he-IL" dirty="0"/>
              <a:t>סינון </a:t>
            </a:r>
            <a:r>
              <a:rPr lang="en-US" dirty="0"/>
              <a:t> DNS</a:t>
            </a:r>
            <a:r>
              <a:rPr lang="he-IL" dirty="0"/>
              <a:t>חוסם אתרים עוד לפני שהתעבורה מגיעה לשרתים הפנימיים, ולכן הוא יעיל, מהיר ופשוט יחסית ליישום.</a:t>
            </a:r>
          </a:p>
        </p:txBody>
      </p:sp>
    </p:spTree>
    <p:extLst>
      <p:ext uri="{BB962C8B-B14F-4D97-AF65-F5344CB8AC3E}">
        <p14:creationId xmlns:p14="http://schemas.microsoft.com/office/powerpoint/2010/main" val="12367642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8993170" y="642594"/>
            <a:ext cx="2132029" cy="1371600"/>
          </a:xfrm>
        </p:spPr>
        <p:txBody>
          <a:bodyPr/>
          <a:lstStyle/>
          <a:p>
            <a:r>
              <a:rPr lang="he-IL" dirty="0"/>
              <a:t>תשובות</a:t>
            </a:r>
          </a:p>
        </p:txBody>
      </p:sp>
      <p:sp>
        <p:nvSpPr>
          <p:cNvPr id="3" name="מציין מיקום תוכן 2"/>
          <p:cNvSpPr>
            <a:spLocks noGrp="1"/>
          </p:cNvSpPr>
          <p:nvPr>
            <p:ph idx="1"/>
          </p:nvPr>
        </p:nvSpPr>
        <p:spPr/>
        <p:txBody>
          <a:bodyPr>
            <a:normAutofit/>
          </a:bodyPr>
          <a:lstStyle/>
          <a:p>
            <a:r>
              <a:rPr lang="he-IL" dirty="0"/>
              <a:t>2. </a:t>
            </a:r>
          </a:p>
          <a:p>
            <a:r>
              <a:rPr lang="he-IL" b="1" dirty="0"/>
              <a:t>רשימה שחורה (</a:t>
            </a:r>
            <a:r>
              <a:rPr lang="en-US" b="1" dirty="0"/>
              <a:t>(Blacklist</a:t>
            </a:r>
            <a:endParaRPr lang="he-IL" b="1" dirty="0"/>
          </a:p>
          <a:p>
            <a:r>
              <a:rPr lang="he-IL" dirty="0"/>
              <a:t>חסימה של אתרים או קטגוריות מסוימות שנקבעו מראש.</a:t>
            </a:r>
          </a:p>
          <a:p>
            <a:pPr lvl="1"/>
            <a:r>
              <a:rPr lang="he-IL" dirty="0"/>
              <a:t>כל יתר התכנים </a:t>
            </a:r>
            <a:r>
              <a:rPr lang="he-IL" b="1" dirty="0"/>
              <a:t>מאושרים</a:t>
            </a:r>
            <a:r>
              <a:rPr lang="he-IL" dirty="0"/>
              <a:t> אלא אם הם נמצאים ברשימה.</a:t>
            </a:r>
          </a:p>
          <a:p>
            <a:r>
              <a:rPr lang="he-IL" b="1" dirty="0"/>
              <a:t>דוגמה:</a:t>
            </a:r>
            <a:r>
              <a:rPr lang="he-IL" dirty="0"/>
              <a:t> חסימת אתרי הימורים או מדיה חברתית.</a:t>
            </a:r>
          </a:p>
          <a:p>
            <a:r>
              <a:rPr lang="he-IL" b="1" dirty="0"/>
              <a:t>רשימה לבנה (</a:t>
            </a:r>
            <a:r>
              <a:rPr lang="en-US" b="1" dirty="0"/>
              <a:t>Whitelist</a:t>
            </a:r>
            <a:r>
              <a:rPr lang="he-IL" b="1" dirty="0"/>
              <a:t>) </a:t>
            </a:r>
          </a:p>
          <a:p>
            <a:r>
              <a:rPr lang="he-IL" dirty="0"/>
              <a:t>רק אתרים שאושרו מראש ברשימה יהיו </a:t>
            </a:r>
            <a:r>
              <a:rPr lang="he-IL" b="1" dirty="0"/>
              <a:t>נגישים</a:t>
            </a:r>
            <a:r>
              <a:rPr lang="he-IL" dirty="0"/>
              <a:t>.</a:t>
            </a:r>
          </a:p>
          <a:p>
            <a:r>
              <a:rPr lang="he-IL" dirty="0"/>
              <a:t>כל יתר התכנים </a:t>
            </a:r>
            <a:r>
              <a:rPr lang="he-IL" b="1" dirty="0"/>
              <a:t>ייחסמו</a:t>
            </a:r>
            <a:r>
              <a:rPr lang="he-IL" dirty="0"/>
              <a:t>.</a:t>
            </a:r>
          </a:p>
          <a:p>
            <a:r>
              <a:rPr lang="he-IL" b="1" dirty="0"/>
              <a:t>דוגמה:</a:t>
            </a:r>
            <a:r>
              <a:rPr lang="he-IL" dirty="0"/>
              <a:t> גישה רק לאתרים הקשורים לעבודה, כמו מערכות פנימיות או שירותים של החברה.</a:t>
            </a:r>
          </a:p>
          <a:p>
            <a:endParaRPr lang="he-IL" dirty="0"/>
          </a:p>
          <a:p>
            <a:endParaRPr lang="he-IL" dirty="0"/>
          </a:p>
        </p:txBody>
      </p:sp>
    </p:spTree>
    <p:extLst>
      <p:ext uri="{BB962C8B-B14F-4D97-AF65-F5344CB8AC3E}">
        <p14:creationId xmlns:p14="http://schemas.microsoft.com/office/powerpoint/2010/main" val="23940337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8955464" y="642594"/>
            <a:ext cx="2169736" cy="1371600"/>
          </a:xfrm>
        </p:spPr>
        <p:txBody>
          <a:bodyPr/>
          <a:lstStyle/>
          <a:p>
            <a:r>
              <a:rPr lang="he-IL" dirty="0"/>
              <a:t>תשובות</a:t>
            </a:r>
          </a:p>
        </p:txBody>
      </p:sp>
      <p:sp>
        <p:nvSpPr>
          <p:cNvPr id="3" name="מציין מיקום תוכן 2"/>
          <p:cNvSpPr>
            <a:spLocks noGrp="1"/>
          </p:cNvSpPr>
          <p:nvPr>
            <p:ph idx="1"/>
          </p:nvPr>
        </p:nvSpPr>
        <p:spPr/>
        <p:txBody>
          <a:bodyPr>
            <a:normAutofit/>
          </a:bodyPr>
          <a:lstStyle/>
          <a:p>
            <a:r>
              <a:rPr lang="he-IL" dirty="0"/>
              <a:t>3. </a:t>
            </a:r>
          </a:p>
          <a:p>
            <a:r>
              <a:rPr lang="he-IL" dirty="0"/>
              <a:t>הטכנולוגיות העיקריות הן:</a:t>
            </a:r>
          </a:p>
          <a:p>
            <a:r>
              <a:rPr lang="he-IL" b="1" dirty="0" err="1"/>
              <a:t>פיירוול</a:t>
            </a:r>
            <a:r>
              <a:rPr lang="he-IL" b="1" dirty="0"/>
              <a:t>: </a:t>
            </a:r>
            <a:r>
              <a:rPr lang="he-IL" dirty="0"/>
              <a:t>יצירת חוקים שחוסמים תעבורה לאתרים מסוימים.</a:t>
            </a:r>
          </a:p>
          <a:p>
            <a:r>
              <a:rPr lang="he-IL" b="1" dirty="0"/>
              <a:t>שרת </a:t>
            </a:r>
            <a:r>
              <a:rPr lang="en-US" b="1" dirty="0"/>
              <a:t>:Proxy</a:t>
            </a:r>
            <a:r>
              <a:rPr lang="he-IL" dirty="0"/>
              <a:t>משמש לסינון תכנים והגבלת גישה ברמת כתובות אתרים או קטגוריות.</a:t>
            </a:r>
          </a:p>
          <a:p>
            <a:r>
              <a:rPr lang="he-IL" b="1" dirty="0"/>
              <a:t>סינון </a:t>
            </a:r>
            <a:r>
              <a:rPr lang="en-US" b="1" dirty="0"/>
              <a:t>:DNS(DNS Filtering)</a:t>
            </a:r>
            <a:r>
              <a:rPr lang="he-IL" dirty="0"/>
              <a:t>חסימה מבוססת על שמות </a:t>
            </a:r>
            <a:r>
              <a:rPr lang="he-IL" dirty="0" err="1"/>
              <a:t>דומיינים</a:t>
            </a:r>
            <a:r>
              <a:rPr lang="he-IL" dirty="0"/>
              <a:t> </a:t>
            </a:r>
            <a:r>
              <a:rPr lang="en-US" dirty="0"/>
              <a:t>URL</a:t>
            </a:r>
          </a:p>
          <a:p>
            <a:r>
              <a:rPr lang="en-US" b="1" dirty="0"/>
              <a:t>Web Filtering Appliances</a:t>
            </a:r>
            <a:r>
              <a:rPr lang="he-IL" b="1" dirty="0"/>
              <a:t>: </a:t>
            </a:r>
            <a:r>
              <a:rPr lang="he-IL" dirty="0"/>
              <a:t>מערכות ייעודיות לסינון תכנים כמו </a:t>
            </a:r>
            <a:r>
              <a:rPr lang="en-US" dirty="0"/>
              <a:t>Barracuda, </a:t>
            </a:r>
            <a:r>
              <a:rPr lang="en-US" dirty="0" err="1"/>
              <a:t>Zscaler</a:t>
            </a:r>
            <a:endParaRPr lang="en-US" dirty="0"/>
          </a:p>
          <a:p>
            <a:r>
              <a:rPr lang="he-IL" b="1" dirty="0"/>
              <a:t>תוכנות אנטי-וירוס מתקדמות:</a:t>
            </a:r>
            <a:r>
              <a:rPr lang="he-IL" dirty="0"/>
              <a:t> חלקן כוללות יכולות סינון אתרים.</a:t>
            </a:r>
          </a:p>
          <a:p>
            <a:endParaRPr lang="he-IL" dirty="0"/>
          </a:p>
        </p:txBody>
      </p:sp>
    </p:spTree>
    <p:extLst>
      <p:ext uri="{BB962C8B-B14F-4D97-AF65-F5344CB8AC3E}">
        <p14:creationId xmlns:p14="http://schemas.microsoft.com/office/powerpoint/2010/main" val="5641666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8993170" y="642594"/>
            <a:ext cx="2132029" cy="1371600"/>
          </a:xfrm>
        </p:spPr>
        <p:txBody>
          <a:bodyPr/>
          <a:lstStyle/>
          <a:p>
            <a:r>
              <a:rPr lang="he-IL" dirty="0"/>
              <a:t>תשובות</a:t>
            </a:r>
          </a:p>
        </p:txBody>
      </p:sp>
      <p:sp>
        <p:nvSpPr>
          <p:cNvPr id="3" name="מציין מיקום תוכן 2"/>
          <p:cNvSpPr>
            <a:spLocks noGrp="1"/>
          </p:cNvSpPr>
          <p:nvPr>
            <p:ph idx="1"/>
          </p:nvPr>
        </p:nvSpPr>
        <p:spPr/>
        <p:txBody>
          <a:bodyPr>
            <a:normAutofit/>
          </a:bodyPr>
          <a:lstStyle/>
          <a:p>
            <a:r>
              <a:rPr lang="he-IL" dirty="0"/>
              <a:t>4. </a:t>
            </a:r>
          </a:p>
          <a:p>
            <a:r>
              <a:rPr lang="he-IL" dirty="0"/>
              <a:t>החסרונות כוללים:</a:t>
            </a:r>
          </a:p>
          <a:p>
            <a:r>
              <a:rPr lang="he-IL" b="1" dirty="0"/>
              <a:t>חוויית משתמש מוגבלת:</a:t>
            </a:r>
            <a:endParaRPr lang="he-IL" dirty="0"/>
          </a:p>
          <a:p>
            <a:pPr lvl="1"/>
            <a:r>
              <a:rPr lang="he-IL" dirty="0"/>
              <a:t>תכנים לגיטימיים עלולים להיחסם בטעות.</a:t>
            </a:r>
          </a:p>
          <a:p>
            <a:r>
              <a:rPr lang="he-IL" b="1" dirty="0"/>
              <a:t>תחזוקה מורכבת:</a:t>
            </a:r>
            <a:endParaRPr lang="he-IL" dirty="0"/>
          </a:p>
          <a:p>
            <a:pPr lvl="1"/>
            <a:r>
              <a:rPr lang="he-IL" dirty="0"/>
              <a:t>נדרש לעדכן באופן שוטף את הרשימות (</a:t>
            </a:r>
            <a:r>
              <a:rPr lang="en-US" dirty="0"/>
              <a:t>Blacklist / Whitelist</a:t>
            </a:r>
            <a:r>
              <a:rPr lang="he-IL" dirty="0"/>
              <a:t>)</a:t>
            </a:r>
            <a:endParaRPr lang="en-US" dirty="0"/>
          </a:p>
          <a:p>
            <a:r>
              <a:rPr lang="he-IL" b="1" dirty="0"/>
              <a:t>עקיפה אפשרית:</a:t>
            </a:r>
            <a:endParaRPr lang="he-IL" dirty="0"/>
          </a:p>
          <a:p>
            <a:pPr lvl="1"/>
            <a:r>
              <a:rPr lang="he-IL" dirty="0"/>
              <a:t>משתמשים מתוחכמים יכולים לעקוף את החסימה באמצעות כלים כמו </a:t>
            </a:r>
            <a:r>
              <a:rPr lang="en-US" dirty="0"/>
              <a:t> VPN</a:t>
            </a:r>
            <a:r>
              <a:rPr lang="he-IL" dirty="0"/>
              <a:t>או </a:t>
            </a:r>
            <a:r>
              <a:rPr lang="he-IL" dirty="0" err="1"/>
              <a:t>פרוקסי</a:t>
            </a:r>
            <a:r>
              <a:rPr lang="he-IL" dirty="0"/>
              <a:t> חיצוני.</a:t>
            </a:r>
          </a:p>
          <a:p>
            <a:r>
              <a:rPr lang="he-IL" b="1" dirty="0"/>
              <a:t>השפעה על ביצועי הרשת:</a:t>
            </a:r>
            <a:endParaRPr lang="he-IL" dirty="0"/>
          </a:p>
          <a:p>
            <a:pPr lvl="1"/>
            <a:r>
              <a:rPr lang="he-IL" dirty="0"/>
              <a:t>מערכות סינון מסוימות עלולות להאט את התעבורה.</a:t>
            </a:r>
          </a:p>
          <a:p>
            <a:endParaRPr lang="he-IL" dirty="0"/>
          </a:p>
        </p:txBody>
      </p:sp>
    </p:spTree>
    <p:extLst>
      <p:ext uri="{BB962C8B-B14F-4D97-AF65-F5344CB8AC3E}">
        <p14:creationId xmlns:p14="http://schemas.microsoft.com/office/powerpoint/2010/main" val="7271605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p:cNvSpPr>
            <a:spLocks noGrp="1"/>
          </p:cNvSpPr>
          <p:nvPr>
            <p:ph idx="1"/>
          </p:nvPr>
        </p:nvSpPr>
        <p:spPr/>
        <p:txBody>
          <a:bodyPr>
            <a:normAutofit/>
          </a:bodyPr>
          <a:lstStyle/>
          <a:p>
            <a:pPr algn="ctr"/>
            <a:r>
              <a:rPr lang="he-IL" sz="9600" dirty="0"/>
              <a:t>מחרוזות חיבור </a:t>
            </a:r>
            <a:r>
              <a:rPr lang="en-US" sz="9600" dirty="0"/>
              <a:t>SQL </a:t>
            </a:r>
            <a:r>
              <a:rPr lang="en-US" sz="9600" dirty="0" err="1"/>
              <a:t>cleartext</a:t>
            </a:r>
            <a:endParaRPr lang="he-IL" sz="9600" dirty="0"/>
          </a:p>
        </p:txBody>
      </p:sp>
    </p:spTree>
    <p:extLst>
      <p:ext uri="{BB962C8B-B14F-4D97-AF65-F5344CB8AC3E}">
        <p14:creationId xmlns:p14="http://schemas.microsoft.com/office/powerpoint/2010/main" val="5448554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577589" y="404102"/>
            <a:ext cx="11696700" cy="1325563"/>
          </a:xfrm>
        </p:spPr>
        <p:txBody>
          <a:bodyPr/>
          <a:lstStyle/>
          <a:p>
            <a:r>
              <a:rPr lang="he-IL" dirty="0"/>
              <a:t>מהי מחרוזת חיבור </a:t>
            </a:r>
            <a:r>
              <a:rPr lang="en-US" dirty="0"/>
              <a:t>SQL Connection String</a:t>
            </a:r>
            <a:endParaRPr lang="he-IL" dirty="0"/>
          </a:p>
        </p:txBody>
      </p:sp>
      <p:sp>
        <p:nvSpPr>
          <p:cNvPr id="3" name="מציין מיקום תוכן 2"/>
          <p:cNvSpPr>
            <a:spLocks noGrp="1"/>
          </p:cNvSpPr>
          <p:nvPr>
            <p:ph idx="1"/>
          </p:nvPr>
        </p:nvSpPr>
        <p:spPr/>
        <p:txBody>
          <a:bodyPr/>
          <a:lstStyle/>
          <a:p>
            <a:r>
              <a:rPr lang="he-IL" dirty="0"/>
              <a:t>מחרוזת חיבור היא </a:t>
            </a:r>
            <a:r>
              <a:rPr lang="he-IL" b="1" dirty="0"/>
              <a:t>טקסט המגדיר את פרטי החיבור</a:t>
            </a:r>
            <a:r>
              <a:rPr lang="he-IL" dirty="0"/>
              <a:t> למסד הנתונים, הכוללים:</a:t>
            </a:r>
          </a:p>
          <a:p>
            <a:r>
              <a:rPr lang="he-IL" b="1" dirty="0"/>
              <a:t>שרת (</a:t>
            </a:r>
            <a:r>
              <a:rPr lang="en-US" b="1" dirty="0"/>
              <a:t> :(Server</a:t>
            </a:r>
            <a:r>
              <a:rPr lang="he-IL" dirty="0"/>
              <a:t>המיקום של מסד הנתונים (כתובת</a:t>
            </a:r>
            <a:r>
              <a:rPr lang="en-US" dirty="0"/>
              <a:t> IP </a:t>
            </a:r>
            <a:r>
              <a:rPr lang="he-IL" dirty="0"/>
              <a:t>או שם השרת).</a:t>
            </a:r>
          </a:p>
          <a:p>
            <a:r>
              <a:rPr lang="he-IL" b="1" dirty="0"/>
              <a:t>בסיס נתונים (</a:t>
            </a:r>
            <a:r>
              <a:rPr lang="en-US" b="1" dirty="0"/>
              <a:t>(Database</a:t>
            </a:r>
            <a:r>
              <a:rPr lang="he-IL" b="1" dirty="0"/>
              <a:t>: </a:t>
            </a:r>
            <a:r>
              <a:rPr lang="he-IL" dirty="0"/>
              <a:t>שם בסיס הנתונים אליו נרצה להתחבר.</a:t>
            </a:r>
          </a:p>
          <a:p>
            <a:r>
              <a:rPr lang="he-IL" b="1" dirty="0"/>
              <a:t>שם משתמש וסיסמה</a:t>
            </a:r>
            <a:r>
              <a:rPr lang="en-US" b="1" dirty="0"/>
              <a:t> :(Credentials)</a:t>
            </a:r>
            <a:r>
              <a:rPr lang="en-US" dirty="0"/>
              <a:t> </a:t>
            </a:r>
            <a:r>
              <a:rPr lang="he-IL" dirty="0"/>
              <a:t>מידע הזדהות.</a:t>
            </a:r>
          </a:p>
          <a:p>
            <a:r>
              <a:rPr lang="he-IL" b="1" dirty="0"/>
              <a:t>פרוטוקול חיבור (</a:t>
            </a:r>
            <a:r>
              <a:rPr lang="en-US" b="1" dirty="0"/>
              <a:t> :(Protocol</a:t>
            </a:r>
            <a:r>
              <a:rPr lang="he-IL" dirty="0"/>
              <a:t>הטכנולוגיה שמשמשת לחיבור (כגון </a:t>
            </a:r>
            <a:r>
              <a:rPr lang="en-US" dirty="0"/>
              <a:t>TCP/IP)</a:t>
            </a:r>
            <a:r>
              <a:rPr lang="he-IL" dirty="0"/>
              <a:t>)</a:t>
            </a:r>
          </a:p>
        </p:txBody>
      </p:sp>
    </p:spTree>
    <p:extLst>
      <p:ext uri="{BB962C8B-B14F-4D97-AF65-F5344CB8AC3E}">
        <p14:creationId xmlns:p14="http://schemas.microsoft.com/office/powerpoint/2010/main" val="39411122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1132788" y="548326"/>
            <a:ext cx="11059212" cy="1371600"/>
          </a:xfrm>
        </p:spPr>
        <p:txBody>
          <a:bodyPr>
            <a:normAutofit fontScale="90000"/>
          </a:bodyPr>
          <a:lstStyle/>
          <a:p>
            <a:r>
              <a:rPr lang="he-IL" dirty="0"/>
              <a:t>דוגמה בסיסית למחרוזת חיבור ב-</a:t>
            </a:r>
            <a:r>
              <a:rPr lang="en-US" dirty="0"/>
              <a:t>SQL Server</a:t>
            </a:r>
            <a:r>
              <a:rPr lang="he-IL" dirty="0"/>
              <a:t>:</a:t>
            </a:r>
            <a:r>
              <a:rPr lang="en-US" dirty="0"/>
              <a:t> </a:t>
            </a:r>
            <a:endParaRPr lang="he-IL" dirty="0"/>
          </a:p>
        </p:txBody>
      </p:sp>
      <p:sp>
        <p:nvSpPr>
          <p:cNvPr id="3" name="מציין מיקום תוכן 2"/>
          <p:cNvSpPr>
            <a:spLocks noGrp="1"/>
          </p:cNvSpPr>
          <p:nvPr>
            <p:ph idx="1"/>
          </p:nvPr>
        </p:nvSpPr>
        <p:spPr/>
        <p:txBody>
          <a:bodyPr/>
          <a:lstStyle/>
          <a:p>
            <a:pPr algn="l"/>
            <a:r>
              <a:rPr lang="en-US" dirty="0"/>
              <a:t>Server=</a:t>
            </a:r>
            <a:r>
              <a:rPr lang="en-US" dirty="0" err="1"/>
              <a:t>myServerAddress;Database</a:t>
            </a:r>
            <a:r>
              <a:rPr lang="en-US" dirty="0"/>
              <a:t>=</a:t>
            </a:r>
            <a:r>
              <a:rPr lang="en-US" dirty="0" err="1"/>
              <a:t>myDataBase;</a:t>
            </a:r>
            <a:r>
              <a:rPr lang="en-US" dirty="0" err="1">
                <a:solidFill>
                  <a:schemeClr val="accent5">
                    <a:lumMod val="60000"/>
                    <a:lumOff val="40000"/>
                  </a:schemeClr>
                </a:solidFill>
              </a:rPr>
              <a:t>User</a:t>
            </a:r>
            <a:r>
              <a:rPr lang="en-US" dirty="0"/>
              <a:t> Id=</a:t>
            </a:r>
            <a:r>
              <a:rPr lang="en-US" dirty="0" err="1"/>
              <a:t>myUsername;Password</a:t>
            </a:r>
            <a:r>
              <a:rPr lang="en-US" dirty="0"/>
              <a:t>=</a:t>
            </a:r>
            <a:r>
              <a:rPr lang="en-US" dirty="0" err="1"/>
              <a:t>myPassword</a:t>
            </a:r>
            <a:r>
              <a:rPr lang="en-US" dirty="0"/>
              <a:t>;</a:t>
            </a:r>
            <a:endParaRPr lang="he-IL" dirty="0"/>
          </a:p>
          <a:p>
            <a:r>
              <a:rPr lang="he-IL" b="1" dirty="0"/>
              <a:t>הסבר הפרמטרים:</a:t>
            </a:r>
            <a:endParaRPr lang="he-IL" dirty="0"/>
          </a:p>
          <a:p>
            <a:r>
              <a:rPr lang="en-US" b="1" dirty="0"/>
              <a:t>Server</a:t>
            </a:r>
            <a:r>
              <a:rPr lang="he-IL" dirty="0"/>
              <a:t>: הכתובת של השרת (למשל,</a:t>
            </a:r>
            <a:r>
              <a:rPr lang="en-US" dirty="0"/>
              <a:t>localhost </a:t>
            </a:r>
            <a:r>
              <a:rPr lang="he-IL" dirty="0"/>
              <a:t> למחשב מקומי).</a:t>
            </a:r>
          </a:p>
          <a:p>
            <a:r>
              <a:rPr lang="en-US" b="1" dirty="0"/>
              <a:t>Database</a:t>
            </a:r>
            <a:r>
              <a:rPr lang="he-IL" dirty="0"/>
              <a:t>: השם של מסד הנתונים.</a:t>
            </a:r>
          </a:p>
          <a:p>
            <a:r>
              <a:rPr lang="en-US" b="1" dirty="0"/>
              <a:t>User Id</a:t>
            </a:r>
            <a:r>
              <a:rPr lang="he-IL" b="1" dirty="0"/>
              <a:t>:</a:t>
            </a:r>
            <a:r>
              <a:rPr lang="en-US" dirty="0"/>
              <a:t> </a:t>
            </a:r>
            <a:r>
              <a:rPr lang="he-IL" dirty="0"/>
              <a:t>שם המשתמש המשמש להתחברות.</a:t>
            </a:r>
          </a:p>
          <a:p>
            <a:r>
              <a:rPr lang="en-US" b="1" dirty="0"/>
              <a:t>Password</a:t>
            </a:r>
            <a:r>
              <a:rPr lang="he-IL" dirty="0"/>
              <a:t>: הסיסמה.</a:t>
            </a:r>
          </a:p>
          <a:p>
            <a:endParaRPr lang="en-US" dirty="0"/>
          </a:p>
          <a:p>
            <a:pPr algn="l"/>
            <a:endParaRPr lang="he-IL" dirty="0"/>
          </a:p>
        </p:txBody>
      </p:sp>
    </p:spTree>
    <p:extLst>
      <p:ext uri="{BB962C8B-B14F-4D97-AF65-F5344CB8AC3E}">
        <p14:creationId xmlns:p14="http://schemas.microsoft.com/office/powerpoint/2010/main" val="1995667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3355942" y="642594"/>
            <a:ext cx="7769258" cy="1371600"/>
          </a:xfrm>
        </p:spPr>
        <p:txBody>
          <a:bodyPr/>
          <a:lstStyle/>
          <a:p>
            <a:r>
              <a:rPr lang="he-IL" dirty="0"/>
              <a:t>מהי מחרוזת חיבור </a:t>
            </a:r>
            <a:r>
              <a:rPr lang="en-US" dirty="0" err="1"/>
              <a:t>Cleartext</a:t>
            </a:r>
            <a:r>
              <a:rPr lang="he-IL" dirty="0"/>
              <a:t>?</a:t>
            </a:r>
          </a:p>
        </p:txBody>
      </p:sp>
      <p:sp>
        <p:nvSpPr>
          <p:cNvPr id="3" name="מציין מיקום תוכן 2"/>
          <p:cNvSpPr>
            <a:spLocks noGrp="1"/>
          </p:cNvSpPr>
          <p:nvPr>
            <p:ph idx="1"/>
          </p:nvPr>
        </p:nvSpPr>
        <p:spPr/>
        <p:txBody>
          <a:bodyPr>
            <a:normAutofit/>
          </a:bodyPr>
          <a:lstStyle/>
          <a:p>
            <a:r>
              <a:rPr lang="he-IL" dirty="0"/>
              <a:t>מחרוזת חיבור ב-</a:t>
            </a:r>
            <a:r>
              <a:rPr lang="en-US" b="1" dirty="0" err="1"/>
              <a:t>Cleartext</a:t>
            </a:r>
            <a:r>
              <a:rPr lang="en-US" dirty="0"/>
              <a:t> </a:t>
            </a:r>
            <a:r>
              <a:rPr lang="he-IL" dirty="0"/>
              <a:t> היא מחרוזת שבה </a:t>
            </a:r>
            <a:r>
              <a:rPr lang="he-IL" b="1" dirty="0"/>
              <a:t>הסיסמה ופרטי ההתחברות מופיעים בצורה גלויה</a:t>
            </a:r>
            <a:r>
              <a:rPr lang="he-IL" dirty="0"/>
              <a:t>, כלומר </a:t>
            </a:r>
            <a:r>
              <a:rPr lang="he-IL" b="1" dirty="0"/>
              <a:t>לא מוצפנים</a:t>
            </a:r>
            <a:r>
              <a:rPr lang="he-IL" dirty="0"/>
              <a:t>.</a:t>
            </a:r>
          </a:p>
          <a:p>
            <a:r>
              <a:rPr lang="he-IL" dirty="0"/>
              <a:t>דוגמה מסוכנת ל-</a:t>
            </a:r>
            <a:r>
              <a:rPr lang="en-US" dirty="0" err="1"/>
              <a:t>Cleartext</a:t>
            </a:r>
            <a:r>
              <a:rPr lang="he-IL" dirty="0"/>
              <a:t>:</a:t>
            </a:r>
          </a:p>
          <a:p>
            <a:pPr algn="l"/>
            <a:r>
              <a:rPr lang="en-US" dirty="0"/>
              <a:t>Server=192.168.1.1;Database=</a:t>
            </a:r>
            <a:r>
              <a:rPr lang="en-US" dirty="0" err="1"/>
              <a:t>SalesDB;User</a:t>
            </a:r>
            <a:r>
              <a:rPr lang="en-US" dirty="0"/>
              <a:t> Id=</a:t>
            </a:r>
            <a:r>
              <a:rPr lang="en-US" dirty="0" err="1">
                <a:solidFill>
                  <a:srgbClr val="FF0000"/>
                </a:solidFill>
              </a:rPr>
              <a:t>admin</a:t>
            </a:r>
            <a:r>
              <a:rPr lang="en-US" dirty="0" err="1"/>
              <a:t>;Password</a:t>
            </a:r>
            <a:r>
              <a:rPr lang="en-US" dirty="0"/>
              <a:t>=</a:t>
            </a:r>
            <a:r>
              <a:rPr lang="en-US" dirty="0">
                <a:solidFill>
                  <a:srgbClr val="FF0000"/>
                </a:solidFill>
              </a:rPr>
              <a:t>123456</a:t>
            </a:r>
            <a:r>
              <a:rPr lang="en-US" dirty="0"/>
              <a:t>;</a:t>
            </a:r>
          </a:p>
          <a:p>
            <a:r>
              <a:rPr lang="he-IL" b="1" dirty="0"/>
              <a:t>בעיות ב-</a:t>
            </a:r>
            <a:r>
              <a:rPr lang="en-US" b="1" dirty="0" err="1"/>
              <a:t>Cleartext</a:t>
            </a:r>
            <a:r>
              <a:rPr lang="he-IL" b="1" dirty="0"/>
              <a:t>:</a:t>
            </a:r>
            <a:r>
              <a:rPr lang="en-US" b="1" dirty="0"/>
              <a:t> </a:t>
            </a:r>
            <a:endParaRPr lang="en-US" dirty="0"/>
          </a:p>
          <a:p>
            <a:r>
              <a:rPr lang="he-IL" b="1" dirty="0"/>
              <a:t>אבטחה נמוכה:</a:t>
            </a:r>
            <a:r>
              <a:rPr lang="he-IL" dirty="0"/>
              <a:t> כל מי שמקבל גישה למחרוזת רואה את הסיסמה.</a:t>
            </a:r>
          </a:p>
          <a:p>
            <a:r>
              <a:rPr lang="he-IL" b="1" dirty="0"/>
              <a:t>סיכון לדליפה:</a:t>
            </a:r>
            <a:r>
              <a:rPr lang="he-IL" dirty="0"/>
              <a:t> אם הקובץ נשמר במערכת, כל מי שיפתח אותו יכול לראות את הפרטים.</a:t>
            </a:r>
          </a:p>
          <a:p>
            <a:r>
              <a:rPr lang="he-IL" b="1" dirty="0"/>
              <a:t>גישה לא מורשית:</a:t>
            </a:r>
            <a:r>
              <a:rPr lang="he-IL" dirty="0"/>
              <a:t> במידה ותוקף משיג את המחרוזת, הוא יכול להתחבר למסד הנתונים.</a:t>
            </a:r>
          </a:p>
          <a:p>
            <a:r>
              <a:rPr lang="en-US" dirty="0"/>
              <a:t> </a:t>
            </a:r>
            <a:endParaRPr lang="he-IL" dirty="0"/>
          </a:p>
        </p:txBody>
      </p:sp>
    </p:spTree>
    <p:extLst>
      <p:ext uri="{BB962C8B-B14F-4D97-AF65-F5344CB8AC3E}">
        <p14:creationId xmlns:p14="http://schemas.microsoft.com/office/powerpoint/2010/main" val="14195676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3535052" y="642594"/>
            <a:ext cx="7590148" cy="1371600"/>
          </a:xfrm>
        </p:spPr>
        <p:txBody>
          <a:bodyPr/>
          <a:lstStyle/>
          <a:p>
            <a:r>
              <a:rPr lang="he-IL" dirty="0"/>
              <a:t>דרכים להגן על מחרוזות חיבור</a:t>
            </a:r>
          </a:p>
        </p:txBody>
      </p:sp>
      <p:sp>
        <p:nvSpPr>
          <p:cNvPr id="3" name="מציין מיקום תוכן 2"/>
          <p:cNvSpPr>
            <a:spLocks noGrp="1"/>
          </p:cNvSpPr>
          <p:nvPr>
            <p:ph idx="1"/>
          </p:nvPr>
        </p:nvSpPr>
        <p:spPr/>
        <p:txBody>
          <a:bodyPr/>
          <a:lstStyle/>
          <a:p>
            <a:r>
              <a:rPr lang="he-IL" dirty="0"/>
              <a:t>1. </a:t>
            </a:r>
            <a:r>
              <a:rPr lang="he-IL" b="1" dirty="0"/>
              <a:t>שימוש באימות </a:t>
            </a:r>
            <a:r>
              <a:rPr lang="en-US" b="1" dirty="0"/>
              <a:t>Windows (Windows Authentication)</a:t>
            </a:r>
            <a:r>
              <a:rPr lang="he-IL" b="1" dirty="0"/>
              <a:t>:</a:t>
            </a:r>
            <a:endParaRPr lang="en-US" dirty="0"/>
          </a:p>
          <a:p>
            <a:r>
              <a:rPr lang="he-IL" dirty="0"/>
              <a:t>במקום שם משתמש וסיסמה, החיבור נעשה עם חשבון  </a:t>
            </a:r>
            <a:r>
              <a:rPr lang="en-US" dirty="0"/>
              <a:t>Windows</a:t>
            </a:r>
            <a:r>
              <a:rPr lang="he-IL" dirty="0"/>
              <a:t> המוגדר מראש.</a:t>
            </a:r>
          </a:p>
          <a:p>
            <a:r>
              <a:rPr lang="he-IL" dirty="0"/>
              <a:t>אין צורך במחרוזת עם סיסמה גלויה.</a:t>
            </a:r>
          </a:p>
          <a:p>
            <a:pPr algn="l"/>
            <a:r>
              <a:rPr lang="en-US" dirty="0"/>
              <a:t>Server=</a:t>
            </a:r>
            <a:r>
              <a:rPr lang="en-US" dirty="0" err="1"/>
              <a:t>myServerAddress;Database</a:t>
            </a:r>
            <a:r>
              <a:rPr lang="en-US" dirty="0"/>
              <a:t>=</a:t>
            </a:r>
            <a:r>
              <a:rPr lang="en-US" dirty="0" err="1"/>
              <a:t>myDataBase;Integrated</a:t>
            </a:r>
            <a:r>
              <a:rPr lang="en-US" dirty="0"/>
              <a:t> Security=</a:t>
            </a:r>
            <a:r>
              <a:rPr lang="en-US" dirty="0">
                <a:solidFill>
                  <a:srgbClr val="FF0000"/>
                </a:solidFill>
              </a:rPr>
              <a:t>True</a:t>
            </a:r>
            <a:r>
              <a:rPr lang="en-US" dirty="0"/>
              <a:t>;</a:t>
            </a:r>
          </a:p>
          <a:p>
            <a:pPr algn="l"/>
            <a:endParaRPr lang="he-IL" dirty="0"/>
          </a:p>
          <a:p>
            <a:endParaRPr lang="he-IL" dirty="0"/>
          </a:p>
        </p:txBody>
      </p:sp>
    </p:spTree>
    <p:extLst>
      <p:ext uri="{BB962C8B-B14F-4D97-AF65-F5344CB8AC3E}">
        <p14:creationId xmlns:p14="http://schemas.microsoft.com/office/powerpoint/2010/main" val="12654912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1630836" y="642594"/>
            <a:ext cx="9494363" cy="1371600"/>
          </a:xfrm>
        </p:spPr>
        <p:txBody>
          <a:bodyPr/>
          <a:lstStyle/>
          <a:p>
            <a:r>
              <a:rPr lang="he-IL" dirty="0"/>
              <a:t>המשך - דרכים להגן על מחרוזות חיבור</a:t>
            </a:r>
          </a:p>
        </p:txBody>
      </p:sp>
      <p:sp>
        <p:nvSpPr>
          <p:cNvPr id="3" name="מציין מיקום תוכן 2"/>
          <p:cNvSpPr>
            <a:spLocks noGrp="1"/>
          </p:cNvSpPr>
          <p:nvPr>
            <p:ph idx="1"/>
          </p:nvPr>
        </p:nvSpPr>
        <p:spPr/>
        <p:txBody>
          <a:bodyPr/>
          <a:lstStyle/>
          <a:p>
            <a:r>
              <a:rPr lang="he-IL" dirty="0"/>
              <a:t>2. </a:t>
            </a:r>
            <a:r>
              <a:rPr lang="he-IL" b="1" dirty="0"/>
              <a:t>הצפנת מחרוזת חיבור:</a:t>
            </a:r>
            <a:endParaRPr lang="he-IL" dirty="0"/>
          </a:p>
          <a:p>
            <a:r>
              <a:rPr lang="he-IL" dirty="0"/>
              <a:t>שמירת המחרוזת בצורה מוצפנת והצפנת התעבורה לרשת.</a:t>
            </a:r>
          </a:p>
          <a:p>
            <a:r>
              <a:rPr lang="he-IL" dirty="0"/>
              <a:t>לדוגמה: שימוש ב-</a:t>
            </a:r>
            <a:r>
              <a:rPr lang="en-US" dirty="0"/>
              <a:t> SSL/TLS </a:t>
            </a:r>
            <a:r>
              <a:rPr lang="he-IL" dirty="0"/>
              <a:t>בעת החיבור (נלמד בהשמך הקורס)</a:t>
            </a:r>
          </a:p>
          <a:p>
            <a:r>
              <a:rPr lang="he-IL" dirty="0"/>
              <a:t>3. </a:t>
            </a:r>
            <a:r>
              <a:rPr lang="he-IL" b="1" dirty="0"/>
              <a:t>שימוש בקובץ הגדרות מוגן:</a:t>
            </a:r>
            <a:endParaRPr lang="he-IL" dirty="0"/>
          </a:p>
          <a:p>
            <a:r>
              <a:rPr lang="he-IL" dirty="0"/>
              <a:t>במקום לשים את המחרוזת בקוד, מאחסנים אותה בקובץ מוצפן או בקובץ הגדרות המוגן על-ידי הרשאות גישה.</a:t>
            </a:r>
          </a:p>
          <a:p>
            <a:r>
              <a:rPr lang="he-IL" dirty="0"/>
              <a:t>4. </a:t>
            </a:r>
            <a:r>
              <a:rPr lang="he-IL" b="1" dirty="0"/>
              <a:t>משתני סביבה (</a:t>
            </a:r>
            <a:r>
              <a:rPr lang="en-US" b="1" dirty="0"/>
              <a:t>Environment Variables</a:t>
            </a:r>
            <a:r>
              <a:rPr lang="he-IL" b="1" dirty="0"/>
              <a:t>):</a:t>
            </a:r>
            <a:r>
              <a:rPr lang="he-IL" dirty="0"/>
              <a:t> שמירת המחרוזת או חלק ממנה כמשתנה סביבה במקום בקוד.</a:t>
            </a:r>
          </a:p>
          <a:p>
            <a:endParaRPr lang="he-IL" dirty="0"/>
          </a:p>
          <a:p>
            <a:endParaRPr lang="he-IL" dirty="0"/>
          </a:p>
        </p:txBody>
      </p:sp>
    </p:spTree>
    <p:extLst>
      <p:ext uri="{BB962C8B-B14F-4D97-AF65-F5344CB8AC3E}">
        <p14:creationId xmlns:p14="http://schemas.microsoft.com/office/powerpoint/2010/main" val="33369981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1809946" y="642594"/>
            <a:ext cx="9315254" cy="1371600"/>
          </a:xfrm>
        </p:spPr>
        <p:txBody>
          <a:bodyPr>
            <a:normAutofit fontScale="90000"/>
          </a:bodyPr>
          <a:lstStyle/>
          <a:p>
            <a:r>
              <a:rPr lang="he-IL" dirty="0"/>
              <a:t>תרגיל מעשי: יצירת חיבור עם </a:t>
            </a:r>
            <a:r>
              <a:rPr lang="en-US" dirty="0"/>
              <a:t>SQL Server</a:t>
            </a:r>
            <a:endParaRPr lang="he-IL" dirty="0"/>
          </a:p>
        </p:txBody>
      </p:sp>
      <p:sp>
        <p:nvSpPr>
          <p:cNvPr id="3" name="מציין מיקום תוכן 2"/>
          <p:cNvSpPr>
            <a:spLocks noGrp="1"/>
          </p:cNvSpPr>
          <p:nvPr>
            <p:ph idx="1"/>
          </p:nvPr>
        </p:nvSpPr>
        <p:spPr/>
        <p:txBody>
          <a:bodyPr/>
          <a:lstStyle/>
          <a:p>
            <a:r>
              <a:rPr lang="he-IL" dirty="0"/>
              <a:t>בוא נתחיל עם הדרך הפחות בטוחה.</a:t>
            </a:r>
            <a:br>
              <a:rPr lang="he-IL" dirty="0"/>
            </a:br>
            <a:r>
              <a:rPr lang="he-IL" dirty="0"/>
              <a:t>נניח שפרטי ההתחברות שלנו הם:</a:t>
            </a:r>
          </a:p>
          <a:p>
            <a:r>
              <a:rPr lang="he-IL" dirty="0"/>
              <a:t>שרת (</a:t>
            </a:r>
            <a:r>
              <a:rPr lang="en-US" dirty="0"/>
              <a:t>Server</a:t>
            </a:r>
            <a:r>
              <a:rPr lang="he-IL" dirty="0"/>
              <a:t>):</a:t>
            </a:r>
            <a:r>
              <a:rPr lang="en-US" dirty="0"/>
              <a:t>localhost</a:t>
            </a:r>
            <a:endParaRPr lang="he-IL" dirty="0"/>
          </a:p>
          <a:p>
            <a:r>
              <a:rPr lang="he-IL" b="1" dirty="0"/>
              <a:t>מסד נתונים</a:t>
            </a:r>
            <a:r>
              <a:rPr lang="en-US" b="1" dirty="0"/>
              <a:t>Database)</a:t>
            </a:r>
            <a:r>
              <a:rPr lang="en-US" dirty="0"/>
              <a:t> </a:t>
            </a:r>
            <a:r>
              <a:rPr lang="he-IL" dirty="0"/>
              <a:t>): </a:t>
            </a:r>
            <a:r>
              <a:rPr lang="en-US" dirty="0" err="1"/>
              <a:t>testDB</a:t>
            </a:r>
            <a:endParaRPr lang="he-IL" dirty="0"/>
          </a:p>
          <a:p>
            <a:r>
              <a:rPr lang="he-IL" dirty="0"/>
              <a:t>משתמש (</a:t>
            </a:r>
            <a:r>
              <a:rPr lang="en-US" dirty="0"/>
              <a:t>User</a:t>
            </a:r>
            <a:r>
              <a:rPr lang="he-IL" dirty="0"/>
              <a:t>): </a:t>
            </a:r>
            <a:r>
              <a:rPr lang="en-US" dirty="0" err="1"/>
              <a:t>yaniv</a:t>
            </a:r>
            <a:endParaRPr lang="he-IL" dirty="0"/>
          </a:p>
          <a:p>
            <a:r>
              <a:rPr lang="he-IL" dirty="0"/>
              <a:t>סיסמה (</a:t>
            </a:r>
            <a:r>
              <a:rPr lang="en-US" dirty="0"/>
              <a:t>Password</a:t>
            </a:r>
            <a:r>
              <a:rPr lang="he-IL" dirty="0"/>
              <a:t>): 123456</a:t>
            </a:r>
          </a:p>
          <a:p>
            <a:r>
              <a:rPr lang="he-IL" b="1" dirty="0"/>
              <a:t>המשימה שלך: כתוב מחרוזת חיבור מתאימה.</a:t>
            </a:r>
          </a:p>
          <a:p>
            <a:r>
              <a:rPr lang="he-IL" dirty="0"/>
              <a:t>בבקשה כתוב את מחרוזת החיבור המתאימה לפי הנתונים שהבאתי.</a:t>
            </a:r>
            <a:br>
              <a:rPr lang="he-IL" dirty="0"/>
            </a:br>
            <a:r>
              <a:rPr lang="he-IL" dirty="0"/>
              <a:t>זכור, זו הדרך הלא מאובטחת (</a:t>
            </a:r>
            <a:r>
              <a:rPr lang="en-US" dirty="0" err="1"/>
              <a:t>Cleartext</a:t>
            </a:r>
            <a:r>
              <a:rPr lang="he-IL" dirty="0"/>
              <a:t>)</a:t>
            </a:r>
            <a:endParaRPr lang="en-US" dirty="0"/>
          </a:p>
          <a:p>
            <a:endParaRPr lang="he-IL" dirty="0"/>
          </a:p>
        </p:txBody>
      </p:sp>
    </p:spTree>
    <p:extLst>
      <p:ext uri="{BB962C8B-B14F-4D97-AF65-F5344CB8AC3E}">
        <p14:creationId xmlns:p14="http://schemas.microsoft.com/office/powerpoint/2010/main" val="665726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9078012" y="642594"/>
            <a:ext cx="2047188" cy="1371600"/>
          </a:xfrm>
        </p:spPr>
        <p:txBody>
          <a:bodyPr/>
          <a:lstStyle/>
          <a:p>
            <a:r>
              <a:rPr lang="he-IL" dirty="0"/>
              <a:t>תשובה:</a:t>
            </a:r>
          </a:p>
        </p:txBody>
      </p:sp>
      <p:sp>
        <p:nvSpPr>
          <p:cNvPr id="3" name="מציין מיקום תוכן 2"/>
          <p:cNvSpPr>
            <a:spLocks noGrp="1"/>
          </p:cNvSpPr>
          <p:nvPr>
            <p:ph idx="1"/>
          </p:nvPr>
        </p:nvSpPr>
        <p:spPr/>
        <p:txBody>
          <a:bodyPr/>
          <a:lstStyle/>
          <a:p>
            <a:pPr algn="l"/>
            <a:r>
              <a:rPr lang="en-US" dirty="0"/>
              <a:t>Server=</a:t>
            </a:r>
            <a:r>
              <a:rPr lang="en-US" dirty="0" err="1"/>
              <a:t>localhost;Database</a:t>
            </a:r>
            <a:r>
              <a:rPr lang="en-US" dirty="0"/>
              <a:t>=</a:t>
            </a:r>
            <a:r>
              <a:rPr lang="en-US" dirty="0" err="1"/>
              <a:t>TestDB;User</a:t>
            </a:r>
            <a:r>
              <a:rPr lang="en-US" dirty="0"/>
              <a:t> Id=</a:t>
            </a:r>
            <a:r>
              <a:rPr lang="en-US" dirty="0" err="1"/>
              <a:t>yaniv;Password</a:t>
            </a:r>
            <a:r>
              <a:rPr lang="en-US" dirty="0"/>
              <a:t>=123456;</a:t>
            </a:r>
          </a:p>
          <a:p>
            <a:endParaRPr lang="en-US" dirty="0"/>
          </a:p>
          <a:p>
            <a:pPr algn="l"/>
            <a:endParaRPr lang="he-IL" dirty="0"/>
          </a:p>
        </p:txBody>
      </p:sp>
    </p:spTree>
    <p:extLst>
      <p:ext uri="{BB962C8B-B14F-4D97-AF65-F5344CB8AC3E}">
        <p14:creationId xmlns:p14="http://schemas.microsoft.com/office/powerpoint/2010/main" val="231107286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7748832" y="642594"/>
            <a:ext cx="3376367" cy="1371600"/>
          </a:xfrm>
        </p:spPr>
        <p:txBody>
          <a:bodyPr/>
          <a:lstStyle/>
          <a:p>
            <a:r>
              <a:rPr lang="he-IL" dirty="0"/>
              <a:t>המשך שאלה</a:t>
            </a:r>
          </a:p>
        </p:txBody>
      </p:sp>
      <p:sp>
        <p:nvSpPr>
          <p:cNvPr id="3" name="מציין מיקום תוכן 2"/>
          <p:cNvSpPr>
            <a:spLocks noGrp="1"/>
          </p:cNvSpPr>
          <p:nvPr>
            <p:ph idx="1"/>
          </p:nvPr>
        </p:nvSpPr>
        <p:spPr>
          <a:xfrm>
            <a:off x="588450" y="2202698"/>
            <a:ext cx="10755923" cy="4351338"/>
          </a:xfrm>
        </p:spPr>
        <p:txBody>
          <a:bodyPr/>
          <a:lstStyle/>
          <a:p>
            <a:r>
              <a:rPr lang="he-IL" dirty="0"/>
              <a:t>איך היית מחבר את מסד הנתונים </a:t>
            </a:r>
            <a:r>
              <a:rPr lang="en-US" dirty="0"/>
              <a:t> </a:t>
            </a:r>
            <a:r>
              <a:rPr lang="en-US" b="1" dirty="0" err="1"/>
              <a:t>TestDB</a:t>
            </a:r>
            <a:r>
              <a:rPr lang="he-IL" dirty="0"/>
              <a:t>בדרך </a:t>
            </a:r>
            <a:r>
              <a:rPr lang="he-IL" b="1" dirty="0"/>
              <a:t>מאובטחת יותר</a:t>
            </a:r>
            <a:r>
              <a:rPr lang="he-IL" dirty="0"/>
              <a:t> ללא צורך בשם משתמש וסיסמה?</a:t>
            </a:r>
            <a:br>
              <a:rPr lang="he-IL" dirty="0"/>
            </a:br>
            <a:r>
              <a:rPr lang="he-IL" dirty="0"/>
              <a:t>נסה לרשום מחרוזת חיבור שתשתמש ב-</a:t>
            </a:r>
            <a:r>
              <a:rPr lang="en-US" b="1" dirty="0"/>
              <a:t>Windows Authentication</a:t>
            </a:r>
            <a:endParaRPr lang="he-IL" dirty="0"/>
          </a:p>
        </p:txBody>
      </p:sp>
    </p:spTree>
    <p:extLst>
      <p:ext uri="{BB962C8B-B14F-4D97-AF65-F5344CB8AC3E}">
        <p14:creationId xmlns:p14="http://schemas.microsoft.com/office/powerpoint/2010/main" val="41770277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7164370" y="642594"/>
            <a:ext cx="3960829" cy="1371600"/>
          </a:xfrm>
        </p:spPr>
        <p:txBody>
          <a:bodyPr/>
          <a:lstStyle/>
          <a:p>
            <a:r>
              <a:rPr lang="he-IL" dirty="0"/>
              <a:t>המשך - תשובה</a:t>
            </a:r>
          </a:p>
        </p:txBody>
      </p:sp>
      <p:sp>
        <p:nvSpPr>
          <p:cNvPr id="3" name="מציין מיקום תוכן 2"/>
          <p:cNvSpPr>
            <a:spLocks noGrp="1"/>
          </p:cNvSpPr>
          <p:nvPr>
            <p:ph idx="1"/>
          </p:nvPr>
        </p:nvSpPr>
        <p:spPr/>
        <p:txBody>
          <a:bodyPr/>
          <a:lstStyle/>
          <a:p>
            <a:pPr algn="l"/>
            <a:r>
              <a:rPr lang="en-US" dirty="0"/>
              <a:t>Server=</a:t>
            </a:r>
            <a:r>
              <a:rPr lang="en-US" dirty="0" err="1"/>
              <a:t>localhost;Database</a:t>
            </a:r>
            <a:r>
              <a:rPr lang="en-US" dirty="0"/>
              <a:t>=</a:t>
            </a:r>
            <a:r>
              <a:rPr lang="en-US" dirty="0" err="1"/>
              <a:t>TestDB;Integrated</a:t>
            </a:r>
            <a:r>
              <a:rPr lang="en-US" dirty="0"/>
              <a:t> Security=</a:t>
            </a:r>
            <a:r>
              <a:rPr lang="en-US" dirty="0">
                <a:solidFill>
                  <a:srgbClr val="FF0000"/>
                </a:solidFill>
              </a:rPr>
              <a:t>True</a:t>
            </a:r>
            <a:r>
              <a:rPr lang="en-US" dirty="0"/>
              <a:t>;</a:t>
            </a:r>
          </a:p>
          <a:p>
            <a:pPr algn="l"/>
            <a:endParaRPr lang="en-US" dirty="0"/>
          </a:p>
          <a:p>
            <a:r>
              <a:rPr lang="en-US" b="1" dirty="0"/>
              <a:t>Integrated Security=True</a:t>
            </a:r>
            <a:r>
              <a:rPr lang="he-IL" b="1" dirty="0"/>
              <a:t>: </a:t>
            </a:r>
            <a:r>
              <a:rPr lang="he-IL" dirty="0"/>
              <a:t>מאפשר התחברות באמצעות </a:t>
            </a:r>
            <a:r>
              <a:rPr lang="he-IL" b="1" dirty="0"/>
              <a:t>חשבון </a:t>
            </a:r>
            <a:r>
              <a:rPr lang="en-US" b="1" dirty="0"/>
              <a:t>,Windows</a:t>
            </a:r>
            <a:r>
              <a:rPr lang="he-IL" dirty="0"/>
              <a:t>ללא צורך בשם משתמש וסיסמה גלויים.</a:t>
            </a:r>
          </a:p>
        </p:txBody>
      </p:sp>
    </p:spTree>
    <p:extLst>
      <p:ext uri="{BB962C8B-B14F-4D97-AF65-F5344CB8AC3E}">
        <p14:creationId xmlns:p14="http://schemas.microsoft.com/office/powerpoint/2010/main" val="181570391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p:cNvSpPr>
            <a:spLocks noGrp="1"/>
          </p:cNvSpPr>
          <p:nvPr>
            <p:ph idx="1"/>
          </p:nvPr>
        </p:nvSpPr>
        <p:spPr>
          <a:xfrm>
            <a:off x="917331" y="2388332"/>
            <a:ext cx="10515600" cy="4351338"/>
          </a:xfrm>
        </p:spPr>
        <p:txBody>
          <a:bodyPr>
            <a:normAutofit/>
          </a:bodyPr>
          <a:lstStyle/>
          <a:p>
            <a:pPr algn="ctr"/>
            <a:r>
              <a:rPr lang="en-US" sz="5400" dirty="0"/>
              <a:t>strong output/entity encoding/ decoding</a:t>
            </a:r>
            <a:endParaRPr lang="he-IL" sz="5400" dirty="0"/>
          </a:p>
        </p:txBody>
      </p:sp>
    </p:spTree>
    <p:extLst>
      <p:ext uri="{BB962C8B-B14F-4D97-AF65-F5344CB8AC3E}">
        <p14:creationId xmlns:p14="http://schemas.microsoft.com/office/powerpoint/2010/main" val="15809418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6096000" y="642594"/>
            <a:ext cx="5029200" cy="1371600"/>
          </a:xfrm>
        </p:spPr>
        <p:txBody>
          <a:bodyPr/>
          <a:lstStyle/>
          <a:p>
            <a:r>
              <a:rPr lang="he-IL" dirty="0"/>
              <a:t>מה זה </a:t>
            </a:r>
            <a:r>
              <a:rPr lang="en-US" dirty="0"/>
              <a:t>Encoding</a:t>
            </a:r>
            <a:r>
              <a:rPr lang="he-IL" dirty="0"/>
              <a:t>?</a:t>
            </a:r>
          </a:p>
        </p:txBody>
      </p:sp>
      <p:sp>
        <p:nvSpPr>
          <p:cNvPr id="3" name="מציין מיקום תוכן 2"/>
          <p:cNvSpPr>
            <a:spLocks noGrp="1"/>
          </p:cNvSpPr>
          <p:nvPr>
            <p:ph idx="1"/>
          </p:nvPr>
        </p:nvSpPr>
        <p:spPr/>
        <p:txBody>
          <a:bodyPr>
            <a:normAutofit/>
          </a:bodyPr>
          <a:lstStyle/>
          <a:p>
            <a:r>
              <a:rPr lang="en-US" b="1" dirty="0"/>
              <a:t>) Encoding</a:t>
            </a:r>
            <a:r>
              <a:rPr lang="he-IL" b="1" dirty="0"/>
              <a:t>קידוד):</a:t>
            </a:r>
            <a:r>
              <a:rPr lang="he-IL" dirty="0"/>
              <a:t> הוא תהליך שבו מתרגמים נתונים (כמו טקסט או מספרים) לפורמט אחר, כדי:</a:t>
            </a:r>
          </a:p>
          <a:p>
            <a:r>
              <a:rPr lang="he-IL" dirty="0"/>
              <a:t>לשמור מידע באופן בטוח.</a:t>
            </a:r>
          </a:p>
          <a:p>
            <a:r>
              <a:rPr lang="he-IL" dirty="0"/>
              <a:t>להתאים אותו לשימוש במערכות שונות, כמו אתרים, מסדי נתונים, או </a:t>
            </a:r>
            <a:r>
              <a:rPr lang="en-US" dirty="0"/>
              <a:t>APIs</a:t>
            </a:r>
            <a:r>
              <a:rPr lang="he-IL" dirty="0"/>
              <a:t>.</a:t>
            </a:r>
          </a:p>
          <a:p>
            <a:r>
              <a:rPr lang="he-IL" dirty="0"/>
              <a:t>מטרות הקידוד כוללות: </a:t>
            </a:r>
          </a:p>
          <a:p>
            <a:r>
              <a:rPr lang="he-IL" dirty="0"/>
              <a:t>1.</a:t>
            </a:r>
            <a:r>
              <a:rPr lang="he-IL" b="1" dirty="0"/>
              <a:t> התאמה לסביבה:</a:t>
            </a:r>
            <a:r>
              <a:rPr lang="he-IL" dirty="0"/>
              <a:t> הפיכת נתונים לתואמים למערכות שונות (כמו דפדפנים או מסדי נתונים). </a:t>
            </a:r>
          </a:p>
          <a:p>
            <a:r>
              <a:rPr lang="he-IL" dirty="0"/>
              <a:t>2. </a:t>
            </a:r>
            <a:r>
              <a:rPr lang="he-IL" b="1" dirty="0"/>
              <a:t>אבטחה:</a:t>
            </a:r>
            <a:r>
              <a:rPr lang="he-IL" dirty="0"/>
              <a:t> מניעת פרשנות שגויה של הנתונים.</a:t>
            </a:r>
          </a:p>
          <a:p>
            <a:r>
              <a:rPr lang="he-IL" dirty="0"/>
              <a:t>3. </a:t>
            </a:r>
            <a:r>
              <a:rPr lang="he-IL" b="1" dirty="0"/>
              <a:t>שימור נתונים:</a:t>
            </a:r>
            <a:r>
              <a:rPr lang="he-IL" dirty="0"/>
              <a:t> ייצוג מידע בפורמט שניתן לאחסון או להעברה.</a:t>
            </a:r>
          </a:p>
          <a:p>
            <a:endParaRPr lang="he-IL" dirty="0"/>
          </a:p>
        </p:txBody>
      </p:sp>
    </p:spTree>
    <p:extLst>
      <p:ext uri="{BB962C8B-B14F-4D97-AF65-F5344CB8AC3E}">
        <p14:creationId xmlns:p14="http://schemas.microsoft.com/office/powerpoint/2010/main" val="23282731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5109328" y="-118452"/>
            <a:ext cx="6552202" cy="1325563"/>
          </a:xfrm>
        </p:spPr>
        <p:txBody>
          <a:bodyPr/>
          <a:lstStyle/>
          <a:p>
            <a:r>
              <a:rPr lang="he-IL" dirty="0"/>
              <a:t>דוגמאות לקידודים נפוצים:</a:t>
            </a:r>
          </a:p>
        </p:txBody>
      </p:sp>
      <p:sp>
        <p:nvSpPr>
          <p:cNvPr id="3" name="מציין מיקום תוכן 2"/>
          <p:cNvSpPr>
            <a:spLocks noGrp="1"/>
          </p:cNvSpPr>
          <p:nvPr>
            <p:ph idx="1"/>
          </p:nvPr>
        </p:nvSpPr>
        <p:spPr>
          <a:xfrm>
            <a:off x="838200" y="1002323"/>
            <a:ext cx="10515600" cy="5174640"/>
          </a:xfrm>
        </p:spPr>
        <p:txBody>
          <a:bodyPr>
            <a:normAutofit/>
          </a:bodyPr>
          <a:lstStyle/>
          <a:p>
            <a:r>
              <a:rPr lang="he-IL" dirty="0"/>
              <a:t>1. </a:t>
            </a:r>
            <a:r>
              <a:rPr lang="en-US" b="1" dirty="0"/>
              <a:t>HTML Encoding</a:t>
            </a:r>
            <a:r>
              <a:rPr lang="he-IL" b="1" dirty="0"/>
              <a:t>:</a:t>
            </a:r>
            <a:r>
              <a:rPr lang="en-US" dirty="0"/>
              <a:t/>
            </a:r>
            <a:br>
              <a:rPr lang="en-US" dirty="0"/>
            </a:br>
            <a:r>
              <a:rPr lang="he-IL" dirty="0"/>
              <a:t>משמש להמיר תווים מיוחדים (כמו &lt; ו- &gt;) כך שיישארו בטוחים לשימוש בקוד </a:t>
            </a:r>
            <a:r>
              <a:rPr lang="en-US" dirty="0"/>
              <a:t>HTML</a:t>
            </a:r>
            <a:r>
              <a:rPr lang="he-IL" dirty="0"/>
              <a:t>.</a:t>
            </a:r>
          </a:p>
          <a:p>
            <a:r>
              <a:rPr lang="he-IL" dirty="0"/>
              <a:t>דוגמה: </a:t>
            </a:r>
          </a:p>
          <a:p>
            <a:r>
              <a:rPr lang="en-US" dirty="0"/>
              <a:t>&amp;</a:t>
            </a:r>
            <a:r>
              <a:rPr lang="en-US" dirty="0" err="1"/>
              <a:t>lt;script&amp;gt</a:t>
            </a:r>
            <a:r>
              <a:rPr lang="en-US" dirty="0"/>
              <a:t>&gt;</a:t>
            </a:r>
            <a:r>
              <a:rPr lang="he-IL" dirty="0"/>
              <a:t>→</a:t>
            </a:r>
            <a:r>
              <a:rPr lang="en-US" dirty="0"/>
              <a:t>script&gt;</a:t>
            </a:r>
            <a:r>
              <a:rPr lang="he-IL" dirty="0"/>
              <a:t>;</a:t>
            </a:r>
          </a:p>
          <a:p>
            <a:r>
              <a:rPr lang="he-IL" dirty="0"/>
              <a:t>דוגמה נוספת: </a:t>
            </a:r>
          </a:p>
          <a:p>
            <a:r>
              <a:rPr lang="he-IL" dirty="0"/>
              <a:t>קלט: </a:t>
            </a:r>
            <a:r>
              <a:rPr lang="en-US" dirty="0"/>
              <a:t>&lt;script&gt;alert('XSS')&lt;/script&gt;</a:t>
            </a:r>
            <a:endParaRPr lang="he-IL" dirty="0"/>
          </a:p>
          <a:p>
            <a:r>
              <a:rPr lang="he-IL" dirty="0"/>
              <a:t>קידוד:</a:t>
            </a:r>
          </a:p>
          <a:p>
            <a:pPr algn="l"/>
            <a:r>
              <a:rPr lang="en-US" dirty="0"/>
              <a:t>;</a:t>
            </a:r>
            <a:r>
              <a:rPr lang="en-US" dirty="0" err="1"/>
              <a:t>lt;script&amp;gt;alert</a:t>
            </a:r>
            <a:r>
              <a:rPr lang="en-US" dirty="0"/>
              <a:t>(&amp;#39;XSS&amp;#39;)&amp;</a:t>
            </a:r>
            <a:r>
              <a:rPr lang="en-US" dirty="0" err="1"/>
              <a:t>lt</a:t>
            </a:r>
            <a:r>
              <a:rPr lang="en-US" dirty="0"/>
              <a:t>;/</a:t>
            </a:r>
            <a:r>
              <a:rPr lang="en-US" dirty="0" err="1"/>
              <a:t>script&amp;gt</a:t>
            </a:r>
            <a:r>
              <a:rPr lang="en-US" dirty="0"/>
              <a:t>&amp;</a:t>
            </a:r>
            <a:endParaRPr lang="he-IL" dirty="0"/>
          </a:p>
          <a:p>
            <a:r>
              <a:rPr lang="he-IL" dirty="0"/>
              <a:t>2. </a:t>
            </a:r>
            <a:r>
              <a:rPr lang="en-US" b="1" dirty="0"/>
              <a:t>URL Encoding</a:t>
            </a:r>
            <a:r>
              <a:rPr lang="he-IL" b="1" dirty="0"/>
              <a:t>:</a:t>
            </a:r>
            <a:r>
              <a:rPr lang="en-US" dirty="0"/>
              <a:t/>
            </a:r>
            <a:br>
              <a:rPr lang="en-US" dirty="0"/>
            </a:br>
            <a:r>
              <a:rPr lang="he-IL" dirty="0"/>
              <a:t>משמש להמיר תווים שאינם בטוחים לכתובת </a:t>
            </a:r>
            <a:r>
              <a:rPr lang="en-US" dirty="0"/>
              <a:t>URL</a:t>
            </a:r>
            <a:r>
              <a:rPr lang="he-IL" dirty="0"/>
              <a:t>.</a:t>
            </a:r>
          </a:p>
          <a:p>
            <a:r>
              <a:rPr lang="he-IL" dirty="0"/>
              <a:t>%20→</a:t>
            </a:r>
            <a:r>
              <a:rPr lang="en-US" dirty="0"/>
              <a:t>space</a:t>
            </a:r>
            <a:endParaRPr lang="he-IL" dirty="0"/>
          </a:p>
          <a:p>
            <a:r>
              <a:rPr lang="he-IL" dirty="0"/>
              <a:t>דוגמה: קלט: </a:t>
            </a:r>
            <a:r>
              <a:rPr lang="en-US" dirty="0"/>
              <a:t>hello world</a:t>
            </a:r>
            <a:endParaRPr lang="he-IL" dirty="0"/>
          </a:p>
          <a:p>
            <a:r>
              <a:rPr lang="he-IL" dirty="0"/>
              <a:t>קידוד: </a:t>
            </a:r>
            <a:r>
              <a:rPr lang="en-US" dirty="0"/>
              <a:t>hello%20world</a:t>
            </a:r>
            <a:endParaRPr lang="he-IL" dirty="0"/>
          </a:p>
        </p:txBody>
      </p:sp>
    </p:spTree>
    <p:extLst>
      <p:ext uri="{BB962C8B-B14F-4D97-AF65-F5344CB8AC3E}">
        <p14:creationId xmlns:p14="http://schemas.microsoft.com/office/powerpoint/2010/main" val="26275613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2950589" y="567180"/>
            <a:ext cx="8655377" cy="1371600"/>
          </a:xfrm>
        </p:spPr>
        <p:txBody>
          <a:bodyPr/>
          <a:lstStyle/>
          <a:p>
            <a:r>
              <a:rPr lang="he-IL" dirty="0"/>
              <a:t>המשך - דוגמאות לקידודים נפוצים:</a:t>
            </a:r>
          </a:p>
        </p:txBody>
      </p:sp>
      <p:sp>
        <p:nvSpPr>
          <p:cNvPr id="3" name="מציין מיקום תוכן 2"/>
          <p:cNvSpPr>
            <a:spLocks noGrp="1"/>
          </p:cNvSpPr>
          <p:nvPr>
            <p:ph idx="1"/>
          </p:nvPr>
        </p:nvSpPr>
        <p:spPr/>
        <p:txBody>
          <a:bodyPr>
            <a:normAutofit/>
          </a:bodyPr>
          <a:lstStyle/>
          <a:p>
            <a:r>
              <a:rPr lang="he-IL" dirty="0"/>
              <a:t>3. </a:t>
            </a:r>
            <a:r>
              <a:rPr lang="en-US" b="1" dirty="0"/>
              <a:t>Base64 Encoding</a:t>
            </a:r>
            <a:r>
              <a:rPr lang="he-IL" b="1" dirty="0"/>
              <a:t>:</a:t>
            </a:r>
            <a:r>
              <a:rPr lang="en-US" dirty="0"/>
              <a:t/>
            </a:r>
            <a:br>
              <a:rPr lang="en-US" dirty="0"/>
            </a:br>
            <a:r>
              <a:rPr lang="he-IL" dirty="0"/>
              <a:t>משמש להעברת מידע בינארי בצורה טקסטואלית, כמו תמונות או מפתחות הצפנה.</a:t>
            </a:r>
          </a:p>
          <a:p>
            <a:r>
              <a:rPr lang="he-IL" dirty="0"/>
              <a:t>דוגמה: קלט :</a:t>
            </a:r>
            <a:r>
              <a:rPr lang="en-US" dirty="0"/>
              <a:t>Hello!</a:t>
            </a:r>
          </a:p>
          <a:p>
            <a:r>
              <a:rPr lang="he-IL" dirty="0"/>
              <a:t>קידוד: </a:t>
            </a:r>
            <a:r>
              <a:rPr lang="en-US" dirty="0"/>
              <a:t>SGVsbG8h</a:t>
            </a:r>
            <a:endParaRPr lang="he-IL" dirty="0"/>
          </a:p>
          <a:p>
            <a:r>
              <a:rPr lang="he-IL" dirty="0"/>
              <a:t>4. </a:t>
            </a:r>
            <a:r>
              <a:rPr lang="en-US" dirty="0"/>
              <a:t>:</a:t>
            </a:r>
            <a:r>
              <a:rPr lang="en-US" b="1" dirty="0"/>
              <a:t>JSON Encoding</a:t>
            </a:r>
          </a:p>
          <a:p>
            <a:r>
              <a:rPr lang="he-IL" b="1" dirty="0"/>
              <a:t>מטרה:</a:t>
            </a:r>
            <a:r>
              <a:rPr lang="he-IL" dirty="0"/>
              <a:t> לייצג מידע מובנה (אובייקטים או מערכים) בצורה טקסטואלית המתאימה להעברה בפרוטוקולי רשת.</a:t>
            </a:r>
          </a:p>
          <a:p>
            <a:r>
              <a:rPr lang="he-IL" dirty="0"/>
              <a:t>דוגמה: קלט: אובייקט: </a:t>
            </a:r>
            <a:r>
              <a:rPr lang="en-US" dirty="0"/>
              <a:t>{name: "John", age: 30}</a:t>
            </a:r>
            <a:endParaRPr lang="he-IL" dirty="0"/>
          </a:p>
          <a:p>
            <a:r>
              <a:rPr lang="he-IL" dirty="0"/>
              <a:t>קידוד: </a:t>
            </a:r>
            <a:r>
              <a:rPr lang="en-US" dirty="0"/>
              <a:t>{name":"John","age":30”}</a:t>
            </a:r>
            <a:endParaRPr lang="he-IL" dirty="0"/>
          </a:p>
          <a:p>
            <a:endParaRPr lang="he-IL" dirty="0"/>
          </a:p>
        </p:txBody>
      </p:sp>
    </p:spTree>
    <p:extLst>
      <p:ext uri="{BB962C8B-B14F-4D97-AF65-F5344CB8AC3E}">
        <p14:creationId xmlns:p14="http://schemas.microsoft.com/office/powerpoint/2010/main" val="2109631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2582944" y="642594"/>
            <a:ext cx="8542256" cy="1371600"/>
          </a:xfrm>
        </p:spPr>
        <p:txBody>
          <a:bodyPr/>
          <a:lstStyle/>
          <a:p>
            <a:r>
              <a:rPr lang="he-IL" dirty="0"/>
              <a:t>המשך - דוגמאות לקידודים נפוצים:</a:t>
            </a:r>
          </a:p>
        </p:txBody>
      </p:sp>
      <p:sp>
        <p:nvSpPr>
          <p:cNvPr id="3" name="מציין מיקום תוכן 2"/>
          <p:cNvSpPr>
            <a:spLocks noGrp="1"/>
          </p:cNvSpPr>
          <p:nvPr>
            <p:ph idx="1"/>
          </p:nvPr>
        </p:nvSpPr>
        <p:spPr/>
        <p:txBody>
          <a:bodyPr/>
          <a:lstStyle/>
          <a:p>
            <a:r>
              <a:rPr lang="he-IL" dirty="0"/>
              <a:t>5. </a:t>
            </a:r>
            <a:r>
              <a:rPr lang="en-US" b="1" dirty="0"/>
              <a:t>XML Encoding</a:t>
            </a:r>
          </a:p>
          <a:p>
            <a:r>
              <a:rPr lang="he-IL" b="1" dirty="0"/>
              <a:t>מטרה:</a:t>
            </a:r>
            <a:r>
              <a:rPr lang="he-IL" dirty="0"/>
              <a:t> למנוע תווים מיוחדים מלהתפרש כפקודות בתוך </a:t>
            </a:r>
            <a:r>
              <a:rPr lang="en-US" dirty="0"/>
              <a:t>XML</a:t>
            </a:r>
            <a:r>
              <a:rPr lang="he-IL" dirty="0"/>
              <a:t>.</a:t>
            </a:r>
            <a:endParaRPr lang="en-US" dirty="0"/>
          </a:p>
          <a:p>
            <a:r>
              <a:rPr lang="he-IL" b="1" dirty="0"/>
              <a:t>שימוש:</a:t>
            </a:r>
            <a:r>
              <a:rPr lang="he-IL" dirty="0"/>
              <a:t> תקשורת בין מערכות המשתמשות ב-</a:t>
            </a:r>
            <a:r>
              <a:rPr lang="en-US" dirty="0"/>
              <a:t>XML</a:t>
            </a:r>
            <a:r>
              <a:rPr lang="he-IL" dirty="0"/>
              <a:t>.</a:t>
            </a:r>
          </a:p>
          <a:p>
            <a:pPr marL="0" indent="0">
              <a:buNone/>
            </a:pPr>
            <a:r>
              <a:rPr lang="he-IL" dirty="0"/>
              <a:t>דוגמה: קלט: </a:t>
            </a:r>
            <a:r>
              <a:rPr lang="en-US" dirty="0"/>
              <a:t>&lt;user&gt;John&lt;/user&gt;</a:t>
            </a:r>
            <a:endParaRPr lang="he-IL" dirty="0"/>
          </a:p>
          <a:p>
            <a:pPr marL="0" indent="0">
              <a:buNone/>
            </a:pPr>
            <a:r>
              <a:rPr lang="he-IL" dirty="0"/>
              <a:t>קידוד: </a:t>
            </a:r>
            <a:r>
              <a:rPr lang="en-US" dirty="0" err="1"/>
              <a:t>lt;user&amp;gt;John&amp;lt</a:t>
            </a:r>
            <a:r>
              <a:rPr lang="en-US" dirty="0"/>
              <a:t>;/</a:t>
            </a:r>
            <a:r>
              <a:rPr lang="en-US" dirty="0" err="1"/>
              <a:t>user&amp;gt</a:t>
            </a:r>
            <a:r>
              <a:rPr lang="en-US" dirty="0"/>
              <a:t>&amp;</a:t>
            </a:r>
          </a:p>
          <a:p>
            <a:endParaRPr lang="he-IL" dirty="0"/>
          </a:p>
        </p:txBody>
      </p:sp>
    </p:spTree>
    <p:extLst>
      <p:ext uri="{BB962C8B-B14F-4D97-AF65-F5344CB8AC3E}">
        <p14:creationId xmlns:p14="http://schemas.microsoft.com/office/powerpoint/2010/main" val="41301416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9087438" y="642594"/>
            <a:ext cx="2037761" cy="1371600"/>
          </a:xfrm>
        </p:spPr>
        <p:txBody>
          <a:bodyPr/>
          <a:lstStyle/>
          <a:p>
            <a:r>
              <a:rPr lang="he-IL" dirty="0"/>
              <a:t>שאלות:</a:t>
            </a:r>
          </a:p>
        </p:txBody>
      </p:sp>
      <p:sp>
        <p:nvSpPr>
          <p:cNvPr id="3" name="מציין מיקום תוכן 2"/>
          <p:cNvSpPr>
            <a:spLocks noGrp="1"/>
          </p:cNvSpPr>
          <p:nvPr>
            <p:ph idx="1"/>
          </p:nvPr>
        </p:nvSpPr>
        <p:spPr/>
        <p:txBody>
          <a:bodyPr/>
          <a:lstStyle/>
          <a:p>
            <a:r>
              <a:rPr lang="he-IL" dirty="0"/>
              <a:t>1. </a:t>
            </a:r>
            <a:r>
              <a:rPr lang="en-US" b="1" dirty="0"/>
              <a:t>HTML Encoding</a:t>
            </a:r>
            <a:r>
              <a:rPr lang="he-IL" b="1" dirty="0"/>
              <a:t>: </a:t>
            </a:r>
            <a:r>
              <a:rPr lang="he-IL" dirty="0"/>
              <a:t>נניח שהקלט הוא:</a:t>
            </a:r>
          </a:p>
          <a:p>
            <a:pPr algn="l"/>
            <a:r>
              <a:rPr lang="en-US" dirty="0"/>
              <a:t>&lt;script&gt;alert('Hacked!')&lt;/script&gt;</a:t>
            </a:r>
          </a:p>
          <a:p>
            <a:r>
              <a:rPr lang="he-IL" dirty="0"/>
              <a:t>קודד את המידע כך שיהיה בטוח לשימוש בדף אינטרנט.</a:t>
            </a:r>
          </a:p>
          <a:p>
            <a:endParaRPr lang="he-IL" dirty="0"/>
          </a:p>
          <a:p>
            <a:r>
              <a:rPr lang="he-IL" dirty="0"/>
              <a:t>2. </a:t>
            </a:r>
            <a:r>
              <a:rPr lang="en-US" dirty="0"/>
              <a:t> :</a:t>
            </a:r>
            <a:r>
              <a:rPr lang="en-US" b="1" dirty="0"/>
              <a:t>URL Encoding</a:t>
            </a:r>
            <a:r>
              <a:rPr lang="he-IL" dirty="0"/>
              <a:t>הכתובת המקורית:</a:t>
            </a:r>
          </a:p>
          <a:p>
            <a:pPr algn="l"/>
            <a:r>
              <a:rPr lang="en-US" dirty="0"/>
              <a:t>https://example.com/search?query=hello </a:t>
            </a:r>
            <a:r>
              <a:rPr lang="en-US" dirty="0" err="1"/>
              <a:t>world&amp;category</a:t>
            </a:r>
            <a:r>
              <a:rPr lang="en-US" dirty="0"/>
              <a:t>=tools</a:t>
            </a:r>
          </a:p>
          <a:p>
            <a:r>
              <a:rPr lang="he-IL" dirty="0"/>
              <a:t>קודד את הפרמטרים כך שיתאימו לכתובת </a:t>
            </a:r>
            <a:r>
              <a:rPr lang="en-US" dirty="0"/>
              <a:t>URL</a:t>
            </a:r>
            <a:r>
              <a:rPr lang="he-IL" dirty="0"/>
              <a:t> תקינה. </a:t>
            </a:r>
          </a:p>
          <a:p>
            <a:endParaRPr lang="he-IL" dirty="0"/>
          </a:p>
          <a:p>
            <a:endParaRPr lang="he-IL" dirty="0"/>
          </a:p>
        </p:txBody>
      </p:sp>
    </p:spTree>
    <p:extLst>
      <p:ext uri="{BB962C8B-B14F-4D97-AF65-F5344CB8AC3E}">
        <p14:creationId xmlns:p14="http://schemas.microsoft.com/office/powerpoint/2010/main" val="309847536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8917756" y="642594"/>
            <a:ext cx="2207443" cy="1371600"/>
          </a:xfrm>
        </p:spPr>
        <p:txBody>
          <a:bodyPr/>
          <a:lstStyle/>
          <a:p>
            <a:r>
              <a:rPr lang="he-IL" dirty="0"/>
              <a:t>תשובות:</a:t>
            </a:r>
          </a:p>
        </p:txBody>
      </p:sp>
      <p:sp>
        <p:nvSpPr>
          <p:cNvPr id="3" name="מציין מיקום תוכן 2"/>
          <p:cNvSpPr>
            <a:spLocks noGrp="1"/>
          </p:cNvSpPr>
          <p:nvPr>
            <p:ph idx="1"/>
          </p:nvPr>
        </p:nvSpPr>
        <p:spPr>
          <a:xfrm>
            <a:off x="1696824" y="1864068"/>
            <a:ext cx="9709609" cy="4351338"/>
          </a:xfrm>
        </p:spPr>
        <p:txBody>
          <a:bodyPr/>
          <a:lstStyle/>
          <a:p>
            <a:r>
              <a:rPr lang="he-IL" dirty="0"/>
              <a:t>1. </a:t>
            </a:r>
          </a:p>
          <a:p>
            <a:pPr algn="l"/>
            <a:r>
              <a:rPr lang="en-US" dirty="0"/>
              <a:t>&amp;</a:t>
            </a:r>
            <a:r>
              <a:rPr lang="en-US" dirty="0" err="1"/>
              <a:t>lt;script&amp;gt;alert</a:t>
            </a:r>
            <a:r>
              <a:rPr lang="en-US" dirty="0"/>
              <a:t>(&amp;#39;Hacked!&amp;#39;)&amp;</a:t>
            </a:r>
            <a:r>
              <a:rPr lang="en-US" dirty="0" err="1"/>
              <a:t>lt</a:t>
            </a:r>
            <a:r>
              <a:rPr lang="en-US" dirty="0"/>
              <a:t>;/</a:t>
            </a:r>
            <a:r>
              <a:rPr lang="en-US" dirty="0" err="1"/>
              <a:t>script&amp;gt</a:t>
            </a:r>
            <a:r>
              <a:rPr lang="en-US" dirty="0"/>
              <a:t>;</a:t>
            </a:r>
          </a:p>
          <a:p>
            <a:r>
              <a:rPr lang="he-IL" dirty="0"/>
              <a:t>&lt; הופך ל - </a:t>
            </a:r>
            <a:r>
              <a:rPr lang="en-US" dirty="0"/>
              <a:t>&amp;</a:t>
            </a:r>
            <a:r>
              <a:rPr lang="en-US" dirty="0" err="1"/>
              <a:t>lt</a:t>
            </a:r>
            <a:r>
              <a:rPr lang="en-US" dirty="0"/>
              <a:t>;</a:t>
            </a:r>
            <a:endParaRPr lang="he-IL" dirty="0"/>
          </a:p>
          <a:p>
            <a:r>
              <a:rPr lang="he-IL" dirty="0"/>
              <a:t>&gt; הופך ל- </a:t>
            </a:r>
            <a:r>
              <a:rPr lang="en-US" dirty="0"/>
              <a:t>&amp;</a:t>
            </a:r>
            <a:r>
              <a:rPr lang="en-US" dirty="0" err="1"/>
              <a:t>gt</a:t>
            </a:r>
            <a:r>
              <a:rPr lang="en-US" dirty="0"/>
              <a:t>;</a:t>
            </a:r>
            <a:endParaRPr lang="he-IL" dirty="0"/>
          </a:p>
          <a:p>
            <a:r>
              <a:rPr lang="he-IL" dirty="0"/>
              <a:t>' הופך ל - &amp;#39;</a:t>
            </a:r>
          </a:p>
          <a:p>
            <a:r>
              <a:rPr lang="he-IL" dirty="0"/>
              <a:t>התוצאה הזו בטוחה לשימוש בדפי אינטרנט, ולא תתפרש כקוד </a:t>
            </a:r>
            <a:r>
              <a:rPr lang="en-US" dirty="0"/>
              <a:t>JavaScript</a:t>
            </a:r>
            <a:r>
              <a:rPr lang="he-IL" dirty="0"/>
              <a:t>.</a:t>
            </a:r>
          </a:p>
        </p:txBody>
      </p:sp>
    </p:spTree>
    <p:extLst>
      <p:ext uri="{BB962C8B-B14F-4D97-AF65-F5344CB8AC3E}">
        <p14:creationId xmlns:p14="http://schemas.microsoft.com/office/powerpoint/2010/main" val="305091574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9059158" y="642594"/>
            <a:ext cx="2066041" cy="1371600"/>
          </a:xfrm>
        </p:spPr>
        <p:txBody>
          <a:bodyPr/>
          <a:lstStyle/>
          <a:p>
            <a:r>
              <a:rPr lang="he-IL" dirty="0"/>
              <a:t>תשובות </a:t>
            </a:r>
          </a:p>
        </p:txBody>
      </p:sp>
      <p:sp>
        <p:nvSpPr>
          <p:cNvPr id="3" name="מציין מיקום תוכן 2"/>
          <p:cNvSpPr>
            <a:spLocks noGrp="1"/>
          </p:cNvSpPr>
          <p:nvPr>
            <p:ph idx="1"/>
          </p:nvPr>
        </p:nvSpPr>
        <p:spPr/>
        <p:txBody>
          <a:bodyPr/>
          <a:lstStyle/>
          <a:p>
            <a:r>
              <a:rPr lang="he-IL" dirty="0"/>
              <a:t>2. </a:t>
            </a:r>
          </a:p>
          <a:p>
            <a:pPr algn="l"/>
            <a:r>
              <a:rPr lang="en-US" dirty="0">
                <a:hlinkClick r:id="rId2"/>
              </a:rPr>
              <a:t>https://example.com/search?query=hello%20world&amp;category=tools</a:t>
            </a:r>
            <a:endParaRPr lang="he-IL" dirty="0"/>
          </a:p>
          <a:p>
            <a:pPr algn="l"/>
            <a:endParaRPr lang="en-US" dirty="0"/>
          </a:p>
          <a:p>
            <a:r>
              <a:rPr lang="he-IL" dirty="0"/>
              <a:t>רווח " " הופך ל- %20</a:t>
            </a:r>
          </a:p>
        </p:txBody>
      </p:sp>
    </p:spTree>
    <p:extLst>
      <p:ext uri="{BB962C8B-B14F-4D97-AF65-F5344CB8AC3E}">
        <p14:creationId xmlns:p14="http://schemas.microsoft.com/office/powerpoint/2010/main" val="39381147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5938886" y="642594"/>
            <a:ext cx="5186313" cy="1371600"/>
          </a:xfrm>
        </p:spPr>
        <p:txBody>
          <a:bodyPr/>
          <a:lstStyle/>
          <a:p>
            <a:r>
              <a:rPr lang="he-IL" dirty="0"/>
              <a:t>מה זה </a:t>
            </a:r>
            <a:r>
              <a:rPr lang="en-US" dirty="0"/>
              <a:t>Decoding</a:t>
            </a:r>
            <a:r>
              <a:rPr lang="he-IL" dirty="0"/>
              <a:t>?</a:t>
            </a:r>
          </a:p>
        </p:txBody>
      </p:sp>
      <p:sp>
        <p:nvSpPr>
          <p:cNvPr id="3" name="מציין מיקום תוכן 2"/>
          <p:cNvSpPr>
            <a:spLocks noGrp="1"/>
          </p:cNvSpPr>
          <p:nvPr>
            <p:ph idx="1"/>
          </p:nvPr>
        </p:nvSpPr>
        <p:spPr/>
        <p:txBody>
          <a:bodyPr/>
          <a:lstStyle/>
          <a:p>
            <a:r>
              <a:rPr lang="en-US" b="1" dirty="0"/>
              <a:t>Decoding)</a:t>
            </a:r>
            <a:r>
              <a:rPr lang="he-IL" b="1" dirty="0"/>
              <a:t>) פענוח:</a:t>
            </a:r>
            <a:r>
              <a:rPr lang="he-IL" dirty="0"/>
              <a:t> הוא התהליך ההפוך ל-</a:t>
            </a:r>
            <a:r>
              <a:rPr lang="en-US" dirty="0"/>
              <a:t> </a:t>
            </a:r>
            <a:r>
              <a:rPr lang="en-US" b="1" dirty="0"/>
              <a:t>Encoding</a:t>
            </a:r>
            <a:r>
              <a:rPr lang="en-US" dirty="0"/>
              <a:t> </a:t>
            </a:r>
            <a:r>
              <a:rPr lang="he-IL" dirty="0"/>
              <a:t>שבו מתרגמים את הנתונים בחזרה לפורמט המקורי שלהם. (למשל כדי להעבירם בבטחה או להתאימם למערכות שונות), </a:t>
            </a:r>
            <a:r>
              <a:rPr lang="en-US" dirty="0"/>
              <a:t> </a:t>
            </a:r>
            <a:r>
              <a:rPr lang="en-US" i="1" dirty="0"/>
              <a:t>Decoding</a:t>
            </a:r>
            <a:r>
              <a:rPr lang="he-IL" dirty="0"/>
              <a:t>ממיר את הנתונים חזרה </a:t>
            </a:r>
            <a:r>
              <a:rPr lang="he-IL" b="1" dirty="0"/>
              <a:t>לצורתם המקורית</a:t>
            </a:r>
            <a:r>
              <a:rPr lang="he-IL" dirty="0"/>
              <a:t>.</a:t>
            </a:r>
          </a:p>
          <a:p>
            <a:pPr marL="0" indent="0">
              <a:buNone/>
            </a:pPr>
            <a:endParaRPr lang="he-IL" dirty="0"/>
          </a:p>
        </p:txBody>
      </p:sp>
    </p:spTree>
    <p:extLst>
      <p:ext uri="{BB962C8B-B14F-4D97-AF65-F5344CB8AC3E}">
        <p14:creationId xmlns:p14="http://schemas.microsoft.com/office/powerpoint/2010/main" val="119122939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5835192" y="642594"/>
            <a:ext cx="5290008" cy="1371600"/>
          </a:xfrm>
        </p:spPr>
        <p:txBody>
          <a:bodyPr/>
          <a:lstStyle/>
          <a:p>
            <a:r>
              <a:rPr lang="he-IL" dirty="0"/>
              <a:t>מטרות </a:t>
            </a:r>
            <a:r>
              <a:rPr lang="en-US" dirty="0"/>
              <a:t>Decoding</a:t>
            </a:r>
            <a:r>
              <a:rPr lang="he-IL" dirty="0"/>
              <a:t>?</a:t>
            </a:r>
          </a:p>
        </p:txBody>
      </p:sp>
      <p:sp>
        <p:nvSpPr>
          <p:cNvPr id="3" name="מציין מיקום תוכן 2"/>
          <p:cNvSpPr>
            <a:spLocks noGrp="1"/>
          </p:cNvSpPr>
          <p:nvPr>
            <p:ph idx="1"/>
          </p:nvPr>
        </p:nvSpPr>
        <p:spPr/>
        <p:txBody>
          <a:bodyPr/>
          <a:lstStyle/>
          <a:p>
            <a:r>
              <a:rPr lang="he-IL" dirty="0"/>
              <a:t>1. </a:t>
            </a:r>
            <a:r>
              <a:rPr lang="he-IL" b="1" dirty="0"/>
              <a:t>שחזור נתונים: </a:t>
            </a:r>
            <a:r>
              <a:rPr lang="he-IL" dirty="0"/>
              <a:t>המרה של נתונים מקודדים חזרה למידע הקריא או המקורי.</a:t>
            </a:r>
          </a:p>
          <a:p>
            <a:endParaRPr lang="he-IL" dirty="0"/>
          </a:p>
          <a:p>
            <a:r>
              <a:rPr lang="he-IL" dirty="0"/>
              <a:t>2. </a:t>
            </a:r>
            <a:r>
              <a:rPr lang="he-IL" b="1" dirty="0"/>
              <a:t>הצגת מידע למשתמש:</a:t>
            </a:r>
            <a:r>
              <a:rPr lang="he-IL" dirty="0"/>
              <a:t/>
            </a:r>
            <a:br>
              <a:rPr lang="he-IL" dirty="0"/>
            </a:br>
            <a:r>
              <a:rPr lang="he-IL" dirty="0"/>
              <a:t>דפדפנים או תוכנות חייבים לבצע </a:t>
            </a:r>
            <a:r>
              <a:rPr lang="en-US" dirty="0"/>
              <a:t> Decoding</a:t>
            </a:r>
            <a:r>
              <a:rPr lang="he-IL" dirty="0"/>
              <a:t>כדי להציג מידע בצורה תקינה.</a:t>
            </a:r>
          </a:p>
          <a:p>
            <a:endParaRPr lang="he-IL" dirty="0"/>
          </a:p>
          <a:p>
            <a:r>
              <a:rPr lang="he-IL" dirty="0"/>
              <a:t>3. פענוח מידע שהוצפן או קודד לצורכי תקשורת או אחסון.</a:t>
            </a:r>
          </a:p>
          <a:p>
            <a:endParaRPr lang="he-IL" dirty="0"/>
          </a:p>
        </p:txBody>
      </p:sp>
    </p:spTree>
    <p:extLst>
      <p:ext uri="{BB962C8B-B14F-4D97-AF65-F5344CB8AC3E}">
        <p14:creationId xmlns:p14="http://schemas.microsoft.com/office/powerpoint/2010/main" val="70584446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דוגמאות נפוצות ל-</a:t>
            </a:r>
            <a:r>
              <a:rPr lang="en-US" dirty="0"/>
              <a:t>Decoding</a:t>
            </a:r>
            <a:r>
              <a:rPr lang="he-IL" dirty="0"/>
              <a:t>:</a:t>
            </a:r>
            <a:r>
              <a:rPr lang="en-US" dirty="0"/>
              <a:t> </a:t>
            </a:r>
            <a:endParaRPr lang="he-IL" dirty="0"/>
          </a:p>
        </p:txBody>
      </p:sp>
      <p:sp>
        <p:nvSpPr>
          <p:cNvPr id="3" name="מציין מיקום תוכן 2"/>
          <p:cNvSpPr>
            <a:spLocks noGrp="1"/>
          </p:cNvSpPr>
          <p:nvPr>
            <p:ph idx="1"/>
          </p:nvPr>
        </p:nvSpPr>
        <p:spPr>
          <a:xfrm>
            <a:off x="518745" y="1825624"/>
            <a:ext cx="11500340" cy="4531213"/>
          </a:xfrm>
        </p:spPr>
        <p:txBody>
          <a:bodyPr>
            <a:normAutofit/>
          </a:bodyPr>
          <a:lstStyle/>
          <a:p>
            <a:r>
              <a:rPr lang="he-IL" dirty="0"/>
              <a:t>1. </a:t>
            </a:r>
            <a:r>
              <a:rPr lang="en-US" b="1" dirty="0"/>
              <a:t>HTML Decoding</a:t>
            </a:r>
            <a:r>
              <a:rPr lang="he-IL" b="1" dirty="0"/>
              <a:t>: </a:t>
            </a:r>
            <a:r>
              <a:rPr lang="he-IL" dirty="0"/>
              <a:t>אם יש לך טקסט </a:t>
            </a:r>
            <a:r>
              <a:rPr lang="en-US" dirty="0"/>
              <a:t>HTML</a:t>
            </a:r>
            <a:r>
              <a:rPr lang="he-IL" dirty="0"/>
              <a:t> מקודד, כמו:</a:t>
            </a:r>
          </a:p>
          <a:p>
            <a:pPr algn="l"/>
            <a:r>
              <a:rPr lang="en-US" dirty="0"/>
              <a:t>&amp;</a:t>
            </a:r>
            <a:r>
              <a:rPr lang="en-US" dirty="0" err="1"/>
              <a:t>lt;script&amp;gt;alert</a:t>
            </a:r>
            <a:r>
              <a:rPr lang="en-US" dirty="0"/>
              <a:t>(&amp;#39;Hello!&amp;#39;)&amp;</a:t>
            </a:r>
            <a:r>
              <a:rPr lang="en-US" dirty="0" err="1"/>
              <a:t>lt</a:t>
            </a:r>
            <a:r>
              <a:rPr lang="en-US" dirty="0"/>
              <a:t>;/</a:t>
            </a:r>
            <a:r>
              <a:rPr lang="en-US" dirty="0" err="1"/>
              <a:t>script&amp;gt</a:t>
            </a:r>
            <a:r>
              <a:rPr lang="en-US" dirty="0"/>
              <a:t>;</a:t>
            </a:r>
          </a:p>
          <a:p>
            <a:r>
              <a:rPr lang="he-IL" dirty="0"/>
              <a:t>תהליך ה-</a:t>
            </a:r>
            <a:r>
              <a:rPr lang="en-US" dirty="0"/>
              <a:t> Decoding </a:t>
            </a:r>
            <a:r>
              <a:rPr lang="he-IL" dirty="0"/>
              <a:t>יחזיר אותו למצב המקורי:</a:t>
            </a:r>
          </a:p>
          <a:p>
            <a:pPr algn="l"/>
            <a:r>
              <a:rPr lang="en-US" dirty="0"/>
              <a:t>&lt;script&gt;alert('Hello!')&lt;/script&gt;</a:t>
            </a:r>
          </a:p>
          <a:p>
            <a:pPr algn="l"/>
            <a:endParaRPr lang="he-IL" dirty="0"/>
          </a:p>
          <a:p>
            <a:r>
              <a:rPr lang="he-IL" dirty="0"/>
              <a:t>2. </a:t>
            </a:r>
            <a:r>
              <a:rPr lang="en-US" dirty="0"/>
              <a:t> :</a:t>
            </a:r>
            <a:r>
              <a:rPr lang="en-US" b="1" dirty="0"/>
              <a:t>URL Decoding</a:t>
            </a:r>
            <a:r>
              <a:rPr lang="he-IL" dirty="0"/>
              <a:t>כתובת </a:t>
            </a:r>
            <a:r>
              <a:rPr lang="en-US" dirty="0"/>
              <a:t> URL</a:t>
            </a:r>
            <a:r>
              <a:rPr lang="he-IL" dirty="0"/>
              <a:t>עם פרמטרים מקודדים כמו:</a:t>
            </a:r>
          </a:p>
          <a:p>
            <a:pPr algn="l"/>
            <a:r>
              <a:rPr lang="en-US" dirty="0"/>
              <a:t>https://example.com/search?query=hello%20world</a:t>
            </a:r>
          </a:p>
          <a:p>
            <a:r>
              <a:rPr lang="he-IL" dirty="0"/>
              <a:t>ה-</a:t>
            </a:r>
            <a:r>
              <a:rPr lang="en-US" dirty="0"/>
              <a:t> Decoding </a:t>
            </a:r>
            <a:r>
              <a:rPr lang="he-IL" dirty="0"/>
              <a:t>ממיר את %20 חזרה לרווח (" ") </a:t>
            </a:r>
          </a:p>
          <a:p>
            <a:pPr algn="l"/>
            <a:r>
              <a:rPr lang="en-US" dirty="0"/>
              <a:t>https://example.com/search?query=hello world</a:t>
            </a:r>
          </a:p>
          <a:p>
            <a:pPr algn="l"/>
            <a:endParaRPr lang="he-IL" dirty="0"/>
          </a:p>
          <a:p>
            <a:endParaRPr lang="he-IL" dirty="0"/>
          </a:p>
        </p:txBody>
      </p:sp>
    </p:spTree>
    <p:extLst>
      <p:ext uri="{BB962C8B-B14F-4D97-AF65-F5344CB8AC3E}">
        <p14:creationId xmlns:p14="http://schemas.microsoft.com/office/powerpoint/2010/main" val="413302256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המשך - דוגמאות נפוצות ל-</a:t>
            </a:r>
            <a:r>
              <a:rPr lang="en-US" dirty="0"/>
              <a:t>Decoding</a:t>
            </a:r>
            <a:r>
              <a:rPr lang="he-IL" dirty="0"/>
              <a:t>:</a:t>
            </a:r>
            <a:r>
              <a:rPr lang="en-US" dirty="0"/>
              <a:t> </a:t>
            </a:r>
            <a:endParaRPr lang="he-IL" dirty="0"/>
          </a:p>
        </p:txBody>
      </p:sp>
      <p:sp>
        <p:nvSpPr>
          <p:cNvPr id="3" name="מציין מיקום תוכן 2"/>
          <p:cNvSpPr>
            <a:spLocks noGrp="1"/>
          </p:cNvSpPr>
          <p:nvPr>
            <p:ph idx="1"/>
          </p:nvPr>
        </p:nvSpPr>
        <p:spPr/>
        <p:txBody>
          <a:bodyPr/>
          <a:lstStyle/>
          <a:p>
            <a:r>
              <a:rPr lang="he-IL" dirty="0"/>
              <a:t>3. </a:t>
            </a:r>
            <a:r>
              <a:rPr lang="en-US" b="1" dirty="0"/>
              <a:t>Base64 Decoding</a:t>
            </a:r>
            <a:r>
              <a:rPr lang="he-IL" b="1" dirty="0"/>
              <a:t>: </a:t>
            </a:r>
            <a:r>
              <a:rPr lang="he-IL" dirty="0"/>
              <a:t>נתונים שהוצפנו או קודדו ב-</a:t>
            </a:r>
            <a:r>
              <a:rPr lang="en-US" dirty="0"/>
              <a:t>Base64 </a:t>
            </a:r>
            <a:r>
              <a:rPr lang="he-IL" dirty="0"/>
              <a:t>:</a:t>
            </a:r>
            <a:r>
              <a:rPr lang="en-US" dirty="0"/>
              <a:t/>
            </a:r>
            <a:br>
              <a:rPr lang="en-US" dirty="0"/>
            </a:br>
            <a:r>
              <a:rPr lang="he-IL" dirty="0"/>
              <a:t>מקודד: </a:t>
            </a:r>
            <a:r>
              <a:rPr lang="en-US" dirty="0"/>
              <a:t>SGVsbG8gd29ybGQ</a:t>
            </a:r>
            <a:r>
              <a:rPr lang="he-IL" dirty="0"/>
              <a:t>=</a:t>
            </a:r>
          </a:p>
          <a:p>
            <a:r>
              <a:rPr lang="he-IL" dirty="0"/>
              <a:t>ונקבל בסוף: </a:t>
            </a:r>
            <a:r>
              <a:rPr lang="en-US" dirty="0"/>
              <a:t>Hello world</a:t>
            </a:r>
            <a:endParaRPr lang="he-IL" dirty="0"/>
          </a:p>
          <a:p>
            <a:endParaRPr lang="he-IL" dirty="0"/>
          </a:p>
        </p:txBody>
      </p:sp>
    </p:spTree>
    <p:extLst>
      <p:ext uri="{BB962C8B-B14F-4D97-AF65-F5344CB8AC3E}">
        <p14:creationId xmlns:p14="http://schemas.microsoft.com/office/powerpoint/2010/main" val="272257936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מדוע </a:t>
            </a:r>
            <a:r>
              <a:rPr lang="en-US" dirty="0"/>
              <a:t>Decoding</a:t>
            </a:r>
            <a:r>
              <a:rPr lang="he-IL" dirty="0"/>
              <a:t> חשוב?</a:t>
            </a:r>
          </a:p>
        </p:txBody>
      </p:sp>
      <p:sp>
        <p:nvSpPr>
          <p:cNvPr id="3" name="מציין מיקום תוכן 2"/>
          <p:cNvSpPr>
            <a:spLocks noGrp="1"/>
          </p:cNvSpPr>
          <p:nvPr>
            <p:ph idx="1"/>
          </p:nvPr>
        </p:nvSpPr>
        <p:spPr>
          <a:xfrm>
            <a:off x="1125414" y="1825625"/>
            <a:ext cx="10228385" cy="4351338"/>
          </a:xfrm>
        </p:spPr>
        <p:txBody>
          <a:bodyPr/>
          <a:lstStyle/>
          <a:p>
            <a:pPr marL="514350" indent="-514350">
              <a:buAutoNum type="arabicPeriod"/>
            </a:pPr>
            <a:r>
              <a:rPr lang="he-IL" b="1" dirty="0"/>
              <a:t>שחזור נתונים:</a:t>
            </a:r>
            <a:r>
              <a:rPr lang="he-IL" dirty="0"/>
              <a:t> אם נתונים מקודדים או מוצפנים, יש צורך לבצע פענוח (</a:t>
            </a:r>
            <a:r>
              <a:rPr lang="en-US" dirty="0"/>
              <a:t> (Decoding</a:t>
            </a:r>
            <a:r>
              <a:rPr lang="he-IL" dirty="0"/>
              <a:t>כדי לעבוד איתם או להציגם.</a:t>
            </a:r>
          </a:p>
          <a:p>
            <a:pPr marL="514350" indent="-514350">
              <a:buAutoNum type="arabicPeriod"/>
            </a:pPr>
            <a:endParaRPr lang="he-IL" dirty="0"/>
          </a:p>
          <a:p>
            <a:pPr marL="0" indent="0">
              <a:buNone/>
            </a:pPr>
            <a:r>
              <a:rPr lang="he-IL" dirty="0"/>
              <a:t>2. </a:t>
            </a:r>
            <a:r>
              <a:rPr lang="he-IL" b="1" dirty="0"/>
              <a:t>תאימות בין מערכות:</a:t>
            </a:r>
            <a:r>
              <a:rPr lang="he-IL" dirty="0"/>
              <a:t> </a:t>
            </a:r>
            <a:r>
              <a:rPr lang="en-US" dirty="0"/>
              <a:t>Decoding</a:t>
            </a:r>
            <a:r>
              <a:rPr lang="he-IL" dirty="0"/>
              <a:t> מבטיח שהמידע שהגיע ישוחזר בצורה הקריאה והנכונה שלו.</a:t>
            </a:r>
          </a:p>
          <a:p>
            <a:pPr marL="0" indent="0">
              <a:buNone/>
            </a:pPr>
            <a:endParaRPr lang="he-IL" dirty="0"/>
          </a:p>
          <a:p>
            <a:pPr marL="0" indent="0">
              <a:buNone/>
            </a:pPr>
            <a:r>
              <a:rPr lang="he-IL" dirty="0"/>
              <a:t>3. </a:t>
            </a:r>
            <a:r>
              <a:rPr lang="he-IL" b="1" dirty="0"/>
              <a:t>אבטחת מידע:</a:t>
            </a:r>
            <a:r>
              <a:rPr lang="he-IL" dirty="0"/>
              <a:t> במקרים מסוימים, חשוב לוודא שהמידע עובר קידוד/פענוח בצורה מבוקרת כדי למנוע בעיות כמו </a:t>
            </a:r>
            <a:r>
              <a:rPr lang="he-IL" b="1" dirty="0"/>
              <a:t>הזרקת קוד</a:t>
            </a:r>
            <a:r>
              <a:rPr lang="he-IL" dirty="0"/>
              <a:t>.</a:t>
            </a:r>
          </a:p>
          <a:p>
            <a:pPr marL="0" indent="0">
              <a:buNone/>
            </a:pPr>
            <a:endParaRPr lang="he-IL" dirty="0"/>
          </a:p>
        </p:txBody>
      </p:sp>
    </p:spTree>
    <p:extLst>
      <p:ext uri="{BB962C8B-B14F-4D97-AF65-F5344CB8AC3E}">
        <p14:creationId xmlns:p14="http://schemas.microsoft.com/office/powerpoint/2010/main" val="300343205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p:cNvSpPr>
            <a:spLocks noGrp="1"/>
          </p:cNvSpPr>
          <p:nvPr>
            <p:ph idx="1"/>
          </p:nvPr>
        </p:nvSpPr>
        <p:spPr>
          <a:xfrm>
            <a:off x="838200" y="2344371"/>
            <a:ext cx="10515600" cy="4351338"/>
          </a:xfrm>
        </p:spPr>
        <p:txBody>
          <a:bodyPr>
            <a:normAutofit/>
          </a:bodyPr>
          <a:lstStyle/>
          <a:p>
            <a:pPr algn="ctr"/>
            <a:r>
              <a:rPr lang="en-US" sz="7200" dirty="0"/>
              <a:t>Strong Output</a:t>
            </a:r>
            <a:endParaRPr lang="he-IL" sz="7200" dirty="0"/>
          </a:p>
        </p:txBody>
      </p:sp>
    </p:spTree>
    <p:extLst>
      <p:ext uri="{BB962C8B-B14F-4D97-AF65-F5344CB8AC3E}">
        <p14:creationId xmlns:p14="http://schemas.microsoft.com/office/powerpoint/2010/main" val="399358551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4751108" y="642594"/>
            <a:ext cx="6374091" cy="1371600"/>
          </a:xfrm>
        </p:spPr>
        <p:txBody>
          <a:bodyPr/>
          <a:lstStyle/>
          <a:p>
            <a:r>
              <a:rPr lang="he-IL" dirty="0"/>
              <a:t>מה זה </a:t>
            </a:r>
            <a:r>
              <a:rPr lang="en-US" dirty="0"/>
              <a:t>Strong Output</a:t>
            </a:r>
            <a:r>
              <a:rPr lang="he-IL" dirty="0"/>
              <a:t>?</a:t>
            </a:r>
          </a:p>
        </p:txBody>
      </p:sp>
      <p:sp>
        <p:nvSpPr>
          <p:cNvPr id="3" name="מציין מיקום תוכן 2"/>
          <p:cNvSpPr>
            <a:spLocks noGrp="1"/>
          </p:cNvSpPr>
          <p:nvPr>
            <p:ph idx="1"/>
          </p:nvPr>
        </p:nvSpPr>
        <p:spPr/>
        <p:txBody>
          <a:bodyPr/>
          <a:lstStyle/>
          <a:p>
            <a:r>
              <a:rPr lang="en-US" b="1" dirty="0"/>
              <a:t> Strong Output</a:t>
            </a:r>
            <a:r>
              <a:rPr lang="he-IL" dirty="0"/>
              <a:t>הוא מונח שמתאר את היכולת להציג ולשלוח מידע למשתמש או למערכות חיצוניות בצורה </a:t>
            </a:r>
            <a:r>
              <a:rPr lang="he-IL" b="1" dirty="0"/>
              <a:t>בטוחה ומוגנת</a:t>
            </a:r>
            <a:r>
              <a:rPr lang="he-IL" dirty="0"/>
              <a:t>, כך שלא תהיה פגיעה באבטחת המידע או בתפקוד המערכת.</a:t>
            </a:r>
          </a:p>
          <a:p>
            <a:r>
              <a:rPr lang="he-IL" dirty="0"/>
              <a:t>הכוונה היא להבטיח ש</a:t>
            </a:r>
            <a:r>
              <a:rPr lang="he-IL" b="1" dirty="0"/>
              <a:t>הפלט</a:t>
            </a:r>
            <a:r>
              <a:rPr lang="he-IL" dirty="0"/>
              <a:t> שלנו לא מכיל קוד זדוני או תווים שיכולים לגרום להתקפות כמו: </a:t>
            </a:r>
            <a:r>
              <a:rPr lang="en-US" dirty="0"/>
              <a:t>XSS, SQL injection, HTML injection, Command injection</a:t>
            </a:r>
            <a:endParaRPr lang="he-IL" dirty="0"/>
          </a:p>
          <a:p>
            <a:r>
              <a:rPr lang="he-IL" dirty="0"/>
              <a:t>והכל ע"פ מה שלמדנו עכשיו</a:t>
            </a:r>
          </a:p>
          <a:p>
            <a:endParaRPr lang="he-IL" dirty="0"/>
          </a:p>
        </p:txBody>
      </p:sp>
    </p:spTree>
    <p:extLst>
      <p:ext uri="{BB962C8B-B14F-4D97-AF65-F5344CB8AC3E}">
        <p14:creationId xmlns:p14="http://schemas.microsoft.com/office/powerpoint/2010/main" val="182159913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p:cNvSpPr>
            <a:spLocks noGrp="1"/>
          </p:cNvSpPr>
          <p:nvPr>
            <p:ph idx="1"/>
          </p:nvPr>
        </p:nvSpPr>
        <p:spPr>
          <a:xfrm>
            <a:off x="838200" y="2230071"/>
            <a:ext cx="10515600" cy="4351338"/>
          </a:xfrm>
        </p:spPr>
        <p:txBody>
          <a:bodyPr>
            <a:normAutofit/>
          </a:bodyPr>
          <a:lstStyle/>
          <a:p>
            <a:pPr algn="ctr"/>
            <a:r>
              <a:rPr lang="he-IL" sz="6600" dirty="0"/>
              <a:t>שימוש בקבצים כוללים סיומת </a:t>
            </a:r>
            <a:r>
              <a:rPr lang="en-US" sz="6600" dirty="0"/>
              <a:t>INC </a:t>
            </a:r>
            <a:endParaRPr lang="he-IL" sz="6600" dirty="0"/>
          </a:p>
        </p:txBody>
      </p:sp>
    </p:spTree>
    <p:extLst>
      <p:ext uri="{BB962C8B-B14F-4D97-AF65-F5344CB8AC3E}">
        <p14:creationId xmlns:p14="http://schemas.microsoft.com/office/powerpoint/2010/main" val="365300036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4072378" y="642594"/>
            <a:ext cx="7052821" cy="1371600"/>
          </a:xfrm>
        </p:spPr>
        <p:txBody>
          <a:bodyPr/>
          <a:lstStyle/>
          <a:p>
            <a:r>
              <a:rPr lang="he-IL" dirty="0"/>
              <a:t>מה זה קובץ עם סיומת </a:t>
            </a:r>
            <a:r>
              <a:rPr lang="en-US" dirty="0"/>
              <a:t>.</a:t>
            </a:r>
            <a:r>
              <a:rPr lang="en-US" dirty="0" err="1"/>
              <a:t>inc</a:t>
            </a:r>
            <a:r>
              <a:rPr lang="he-IL" dirty="0"/>
              <a:t>?</a:t>
            </a:r>
          </a:p>
        </p:txBody>
      </p:sp>
      <p:sp>
        <p:nvSpPr>
          <p:cNvPr id="3" name="מציין מיקום תוכן 2"/>
          <p:cNvSpPr>
            <a:spLocks noGrp="1"/>
          </p:cNvSpPr>
          <p:nvPr>
            <p:ph idx="1"/>
          </p:nvPr>
        </p:nvSpPr>
        <p:spPr>
          <a:xfrm>
            <a:off x="838200" y="2265241"/>
            <a:ext cx="10515600" cy="4351338"/>
          </a:xfrm>
        </p:spPr>
        <p:txBody>
          <a:bodyPr/>
          <a:lstStyle/>
          <a:p>
            <a:r>
              <a:rPr lang="he-IL" dirty="0"/>
              <a:t>קבצי </a:t>
            </a:r>
            <a:r>
              <a:rPr lang="en-US" dirty="0"/>
              <a:t>.</a:t>
            </a:r>
            <a:r>
              <a:rPr lang="en-US" dirty="0" err="1"/>
              <a:t>inc</a:t>
            </a:r>
            <a:r>
              <a:rPr lang="he-IL" dirty="0"/>
              <a:t> הם קבצים פשוטים המכילים </a:t>
            </a:r>
            <a:r>
              <a:rPr lang="he-IL" b="1" dirty="0"/>
              <a:t>קוד תוכנה</a:t>
            </a:r>
            <a:r>
              <a:rPr lang="he-IL" dirty="0"/>
              <a:t> או </a:t>
            </a:r>
            <a:r>
              <a:rPr lang="he-IL" b="1" dirty="0"/>
              <a:t>טקסט</a:t>
            </a:r>
            <a:r>
              <a:rPr lang="he-IL" dirty="0"/>
              <a:t> שנועדו להיכלל</a:t>
            </a:r>
            <a:r>
              <a:rPr lang="en-US" b="1" dirty="0"/>
              <a:t>include)</a:t>
            </a:r>
            <a:r>
              <a:rPr lang="en-US" dirty="0"/>
              <a:t> </a:t>
            </a:r>
            <a:r>
              <a:rPr lang="he-IL" dirty="0"/>
              <a:t>) בתוך קובצי קוד גדולים יותר. הסיומת </a:t>
            </a:r>
            <a:r>
              <a:rPr lang="en-US" dirty="0"/>
              <a:t>.</a:t>
            </a:r>
            <a:r>
              <a:rPr lang="en-US" dirty="0" err="1"/>
              <a:t>inc</a:t>
            </a:r>
            <a:r>
              <a:rPr lang="he-IL" dirty="0"/>
              <a:t> היא לא סיומת תקנית כמו </a:t>
            </a:r>
            <a:r>
              <a:rPr lang="en-US" dirty="0"/>
              <a:t>.</a:t>
            </a:r>
            <a:r>
              <a:rPr lang="en-US" dirty="0" err="1"/>
              <a:t>php</a:t>
            </a:r>
            <a:r>
              <a:rPr lang="he-IL" dirty="0"/>
              <a:t> או </a:t>
            </a:r>
            <a:r>
              <a:rPr lang="en-US" dirty="0"/>
              <a:t>.html</a:t>
            </a:r>
            <a:r>
              <a:rPr lang="he-IL" dirty="0"/>
              <a:t> אלא נועדה </a:t>
            </a:r>
            <a:r>
              <a:rPr lang="he-IL" b="1" dirty="0"/>
              <a:t>לציון קבצי קוד עזר</a:t>
            </a:r>
            <a:r>
              <a:rPr lang="he-IL" dirty="0"/>
              <a:t>.</a:t>
            </a:r>
          </a:p>
        </p:txBody>
      </p:sp>
    </p:spTree>
    <p:extLst>
      <p:ext uri="{BB962C8B-B14F-4D97-AF65-F5344CB8AC3E}">
        <p14:creationId xmlns:p14="http://schemas.microsoft.com/office/powerpoint/2010/main" val="125802687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73F6858-17A5-4641-9666-F1EBC71C87F1}"/>
              </a:ext>
            </a:extLst>
          </p:cNvPr>
          <p:cNvSpPr>
            <a:spLocks noGrp="1"/>
          </p:cNvSpPr>
          <p:nvPr>
            <p:ph type="title"/>
          </p:nvPr>
        </p:nvSpPr>
        <p:spPr>
          <a:xfrm>
            <a:off x="7010400" y="642594"/>
            <a:ext cx="4114800" cy="1371600"/>
          </a:xfrm>
        </p:spPr>
        <p:txBody>
          <a:bodyPr/>
          <a:lstStyle/>
          <a:p>
            <a:r>
              <a:rPr lang="he-IL" dirty="0"/>
              <a:t>אז מה זה בעצם</a:t>
            </a:r>
          </a:p>
        </p:txBody>
      </p:sp>
      <p:sp>
        <p:nvSpPr>
          <p:cNvPr id="3" name="מציין מיקום תוכן 2">
            <a:extLst>
              <a:ext uri="{FF2B5EF4-FFF2-40B4-BE49-F238E27FC236}">
                <a16:creationId xmlns:a16="http://schemas.microsoft.com/office/drawing/2014/main" id="{680CAC09-1459-49D3-86F5-6CF313BB8234}"/>
              </a:ext>
            </a:extLst>
          </p:cNvPr>
          <p:cNvSpPr>
            <a:spLocks noGrp="1"/>
          </p:cNvSpPr>
          <p:nvPr>
            <p:ph idx="1"/>
          </p:nvPr>
        </p:nvSpPr>
        <p:spPr/>
        <p:txBody>
          <a:bodyPr>
            <a:normAutofit lnSpcReduction="10000"/>
          </a:bodyPr>
          <a:lstStyle/>
          <a:p>
            <a:r>
              <a:rPr lang="he-IL" dirty="0"/>
              <a:t>סיומת </a:t>
            </a:r>
            <a:r>
              <a:rPr lang="en-US" dirty="0"/>
              <a:t>.</a:t>
            </a:r>
            <a:r>
              <a:rPr lang="en-US" dirty="0" err="1"/>
              <a:t>inc</a:t>
            </a:r>
            <a:r>
              <a:rPr lang="he-IL" dirty="0"/>
              <a:t> מייצגת</a:t>
            </a:r>
            <a:r>
              <a:rPr lang="en-US" dirty="0"/>
              <a:t> </a:t>
            </a:r>
            <a:r>
              <a:rPr lang="en-US" b="1" dirty="0"/>
              <a:t>Include</a:t>
            </a:r>
            <a:r>
              <a:rPr lang="en-US" dirty="0"/>
              <a:t> </a:t>
            </a:r>
            <a:r>
              <a:rPr lang="he-IL" dirty="0"/>
              <a:t>כולל, זהו סוג של קובץ שנועד לשמש כקובץ "כולל" שמתווסף לקבצים אחרים בקוד המקור של פרויקט תכנות.</a:t>
            </a:r>
          </a:p>
          <a:p>
            <a:r>
              <a:rPr lang="he-IL" dirty="0"/>
              <a:t>שימושים עיקריים:</a:t>
            </a:r>
          </a:p>
          <a:p>
            <a:r>
              <a:rPr lang="he-IL" b="1" dirty="0"/>
              <a:t>שיתוף קוד:</a:t>
            </a:r>
            <a:r>
              <a:rPr lang="he-IL" dirty="0"/>
              <a:t> קבצים אלו מכילים קטעי קוד שנדרשים במספר מקומות בפרויקט, כמו פונקציות, הגדרות, או תבניות </a:t>
            </a:r>
            <a:r>
              <a:rPr lang="en-US" dirty="0"/>
              <a:t>HTML</a:t>
            </a:r>
            <a:endParaRPr lang="he-IL" dirty="0"/>
          </a:p>
          <a:p>
            <a:r>
              <a:rPr lang="he-IL" b="1" dirty="0"/>
              <a:t>ארגון הקוד:</a:t>
            </a:r>
            <a:r>
              <a:rPr lang="he-IL" dirty="0"/>
              <a:t> מאפשר הפרדה בין לוגיקת התוכנית לחלקים חוזרים, מה שמקל על תחזוקה וקריאות הקוד.</a:t>
            </a:r>
          </a:p>
          <a:p>
            <a:r>
              <a:rPr lang="he-IL" b="1" dirty="0"/>
              <a:t>ניהול </a:t>
            </a:r>
            <a:r>
              <a:rPr lang="he-IL" b="1" dirty="0" err="1"/>
              <a:t>קונפיגורציות</a:t>
            </a:r>
            <a:r>
              <a:rPr lang="he-IL" b="1" dirty="0"/>
              <a:t>:</a:t>
            </a:r>
            <a:r>
              <a:rPr lang="he-IL" dirty="0"/>
              <a:t> שימוש בקבצי </a:t>
            </a:r>
            <a:r>
              <a:rPr lang="en-US" dirty="0"/>
              <a:t>.</a:t>
            </a:r>
            <a:r>
              <a:rPr lang="en-US" dirty="0" err="1"/>
              <a:t>inc</a:t>
            </a:r>
            <a:r>
              <a:rPr lang="he-IL" dirty="0"/>
              <a:t> להגדרות כמו פרטי חיבור למסד נתונים, הגדרות גלובליות, ועוד.</a:t>
            </a:r>
          </a:p>
          <a:p>
            <a:r>
              <a:rPr lang="he-IL" b="1" dirty="0"/>
              <a:t>שפות תכנות נפוצות:</a:t>
            </a:r>
          </a:p>
          <a:p>
            <a:r>
              <a:rPr lang="en-US" b="1" dirty="0"/>
              <a:t>PHP</a:t>
            </a:r>
            <a:r>
              <a:rPr lang="he-IL" b="1" dirty="0"/>
              <a:t>: </a:t>
            </a:r>
            <a:r>
              <a:rPr lang="he-IL" dirty="0"/>
              <a:t>שימוש נפוץ בקבצי </a:t>
            </a:r>
            <a:r>
              <a:rPr lang="en-US" dirty="0"/>
              <a:t>.</a:t>
            </a:r>
            <a:r>
              <a:rPr lang="en-US" dirty="0" err="1"/>
              <a:t>inc</a:t>
            </a:r>
            <a:r>
              <a:rPr lang="he-IL" dirty="0"/>
              <a:t> להכנסת קבצי קוד נוספים.</a:t>
            </a:r>
          </a:p>
          <a:p>
            <a:r>
              <a:rPr lang="en-US" b="1" dirty="0"/>
              <a:t>C/C++</a:t>
            </a:r>
            <a:r>
              <a:rPr lang="he-IL" b="1" dirty="0"/>
              <a:t>: </a:t>
            </a:r>
            <a:r>
              <a:rPr lang="he-IL" dirty="0"/>
              <a:t>שימוש ב- </a:t>
            </a:r>
            <a:r>
              <a:rPr lang="en-US" dirty="0"/>
              <a:t>#include</a:t>
            </a:r>
            <a:r>
              <a:rPr lang="he-IL" dirty="0"/>
              <a:t> עם קבצי </a:t>
            </a:r>
            <a:r>
              <a:rPr lang="en-US" dirty="0"/>
              <a:t>header</a:t>
            </a:r>
            <a:r>
              <a:rPr lang="he-IL" dirty="0"/>
              <a:t> </a:t>
            </a:r>
          </a:p>
          <a:p>
            <a:r>
              <a:rPr lang="en-US" b="1" dirty="0"/>
              <a:t> :ASP</a:t>
            </a:r>
            <a:r>
              <a:rPr lang="he-IL" dirty="0"/>
              <a:t>שימוש בקבצי</a:t>
            </a:r>
            <a:r>
              <a:rPr lang="en-US" dirty="0"/>
              <a:t>include </a:t>
            </a:r>
            <a:r>
              <a:rPr lang="he-IL" dirty="0"/>
              <a:t> להוספת תבניות וקוד חוזר.</a:t>
            </a:r>
          </a:p>
          <a:p>
            <a:endParaRPr lang="he-IL" dirty="0"/>
          </a:p>
        </p:txBody>
      </p:sp>
    </p:spTree>
    <p:extLst>
      <p:ext uri="{BB962C8B-B14F-4D97-AF65-F5344CB8AC3E}">
        <p14:creationId xmlns:p14="http://schemas.microsoft.com/office/powerpoint/2010/main" val="375834867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D31419D5-1926-4F48-9585-65B2CED3DED0}"/>
              </a:ext>
            </a:extLst>
          </p:cNvPr>
          <p:cNvSpPr>
            <a:spLocks noGrp="1"/>
          </p:cNvSpPr>
          <p:nvPr>
            <p:ph type="title"/>
          </p:nvPr>
        </p:nvSpPr>
        <p:spPr>
          <a:xfrm>
            <a:off x="4152900" y="642594"/>
            <a:ext cx="6972300" cy="1371600"/>
          </a:xfrm>
        </p:spPr>
        <p:txBody>
          <a:bodyPr/>
          <a:lstStyle/>
          <a:p>
            <a:r>
              <a:rPr lang="he-IL" dirty="0"/>
              <a:t>למה משתמשים בקבצי </a:t>
            </a:r>
            <a:r>
              <a:rPr lang="en-US" dirty="0"/>
              <a:t>.</a:t>
            </a:r>
            <a:r>
              <a:rPr lang="en-US" dirty="0" err="1"/>
              <a:t>inc</a:t>
            </a:r>
            <a:endParaRPr lang="he-IL" dirty="0"/>
          </a:p>
        </p:txBody>
      </p:sp>
      <p:sp>
        <p:nvSpPr>
          <p:cNvPr id="3" name="מציין מיקום תוכן 2">
            <a:extLst>
              <a:ext uri="{FF2B5EF4-FFF2-40B4-BE49-F238E27FC236}">
                <a16:creationId xmlns:a16="http://schemas.microsoft.com/office/drawing/2014/main" id="{2C29CCB6-FDFB-4DDB-85A1-7731E7104CDF}"/>
              </a:ext>
            </a:extLst>
          </p:cNvPr>
          <p:cNvSpPr>
            <a:spLocks noGrp="1"/>
          </p:cNvSpPr>
          <p:nvPr>
            <p:ph idx="1"/>
          </p:nvPr>
        </p:nvSpPr>
        <p:spPr/>
        <p:txBody>
          <a:bodyPr/>
          <a:lstStyle/>
          <a:p>
            <a:r>
              <a:rPr lang="he-IL" b="1" dirty="0"/>
              <a:t>יתרונות</a:t>
            </a:r>
          </a:p>
          <a:p>
            <a:r>
              <a:rPr lang="he-IL" b="1" dirty="0"/>
              <a:t>1. שיתוף קוד חוזר</a:t>
            </a:r>
            <a:r>
              <a:rPr lang="he-IL" dirty="0"/>
              <a:t>: אם יש פונקציה או הגדרה שחוזרת בין מספר קבצים, ניתן לכתוב אותה בקובץ </a:t>
            </a:r>
            <a:r>
              <a:rPr lang="en-US" dirty="0"/>
              <a:t>.</a:t>
            </a:r>
            <a:r>
              <a:rPr lang="en-US" dirty="0" err="1"/>
              <a:t>inc</a:t>
            </a:r>
            <a:r>
              <a:rPr lang="he-IL" dirty="0"/>
              <a:t> ולהשתמש בה בכל הקבצים.</a:t>
            </a:r>
          </a:p>
          <a:p>
            <a:endParaRPr lang="he-IL" dirty="0"/>
          </a:p>
          <a:p>
            <a:r>
              <a:rPr lang="he-IL" dirty="0"/>
              <a:t>2. </a:t>
            </a:r>
            <a:r>
              <a:rPr lang="he-IL" b="1" dirty="0"/>
              <a:t>ארגון הקוד</a:t>
            </a:r>
            <a:r>
              <a:rPr lang="he-IL" dirty="0"/>
              <a:t>: קבצי </a:t>
            </a:r>
            <a:r>
              <a:rPr lang="en-US" dirty="0"/>
              <a:t>.</a:t>
            </a:r>
            <a:r>
              <a:rPr lang="en-US" dirty="0" err="1"/>
              <a:t>inc</a:t>
            </a:r>
            <a:r>
              <a:rPr lang="he-IL" dirty="0"/>
              <a:t> וזרים להפריד בין לוגיקה, תצוגה, והגדרות.</a:t>
            </a:r>
          </a:p>
          <a:p>
            <a:endParaRPr lang="he-IL" dirty="0"/>
          </a:p>
          <a:p>
            <a:r>
              <a:rPr lang="he-IL" dirty="0"/>
              <a:t>3. </a:t>
            </a:r>
            <a:r>
              <a:rPr lang="he-IL" b="1" dirty="0"/>
              <a:t>תחזוקה נוחה</a:t>
            </a:r>
            <a:r>
              <a:rPr lang="he-IL" dirty="0"/>
              <a:t>: עדכון קובץ </a:t>
            </a:r>
            <a:r>
              <a:rPr lang="en-US" dirty="0"/>
              <a:t>.</a:t>
            </a:r>
            <a:r>
              <a:rPr lang="en-US" dirty="0" err="1"/>
              <a:t>inc</a:t>
            </a:r>
            <a:r>
              <a:rPr lang="he-IL" dirty="0"/>
              <a:t> אחד יכול להשפיע על כל הקבצים שמשתמשים בו, מה שחוסך זמן.</a:t>
            </a:r>
          </a:p>
          <a:p>
            <a:endParaRPr lang="he-IL" dirty="0"/>
          </a:p>
        </p:txBody>
      </p:sp>
    </p:spTree>
    <p:extLst>
      <p:ext uri="{BB962C8B-B14F-4D97-AF65-F5344CB8AC3E}">
        <p14:creationId xmlns:p14="http://schemas.microsoft.com/office/powerpoint/2010/main" val="214981527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A5FF65A-F815-43D7-A1E4-79134F6AF320}"/>
              </a:ext>
            </a:extLst>
          </p:cNvPr>
          <p:cNvSpPr>
            <a:spLocks noGrp="1"/>
          </p:cNvSpPr>
          <p:nvPr>
            <p:ph type="title"/>
          </p:nvPr>
        </p:nvSpPr>
        <p:spPr>
          <a:xfrm>
            <a:off x="2457450" y="642594"/>
            <a:ext cx="8667750" cy="1371600"/>
          </a:xfrm>
        </p:spPr>
        <p:txBody>
          <a:bodyPr/>
          <a:lstStyle/>
          <a:p>
            <a:r>
              <a:rPr lang="he-IL" dirty="0"/>
              <a:t>דוגמה 1: קובץ הגדרות </a:t>
            </a:r>
            <a:r>
              <a:rPr lang="en-US" dirty="0"/>
              <a:t>config.inc</a:t>
            </a:r>
            <a:endParaRPr lang="he-IL" dirty="0"/>
          </a:p>
        </p:txBody>
      </p:sp>
      <p:sp>
        <p:nvSpPr>
          <p:cNvPr id="3" name="מציין מיקום תוכן 2">
            <a:extLst>
              <a:ext uri="{FF2B5EF4-FFF2-40B4-BE49-F238E27FC236}">
                <a16:creationId xmlns:a16="http://schemas.microsoft.com/office/drawing/2014/main" id="{D5E50FC5-0774-4CFE-81EB-B8064AA242B6}"/>
              </a:ext>
            </a:extLst>
          </p:cNvPr>
          <p:cNvSpPr>
            <a:spLocks noGrp="1"/>
          </p:cNvSpPr>
          <p:nvPr>
            <p:ph idx="1"/>
          </p:nvPr>
        </p:nvSpPr>
        <p:spPr/>
        <p:txBody>
          <a:bodyPr/>
          <a:lstStyle/>
          <a:p>
            <a:pPr algn="l"/>
            <a:r>
              <a:rPr lang="en-US" dirty="0"/>
              <a:t>&lt;?php</a:t>
            </a:r>
          </a:p>
          <a:p>
            <a:pPr algn="l"/>
            <a:r>
              <a:rPr lang="en-US" dirty="0"/>
              <a:t>// config.inc</a:t>
            </a:r>
          </a:p>
          <a:p>
            <a:pPr algn="l"/>
            <a:r>
              <a:rPr lang="en-US" dirty="0"/>
              <a:t>$</a:t>
            </a:r>
            <a:r>
              <a:rPr lang="en-US" dirty="0" err="1"/>
              <a:t>servername</a:t>
            </a:r>
            <a:r>
              <a:rPr lang="en-US" dirty="0"/>
              <a:t> = "localhost";</a:t>
            </a:r>
          </a:p>
          <a:p>
            <a:pPr algn="l"/>
            <a:r>
              <a:rPr lang="en-US" dirty="0"/>
              <a:t>$username = "root";</a:t>
            </a:r>
          </a:p>
          <a:p>
            <a:pPr algn="l"/>
            <a:r>
              <a:rPr lang="en-US" dirty="0"/>
              <a:t>$password = "12345";</a:t>
            </a:r>
          </a:p>
          <a:p>
            <a:pPr algn="l"/>
            <a:r>
              <a:rPr lang="en-US" dirty="0"/>
              <a:t>$</a:t>
            </a:r>
            <a:r>
              <a:rPr lang="en-US" dirty="0" err="1"/>
              <a:t>dbname</a:t>
            </a:r>
            <a:r>
              <a:rPr lang="en-US" dirty="0"/>
              <a:t> = "</a:t>
            </a:r>
            <a:r>
              <a:rPr lang="en-US" dirty="0" err="1"/>
              <a:t>example_db</a:t>
            </a:r>
            <a:r>
              <a:rPr lang="en-US" dirty="0"/>
              <a:t>";</a:t>
            </a:r>
          </a:p>
          <a:p>
            <a:pPr algn="l"/>
            <a:r>
              <a:rPr lang="en-US" dirty="0"/>
              <a:t>?&gt;</a:t>
            </a:r>
          </a:p>
          <a:p>
            <a:pPr algn="l"/>
            <a:endParaRPr lang="he-IL" dirty="0"/>
          </a:p>
        </p:txBody>
      </p:sp>
    </p:spTree>
    <p:extLst>
      <p:ext uri="{BB962C8B-B14F-4D97-AF65-F5344CB8AC3E}">
        <p14:creationId xmlns:p14="http://schemas.microsoft.com/office/powerpoint/2010/main" val="161223771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99F4FEB-3DEF-4BB2-B770-E4F2226CE47E}"/>
              </a:ext>
            </a:extLst>
          </p:cNvPr>
          <p:cNvSpPr>
            <a:spLocks noGrp="1"/>
          </p:cNvSpPr>
          <p:nvPr>
            <p:ph type="title"/>
          </p:nvPr>
        </p:nvSpPr>
        <p:spPr>
          <a:xfrm>
            <a:off x="1323974" y="642594"/>
            <a:ext cx="9801225" cy="1371600"/>
          </a:xfrm>
        </p:spPr>
        <p:txBody>
          <a:bodyPr>
            <a:normAutofit/>
          </a:bodyPr>
          <a:lstStyle/>
          <a:p>
            <a:r>
              <a:rPr lang="he-IL" dirty="0"/>
              <a:t>דוגמה 2: קובץ פונקציות </a:t>
            </a:r>
            <a:r>
              <a:rPr lang="en-US" dirty="0"/>
              <a:t>functions.inc</a:t>
            </a:r>
            <a:endParaRPr lang="he-IL" dirty="0"/>
          </a:p>
        </p:txBody>
      </p:sp>
      <p:sp>
        <p:nvSpPr>
          <p:cNvPr id="3" name="מציין מיקום תוכן 2">
            <a:extLst>
              <a:ext uri="{FF2B5EF4-FFF2-40B4-BE49-F238E27FC236}">
                <a16:creationId xmlns:a16="http://schemas.microsoft.com/office/drawing/2014/main" id="{64061EF9-4D2A-48F9-934F-9D0C2167FE6C}"/>
              </a:ext>
            </a:extLst>
          </p:cNvPr>
          <p:cNvSpPr>
            <a:spLocks noGrp="1"/>
          </p:cNvSpPr>
          <p:nvPr>
            <p:ph idx="1"/>
          </p:nvPr>
        </p:nvSpPr>
        <p:spPr/>
        <p:txBody>
          <a:bodyPr/>
          <a:lstStyle/>
          <a:p>
            <a:pPr algn="l"/>
            <a:r>
              <a:rPr lang="en-US" dirty="0"/>
              <a:t>&lt;?php</a:t>
            </a:r>
          </a:p>
          <a:p>
            <a:pPr algn="l"/>
            <a:r>
              <a:rPr lang="en-US" dirty="0"/>
              <a:t>// functions.inc</a:t>
            </a:r>
          </a:p>
          <a:p>
            <a:pPr algn="l"/>
            <a:r>
              <a:rPr lang="en-US" dirty="0"/>
              <a:t>function greet($name) {</a:t>
            </a:r>
          </a:p>
          <a:p>
            <a:pPr algn="l"/>
            <a:r>
              <a:rPr lang="en-US" dirty="0"/>
              <a:t>    return "Hello, $name!";</a:t>
            </a:r>
          </a:p>
          <a:p>
            <a:pPr algn="l"/>
            <a:r>
              <a:rPr lang="en-US" dirty="0"/>
              <a:t>}</a:t>
            </a:r>
          </a:p>
          <a:p>
            <a:pPr algn="l"/>
            <a:r>
              <a:rPr lang="en-US" dirty="0"/>
              <a:t>?&gt;</a:t>
            </a:r>
          </a:p>
          <a:p>
            <a:pPr algn="l"/>
            <a:endParaRPr lang="he-IL" dirty="0"/>
          </a:p>
        </p:txBody>
      </p:sp>
    </p:spTree>
    <p:extLst>
      <p:ext uri="{BB962C8B-B14F-4D97-AF65-F5344CB8AC3E}">
        <p14:creationId xmlns:p14="http://schemas.microsoft.com/office/powerpoint/2010/main" val="347848083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3DCFC52-E88C-41C2-95D4-96D4CC078170}"/>
              </a:ext>
            </a:extLst>
          </p:cNvPr>
          <p:cNvSpPr>
            <a:spLocks noGrp="1"/>
          </p:cNvSpPr>
          <p:nvPr>
            <p:ph type="title"/>
          </p:nvPr>
        </p:nvSpPr>
        <p:spPr>
          <a:xfrm>
            <a:off x="2181224" y="642594"/>
            <a:ext cx="8943975" cy="1371600"/>
          </a:xfrm>
        </p:spPr>
        <p:txBody>
          <a:bodyPr/>
          <a:lstStyle/>
          <a:p>
            <a:r>
              <a:rPr lang="he-IL" dirty="0"/>
              <a:t>דוגמה 3: הקובץ הראשי </a:t>
            </a:r>
            <a:r>
              <a:rPr lang="en-US" dirty="0" err="1"/>
              <a:t>index.php</a:t>
            </a:r>
            <a:endParaRPr lang="he-IL" dirty="0"/>
          </a:p>
        </p:txBody>
      </p:sp>
      <p:sp>
        <p:nvSpPr>
          <p:cNvPr id="3" name="מציין מיקום תוכן 2">
            <a:extLst>
              <a:ext uri="{FF2B5EF4-FFF2-40B4-BE49-F238E27FC236}">
                <a16:creationId xmlns:a16="http://schemas.microsoft.com/office/drawing/2014/main" id="{507EE6FA-E4CE-4228-8904-827319B3109F}"/>
              </a:ext>
            </a:extLst>
          </p:cNvPr>
          <p:cNvSpPr>
            <a:spLocks noGrp="1"/>
          </p:cNvSpPr>
          <p:nvPr>
            <p:ph idx="1"/>
          </p:nvPr>
        </p:nvSpPr>
        <p:spPr/>
        <p:txBody>
          <a:bodyPr>
            <a:normAutofit fontScale="92500" lnSpcReduction="10000"/>
          </a:bodyPr>
          <a:lstStyle/>
          <a:p>
            <a:pPr algn="l"/>
            <a:r>
              <a:rPr lang="en-US" dirty="0"/>
              <a:t>&lt;?php</a:t>
            </a:r>
          </a:p>
          <a:p>
            <a:pPr algn="l"/>
            <a:r>
              <a:rPr lang="en-US" dirty="0"/>
              <a:t>// </a:t>
            </a:r>
            <a:r>
              <a:rPr lang="en-US" dirty="0" err="1"/>
              <a:t>index.php</a:t>
            </a:r>
            <a:endParaRPr lang="en-US" dirty="0"/>
          </a:p>
          <a:p>
            <a:pPr algn="l"/>
            <a:r>
              <a:rPr lang="en-US" dirty="0"/>
              <a:t>include 'config.inc';</a:t>
            </a:r>
          </a:p>
          <a:p>
            <a:pPr algn="l"/>
            <a:r>
              <a:rPr lang="en-US" dirty="0"/>
              <a:t>include 'functions.inc';</a:t>
            </a:r>
          </a:p>
          <a:p>
            <a:pPr algn="l"/>
            <a:endParaRPr lang="en-US" dirty="0"/>
          </a:p>
          <a:p>
            <a:pPr algn="l"/>
            <a:r>
              <a:rPr lang="en-US" dirty="0"/>
              <a:t>// </a:t>
            </a:r>
            <a:r>
              <a:rPr lang="he-IL" dirty="0"/>
              <a:t>שימוש בקובץ </a:t>
            </a:r>
            <a:r>
              <a:rPr lang="en-US" dirty="0"/>
              <a:t>config</a:t>
            </a:r>
          </a:p>
          <a:p>
            <a:pPr algn="l"/>
            <a:r>
              <a:rPr lang="en-US" dirty="0"/>
              <a:t>echo "Connecting to database: $</a:t>
            </a:r>
            <a:r>
              <a:rPr lang="en-US" dirty="0" err="1"/>
              <a:t>dbname</a:t>
            </a:r>
            <a:r>
              <a:rPr lang="en-US" dirty="0"/>
              <a:t>&lt;</a:t>
            </a:r>
            <a:r>
              <a:rPr lang="en-US" dirty="0" err="1"/>
              <a:t>br</a:t>
            </a:r>
            <a:r>
              <a:rPr lang="en-US" dirty="0"/>
              <a:t>&gt;";</a:t>
            </a:r>
          </a:p>
          <a:p>
            <a:pPr algn="l"/>
            <a:endParaRPr lang="en-US" dirty="0"/>
          </a:p>
          <a:p>
            <a:pPr algn="l"/>
            <a:r>
              <a:rPr lang="en-US" dirty="0"/>
              <a:t>// </a:t>
            </a:r>
            <a:r>
              <a:rPr lang="he-IL" dirty="0"/>
              <a:t>שימוש בפונקציה</a:t>
            </a:r>
          </a:p>
          <a:p>
            <a:pPr algn="l"/>
            <a:r>
              <a:rPr lang="en-US" dirty="0"/>
              <a:t>echo greet("Student");</a:t>
            </a:r>
          </a:p>
          <a:p>
            <a:pPr algn="l"/>
            <a:r>
              <a:rPr lang="en-US" dirty="0"/>
              <a:t>?&gt;</a:t>
            </a:r>
          </a:p>
          <a:p>
            <a:pPr algn="l"/>
            <a:endParaRPr lang="he-IL" dirty="0"/>
          </a:p>
        </p:txBody>
      </p:sp>
    </p:spTree>
    <p:extLst>
      <p:ext uri="{BB962C8B-B14F-4D97-AF65-F5344CB8AC3E}">
        <p14:creationId xmlns:p14="http://schemas.microsoft.com/office/powerpoint/2010/main" val="362116607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9B47B1BF-26D6-47BC-9325-9E6FF7B7B34D}"/>
              </a:ext>
            </a:extLst>
          </p:cNvPr>
          <p:cNvSpPr>
            <a:spLocks noGrp="1"/>
          </p:cNvSpPr>
          <p:nvPr>
            <p:ph type="title"/>
          </p:nvPr>
        </p:nvSpPr>
        <p:spPr>
          <a:xfrm>
            <a:off x="9896474" y="642594"/>
            <a:ext cx="1228725" cy="1371600"/>
          </a:xfrm>
        </p:spPr>
        <p:txBody>
          <a:bodyPr>
            <a:normAutofit fontScale="90000"/>
          </a:bodyPr>
          <a:lstStyle/>
          <a:p>
            <a:r>
              <a:rPr lang="he-IL" dirty="0"/>
              <a:t>פלט:</a:t>
            </a:r>
          </a:p>
        </p:txBody>
      </p:sp>
      <p:sp>
        <p:nvSpPr>
          <p:cNvPr id="3" name="מציין מיקום תוכן 2">
            <a:extLst>
              <a:ext uri="{FF2B5EF4-FFF2-40B4-BE49-F238E27FC236}">
                <a16:creationId xmlns:a16="http://schemas.microsoft.com/office/drawing/2014/main" id="{8304A761-A1CA-412F-8B6A-BD376C25762A}"/>
              </a:ext>
            </a:extLst>
          </p:cNvPr>
          <p:cNvSpPr>
            <a:spLocks noGrp="1"/>
          </p:cNvSpPr>
          <p:nvPr>
            <p:ph idx="1"/>
          </p:nvPr>
        </p:nvSpPr>
        <p:spPr/>
        <p:txBody>
          <a:bodyPr/>
          <a:lstStyle/>
          <a:p>
            <a:pPr algn="l"/>
            <a:r>
              <a:rPr lang="en-US" dirty="0"/>
              <a:t>Connecting to database: </a:t>
            </a:r>
            <a:r>
              <a:rPr lang="en-US" dirty="0" err="1"/>
              <a:t>example_db</a:t>
            </a:r>
            <a:endParaRPr lang="en-US" dirty="0"/>
          </a:p>
          <a:p>
            <a:pPr algn="l"/>
            <a:r>
              <a:rPr lang="en-US" dirty="0"/>
              <a:t>Hello, Student!</a:t>
            </a:r>
          </a:p>
          <a:p>
            <a:pPr algn="l"/>
            <a:endParaRPr lang="he-IL" dirty="0"/>
          </a:p>
        </p:txBody>
      </p:sp>
    </p:spTree>
    <p:extLst>
      <p:ext uri="{BB962C8B-B14F-4D97-AF65-F5344CB8AC3E}">
        <p14:creationId xmlns:p14="http://schemas.microsoft.com/office/powerpoint/2010/main" val="57296230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86E33D55-4A4E-41D1-8421-5AC673AC12DD}"/>
              </a:ext>
            </a:extLst>
          </p:cNvPr>
          <p:cNvSpPr>
            <a:spLocks noGrp="1"/>
          </p:cNvSpPr>
          <p:nvPr>
            <p:ph type="title"/>
          </p:nvPr>
        </p:nvSpPr>
        <p:spPr>
          <a:xfrm>
            <a:off x="5248276" y="642594"/>
            <a:ext cx="5876924" cy="1371600"/>
          </a:xfrm>
        </p:spPr>
        <p:txBody>
          <a:bodyPr>
            <a:normAutofit fontScale="90000"/>
          </a:bodyPr>
          <a:lstStyle/>
          <a:p>
            <a:r>
              <a:rPr lang="he-IL" dirty="0"/>
              <a:t>שלב 4: אבטחת קבצי </a:t>
            </a:r>
            <a:r>
              <a:rPr lang="en-US" dirty="0"/>
              <a:t>.</a:t>
            </a:r>
            <a:r>
              <a:rPr lang="en-US" dirty="0" err="1"/>
              <a:t>inc</a:t>
            </a:r>
            <a:endParaRPr lang="he-IL" dirty="0"/>
          </a:p>
        </p:txBody>
      </p:sp>
      <p:sp>
        <p:nvSpPr>
          <p:cNvPr id="3" name="מציין מיקום תוכן 2">
            <a:extLst>
              <a:ext uri="{FF2B5EF4-FFF2-40B4-BE49-F238E27FC236}">
                <a16:creationId xmlns:a16="http://schemas.microsoft.com/office/drawing/2014/main" id="{48EA84E5-32EF-4872-BBFF-CF6D5A7331E6}"/>
              </a:ext>
            </a:extLst>
          </p:cNvPr>
          <p:cNvSpPr>
            <a:spLocks noGrp="1"/>
          </p:cNvSpPr>
          <p:nvPr>
            <p:ph idx="1"/>
          </p:nvPr>
        </p:nvSpPr>
        <p:spPr/>
        <p:txBody>
          <a:bodyPr/>
          <a:lstStyle/>
          <a:p>
            <a:r>
              <a:rPr lang="he-IL" b="1" dirty="0"/>
              <a:t>בעיה</a:t>
            </a:r>
          </a:p>
          <a:p>
            <a:r>
              <a:rPr lang="he-IL" dirty="0"/>
              <a:t>קבצי </a:t>
            </a:r>
            <a:r>
              <a:rPr lang="en-US" dirty="0"/>
              <a:t>.</a:t>
            </a:r>
            <a:r>
              <a:rPr lang="en-US" dirty="0" err="1"/>
              <a:t>inc</a:t>
            </a:r>
            <a:r>
              <a:rPr lang="he-IL" dirty="0"/>
              <a:t> הם קובצי טקסט פשוטים, ולכן אם הם נגישים ישירות דרך הדפדפן, ייתכן שמידע רגיש (כמו סיסמאות) ייחשף.</a:t>
            </a:r>
          </a:p>
          <a:p>
            <a:r>
              <a:rPr lang="he-IL" b="1" dirty="0"/>
              <a:t>פתרונות</a:t>
            </a:r>
          </a:p>
          <a:p>
            <a:r>
              <a:rPr lang="he-IL" b="1" dirty="0"/>
              <a:t>1. שנה את הסיומת</a:t>
            </a:r>
            <a:r>
              <a:rPr lang="he-IL" dirty="0"/>
              <a:t>: השתמש ב- </a:t>
            </a:r>
            <a:r>
              <a:rPr lang="en-US" dirty="0"/>
              <a:t>.php</a:t>
            </a:r>
            <a:r>
              <a:rPr lang="he-IL" dirty="0"/>
              <a:t> במקום ב- </a:t>
            </a:r>
            <a:r>
              <a:rPr lang="en-US" dirty="0"/>
              <a:t>.</a:t>
            </a:r>
            <a:r>
              <a:rPr lang="en-US" dirty="0" err="1"/>
              <a:t>inc</a:t>
            </a:r>
            <a:r>
              <a:rPr lang="he-IL" dirty="0"/>
              <a:t> כך הקובץ יעובד בשרת.</a:t>
            </a:r>
          </a:p>
          <a:p>
            <a:r>
              <a:rPr lang="he-IL" dirty="0"/>
              <a:t>2. </a:t>
            </a:r>
            <a:r>
              <a:rPr lang="he-IL" b="1" dirty="0"/>
              <a:t>אחסן קבצים בתיקיה מוגנת</a:t>
            </a:r>
            <a:r>
              <a:rPr lang="he-IL" dirty="0"/>
              <a:t>: העבר את הקבצים לתיקיה שאינה נגישת ישירות מהאינטרנט.</a:t>
            </a:r>
          </a:p>
          <a:p>
            <a:r>
              <a:rPr lang="he-IL" dirty="0"/>
              <a:t>3. </a:t>
            </a:r>
            <a:r>
              <a:rPr lang="he-IL" b="1" dirty="0"/>
              <a:t>שימוש בקובץ</a:t>
            </a:r>
            <a:r>
              <a:rPr lang="en-US" b="1" dirty="0" err="1"/>
              <a:t>htaccess</a:t>
            </a:r>
            <a:r>
              <a:rPr lang="en-US" dirty="0"/>
              <a:t> </a:t>
            </a:r>
            <a:r>
              <a:rPr lang="he-IL" dirty="0"/>
              <a:t>: הגבל גישה לקבצים בתיקיות מסוימות.</a:t>
            </a:r>
          </a:p>
          <a:p>
            <a:endParaRPr lang="he-IL" dirty="0"/>
          </a:p>
          <a:p>
            <a:endParaRPr lang="he-IL" dirty="0"/>
          </a:p>
          <a:p>
            <a:endParaRPr lang="he-IL" dirty="0"/>
          </a:p>
        </p:txBody>
      </p:sp>
    </p:spTree>
    <p:extLst>
      <p:ext uri="{BB962C8B-B14F-4D97-AF65-F5344CB8AC3E}">
        <p14:creationId xmlns:p14="http://schemas.microsoft.com/office/powerpoint/2010/main" val="167881853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8A58598-55D4-4630-AE07-B0E2956404C2}"/>
              </a:ext>
            </a:extLst>
          </p:cNvPr>
          <p:cNvSpPr>
            <a:spLocks noGrp="1"/>
          </p:cNvSpPr>
          <p:nvPr>
            <p:ph type="title"/>
          </p:nvPr>
        </p:nvSpPr>
        <p:spPr>
          <a:xfrm>
            <a:off x="2924176" y="642594"/>
            <a:ext cx="8201024" cy="1371600"/>
          </a:xfrm>
        </p:spPr>
        <p:txBody>
          <a:bodyPr>
            <a:normAutofit fontScale="90000"/>
          </a:bodyPr>
          <a:lstStyle/>
          <a:p>
            <a:r>
              <a:rPr lang="he-IL" dirty="0"/>
              <a:t>דוגמה להגבלת גישה ב- </a:t>
            </a:r>
            <a:r>
              <a:rPr lang="en-US" dirty="0"/>
              <a:t>.</a:t>
            </a:r>
            <a:r>
              <a:rPr lang="en-US" dirty="0" err="1"/>
              <a:t>htaccess</a:t>
            </a:r>
            <a:endParaRPr lang="he-IL" dirty="0"/>
          </a:p>
        </p:txBody>
      </p:sp>
      <p:sp>
        <p:nvSpPr>
          <p:cNvPr id="3" name="מציין מיקום תוכן 2">
            <a:extLst>
              <a:ext uri="{FF2B5EF4-FFF2-40B4-BE49-F238E27FC236}">
                <a16:creationId xmlns:a16="http://schemas.microsoft.com/office/drawing/2014/main" id="{5665D3BF-3591-4BE9-B90E-2000E4650ED0}"/>
              </a:ext>
            </a:extLst>
          </p:cNvPr>
          <p:cNvSpPr>
            <a:spLocks noGrp="1"/>
          </p:cNvSpPr>
          <p:nvPr>
            <p:ph idx="1"/>
          </p:nvPr>
        </p:nvSpPr>
        <p:spPr/>
        <p:txBody>
          <a:bodyPr/>
          <a:lstStyle/>
          <a:p>
            <a:pPr algn="l"/>
            <a:r>
              <a:rPr lang="en-US" dirty="0"/>
              <a:t>&lt;Files "*.</a:t>
            </a:r>
            <a:r>
              <a:rPr lang="en-US" dirty="0" err="1"/>
              <a:t>inc</a:t>
            </a:r>
            <a:r>
              <a:rPr lang="en-US" dirty="0"/>
              <a:t>"&gt;</a:t>
            </a:r>
          </a:p>
          <a:p>
            <a:pPr algn="l"/>
            <a:r>
              <a:rPr lang="en-US" dirty="0"/>
              <a:t>    Deny from all</a:t>
            </a:r>
          </a:p>
          <a:p>
            <a:pPr algn="l"/>
            <a:r>
              <a:rPr lang="en-US" dirty="0"/>
              <a:t>&lt;/Files&gt;</a:t>
            </a:r>
          </a:p>
          <a:p>
            <a:r>
              <a:rPr lang="he-IL" dirty="0"/>
              <a:t>פירוט הפעולות:</a:t>
            </a:r>
          </a:p>
          <a:p>
            <a:r>
              <a:rPr lang="he-IL" dirty="0"/>
              <a:t>1. </a:t>
            </a:r>
            <a:r>
              <a:rPr lang="en-US" dirty="0"/>
              <a:t>&lt;Files "*.</a:t>
            </a:r>
            <a:r>
              <a:rPr lang="en-US" dirty="0" err="1"/>
              <a:t>inc</a:t>
            </a:r>
            <a:r>
              <a:rPr lang="en-US" dirty="0"/>
              <a:t>"&gt;</a:t>
            </a:r>
            <a:r>
              <a:rPr lang="he-IL" dirty="0"/>
              <a:t> </a:t>
            </a:r>
          </a:p>
          <a:p>
            <a:r>
              <a:rPr lang="he-IL" dirty="0"/>
              <a:t>סעיף זה אומר לשרת (למשל </a:t>
            </a:r>
            <a:r>
              <a:rPr lang="en-US" dirty="0"/>
              <a:t>Apache) </a:t>
            </a:r>
            <a:r>
              <a:rPr lang="he-IL" dirty="0"/>
              <a:t>להתמקד בקבצים שהסיומת שלהם היא </a:t>
            </a:r>
            <a:r>
              <a:rPr lang="en-US" dirty="0"/>
              <a:t>.</a:t>
            </a:r>
            <a:r>
              <a:rPr lang="en-US" dirty="0" err="1"/>
              <a:t>inc</a:t>
            </a:r>
            <a:endParaRPr lang="en-US" dirty="0"/>
          </a:p>
          <a:p>
            <a:r>
              <a:rPr lang="he-IL" dirty="0"/>
              <a:t>הסימן * הוא תו כללי, ולכן הכלל חל על </a:t>
            </a:r>
            <a:r>
              <a:rPr lang="he-IL" b="1" dirty="0"/>
              <a:t>כל קובץ עם הסיומת </a:t>
            </a:r>
            <a:r>
              <a:rPr lang="en-US" b="1" dirty="0"/>
              <a:t>.</a:t>
            </a:r>
            <a:r>
              <a:rPr lang="en-US" b="1" dirty="0" err="1"/>
              <a:t>inc</a:t>
            </a:r>
            <a:r>
              <a:rPr lang="he-IL" b="1" dirty="0"/>
              <a:t> </a:t>
            </a:r>
            <a:r>
              <a:rPr lang="he-IL" dirty="0"/>
              <a:t>ללא תלות בשמו.</a:t>
            </a:r>
          </a:p>
          <a:p>
            <a:r>
              <a:rPr lang="he-IL" dirty="0"/>
              <a:t>2. </a:t>
            </a:r>
            <a:r>
              <a:rPr lang="en-US" dirty="0"/>
              <a:t>Deny from all</a:t>
            </a:r>
            <a:endParaRPr lang="he-IL" dirty="0"/>
          </a:p>
          <a:p>
            <a:r>
              <a:rPr lang="he-IL" dirty="0"/>
              <a:t>הוראה זו אומרת לשרת </a:t>
            </a:r>
            <a:r>
              <a:rPr lang="he-IL" b="1" dirty="0"/>
              <a:t>למנוע גישה מכל משתמש</a:t>
            </a:r>
            <a:r>
              <a:rPr lang="he-IL" dirty="0"/>
              <a:t> לכתובת </a:t>
            </a:r>
            <a:r>
              <a:rPr lang="en-US" dirty="0"/>
              <a:t> URL</a:t>
            </a:r>
            <a:r>
              <a:rPr lang="he-IL" dirty="0"/>
              <a:t>שמבקשת גישה לקובץ </a:t>
            </a:r>
            <a:r>
              <a:rPr lang="en-US" dirty="0"/>
              <a:t>.</a:t>
            </a:r>
            <a:r>
              <a:rPr lang="en-US" dirty="0" err="1"/>
              <a:t>inc</a:t>
            </a:r>
            <a:r>
              <a:rPr lang="en-US" dirty="0"/>
              <a:t> </a:t>
            </a:r>
            <a:endParaRPr lang="he-IL" dirty="0"/>
          </a:p>
        </p:txBody>
      </p:sp>
    </p:spTree>
    <p:extLst>
      <p:ext uri="{BB962C8B-B14F-4D97-AF65-F5344CB8AC3E}">
        <p14:creationId xmlns:p14="http://schemas.microsoft.com/office/powerpoint/2010/main" val="209083662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E59B0382-4D16-4E3A-B8B0-702E6F3A3C6D}"/>
              </a:ext>
            </a:extLst>
          </p:cNvPr>
          <p:cNvSpPr>
            <a:spLocks noGrp="1"/>
          </p:cNvSpPr>
          <p:nvPr>
            <p:ph type="title"/>
          </p:nvPr>
        </p:nvSpPr>
        <p:spPr>
          <a:xfrm>
            <a:off x="5953124" y="642594"/>
            <a:ext cx="5172075" cy="1371600"/>
          </a:xfrm>
        </p:spPr>
        <p:txBody>
          <a:bodyPr/>
          <a:lstStyle/>
          <a:p>
            <a:r>
              <a:rPr lang="he-IL" dirty="0"/>
              <a:t>מה זה עושה בפועל?</a:t>
            </a:r>
          </a:p>
        </p:txBody>
      </p:sp>
      <p:sp>
        <p:nvSpPr>
          <p:cNvPr id="3" name="מציין מיקום תוכן 2">
            <a:extLst>
              <a:ext uri="{FF2B5EF4-FFF2-40B4-BE49-F238E27FC236}">
                <a16:creationId xmlns:a16="http://schemas.microsoft.com/office/drawing/2014/main" id="{45BCE3E6-9000-420F-8273-D43606A782B4}"/>
              </a:ext>
            </a:extLst>
          </p:cNvPr>
          <p:cNvSpPr>
            <a:spLocks noGrp="1"/>
          </p:cNvSpPr>
          <p:nvPr>
            <p:ph idx="1"/>
          </p:nvPr>
        </p:nvSpPr>
        <p:spPr/>
        <p:txBody>
          <a:bodyPr/>
          <a:lstStyle/>
          <a:p>
            <a:r>
              <a:rPr lang="he-IL" dirty="0"/>
              <a:t>כאשר מישהו מנסה לטעון קובץ</a:t>
            </a:r>
            <a:r>
              <a:rPr lang="en-US" dirty="0"/>
              <a:t> .INC </a:t>
            </a:r>
            <a:r>
              <a:rPr lang="he-IL" dirty="0"/>
              <a:t>ישירות דרך הדפדפן, לדוגמה:</a:t>
            </a:r>
          </a:p>
          <a:p>
            <a:pPr algn="l"/>
            <a:r>
              <a:rPr lang="en-US" dirty="0"/>
              <a:t>http://example.com/config.inc</a:t>
            </a:r>
          </a:p>
          <a:p>
            <a:r>
              <a:rPr lang="he-IL" dirty="0"/>
              <a:t>במקום לראות את תוכן הקובץ, השרת יחסום את הבקשה ויחזיר הודעת שגיאה, בדרך כלל:</a:t>
            </a:r>
          </a:p>
          <a:p>
            <a:pPr algn="l"/>
            <a:r>
              <a:rPr lang="en-US" dirty="0"/>
              <a:t>403 Forbidden</a:t>
            </a:r>
          </a:p>
          <a:p>
            <a:r>
              <a:rPr lang="he-IL" b="1" dirty="0"/>
              <a:t>מניעת חשיפת מידע רגיש</a:t>
            </a:r>
          </a:p>
          <a:p>
            <a:r>
              <a:rPr lang="he-IL" dirty="0"/>
              <a:t>אם הקובץ </a:t>
            </a:r>
            <a:r>
              <a:rPr lang="en-US" dirty="0"/>
              <a:t>.</a:t>
            </a:r>
            <a:r>
              <a:rPr lang="en-US" dirty="0" err="1"/>
              <a:t>inc</a:t>
            </a:r>
            <a:r>
              <a:rPr lang="he-IL" dirty="0"/>
              <a:t> מכיל מידע רגיש, כמו סיסמאות או פרטי חיבור לבסיס נתונים, המנגנון הזה מונע גישה אליו מהאינטרנט.</a:t>
            </a:r>
          </a:p>
          <a:p>
            <a:endParaRPr lang="he-IL" dirty="0"/>
          </a:p>
        </p:txBody>
      </p:sp>
    </p:spTree>
    <p:extLst>
      <p:ext uri="{BB962C8B-B14F-4D97-AF65-F5344CB8AC3E}">
        <p14:creationId xmlns:p14="http://schemas.microsoft.com/office/powerpoint/2010/main" val="214916089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278E070-CE18-C3CE-AD8F-28EF78ECB703}"/>
              </a:ext>
            </a:extLst>
          </p:cNvPr>
          <p:cNvSpPr>
            <a:spLocks noGrp="1"/>
          </p:cNvSpPr>
          <p:nvPr>
            <p:ph type="title"/>
          </p:nvPr>
        </p:nvSpPr>
        <p:spPr>
          <a:xfrm>
            <a:off x="3755572" y="642594"/>
            <a:ext cx="7369628" cy="1371600"/>
          </a:xfrm>
        </p:spPr>
        <p:txBody>
          <a:bodyPr>
            <a:normAutofit fontScale="90000"/>
          </a:bodyPr>
          <a:lstStyle/>
          <a:p>
            <a:r>
              <a:rPr lang="he-IL" dirty="0"/>
              <a:t>מספר דרכים להגן על קבצי </a:t>
            </a:r>
            <a:r>
              <a:rPr lang="en-US" dirty="0"/>
              <a:t>.</a:t>
            </a:r>
            <a:r>
              <a:rPr lang="en-US" dirty="0" err="1"/>
              <a:t>imc</a:t>
            </a:r>
            <a:endParaRPr lang="he-IL" dirty="0"/>
          </a:p>
        </p:txBody>
      </p:sp>
      <p:sp>
        <p:nvSpPr>
          <p:cNvPr id="3" name="מציין מיקום תוכן 2">
            <a:extLst>
              <a:ext uri="{FF2B5EF4-FFF2-40B4-BE49-F238E27FC236}">
                <a16:creationId xmlns:a16="http://schemas.microsoft.com/office/drawing/2014/main" id="{B74740E9-B71D-44AB-E44D-172E26357B89}"/>
              </a:ext>
            </a:extLst>
          </p:cNvPr>
          <p:cNvSpPr>
            <a:spLocks noGrp="1"/>
          </p:cNvSpPr>
          <p:nvPr>
            <p:ph idx="1"/>
          </p:nvPr>
        </p:nvSpPr>
        <p:spPr/>
        <p:txBody>
          <a:bodyPr/>
          <a:lstStyle/>
          <a:p>
            <a:r>
              <a:rPr lang="he-IL" dirty="0"/>
              <a:t>1. שמור את קבצי ה-</a:t>
            </a:r>
            <a:r>
              <a:rPr lang="en-US" dirty="0"/>
              <a:t> .</a:t>
            </a:r>
            <a:r>
              <a:rPr lang="en-US" dirty="0" err="1"/>
              <a:t>inc</a:t>
            </a:r>
            <a:r>
              <a:rPr lang="he-IL" dirty="0"/>
              <a:t> מחוץ </a:t>
            </a:r>
            <a:r>
              <a:rPr lang="he-IL" dirty="0" err="1"/>
              <a:t>לתקיית</a:t>
            </a:r>
            <a:r>
              <a:rPr lang="he-IL" dirty="0"/>
              <a:t> השורש:</a:t>
            </a:r>
          </a:p>
          <a:p>
            <a:r>
              <a:rPr lang="he-IL" dirty="0"/>
              <a:t>דוגמא למשהו שאינו בטוח: </a:t>
            </a:r>
            <a:r>
              <a:rPr lang="en-US" dirty="0" err="1"/>
              <a:t>public_html</a:t>
            </a:r>
            <a:r>
              <a:rPr lang="en-US" dirty="0"/>
              <a:t>/includes/config.inc</a:t>
            </a:r>
            <a:endParaRPr lang="he-IL" dirty="0"/>
          </a:p>
          <a:p>
            <a:r>
              <a:rPr lang="he-IL" dirty="0"/>
              <a:t>דוגמא למשהו שהינו בטוח: </a:t>
            </a:r>
            <a:r>
              <a:rPr lang="en-US" dirty="0"/>
              <a:t>/var/www/private/includes/config.inc</a:t>
            </a:r>
            <a:endParaRPr lang="he-IL" dirty="0"/>
          </a:p>
          <a:p>
            <a:r>
              <a:rPr lang="he-IL" dirty="0"/>
              <a:t>2. שנה את הסיומת ל- </a:t>
            </a:r>
            <a:r>
              <a:rPr lang="en-US" dirty="0"/>
              <a:t>.</a:t>
            </a:r>
            <a:r>
              <a:rPr lang="en-US" dirty="0" err="1"/>
              <a:t>php</a:t>
            </a:r>
            <a:r>
              <a:rPr lang="he-IL" dirty="0"/>
              <a:t> </a:t>
            </a:r>
          </a:p>
          <a:p>
            <a:r>
              <a:rPr lang="he-IL" dirty="0"/>
              <a:t>כאשר </a:t>
            </a:r>
            <a:r>
              <a:rPr lang="en-US" dirty="0"/>
              <a:t>.</a:t>
            </a:r>
            <a:r>
              <a:rPr lang="en-US" dirty="0" err="1"/>
              <a:t>php</a:t>
            </a:r>
            <a:r>
              <a:rPr lang="he-IL" dirty="0"/>
              <a:t> נטען על ידיך, התוכן שלו מבוצע ולא קובץ אינטרנט מוצג כטקסט גולמי. זה מונע חשיפה של תוכן רגיש </a:t>
            </a:r>
          </a:p>
          <a:p>
            <a:r>
              <a:rPr lang="he-IL" dirty="0"/>
              <a:t>לדוגמה: תשנה את </a:t>
            </a:r>
            <a:r>
              <a:rPr lang="en-US" dirty="0"/>
              <a:t>config.inc</a:t>
            </a:r>
            <a:r>
              <a:rPr lang="he-IL" dirty="0"/>
              <a:t> ל </a:t>
            </a:r>
            <a:r>
              <a:rPr lang="en-US" dirty="0" err="1"/>
              <a:t>config.php</a:t>
            </a:r>
            <a:endParaRPr lang="he-IL" dirty="0"/>
          </a:p>
          <a:p>
            <a:r>
              <a:rPr lang="he-IL" dirty="0"/>
              <a:t>אתה יכול להשתמש בו באותו אופן:</a:t>
            </a:r>
          </a:p>
          <a:p>
            <a:pPr algn="l"/>
            <a:r>
              <a:rPr lang="en-US" dirty="0"/>
              <a:t>include('includes/</a:t>
            </a:r>
            <a:r>
              <a:rPr lang="en-US" dirty="0" err="1"/>
              <a:t>config.php</a:t>
            </a:r>
            <a:r>
              <a:rPr lang="en-US" dirty="0"/>
              <a:t>');</a:t>
            </a:r>
          </a:p>
          <a:p>
            <a:pPr algn="l"/>
            <a:endParaRPr lang="he-IL" dirty="0"/>
          </a:p>
          <a:p>
            <a:endParaRPr lang="he-IL" dirty="0"/>
          </a:p>
        </p:txBody>
      </p:sp>
    </p:spTree>
    <p:extLst>
      <p:ext uri="{BB962C8B-B14F-4D97-AF65-F5344CB8AC3E}">
        <p14:creationId xmlns:p14="http://schemas.microsoft.com/office/powerpoint/2010/main" val="175159060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175FDEF0-D44D-156A-55CB-406ED1D32F49}"/>
              </a:ext>
            </a:extLst>
          </p:cNvPr>
          <p:cNvSpPr>
            <a:spLocks noGrp="1"/>
          </p:cNvSpPr>
          <p:nvPr>
            <p:ph type="title"/>
          </p:nvPr>
        </p:nvSpPr>
        <p:spPr>
          <a:xfrm>
            <a:off x="1883228" y="642594"/>
            <a:ext cx="9241971" cy="1371600"/>
          </a:xfrm>
        </p:spPr>
        <p:txBody>
          <a:bodyPr>
            <a:normAutofit fontScale="90000"/>
          </a:bodyPr>
          <a:lstStyle/>
          <a:p>
            <a:r>
              <a:rPr lang="he-IL" dirty="0"/>
              <a:t>המשך - מספר דרכים להגן על קבצי </a:t>
            </a:r>
            <a:r>
              <a:rPr lang="en-US" dirty="0"/>
              <a:t>.</a:t>
            </a:r>
            <a:r>
              <a:rPr lang="en-US" dirty="0" err="1"/>
              <a:t>inc</a:t>
            </a:r>
            <a:endParaRPr lang="he-IL" dirty="0"/>
          </a:p>
        </p:txBody>
      </p:sp>
      <p:sp>
        <p:nvSpPr>
          <p:cNvPr id="3" name="מציין מיקום תוכן 2">
            <a:extLst>
              <a:ext uri="{FF2B5EF4-FFF2-40B4-BE49-F238E27FC236}">
                <a16:creationId xmlns:a16="http://schemas.microsoft.com/office/drawing/2014/main" id="{99BC90FB-C4EC-0538-6F53-1EC9D6CAD7DC}"/>
              </a:ext>
            </a:extLst>
          </p:cNvPr>
          <p:cNvSpPr>
            <a:spLocks noGrp="1"/>
          </p:cNvSpPr>
          <p:nvPr>
            <p:ph idx="1"/>
          </p:nvPr>
        </p:nvSpPr>
        <p:spPr/>
        <p:txBody>
          <a:bodyPr/>
          <a:lstStyle/>
          <a:p>
            <a:r>
              <a:rPr lang="he-IL" dirty="0"/>
              <a:t>3. שימוש בבדיקת תנאים בתוך הקובץ:</a:t>
            </a:r>
          </a:p>
          <a:p>
            <a:r>
              <a:rPr lang="he-IL" dirty="0"/>
              <a:t>הוסף קוד בקובץ </a:t>
            </a:r>
            <a:r>
              <a:rPr lang="en-US" dirty="0"/>
              <a:t>.</a:t>
            </a:r>
            <a:r>
              <a:rPr lang="en-US" dirty="0" err="1"/>
              <a:t>inc</a:t>
            </a:r>
            <a:r>
              <a:rPr lang="en-US" dirty="0"/>
              <a:t> </a:t>
            </a:r>
            <a:r>
              <a:rPr lang="he-IL" dirty="0"/>
              <a:t> כדי לוודא שהוא נטען רק מתוך קובץ אחר ולא ניגשים אליו.</a:t>
            </a:r>
          </a:p>
          <a:p>
            <a:r>
              <a:rPr lang="he-IL" dirty="0"/>
              <a:t>לדוגמה:</a:t>
            </a:r>
          </a:p>
          <a:p>
            <a:pPr algn="l"/>
            <a:r>
              <a:rPr lang="en-US" dirty="0"/>
              <a:t>if (!defined('SECURE_ACCESS')) {</a:t>
            </a:r>
          </a:p>
          <a:p>
            <a:pPr algn="l"/>
            <a:r>
              <a:rPr lang="en-US" dirty="0"/>
              <a:t>    die('Direct access not allowed.');</a:t>
            </a:r>
          </a:p>
          <a:p>
            <a:pPr algn="l"/>
            <a:r>
              <a:rPr lang="en-US" dirty="0"/>
              <a:t>}</a:t>
            </a:r>
          </a:p>
          <a:p>
            <a:r>
              <a:rPr lang="he-IL" dirty="0"/>
              <a:t>הקוד הזה מוודא שהקובץ שבו הוא נמצא נטען רק כחלק מתהליך גדול יותר (כמו מתוך קובץ </a:t>
            </a:r>
            <a:r>
              <a:rPr lang="en-US" dirty="0"/>
              <a:t> PHP</a:t>
            </a:r>
            <a:r>
              <a:rPr lang="he-IL" dirty="0"/>
              <a:t>אחר) ולא ניגשים אליו.</a:t>
            </a:r>
          </a:p>
        </p:txBody>
      </p:sp>
    </p:spTree>
    <p:extLst>
      <p:ext uri="{BB962C8B-B14F-4D97-AF65-F5344CB8AC3E}">
        <p14:creationId xmlns:p14="http://schemas.microsoft.com/office/powerpoint/2010/main" val="197539503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545FC1D-A37A-BC41-7458-F329AA611D2C}"/>
              </a:ext>
            </a:extLst>
          </p:cNvPr>
          <p:cNvSpPr>
            <a:spLocks noGrp="1"/>
          </p:cNvSpPr>
          <p:nvPr>
            <p:ph type="title"/>
          </p:nvPr>
        </p:nvSpPr>
        <p:spPr/>
        <p:txBody>
          <a:bodyPr/>
          <a:lstStyle/>
          <a:p>
            <a:r>
              <a:rPr lang="he-IL" dirty="0"/>
              <a:t>המשך - מספר דרכים להגן על קבצי </a:t>
            </a:r>
            <a:r>
              <a:rPr lang="en-US" dirty="0"/>
              <a:t>.</a:t>
            </a:r>
            <a:r>
              <a:rPr lang="en-US" dirty="0" err="1"/>
              <a:t>inc</a:t>
            </a:r>
            <a:endParaRPr lang="he-IL" dirty="0"/>
          </a:p>
        </p:txBody>
      </p:sp>
      <p:sp>
        <p:nvSpPr>
          <p:cNvPr id="3" name="מציין מיקום תוכן 2">
            <a:extLst>
              <a:ext uri="{FF2B5EF4-FFF2-40B4-BE49-F238E27FC236}">
                <a16:creationId xmlns:a16="http://schemas.microsoft.com/office/drawing/2014/main" id="{6D1FC102-2788-98A4-5315-E1F1D736C03C}"/>
              </a:ext>
            </a:extLst>
          </p:cNvPr>
          <p:cNvSpPr>
            <a:spLocks noGrp="1"/>
          </p:cNvSpPr>
          <p:nvPr>
            <p:ph idx="1"/>
          </p:nvPr>
        </p:nvSpPr>
        <p:spPr/>
        <p:txBody>
          <a:bodyPr/>
          <a:lstStyle/>
          <a:p>
            <a:r>
              <a:rPr lang="he-IL" dirty="0"/>
              <a:t>4. הצפנת מידע רגיש בקובץ:</a:t>
            </a:r>
          </a:p>
          <a:p>
            <a:r>
              <a:rPr lang="he-IL" dirty="0"/>
              <a:t>אם הקובץ מכיל מידע רגיש (כמו סיסמאות), שקול להצפין אותו ולפענח אותו רק בזמן נטען.</a:t>
            </a:r>
          </a:p>
          <a:p>
            <a:r>
              <a:rPr lang="he-IL" dirty="0"/>
              <a:t>לדוגמה: שמור סיסמאות כערכים מוצפנים בקובץ </a:t>
            </a:r>
            <a:r>
              <a:rPr lang="en-US" dirty="0"/>
              <a:t>.</a:t>
            </a:r>
            <a:r>
              <a:rPr lang="en-US" dirty="0" err="1"/>
              <a:t>inc</a:t>
            </a:r>
            <a:endParaRPr lang="he-IL" dirty="0"/>
          </a:p>
          <a:p>
            <a:r>
              <a:rPr lang="he-IL" dirty="0"/>
              <a:t>בזמן הטעינה</a:t>
            </a:r>
          </a:p>
          <a:p>
            <a:pPr algn="l"/>
            <a:r>
              <a:rPr lang="en-US" dirty="0"/>
              <a:t>$</a:t>
            </a:r>
            <a:r>
              <a:rPr lang="en-US" dirty="0" err="1"/>
              <a:t>encrypted_password</a:t>
            </a:r>
            <a:r>
              <a:rPr lang="en-US" dirty="0"/>
              <a:t> = "</a:t>
            </a:r>
            <a:r>
              <a:rPr lang="en-US" dirty="0" err="1"/>
              <a:t>encrypted_password_here</a:t>
            </a:r>
            <a:r>
              <a:rPr lang="en-US" dirty="0"/>
              <a:t>";</a:t>
            </a:r>
          </a:p>
          <a:p>
            <a:pPr algn="l"/>
            <a:r>
              <a:rPr lang="en-US" dirty="0"/>
              <a:t>$password = decrypt($</a:t>
            </a:r>
            <a:r>
              <a:rPr lang="en-US" dirty="0" err="1"/>
              <a:t>encrypted_password</a:t>
            </a:r>
            <a:r>
              <a:rPr lang="en-US" dirty="0"/>
              <a:t>);</a:t>
            </a:r>
          </a:p>
          <a:p>
            <a:pPr algn="l"/>
            <a:endParaRPr lang="he-IL" dirty="0"/>
          </a:p>
        </p:txBody>
      </p:sp>
    </p:spTree>
    <p:extLst>
      <p:ext uri="{BB962C8B-B14F-4D97-AF65-F5344CB8AC3E}">
        <p14:creationId xmlns:p14="http://schemas.microsoft.com/office/powerpoint/2010/main" val="82523476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B7F95BF7-4B8E-0457-F4F8-1AF345021A47}"/>
              </a:ext>
            </a:extLst>
          </p:cNvPr>
          <p:cNvSpPr>
            <a:spLocks noGrp="1"/>
          </p:cNvSpPr>
          <p:nvPr>
            <p:ph type="title"/>
          </p:nvPr>
        </p:nvSpPr>
        <p:spPr>
          <a:xfrm>
            <a:off x="8828314" y="642594"/>
            <a:ext cx="2296886" cy="1371600"/>
          </a:xfrm>
        </p:spPr>
        <p:txBody>
          <a:bodyPr/>
          <a:lstStyle/>
          <a:p>
            <a:r>
              <a:rPr lang="he-IL" dirty="0"/>
              <a:t>שאלות</a:t>
            </a:r>
          </a:p>
        </p:txBody>
      </p:sp>
      <p:sp>
        <p:nvSpPr>
          <p:cNvPr id="3" name="מציין מיקום תוכן 2">
            <a:extLst>
              <a:ext uri="{FF2B5EF4-FFF2-40B4-BE49-F238E27FC236}">
                <a16:creationId xmlns:a16="http://schemas.microsoft.com/office/drawing/2014/main" id="{DDF0630B-A46B-DF86-34A9-90CDF74BA052}"/>
              </a:ext>
            </a:extLst>
          </p:cNvPr>
          <p:cNvSpPr>
            <a:spLocks noGrp="1"/>
          </p:cNvSpPr>
          <p:nvPr>
            <p:ph idx="1"/>
          </p:nvPr>
        </p:nvSpPr>
        <p:spPr/>
        <p:txBody>
          <a:bodyPr/>
          <a:lstStyle/>
          <a:p>
            <a:r>
              <a:rPr lang="he-IL" dirty="0"/>
              <a:t>1. מהי הבעיה </a:t>
            </a:r>
            <a:r>
              <a:rPr lang="he-IL" dirty="0" err="1"/>
              <a:t>רגישת</a:t>
            </a:r>
            <a:r>
              <a:rPr lang="he-IL" dirty="0"/>
              <a:t> בשמירת מידע בקובצי </a:t>
            </a:r>
            <a:r>
              <a:rPr lang="en-US" dirty="0"/>
              <a:t>.</a:t>
            </a:r>
            <a:r>
              <a:rPr lang="en-US" dirty="0" err="1"/>
              <a:t>inc</a:t>
            </a:r>
            <a:r>
              <a:rPr lang="he-IL" dirty="0"/>
              <a:t> ללא הגנה?</a:t>
            </a:r>
          </a:p>
          <a:p>
            <a:r>
              <a:rPr lang="he-IL" dirty="0"/>
              <a:t>2. מה תפקידה של הפקודה </a:t>
            </a:r>
            <a:r>
              <a:rPr lang="en-US" dirty="0"/>
              <a:t>if (!defined(...))</a:t>
            </a:r>
            <a:r>
              <a:rPr lang="he-IL" dirty="0"/>
              <a:t> בקובץ </a:t>
            </a:r>
            <a:r>
              <a:rPr lang="en-US" dirty="0"/>
              <a:t>.</a:t>
            </a:r>
            <a:r>
              <a:rPr lang="en-US" dirty="0" err="1"/>
              <a:t>inc</a:t>
            </a:r>
            <a:r>
              <a:rPr lang="he-IL" dirty="0"/>
              <a:t>?</a:t>
            </a:r>
          </a:p>
          <a:p>
            <a:r>
              <a:rPr lang="he-IL" dirty="0"/>
              <a:t>3. למה כדאי לשמור קובצי </a:t>
            </a:r>
            <a:r>
              <a:rPr lang="en-US" dirty="0"/>
              <a:t>.</a:t>
            </a:r>
            <a:r>
              <a:rPr lang="en-US" dirty="0" err="1"/>
              <a:t>inc</a:t>
            </a:r>
            <a:r>
              <a:rPr lang="he-IL" dirty="0"/>
              <a:t> בתיקיות שאינן נגישות בין מהאינטרנט?</a:t>
            </a:r>
          </a:p>
          <a:p>
            <a:endParaRPr lang="he-IL" dirty="0"/>
          </a:p>
        </p:txBody>
      </p:sp>
    </p:spTree>
    <p:extLst>
      <p:ext uri="{BB962C8B-B14F-4D97-AF65-F5344CB8AC3E}">
        <p14:creationId xmlns:p14="http://schemas.microsoft.com/office/powerpoint/2010/main" val="70029235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2C2747A-D726-DF77-9EA8-C4AFBB6D7B4A}"/>
              </a:ext>
            </a:extLst>
          </p:cNvPr>
          <p:cNvSpPr>
            <a:spLocks noGrp="1"/>
          </p:cNvSpPr>
          <p:nvPr>
            <p:ph type="title"/>
          </p:nvPr>
        </p:nvSpPr>
        <p:spPr>
          <a:xfrm>
            <a:off x="8980714" y="642594"/>
            <a:ext cx="2144486" cy="1371600"/>
          </a:xfrm>
        </p:spPr>
        <p:txBody>
          <a:bodyPr/>
          <a:lstStyle/>
          <a:p>
            <a:r>
              <a:rPr lang="he-IL" dirty="0"/>
              <a:t>תשובות</a:t>
            </a:r>
          </a:p>
        </p:txBody>
      </p:sp>
      <p:sp>
        <p:nvSpPr>
          <p:cNvPr id="3" name="מציין מיקום תוכן 2">
            <a:extLst>
              <a:ext uri="{FF2B5EF4-FFF2-40B4-BE49-F238E27FC236}">
                <a16:creationId xmlns:a16="http://schemas.microsoft.com/office/drawing/2014/main" id="{A640FB33-38C5-F6EF-6C29-B2B23238A509}"/>
              </a:ext>
            </a:extLst>
          </p:cNvPr>
          <p:cNvSpPr>
            <a:spLocks noGrp="1"/>
          </p:cNvSpPr>
          <p:nvPr>
            <p:ph idx="1"/>
          </p:nvPr>
        </p:nvSpPr>
        <p:spPr/>
        <p:txBody>
          <a:bodyPr/>
          <a:lstStyle/>
          <a:p>
            <a:r>
              <a:rPr lang="he-IL" dirty="0"/>
              <a:t>1. הבעיה המרכזית היא שקבצי </a:t>
            </a:r>
            <a:r>
              <a:rPr lang="en-US" dirty="0"/>
              <a:t>.</a:t>
            </a:r>
            <a:r>
              <a:rPr lang="en-US" dirty="0" err="1"/>
              <a:t>inc</a:t>
            </a:r>
            <a:r>
              <a:rPr lang="he-IL" dirty="0"/>
              <a:t> לא מבוצעת על ידי השרת, אם מישהו ניגש לקובץ דרך הדפדפן, הוא יכול לראות את התוכן של הקובץ בטקסט גלוי. זה יכול לכלול סיסמאות, הגדרות מסד נתונים, או מידע רגיש אחר.</a:t>
            </a:r>
          </a:p>
          <a:p>
            <a:r>
              <a:rPr lang="he-IL" dirty="0"/>
              <a:t>2. הפקודה האם הגדרת </a:t>
            </a:r>
            <a:r>
              <a:rPr lang="en-US" dirty="0"/>
              <a:t> ranking</a:t>
            </a:r>
            <a:r>
              <a:rPr lang="he-IL" dirty="0"/>
              <a:t>(רגיל </a:t>
            </a:r>
            <a:r>
              <a:rPr lang="en-US" dirty="0"/>
              <a:t>SECURE_ACCESS</a:t>
            </a:r>
            <a:r>
              <a:rPr lang="he-IL" dirty="0"/>
              <a:t>). אם השינוי לא מוגדר, זה אומר שהקובץ ניגש למעשה (ולא כחלק מתוכנית יותר גדולה), זו התוכנית עוצרת עם הודעה למשתמש. זה מונע גישה ישירה לקובץ.</a:t>
            </a:r>
          </a:p>
          <a:p>
            <a:r>
              <a:rPr lang="he-IL" dirty="0"/>
              <a:t>3. אם קובצי </a:t>
            </a:r>
            <a:r>
              <a:rPr lang="en-US" dirty="0"/>
              <a:t>.</a:t>
            </a:r>
            <a:r>
              <a:rPr lang="en-US" dirty="0" err="1"/>
              <a:t>inc</a:t>
            </a:r>
            <a:r>
              <a:rPr lang="he-IL" dirty="0"/>
              <a:t> נמצא מחוץ לתיקיות שנגישות דרך הדפדפן (</a:t>
            </a:r>
            <a:r>
              <a:rPr lang="en-US" dirty="0" err="1"/>
              <a:t>htdocs</a:t>
            </a:r>
            <a:r>
              <a:rPr lang="he-IL" dirty="0"/>
              <a:t> או </a:t>
            </a:r>
            <a:r>
              <a:rPr lang="en-US" dirty="0" err="1"/>
              <a:t>public_html</a:t>
            </a:r>
            <a:r>
              <a:rPr lang="he-IL" dirty="0"/>
              <a:t>), לא ניתן לגשת באופן עצמאי דרך כתובת </a:t>
            </a:r>
            <a:r>
              <a:rPr lang="en-US" dirty="0"/>
              <a:t>URL. </a:t>
            </a:r>
            <a:r>
              <a:rPr lang="he-IL" dirty="0"/>
              <a:t>זה מבטיח שהקבצים יהיו מוגנים גם אם לא נעשה שימוש באמצעי אבטחה אחרים. </a:t>
            </a:r>
          </a:p>
          <a:p>
            <a:endParaRPr lang="he-IL" dirty="0"/>
          </a:p>
        </p:txBody>
      </p:sp>
    </p:spTree>
    <p:extLst>
      <p:ext uri="{BB962C8B-B14F-4D97-AF65-F5344CB8AC3E}">
        <p14:creationId xmlns:p14="http://schemas.microsoft.com/office/powerpoint/2010/main" val="288196910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a:extLst>
              <a:ext uri="{FF2B5EF4-FFF2-40B4-BE49-F238E27FC236}">
                <a16:creationId xmlns:a16="http://schemas.microsoft.com/office/drawing/2014/main" id="{0A4E5413-4FAA-EC95-C6E8-EFFDEB45A785}"/>
              </a:ext>
            </a:extLst>
          </p:cNvPr>
          <p:cNvSpPr>
            <a:spLocks noGrp="1"/>
          </p:cNvSpPr>
          <p:nvPr>
            <p:ph idx="1"/>
          </p:nvPr>
        </p:nvSpPr>
        <p:spPr>
          <a:xfrm>
            <a:off x="1066800" y="2538549"/>
            <a:ext cx="10058400" cy="3931920"/>
          </a:xfrm>
        </p:spPr>
        <p:txBody>
          <a:bodyPr>
            <a:normAutofit/>
          </a:bodyPr>
          <a:lstStyle/>
          <a:p>
            <a:pPr algn="ctr"/>
            <a:r>
              <a:rPr lang="he-IL" sz="6000" dirty="0"/>
              <a:t>הגנה מפני פריצות ידניות</a:t>
            </a:r>
          </a:p>
        </p:txBody>
      </p:sp>
    </p:spTree>
    <p:extLst>
      <p:ext uri="{BB962C8B-B14F-4D97-AF65-F5344CB8AC3E}">
        <p14:creationId xmlns:p14="http://schemas.microsoft.com/office/powerpoint/2010/main" val="82011050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3C60CBA-CC7C-0D06-40D5-0D2CF01AC781}"/>
              </a:ext>
            </a:extLst>
          </p:cNvPr>
          <p:cNvSpPr>
            <a:spLocks noGrp="1"/>
          </p:cNvSpPr>
          <p:nvPr>
            <p:ph type="title"/>
          </p:nvPr>
        </p:nvSpPr>
        <p:spPr/>
        <p:txBody>
          <a:bodyPr/>
          <a:lstStyle/>
          <a:p>
            <a:r>
              <a:rPr lang="he-IL" dirty="0"/>
              <a:t>הגנה מפני פריצות ידניות - מבוא</a:t>
            </a:r>
          </a:p>
        </p:txBody>
      </p:sp>
      <p:sp>
        <p:nvSpPr>
          <p:cNvPr id="3" name="מציין מיקום תוכן 2">
            <a:extLst>
              <a:ext uri="{FF2B5EF4-FFF2-40B4-BE49-F238E27FC236}">
                <a16:creationId xmlns:a16="http://schemas.microsoft.com/office/drawing/2014/main" id="{F43C8F61-F174-4ABC-7002-A8ACD17D871B}"/>
              </a:ext>
            </a:extLst>
          </p:cNvPr>
          <p:cNvSpPr>
            <a:spLocks noGrp="1"/>
          </p:cNvSpPr>
          <p:nvPr>
            <p:ph idx="1"/>
          </p:nvPr>
        </p:nvSpPr>
        <p:spPr/>
        <p:txBody>
          <a:bodyPr/>
          <a:lstStyle/>
          <a:p>
            <a:r>
              <a:rPr lang="he-IL" b="1" dirty="0"/>
              <a:t>מה זה פריצה ידנית?</a:t>
            </a:r>
          </a:p>
          <a:p>
            <a:r>
              <a:rPr lang="he-IL" dirty="0"/>
              <a:t>פריצה ידנית</a:t>
            </a:r>
            <a:r>
              <a:rPr lang="en-US" dirty="0"/>
              <a:t> (Manual Hacking) </a:t>
            </a:r>
            <a:r>
              <a:rPr lang="he-IL" dirty="0"/>
              <a:t>היא פעולה שבה תוקף (האקר) מבצע ניסיונות חדירה למערכת בצורה ידנית, ללא שימוש בכלים אוטומטיים. התוקף משתמש בכישוריו ובידע שלו על מנת:</a:t>
            </a:r>
          </a:p>
          <a:p>
            <a:r>
              <a:rPr lang="he-IL" dirty="0"/>
              <a:t>1. לזהות חולשות במערכת.</a:t>
            </a:r>
          </a:p>
          <a:p>
            <a:r>
              <a:rPr lang="he-IL" dirty="0"/>
              <a:t>2. לבצע מניפולציות ידניות.</a:t>
            </a:r>
          </a:p>
          <a:p>
            <a:r>
              <a:rPr lang="he-IL" dirty="0"/>
              <a:t>3. לנצל פרצות אבטחה שאינן ניתנות לגילוי אוטומטי.</a:t>
            </a:r>
          </a:p>
          <a:p>
            <a:endParaRPr lang="he-IL" dirty="0"/>
          </a:p>
          <a:p>
            <a:endParaRPr lang="he-IL" dirty="0"/>
          </a:p>
        </p:txBody>
      </p:sp>
    </p:spTree>
    <p:extLst>
      <p:ext uri="{BB962C8B-B14F-4D97-AF65-F5344CB8AC3E}">
        <p14:creationId xmlns:p14="http://schemas.microsoft.com/office/powerpoint/2010/main" val="419141942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2E26C67-0450-5449-155E-D4F0F26B6FEE}"/>
              </a:ext>
            </a:extLst>
          </p:cNvPr>
          <p:cNvSpPr>
            <a:spLocks noGrp="1"/>
          </p:cNvSpPr>
          <p:nvPr>
            <p:ph type="title"/>
          </p:nvPr>
        </p:nvSpPr>
        <p:spPr>
          <a:xfrm>
            <a:off x="4376056" y="642594"/>
            <a:ext cx="6749143" cy="1371600"/>
          </a:xfrm>
        </p:spPr>
        <p:txBody>
          <a:bodyPr/>
          <a:lstStyle/>
          <a:p>
            <a:r>
              <a:rPr lang="he-IL" dirty="0"/>
              <a:t>למה פריצה ידנית מסוכנת?</a:t>
            </a:r>
          </a:p>
        </p:txBody>
      </p:sp>
      <p:sp>
        <p:nvSpPr>
          <p:cNvPr id="3" name="מציין מיקום תוכן 2">
            <a:extLst>
              <a:ext uri="{FF2B5EF4-FFF2-40B4-BE49-F238E27FC236}">
                <a16:creationId xmlns:a16="http://schemas.microsoft.com/office/drawing/2014/main" id="{86D9FF6D-9C9A-C275-2BC2-D7B18D615CDA}"/>
              </a:ext>
            </a:extLst>
          </p:cNvPr>
          <p:cNvSpPr>
            <a:spLocks noGrp="1"/>
          </p:cNvSpPr>
          <p:nvPr>
            <p:ph idx="1"/>
          </p:nvPr>
        </p:nvSpPr>
        <p:spPr/>
        <p:txBody>
          <a:bodyPr/>
          <a:lstStyle/>
          <a:p>
            <a:r>
              <a:rPr lang="he-IL" dirty="0"/>
              <a:t>1. </a:t>
            </a:r>
            <a:r>
              <a:rPr lang="he-IL" b="1" dirty="0"/>
              <a:t>יצירתיות אנושית:</a:t>
            </a:r>
            <a:r>
              <a:rPr lang="he-IL" dirty="0"/>
              <a:t> תוקף ידני יכול לחשוב מחוץ לקופסה, לזהות חולשות שסריקות אוטומטיות מפספסות.</a:t>
            </a:r>
          </a:p>
          <a:p>
            <a:endParaRPr lang="he-IL" dirty="0"/>
          </a:p>
          <a:p>
            <a:r>
              <a:rPr lang="he-IL" dirty="0"/>
              <a:t>2. </a:t>
            </a:r>
            <a:r>
              <a:rPr lang="he-IL" b="1" dirty="0"/>
              <a:t>ממוקדת מאוד:</a:t>
            </a:r>
            <a:r>
              <a:rPr lang="he-IL" dirty="0"/>
              <a:t> לרוב מדובר במתקפה שמיועדת למטרה מסוימת, עם הבנה מעמיקה של המערכת.</a:t>
            </a:r>
          </a:p>
          <a:p>
            <a:endParaRPr lang="he-IL" dirty="0"/>
          </a:p>
          <a:p>
            <a:r>
              <a:rPr lang="he-IL" dirty="0"/>
              <a:t>3. </a:t>
            </a:r>
            <a:r>
              <a:rPr lang="he-IL" b="1" dirty="0"/>
              <a:t>עקיפת כלים אוטומטיים:</a:t>
            </a:r>
            <a:r>
              <a:rPr lang="he-IL" dirty="0"/>
              <a:t> תוקף יכול להתאים את עצמו להגנות ולמנגנוני אבטחה.</a:t>
            </a:r>
          </a:p>
          <a:p>
            <a:endParaRPr lang="he-IL" dirty="0"/>
          </a:p>
        </p:txBody>
      </p:sp>
    </p:spTree>
    <p:extLst>
      <p:ext uri="{BB962C8B-B14F-4D97-AF65-F5344CB8AC3E}">
        <p14:creationId xmlns:p14="http://schemas.microsoft.com/office/powerpoint/2010/main" val="318993230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E2B7F9D-D296-0920-AFAE-B9E6649FCF29}"/>
              </a:ext>
            </a:extLst>
          </p:cNvPr>
          <p:cNvSpPr>
            <a:spLocks noGrp="1"/>
          </p:cNvSpPr>
          <p:nvPr>
            <p:ph type="title"/>
          </p:nvPr>
        </p:nvSpPr>
        <p:spPr>
          <a:xfrm>
            <a:off x="5802086" y="348344"/>
            <a:ext cx="5323114" cy="1371600"/>
          </a:xfrm>
        </p:spPr>
        <p:txBody>
          <a:bodyPr/>
          <a:lstStyle/>
          <a:p>
            <a:r>
              <a:rPr lang="he-IL" dirty="0"/>
              <a:t>שלבי הפריצה הידנית</a:t>
            </a:r>
          </a:p>
        </p:txBody>
      </p:sp>
      <p:sp>
        <p:nvSpPr>
          <p:cNvPr id="3" name="מציין מיקום תוכן 2">
            <a:extLst>
              <a:ext uri="{FF2B5EF4-FFF2-40B4-BE49-F238E27FC236}">
                <a16:creationId xmlns:a16="http://schemas.microsoft.com/office/drawing/2014/main" id="{4E98855A-DCD3-E38C-D648-623C09F02599}"/>
              </a:ext>
            </a:extLst>
          </p:cNvPr>
          <p:cNvSpPr>
            <a:spLocks noGrp="1"/>
          </p:cNvSpPr>
          <p:nvPr>
            <p:ph idx="1"/>
          </p:nvPr>
        </p:nvSpPr>
        <p:spPr>
          <a:xfrm>
            <a:off x="1066800" y="1687285"/>
            <a:ext cx="10058400" cy="4822371"/>
          </a:xfrm>
        </p:spPr>
        <p:txBody>
          <a:bodyPr>
            <a:normAutofit/>
          </a:bodyPr>
          <a:lstStyle/>
          <a:p>
            <a:pPr>
              <a:buFont typeface="Arial" panose="020B0604020202020204" pitchFamily="34" charset="0"/>
              <a:buChar char="•"/>
            </a:pPr>
            <a:r>
              <a:rPr lang="he-IL" dirty="0"/>
              <a:t>1. </a:t>
            </a:r>
            <a:r>
              <a:rPr lang="he-IL" b="1" dirty="0"/>
              <a:t>איסוף מידע </a:t>
            </a:r>
            <a:r>
              <a:rPr lang="en-US" b="1" dirty="0"/>
              <a:t> (Reconnaissance)</a:t>
            </a:r>
            <a:r>
              <a:rPr lang="he-IL" dirty="0"/>
              <a:t>התוקף חוקר את היעד: כתובות </a:t>
            </a:r>
            <a:r>
              <a:rPr lang="en-US" dirty="0"/>
              <a:t>IP</a:t>
            </a:r>
            <a:r>
              <a:rPr lang="he-IL" dirty="0"/>
              <a:t> פורטים פתוחים, תכנות רשת.</a:t>
            </a:r>
          </a:p>
          <a:p>
            <a:pPr>
              <a:buFont typeface="Arial" panose="020B0604020202020204" pitchFamily="34" charset="0"/>
              <a:buChar char="•"/>
            </a:pPr>
            <a:r>
              <a:rPr lang="he-IL" dirty="0"/>
              <a:t>כלים אפשריים: </a:t>
            </a:r>
            <a:r>
              <a:rPr lang="en-US" dirty="0"/>
              <a:t>Wireshark, Nmap</a:t>
            </a:r>
            <a:endParaRPr lang="he-IL" dirty="0"/>
          </a:p>
          <a:p>
            <a:pPr>
              <a:buFont typeface="Arial" panose="020B0604020202020204" pitchFamily="34" charset="0"/>
              <a:buChar char="•"/>
            </a:pPr>
            <a:endParaRPr lang="he-IL" dirty="0"/>
          </a:p>
          <a:p>
            <a:pPr>
              <a:buFont typeface="Arial" panose="020B0604020202020204" pitchFamily="34" charset="0"/>
              <a:buChar char="•"/>
            </a:pPr>
            <a:r>
              <a:rPr lang="he-IL" dirty="0"/>
              <a:t>2. </a:t>
            </a:r>
            <a:r>
              <a:rPr lang="he-IL" b="1" dirty="0"/>
              <a:t>סקר </a:t>
            </a:r>
            <a:r>
              <a:rPr lang="he-IL" b="1" dirty="0" err="1"/>
              <a:t>פגיעויות</a:t>
            </a:r>
            <a:r>
              <a:rPr lang="he-IL" b="1" dirty="0"/>
              <a:t> (</a:t>
            </a:r>
            <a:r>
              <a:rPr lang="en-US" b="1" dirty="0"/>
              <a:t>Vulnerability Assessment</a:t>
            </a:r>
            <a:r>
              <a:rPr lang="he-IL" b="1" dirty="0"/>
              <a:t>) </a:t>
            </a:r>
            <a:r>
              <a:rPr lang="he-IL" dirty="0"/>
              <a:t>בדיקת חולשות ידועה במערכות או תוכנות.</a:t>
            </a:r>
          </a:p>
          <a:p>
            <a:pPr>
              <a:buFont typeface="Arial" panose="020B0604020202020204" pitchFamily="34" charset="0"/>
              <a:buChar char="•"/>
            </a:pPr>
            <a:r>
              <a:rPr lang="he-IL" dirty="0"/>
              <a:t>התוקף בודק אם ניתן לנצל פרצה (למשל: מערכת לא מעודכנת).</a:t>
            </a:r>
          </a:p>
          <a:p>
            <a:pPr>
              <a:buFont typeface="Arial" panose="020B0604020202020204" pitchFamily="34" charset="0"/>
              <a:buChar char="•"/>
            </a:pPr>
            <a:endParaRPr lang="he-IL" dirty="0"/>
          </a:p>
          <a:p>
            <a:pPr>
              <a:buFont typeface="Arial" panose="020B0604020202020204" pitchFamily="34" charset="0"/>
              <a:buChar char="•"/>
            </a:pPr>
            <a:r>
              <a:rPr lang="he-IL" dirty="0"/>
              <a:t>3. </a:t>
            </a:r>
            <a:r>
              <a:rPr lang="he-IL" b="1" dirty="0"/>
              <a:t>ניסיון חדירה </a:t>
            </a:r>
            <a:r>
              <a:rPr lang="en-US" b="1" dirty="0"/>
              <a:t>Exploitation)</a:t>
            </a:r>
            <a:r>
              <a:rPr lang="he-IL" b="1" dirty="0"/>
              <a:t>) </a:t>
            </a:r>
            <a:r>
              <a:rPr lang="he-IL" dirty="0"/>
              <a:t>שימוש במידע שנאסף ובניצול הפרצות.</a:t>
            </a:r>
          </a:p>
          <a:p>
            <a:pPr>
              <a:buFont typeface="Arial" panose="020B0604020202020204" pitchFamily="34" charset="0"/>
              <a:buChar char="•"/>
            </a:pPr>
            <a:r>
              <a:rPr lang="he-IL" dirty="0"/>
              <a:t>דוגמה: ניסיון להיכנס עם סיסמאות שנגנבו או יוצרו באמצעות ניחוש.</a:t>
            </a:r>
          </a:p>
          <a:p>
            <a:pPr>
              <a:buFont typeface="Arial" panose="020B0604020202020204" pitchFamily="34" charset="0"/>
              <a:buChar char="•"/>
            </a:pPr>
            <a:endParaRPr lang="he-IL" dirty="0"/>
          </a:p>
          <a:p>
            <a:pPr>
              <a:buFont typeface="Arial" panose="020B0604020202020204" pitchFamily="34" charset="0"/>
              <a:buChar char="•"/>
            </a:pPr>
            <a:r>
              <a:rPr lang="he-IL" dirty="0"/>
              <a:t>4. </a:t>
            </a:r>
            <a:r>
              <a:rPr lang="he-IL" b="1" dirty="0"/>
              <a:t>שמירה על גישה (</a:t>
            </a:r>
            <a:r>
              <a:rPr lang="en-US" b="1" dirty="0"/>
              <a:t> (Persistence</a:t>
            </a:r>
            <a:r>
              <a:rPr lang="he-IL" dirty="0"/>
              <a:t>התקנת דלת אחורית (</a:t>
            </a:r>
            <a:r>
              <a:rPr lang="en-US" dirty="0"/>
              <a:t>Backdoor</a:t>
            </a:r>
            <a:r>
              <a:rPr lang="he-IL" dirty="0"/>
              <a:t>) לשימוש עתידי.</a:t>
            </a:r>
          </a:p>
          <a:p>
            <a:pPr>
              <a:buFont typeface="Arial" panose="020B0604020202020204" pitchFamily="34" charset="0"/>
              <a:buChar char="•"/>
            </a:pPr>
            <a:endParaRPr lang="he-IL" dirty="0"/>
          </a:p>
          <a:p>
            <a:pPr>
              <a:buFont typeface="Arial" panose="020B0604020202020204" pitchFamily="34" charset="0"/>
              <a:buChar char="•"/>
            </a:pPr>
            <a:r>
              <a:rPr lang="he-IL" dirty="0"/>
              <a:t>5. </a:t>
            </a:r>
            <a:r>
              <a:rPr lang="he-IL" b="1" dirty="0"/>
              <a:t>מחק עקבות </a:t>
            </a:r>
            <a:r>
              <a:rPr lang="en-US" b="1" dirty="0"/>
              <a:t> (Covering Tracks)</a:t>
            </a:r>
            <a:r>
              <a:rPr lang="he-IL" dirty="0"/>
              <a:t>התוקף מסיר לוגים ומידע שעשוי להסגיר את פעילותו.</a:t>
            </a:r>
          </a:p>
          <a:p>
            <a:pPr>
              <a:buFont typeface="Arial" panose="020B0604020202020204" pitchFamily="34" charset="0"/>
              <a:buChar char="•"/>
            </a:pPr>
            <a:endParaRPr lang="he-IL" dirty="0"/>
          </a:p>
          <a:p>
            <a:pPr>
              <a:buFont typeface="Arial" panose="020B0604020202020204" pitchFamily="34" charset="0"/>
              <a:buChar char="•"/>
            </a:pPr>
            <a:endParaRPr lang="he-IL" dirty="0"/>
          </a:p>
          <a:p>
            <a:pPr>
              <a:buFont typeface="Arial" panose="020B0604020202020204" pitchFamily="34" charset="0"/>
              <a:buChar char="•"/>
            </a:pPr>
            <a:endParaRPr lang="he-IL" dirty="0"/>
          </a:p>
          <a:p>
            <a:pPr>
              <a:buFont typeface="Arial" panose="020B0604020202020204" pitchFamily="34" charset="0"/>
              <a:buChar char="•"/>
            </a:pPr>
            <a:endParaRPr lang="en-US" dirty="0"/>
          </a:p>
          <a:p>
            <a:endParaRPr lang="he-IL" dirty="0"/>
          </a:p>
        </p:txBody>
      </p:sp>
    </p:spTree>
    <p:extLst>
      <p:ext uri="{BB962C8B-B14F-4D97-AF65-F5344CB8AC3E}">
        <p14:creationId xmlns:p14="http://schemas.microsoft.com/office/powerpoint/2010/main" val="81761787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1D1111C5-962D-C24B-0256-F456915AC246}"/>
              </a:ext>
            </a:extLst>
          </p:cNvPr>
          <p:cNvSpPr>
            <a:spLocks noGrp="1"/>
          </p:cNvSpPr>
          <p:nvPr>
            <p:ph type="title"/>
          </p:nvPr>
        </p:nvSpPr>
        <p:spPr>
          <a:xfrm>
            <a:off x="4125685" y="217714"/>
            <a:ext cx="7413171" cy="1371600"/>
          </a:xfrm>
        </p:spPr>
        <p:txBody>
          <a:bodyPr/>
          <a:lstStyle/>
          <a:p>
            <a:r>
              <a:rPr lang="he-IL" dirty="0"/>
              <a:t>דרכים להגן מפני פריצה ידנית</a:t>
            </a:r>
          </a:p>
        </p:txBody>
      </p:sp>
      <p:sp>
        <p:nvSpPr>
          <p:cNvPr id="3" name="מציין מיקום תוכן 2">
            <a:extLst>
              <a:ext uri="{FF2B5EF4-FFF2-40B4-BE49-F238E27FC236}">
                <a16:creationId xmlns:a16="http://schemas.microsoft.com/office/drawing/2014/main" id="{6F2330C2-0F14-9D29-420A-1FBCC504C827}"/>
              </a:ext>
            </a:extLst>
          </p:cNvPr>
          <p:cNvSpPr>
            <a:spLocks noGrp="1"/>
          </p:cNvSpPr>
          <p:nvPr>
            <p:ph idx="1"/>
          </p:nvPr>
        </p:nvSpPr>
        <p:spPr>
          <a:xfrm>
            <a:off x="1066800" y="1567543"/>
            <a:ext cx="10058400" cy="5399314"/>
          </a:xfrm>
        </p:spPr>
        <p:txBody>
          <a:bodyPr>
            <a:normAutofit/>
          </a:bodyPr>
          <a:lstStyle/>
          <a:p>
            <a:r>
              <a:rPr lang="he-IL" dirty="0"/>
              <a:t>1. </a:t>
            </a:r>
            <a:r>
              <a:rPr lang="he-IL" b="1" dirty="0"/>
              <a:t>הקשחת מערכות </a:t>
            </a:r>
            <a:r>
              <a:rPr lang="he-IL" dirty="0"/>
              <a:t>עדכון מערכות באופן קבוע</a:t>
            </a:r>
            <a:r>
              <a:rPr lang="en-US" dirty="0"/>
              <a:t>(Patch Management).</a:t>
            </a:r>
          </a:p>
          <a:p>
            <a:pPr>
              <a:buFont typeface="Arial" panose="020B0604020202020204" pitchFamily="34" charset="0"/>
              <a:buChar char="•"/>
            </a:pPr>
            <a:r>
              <a:rPr lang="he-IL" dirty="0"/>
              <a:t>סגירת פורטים שאינם בשימוש.</a:t>
            </a:r>
          </a:p>
          <a:p>
            <a:pPr>
              <a:buFont typeface="Arial" panose="020B0604020202020204" pitchFamily="34" charset="0"/>
              <a:buChar char="•"/>
            </a:pPr>
            <a:r>
              <a:rPr lang="he-IL" dirty="0"/>
              <a:t>הגבלת גישה על פי הצורך </a:t>
            </a:r>
            <a:r>
              <a:rPr lang="en-US" dirty="0"/>
              <a:t>Principle of Least Privilege)</a:t>
            </a:r>
            <a:r>
              <a:rPr lang="he-IL" dirty="0"/>
              <a:t>)</a:t>
            </a:r>
          </a:p>
          <a:p>
            <a:r>
              <a:rPr lang="he-IL" dirty="0"/>
              <a:t>2. </a:t>
            </a:r>
            <a:r>
              <a:rPr lang="he-IL" b="1" dirty="0"/>
              <a:t>מעקב וזיהוי חריגות </a:t>
            </a:r>
            <a:r>
              <a:rPr lang="he-IL" dirty="0"/>
              <a:t>שימוש במערכות </a:t>
            </a:r>
            <a:r>
              <a:rPr lang="en-US" dirty="0"/>
              <a:t> SIEM (Security Information and Event Management) </a:t>
            </a:r>
            <a:r>
              <a:rPr lang="he-IL" dirty="0"/>
              <a:t>לזיהוי התנהגויות לא רגילות.</a:t>
            </a:r>
          </a:p>
          <a:p>
            <a:pPr>
              <a:buFont typeface="Arial" panose="020B0604020202020204" pitchFamily="34" charset="0"/>
              <a:buChar char="•"/>
            </a:pPr>
            <a:r>
              <a:rPr lang="he-IL" dirty="0"/>
              <a:t>התקנת </a:t>
            </a:r>
            <a:r>
              <a:rPr lang="en-US" dirty="0"/>
              <a:t>IDS/IPS (Intrusion Detection/Prevention Systems)</a:t>
            </a:r>
            <a:endParaRPr lang="he-IL" dirty="0"/>
          </a:p>
          <a:p>
            <a:r>
              <a:rPr lang="he-IL" dirty="0"/>
              <a:t>3. </a:t>
            </a:r>
            <a:r>
              <a:rPr lang="he-IL" b="1" dirty="0"/>
              <a:t>אימות חזק </a:t>
            </a:r>
            <a:r>
              <a:rPr lang="he-IL" dirty="0"/>
              <a:t>שימוש בסיסמאות חזקות ומנגנון אימות דו-שלבי </a:t>
            </a:r>
          </a:p>
          <a:p>
            <a:pPr>
              <a:buFont typeface="Arial" panose="020B0604020202020204" pitchFamily="34" charset="0"/>
              <a:buChar char="•"/>
            </a:pPr>
            <a:r>
              <a:rPr lang="he-IL" dirty="0"/>
              <a:t>ניהול סיסמאות מרכזי </a:t>
            </a:r>
            <a:r>
              <a:rPr lang="en-US" dirty="0"/>
              <a:t>Password Manager).</a:t>
            </a:r>
            <a:r>
              <a:rPr lang="he-IL" dirty="0"/>
              <a:t>)</a:t>
            </a:r>
          </a:p>
          <a:p>
            <a:r>
              <a:rPr lang="he-IL" dirty="0"/>
              <a:t>4. </a:t>
            </a:r>
            <a:r>
              <a:rPr lang="he-IL" b="1" dirty="0"/>
              <a:t>הדרכת עובדים </a:t>
            </a:r>
            <a:r>
              <a:rPr lang="he-IL" dirty="0"/>
              <a:t>העלאת מודעות לאיומי סייבר.</a:t>
            </a:r>
          </a:p>
          <a:p>
            <a:pPr>
              <a:buFont typeface="Arial" panose="020B0604020202020204" pitchFamily="34" charset="0"/>
              <a:buChar char="•"/>
            </a:pPr>
            <a:r>
              <a:rPr lang="he-IL" dirty="0"/>
              <a:t>ביצוע בדיקות אבטחה פנימיות (</a:t>
            </a:r>
            <a:r>
              <a:rPr lang="en-US" dirty="0"/>
              <a:t>Penetration Testing).</a:t>
            </a:r>
            <a:endParaRPr lang="he-IL" dirty="0"/>
          </a:p>
          <a:p>
            <a:r>
              <a:rPr lang="he-IL" dirty="0"/>
              <a:t>5. </a:t>
            </a:r>
            <a:r>
              <a:rPr lang="he-IL" b="1" dirty="0"/>
              <a:t>הדרכת עובדים </a:t>
            </a:r>
            <a:r>
              <a:rPr lang="he-IL" dirty="0"/>
              <a:t>העלאת מודעות לאיומי סייבר.</a:t>
            </a:r>
          </a:p>
          <a:p>
            <a:pPr>
              <a:buFont typeface="Arial" panose="020B0604020202020204" pitchFamily="34" charset="0"/>
              <a:buChar char="•"/>
            </a:pPr>
            <a:r>
              <a:rPr lang="he-IL" dirty="0"/>
              <a:t>ביצוע בדיקות אבטחה פנימיות (</a:t>
            </a:r>
            <a:r>
              <a:rPr lang="en-US" dirty="0"/>
              <a:t>Penetration Testing</a:t>
            </a:r>
            <a:r>
              <a:rPr lang="he-IL" dirty="0"/>
              <a:t>)</a:t>
            </a:r>
          </a:p>
          <a:p>
            <a:r>
              <a:rPr lang="he-IL" dirty="0"/>
              <a:t>6. </a:t>
            </a:r>
            <a:r>
              <a:rPr lang="he-IL" b="1" dirty="0"/>
              <a:t>מעקב אחרי לוגים </a:t>
            </a:r>
            <a:r>
              <a:rPr lang="he-IL" dirty="0"/>
              <a:t>ניתוח לוגים בזמן אמת לזיהוי ניסיונות חשודים.</a:t>
            </a:r>
          </a:p>
          <a:p>
            <a:pPr>
              <a:buFont typeface="Arial" panose="020B0604020202020204" pitchFamily="34" charset="0"/>
              <a:buChar char="•"/>
            </a:pPr>
            <a:endParaRPr lang="en-US" dirty="0"/>
          </a:p>
          <a:p>
            <a:pPr>
              <a:buFont typeface="Arial" panose="020B0604020202020204" pitchFamily="34" charset="0"/>
              <a:buChar char="•"/>
            </a:pPr>
            <a:endParaRPr lang="en-US" dirty="0"/>
          </a:p>
          <a:p>
            <a:pPr>
              <a:buFont typeface="Arial" panose="020B0604020202020204" pitchFamily="34" charset="0"/>
              <a:buChar char="•"/>
            </a:pPr>
            <a:endParaRPr lang="en-US" dirty="0"/>
          </a:p>
          <a:p>
            <a:pPr>
              <a:buFont typeface="Arial" panose="020B0604020202020204" pitchFamily="34" charset="0"/>
              <a:buChar char="•"/>
            </a:pPr>
            <a:endParaRPr lang="en-US" dirty="0"/>
          </a:p>
          <a:p>
            <a:pPr>
              <a:buFont typeface="Arial" panose="020B0604020202020204" pitchFamily="34" charset="0"/>
              <a:buChar char="•"/>
            </a:pPr>
            <a:endParaRPr lang="en-US" dirty="0"/>
          </a:p>
          <a:p>
            <a:endParaRPr lang="he-IL" dirty="0"/>
          </a:p>
        </p:txBody>
      </p:sp>
    </p:spTree>
    <p:extLst>
      <p:ext uri="{BB962C8B-B14F-4D97-AF65-F5344CB8AC3E}">
        <p14:creationId xmlns:p14="http://schemas.microsoft.com/office/powerpoint/2010/main" val="359430344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364251A-2893-C2B4-56BB-BB14F7E0B810}"/>
              </a:ext>
            </a:extLst>
          </p:cNvPr>
          <p:cNvSpPr>
            <a:spLocks noGrp="1"/>
          </p:cNvSpPr>
          <p:nvPr>
            <p:ph type="title"/>
          </p:nvPr>
        </p:nvSpPr>
        <p:spPr/>
        <p:txBody>
          <a:bodyPr>
            <a:normAutofit fontScale="90000"/>
          </a:bodyPr>
          <a:lstStyle/>
          <a:p>
            <a:r>
              <a:rPr lang="he-IL" dirty="0"/>
              <a:t>דוגמה מעשית: ניסיון פריצה ידנית לתיבת דואר</a:t>
            </a:r>
          </a:p>
        </p:txBody>
      </p:sp>
      <p:sp>
        <p:nvSpPr>
          <p:cNvPr id="3" name="מציין מיקום תוכן 2">
            <a:extLst>
              <a:ext uri="{FF2B5EF4-FFF2-40B4-BE49-F238E27FC236}">
                <a16:creationId xmlns:a16="http://schemas.microsoft.com/office/drawing/2014/main" id="{DBB9665D-CCEE-9D7A-3247-A105A8C55653}"/>
              </a:ext>
            </a:extLst>
          </p:cNvPr>
          <p:cNvSpPr>
            <a:spLocks noGrp="1"/>
          </p:cNvSpPr>
          <p:nvPr>
            <p:ph idx="1"/>
          </p:nvPr>
        </p:nvSpPr>
        <p:spPr/>
        <p:txBody>
          <a:bodyPr/>
          <a:lstStyle/>
          <a:p>
            <a:r>
              <a:rPr lang="he-IL" dirty="0"/>
              <a:t>תוקף מנסה לפרוץ לתיבת דואר:</a:t>
            </a:r>
          </a:p>
          <a:p>
            <a:r>
              <a:rPr lang="he-IL" dirty="0"/>
              <a:t>1. </a:t>
            </a:r>
            <a:r>
              <a:rPr lang="he-IL" b="1" dirty="0"/>
              <a:t>איסוף מידע:</a:t>
            </a:r>
            <a:r>
              <a:rPr lang="he-IL" dirty="0"/>
              <a:t> התוקף מגלה שהאימייל של היעד דלף ברשת.</a:t>
            </a:r>
          </a:p>
          <a:p>
            <a:r>
              <a:rPr lang="he-IL" dirty="0"/>
              <a:t>2. </a:t>
            </a:r>
            <a:r>
              <a:rPr lang="he-IL" b="1" dirty="0"/>
              <a:t>בדיקת סיסמאות:</a:t>
            </a:r>
            <a:r>
              <a:rPr lang="he-IL" dirty="0"/>
              <a:t> שימוש ברשימת סיסמאות דולפת.</a:t>
            </a:r>
          </a:p>
          <a:p>
            <a:r>
              <a:rPr lang="he-IL" dirty="0"/>
              <a:t>3. </a:t>
            </a:r>
            <a:r>
              <a:rPr lang="he-IL" b="1" dirty="0"/>
              <a:t>גישה:</a:t>
            </a:r>
            <a:r>
              <a:rPr lang="he-IL" dirty="0"/>
              <a:t> אם הסיסמה עובדת, התוקף נכנס.</a:t>
            </a:r>
          </a:p>
          <a:p>
            <a:r>
              <a:rPr lang="he-IL" dirty="0"/>
              <a:t>4. </a:t>
            </a:r>
            <a:r>
              <a:rPr lang="he-IL" b="1" dirty="0"/>
              <a:t>שמירה על גישה:</a:t>
            </a:r>
            <a:r>
              <a:rPr lang="he-IL" dirty="0"/>
              <a:t> התוקף משנה את הסיסמה או מוסיף אימייל משני.</a:t>
            </a:r>
          </a:p>
          <a:p>
            <a:r>
              <a:rPr lang="he-IL" dirty="0"/>
              <a:t>הגנה:</a:t>
            </a:r>
          </a:p>
          <a:p>
            <a:r>
              <a:rPr lang="he-IL" dirty="0"/>
              <a:t>1. שימוש בסיסמא חזקה וייחודית.</a:t>
            </a:r>
          </a:p>
          <a:p>
            <a:r>
              <a:rPr lang="he-IL" dirty="0"/>
              <a:t>2. הפעלת אימות דו-שלבי.</a:t>
            </a:r>
          </a:p>
          <a:p>
            <a:r>
              <a:rPr lang="he-IL" dirty="0"/>
              <a:t>3. ניטור התראות על כניסות לא מורשות.</a:t>
            </a:r>
          </a:p>
          <a:p>
            <a:endParaRPr lang="he-IL" dirty="0"/>
          </a:p>
          <a:p>
            <a:endParaRPr lang="he-IL" dirty="0"/>
          </a:p>
        </p:txBody>
      </p:sp>
    </p:spTree>
    <p:extLst>
      <p:ext uri="{BB962C8B-B14F-4D97-AF65-F5344CB8AC3E}">
        <p14:creationId xmlns:p14="http://schemas.microsoft.com/office/powerpoint/2010/main" val="57560347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2702223-8DA1-0549-6C97-063402BE23DD}"/>
              </a:ext>
            </a:extLst>
          </p:cNvPr>
          <p:cNvSpPr>
            <a:spLocks noGrp="1"/>
          </p:cNvSpPr>
          <p:nvPr>
            <p:ph type="title"/>
          </p:nvPr>
        </p:nvSpPr>
        <p:spPr>
          <a:xfrm>
            <a:off x="9165770" y="642594"/>
            <a:ext cx="1959429" cy="1371600"/>
          </a:xfrm>
        </p:spPr>
        <p:txBody>
          <a:bodyPr/>
          <a:lstStyle/>
          <a:p>
            <a:r>
              <a:rPr lang="he-IL" dirty="0"/>
              <a:t>שאלות</a:t>
            </a:r>
          </a:p>
        </p:txBody>
      </p:sp>
      <p:sp>
        <p:nvSpPr>
          <p:cNvPr id="3" name="מציין מיקום תוכן 2">
            <a:extLst>
              <a:ext uri="{FF2B5EF4-FFF2-40B4-BE49-F238E27FC236}">
                <a16:creationId xmlns:a16="http://schemas.microsoft.com/office/drawing/2014/main" id="{68965099-05C9-D8F7-A026-216B48BA29A8}"/>
              </a:ext>
            </a:extLst>
          </p:cNvPr>
          <p:cNvSpPr>
            <a:spLocks noGrp="1"/>
          </p:cNvSpPr>
          <p:nvPr>
            <p:ph idx="1"/>
          </p:nvPr>
        </p:nvSpPr>
        <p:spPr/>
        <p:txBody>
          <a:bodyPr/>
          <a:lstStyle/>
          <a:p>
            <a:r>
              <a:rPr lang="he-IL" dirty="0"/>
              <a:t>1. מהו הכלי </a:t>
            </a:r>
            <a:r>
              <a:rPr lang="en-US" dirty="0"/>
              <a:t> Nmap </a:t>
            </a:r>
            <a:r>
              <a:rPr lang="he-IL" dirty="0"/>
              <a:t>ומה מטרתו בפריצה ידנית?</a:t>
            </a:r>
          </a:p>
          <a:p>
            <a:r>
              <a:rPr lang="he-IL" dirty="0"/>
              <a:t>2. מהו </a:t>
            </a:r>
            <a:r>
              <a:rPr lang="en-US" dirty="0"/>
              <a:t> IDS </a:t>
            </a:r>
            <a:r>
              <a:rPr lang="he-IL" dirty="0"/>
              <a:t>ומה תפקידו בהגנה מפני פריצה ידנית?</a:t>
            </a:r>
          </a:p>
          <a:p>
            <a:r>
              <a:rPr lang="he-IL" dirty="0"/>
              <a:t>3. מה היתרון של אימות דו-שלבי? </a:t>
            </a:r>
          </a:p>
          <a:p>
            <a:endParaRPr lang="he-IL" dirty="0"/>
          </a:p>
        </p:txBody>
      </p:sp>
    </p:spTree>
    <p:extLst>
      <p:ext uri="{BB962C8B-B14F-4D97-AF65-F5344CB8AC3E}">
        <p14:creationId xmlns:p14="http://schemas.microsoft.com/office/powerpoint/2010/main" val="334869590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p:cNvSpPr>
            <a:spLocks noGrp="1"/>
          </p:cNvSpPr>
          <p:nvPr>
            <p:ph idx="1"/>
          </p:nvPr>
        </p:nvSpPr>
        <p:spPr/>
        <p:txBody>
          <a:bodyPr>
            <a:normAutofit/>
          </a:bodyPr>
          <a:lstStyle/>
          <a:p>
            <a:pPr algn="ctr"/>
            <a:r>
              <a:rPr lang="en-US" sz="8800" dirty="0"/>
              <a:t>IIS Hardening</a:t>
            </a:r>
            <a:endParaRPr lang="he-IL" sz="8800" dirty="0"/>
          </a:p>
        </p:txBody>
      </p:sp>
    </p:spTree>
    <p:extLst>
      <p:ext uri="{BB962C8B-B14F-4D97-AF65-F5344CB8AC3E}">
        <p14:creationId xmlns:p14="http://schemas.microsoft.com/office/powerpoint/2010/main" val="400705038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5020408" y="642594"/>
            <a:ext cx="6104792" cy="1371600"/>
          </a:xfrm>
        </p:spPr>
        <p:txBody>
          <a:bodyPr/>
          <a:lstStyle/>
          <a:p>
            <a:r>
              <a:rPr lang="he-IL" dirty="0"/>
              <a:t>מבוא ל-</a:t>
            </a:r>
            <a:r>
              <a:rPr lang="en-US" dirty="0"/>
              <a:t>IIS Hardening</a:t>
            </a:r>
            <a:endParaRPr lang="he-IL" dirty="0"/>
          </a:p>
        </p:txBody>
      </p:sp>
      <p:sp>
        <p:nvSpPr>
          <p:cNvPr id="3" name="מציין מיקום תוכן 2"/>
          <p:cNvSpPr>
            <a:spLocks noGrp="1"/>
          </p:cNvSpPr>
          <p:nvPr>
            <p:ph idx="1"/>
          </p:nvPr>
        </p:nvSpPr>
        <p:spPr/>
        <p:txBody>
          <a:bodyPr/>
          <a:lstStyle/>
          <a:p>
            <a:r>
              <a:rPr lang="en-US" dirty="0"/>
              <a:t> IIS (Internet Information Services)</a:t>
            </a:r>
            <a:r>
              <a:rPr lang="he-IL" dirty="0"/>
              <a:t>הוא שרת אינטרנט של מיקרוסופט, שנמצא בשימוש בעיקר על מערכות הפעלה </a:t>
            </a:r>
            <a:r>
              <a:rPr lang="en-US" dirty="0"/>
              <a:t>Windows</a:t>
            </a:r>
            <a:r>
              <a:rPr lang="he-IL" dirty="0"/>
              <a:t>, תהליך ה-</a:t>
            </a:r>
            <a:r>
              <a:rPr lang="en-US" dirty="0"/>
              <a:t> Hardening </a:t>
            </a:r>
            <a:r>
              <a:rPr lang="he-IL" dirty="0"/>
              <a:t>מתייחס להגדרת שרת ה-</a:t>
            </a:r>
            <a:r>
              <a:rPr lang="en-US" dirty="0"/>
              <a:t>IIS </a:t>
            </a:r>
            <a:r>
              <a:rPr lang="he-IL" dirty="0"/>
              <a:t> בצורה שתצמצם סיכוני אבטחה, על ידי הפחתת משטח התקיפה וזיהוי נקודות תורפה פוטנציאליות.</a:t>
            </a:r>
          </a:p>
          <a:p>
            <a:r>
              <a:rPr lang="he-IL" dirty="0"/>
              <a:t>למה</a:t>
            </a:r>
            <a:r>
              <a:rPr lang="en-US" dirty="0"/>
              <a:t> Hardening </a:t>
            </a:r>
            <a:r>
              <a:rPr lang="he-IL" dirty="0"/>
              <a:t>חשוב?</a:t>
            </a:r>
          </a:p>
          <a:p>
            <a:endParaRPr lang="he-IL" dirty="0"/>
          </a:p>
          <a:p>
            <a:r>
              <a:rPr lang="he-IL" dirty="0"/>
              <a:t>1. </a:t>
            </a:r>
            <a:r>
              <a:rPr lang="he-IL" b="1" dirty="0"/>
              <a:t>הפחתת סיכונים</a:t>
            </a:r>
            <a:r>
              <a:rPr lang="he-IL" dirty="0"/>
              <a:t>: מונע גישה לא מורשית.</a:t>
            </a:r>
          </a:p>
          <a:p>
            <a:endParaRPr lang="he-IL" dirty="0"/>
          </a:p>
          <a:p>
            <a:r>
              <a:rPr lang="he-IL" dirty="0"/>
              <a:t>2. </a:t>
            </a:r>
            <a:r>
              <a:rPr lang="he-IL" b="1" dirty="0"/>
              <a:t>שמירה על מידע רגיש</a:t>
            </a:r>
            <a:r>
              <a:rPr lang="he-IL" dirty="0"/>
              <a:t>: מבטיח שהנתונים המועברים והמאוחסנים מוגנים.</a:t>
            </a:r>
          </a:p>
          <a:p>
            <a:endParaRPr lang="he-IL" dirty="0"/>
          </a:p>
          <a:p>
            <a:r>
              <a:rPr lang="he-IL" dirty="0"/>
              <a:t>3. </a:t>
            </a:r>
            <a:r>
              <a:rPr lang="he-IL" b="1" dirty="0"/>
              <a:t>עמידה בתקנים</a:t>
            </a:r>
            <a:r>
              <a:rPr lang="he-IL" dirty="0"/>
              <a:t>: נדרש בתעשיות מסוימות כמו</a:t>
            </a:r>
            <a:r>
              <a:rPr lang="en-US" dirty="0"/>
              <a:t> PCI DSS </a:t>
            </a:r>
            <a:r>
              <a:rPr lang="he-IL" dirty="0"/>
              <a:t>ו-</a:t>
            </a:r>
            <a:r>
              <a:rPr lang="en-US" dirty="0"/>
              <a:t>HIPAA </a:t>
            </a:r>
            <a:endParaRPr lang="he-IL" dirty="0"/>
          </a:p>
          <a:p>
            <a:endParaRPr lang="he-IL" dirty="0"/>
          </a:p>
        </p:txBody>
      </p:sp>
    </p:spTree>
    <p:extLst>
      <p:ext uri="{BB962C8B-B14F-4D97-AF65-F5344CB8AC3E}">
        <p14:creationId xmlns:p14="http://schemas.microsoft.com/office/powerpoint/2010/main" val="365739963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3279532" y="484333"/>
            <a:ext cx="7845668" cy="1371600"/>
          </a:xfrm>
        </p:spPr>
        <p:txBody>
          <a:bodyPr>
            <a:normAutofit fontScale="90000"/>
          </a:bodyPr>
          <a:lstStyle/>
          <a:p>
            <a:r>
              <a:rPr lang="he-IL" dirty="0"/>
              <a:t>שלבים עיקריים ב- </a:t>
            </a:r>
            <a:r>
              <a:rPr lang="en-US" dirty="0"/>
              <a:t>IIS Hardening</a:t>
            </a:r>
            <a:endParaRPr lang="he-IL" dirty="0"/>
          </a:p>
        </p:txBody>
      </p:sp>
      <p:sp>
        <p:nvSpPr>
          <p:cNvPr id="3" name="מציין מיקום תוכן 2"/>
          <p:cNvSpPr>
            <a:spLocks noGrp="1"/>
          </p:cNvSpPr>
          <p:nvPr>
            <p:ph idx="1"/>
          </p:nvPr>
        </p:nvSpPr>
        <p:spPr>
          <a:xfrm>
            <a:off x="1066800" y="1855933"/>
            <a:ext cx="10058400" cy="4332849"/>
          </a:xfrm>
        </p:spPr>
        <p:txBody>
          <a:bodyPr>
            <a:normAutofit lnSpcReduction="10000"/>
          </a:bodyPr>
          <a:lstStyle/>
          <a:p>
            <a:r>
              <a:rPr lang="he-IL" dirty="0"/>
              <a:t>1. </a:t>
            </a:r>
            <a:r>
              <a:rPr lang="he-IL" b="1" dirty="0"/>
              <a:t>עדכונים וגרסאות: עדכון </a:t>
            </a:r>
            <a:r>
              <a:rPr lang="en-US" b="1" dirty="0"/>
              <a:t> IIS</a:t>
            </a:r>
            <a:r>
              <a:rPr lang="he-IL" b="1" dirty="0"/>
              <a:t>ו-</a:t>
            </a:r>
            <a:r>
              <a:rPr lang="en-US" b="1" dirty="0"/>
              <a:t> :Windows</a:t>
            </a:r>
            <a:r>
              <a:rPr lang="en-US" dirty="0"/>
              <a:t> </a:t>
            </a:r>
            <a:r>
              <a:rPr lang="he-IL" dirty="0"/>
              <a:t>ודא ששרת ה-</a:t>
            </a:r>
            <a:r>
              <a:rPr lang="en-US" dirty="0"/>
              <a:t>IIS </a:t>
            </a:r>
            <a:r>
              <a:rPr lang="he-IL" dirty="0"/>
              <a:t> וכל מערכת ההפעלה מעודכנים לגרסה האחרונה עם כל תיקוני האבטחה.</a:t>
            </a:r>
          </a:p>
          <a:p>
            <a:r>
              <a:rPr lang="he-IL" dirty="0"/>
              <a:t>בדוק אם קיימים</a:t>
            </a:r>
            <a:r>
              <a:rPr lang="en-US" dirty="0"/>
              <a:t> </a:t>
            </a:r>
            <a:r>
              <a:rPr lang="en-US" b="1" dirty="0"/>
              <a:t>Service Packs</a:t>
            </a:r>
            <a:r>
              <a:rPr lang="en-US" dirty="0"/>
              <a:t> </a:t>
            </a:r>
            <a:r>
              <a:rPr lang="he-IL" dirty="0"/>
              <a:t>ותיקוני תוכנה קריטיים.</a:t>
            </a:r>
          </a:p>
          <a:p>
            <a:r>
              <a:rPr lang="he-IL" dirty="0"/>
              <a:t>2. </a:t>
            </a:r>
            <a:r>
              <a:rPr lang="he-IL" b="1" dirty="0"/>
              <a:t>התקנת רכיבים חיוניים בלבד: </a:t>
            </a:r>
            <a:r>
              <a:rPr lang="he-IL" dirty="0"/>
              <a:t>הסר כל רכיב שאינו נדרש לשרת שלך, כגון דוגמאות ברירת מחדל, מודולים מיותרים או תכונות שאינך משתמש בהן (</a:t>
            </a:r>
            <a:r>
              <a:rPr lang="en-US" dirty="0"/>
              <a:t> WebDAV, CGI </a:t>
            </a:r>
            <a:r>
              <a:rPr lang="he-IL" dirty="0"/>
              <a:t>ועוד).</a:t>
            </a:r>
          </a:p>
          <a:p>
            <a:r>
              <a:rPr lang="he-IL" dirty="0"/>
              <a:t>ניתן לבצע זאת דרך </a:t>
            </a:r>
            <a:r>
              <a:rPr lang="en-US" dirty="0"/>
              <a:t> </a:t>
            </a:r>
            <a:r>
              <a:rPr lang="en-US" b="1" dirty="0"/>
              <a:t>Server Manager</a:t>
            </a:r>
            <a:r>
              <a:rPr lang="he-IL" dirty="0"/>
              <a:t>ב-</a:t>
            </a:r>
            <a:r>
              <a:rPr lang="en-US" dirty="0"/>
              <a:t>Windows.</a:t>
            </a:r>
          </a:p>
          <a:p>
            <a:r>
              <a:rPr lang="he-IL" dirty="0"/>
              <a:t>3. </a:t>
            </a:r>
            <a:r>
              <a:rPr lang="he-IL" b="1" dirty="0"/>
              <a:t>שימוש בתעבורה מאובטחת </a:t>
            </a:r>
            <a:r>
              <a:rPr lang="en-US" b="1" dirty="0"/>
              <a:t>HTTPS</a:t>
            </a:r>
            <a:r>
              <a:rPr lang="he-IL" b="1" dirty="0"/>
              <a:t>: </a:t>
            </a:r>
            <a:r>
              <a:rPr lang="he-IL" dirty="0"/>
              <a:t>הגדר והתקן </a:t>
            </a:r>
            <a:r>
              <a:rPr lang="he-IL" b="1" dirty="0"/>
              <a:t>תעודות </a:t>
            </a:r>
            <a:r>
              <a:rPr lang="en-US" b="1" dirty="0"/>
              <a:t> SSL/TLS</a:t>
            </a:r>
            <a:r>
              <a:rPr lang="he-IL" dirty="0"/>
              <a:t>כדי להבטיח שכל התקשורת מוצפנת.</a:t>
            </a:r>
          </a:p>
          <a:p>
            <a:r>
              <a:rPr lang="he-IL" dirty="0"/>
              <a:t>נהל גרסאות </a:t>
            </a:r>
            <a:r>
              <a:rPr lang="en-US" dirty="0"/>
              <a:t>TLS: </a:t>
            </a:r>
            <a:r>
              <a:rPr lang="he-IL" dirty="0"/>
              <a:t>השתמש רק ב-</a:t>
            </a:r>
            <a:r>
              <a:rPr lang="en-US" dirty="0"/>
              <a:t> TLS 1.2 </a:t>
            </a:r>
            <a:r>
              <a:rPr lang="he-IL" dirty="0"/>
              <a:t>או </a:t>
            </a:r>
            <a:r>
              <a:rPr lang="en-US" dirty="0"/>
              <a:t> TLS 1.3</a:t>
            </a:r>
            <a:endParaRPr lang="he-IL" dirty="0"/>
          </a:p>
          <a:p>
            <a:r>
              <a:rPr lang="he-IL" dirty="0"/>
              <a:t>4. </a:t>
            </a:r>
            <a:r>
              <a:rPr lang="he-IL" b="1" dirty="0"/>
              <a:t>הקשחת הגדרות קבצים וספריות: </a:t>
            </a:r>
            <a:r>
              <a:rPr lang="he-IL" dirty="0"/>
              <a:t>הגדר הרשאות מתאימות על קבצי האתר:</a:t>
            </a:r>
          </a:p>
          <a:p>
            <a:pPr lvl="1"/>
            <a:r>
              <a:rPr lang="he-IL" dirty="0"/>
              <a:t>משתמש </a:t>
            </a:r>
            <a:r>
              <a:rPr lang="en-US" b="1" dirty="0"/>
              <a:t>IUSR</a:t>
            </a:r>
            <a:r>
              <a:rPr lang="he-IL" dirty="0"/>
              <a:t> צריך גישה מינימלית (קריאה בלבד).</a:t>
            </a:r>
          </a:p>
          <a:p>
            <a:pPr lvl="1"/>
            <a:r>
              <a:rPr lang="he-IL" dirty="0"/>
              <a:t>מנע הרשאות</a:t>
            </a:r>
            <a:r>
              <a:rPr lang="en-US" dirty="0"/>
              <a:t> </a:t>
            </a:r>
            <a:r>
              <a:rPr lang="en-US" b="1" dirty="0"/>
              <a:t>Write</a:t>
            </a:r>
            <a:r>
              <a:rPr lang="en-US" dirty="0"/>
              <a:t> </a:t>
            </a:r>
            <a:r>
              <a:rPr lang="he-IL" dirty="0"/>
              <a:t>על ספריות קריטיות.</a:t>
            </a:r>
          </a:p>
          <a:p>
            <a:r>
              <a:rPr lang="he-IL" dirty="0"/>
              <a:t>השתמש בתכונת</a:t>
            </a:r>
            <a:r>
              <a:rPr lang="en-US" dirty="0"/>
              <a:t> </a:t>
            </a:r>
            <a:r>
              <a:rPr lang="en-US" b="1" dirty="0"/>
              <a:t>Request Filtering</a:t>
            </a:r>
            <a:r>
              <a:rPr lang="en-US" dirty="0"/>
              <a:t> </a:t>
            </a:r>
            <a:r>
              <a:rPr lang="he-IL" dirty="0"/>
              <a:t>כדי להגביל סוגי קבצים וסיומות (למשל, חסום </a:t>
            </a:r>
            <a:r>
              <a:rPr lang="en-US" dirty="0"/>
              <a:t>.exe</a:t>
            </a:r>
            <a:r>
              <a:rPr lang="he-IL" dirty="0"/>
              <a:t>) </a:t>
            </a:r>
          </a:p>
          <a:p>
            <a:endParaRPr lang="he-IL" dirty="0"/>
          </a:p>
          <a:p>
            <a:endParaRPr lang="he-IL" dirty="0"/>
          </a:p>
        </p:txBody>
      </p:sp>
    </p:spTree>
    <p:extLst>
      <p:ext uri="{BB962C8B-B14F-4D97-AF65-F5344CB8AC3E}">
        <p14:creationId xmlns:p14="http://schemas.microsoft.com/office/powerpoint/2010/main" val="77773712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1468314" y="642594"/>
            <a:ext cx="9656885" cy="1371600"/>
          </a:xfrm>
        </p:spPr>
        <p:txBody>
          <a:bodyPr>
            <a:normAutofit fontScale="90000"/>
          </a:bodyPr>
          <a:lstStyle/>
          <a:p>
            <a:r>
              <a:rPr lang="he-IL" dirty="0"/>
              <a:t>המשך - שלבים עיקריים ב- </a:t>
            </a:r>
            <a:r>
              <a:rPr lang="en-US" dirty="0"/>
              <a:t>IIS Hardening</a:t>
            </a:r>
            <a:endParaRPr lang="he-IL" dirty="0"/>
          </a:p>
        </p:txBody>
      </p:sp>
      <p:sp>
        <p:nvSpPr>
          <p:cNvPr id="3" name="מציין מיקום תוכן 2"/>
          <p:cNvSpPr>
            <a:spLocks noGrp="1"/>
          </p:cNvSpPr>
          <p:nvPr>
            <p:ph idx="1"/>
          </p:nvPr>
        </p:nvSpPr>
        <p:spPr/>
        <p:txBody>
          <a:bodyPr>
            <a:normAutofit/>
          </a:bodyPr>
          <a:lstStyle/>
          <a:p>
            <a:r>
              <a:rPr lang="he-IL" dirty="0"/>
              <a:t>5. </a:t>
            </a:r>
            <a:r>
              <a:rPr lang="he-IL" b="1" dirty="0"/>
              <a:t>הגדרת </a:t>
            </a:r>
            <a:r>
              <a:rPr lang="en-US" b="1" dirty="0"/>
              <a:t>Authentication </a:t>
            </a:r>
            <a:r>
              <a:rPr lang="he-IL" b="1" dirty="0"/>
              <a:t>ו-</a:t>
            </a:r>
            <a:r>
              <a:rPr lang="en-US" b="1" dirty="0"/>
              <a:t>Authorization</a:t>
            </a:r>
            <a:r>
              <a:rPr lang="he-IL" b="1" dirty="0"/>
              <a:t>: </a:t>
            </a:r>
            <a:r>
              <a:rPr lang="he-IL" dirty="0"/>
              <a:t>העדף </a:t>
            </a:r>
            <a:r>
              <a:rPr lang="en-US" dirty="0"/>
              <a:t> </a:t>
            </a:r>
            <a:r>
              <a:rPr lang="en-US" b="1" dirty="0"/>
              <a:t>Windows Authentication</a:t>
            </a:r>
            <a:r>
              <a:rPr lang="he-IL" dirty="0"/>
              <a:t>על פני</a:t>
            </a:r>
            <a:r>
              <a:rPr lang="en-US" dirty="0"/>
              <a:t>    Anonymous Access </a:t>
            </a:r>
            <a:r>
              <a:rPr lang="he-IL" dirty="0"/>
              <a:t> במידת האפשר.</a:t>
            </a:r>
          </a:p>
          <a:p>
            <a:r>
              <a:rPr lang="he-IL" dirty="0"/>
              <a:t>הגדר</a:t>
            </a:r>
            <a:r>
              <a:rPr lang="en-US" b="1" dirty="0"/>
              <a:t>IP Restrictions</a:t>
            </a:r>
            <a:r>
              <a:rPr lang="en-US" dirty="0"/>
              <a:t> </a:t>
            </a:r>
            <a:r>
              <a:rPr lang="he-IL" dirty="0"/>
              <a:t> כדי להגביל גישה לכתובות </a:t>
            </a:r>
            <a:r>
              <a:rPr lang="en-US" dirty="0"/>
              <a:t>IP</a:t>
            </a:r>
            <a:r>
              <a:rPr lang="he-IL" dirty="0"/>
              <a:t> או טווחים ספציפיים.</a:t>
            </a:r>
          </a:p>
          <a:p>
            <a:r>
              <a:rPr lang="he-IL" dirty="0"/>
              <a:t>6. </a:t>
            </a:r>
            <a:r>
              <a:rPr lang="he-IL" b="1" dirty="0"/>
              <a:t>לוגים וניטור: </a:t>
            </a:r>
            <a:r>
              <a:rPr lang="he-IL" dirty="0"/>
              <a:t>הפעל</a:t>
            </a:r>
            <a:r>
              <a:rPr lang="en-US" b="1" dirty="0"/>
              <a:t>Logging</a:t>
            </a:r>
            <a:r>
              <a:rPr lang="en-US" dirty="0"/>
              <a:t> </a:t>
            </a:r>
            <a:r>
              <a:rPr lang="he-IL" dirty="0"/>
              <a:t> ב-</a:t>
            </a:r>
            <a:r>
              <a:rPr lang="en-US" dirty="0"/>
              <a:t>IIS </a:t>
            </a:r>
            <a:r>
              <a:rPr lang="he-IL" dirty="0"/>
              <a:t> כדי לעקוב אחר פעולות חשודות.</a:t>
            </a:r>
          </a:p>
          <a:p>
            <a:r>
              <a:rPr lang="he-IL" dirty="0"/>
              <a:t>השתמש בכלי ניטור כמו </a:t>
            </a:r>
            <a:r>
              <a:rPr lang="en-US" dirty="0"/>
              <a:t> </a:t>
            </a:r>
            <a:r>
              <a:rPr lang="en-US" b="1" dirty="0"/>
              <a:t>Microsoft Defender for Endpoint</a:t>
            </a:r>
            <a:r>
              <a:rPr lang="he-IL" dirty="0"/>
              <a:t>כדי לזהות איומים בזמן אמת.</a:t>
            </a:r>
          </a:p>
          <a:p>
            <a:r>
              <a:rPr lang="he-IL" dirty="0"/>
              <a:t>7. </a:t>
            </a:r>
            <a:r>
              <a:rPr lang="he-IL" b="1" dirty="0"/>
              <a:t>חסימת התקפות נפוצות: </a:t>
            </a:r>
            <a:r>
              <a:rPr lang="he-IL" dirty="0"/>
              <a:t>הגדר</a:t>
            </a:r>
            <a:r>
              <a:rPr lang="en-US" dirty="0"/>
              <a:t> </a:t>
            </a:r>
            <a:r>
              <a:rPr lang="en-US" b="1" dirty="0"/>
              <a:t>Application Pool Identities</a:t>
            </a:r>
            <a:r>
              <a:rPr lang="en-US" dirty="0"/>
              <a:t> </a:t>
            </a:r>
            <a:r>
              <a:rPr lang="he-IL" dirty="0"/>
              <a:t>בצורה מאובטחת.</a:t>
            </a:r>
          </a:p>
          <a:p>
            <a:r>
              <a:rPr lang="he-IL" dirty="0"/>
              <a:t>השתמש ב-</a:t>
            </a:r>
            <a:r>
              <a:rPr lang="en-US" dirty="0"/>
              <a:t> WAF (Web Application Firewall) </a:t>
            </a:r>
            <a:r>
              <a:rPr lang="he-IL" dirty="0"/>
              <a:t>לנטרול התקפות כמו </a:t>
            </a:r>
            <a:r>
              <a:rPr lang="en-US" dirty="0"/>
              <a:t>SQL Injection</a:t>
            </a:r>
            <a:r>
              <a:rPr lang="he-IL" dirty="0"/>
              <a:t> או </a:t>
            </a:r>
            <a:r>
              <a:rPr lang="en-US" dirty="0"/>
              <a:t>XSS</a:t>
            </a:r>
          </a:p>
          <a:p>
            <a:r>
              <a:rPr lang="he-IL" dirty="0"/>
              <a:t>הפעל הגנה נגד </a:t>
            </a:r>
            <a:r>
              <a:rPr lang="en-US" dirty="0"/>
              <a:t>Brute Force</a:t>
            </a:r>
            <a:r>
              <a:rPr lang="he-IL" dirty="0"/>
              <a:t> באמצעות הגבלת ניסיונות כניסה.</a:t>
            </a:r>
          </a:p>
          <a:p>
            <a:r>
              <a:rPr lang="he-IL" dirty="0"/>
              <a:t>8. </a:t>
            </a:r>
            <a:r>
              <a:rPr lang="he-IL" b="1" dirty="0"/>
              <a:t>שימוש ב-</a:t>
            </a:r>
            <a:r>
              <a:rPr lang="en-US" b="1" dirty="0"/>
              <a:t> :URL Rewrite Rules</a:t>
            </a:r>
            <a:r>
              <a:rPr lang="he-IL" dirty="0"/>
              <a:t>הגבל גישה לכתובות</a:t>
            </a:r>
            <a:r>
              <a:rPr lang="en-US" dirty="0"/>
              <a:t> URL </a:t>
            </a:r>
            <a:r>
              <a:rPr lang="he-IL" dirty="0"/>
              <a:t>מסוימות.</a:t>
            </a:r>
          </a:p>
          <a:p>
            <a:r>
              <a:rPr lang="he-IL" dirty="0"/>
              <a:t>ודא שנעשה שימוש בחוקי</a:t>
            </a:r>
            <a:r>
              <a:rPr lang="en-US" dirty="0"/>
              <a:t> </a:t>
            </a:r>
            <a:r>
              <a:rPr lang="en-US" b="1" dirty="0"/>
              <a:t>Redirect</a:t>
            </a:r>
            <a:r>
              <a:rPr lang="en-US" dirty="0"/>
              <a:t> </a:t>
            </a:r>
            <a:r>
              <a:rPr lang="he-IL" dirty="0"/>
              <a:t>מאובטחים.</a:t>
            </a:r>
          </a:p>
          <a:p>
            <a:endParaRPr lang="he-IL" dirty="0"/>
          </a:p>
          <a:p>
            <a:endParaRPr lang="he-IL" dirty="0"/>
          </a:p>
        </p:txBody>
      </p:sp>
    </p:spTree>
    <p:extLst>
      <p:ext uri="{BB962C8B-B14F-4D97-AF65-F5344CB8AC3E}">
        <p14:creationId xmlns:p14="http://schemas.microsoft.com/office/powerpoint/2010/main" val="210488522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5020408" y="642594"/>
            <a:ext cx="6104792" cy="1371600"/>
          </a:xfrm>
        </p:spPr>
        <p:txBody>
          <a:bodyPr/>
          <a:lstStyle/>
          <a:p>
            <a:r>
              <a:rPr lang="he-IL" dirty="0"/>
              <a:t>אז איך הוא עובד בפועל?</a:t>
            </a:r>
          </a:p>
        </p:txBody>
      </p:sp>
      <p:sp>
        <p:nvSpPr>
          <p:cNvPr id="3" name="מציין מיקום תוכן 2"/>
          <p:cNvSpPr>
            <a:spLocks noGrp="1"/>
          </p:cNvSpPr>
          <p:nvPr>
            <p:ph idx="1"/>
          </p:nvPr>
        </p:nvSpPr>
        <p:spPr/>
        <p:txBody>
          <a:bodyPr/>
          <a:lstStyle/>
          <a:p>
            <a:r>
              <a:rPr lang="he-IL" dirty="0"/>
              <a:t>1. </a:t>
            </a:r>
            <a:r>
              <a:rPr lang="he-IL" b="1" dirty="0"/>
              <a:t>ניהול </a:t>
            </a:r>
            <a:r>
              <a:rPr lang="en-US" b="1" dirty="0"/>
              <a:t>Application Pools </a:t>
            </a:r>
            <a:r>
              <a:rPr lang="he-IL" b="1" dirty="0"/>
              <a:t>בצורה מאובטחת</a:t>
            </a:r>
          </a:p>
          <a:p>
            <a:r>
              <a:rPr lang="en-US" dirty="0"/>
              <a:t> Application Pools</a:t>
            </a:r>
            <a:r>
              <a:rPr lang="he-IL" dirty="0"/>
              <a:t>ב-</a:t>
            </a:r>
            <a:r>
              <a:rPr lang="en-US" dirty="0"/>
              <a:t>IIS </a:t>
            </a:r>
            <a:r>
              <a:rPr lang="he-IL" dirty="0"/>
              <a:t> מאפשרים הפרדת אפליקציות לצורך אבטחה ויציבות.</a:t>
            </a:r>
          </a:p>
          <a:p>
            <a:endParaRPr lang="he-IL" dirty="0"/>
          </a:p>
          <a:p>
            <a:r>
              <a:rPr lang="he-IL" dirty="0"/>
              <a:t>2. </a:t>
            </a:r>
            <a:r>
              <a:rPr lang="he-IL" b="1" dirty="0"/>
              <a:t>הגדרות </a:t>
            </a:r>
            <a:r>
              <a:rPr lang="en-US" b="1" dirty="0"/>
              <a:t>HTTP Headers</a:t>
            </a:r>
            <a:r>
              <a:rPr lang="he-IL" b="1" dirty="0"/>
              <a:t> לאבטחה</a:t>
            </a:r>
          </a:p>
          <a:p>
            <a:r>
              <a:rPr lang="he-IL" dirty="0"/>
              <a:t>הגדרות כותרות </a:t>
            </a:r>
            <a:r>
              <a:rPr lang="en-US" dirty="0"/>
              <a:t>HTTP</a:t>
            </a:r>
            <a:r>
              <a:rPr lang="he-IL" dirty="0"/>
              <a:t> יכולות להגן על האתר מפני התקפות נפוצות.</a:t>
            </a:r>
          </a:p>
          <a:p>
            <a:r>
              <a:rPr lang="he-IL" dirty="0"/>
              <a:t>לדוגמא: </a:t>
            </a:r>
            <a:r>
              <a:rPr lang="en-US" b="1" dirty="0"/>
              <a:t>Strict-Transport-Security (HSTS)</a:t>
            </a:r>
            <a:r>
              <a:rPr lang="he-IL" b="1" dirty="0"/>
              <a:t> </a:t>
            </a:r>
            <a:r>
              <a:rPr lang="he-IL" dirty="0"/>
              <a:t>מאלצת את הדפדפן להשתמש ב-</a:t>
            </a:r>
            <a:r>
              <a:rPr lang="en-US" dirty="0"/>
              <a:t> HTTPS </a:t>
            </a:r>
            <a:r>
              <a:rPr lang="he-IL" dirty="0"/>
              <a:t>בלבד.</a:t>
            </a:r>
          </a:p>
          <a:p>
            <a:pPr algn="l"/>
            <a:r>
              <a:rPr lang="en-US" dirty="0"/>
              <a:t>Strict-Transport-Security: max-age=31536000; </a:t>
            </a:r>
            <a:r>
              <a:rPr lang="en-US" dirty="0" err="1"/>
              <a:t>includeSubDomains</a:t>
            </a:r>
            <a:endParaRPr lang="en-US" dirty="0"/>
          </a:p>
          <a:p>
            <a:r>
              <a:rPr lang="he-IL" dirty="0"/>
              <a:t>דוגמא נוספת: </a:t>
            </a:r>
            <a:r>
              <a:rPr lang="en-US" dirty="0"/>
              <a:t> </a:t>
            </a:r>
            <a:r>
              <a:rPr lang="en-US" b="1" dirty="0"/>
              <a:t>Content-Security-Policy (CSP)</a:t>
            </a:r>
            <a:r>
              <a:rPr lang="he-IL" dirty="0"/>
              <a:t>מגביל טעינת תוכן רק למקורות מהימנים.</a:t>
            </a:r>
          </a:p>
          <a:p>
            <a:pPr algn="l"/>
            <a:r>
              <a:rPr lang="en-US" dirty="0"/>
              <a:t>Content-Security-Policy: default-</a:t>
            </a:r>
            <a:r>
              <a:rPr lang="en-US" dirty="0" err="1"/>
              <a:t>src</a:t>
            </a:r>
            <a:r>
              <a:rPr lang="en-US" dirty="0"/>
              <a:t> 'self'</a:t>
            </a:r>
          </a:p>
          <a:p>
            <a:pPr algn="l"/>
            <a:endParaRPr lang="he-IL" dirty="0"/>
          </a:p>
          <a:p>
            <a:endParaRPr lang="he-IL" dirty="0"/>
          </a:p>
          <a:p>
            <a:endParaRPr lang="he-IL" dirty="0"/>
          </a:p>
          <a:p>
            <a:endParaRPr lang="he-IL" dirty="0"/>
          </a:p>
        </p:txBody>
      </p:sp>
    </p:spTree>
    <p:extLst>
      <p:ext uri="{BB962C8B-B14F-4D97-AF65-F5344CB8AC3E}">
        <p14:creationId xmlns:p14="http://schemas.microsoft.com/office/powerpoint/2010/main" val="158502679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2822330" y="642594"/>
            <a:ext cx="8302869" cy="1371600"/>
          </a:xfrm>
        </p:spPr>
        <p:txBody>
          <a:bodyPr/>
          <a:lstStyle/>
          <a:p>
            <a:r>
              <a:rPr lang="he-IL" dirty="0"/>
              <a:t>המשך - אז איך הוא עובד בפועל?</a:t>
            </a:r>
          </a:p>
        </p:txBody>
      </p:sp>
      <p:sp>
        <p:nvSpPr>
          <p:cNvPr id="3" name="מציין מיקום תוכן 2"/>
          <p:cNvSpPr>
            <a:spLocks noGrp="1"/>
          </p:cNvSpPr>
          <p:nvPr>
            <p:ph idx="1"/>
          </p:nvPr>
        </p:nvSpPr>
        <p:spPr/>
        <p:txBody>
          <a:bodyPr>
            <a:normAutofit lnSpcReduction="10000"/>
          </a:bodyPr>
          <a:lstStyle/>
          <a:p>
            <a:r>
              <a:rPr lang="he-IL" dirty="0"/>
              <a:t>3. </a:t>
            </a:r>
            <a:r>
              <a:rPr lang="he-IL" b="1" dirty="0"/>
              <a:t>הגדרת </a:t>
            </a:r>
            <a:r>
              <a:rPr lang="en-US" b="1" dirty="0"/>
              <a:t> Caching</a:t>
            </a:r>
            <a:r>
              <a:rPr lang="he-IL" b="1" dirty="0"/>
              <a:t>ו-</a:t>
            </a:r>
            <a:r>
              <a:rPr lang="en-US" b="1" dirty="0"/>
              <a:t>Output Compression</a:t>
            </a:r>
          </a:p>
          <a:p>
            <a:r>
              <a:rPr lang="en-US" b="1" dirty="0"/>
              <a:t> :Output Caching</a:t>
            </a:r>
            <a:r>
              <a:rPr lang="he-IL" dirty="0"/>
              <a:t>מפחית עומס על השרת על ידי שמירת תכנים סטטיים בזיכרון. ניתן להפעיל </a:t>
            </a:r>
            <a:r>
              <a:rPr lang="en-US" dirty="0"/>
              <a:t>Output Caching </a:t>
            </a:r>
            <a:r>
              <a:rPr lang="he-IL" dirty="0"/>
              <a:t> בצורה בטוחה ולמנוע שמירה של נתונים רגישים.</a:t>
            </a:r>
          </a:p>
          <a:p>
            <a:r>
              <a:rPr lang="en-US" b="1" dirty="0"/>
              <a:t> :Compression Settings</a:t>
            </a:r>
            <a:r>
              <a:rPr lang="he-IL" dirty="0"/>
              <a:t>הפעלת </a:t>
            </a:r>
            <a:r>
              <a:rPr lang="en-US" dirty="0"/>
              <a:t> </a:t>
            </a:r>
            <a:r>
              <a:rPr lang="en-US" b="1" dirty="0" err="1"/>
              <a:t>Gzip</a:t>
            </a:r>
            <a:r>
              <a:rPr lang="en-US" b="1" dirty="0"/>
              <a:t> Compression</a:t>
            </a:r>
            <a:r>
              <a:rPr lang="he-IL" dirty="0"/>
              <a:t>מקטינה את גודל התשובות ללקוחות, אך יש להפעיל אותה בזהירות:</a:t>
            </a:r>
          </a:p>
          <a:p>
            <a:r>
              <a:rPr lang="he-IL" dirty="0"/>
              <a:t>השבתת דחיסת נתונים לתכנים רגישים (כמו</a:t>
            </a:r>
            <a:r>
              <a:rPr lang="en-US" dirty="0"/>
              <a:t> HTML </a:t>
            </a:r>
            <a:r>
              <a:rPr lang="he-IL" dirty="0"/>
              <a:t>המכיל מידע פרטי).</a:t>
            </a:r>
          </a:p>
          <a:p>
            <a:r>
              <a:rPr lang="he-IL" dirty="0"/>
              <a:t>4. </a:t>
            </a:r>
            <a:r>
              <a:rPr lang="he-IL" b="1" dirty="0"/>
              <a:t>מנגנוני ניטור ואבטחת זמן אמת</a:t>
            </a:r>
          </a:p>
          <a:p>
            <a:r>
              <a:rPr lang="en-US" b="1" dirty="0"/>
              <a:t> :Dynamic IP Restrictions</a:t>
            </a:r>
            <a:r>
              <a:rPr lang="he-IL" dirty="0"/>
              <a:t>מונע התקפות מסוג</a:t>
            </a:r>
            <a:r>
              <a:rPr lang="en-US" dirty="0"/>
              <a:t> Brute Force </a:t>
            </a:r>
            <a:r>
              <a:rPr lang="he-IL" dirty="0"/>
              <a:t>או  </a:t>
            </a:r>
            <a:r>
              <a:rPr lang="en-US" dirty="0"/>
              <a:t> </a:t>
            </a:r>
            <a:r>
              <a:rPr lang="en-US" dirty="0" err="1"/>
              <a:t>DoS</a:t>
            </a:r>
            <a:r>
              <a:rPr lang="he-IL" dirty="0"/>
              <a:t>כלי זה חוסם באופן אוטומטי </a:t>
            </a:r>
            <a:r>
              <a:rPr lang="en-US" dirty="0"/>
              <a:t> IP</a:t>
            </a:r>
            <a:r>
              <a:rPr lang="he-IL" dirty="0"/>
              <a:t>ים המבצעים בקשות רבות מדי בזמן קצר.</a:t>
            </a:r>
          </a:p>
          <a:p>
            <a:r>
              <a:rPr lang="en-US" b="1" dirty="0"/>
              <a:t> :Custom Error Pages</a:t>
            </a:r>
            <a:r>
              <a:rPr lang="he-IL" dirty="0"/>
              <a:t>שנה את דפי שגיאה ברירת המחדל, כך שלא ייחשפו מידע פנימי על השרת (כמו גרסת ה-</a:t>
            </a:r>
            <a:r>
              <a:rPr lang="en-US" dirty="0"/>
              <a:t>IIS </a:t>
            </a:r>
            <a:endParaRPr lang="he-IL" dirty="0"/>
          </a:p>
          <a:p>
            <a:r>
              <a:rPr lang="he-IL" dirty="0"/>
              <a:t>דוגמה: הפנה משתמשים לדף שגיאה מותאם.</a:t>
            </a:r>
            <a:endParaRPr lang="en-US" dirty="0"/>
          </a:p>
          <a:p>
            <a:endParaRPr lang="he-IL" dirty="0"/>
          </a:p>
          <a:p>
            <a:endParaRPr lang="he-IL" dirty="0"/>
          </a:p>
        </p:txBody>
      </p:sp>
    </p:spTree>
    <p:extLst>
      <p:ext uri="{BB962C8B-B14F-4D97-AF65-F5344CB8AC3E}">
        <p14:creationId xmlns:p14="http://schemas.microsoft.com/office/powerpoint/2010/main" val="353619185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2989384" y="642594"/>
            <a:ext cx="8135815" cy="1371600"/>
          </a:xfrm>
        </p:spPr>
        <p:txBody>
          <a:bodyPr/>
          <a:lstStyle/>
          <a:p>
            <a:r>
              <a:rPr lang="he-IL" dirty="0"/>
              <a:t>המשך - אז איך הוא עובד בפועל?</a:t>
            </a:r>
          </a:p>
        </p:txBody>
      </p:sp>
      <p:sp>
        <p:nvSpPr>
          <p:cNvPr id="3" name="מציין מיקום תוכן 2"/>
          <p:cNvSpPr>
            <a:spLocks noGrp="1"/>
          </p:cNvSpPr>
          <p:nvPr>
            <p:ph idx="1"/>
          </p:nvPr>
        </p:nvSpPr>
        <p:spPr>
          <a:xfrm>
            <a:off x="1066799" y="2014194"/>
            <a:ext cx="10058400" cy="3931920"/>
          </a:xfrm>
        </p:spPr>
        <p:txBody>
          <a:bodyPr/>
          <a:lstStyle/>
          <a:p>
            <a:r>
              <a:rPr lang="he-IL" dirty="0"/>
              <a:t>5. </a:t>
            </a:r>
            <a:r>
              <a:rPr lang="he-IL" b="1" dirty="0"/>
              <a:t>חסימת התקפות מתקדמות</a:t>
            </a:r>
          </a:p>
          <a:p>
            <a:r>
              <a:rPr lang="he-IL" b="1" dirty="0"/>
              <a:t>הגנה מ-</a:t>
            </a:r>
            <a:r>
              <a:rPr lang="en-US" b="1" dirty="0"/>
              <a:t>CSRF (Cross-Site Request Forgery)</a:t>
            </a:r>
            <a:r>
              <a:rPr lang="en-US" dirty="0"/>
              <a:t> </a:t>
            </a:r>
            <a:r>
              <a:rPr lang="he-IL" dirty="0"/>
              <a:t> הטמעת</a:t>
            </a:r>
            <a:r>
              <a:rPr lang="en-US" b="1" dirty="0"/>
              <a:t>Anti-CSRF Tokens</a:t>
            </a:r>
            <a:r>
              <a:rPr lang="en-US" dirty="0"/>
              <a:t> </a:t>
            </a:r>
            <a:r>
              <a:rPr lang="he-IL" dirty="0"/>
              <a:t> בכל טופס באתר.</a:t>
            </a:r>
          </a:p>
          <a:p>
            <a:r>
              <a:rPr lang="en-US" b="1" dirty="0"/>
              <a:t> :Rate Limiting</a:t>
            </a:r>
            <a:r>
              <a:rPr lang="en-US" dirty="0"/>
              <a:t> </a:t>
            </a:r>
            <a:r>
              <a:rPr lang="he-IL" dirty="0"/>
              <a:t>הגבל כמות בקשות מכל </a:t>
            </a:r>
            <a:r>
              <a:rPr lang="en-US" dirty="0"/>
              <a:t> IP</a:t>
            </a:r>
            <a:r>
              <a:rPr lang="he-IL" dirty="0"/>
              <a:t>כדי למנוע התקפות מבוססות </a:t>
            </a:r>
            <a:r>
              <a:rPr lang="en-US" dirty="0"/>
              <a:t>Overload</a:t>
            </a:r>
          </a:p>
          <a:p>
            <a:r>
              <a:rPr lang="en-US" b="1" dirty="0"/>
              <a:t> :Web Application Firewall (WAF)</a:t>
            </a:r>
            <a:r>
              <a:rPr lang="en-US" dirty="0"/>
              <a:t> </a:t>
            </a:r>
            <a:r>
              <a:rPr lang="he-IL" dirty="0"/>
              <a:t>השתמש ב-</a:t>
            </a:r>
            <a:r>
              <a:rPr lang="en-US" dirty="0"/>
              <a:t> WAF </a:t>
            </a:r>
            <a:r>
              <a:rPr lang="he-IL" dirty="0"/>
              <a:t>חיצוני או מוטמע, כמו:</a:t>
            </a:r>
          </a:p>
          <a:p>
            <a:pPr lvl="1"/>
            <a:r>
              <a:rPr lang="en-US" dirty="0"/>
              <a:t>Azure Application Gateway </a:t>
            </a:r>
            <a:r>
              <a:rPr lang="he-IL" dirty="0"/>
              <a:t> עם </a:t>
            </a:r>
            <a:r>
              <a:rPr lang="en-US" dirty="0"/>
              <a:t>WAF </a:t>
            </a:r>
            <a:r>
              <a:rPr lang="he-IL" dirty="0"/>
              <a:t> פתרונות קוד פתוח כמו </a:t>
            </a:r>
            <a:r>
              <a:rPr lang="en-US" dirty="0" err="1"/>
              <a:t>ModSecurity</a:t>
            </a:r>
            <a:endParaRPr lang="he-IL" dirty="0"/>
          </a:p>
          <a:p>
            <a:r>
              <a:rPr lang="he-IL" dirty="0"/>
              <a:t>6. </a:t>
            </a:r>
            <a:r>
              <a:rPr lang="he-IL" b="1" dirty="0"/>
              <a:t>שימוש בכלי אבטחה מתקדמים</a:t>
            </a:r>
          </a:p>
          <a:p>
            <a:r>
              <a:rPr lang="en-US" b="1" dirty="0"/>
              <a:t> :IIS Crypto</a:t>
            </a:r>
            <a:r>
              <a:rPr lang="en-US" dirty="0"/>
              <a:t> </a:t>
            </a:r>
            <a:r>
              <a:rPr lang="he-IL" dirty="0"/>
              <a:t>כלי חינמי להגדרה וניהול של פרוטוקולי הצפנה, הגדרות </a:t>
            </a:r>
            <a:r>
              <a:rPr lang="en-US" dirty="0"/>
              <a:t>SSL/TLS</a:t>
            </a:r>
            <a:r>
              <a:rPr lang="he-IL" dirty="0"/>
              <a:t> וחסימת </a:t>
            </a:r>
            <a:r>
              <a:rPr lang="en-US" dirty="0"/>
              <a:t>Cipher Suites</a:t>
            </a:r>
            <a:r>
              <a:rPr lang="he-IL" dirty="0"/>
              <a:t> לא מאובטחות.</a:t>
            </a:r>
          </a:p>
          <a:p>
            <a:pPr lvl="1"/>
            <a:r>
              <a:rPr lang="he-IL" dirty="0"/>
              <a:t>בטל תמיכה ב-</a:t>
            </a:r>
            <a:r>
              <a:rPr lang="en-US" dirty="0"/>
              <a:t> DES, RC4 </a:t>
            </a:r>
            <a:r>
              <a:rPr lang="he-IL" dirty="0"/>
              <a:t>ופרוטוקולים לא בטוחים אחרים.</a:t>
            </a:r>
          </a:p>
          <a:p>
            <a:r>
              <a:rPr lang="en-US" b="1" dirty="0"/>
              <a:t> :Application Request Routing (ARR)</a:t>
            </a:r>
            <a:r>
              <a:rPr lang="en-US" dirty="0"/>
              <a:t> </a:t>
            </a:r>
            <a:r>
              <a:rPr lang="he-IL" dirty="0"/>
              <a:t>כלי המאפשר שימוש ב-</a:t>
            </a:r>
            <a:r>
              <a:rPr lang="en-US" dirty="0"/>
              <a:t>Reverse Proxy </a:t>
            </a:r>
            <a:r>
              <a:rPr lang="he-IL" dirty="0"/>
              <a:t> ניתן להשתמש בו להסתרת השרת </a:t>
            </a:r>
            <a:r>
              <a:rPr lang="he-IL" dirty="0" err="1"/>
              <a:t>האמיתי</a:t>
            </a:r>
            <a:r>
              <a:rPr lang="he-IL" dirty="0"/>
              <a:t> מאחורי </a:t>
            </a:r>
            <a:r>
              <a:rPr lang="en-US" dirty="0"/>
              <a:t>Proxy</a:t>
            </a:r>
          </a:p>
          <a:p>
            <a:pPr lvl="1"/>
            <a:endParaRPr lang="he-IL" dirty="0"/>
          </a:p>
          <a:p>
            <a:pPr marL="274320" lvl="1" indent="0">
              <a:buNone/>
            </a:pPr>
            <a:endParaRPr lang="he-IL" dirty="0"/>
          </a:p>
          <a:p>
            <a:pPr marL="274320" lvl="1" indent="0">
              <a:buNone/>
            </a:pPr>
            <a:endParaRPr lang="he-IL" dirty="0"/>
          </a:p>
        </p:txBody>
      </p:sp>
    </p:spTree>
    <p:extLst>
      <p:ext uri="{BB962C8B-B14F-4D97-AF65-F5344CB8AC3E}">
        <p14:creationId xmlns:p14="http://schemas.microsoft.com/office/powerpoint/2010/main" val="282852351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8968154" y="642594"/>
            <a:ext cx="2157046" cy="1371600"/>
          </a:xfrm>
        </p:spPr>
        <p:txBody>
          <a:bodyPr/>
          <a:lstStyle/>
          <a:p>
            <a:r>
              <a:rPr lang="he-IL" dirty="0"/>
              <a:t>שאלות:</a:t>
            </a:r>
          </a:p>
        </p:txBody>
      </p:sp>
      <p:sp>
        <p:nvSpPr>
          <p:cNvPr id="3" name="מציין מיקום תוכן 2"/>
          <p:cNvSpPr>
            <a:spLocks noGrp="1"/>
          </p:cNvSpPr>
          <p:nvPr>
            <p:ph idx="1"/>
          </p:nvPr>
        </p:nvSpPr>
        <p:spPr/>
        <p:txBody>
          <a:bodyPr/>
          <a:lstStyle/>
          <a:p>
            <a:r>
              <a:rPr lang="he-IL" dirty="0"/>
              <a:t>1. מהו </a:t>
            </a:r>
            <a:r>
              <a:rPr lang="en-US" dirty="0"/>
              <a:t>IIS</a:t>
            </a:r>
            <a:r>
              <a:rPr lang="he-IL" dirty="0"/>
              <a:t> ומה תפקידו?</a:t>
            </a:r>
          </a:p>
          <a:p>
            <a:r>
              <a:rPr lang="he-IL" dirty="0"/>
              <a:t>2. למה חשוב לעדכן את </a:t>
            </a:r>
            <a:r>
              <a:rPr lang="en-US" dirty="0"/>
              <a:t>IIS</a:t>
            </a:r>
            <a:r>
              <a:rPr lang="he-IL" dirty="0"/>
              <a:t>?</a:t>
            </a:r>
          </a:p>
          <a:p>
            <a:r>
              <a:rPr lang="he-IL" dirty="0"/>
              <a:t>3. אילו פרוטוקולי הצפנה מומלץ להפעיל בשרת?</a:t>
            </a:r>
          </a:p>
          <a:p>
            <a:r>
              <a:rPr lang="he-IL" dirty="0"/>
              <a:t>4. איך ניתן להקשיח את ההרשאות על ספריית האתר?</a:t>
            </a:r>
          </a:p>
          <a:p>
            <a:r>
              <a:rPr lang="he-IL" dirty="0"/>
              <a:t>5. כיצד ניתן להגן על תכנים דינמיים בשרת</a:t>
            </a:r>
            <a:r>
              <a:rPr lang="en-US" dirty="0"/>
              <a:t>IIS </a:t>
            </a:r>
            <a:r>
              <a:rPr lang="he-IL" dirty="0"/>
              <a:t> באמצעות </a:t>
            </a:r>
            <a:r>
              <a:rPr lang="en-US" dirty="0"/>
              <a:t>Output Caching</a:t>
            </a:r>
            <a:r>
              <a:rPr lang="he-IL" dirty="0"/>
              <a:t>?</a:t>
            </a:r>
          </a:p>
          <a:p>
            <a:endParaRPr lang="he-IL" dirty="0"/>
          </a:p>
          <a:p>
            <a:endParaRPr lang="he-IL" dirty="0"/>
          </a:p>
          <a:p>
            <a:endParaRPr lang="he-IL" dirty="0"/>
          </a:p>
        </p:txBody>
      </p:sp>
    </p:spTree>
    <p:extLst>
      <p:ext uri="{BB962C8B-B14F-4D97-AF65-F5344CB8AC3E}">
        <p14:creationId xmlns:p14="http://schemas.microsoft.com/office/powerpoint/2010/main" val="419206935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8976946" y="642594"/>
            <a:ext cx="2148254" cy="1371600"/>
          </a:xfrm>
        </p:spPr>
        <p:txBody>
          <a:bodyPr/>
          <a:lstStyle/>
          <a:p>
            <a:r>
              <a:rPr lang="he-IL" dirty="0"/>
              <a:t>תשובות</a:t>
            </a:r>
          </a:p>
        </p:txBody>
      </p:sp>
      <p:sp>
        <p:nvSpPr>
          <p:cNvPr id="3" name="מציין מיקום תוכן 2"/>
          <p:cNvSpPr>
            <a:spLocks noGrp="1"/>
          </p:cNvSpPr>
          <p:nvPr>
            <p:ph idx="1"/>
          </p:nvPr>
        </p:nvSpPr>
        <p:spPr/>
        <p:txBody>
          <a:bodyPr/>
          <a:lstStyle/>
          <a:p>
            <a:r>
              <a:rPr lang="he-IL" dirty="0"/>
              <a:t>1. הוא שרת אינטרנט של מיקרוסופט המשמש לאחסון וניהול אתרים, אפליקציות ושירותי אינטרנט.</a:t>
            </a:r>
          </a:p>
          <a:p>
            <a:r>
              <a:rPr lang="he-IL" dirty="0"/>
              <a:t>2. עדכונים מבטיחים תיקון פרצות אבטחה ומונעים ניצול נקודות תורפה.</a:t>
            </a:r>
          </a:p>
          <a:p>
            <a:r>
              <a:rPr lang="he-IL" dirty="0"/>
              <a:t>3. </a:t>
            </a:r>
            <a:r>
              <a:rPr lang="en-US" dirty="0"/>
              <a:t> TLS 1.2 </a:t>
            </a:r>
            <a:r>
              <a:rPr lang="he-IL" dirty="0"/>
              <a:t>ו-</a:t>
            </a:r>
            <a:r>
              <a:rPr lang="en-US" dirty="0"/>
              <a:t>TLS 1.3.</a:t>
            </a:r>
            <a:endParaRPr lang="he-IL" dirty="0"/>
          </a:p>
          <a:p>
            <a:r>
              <a:rPr lang="he-IL" dirty="0"/>
              <a:t>4. הגדר הרשאות </a:t>
            </a:r>
            <a:r>
              <a:rPr lang="he-IL" b="1" dirty="0"/>
              <a:t>קריאה בלבד</a:t>
            </a:r>
            <a:r>
              <a:rPr lang="he-IL" dirty="0"/>
              <a:t> עבור משתמש </a:t>
            </a:r>
            <a:r>
              <a:rPr lang="en-US" dirty="0"/>
              <a:t>IUSR</a:t>
            </a:r>
            <a:r>
              <a:rPr lang="he-IL" dirty="0"/>
              <a:t> (קשור ל</a:t>
            </a:r>
            <a:r>
              <a:rPr lang="en-US" dirty="0"/>
              <a:t>https</a:t>
            </a:r>
            <a:r>
              <a:rPr lang="he-IL"/>
              <a:t>), </a:t>
            </a:r>
            <a:r>
              <a:rPr lang="he-IL" dirty="0"/>
              <a:t>מנע הרשאות כתיבה על ספריות קריטיות.</a:t>
            </a:r>
          </a:p>
          <a:p>
            <a:r>
              <a:rPr lang="he-IL" dirty="0"/>
              <a:t>5. הגדר את</a:t>
            </a:r>
            <a:r>
              <a:rPr lang="en-US" dirty="0"/>
              <a:t>Output Caching </a:t>
            </a:r>
            <a:r>
              <a:rPr lang="he-IL" dirty="0"/>
              <a:t> כך שלא ישמור נתונים דינמיים המכילים מידע רגיש, </a:t>
            </a:r>
          </a:p>
          <a:p>
            <a:endParaRPr lang="he-IL" dirty="0"/>
          </a:p>
        </p:txBody>
      </p:sp>
    </p:spTree>
    <p:extLst>
      <p:ext uri="{BB962C8B-B14F-4D97-AF65-F5344CB8AC3E}">
        <p14:creationId xmlns:p14="http://schemas.microsoft.com/office/powerpoint/2010/main" val="182767056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p:cNvSpPr>
            <a:spLocks noGrp="1"/>
          </p:cNvSpPr>
          <p:nvPr>
            <p:ph idx="1"/>
          </p:nvPr>
        </p:nvSpPr>
        <p:spPr>
          <a:xfrm>
            <a:off x="1093177" y="2349305"/>
            <a:ext cx="10058400" cy="3931920"/>
          </a:xfrm>
        </p:spPr>
        <p:txBody>
          <a:bodyPr>
            <a:normAutofit/>
          </a:bodyPr>
          <a:lstStyle/>
          <a:p>
            <a:pPr algn="ctr"/>
            <a:r>
              <a:rPr lang="en-US" sz="7200" dirty="0"/>
              <a:t>Authorization (</a:t>
            </a:r>
            <a:r>
              <a:rPr lang="en-US" sz="7200" dirty="0" err="1"/>
              <a:t>Authz</a:t>
            </a:r>
            <a:r>
              <a:rPr lang="en-US" sz="7200" dirty="0"/>
              <a:t>)</a:t>
            </a:r>
            <a:endParaRPr lang="he-IL" sz="7200" dirty="0"/>
          </a:p>
        </p:txBody>
      </p:sp>
    </p:spTree>
    <p:extLst>
      <p:ext uri="{BB962C8B-B14F-4D97-AF65-F5344CB8AC3E}">
        <p14:creationId xmlns:p14="http://schemas.microsoft.com/office/powerpoint/2010/main" val="82221802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712178" y="642594"/>
            <a:ext cx="11010900" cy="1371600"/>
          </a:xfrm>
        </p:spPr>
        <p:txBody>
          <a:bodyPr>
            <a:normAutofit fontScale="90000"/>
          </a:bodyPr>
          <a:lstStyle/>
          <a:p>
            <a:r>
              <a:rPr lang="he-IL" dirty="0"/>
              <a:t>מה זה אימות הרשאות</a:t>
            </a:r>
            <a:r>
              <a:rPr lang="en-US" dirty="0"/>
              <a:t>Authorization (</a:t>
            </a:r>
            <a:r>
              <a:rPr lang="en-US" dirty="0" err="1"/>
              <a:t>Authz</a:t>
            </a:r>
            <a:r>
              <a:rPr lang="en-US" dirty="0"/>
              <a:t>) </a:t>
            </a:r>
            <a:r>
              <a:rPr lang="he-IL" dirty="0"/>
              <a:t>?</a:t>
            </a:r>
          </a:p>
        </p:txBody>
      </p:sp>
      <p:sp>
        <p:nvSpPr>
          <p:cNvPr id="3" name="מציין מיקום תוכן 2"/>
          <p:cNvSpPr>
            <a:spLocks noGrp="1"/>
          </p:cNvSpPr>
          <p:nvPr>
            <p:ph idx="1"/>
          </p:nvPr>
        </p:nvSpPr>
        <p:spPr/>
        <p:txBody>
          <a:bodyPr/>
          <a:lstStyle/>
          <a:p>
            <a:r>
              <a:rPr lang="en-US" b="1" dirty="0"/>
              <a:t>:Authorization</a:t>
            </a:r>
            <a:r>
              <a:rPr lang="he-IL" b="1" dirty="0"/>
              <a:t> (</a:t>
            </a:r>
            <a:r>
              <a:rPr lang="he-IL" dirty="0"/>
              <a:t>הסמכה/הרשאה) היא תהליך שבו מערכת קובעת אם למשתמש, שירות או תוכנה יש הרשאה לבצע פעולה מסוימת או לגשת למשאב מסוים.</a:t>
            </a:r>
            <a:br>
              <a:rPr lang="he-IL" dirty="0"/>
            </a:br>
            <a:r>
              <a:rPr lang="he-IL" dirty="0"/>
              <a:t>לדוגמה:</a:t>
            </a:r>
          </a:p>
          <a:p>
            <a:r>
              <a:rPr lang="he-IL" dirty="0"/>
              <a:t>האם משתמש יכול לערוך מסמך?</a:t>
            </a:r>
          </a:p>
          <a:p>
            <a:r>
              <a:rPr lang="he-IL" dirty="0"/>
              <a:t>האם שירות יכול למחוק רשומה ממסד הנתונים?</a:t>
            </a:r>
          </a:p>
          <a:p>
            <a:r>
              <a:rPr lang="he-IL" dirty="0"/>
              <a:t>תהליך זה מבוסס לרוב על:</a:t>
            </a:r>
          </a:p>
          <a:p>
            <a:r>
              <a:rPr lang="he-IL" dirty="0"/>
              <a:t>1. </a:t>
            </a:r>
            <a:r>
              <a:rPr lang="he-IL" b="1" dirty="0"/>
              <a:t>מדיניות הרשאות</a:t>
            </a:r>
            <a:r>
              <a:rPr lang="he-IL" dirty="0"/>
              <a:t> (</a:t>
            </a:r>
            <a:r>
              <a:rPr lang="en-US" dirty="0"/>
              <a:t>Policies</a:t>
            </a:r>
            <a:r>
              <a:rPr lang="he-IL" dirty="0"/>
              <a:t>) כללים מוגדרים מראש שמגדירים מי יכול לגשת למה.</a:t>
            </a:r>
          </a:p>
          <a:p>
            <a:r>
              <a:rPr lang="he-IL" dirty="0"/>
              <a:t>2. </a:t>
            </a:r>
            <a:r>
              <a:rPr lang="he-IL" b="1" dirty="0"/>
              <a:t>הרשאות משתמש</a:t>
            </a:r>
            <a:r>
              <a:rPr lang="en-US" b="1" dirty="0"/>
              <a:t> (</a:t>
            </a:r>
            <a:r>
              <a:rPr lang="en-US" dirty="0"/>
              <a:t>Roles/Permissions) </a:t>
            </a:r>
            <a:r>
              <a:rPr lang="he-IL" dirty="0"/>
              <a:t>למשל: "מנהל" יכול לגשת לכל המערכת, אך "משתמש רגיל" מוגבל לגישה מסוימת בלבד.</a:t>
            </a:r>
          </a:p>
          <a:p>
            <a:endParaRPr lang="he-IL" dirty="0"/>
          </a:p>
        </p:txBody>
      </p:sp>
    </p:spTree>
    <p:extLst>
      <p:ext uri="{BB962C8B-B14F-4D97-AF65-F5344CB8AC3E}">
        <p14:creationId xmlns:p14="http://schemas.microsoft.com/office/powerpoint/2010/main" val="417844821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1907930" y="642594"/>
            <a:ext cx="9217269" cy="1371600"/>
          </a:xfrm>
        </p:spPr>
        <p:txBody>
          <a:bodyPr>
            <a:normAutofit fontScale="90000"/>
          </a:bodyPr>
          <a:lstStyle/>
          <a:p>
            <a:r>
              <a:rPr lang="he-IL" dirty="0"/>
              <a:t>מה זה </a:t>
            </a:r>
            <a:r>
              <a:rPr lang="en-US" dirty="0"/>
              <a:t>Fingerprinting Authorization</a:t>
            </a:r>
            <a:r>
              <a:rPr lang="he-IL" dirty="0"/>
              <a:t>?</a:t>
            </a:r>
          </a:p>
        </p:txBody>
      </p:sp>
      <p:sp>
        <p:nvSpPr>
          <p:cNvPr id="3" name="מציין מיקום תוכן 2"/>
          <p:cNvSpPr>
            <a:spLocks noGrp="1"/>
          </p:cNvSpPr>
          <p:nvPr>
            <p:ph idx="1"/>
          </p:nvPr>
        </p:nvSpPr>
        <p:spPr/>
        <p:txBody>
          <a:bodyPr/>
          <a:lstStyle/>
          <a:p>
            <a:r>
              <a:rPr lang="he-IL" b="1" dirty="0"/>
              <a:t>דוגמאות מהחיים האמיתיים:</a:t>
            </a:r>
          </a:p>
          <a:p>
            <a:pPr>
              <a:buFont typeface="Arial" panose="020B0604020202020204" pitchFamily="34" charset="0"/>
              <a:buChar char="•"/>
            </a:pPr>
            <a:r>
              <a:rPr lang="he-IL" b="1" dirty="0"/>
              <a:t>כניסה למערכת:</a:t>
            </a:r>
            <a:endParaRPr lang="he-IL" dirty="0"/>
          </a:p>
          <a:p>
            <a:pPr marL="742950" lvl="1" indent="-285750">
              <a:buFont typeface="Arial" panose="020B0604020202020204" pitchFamily="34" charset="0"/>
              <a:buChar char="•"/>
            </a:pPr>
            <a:r>
              <a:rPr lang="he-IL" dirty="0"/>
              <a:t>התאמה (אימות): זיהוי משתמש באמצעות שם משתמש וסיסמה.</a:t>
            </a:r>
          </a:p>
          <a:p>
            <a:pPr marL="742950" lvl="1" indent="-285750">
              <a:buFont typeface="Arial" panose="020B0604020202020204" pitchFamily="34" charset="0"/>
              <a:buChar char="•"/>
            </a:pPr>
            <a:r>
              <a:rPr lang="he-IL" dirty="0"/>
              <a:t>הרשאה (הרשאה): קביעת עמודים או משאבים אילו יכולים לראות (כגון עמודי </a:t>
            </a:r>
            <a:r>
              <a:rPr lang="he-IL" dirty="0" err="1"/>
              <a:t>אדמין</a:t>
            </a:r>
            <a:r>
              <a:rPr lang="he-IL" dirty="0"/>
              <a:t> לעומת עמודי משתמש רגיל).</a:t>
            </a:r>
          </a:p>
          <a:p>
            <a:r>
              <a:rPr lang="he-IL" b="1" dirty="0"/>
              <a:t>כניסה לבניין:</a:t>
            </a:r>
            <a:endParaRPr lang="he-IL" dirty="0"/>
          </a:p>
          <a:p>
            <a:pPr>
              <a:buFont typeface="Arial" panose="020B0604020202020204" pitchFamily="34" charset="0"/>
              <a:buChar char="•"/>
            </a:pPr>
            <a:r>
              <a:rPr lang="he-IL" dirty="0"/>
              <a:t>התאמה: תעודת זהות מזהה אותך כאדם מורשה.</a:t>
            </a:r>
          </a:p>
          <a:p>
            <a:pPr>
              <a:buFont typeface="Arial" panose="020B0604020202020204" pitchFamily="34" charset="0"/>
              <a:buChar char="•"/>
            </a:pPr>
            <a:r>
              <a:rPr lang="he-IL" dirty="0"/>
              <a:t>הרשאה: כרטיס גישה מוודא אם יש לך הרשאה להיכנס לקומות מסוימות בבניין.</a:t>
            </a:r>
          </a:p>
          <a:p>
            <a:endParaRPr lang="he-IL" dirty="0"/>
          </a:p>
        </p:txBody>
      </p:sp>
    </p:spTree>
    <p:extLst>
      <p:ext uri="{BB962C8B-B14F-4D97-AF65-F5344CB8AC3E}">
        <p14:creationId xmlns:p14="http://schemas.microsoft.com/office/powerpoint/2010/main" val="354579035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E9B969E-CD96-4162-BA90-449BBDA95EA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23162" cy="6858000"/>
          </a:xfrm>
          <a:prstGeom prst="rect">
            <a:avLst/>
          </a:prstGeom>
          <a:solidFill>
            <a:schemeClr val="accent1"/>
          </a:solidFill>
          <a:ln>
            <a:noFill/>
          </a:ln>
        </p:spPr>
        <p:style>
          <a:lnRef idx="2">
            <a:schemeClr val="accent1">
              <a:shade val="50000"/>
            </a:schemeClr>
          </a:lnRef>
          <a:fillRef idx="1002">
            <a:schemeClr val="lt2"/>
          </a:fillRef>
          <a:effectRef idx="0">
            <a:schemeClr val="accent1"/>
          </a:effectRef>
          <a:fontRef idx="minor">
            <a:schemeClr val="lt1"/>
          </a:fontRef>
        </p:style>
        <p:txBody>
          <a:bodyPr rtlCol="0" anchor="ctr"/>
          <a:lstStyle/>
          <a:p>
            <a:pPr algn="ctr"/>
            <a:endParaRPr lang="en-US"/>
          </a:p>
        </p:txBody>
      </p:sp>
      <p:sp useBgFill="1">
        <p:nvSpPr>
          <p:cNvPr id="14" name="Rectangle 13">
            <a:extLst>
              <a:ext uri="{FF2B5EF4-FFF2-40B4-BE49-F238E27FC236}">
                <a16:creationId xmlns:a16="http://schemas.microsoft.com/office/drawing/2014/main" id="{6B6401A4-FEE5-4976-857C-1FD0CDB2E2DC}"/>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23162" y="0"/>
            <a:ext cx="816874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מציין מיקום תוכן 4">
            <a:extLst>
              <a:ext uri="{FF2B5EF4-FFF2-40B4-BE49-F238E27FC236}">
                <a16:creationId xmlns:a16="http://schemas.microsoft.com/office/drawing/2014/main" id="{834E99FD-94F4-154E-19FC-D7498D725C03}"/>
              </a:ext>
            </a:extLst>
          </p:cNvPr>
          <p:cNvPicPr>
            <a:picLocks noChangeAspect="1"/>
          </p:cNvPicPr>
          <p:nvPr/>
        </p:nvPicPr>
        <p:blipFill>
          <a:blip r:embed="rId2"/>
          <a:stretch>
            <a:fillRect/>
          </a:stretch>
        </p:blipFill>
        <p:spPr>
          <a:xfrm>
            <a:off x="4667497" y="2514360"/>
            <a:ext cx="6880072" cy="1668417"/>
          </a:xfrm>
          <a:prstGeom prst="rect">
            <a:avLst/>
          </a:prstGeom>
        </p:spPr>
      </p:pic>
      <p:sp>
        <p:nvSpPr>
          <p:cNvPr id="16" name="Rectangle 15">
            <a:extLst>
              <a:ext uri="{FF2B5EF4-FFF2-40B4-BE49-F238E27FC236}">
                <a16:creationId xmlns:a16="http://schemas.microsoft.com/office/drawing/2014/main" id="{047AF1DF-6993-45FB-92A5-C36B1A680F61}"/>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25029" cy="6858000"/>
          </a:xfrm>
          <a:prstGeom prst="rect">
            <a:avLst/>
          </a:prstGeom>
          <a:blipFill dpi="0" rotWithShape="1">
            <a:blip r:embed="rId3">
              <a:alphaModFix amt="6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he-IL"/>
          </a:p>
        </p:txBody>
      </p:sp>
      <p:sp>
        <p:nvSpPr>
          <p:cNvPr id="2" name="כותרת 1">
            <a:extLst>
              <a:ext uri="{FF2B5EF4-FFF2-40B4-BE49-F238E27FC236}">
                <a16:creationId xmlns:a16="http://schemas.microsoft.com/office/drawing/2014/main" id="{D1129607-8961-223E-A851-053B96D95252}"/>
              </a:ext>
            </a:extLst>
          </p:cNvPr>
          <p:cNvSpPr>
            <a:spLocks noGrp="1"/>
          </p:cNvSpPr>
          <p:nvPr>
            <p:ph type="title"/>
          </p:nvPr>
        </p:nvSpPr>
        <p:spPr>
          <a:xfrm>
            <a:off x="643433" y="643464"/>
            <a:ext cx="2888344" cy="1428737"/>
          </a:xfrm>
        </p:spPr>
        <p:txBody>
          <a:bodyPr>
            <a:normAutofit/>
          </a:bodyPr>
          <a:lstStyle/>
          <a:p>
            <a:r>
              <a:rPr lang="he-IL" sz="2700">
                <a:solidFill>
                  <a:srgbClr val="FFFFFF"/>
                </a:solidFill>
              </a:rPr>
              <a:t>הבדל בין </a:t>
            </a:r>
            <a:r>
              <a:rPr lang="en-US" sz="2700">
                <a:solidFill>
                  <a:srgbClr val="FFFFFF"/>
                </a:solidFill>
              </a:rPr>
              <a:t>Authentication </a:t>
            </a:r>
            <a:r>
              <a:rPr lang="he-IL" sz="2700">
                <a:solidFill>
                  <a:srgbClr val="FFFFFF"/>
                </a:solidFill>
              </a:rPr>
              <a:t>ל-</a:t>
            </a:r>
            <a:r>
              <a:rPr lang="en-US" sz="2700">
                <a:solidFill>
                  <a:srgbClr val="FFFFFF"/>
                </a:solidFill>
              </a:rPr>
              <a:t>Authorization</a:t>
            </a:r>
            <a:endParaRPr lang="he-IL" sz="2700">
              <a:solidFill>
                <a:srgbClr val="FFFFFF"/>
              </a:solidFill>
            </a:endParaRPr>
          </a:p>
        </p:txBody>
      </p:sp>
      <p:sp>
        <p:nvSpPr>
          <p:cNvPr id="9" name="Content Placeholder 8">
            <a:extLst>
              <a:ext uri="{FF2B5EF4-FFF2-40B4-BE49-F238E27FC236}">
                <a16:creationId xmlns:a16="http://schemas.microsoft.com/office/drawing/2014/main" id="{DEAD4379-E0CC-9370-9181-C1DB10FC8803}"/>
              </a:ext>
            </a:extLst>
          </p:cNvPr>
          <p:cNvSpPr>
            <a:spLocks noGrp="1"/>
          </p:cNvSpPr>
          <p:nvPr>
            <p:ph idx="1"/>
          </p:nvPr>
        </p:nvSpPr>
        <p:spPr>
          <a:xfrm>
            <a:off x="643337" y="2184036"/>
            <a:ext cx="2888439" cy="3869634"/>
          </a:xfrm>
        </p:spPr>
        <p:txBody>
          <a:bodyPr>
            <a:normAutofit/>
          </a:bodyPr>
          <a:lstStyle/>
          <a:p>
            <a:endParaRPr lang="en-US" sz="1600">
              <a:solidFill>
                <a:srgbClr val="FFFFFF"/>
              </a:solidFill>
            </a:endParaRPr>
          </a:p>
        </p:txBody>
      </p:sp>
    </p:spTree>
    <p:extLst>
      <p:ext uri="{BB962C8B-B14F-4D97-AF65-F5344CB8AC3E}">
        <p14:creationId xmlns:p14="http://schemas.microsoft.com/office/powerpoint/2010/main" val="2805345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9D3E04E8-7DE6-B960-D928-7EF72A9E9819}"/>
              </a:ext>
            </a:extLst>
          </p:cNvPr>
          <p:cNvSpPr>
            <a:spLocks noGrp="1"/>
          </p:cNvSpPr>
          <p:nvPr>
            <p:ph type="title"/>
          </p:nvPr>
        </p:nvSpPr>
        <p:spPr>
          <a:xfrm>
            <a:off x="6096000" y="642594"/>
            <a:ext cx="5029200" cy="1371600"/>
          </a:xfrm>
        </p:spPr>
        <p:txBody>
          <a:bodyPr/>
          <a:lstStyle/>
          <a:p>
            <a:r>
              <a:rPr lang="he-IL" dirty="0"/>
              <a:t>סוגי גישות הרשאה</a:t>
            </a:r>
          </a:p>
        </p:txBody>
      </p:sp>
      <p:sp>
        <p:nvSpPr>
          <p:cNvPr id="3" name="מציין מיקום תוכן 2">
            <a:extLst>
              <a:ext uri="{FF2B5EF4-FFF2-40B4-BE49-F238E27FC236}">
                <a16:creationId xmlns:a16="http://schemas.microsoft.com/office/drawing/2014/main" id="{843E13AE-8A20-2BD8-CC5D-DC6DF115AEC7}"/>
              </a:ext>
            </a:extLst>
          </p:cNvPr>
          <p:cNvSpPr>
            <a:spLocks noGrp="1"/>
          </p:cNvSpPr>
          <p:nvPr>
            <p:ph idx="1"/>
          </p:nvPr>
        </p:nvSpPr>
        <p:spPr/>
        <p:txBody>
          <a:bodyPr>
            <a:normAutofit lnSpcReduction="10000"/>
          </a:bodyPr>
          <a:lstStyle/>
          <a:p>
            <a:r>
              <a:rPr lang="he-IL" b="1" dirty="0"/>
              <a:t>בקרת גישה מבוססת תפקידים (</a:t>
            </a:r>
            <a:r>
              <a:rPr lang="en-US" b="1" dirty="0"/>
              <a:t>RBAC</a:t>
            </a:r>
            <a:r>
              <a:rPr lang="he-IL" b="1" dirty="0"/>
              <a:t>)</a:t>
            </a:r>
            <a:endParaRPr lang="en-US" b="1" dirty="0"/>
          </a:p>
          <a:p>
            <a:r>
              <a:rPr lang="he-IL" dirty="0"/>
              <a:t>בקרת גישה מבוססת תפקידים.</a:t>
            </a:r>
          </a:p>
          <a:p>
            <a:pPr>
              <a:buFont typeface="Arial" panose="020B0604020202020204" pitchFamily="34" charset="0"/>
              <a:buChar char="•"/>
            </a:pPr>
            <a:r>
              <a:rPr lang="he-IL" dirty="0"/>
              <a:t>למשתמשים מוקצים </a:t>
            </a:r>
            <a:r>
              <a:rPr lang="he-IL" i="1" dirty="0"/>
              <a:t>תפקידים</a:t>
            </a:r>
            <a:r>
              <a:rPr lang="he-IL" dirty="0"/>
              <a:t> , וכל תפקיד מגדיר את ההרשאות המוקצות לו.</a:t>
            </a:r>
          </a:p>
          <a:p>
            <a:pPr>
              <a:buFont typeface="Arial" panose="020B0604020202020204" pitchFamily="34" charset="0"/>
              <a:buChar char="•"/>
            </a:pPr>
            <a:r>
              <a:rPr lang="he-IL" b="1" dirty="0"/>
              <a:t>יתרונות:</a:t>
            </a:r>
            <a:endParaRPr lang="he-IL" dirty="0"/>
          </a:p>
          <a:p>
            <a:pPr marL="742950" lvl="1" indent="-285750">
              <a:buFont typeface="Arial" panose="020B0604020202020204" pitchFamily="34" charset="0"/>
              <a:buChar char="•"/>
            </a:pPr>
            <a:r>
              <a:rPr lang="he-IL" dirty="0"/>
              <a:t>קל לניהול.</a:t>
            </a:r>
          </a:p>
          <a:p>
            <a:pPr marL="742950" lvl="1" indent="-285750">
              <a:buFont typeface="Arial" panose="020B0604020202020204" pitchFamily="34" charset="0"/>
              <a:buChar char="•"/>
            </a:pPr>
            <a:r>
              <a:rPr lang="he-IL" dirty="0"/>
              <a:t>מתאים לארגונים עם היררכיה ברורה (כמו מנהלים מול עובדים).</a:t>
            </a:r>
          </a:p>
          <a:p>
            <a:pPr>
              <a:buFont typeface="Arial" panose="020B0604020202020204" pitchFamily="34" charset="0"/>
              <a:buChar char="•"/>
            </a:pPr>
            <a:r>
              <a:rPr lang="he-IL" b="1" dirty="0"/>
              <a:t>חסרונות:</a:t>
            </a:r>
            <a:endParaRPr lang="he-IL" dirty="0"/>
          </a:p>
          <a:p>
            <a:pPr marL="742950" lvl="1" indent="-285750">
              <a:buFont typeface="Arial" panose="020B0604020202020204" pitchFamily="34" charset="0"/>
              <a:buChar char="•"/>
            </a:pPr>
            <a:r>
              <a:rPr lang="he-IL" dirty="0"/>
              <a:t>קשה לנהל במערכות מורכבות עם מגוון רחב של הרשאות.</a:t>
            </a:r>
          </a:p>
          <a:p>
            <a:r>
              <a:rPr lang="he-IL" b="1" dirty="0"/>
              <a:t>דוגמה:</a:t>
            </a:r>
            <a:endParaRPr lang="he-IL" dirty="0"/>
          </a:p>
          <a:p>
            <a:pPr>
              <a:buFont typeface="Arial" panose="020B0604020202020204" pitchFamily="34" charset="0"/>
              <a:buChar char="•"/>
            </a:pPr>
            <a:r>
              <a:rPr lang="he-IL" dirty="0"/>
              <a:t>משתמש עם תפקיד "מנהל" יכול לגשת לכל המערכת.</a:t>
            </a:r>
          </a:p>
          <a:p>
            <a:pPr>
              <a:buFont typeface="Arial" panose="020B0604020202020204" pitchFamily="34" charset="0"/>
              <a:buChar char="•"/>
            </a:pPr>
            <a:r>
              <a:rPr lang="he-IL" dirty="0"/>
              <a:t>משתמש עם תפקיד "עובד" יכול לגשת רק לנתונים שהוא אחראי עליהם.</a:t>
            </a:r>
          </a:p>
          <a:p>
            <a:endParaRPr lang="he-IL" dirty="0"/>
          </a:p>
        </p:txBody>
      </p:sp>
    </p:spTree>
    <p:extLst>
      <p:ext uri="{BB962C8B-B14F-4D97-AF65-F5344CB8AC3E}">
        <p14:creationId xmlns:p14="http://schemas.microsoft.com/office/powerpoint/2010/main" val="414349420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9122446A-2989-7612-9E03-F8812A1F060C}"/>
              </a:ext>
            </a:extLst>
          </p:cNvPr>
          <p:cNvSpPr>
            <a:spLocks noGrp="1"/>
          </p:cNvSpPr>
          <p:nvPr>
            <p:ph type="title"/>
          </p:nvPr>
        </p:nvSpPr>
        <p:spPr>
          <a:xfrm>
            <a:off x="1839686" y="642594"/>
            <a:ext cx="9285514" cy="1371600"/>
          </a:xfrm>
        </p:spPr>
        <p:txBody>
          <a:bodyPr/>
          <a:lstStyle/>
          <a:p>
            <a:r>
              <a:rPr lang="he-IL" dirty="0"/>
              <a:t>בקרת גישה מבוססת תכונות (</a:t>
            </a:r>
            <a:r>
              <a:rPr lang="en-US" dirty="0"/>
              <a:t>(ABAC</a:t>
            </a:r>
            <a:endParaRPr lang="he-IL" dirty="0"/>
          </a:p>
        </p:txBody>
      </p:sp>
      <p:sp>
        <p:nvSpPr>
          <p:cNvPr id="3" name="מציין מיקום תוכן 2">
            <a:extLst>
              <a:ext uri="{FF2B5EF4-FFF2-40B4-BE49-F238E27FC236}">
                <a16:creationId xmlns:a16="http://schemas.microsoft.com/office/drawing/2014/main" id="{AF244073-8446-E280-5741-3E4222C3E9CD}"/>
              </a:ext>
            </a:extLst>
          </p:cNvPr>
          <p:cNvSpPr>
            <a:spLocks noGrp="1"/>
          </p:cNvSpPr>
          <p:nvPr>
            <p:ph idx="1"/>
          </p:nvPr>
        </p:nvSpPr>
        <p:spPr/>
        <p:txBody>
          <a:bodyPr>
            <a:normAutofit lnSpcReduction="10000"/>
          </a:bodyPr>
          <a:lstStyle/>
          <a:p>
            <a:r>
              <a:rPr lang="he-IL" dirty="0"/>
              <a:t>גישה מבוססת מאפיינים.</a:t>
            </a:r>
          </a:p>
          <a:p>
            <a:pPr>
              <a:buFont typeface="Arial" panose="020B0604020202020204" pitchFamily="34" charset="0"/>
              <a:buChar char="•"/>
            </a:pPr>
            <a:r>
              <a:rPr lang="he-IL" dirty="0"/>
              <a:t>ההרשאות ניתנות על סמך מאפיינים של המשתמש או המשאב.</a:t>
            </a:r>
          </a:p>
          <a:p>
            <a:pPr>
              <a:buFont typeface="Arial" panose="020B0604020202020204" pitchFamily="34" charset="0"/>
              <a:buChar char="•"/>
            </a:pPr>
            <a:r>
              <a:rPr lang="he-IL" b="1" dirty="0"/>
              <a:t>דוגמה למאפיינים:</a:t>
            </a:r>
            <a:endParaRPr lang="he-IL" dirty="0"/>
          </a:p>
          <a:p>
            <a:pPr marL="742950" lvl="1" indent="-285750">
              <a:buFont typeface="Arial" panose="020B0604020202020204" pitchFamily="34" charset="0"/>
              <a:buChar char="•"/>
            </a:pPr>
            <a:r>
              <a:rPr lang="he-IL" dirty="0"/>
              <a:t>תפקיד.</a:t>
            </a:r>
          </a:p>
          <a:p>
            <a:pPr marL="742950" lvl="1" indent="-285750">
              <a:buFont typeface="Arial" panose="020B0604020202020204" pitchFamily="34" charset="0"/>
              <a:buChar char="•"/>
            </a:pPr>
            <a:r>
              <a:rPr lang="he-IL" dirty="0"/>
              <a:t>מיקום גיאוגרפי.</a:t>
            </a:r>
          </a:p>
          <a:p>
            <a:pPr marL="742950" lvl="1" indent="-285750">
              <a:buFont typeface="Arial" panose="020B0604020202020204" pitchFamily="34" charset="0"/>
              <a:buChar char="•"/>
            </a:pPr>
            <a:r>
              <a:rPr lang="he-IL" dirty="0"/>
              <a:t>סוג מכשיר.</a:t>
            </a:r>
          </a:p>
          <a:p>
            <a:r>
              <a:rPr lang="he-IL" b="1" dirty="0"/>
              <a:t>יתרונות:</a:t>
            </a:r>
            <a:endParaRPr lang="he-IL" dirty="0"/>
          </a:p>
          <a:p>
            <a:pPr>
              <a:buFont typeface="Arial" panose="020B0604020202020204" pitchFamily="34" charset="0"/>
              <a:buChar char="•"/>
            </a:pPr>
            <a:r>
              <a:rPr lang="he-IL" dirty="0"/>
              <a:t>גמישות רבה יותר.</a:t>
            </a:r>
          </a:p>
          <a:p>
            <a:pPr>
              <a:buFont typeface="Arial" panose="020B0604020202020204" pitchFamily="34" charset="0"/>
              <a:buChar char="•"/>
            </a:pPr>
            <a:r>
              <a:rPr lang="he-IL" dirty="0"/>
              <a:t>מתאים למערכות עם חוקים מורכבים.</a:t>
            </a:r>
          </a:p>
          <a:p>
            <a:r>
              <a:rPr lang="he-IL" b="1" dirty="0"/>
              <a:t>דוגמה:</a:t>
            </a:r>
            <a:endParaRPr lang="he-IL" dirty="0"/>
          </a:p>
          <a:p>
            <a:pPr>
              <a:buFont typeface="Arial" panose="020B0604020202020204" pitchFamily="34" charset="0"/>
              <a:buChar char="•"/>
            </a:pPr>
            <a:r>
              <a:rPr lang="he-IL" dirty="0"/>
              <a:t>משתמש יכול לגשת למסמך ספציפי </a:t>
            </a:r>
            <a:r>
              <a:rPr lang="he-IL" i="1" dirty="0"/>
              <a:t>רק אם</a:t>
            </a:r>
            <a:r>
              <a:rPr lang="he-IL" dirty="0"/>
              <a:t> הוא נמצא במשרד או מחובר דרך רשת מאובטחת.</a:t>
            </a:r>
          </a:p>
          <a:p>
            <a:endParaRPr lang="he-IL" dirty="0"/>
          </a:p>
        </p:txBody>
      </p:sp>
    </p:spTree>
    <p:extLst>
      <p:ext uri="{BB962C8B-B14F-4D97-AF65-F5344CB8AC3E}">
        <p14:creationId xmlns:p14="http://schemas.microsoft.com/office/powerpoint/2010/main" val="196903698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7622FF59-41C4-CF45-260D-50DB83FE373A}"/>
              </a:ext>
            </a:extLst>
          </p:cNvPr>
          <p:cNvSpPr>
            <a:spLocks noGrp="1"/>
          </p:cNvSpPr>
          <p:nvPr>
            <p:ph type="title"/>
          </p:nvPr>
        </p:nvSpPr>
        <p:spPr>
          <a:xfrm>
            <a:off x="4212770" y="642594"/>
            <a:ext cx="6912429" cy="1371600"/>
          </a:xfrm>
        </p:spPr>
        <p:txBody>
          <a:bodyPr/>
          <a:lstStyle/>
          <a:p>
            <a:r>
              <a:rPr lang="he-IL" dirty="0"/>
              <a:t>רשימות בקרת גישה (</a:t>
            </a:r>
            <a:r>
              <a:rPr lang="en-US" dirty="0"/>
              <a:t>(ACL</a:t>
            </a:r>
            <a:endParaRPr lang="he-IL" dirty="0"/>
          </a:p>
        </p:txBody>
      </p:sp>
      <p:sp>
        <p:nvSpPr>
          <p:cNvPr id="3" name="מציין מיקום תוכן 2">
            <a:extLst>
              <a:ext uri="{FF2B5EF4-FFF2-40B4-BE49-F238E27FC236}">
                <a16:creationId xmlns:a16="http://schemas.microsoft.com/office/drawing/2014/main" id="{2514DAB3-3B4E-7A84-38F0-6BE36B54B8DD}"/>
              </a:ext>
            </a:extLst>
          </p:cNvPr>
          <p:cNvSpPr>
            <a:spLocks noGrp="1"/>
          </p:cNvSpPr>
          <p:nvPr>
            <p:ph idx="1"/>
          </p:nvPr>
        </p:nvSpPr>
        <p:spPr/>
        <p:txBody>
          <a:bodyPr/>
          <a:lstStyle/>
          <a:p>
            <a:r>
              <a:rPr lang="he-IL" dirty="0"/>
              <a:t>גישה מבוססת רשימות בקרת גישה.</a:t>
            </a:r>
          </a:p>
          <a:p>
            <a:pPr>
              <a:buFont typeface="Arial" panose="020B0604020202020204" pitchFamily="34" charset="0"/>
              <a:buChar char="•"/>
            </a:pPr>
            <a:r>
              <a:rPr lang="he-IL" dirty="0"/>
              <a:t>כל משאב מכיל רשימה מפורשת של מי יכול לשאת אליו ומה הפעולות המותרות.</a:t>
            </a:r>
          </a:p>
          <a:p>
            <a:r>
              <a:rPr lang="he-IL" b="1" dirty="0"/>
              <a:t>יתרונות:</a:t>
            </a:r>
            <a:endParaRPr lang="he-IL" dirty="0"/>
          </a:p>
          <a:p>
            <a:pPr>
              <a:buFont typeface="Arial" panose="020B0604020202020204" pitchFamily="34" charset="0"/>
              <a:buChar char="•"/>
            </a:pPr>
            <a:r>
              <a:rPr lang="he-IL" dirty="0"/>
              <a:t>שליטה פרטנית ומדויקת על כל משאב.</a:t>
            </a:r>
          </a:p>
          <a:p>
            <a:pPr>
              <a:buFont typeface="Arial" panose="020B0604020202020204" pitchFamily="34" charset="0"/>
              <a:buChar char="•"/>
            </a:pPr>
            <a:r>
              <a:rPr lang="he-IL" dirty="0"/>
              <a:t>מתאים למערכות קטנות.</a:t>
            </a:r>
          </a:p>
          <a:p>
            <a:r>
              <a:rPr lang="he-IL" b="1" dirty="0"/>
              <a:t>חסרונות:</a:t>
            </a:r>
            <a:endParaRPr lang="he-IL" dirty="0"/>
          </a:p>
          <a:p>
            <a:pPr>
              <a:buFont typeface="Arial" panose="020B0604020202020204" pitchFamily="34" charset="0"/>
              <a:buChar char="•"/>
            </a:pPr>
            <a:r>
              <a:rPr lang="he-IL" dirty="0"/>
              <a:t>קשה לניהול במערכות גדולות.</a:t>
            </a:r>
          </a:p>
          <a:p>
            <a:pPr>
              <a:buFont typeface="Arial" panose="020B0604020202020204" pitchFamily="34" charset="0"/>
              <a:buChar char="•"/>
            </a:pPr>
            <a:r>
              <a:rPr lang="he-IL" dirty="0"/>
              <a:t>הרשאות מפורטות מדי יכולות לגרום לשגיאות.</a:t>
            </a:r>
          </a:p>
          <a:p>
            <a:r>
              <a:rPr lang="he-IL" b="1" dirty="0"/>
              <a:t>דוגמה:</a:t>
            </a:r>
            <a:endParaRPr lang="he-IL" dirty="0"/>
          </a:p>
          <a:p>
            <a:pPr>
              <a:buFont typeface="Arial" panose="020B0604020202020204" pitchFamily="34" charset="0"/>
              <a:buChar char="•"/>
            </a:pPr>
            <a:r>
              <a:rPr lang="he-IL" dirty="0"/>
              <a:t>קובץ מסודר כך שרק "</a:t>
            </a:r>
            <a:r>
              <a:rPr lang="he-IL" dirty="0" err="1"/>
              <a:t>אדמין</a:t>
            </a:r>
            <a:r>
              <a:rPr lang="he-IL" dirty="0"/>
              <a:t>" יכול לקרוא ולכתוב, ו"משתמש רגיל" יכול רק לקרוא.</a:t>
            </a:r>
          </a:p>
          <a:p>
            <a:endParaRPr lang="he-IL" dirty="0"/>
          </a:p>
        </p:txBody>
      </p:sp>
    </p:spTree>
    <p:extLst>
      <p:ext uri="{BB962C8B-B14F-4D97-AF65-F5344CB8AC3E}">
        <p14:creationId xmlns:p14="http://schemas.microsoft.com/office/powerpoint/2010/main" val="119868452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8657A790-C731-3F22-E9D0-AA4BD6CE5555}"/>
              </a:ext>
            </a:extLst>
          </p:cNvPr>
          <p:cNvSpPr>
            <a:spLocks noGrp="1"/>
          </p:cNvSpPr>
          <p:nvPr>
            <p:ph type="title"/>
          </p:nvPr>
        </p:nvSpPr>
        <p:spPr>
          <a:xfrm>
            <a:off x="4582886" y="642594"/>
            <a:ext cx="6542314" cy="1371600"/>
          </a:xfrm>
        </p:spPr>
        <p:txBody>
          <a:bodyPr/>
          <a:lstStyle/>
          <a:p>
            <a:r>
              <a:rPr lang="he-IL" dirty="0"/>
              <a:t>בקרת גישה חובה (</a:t>
            </a:r>
            <a:r>
              <a:rPr lang="en-US" dirty="0"/>
              <a:t>(MAC</a:t>
            </a:r>
            <a:endParaRPr lang="he-IL" dirty="0"/>
          </a:p>
        </p:txBody>
      </p:sp>
      <p:sp>
        <p:nvSpPr>
          <p:cNvPr id="3" name="מציין מיקום תוכן 2">
            <a:extLst>
              <a:ext uri="{FF2B5EF4-FFF2-40B4-BE49-F238E27FC236}">
                <a16:creationId xmlns:a16="http://schemas.microsoft.com/office/drawing/2014/main" id="{2B3925F9-EDB4-5792-4DEB-160BB65F7B08}"/>
              </a:ext>
            </a:extLst>
          </p:cNvPr>
          <p:cNvSpPr>
            <a:spLocks noGrp="1"/>
          </p:cNvSpPr>
          <p:nvPr>
            <p:ph idx="1"/>
          </p:nvPr>
        </p:nvSpPr>
        <p:spPr/>
        <p:txBody>
          <a:bodyPr/>
          <a:lstStyle/>
          <a:p>
            <a:r>
              <a:rPr lang="he-IL" dirty="0"/>
              <a:t>גישה מבוססת בקרת חובה.</a:t>
            </a:r>
          </a:p>
          <a:p>
            <a:pPr>
              <a:buFont typeface="Arial" panose="020B0604020202020204" pitchFamily="34" charset="0"/>
              <a:buChar char="•"/>
            </a:pPr>
            <a:r>
              <a:rPr lang="he-IL" dirty="0"/>
              <a:t>הגבלות ההרשאה חוקיות על ידי מערכת או מרכזית, ולא ניתן לשנות אותם ברמת המשתמש.</a:t>
            </a:r>
          </a:p>
          <a:p>
            <a:r>
              <a:rPr lang="he-IL" b="1" dirty="0"/>
              <a:t>דוגמה:</a:t>
            </a:r>
            <a:endParaRPr lang="he-IL" dirty="0"/>
          </a:p>
          <a:p>
            <a:pPr>
              <a:buFont typeface="Arial" panose="020B0604020202020204" pitchFamily="34" charset="0"/>
              <a:buChar char="•"/>
            </a:pPr>
            <a:r>
              <a:rPr lang="he-IL" dirty="0"/>
              <a:t>מערכת ביטחונית שבה מסמכים מסווגים "סודי", "סודי ביותר", </a:t>
            </a:r>
            <a:r>
              <a:rPr lang="he-IL" dirty="0" err="1"/>
              <a:t>וכו</a:t>
            </a:r>
            <a:r>
              <a:rPr lang="he-IL" dirty="0"/>
              <a:t>', ומותר לגשת רק לפי דרגת סיווג.</a:t>
            </a:r>
          </a:p>
          <a:p>
            <a:endParaRPr lang="he-IL" dirty="0"/>
          </a:p>
        </p:txBody>
      </p:sp>
    </p:spTree>
    <p:extLst>
      <p:ext uri="{BB962C8B-B14F-4D97-AF65-F5344CB8AC3E}">
        <p14:creationId xmlns:p14="http://schemas.microsoft.com/office/powerpoint/2010/main" val="316007131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59890AE-7CD2-731C-3618-BD2B6F0B4A99}"/>
              </a:ext>
            </a:extLst>
          </p:cNvPr>
          <p:cNvSpPr>
            <a:spLocks noGrp="1"/>
          </p:cNvSpPr>
          <p:nvPr>
            <p:ph type="title"/>
          </p:nvPr>
        </p:nvSpPr>
        <p:spPr>
          <a:xfrm>
            <a:off x="2405742" y="642594"/>
            <a:ext cx="8719457" cy="1371600"/>
          </a:xfrm>
        </p:spPr>
        <p:txBody>
          <a:bodyPr/>
          <a:lstStyle/>
          <a:p>
            <a:r>
              <a:rPr lang="he-IL" dirty="0"/>
              <a:t>בקרת גישה לפי שיקול דעת (</a:t>
            </a:r>
            <a:r>
              <a:rPr lang="en-US" dirty="0"/>
              <a:t>(DAC</a:t>
            </a:r>
            <a:endParaRPr lang="he-IL" dirty="0"/>
          </a:p>
        </p:txBody>
      </p:sp>
      <p:sp>
        <p:nvSpPr>
          <p:cNvPr id="3" name="מציין מיקום תוכן 2">
            <a:extLst>
              <a:ext uri="{FF2B5EF4-FFF2-40B4-BE49-F238E27FC236}">
                <a16:creationId xmlns:a16="http://schemas.microsoft.com/office/drawing/2014/main" id="{50ED379D-3009-DE32-F371-4835C17C3F20}"/>
              </a:ext>
            </a:extLst>
          </p:cNvPr>
          <p:cNvSpPr>
            <a:spLocks noGrp="1"/>
          </p:cNvSpPr>
          <p:nvPr>
            <p:ph idx="1"/>
          </p:nvPr>
        </p:nvSpPr>
        <p:spPr/>
        <p:txBody>
          <a:bodyPr/>
          <a:lstStyle/>
          <a:p>
            <a:r>
              <a:rPr lang="he-IL" dirty="0"/>
              <a:t>גישה מבוססת בקרת שיקול דעת.</a:t>
            </a:r>
          </a:p>
          <a:p>
            <a:pPr>
              <a:buFont typeface="Arial" panose="020B0604020202020204" pitchFamily="34" charset="0"/>
              <a:buChar char="•"/>
            </a:pPr>
            <a:r>
              <a:rPr lang="he-IL" dirty="0"/>
              <a:t>בעלי המשאב יכולים לקבוע מי יכול לגשת אליו.</a:t>
            </a:r>
          </a:p>
          <a:p>
            <a:r>
              <a:rPr lang="he-IL" b="1" dirty="0"/>
              <a:t>דוגמה:</a:t>
            </a:r>
            <a:endParaRPr lang="he-IL" dirty="0"/>
          </a:p>
          <a:p>
            <a:pPr>
              <a:buFont typeface="Arial" panose="020B0604020202020204" pitchFamily="34" charset="0"/>
              <a:buChar char="•"/>
            </a:pPr>
            <a:r>
              <a:rPr lang="he-IL" dirty="0"/>
              <a:t>בעל תקשור יכול לבחור אם לשתף אותו עם משתמש אחר.</a:t>
            </a:r>
          </a:p>
          <a:p>
            <a:endParaRPr lang="he-IL" dirty="0"/>
          </a:p>
        </p:txBody>
      </p:sp>
    </p:spTree>
    <p:extLst>
      <p:ext uri="{BB962C8B-B14F-4D97-AF65-F5344CB8AC3E}">
        <p14:creationId xmlns:p14="http://schemas.microsoft.com/office/powerpoint/2010/main" val="324170099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53A548DB-E389-8AD4-7A31-89B320D2BFA9}"/>
              </a:ext>
            </a:extLst>
          </p:cNvPr>
          <p:cNvSpPr>
            <a:spLocks noGrp="1"/>
          </p:cNvSpPr>
          <p:nvPr>
            <p:ph type="title"/>
          </p:nvPr>
        </p:nvSpPr>
        <p:spPr>
          <a:xfrm>
            <a:off x="3004456" y="642594"/>
            <a:ext cx="8120743" cy="1371600"/>
          </a:xfrm>
        </p:spPr>
        <p:txBody>
          <a:bodyPr/>
          <a:lstStyle/>
          <a:p>
            <a:r>
              <a:rPr lang="he-IL" dirty="0"/>
              <a:t>עקרונות חשובים בניהול הרשאות</a:t>
            </a:r>
          </a:p>
        </p:txBody>
      </p:sp>
      <p:sp>
        <p:nvSpPr>
          <p:cNvPr id="3" name="מציין מיקום תוכן 2">
            <a:extLst>
              <a:ext uri="{FF2B5EF4-FFF2-40B4-BE49-F238E27FC236}">
                <a16:creationId xmlns:a16="http://schemas.microsoft.com/office/drawing/2014/main" id="{6C2275AA-8B5A-FF2C-7534-A5EC9DC1FE3F}"/>
              </a:ext>
            </a:extLst>
          </p:cNvPr>
          <p:cNvSpPr>
            <a:spLocks noGrp="1"/>
          </p:cNvSpPr>
          <p:nvPr>
            <p:ph idx="1"/>
          </p:nvPr>
        </p:nvSpPr>
        <p:spPr/>
        <p:txBody>
          <a:bodyPr>
            <a:normAutofit fontScale="92500" lnSpcReduction="20000"/>
          </a:bodyPr>
          <a:lstStyle/>
          <a:p>
            <a:r>
              <a:rPr lang="he-IL" sz="2200" b="1" u="sng" dirty="0"/>
              <a:t>עקרון המינימליות (עקרון המינימליות)</a:t>
            </a:r>
          </a:p>
          <a:p>
            <a:pPr>
              <a:buFont typeface="Arial" panose="020B0604020202020204" pitchFamily="34" charset="0"/>
              <a:buChar char="•"/>
            </a:pPr>
            <a:r>
              <a:rPr lang="he-IL" dirty="0"/>
              <a:t>משתמשים או תהליכים צריכים לקבל רק את אות ההכרחיות לביצוע תפקידים.</a:t>
            </a:r>
          </a:p>
          <a:p>
            <a:pPr>
              <a:buFont typeface="Arial" panose="020B0604020202020204" pitchFamily="34" charset="0"/>
              <a:buChar char="•"/>
            </a:pPr>
            <a:r>
              <a:rPr lang="he-IL" b="1" dirty="0"/>
              <a:t>דוגמה:</a:t>
            </a:r>
            <a:r>
              <a:rPr lang="he-IL" dirty="0"/>
              <a:t> עובד ולא לראות יכול רק את המסמכים שהוא צריך לעבוד איתם, את כל המסמכים בארגון.</a:t>
            </a:r>
          </a:p>
          <a:p>
            <a:r>
              <a:rPr lang="he-IL" sz="2200" b="1" u="sng" dirty="0"/>
              <a:t>הפרדת חובות (הפרדת סמכויות)</a:t>
            </a:r>
          </a:p>
          <a:p>
            <a:pPr>
              <a:buFont typeface="Arial" panose="020B0604020202020204" pitchFamily="34" charset="0"/>
              <a:buChar char="•"/>
            </a:pPr>
            <a:r>
              <a:rPr lang="he-IL" dirty="0"/>
              <a:t>יכול לבצע אותה לבד.</a:t>
            </a:r>
          </a:p>
          <a:p>
            <a:pPr>
              <a:buFont typeface="Arial" panose="020B0604020202020204" pitchFamily="34" charset="0"/>
              <a:buChar char="•"/>
            </a:pPr>
            <a:r>
              <a:rPr lang="he-IL" b="1" dirty="0"/>
              <a:t>דוגמה:</a:t>
            </a:r>
            <a:endParaRPr lang="he-IL" dirty="0"/>
          </a:p>
          <a:p>
            <a:pPr marL="742950" lvl="1" indent="-285750">
              <a:buFont typeface="Arial" panose="020B0604020202020204" pitchFamily="34" charset="0"/>
              <a:buChar char="•"/>
            </a:pPr>
            <a:r>
              <a:rPr lang="he-IL" dirty="0"/>
              <a:t>עובד אחד יוצר מחשבונית.</a:t>
            </a:r>
          </a:p>
          <a:p>
            <a:pPr marL="742950" lvl="1" indent="-285750">
              <a:buFont typeface="Arial" panose="020B0604020202020204" pitchFamily="34" charset="0"/>
              <a:buChar char="•"/>
            </a:pPr>
            <a:r>
              <a:rPr lang="he-IL" dirty="0"/>
              <a:t>עובד אחר מאשר אותה.</a:t>
            </a:r>
          </a:p>
          <a:p>
            <a:r>
              <a:rPr lang="he-IL" sz="2200" b="1" u="sng" dirty="0"/>
              <a:t>ביקורת ורישום (מעקב ורישום)</a:t>
            </a:r>
          </a:p>
          <a:p>
            <a:pPr>
              <a:buFont typeface="Arial" panose="020B0604020202020204" pitchFamily="34" charset="0"/>
              <a:buChar char="•"/>
            </a:pPr>
            <a:r>
              <a:rPr lang="he-IL" dirty="0"/>
              <a:t>כל פעולת הרשאה נרשמת למעקב אחר פעילות חריגה.</a:t>
            </a:r>
          </a:p>
          <a:p>
            <a:pPr>
              <a:buFont typeface="Arial" panose="020B0604020202020204" pitchFamily="34" charset="0"/>
              <a:buChar char="•"/>
            </a:pPr>
            <a:r>
              <a:rPr lang="he-IL" b="1" dirty="0"/>
              <a:t>דוגמה:</a:t>
            </a:r>
            <a:endParaRPr lang="he-IL" dirty="0"/>
          </a:p>
          <a:p>
            <a:pPr marL="742950" lvl="1" indent="-285750">
              <a:buFont typeface="Arial" panose="020B0604020202020204" pitchFamily="34" charset="0"/>
              <a:buChar char="•"/>
            </a:pPr>
            <a:r>
              <a:rPr lang="he-IL" dirty="0"/>
              <a:t>משתמש שניסה לגשת למשאב ללא הרשאה, פעולה זו תירשם ביומן הפעולות של המערכת.</a:t>
            </a:r>
          </a:p>
          <a:p>
            <a:endParaRPr lang="en-US" dirty="0"/>
          </a:p>
          <a:p>
            <a:endParaRPr lang="he-IL" dirty="0"/>
          </a:p>
        </p:txBody>
      </p:sp>
    </p:spTree>
    <p:extLst>
      <p:ext uri="{BB962C8B-B14F-4D97-AF65-F5344CB8AC3E}">
        <p14:creationId xmlns:p14="http://schemas.microsoft.com/office/powerpoint/2010/main" val="120720442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19AC00A-1959-A7FC-29D5-8851E0AAE0F5}"/>
              </a:ext>
            </a:extLst>
          </p:cNvPr>
          <p:cNvSpPr>
            <a:spLocks noGrp="1"/>
          </p:cNvSpPr>
          <p:nvPr>
            <p:ph type="title"/>
          </p:nvPr>
        </p:nvSpPr>
        <p:spPr>
          <a:xfrm>
            <a:off x="9100456" y="642594"/>
            <a:ext cx="2024743" cy="1371600"/>
          </a:xfrm>
        </p:spPr>
        <p:txBody>
          <a:bodyPr/>
          <a:lstStyle/>
          <a:p>
            <a:r>
              <a:rPr lang="he-IL" dirty="0"/>
              <a:t>שאלות</a:t>
            </a:r>
          </a:p>
        </p:txBody>
      </p:sp>
      <p:sp>
        <p:nvSpPr>
          <p:cNvPr id="3" name="מציין מיקום תוכן 2">
            <a:extLst>
              <a:ext uri="{FF2B5EF4-FFF2-40B4-BE49-F238E27FC236}">
                <a16:creationId xmlns:a16="http://schemas.microsoft.com/office/drawing/2014/main" id="{6284C8D5-ECBA-213A-867E-9ABD37D482D8}"/>
              </a:ext>
            </a:extLst>
          </p:cNvPr>
          <p:cNvSpPr>
            <a:spLocks noGrp="1"/>
          </p:cNvSpPr>
          <p:nvPr>
            <p:ph idx="1"/>
          </p:nvPr>
        </p:nvSpPr>
        <p:spPr/>
        <p:txBody>
          <a:bodyPr/>
          <a:lstStyle/>
          <a:p>
            <a:r>
              <a:rPr lang="he-IL" dirty="0"/>
              <a:t>1. מה ההבדל בין </a:t>
            </a:r>
            <a:r>
              <a:rPr lang="en-US" dirty="0"/>
              <a:t> Authentication</a:t>
            </a:r>
            <a:r>
              <a:rPr lang="he-IL" dirty="0"/>
              <a:t>ל- </a:t>
            </a:r>
            <a:r>
              <a:rPr lang="en-US" dirty="0"/>
              <a:t>Authorization</a:t>
            </a:r>
            <a:r>
              <a:rPr lang="he-IL" dirty="0"/>
              <a:t>?</a:t>
            </a:r>
            <a:r>
              <a:rPr lang="en-US" dirty="0"/>
              <a:t> </a:t>
            </a:r>
            <a:endParaRPr lang="he-IL" dirty="0"/>
          </a:p>
          <a:p>
            <a:r>
              <a:rPr lang="he-IL" dirty="0"/>
              <a:t>2. מה יתרון והחיסרון של </a:t>
            </a:r>
            <a:r>
              <a:rPr lang="en-US" dirty="0"/>
              <a:t>RBAC</a:t>
            </a:r>
            <a:r>
              <a:rPr lang="he-IL" dirty="0"/>
              <a:t>?</a:t>
            </a:r>
          </a:p>
          <a:p>
            <a:r>
              <a:rPr lang="he-IL" dirty="0"/>
              <a:t>3. הסבר את עקרון המינימליות ותרגם אותו דניאל לדוגמה מעשית.</a:t>
            </a:r>
          </a:p>
        </p:txBody>
      </p:sp>
    </p:spTree>
    <p:extLst>
      <p:ext uri="{BB962C8B-B14F-4D97-AF65-F5344CB8AC3E}">
        <p14:creationId xmlns:p14="http://schemas.microsoft.com/office/powerpoint/2010/main" val="336679695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3851ACE-A500-102A-6CBE-73206A3057A4}"/>
              </a:ext>
            </a:extLst>
          </p:cNvPr>
          <p:cNvSpPr>
            <a:spLocks noGrp="1"/>
          </p:cNvSpPr>
          <p:nvPr>
            <p:ph type="title"/>
          </p:nvPr>
        </p:nvSpPr>
        <p:spPr>
          <a:xfrm>
            <a:off x="8817428" y="642594"/>
            <a:ext cx="2307771" cy="1371600"/>
          </a:xfrm>
        </p:spPr>
        <p:txBody>
          <a:bodyPr/>
          <a:lstStyle/>
          <a:p>
            <a:r>
              <a:rPr lang="he-IL" dirty="0"/>
              <a:t>תשובות</a:t>
            </a:r>
          </a:p>
        </p:txBody>
      </p:sp>
      <p:sp>
        <p:nvSpPr>
          <p:cNvPr id="3" name="מציין מיקום תוכן 2">
            <a:extLst>
              <a:ext uri="{FF2B5EF4-FFF2-40B4-BE49-F238E27FC236}">
                <a16:creationId xmlns:a16="http://schemas.microsoft.com/office/drawing/2014/main" id="{547944F3-5E93-8BE7-A1CD-E5FBEE67BAC4}"/>
              </a:ext>
            </a:extLst>
          </p:cNvPr>
          <p:cNvSpPr>
            <a:spLocks noGrp="1"/>
          </p:cNvSpPr>
          <p:nvPr>
            <p:ph idx="1"/>
          </p:nvPr>
        </p:nvSpPr>
        <p:spPr>
          <a:xfrm>
            <a:off x="1066800" y="1621971"/>
            <a:ext cx="10058400" cy="4789715"/>
          </a:xfrm>
        </p:spPr>
        <p:txBody>
          <a:bodyPr>
            <a:normAutofit/>
          </a:bodyPr>
          <a:lstStyle/>
          <a:p>
            <a:r>
              <a:rPr lang="he-IL" dirty="0"/>
              <a:t>1. </a:t>
            </a:r>
            <a:r>
              <a:rPr lang="he-IL" b="1" dirty="0"/>
              <a:t>אימות (התאמה): </a:t>
            </a:r>
            <a:r>
              <a:rPr lang="he-IL" dirty="0"/>
              <a:t>תהליך זיהוי משתמש – מי אתה? דוגמה: כניסה למערכת עם שם משתמש וסיסמה.</a:t>
            </a:r>
          </a:p>
          <a:p>
            <a:r>
              <a:rPr lang="he-IL" b="1" dirty="0"/>
              <a:t>הרשאה (הרשאה): </a:t>
            </a:r>
            <a:r>
              <a:rPr lang="he-IL" dirty="0"/>
              <a:t>לעשות קבלת ההרשאות – מה מותר לך לעשות? דוגמה: האם מותר לך לקובץ מסוים או לבצע פעולה ספציפית.</a:t>
            </a:r>
          </a:p>
          <a:p>
            <a:r>
              <a:rPr lang="he-IL" dirty="0"/>
              <a:t>2. </a:t>
            </a:r>
            <a:r>
              <a:rPr lang="he-IL" b="1" dirty="0"/>
              <a:t>יתרון:</a:t>
            </a:r>
            <a:r>
              <a:rPr lang="he-IL" dirty="0"/>
              <a:t> </a:t>
            </a:r>
            <a:r>
              <a:rPr lang="he-IL" b="1" dirty="0"/>
              <a:t>קל לניהול:</a:t>
            </a:r>
            <a:r>
              <a:rPr lang="he-IL" dirty="0"/>
              <a:t> מערכת היררכית פשוטה שבה ניתן להגדיר הרשאות לתפקידים מרכזיים. </a:t>
            </a:r>
            <a:r>
              <a:rPr lang="he-IL" b="1" dirty="0" err="1"/>
              <a:t>סקלאביליות</a:t>
            </a:r>
            <a:r>
              <a:rPr lang="he-IL" b="1" dirty="0"/>
              <a:t>:</a:t>
            </a:r>
            <a:r>
              <a:rPr lang="he-IL" dirty="0"/>
              <a:t> מתאים לארגונים המשתמשים מתחלקים לתפקידים מוגדרים (כגון מנהלים, עובדים). </a:t>
            </a:r>
            <a:r>
              <a:rPr lang="he-IL" b="1" dirty="0"/>
              <a:t>חיסרון: גמישות נמוכה:</a:t>
            </a:r>
            <a:r>
              <a:rPr lang="he-IL" dirty="0"/>
              <a:t> מצרפים צריכות הרשאות מורכבות (כגון גישה מבוססת זמן או מקום), </a:t>
            </a:r>
            <a:r>
              <a:rPr lang="en-US" dirty="0"/>
              <a:t>RBAC</a:t>
            </a:r>
            <a:r>
              <a:rPr lang="he-IL" dirty="0"/>
              <a:t> לא תמיד מספק פתרון גמיש.</a:t>
            </a:r>
          </a:p>
          <a:p>
            <a:pPr>
              <a:buFont typeface="Arial" panose="020B0604020202020204" pitchFamily="34" charset="0"/>
              <a:buChar char="•"/>
            </a:pPr>
            <a:r>
              <a:rPr lang="he-IL" b="1" dirty="0"/>
              <a:t>תחזוקה מאתגרת במערכות גדולות:</a:t>
            </a:r>
            <a:r>
              <a:rPr lang="he-IL" dirty="0"/>
              <a:t> ככל שיש יותר משתמשים ותפקידים, הקצאת התפקידים הופכת למסובכת.</a:t>
            </a:r>
          </a:p>
          <a:p>
            <a:r>
              <a:rPr lang="he-IL" dirty="0"/>
              <a:t>3. </a:t>
            </a:r>
            <a:r>
              <a:rPr lang="he-IL" b="1" dirty="0"/>
              <a:t>עקרון המינימליות (עקרון הזכות הפחותה): </a:t>
            </a:r>
            <a:r>
              <a:rPr lang="he-IL" dirty="0"/>
              <a:t>נותנים למשתמשים או תהליכים רק את ההרשאות ההכרחיות לביצוע המשימה שלהם, ולא יותר. </a:t>
            </a:r>
            <a:r>
              <a:rPr lang="he-IL" b="1" dirty="0"/>
              <a:t>דוגמה מעשית: </a:t>
            </a:r>
            <a:r>
              <a:rPr lang="he-IL" dirty="0"/>
              <a:t>עובד במחלקת הנהלת חשבונות זקוק לגישה לתיקיות הקשורות למחשבות בלבד. הוא לא צריך גישה לתיקיות של מחלקת השיווק או מחלקת הפיתוח.</a:t>
            </a:r>
          </a:p>
          <a:p>
            <a:r>
              <a:rPr lang="he-IL" b="1" dirty="0"/>
              <a:t>השלכות אם לא נצמדים לעקרון: </a:t>
            </a:r>
            <a:r>
              <a:rPr lang="he-IL" dirty="0"/>
              <a:t>גישה עודפת על לגרום לדליפת נתונים או לפעולות לא מכוונות שעלולות בארגון.</a:t>
            </a:r>
          </a:p>
          <a:p>
            <a:pPr marL="0" indent="0">
              <a:buNone/>
            </a:pPr>
            <a:endParaRPr lang="he-IL" dirty="0"/>
          </a:p>
        </p:txBody>
      </p:sp>
    </p:spTree>
    <p:extLst>
      <p:ext uri="{BB962C8B-B14F-4D97-AF65-F5344CB8AC3E}">
        <p14:creationId xmlns:p14="http://schemas.microsoft.com/office/powerpoint/2010/main" val="133546002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p:cNvSpPr>
            <a:spLocks noGrp="1"/>
          </p:cNvSpPr>
          <p:nvPr>
            <p:ph idx="1"/>
          </p:nvPr>
        </p:nvSpPr>
        <p:spPr/>
        <p:txBody>
          <a:bodyPr>
            <a:normAutofit/>
          </a:bodyPr>
          <a:lstStyle/>
          <a:p>
            <a:pPr algn="ctr"/>
            <a:r>
              <a:rPr lang="en-US" sz="6000" dirty="0"/>
              <a:t>Fingerprinting Authorization</a:t>
            </a:r>
            <a:endParaRPr lang="he-IL" sz="6000" dirty="0"/>
          </a:p>
        </p:txBody>
      </p:sp>
    </p:spTree>
    <p:extLst>
      <p:ext uri="{BB962C8B-B14F-4D97-AF65-F5344CB8AC3E}">
        <p14:creationId xmlns:p14="http://schemas.microsoft.com/office/powerpoint/2010/main" val="250232145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738554" y="633802"/>
            <a:ext cx="11298115" cy="1371600"/>
          </a:xfrm>
        </p:spPr>
        <p:txBody>
          <a:bodyPr>
            <a:normAutofit fontScale="90000"/>
          </a:bodyPr>
          <a:lstStyle/>
          <a:p>
            <a:r>
              <a:rPr lang="he-IL" dirty="0"/>
              <a:t>מה זה </a:t>
            </a:r>
            <a:r>
              <a:rPr lang="en-US" dirty="0"/>
              <a:t>Fingerprinting Authorization (</a:t>
            </a:r>
            <a:r>
              <a:rPr lang="en-US" dirty="0" err="1"/>
              <a:t>Authz</a:t>
            </a:r>
            <a:r>
              <a:rPr lang="en-US" dirty="0"/>
              <a:t>)</a:t>
            </a:r>
            <a:endParaRPr lang="he-IL" dirty="0"/>
          </a:p>
        </p:txBody>
      </p:sp>
      <p:sp>
        <p:nvSpPr>
          <p:cNvPr id="3" name="מציין מיקום תוכן 2"/>
          <p:cNvSpPr>
            <a:spLocks noGrp="1"/>
          </p:cNvSpPr>
          <p:nvPr>
            <p:ph idx="1"/>
          </p:nvPr>
        </p:nvSpPr>
        <p:spPr/>
        <p:txBody>
          <a:bodyPr/>
          <a:lstStyle/>
          <a:p>
            <a:r>
              <a:rPr lang="en-US" b="1" dirty="0"/>
              <a:t>Fingerprinting Authorization</a:t>
            </a:r>
            <a:r>
              <a:rPr lang="en-US" dirty="0"/>
              <a:t> </a:t>
            </a:r>
            <a:r>
              <a:rPr lang="he-IL" dirty="0"/>
              <a:t>הוא תהליך של זיהוי</a:t>
            </a:r>
            <a:r>
              <a:rPr lang="en-US" dirty="0"/>
              <a:t>Fingerprinting </a:t>
            </a:r>
            <a:r>
              <a:rPr lang="he-IL" dirty="0"/>
              <a:t> חולשות והבנה של מדיניות בקרת הגישה (</a:t>
            </a:r>
            <a:r>
              <a:rPr lang="en-US" dirty="0"/>
              <a:t>Access Control) </a:t>
            </a:r>
            <a:r>
              <a:rPr lang="he-IL" dirty="0"/>
              <a:t>במערכת. הרעיון המרכזי הוא לגלות איך המערכת מטפלת בהרשאות, האם קיימות פרצות אבטחה, ואיך ניתן לנצל אותן.</a:t>
            </a:r>
          </a:p>
          <a:p>
            <a:r>
              <a:rPr lang="he-IL" dirty="0"/>
              <a:t>מטרות עיקריות:</a:t>
            </a:r>
          </a:p>
          <a:p>
            <a:r>
              <a:rPr lang="he-IL" dirty="0"/>
              <a:t>1. לזהות </a:t>
            </a:r>
            <a:r>
              <a:rPr lang="he-IL" b="1" dirty="0"/>
              <a:t>כשלים</a:t>
            </a:r>
            <a:r>
              <a:rPr lang="he-IL" dirty="0"/>
              <a:t> בבקרת גישה.</a:t>
            </a:r>
          </a:p>
          <a:p>
            <a:r>
              <a:rPr lang="he-IL" dirty="0"/>
              <a:t>2. להבין את המנגנונים שהמערכת משתמשת בהם.</a:t>
            </a:r>
          </a:p>
          <a:p>
            <a:r>
              <a:rPr lang="he-IL" dirty="0"/>
              <a:t>3. לנצל </a:t>
            </a:r>
            <a:r>
              <a:rPr lang="he-IL" dirty="0" err="1"/>
              <a:t>פגיעויות</a:t>
            </a:r>
            <a:r>
              <a:rPr lang="he-IL" dirty="0"/>
              <a:t> כמו: </a:t>
            </a:r>
            <a:r>
              <a:rPr lang="en-US" dirty="0"/>
              <a:t>IDOR (Insecure Direct Object References)</a:t>
            </a:r>
            <a:r>
              <a:rPr lang="he-IL" dirty="0"/>
              <a:t>, </a:t>
            </a:r>
            <a:r>
              <a:rPr lang="en-US" dirty="0"/>
              <a:t>Broken Access Control</a:t>
            </a:r>
            <a:r>
              <a:rPr lang="he-IL" dirty="0"/>
              <a:t>, </a:t>
            </a:r>
            <a:r>
              <a:rPr lang="en-US" dirty="0"/>
              <a:t>Privilege Escalation</a:t>
            </a:r>
            <a:endParaRPr lang="he-IL" dirty="0"/>
          </a:p>
          <a:p>
            <a:endParaRPr lang="he-IL" dirty="0"/>
          </a:p>
          <a:p>
            <a:endParaRPr lang="he-IL" dirty="0"/>
          </a:p>
        </p:txBody>
      </p:sp>
    </p:spTree>
    <p:extLst>
      <p:ext uri="{BB962C8B-B14F-4D97-AF65-F5344CB8AC3E}">
        <p14:creationId xmlns:p14="http://schemas.microsoft.com/office/powerpoint/2010/main" val="318195626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6998676" y="642594"/>
            <a:ext cx="4126523" cy="1371600"/>
          </a:xfrm>
        </p:spPr>
        <p:txBody>
          <a:bodyPr/>
          <a:lstStyle/>
          <a:p>
            <a:r>
              <a:rPr lang="he-IL" dirty="0"/>
              <a:t>מושגים מרכזיים</a:t>
            </a:r>
          </a:p>
        </p:txBody>
      </p:sp>
      <p:sp>
        <p:nvSpPr>
          <p:cNvPr id="3" name="מציין מיקום תוכן 2"/>
          <p:cNvSpPr>
            <a:spLocks noGrp="1"/>
          </p:cNvSpPr>
          <p:nvPr>
            <p:ph idx="1"/>
          </p:nvPr>
        </p:nvSpPr>
        <p:spPr/>
        <p:txBody>
          <a:bodyPr/>
          <a:lstStyle/>
          <a:p>
            <a:r>
              <a:rPr lang="he-IL" dirty="0"/>
              <a:t>1. </a:t>
            </a:r>
            <a:r>
              <a:rPr lang="en-US" dirty="0"/>
              <a:t> </a:t>
            </a:r>
            <a:r>
              <a:rPr lang="en-US" b="1" dirty="0"/>
              <a:t>Access Control</a:t>
            </a:r>
            <a:r>
              <a:rPr lang="he-IL" b="1" dirty="0"/>
              <a:t>בקרת גישה:</a:t>
            </a:r>
            <a:r>
              <a:rPr lang="he-IL" dirty="0"/>
              <a:t> מנגנון המגביל את הגישה למידע, משאבים, או פעולות לפי הרשאות המשתמש.</a:t>
            </a:r>
          </a:p>
          <a:p>
            <a:endParaRPr lang="he-IL" dirty="0"/>
          </a:p>
          <a:p>
            <a:r>
              <a:rPr lang="he-IL" dirty="0"/>
              <a:t>2. </a:t>
            </a:r>
            <a:r>
              <a:rPr lang="en-US" b="1" dirty="0"/>
              <a:t>Privilege Escalation</a:t>
            </a:r>
            <a:r>
              <a:rPr lang="he-IL" b="1" dirty="0"/>
              <a:t> הסלמת הרשאות:</a:t>
            </a:r>
            <a:r>
              <a:rPr lang="he-IL" dirty="0"/>
              <a:t> תהליך שבו תוקף מרחיב את ההרשאות שלו מעבר למה שהוקצה לו במקור.</a:t>
            </a:r>
          </a:p>
          <a:p>
            <a:endParaRPr lang="he-IL" dirty="0"/>
          </a:p>
          <a:p>
            <a:r>
              <a:rPr lang="he-IL" dirty="0"/>
              <a:t>3. </a:t>
            </a:r>
            <a:r>
              <a:rPr lang="en-US" dirty="0"/>
              <a:t> :</a:t>
            </a:r>
            <a:r>
              <a:rPr lang="en-US" b="1" dirty="0"/>
              <a:t>IDOR Insecure Direct Object Reference</a:t>
            </a:r>
            <a:r>
              <a:rPr lang="he-IL" dirty="0"/>
              <a:t>פגיעות שבה תוקף יכול לגשת לאובייקטים כמו קבצים, נתונים, או </a:t>
            </a:r>
            <a:r>
              <a:rPr lang="en-US" dirty="0"/>
              <a:t> API</a:t>
            </a:r>
            <a:r>
              <a:rPr lang="he-IL" dirty="0"/>
              <a:t>שהוא לא אמור להיות מורשה לגשת אליהם.</a:t>
            </a:r>
          </a:p>
          <a:p>
            <a:endParaRPr lang="he-IL" dirty="0"/>
          </a:p>
        </p:txBody>
      </p:sp>
    </p:spTree>
    <p:extLst>
      <p:ext uri="{BB962C8B-B14F-4D97-AF65-F5344CB8AC3E}">
        <p14:creationId xmlns:p14="http://schemas.microsoft.com/office/powerpoint/2010/main" val="16845188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1450730" y="642594"/>
            <a:ext cx="9674469" cy="1371600"/>
          </a:xfrm>
        </p:spPr>
        <p:txBody>
          <a:bodyPr/>
          <a:lstStyle/>
          <a:p>
            <a:r>
              <a:rPr lang="he-IL" dirty="0"/>
              <a:t>שלבי </a:t>
            </a:r>
            <a:r>
              <a:rPr lang="en-US" dirty="0"/>
              <a:t>Fingerprinting Authorization</a:t>
            </a:r>
            <a:endParaRPr lang="he-IL" dirty="0"/>
          </a:p>
        </p:txBody>
      </p:sp>
      <p:sp>
        <p:nvSpPr>
          <p:cNvPr id="3" name="מציין מיקום תוכן 2"/>
          <p:cNvSpPr>
            <a:spLocks noGrp="1"/>
          </p:cNvSpPr>
          <p:nvPr>
            <p:ph idx="1"/>
          </p:nvPr>
        </p:nvSpPr>
        <p:spPr/>
        <p:txBody>
          <a:bodyPr>
            <a:normAutofit lnSpcReduction="10000"/>
          </a:bodyPr>
          <a:lstStyle/>
          <a:p>
            <a:r>
              <a:rPr lang="he-IL" dirty="0"/>
              <a:t>1. </a:t>
            </a:r>
            <a:r>
              <a:rPr lang="he-IL" b="1" dirty="0"/>
              <a:t>מיפוי פונקציות רלוונטיות:</a:t>
            </a:r>
            <a:endParaRPr lang="he-IL" dirty="0"/>
          </a:p>
          <a:p>
            <a:r>
              <a:rPr lang="he-IL" dirty="0"/>
              <a:t>זיהוי פעולות שמערכת מספקת (קריאות</a:t>
            </a:r>
            <a:r>
              <a:rPr lang="en-US" dirty="0"/>
              <a:t> API </a:t>
            </a:r>
            <a:r>
              <a:rPr lang="he-IL" dirty="0"/>
              <a:t>דפי אינטרנט, קבצים).</a:t>
            </a:r>
          </a:p>
          <a:p>
            <a:r>
              <a:rPr lang="he-IL" dirty="0"/>
              <a:t>דוגמה: גישה ל-</a:t>
            </a:r>
            <a:r>
              <a:rPr lang="en-US" dirty="0"/>
              <a:t> URL </a:t>
            </a:r>
            <a:r>
              <a:rPr lang="he-IL" dirty="0"/>
              <a:t>מסוים שדורש הרשאות מסוימות.</a:t>
            </a:r>
          </a:p>
          <a:p>
            <a:r>
              <a:rPr lang="he-IL" dirty="0"/>
              <a:t>2. </a:t>
            </a:r>
            <a:r>
              <a:rPr lang="he-IL" b="1" dirty="0"/>
              <a:t>בדיקת הרשאות:</a:t>
            </a:r>
            <a:endParaRPr lang="he-IL" dirty="0"/>
          </a:p>
          <a:p>
            <a:r>
              <a:rPr lang="he-IL" dirty="0"/>
              <a:t>גישה למשאבים תוך שינוי פרמטרים כמו:</a:t>
            </a:r>
          </a:p>
          <a:p>
            <a:pPr lvl="1"/>
            <a:r>
              <a:rPr lang="he-IL" dirty="0" err="1"/>
              <a:t>מזהי</a:t>
            </a:r>
            <a:r>
              <a:rPr lang="he-IL" dirty="0"/>
              <a:t> משתמשים </a:t>
            </a:r>
            <a:r>
              <a:rPr lang="en-US" dirty="0"/>
              <a:t>User IDs</a:t>
            </a:r>
          </a:p>
          <a:p>
            <a:pPr lvl="1"/>
            <a:r>
              <a:rPr lang="he-IL" dirty="0" err="1"/>
              <a:t>מזהי</a:t>
            </a:r>
            <a:r>
              <a:rPr lang="he-IL" dirty="0"/>
              <a:t> קבצים </a:t>
            </a:r>
            <a:r>
              <a:rPr lang="en-US" dirty="0"/>
              <a:t>File IDs</a:t>
            </a:r>
          </a:p>
          <a:p>
            <a:r>
              <a:rPr lang="he-IL" dirty="0"/>
              <a:t>ניסיון להבין אילו הגבלות קיימות.</a:t>
            </a:r>
          </a:p>
          <a:p>
            <a:r>
              <a:rPr lang="he-IL" dirty="0"/>
              <a:t>3. </a:t>
            </a:r>
            <a:r>
              <a:rPr lang="he-IL" b="1" dirty="0"/>
              <a:t>ניסוי בתרחישים חריגים:</a:t>
            </a:r>
            <a:endParaRPr lang="he-IL" dirty="0"/>
          </a:p>
          <a:p>
            <a:r>
              <a:rPr lang="he-IL" dirty="0"/>
              <a:t>מה קורה אם המשתמש שולח בקשה לא תקינה?</a:t>
            </a:r>
          </a:p>
          <a:p>
            <a:r>
              <a:rPr lang="he-IL" dirty="0"/>
              <a:t>האם יש אפשרות לדלוף מידע ללא הרשאה מתאימה?</a:t>
            </a:r>
          </a:p>
          <a:p>
            <a:endParaRPr lang="he-IL" dirty="0"/>
          </a:p>
          <a:p>
            <a:endParaRPr lang="he-IL" dirty="0"/>
          </a:p>
        </p:txBody>
      </p:sp>
    </p:spTree>
    <p:extLst>
      <p:ext uri="{BB962C8B-B14F-4D97-AF65-F5344CB8AC3E}">
        <p14:creationId xmlns:p14="http://schemas.microsoft.com/office/powerpoint/2010/main" val="2402725020"/>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5354514" y="642594"/>
            <a:ext cx="5770685" cy="1371600"/>
          </a:xfrm>
        </p:spPr>
        <p:txBody>
          <a:bodyPr/>
          <a:lstStyle/>
          <a:p>
            <a:r>
              <a:rPr lang="he-IL" dirty="0"/>
              <a:t>דוגמה מעשית - </a:t>
            </a:r>
            <a:r>
              <a:rPr lang="en-US" dirty="0"/>
              <a:t>IDOR</a:t>
            </a:r>
            <a:endParaRPr lang="he-IL" dirty="0"/>
          </a:p>
        </p:txBody>
      </p:sp>
      <p:sp>
        <p:nvSpPr>
          <p:cNvPr id="3" name="מציין מיקום תוכן 2"/>
          <p:cNvSpPr>
            <a:spLocks noGrp="1"/>
          </p:cNvSpPr>
          <p:nvPr>
            <p:ph idx="1"/>
          </p:nvPr>
        </p:nvSpPr>
        <p:spPr/>
        <p:txBody>
          <a:bodyPr/>
          <a:lstStyle/>
          <a:p>
            <a:r>
              <a:rPr lang="he-IL" b="1" dirty="0"/>
              <a:t>תיאור:</a:t>
            </a:r>
          </a:p>
          <a:p>
            <a:r>
              <a:rPr lang="he-IL" dirty="0"/>
              <a:t>אתה גולש באתר שבו יש </a:t>
            </a:r>
            <a:r>
              <a:rPr lang="en-US" dirty="0"/>
              <a:t> URL</a:t>
            </a:r>
            <a:r>
              <a:rPr lang="he-IL" dirty="0"/>
              <a:t>לגישה לחשבון המשתמש שלך:</a:t>
            </a:r>
          </a:p>
          <a:p>
            <a:pPr algn="l"/>
            <a:r>
              <a:rPr lang="en-US" dirty="0"/>
              <a:t>https://example.com/profile?id=123</a:t>
            </a:r>
          </a:p>
          <a:p>
            <a:r>
              <a:rPr lang="he-IL" b="1" dirty="0"/>
              <a:t>תרחיש:</a:t>
            </a:r>
          </a:p>
          <a:p>
            <a:r>
              <a:rPr lang="he-IL" dirty="0"/>
              <a:t>1. אתה מחובר כמשתמש </a:t>
            </a:r>
            <a:r>
              <a:rPr lang="en-US" dirty="0"/>
              <a:t>ID 123</a:t>
            </a:r>
            <a:r>
              <a:rPr lang="he-IL" dirty="0"/>
              <a:t>.</a:t>
            </a:r>
            <a:endParaRPr lang="en-US" dirty="0"/>
          </a:p>
          <a:p>
            <a:r>
              <a:rPr lang="he-IL" dirty="0"/>
              <a:t>2. מה קורה אם תשנה את ה-</a:t>
            </a:r>
            <a:r>
              <a:rPr lang="en-US" dirty="0"/>
              <a:t>ID </a:t>
            </a:r>
            <a:r>
              <a:rPr lang="he-IL" dirty="0"/>
              <a:t> ל- 124?</a:t>
            </a:r>
          </a:p>
          <a:p>
            <a:pPr algn="l"/>
            <a:r>
              <a:rPr lang="en-US" dirty="0"/>
              <a:t>https://example.com/profile?id=124</a:t>
            </a:r>
          </a:p>
          <a:p>
            <a:r>
              <a:rPr lang="he-IL" b="1" dirty="0"/>
              <a:t>שאלה:</a:t>
            </a:r>
          </a:p>
          <a:p>
            <a:r>
              <a:rPr lang="he-IL" dirty="0"/>
              <a:t>האם אתה יכול לגשת למידע של משתמש אחר ללא הרשאה מתאימה?</a:t>
            </a:r>
          </a:p>
          <a:p>
            <a:endParaRPr lang="he-IL" dirty="0"/>
          </a:p>
          <a:p>
            <a:endParaRPr lang="he-IL" dirty="0"/>
          </a:p>
        </p:txBody>
      </p:sp>
    </p:spTree>
    <p:extLst>
      <p:ext uri="{BB962C8B-B14F-4D97-AF65-F5344CB8AC3E}">
        <p14:creationId xmlns:p14="http://schemas.microsoft.com/office/powerpoint/2010/main" val="233209179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8062546" y="642594"/>
            <a:ext cx="3062654" cy="1371600"/>
          </a:xfrm>
        </p:spPr>
        <p:txBody>
          <a:bodyPr/>
          <a:lstStyle/>
          <a:p>
            <a:r>
              <a:rPr lang="he-IL" dirty="0"/>
              <a:t>דוגמה בקוד</a:t>
            </a:r>
          </a:p>
        </p:txBody>
      </p:sp>
      <p:sp>
        <p:nvSpPr>
          <p:cNvPr id="3" name="מציין מיקום תוכן 2"/>
          <p:cNvSpPr>
            <a:spLocks noGrp="1"/>
          </p:cNvSpPr>
          <p:nvPr>
            <p:ph idx="1"/>
          </p:nvPr>
        </p:nvSpPr>
        <p:spPr/>
        <p:txBody>
          <a:bodyPr/>
          <a:lstStyle/>
          <a:p>
            <a:r>
              <a:rPr lang="he-IL" dirty="0"/>
              <a:t>תרחיש - בקרת גישה לקובץ:</a:t>
            </a:r>
          </a:p>
          <a:p>
            <a:pPr algn="l"/>
            <a:r>
              <a:rPr lang="en-US" dirty="0" err="1"/>
              <a:t>def</a:t>
            </a:r>
            <a:r>
              <a:rPr lang="en-US" dirty="0"/>
              <a:t> </a:t>
            </a:r>
            <a:r>
              <a:rPr lang="en-US" dirty="0" err="1"/>
              <a:t>get_file</a:t>
            </a:r>
            <a:r>
              <a:rPr lang="en-US" dirty="0"/>
              <a:t>(</a:t>
            </a:r>
            <a:r>
              <a:rPr lang="en-US" dirty="0" err="1"/>
              <a:t>user_id</a:t>
            </a:r>
            <a:r>
              <a:rPr lang="en-US" dirty="0"/>
              <a:t>, </a:t>
            </a:r>
            <a:r>
              <a:rPr lang="en-US" dirty="0" err="1"/>
              <a:t>file_id</a:t>
            </a:r>
            <a:r>
              <a:rPr lang="en-US" dirty="0"/>
              <a:t>):</a:t>
            </a:r>
          </a:p>
          <a:p>
            <a:pPr algn="l"/>
            <a:r>
              <a:rPr lang="he-IL" dirty="0"/>
              <a:t>בדיקה אם הקובץ שייך למשתמש #</a:t>
            </a:r>
          </a:p>
          <a:p>
            <a:pPr algn="l"/>
            <a:r>
              <a:rPr lang="he-IL" dirty="0"/>
              <a:t>    </a:t>
            </a:r>
            <a:r>
              <a:rPr lang="en-US" dirty="0"/>
              <a:t>if </a:t>
            </a:r>
            <a:r>
              <a:rPr lang="en-US" dirty="0" err="1"/>
              <a:t>is_authorized</a:t>
            </a:r>
            <a:r>
              <a:rPr lang="en-US" dirty="0"/>
              <a:t>(</a:t>
            </a:r>
            <a:r>
              <a:rPr lang="en-US" dirty="0" err="1"/>
              <a:t>user_id</a:t>
            </a:r>
            <a:r>
              <a:rPr lang="en-US" dirty="0"/>
              <a:t>, </a:t>
            </a:r>
            <a:r>
              <a:rPr lang="en-US" dirty="0" err="1"/>
              <a:t>file_id</a:t>
            </a:r>
            <a:r>
              <a:rPr lang="en-US" dirty="0"/>
              <a:t>):</a:t>
            </a:r>
          </a:p>
          <a:p>
            <a:pPr algn="l"/>
            <a:r>
              <a:rPr lang="en-US" dirty="0"/>
              <a:t>        return </a:t>
            </a:r>
            <a:r>
              <a:rPr lang="en-US" dirty="0" err="1"/>
              <a:t>open_file</a:t>
            </a:r>
            <a:r>
              <a:rPr lang="en-US" dirty="0"/>
              <a:t>(</a:t>
            </a:r>
            <a:r>
              <a:rPr lang="en-US" dirty="0" err="1"/>
              <a:t>file_id</a:t>
            </a:r>
            <a:r>
              <a:rPr lang="en-US" dirty="0"/>
              <a:t>)</a:t>
            </a:r>
          </a:p>
          <a:p>
            <a:pPr algn="l"/>
            <a:r>
              <a:rPr lang="en-US" dirty="0"/>
              <a:t>    else:</a:t>
            </a:r>
          </a:p>
          <a:p>
            <a:pPr algn="l"/>
            <a:r>
              <a:rPr lang="en-US" dirty="0"/>
              <a:t>        return "Access Denied"</a:t>
            </a:r>
            <a:endParaRPr lang="he-IL" dirty="0"/>
          </a:p>
          <a:p>
            <a:r>
              <a:rPr lang="he-IL" b="1" dirty="0"/>
              <a:t>חולשה פוטנציאלית:</a:t>
            </a:r>
          </a:p>
          <a:p>
            <a:r>
              <a:rPr lang="he-IL" dirty="0"/>
              <a:t>אם הפונקציה </a:t>
            </a:r>
            <a:r>
              <a:rPr lang="en-US" dirty="0" err="1"/>
              <a:t>is_authorized</a:t>
            </a:r>
            <a:r>
              <a:rPr lang="he-IL" dirty="0"/>
              <a:t> לא נכתבה נכון, ייתכן שתוקף יוכל לגשת לקבצים שהוא לא מורשה לראות.</a:t>
            </a:r>
          </a:p>
          <a:p>
            <a:endParaRPr lang="en-US" dirty="0"/>
          </a:p>
          <a:p>
            <a:pPr algn="l"/>
            <a:endParaRPr lang="he-IL" dirty="0"/>
          </a:p>
        </p:txBody>
      </p:sp>
    </p:spTree>
    <p:extLst>
      <p:ext uri="{BB962C8B-B14F-4D97-AF65-F5344CB8AC3E}">
        <p14:creationId xmlns:p14="http://schemas.microsoft.com/office/powerpoint/2010/main" val="364014938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9205546" y="642594"/>
            <a:ext cx="1919654" cy="1371600"/>
          </a:xfrm>
        </p:spPr>
        <p:txBody>
          <a:bodyPr/>
          <a:lstStyle/>
          <a:p>
            <a:r>
              <a:rPr lang="he-IL" dirty="0"/>
              <a:t>שאלות</a:t>
            </a:r>
          </a:p>
        </p:txBody>
      </p:sp>
      <p:sp>
        <p:nvSpPr>
          <p:cNvPr id="3" name="מציין מיקום תוכן 2"/>
          <p:cNvSpPr>
            <a:spLocks noGrp="1"/>
          </p:cNvSpPr>
          <p:nvPr>
            <p:ph idx="1"/>
          </p:nvPr>
        </p:nvSpPr>
        <p:spPr/>
        <p:txBody>
          <a:bodyPr/>
          <a:lstStyle/>
          <a:p>
            <a:r>
              <a:rPr lang="he-IL" dirty="0"/>
              <a:t>1. מהו </a:t>
            </a:r>
            <a:r>
              <a:rPr lang="en-US" dirty="0"/>
              <a:t>IDOR</a:t>
            </a:r>
            <a:r>
              <a:rPr lang="he-IL" dirty="0"/>
              <a:t> וכיצד ניתן לזהותו?</a:t>
            </a:r>
          </a:p>
          <a:p>
            <a:r>
              <a:rPr lang="he-IL" dirty="0"/>
              <a:t>2. מהי "הסלמת הרשאות" </a:t>
            </a:r>
            <a:r>
              <a:rPr lang="en-US" dirty="0"/>
              <a:t>Privilege Escalation</a:t>
            </a:r>
            <a:r>
              <a:rPr lang="he-IL" dirty="0"/>
              <a:t>?</a:t>
            </a:r>
          </a:p>
          <a:p>
            <a:r>
              <a:rPr lang="he-IL" dirty="0"/>
              <a:t>3. איך מונעים חולשות </a:t>
            </a:r>
            <a:r>
              <a:rPr lang="en-US" dirty="0"/>
              <a:t>Authorization</a:t>
            </a:r>
            <a:r>
              <a:rPr lang="he-IL" dirty="0"/>
              <a:t>?</a:t>
            </a:r>
          </a:p>
        </p:txBody>
      </p:sp>
    </p:spTree>
    <p:extLst>
      <p:ext uri="{BB962C8B-B14F-4D97-AF65-F5344CB8AC3E}">
        <p14:creationId xmlns:p14="http://schemas.microsoft.com/office/powerpoint/2010/main" val="881159617"/>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8941776" y="642594"/>
            <a:ext cx="2183423" cy="1371600"/>
          </a:xfrm>
        </p:spPr>
        <p:txBody>
          <a:bodyPr/>
          <a:lstStyle/>
          <a:p>
            <a:r>
              <a:rPr lang="he-IL" dirty="0"/>
              <a:t>תשובות</a:t>
            </a:r>
          </a:p>
        </p:txBody>
      </p:sp>
      <p:sp>
        <p:nvSpPr>
          <p:cNvPr id="3" name="מציין מיקום תוכן 2"/>
          <p:cNvSpPr>
            <a:spLocks noGrp="1"/>
          </p:cNvSpPr>
          <p:nvPr>
            <p:ph idx="1"/>
          </p:nvPr>
        </p:nvSpPr>
        <p:spPr/>
        <p:txBody>
          <a:bodyPr>
            <a:normAutofit lnSpcReduction="10000"/>
          </a:bodyPr>
          <a:lstStyle/>
          <a:p>
            <a:r>
              <a:rPr lang="he-IL" dirty="0"/>
              <a:t>1. </a:t>
            </a:r>
            <a:r>
              <a:rPr lang="en-US" dirty="0"/>
              <a:t>IDOR </a:t>
            </a:r>
            <a:r>
              <a:rPr lang="he-IL" dirty="0"/>
              <a:t> הוא פגיעות שבה תוקף יכול לגשת ישירות למשאב מסוים על ידי שינוי מזהה</a:t>
            </a:r>
            <a:r>
              <a:rPr lang="en-US" dirty="0"/>
              <a:t> ID </a:t>
            </a:r>
            <a:r>
              <a:rPr lang="he-IL" dirty="0"/>
              <a:t>בפרמטרים של בקשה. ניתן לזהות </a:t>
            </a:r>
            <a:r>
              <a:rPr lang="en-US" dirty="0"/>
              <a:t>IDOR</a:t>
            </a:r>
            <a:r>
              <a:rPr lang="he-IL" dirty="0"/>
              <a:t> על ידי בדיקת בקשות </a:t>
            </a:r>
            <a:r>
              <a:rPr lang="en-US" dirty="0"/>
              <a:t> HTTP</a:t>
            </a:r>
            <a:r>
              <a:rPr lang="he-IL" dirty="0"/>
              <a:t>ושינוי מזהים כדי לבדוק אם בקרת הגישה פועלת כראוי.</a:t>
            </a:r>
          </a:p>
          <a:p>
            <a:endParaRPr lang="he-IL" dirty="0"/>
          </a:p>
          <a:p>
            <a:r>
              <a:rPr lang="he-IL" dirty="0"/>
              <a:t>2. הסלמת הרשאות היא פעולה שבה תוקף משיג גישה להרשאות גבוהות יותר מאלו שהוקצו לו, לדוגמה:</a:t>
            </a:r>
          </a:p>
          <a:p>
            <a:r>
              <a:rPr lang="he-IL" dirty="0"/>
              <a:t>ממשתמש רגיל למנהל </a:t>
            </a:r>
            <a:r>
              <a:rPr lang="en-US" dirty="0"/>
              <a:t>Admin</a:t>
            </a:r>
            <a:r>
              <a:rPr lang="he-IL" dirty="0"/>
              <a:t>, גישה לקבצים או משאבים מוגנים.</a:t>
            </a:r>
          </a:p>
          <a:p>
            <a:endParaRPr lang="he-IL" dirty="0"/>
          </a:p>
          <a:p>
            <a:r>
              <a:rPr lang="he-IL" dirty="0"/>
              <a:t>3. </a:t>
            </a:r>
          </a:p>
          <a:p>
            <a:r>
              <a:rPr lang="he-IL" dirty="0"/>
              <a:t>א. שימוש באימות זהות ובקרת גישה חזקה.</a:t>
            </a:r>
          </a:p>
          <a:p>
            <a:r>
              <a:rPr lang="he-IL" dirty="0"/>
              <a:t>ב. בדיקות צד שרת </a:t>
            </a:r>
            <a:r>
              <a:rPr lang="en-US" dirty="0"/>
              <a:t> Server-side validation</a:t>
            </a:r>
            <a:r>
              <a:rPr lang="he-IL" dirty="0"/>
              <a:t>לכל הבקשות.</a:t>
            </a:r>
          </a:p>
          <a:p>
            <a:r>
              <a:rPr lang="he-IL" dirty="0"/>
              <a:t>ג. הטמעת </a:t>
            </a:r>
            <a:r>
              <a:rPr lang="en-US" dirty="0"/>
              <a:t> </a:t>
            </a:r>
            <a:r>
              <a:rPr lang="en-US" b="1" dirty="0"/>
              <a:t>Principle of Least Privilege</a:t>
            </a:r>
            <a:r>
              <a:rPr lang="he-IL" dirty="0"/>
              <a:t>מתן הרשאות מינימליות.</a:t>
            </a:r>
          </a:p>
          <a:p>
            <a:r>
              <a:rPr lang="he-IL" dirty="0"/>
              <a:t>ד. בדיקות אבטחה אוטומטיות כמו סריקות </a:t>
            </a:r>
            <a:r>
              <a:rPr lang="en-US" dirty="0"/>
              <a:t>DAST/SAST</a:t>
            </a:r>
            <a:r>
              <a:rPr lang="he-IL" dirty="0"/>
              <a:t>.</a:t>
            </a:r>
          </a:p>
          <a:p>
            <a:endParaRPr lang="he-IL" dirty="0"/>
          </a:p>
        </p:txBody>
      </p:sp>
    </p:spTree>
    <p:extLst>
      <p:ext uri="{BB962C8B-B14F-4D97-AF65-F5344CB8AC3E}">
        <p14:creationId xmlns:p14="http://schemas.microsoft.com/office/powerpoint/2010/main" val="3694120282"/>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2936630" y="642594"/>
            <a:ext cx="8188569" cy="1371600"/>
          </a:xfrm>
        </p:spPr>
        <p:txBody>
          <a:bodyPr/>
          <a:lstStyle/>
          <a:p>
            <a:r>
              <a:rPr lang="he-IL" dirty="0"/>
              <a:t>תרגיל מעשי – דניאל לחשוב לבד..</a:t>
            </a:r>
          </a:p>
        </p:txBody>
      </p:sp>
      <p:sp>
        <p:nvSpPr>
          <p:cNvPr id="3" name="מציין מיקום תוכן 2"/>
          <p:cNvSpPr>
            <a:spLocks noGrp="1"/>
          </p:cNvSpPr>
          <p:nvPr>
            <p:ph idx="1"/>
          </p:nvPr>
        </p:nvSpPr>
        <p:spPr/>
        <p:txBody>
          <a:bodyPr/>
          <a:lstStyle/>
          <a:p>
            <a:r>
              <a:rPr lang="he-IL" dirty="0"/>
              <a:t>אתה עובד על אתר של </a:t>
            </a:r>
            <a:r>
              <a:rPr lang="he-IL" dirty="0" err="1"/>
              <a:t>קרית</a:t>
            </a:r>
            <a:r>
              <a:rPr lang="he-IL" dirty="0"/>
              <a:t> נוער שבו יש </a:t>
            </a:r>
            <a:r>
              <a:rPr lang="en-US" dirty="0"/>
              <a:t> API </a:t>
            </a:r>
            <a:r>
              <a:rPr lang="he-IL" dirty="0"/>
              <a:t>להורדת דוחות:</a:t>
            </a:r>
          </a:p>
          <a:p>
            <a:pPr algn="l"/>
            <a:r>
              <a:rPr lang="en-US" dirty="0"/>
              <a:t>GET /</a:t>
            </a:r>
            <a:r>
              <a:rPr lang="en-US" dirty="0" err="1"/>
              <a:t>download?file_id</a:t>
            </a:r>
            <a:r>
              <a:rPr lang="en-US" dirty="0"/>
              <a:t>=1001</a:t>
            </a:r>
          </a:p>
          <a:p>
            <a:r>
              <a:rPr lang="he-IL" dirty="0"/>
              <a:t>משימות:</a:t>
            </a:r>
          </a:p>
          <a:p>
            <a:r>
              <a:rPr lang="he-IL" dirty="0"/>
              <a:t>1. בדוק מה קורה כשאתה משנה את </a:t>
            </a:r>
            <a:r>
              <a:rPr lang="en-US" dirty="0" err="1"/>
              <a:t>file_id</a:t>
            </a:r>
            <a:r>
              <a:rPr lang="he-IL" dirty="0"/>
              <a:t> ל- 1002.</a:t>
            </a:r>
          </a:p>
          <a:p>
            <a:r>
              <a:rPr lang="he-IL" dirty="0"/>
              <a:t>2. נסה לגשת לנתונים של קובץ שאתה לא אמור לראות.</a:t>
            </a:r>
          </a:p>
          <a:p>
            <a:r>
              <a:rPr lang="he-IL" dirty="0"/>
              <a:t>3. הצע פתרון לתקן את הפגיעות.</a:t>
            </a:r>
          </a:p>
          <a:p>
            <a:endParaRPr lang="he-IL" dirty="0"/>
          </a:p>
        </p:txBody>
      </p:sp>
    </p:spTree>
    <p:extLst>
      <p:ext uri="{BB962C8B-B14F-4D97-AF65-F5344CB8AC3E}">
        <p14:creationId xmlns:p14="http://schemas.microsoft.com/office/powerpoint/2010/main" val="56626387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1424354" y="642594"/>
            <a:ext cx="10515600" cy="1371600"/>
          </a:xfrm>
        </p:spPr>
        <p:txBody>
          <a:bodyPr>
            <a:normAutofit fontScale="90000"/>
          </a:bodyPr>
          <a:lstStyle/>
          <a:p>
            <a:r>
              <a:rPr lang="he-IL" dirty="0"/>
              <a:t>תשובות לתרגיל המעשי – תשובות </a:t>
            </a:r>
            <a:r>
              <a:rPr lang="he-IL" dirty="0" err="1"/>
              <a:t>בישבילכם</a:t>
            </a:r>
            <a:r>
              <a:rPr lang="he-IL" dirty="0"/>
              <a:t> אליחי </a:t>
            </a:r>
            <a:r>
              <a:rPr lang="he-IL" dirty="0" err="1"/>
              <a:t>ואוליאל</a:t>
            </a:r>
            <a:endParaRPr lang="he-IL" dirty="0"/>
          </a:p>
        </p:txBody>
      </p:sp>
      <p:sp>
        <p:nvSpPr>
          <p:cNvPr id="3" name="מציין מיקום תוכן 2"/>
          <p:cNvSpPr>
            <a:spLocks noGrp="1"/>
          </p:cNvSpPr>
          <p:nvPr>
            <p:ph idx="1"/>
          </p:nvPr>
        </p:nvSpPr>
        <p:spPr/>
        <p:txBody>
          <a:bodyPr/>
          <a:lstStyle/>
          <a:p>
            <a:r>
              <a:rPr lang="he-IL" dirty="0"/>
              <a:t>1. אם בקרת הגישה לא מיושמת כראוי, ייתכן שתצליח להוריד קובץ שאינך מורשה לגשת אליו. זה מצב של פגיעות </a:t>
            </a:r>
            <a:r>
              <a:rPr lang="en-US" b="1" dirty="0"/>
              <a:t>IDOR (Insecure Direct Object Reference)</a:t>
            </a:r>
            <a:r>
              <a:rPr lang="he-IL" b="1" dirty="0"/>
              <a:t>.</a:t>
            </a:r>
          </a:p>
          <a:p>
            <a:r>
              <a:rPr lang="he-IL" dirty="0"/>
              <a:t>2. אם המערכת בודקת רק את </a:t>
            </a:r>
            <a:r>
              <a:rPr lang="en-US" dirty="0" err="1"/>
              <a:t>file_id</a:t>
            </a:r>
            <a:r>
              <a:rPr lang="he-IL" dirty="0"/>
              <a:t> בלי לבדוק האם הקובץ שייך למשתמש הנוכחי, תוקף יכול לנצל זאת ולשלוף קבצים שהוא לא אמור לראות.</a:t>
            </a:r>
          </a:p>
          <a:p>
            <a:r>
              <a:rPr lang="he-IL" dirty="0"/>
              <a:t>דוגמה להתנהגות לא בטוחה:</a:t>
            </a:r>
          </a:p>
          <a:p>
            <a:pPr algn="l"/>
            <a:r>
              <a:rPr lang="en-US" dirty="0" err="1"/>
              <a:t>def</a:t>
            </a:r>
            <a:r>
              <a:rPr lang="en-US" dirty="0"/>
              <a:t> </a:t>
            </a:r>
            <a:r>
              <a:rPr lang="en-US" dirty="0" err="1"/>
              <a:t>download_file</a:t>
            </a:r>
            <a:r>
              <a:rPr lang="en-US" dirty="0"/>
              <a:t>(</a:t>
            </a:r>
            <a:r>
              <a:rPr lang="en-US" dirty="0" err="1"/>
              <a:t>file_id</a:t>
            </a:r>
            <a:r>
              <a:rPr lang="en-US" dirty="0"/>
              <a:t>):</a:t>
            </a:r>
          </a:p>
          <a:p>
            <a:pPr algn="l"/>
            <a:r>
              <a:rPr lang="he-IL" dirty="0"/>
              <a:t>החזרת הקובץ על סמך ה-</a:t>
            </a:r>
            <a:r>
              <a:rPr lang="en-US" dirty="0"/>
              <a:t>ID </a:t>
            </a:r>
            <a:r>
              <a:rPr lang="he-IL" dirty="0"/>
              <a:t> בלבד, ללא בדיקת הרשאות #</a:t>
            </a:r>
          </a:p>
          <a:p>
            <a:pPr marL="0" indent="0" algn="l">
              <a:buNone/>
            </a:pPr>
            <a:r>
              <a:rPr lang="he-IL" dirty="0"/>
              <a:t>    </a:t>
            </a:r>
            <a:r>
              <a:rPr lang="en-US" dirty="0"/>
              <a:t>return </a:t>
            </a:r>
            <a:r>
              <a:rPr lang="en-US" dirty="0" err="1"/>
              <a:t>open_file</a:t>
            </a:r>
            <a:r>
              <a:rPr lang="en-US" dirty="0"/>
              <a:t>(</a:t>
            </a:r>
            <a:r>
              <a:rPr lang="en-US" dirty="0" err="1"/>
              <a:t>file_id</a:t>
            </a:r>
            <a:r>
              <a:rPr lang="en-US" dirty="0"/>
              <a:t>)</a:t>
            </a:r>
          </a:p>
          <a:p>
            <a:endParaRPr lang="he-IL" dirty="0"/>
          </a:p>
          <a:p>
            <a:endParaRPr lang="he-IL" dirty="0"/>
          </a:p>
        </p:txBody>
      </p:sp>
    </p:spTree>
    <p:extLst>
      <p:ext uri="{BB962C8B-B14F-4D97-AF65-F5344CB8AC3E}">
        <p14:creationId xmlns:p14="http://schemas.microsoft.com/office/powerpoint/2010/main" val="1101869591"/>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7411915" y="185394"/>
            <a:ext cx="3713285" cy="1371600"/>
          </a:xfrm>
        </p:spPr>
        <p:txBody>
          <a:bodyPr/>
          <a:lstStyle/>
          <a:p>
            <a:r>
              <a:rPr lang="he-IL" dirty="0"/>
              <a:t>המשך תשובות</a:t>
            </a:r>
          </a:p>
        </p:txBody>
      </p:sp>
      <p:sp>
        <p:nvSpPr>
          <p:cNvPr id="3" name="מציין מיקום תוכן 2"/>
          <p:cNvSpPr>
            <a:spLocks noGrp="1"/>
          </p:cNvSpPr>
          <p:nvPr>
            <p:ph idx="1"/>
          </p:nvPr>
        </p:nvSpPr>
        <p:spPr>
          <a:xfrm>
            <a:off x="1066800" y="1478866"/>
            <a:ext cx="10058400" cy="5159326"/>
          </a:xfrm>
        </p:spPr>
        <p:txBody>
          <a:bodyPr>
            <a:normAutofit fontScale="92500" lnSpcReduction="10000"/>
          </a:bodyPr>
          <a:lstStyle/>
          <a:p>
            <a:r>
              <a:rPr lang="he-IL" dirty="0"/>
              <a:t>3. המערכת צריכה לבדוק אם הקובץ שייך למשתמש הנוכחי לפני שהיא מאפשרת הורדה. אפשר לשפר את הקוד כך:</a:t>
            </a:r>
          </a:p>
          <a:p>
            <a:pPr algn="l"/>
            <a:r>
              <a:rPr lang="en-US" dirty="0" err="1"/>
              <a:t>def</a:t>
            </a:r>
            <a:r>
              <a:rPr lang="en-US" dirty="0"/>
              <a:t> </a:t>
            </a:r>
            <a:r>
              <a:rPr lang="en-US" dirty="0" err="1"/>
              <a:t>download_file</a:t>
            </a:r>
            <a:r>
              <a:rPr lang="en-US" dirty="0"/>
              <a:t>(</a:t>
            </a:r>
            <a:r>
              <a:rPr lang="en-US" dirty="0" err="1"/>
              <a:t>user_id</a:t>
            </a:r>
            <a:r>
              <a:rPr lang="en-US" dirty="0"/>
              <a:t>, </a:t>
            </a:r>
            <a:r>
              <a:rPr lang="en-US" dirty="0" err="1"/>
              <a:t>file_id</a:t>
            </a:r>
            <a:r>
              <a:rPr lang="en-US" dirty="0"/>
              <a:t>):</a:t>
            </a:r>
          </a:p>
          <a:p>
            <a:pPr algn="l"/>
            <a:r>
              <a:rPr lang="he-IL" dirty="0"/>
              <a:t>בדיקה אם המשתמש מורשה לגשת לקובץ #</a:t>
            </a:r>
          </a:p>
          <a:p>
            <a:pPr algn="l"/>
            <a:r>
              <a:rPr lang="he-IL" dirty="0"/>
              <a:t>    </a:t>
            </a:r>
            <a:r>
              <a:rPr lang="en-US" dirty="0"/>
              <a:t>if </a:t>
            </a:r>
            <a:r>
              <a:rPr lang="en-US" dirty="0" err="1"/>
              <a:t>is_authorized</a:t>
            </a:r>
            <a:r>
              <a:rPr lang="en-US" dirty="0"/>
              <a:t>(</a:t>
            </a:r>
            <a:r>
              <a:rPr lang="en-US" dirty="0" err="1"/>
              <a:t>user_id</a:t>
            </a:r>
            <a:r>
              <a:rPr lang="en-US" dirty="0"/>
              <a:t>, </a:t>
            </a:r>
            <a:r>
              <a:rPr lang="en-US" dirty="0" err="1"/>
              <a:t>file_id</a:t>
            </a:r>
            <a:r>
              <a:rPr lang="en-US" dirty="0"/>
              <a:t>):</a:t>
            </a:r>
          </a:p>
          <a:p>
            <a:pPr algn="l"/>
            <a:r>
              <a:rPr lang="en-US" dirty="0"/>
              <a:t>        return </a:t>
            </a:r>
            <a:r>
              <a:rPr lang="en-US" dirty="0" err="1"/>
              <a:t>open_file</a:t>
            </a:r>
            <a:r>
              <a:rPr lang="en-US" dirty="0"/>
              <a:t>(</a:t>
            </a:r>
            <a:r>
              <a:rPr lang="en-US" dirty="0" err="1"/>
              <a:t>file_id</a:t>
            </a:r>
            <a:r>
              <a:rPr lang="en-US" dirty="0"/>
              <a:t>)</a:t>
            </a:r>
          </a:p>
          <a:p>
            <a:pPr algn="l"/>
            <a:r>
              <a:rPr lang="en-US" dirty="0"/>
              <a:t>    else:</a:t>
            </a:r>
          </a:p>
          <a:p>
            <a:pPr algn="l"/>
            <a:r>
              <a:rPr lang="en-US" dirty="0"/>
              <a:t>        return "Access Denied"</a:t>
            </a:r>
          </a:p>
          <a:p>
            <a:r>
              <a:rPr lang="he-IL" dirty="0"/>
              <a:t>הפונקציה </a:t>
            </a:r>
            <a:r>
              <a:rPr lang="en-US" dirty="0" err="1"/>
              <a:t>is_authorized</a:t>
            </a:r>
            <a:r>
              <a:rPr lang="he-IL" dirty="0"/>
              <a:t> תוודא שהקובץ שייך למשתמש המחובר, לדוגמה:</a:t>
            </a:r>
          </a:p>
          <a:p>
            <a:pPr algn="l"/>
            <a:r>
              <a:rPr lang="en-US" dirty="0" err="1"/>
              <a:t>def</a:t>
            </a:r>
            <a:r>
              <a:rPr lang="en-US" dirty="0"/>
              <a:t> </a:t>
            </a:r>
            <a:r>
              <a:rPr lang="en-US" dirty="0" err="1"/>
              <a:t>is_authorized</a:t>
            </a:r>
            <a:r>
              <a:rPr lang="en-US" dirty="0"/>
              <a:t>(</a:t>
            </a:r>
            <a:r>
              <a:rPr lang="en-US" dirty="0" err="1"/>
              <a:t>user_id</a:t>
            </a:r>
            <a:r>
              <a:rPr lang="en-US" dirty="0"/>
              <a:t>, </a:t>
            </a:r>
            <a:r>
              <a:rPr lang="en-US" dirty="0" err="1"/>
              <a:t>file_id</a:t>
            </a:r>
            <a:r>
              <a:rPr lang="en-US" dirty="0"/>
              <a:t>):</a:t>
            </a:r>
          </a:p>
          <a:p>
            <a:pPr algn="l"/>
            <a:r>
              <a:rPr lang="he-IL" dirty="0"/>
              <a:t>חיפוש במאגר הנתונים אם הקובץ שייך למשתמש #</a:t>
            </a:r>
          </a:p>
          <a:p>
            <a:pPr algn="l"/>
            <a:r>
              <a:rPr lang="he-IL" dirty="0"/>
              <a:t>    </a:t>
            </a:r>
            <a:r>
              <a:rPr lang="en-US" dirty="0" err="1"/>
              <a:t>file_owner</a:t>
            </a:r>
            <a:r>
              <a:rPr lang="en-US" dirty="0"/>
              <a:t> = </a:t>
            </a:r>
            <a:r>
              <a:rPr lang="en-US" dirty="0" err="1"/>
              <a:t>get_file_owner</a:t>
            </a:r>
            <a:r>
              <a:rPr lang="en-US" dirty="0"/>
              <a:t>(</a:t>
            </a:r>
            <a:r>
              <a:rPr lang="en-US" dirty="0" err="1"/>
              <a:t>file_id</a:t>
            </a:r>
            <a:r>
              <a:rPr lang="en-US" dirty="0"/>
              <a:t>)</a:t>
            </a:r>
          </a:p>
          <a:p>
            <a:pPr algn="l"/>
            <a:r>
              <a:rPr lang="en-US" dirty="0"/>
              <a:t>    return </a:t>
            </a:r>
            <a:r>
              <a:rPr lang="en-US" dirty="0" err="1"/>
              <a:t>file_owner</a:t>
            </a:r>
            <a:r>
              <a:rPr lang="en-US" dirty="0"/>
              <a:t> == </a:t>
            </a:r>
            <a:r>
              <a:rPr lang="en-US" dirty="0" err="1"/>
              <a:t>user_id</a:t>
            </a:r>
            <a:endParaRPr lang="en-US" dirty="0"/>
          </a:p>
          <a:p>
            <a:r>
              <a:rPr lang="he-IL" dirty="0"/>
              <a:t>אם </a:t>
            </a:r>
            <a:r>
              <a:rPr lang="en-US" dirty="0" err="1"/>
              <a:t>user_id</a:t>
            </a:r>
            <a:r>
              <a:rPr lang="he-IL" dirty="0"/>
              <a:t> של המשתמש הנוכחי אינו תואם את הבעלים של </a:t>
            </a:r>
            <a:r>
              <a:rPr lang="en-US" dirty="0" err="1"/>
              <a:t>user_id</a:t>
            </a:r>
            <a:r>
              <a:rPr lang="he-IL" dirty="0"/>
              <a:t> המערכת תחסום את הבקשה ותציג הודעת שגיאה.</a:t>
            </a:r>
          </a:p>
          <a:p>
            <a:r>
              <a:rPr lang="he-IL" dirty="0"/>
              <a:t>תוקף לא יוכל לגשת לקבצים של משתמשים אחרים.</a:t>
            </a:r>
          </a:p>
          <a:p>
            <a:endParaRPr lang="he-IL" dirty="0"/>
          </a:p>
        </p:txBody>
      </p:sp>
    </p:spTree>
    <p:extLst>
      <p:ext uri="{BB962C8B-B14F-4D97-AF65-F5344CB8AC3E}">
        <p14:creationId xmlns:p14="http://schemas.microsoft.com/office/powerpoint/2010/main" val="1599471241"/>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p:cNvSpPr>
            <a:spLocks noGrp="1"/>
          </p:cNvSpPr>
          <p:nvPr>
            <p:ph idx="1"/>
          </p:nvPr>
        </p:nvSpPr>
        <p:spPr>
          <a:xfrm>
            <a:off x="1128346" y="2454812"/>
            <a:ext cx="10058400" cy="3931920"/>
          </a:xfrm>
        </p:spPr>
        <p:txBody>
          <a:bodyPr>
            <a:normAutofit/>
          </a:bodyPr>
          <a:lstStyle/>
          <a:p>
            <a:pPr algn="ctr"/>
            <a:r>
              <a:rPr lang="he-IL" sz="4400" dirty="0"/>
              <a:t>זיהוי סריקת </a:t>
            </a:r>
            <a:r>
              <a:rPr lang="en-US" sz="4400" dirty="0"/>
              <a:t>ACL (Access Control List)</a:t>
            </a:r>
            <a:endParaRPr lang="he-IL" sz="4400" dirty="0"/>
          </a:p>
        </p:txBody>
      </p:sp>
    </p:spTree>
    <p:extLst>
      <p:ext uri="{BB962C8B-B14F-4D97-AF65-F5344CB8AC3E}">
        <p14:creationId xmlns:p14="http://schemas.microsoft.com/office/powerpoint/2010/main" val="453174498"/>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1872762" y="642594"/>
            <a:ext cx="9252438" cy="1371600"/>
          </a:xfrm>
        </p:spPr>
        <p:txBody>
          <a:bodyPr/>
          <a:lstStyle/>
          <a:p>
            <a:r>
              <a:rPr lang="he-IL" dirty="0"/>
              <a:t>מה זה </a:t>
            </a:r>
            <a:r>
              <a:rPr lang="en-US" dirty="0"/>
              <a:t>ACL (Access Control List)</a:t>
            </a:r>
            <a:endParaRPr lang="he-IL" dirty="0"/>
          </a:p>
        </p:txBody>
      </p:sp>
      <p:sp>
        <p:nvSpPr>
          <p:cNvPr id="3" name="מציין מיקום תוכן 2"/>
          <p:cNvSpPr>
            <a:spLocks noGrp="1"/>
          </p:cNvSpPr>
          <p:nvPr>
            <p:ph idx="1"/>
          </p:nvPr>
        </p:nvSpPr>
        <p:spPr/>
        <p:txBody>
          <a:bodyPr/>
          <a:lstStyle/>
          <a:p>
            <a:r>
              <a:rPr lang="en-US" b="1" dirty="0"/>
              <a:t> ACL </a:t>
            </a:r>
            <a:r>
              <a:rPr lang="he-IL" b="1" dirty="0"/>
              <a:t>רשימת בקרת גישה</a:t>
            </a:r>
            <a:r>
              <a:rPr lang="he-IL" dirty="0"/>
              <a:t> היא מנגנון אבטחה שמגדיר אילו משתמשים או תהליכים מורשים לבצע פעולות מסוימות על משאבים במערכת (כמו קבצים, תיקיות, או ממשקי </a:t>
            </a:r>
            <a:r>
              <a:rPr lang="en-US" dirty="0"/>
              <a:t>API</a:t>
            </a:r>
            <a:r>
              <a:rPr lang="he-IL" dirty="0"/>
              <a:t>)</a:t>
            </a:r>
            <a:r>
              <a:rPr lang="en-US" dirty="0"/>
              <a:t/>
            </a:r>
            <a:br>
              <a:rPr lang="en-US" dirty="0"/>
            </a:br>
            <a:r>
              <a:rPr lang="he-IL" dirty="0"/>
              <a:t>כל </a:t>
            </a:r>
            <a:r>
              <a:rPr lang="he-IL" b="1" dirty="0"/>
              <a:t>רשומה</a:t>
            </a:r>
            <a:r>
              <a:rPr lang="he-IL" dirty="0"/>
              <a:t> ב-</a:t>
            </a:r>
            <a:r>
              <a:rPr lang="en-US" dirty="0"/>
              <a:t>ACL </a:t>
            </a:r>
            <a:r>
              <a:rPr lang="he-IL" dirty="0"/>
              <a:t> מכילה:</a:t>
            </a:r>
          </a:p>
          <a:p>
            <a:r>
              <a:rPr lang="he-IL" dirty="0"/>
              <a:t>1. </a:t>
            </a:r>
            <a:r>
              <a:rPr lang="he-IL" b="1" dirty="0"/>
              <a:t>משאב</a:t>
            </a:r>
            <a:r>
              <a:rPr lang="en-US" b="1" dirty="0"/>
              <a:t> :</a:t>
            </a:r>
            <a:r>
              <a:rPr lang="en-US" dirty="0"/>
              <a:t>Resource </a:t>
            </a:r>
            <a:r>
              <a:rPr lang="he-IL" dirty="0"/>
              <a:t>מה נרצה להגן עליו (למשל קובץ או כתובת </a:t>
            </a:r>
            <a:r>
              <a:rPr lang="en-US" dirty="0"/>
              <a:t>API</a:t>
            </a:r>
            <a:r>
              <a:rPr lang="he-IL" dirty="0"/>
              <a:t>)</a:t>
            </a:r>
          </a:p>
          <a:p>
            <a:r>
              <a:rPr lang="he-IL" dirty="0"/>
              <a:t>2. </a:t>
            </a:r>
            <a:r>
              <a:rPr lang="he-IL" b="1" dirty="0"/>
              <a:t>ישויות מורשות</a:t>
            </a:r>
            <a:r>
              <a:rPr lang="he-IL" dirty="0"/>
              <a:t> </a:t>
            </a:r>
            <a:r>
              <a:rPr lang="en-US" dirty="0"/>
              <a:t> :Entities</a:t>
            </a:r>
            <a:r>
              <a:rPr lang="he-IL" dirty="0"/>
              <a:t>מי רשאי לגשת למשאב (משתמשים או קבוצות משתמשים).</a:t>
            </a:r>
          </a:p>
          <a:p>
            <a:r>
              <a:rPr lang="he-IL" dirty="0"/>
              <a:t>3. </a:t>
            </a:r>
            <a:r>
              <a:rPr lang="he-IL" b="1" dirty="0"/>
              <a:t>פעולות מורשות</a:t>
            </a:r>
            <a:r>
              <a:rPr lang="he-IL" dirty="0"/>
              <a:t> </a:t>
            </a:r>
            <a:r>
              <a:rPr lang="en-US" dirty="0"/>
              <a:t> :Actions</a:t>
            </a:r>
            <a:r>
              <a:rPr lang="he-IL" dirty="0"/>
              <a:t>אילו פעולות מותר לבצע (לקרוא, לכתוב, למחוק, וכו').</a:t>
            </a:r>
          </a:p>
          <a:p>
            <a:endParaRPr lang="he-IL" dirty="0"/>
          </a:p>
        </p:txBody>
      </p:sp>
    </p:spTree>
    <p:extLst>
      <p:ext uri="{BB962C8B-B14F-4D97-AF65-F5344CB8AC3E}">
        <p14:creationId xmlns:p14="http://schemas.microsoft.com/office/powerpoint/2010/main" val="4069255021"/>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7288822" y="642594"/>
            <a:ext cx="3836377" cy="1371600"/>
          </a:xfrm>
        </p:spPr>
        <p:txBody>
          <a:bodyPr/>
          <a:lstStyle/>
          <a:p>
            <a:r>
              <a:rPr lang="he-IL" dirty="0"/>
              <a:t>למה זה חשוב?</a:t>
            </a:r>
          </a:p>
        </p:txBody>
      </p:sp>
      <p:sp>
        <p:nvSpPr>
          <p:cNvPr id="3" name="מציין מיקום תוכן 2"/>
          <p:cNvSpPr>
            <a:spLocks noGrp="1"/>
          </p:cNvSpPr>
          <p:nvPr>
            <p:ph idx="1"/>
          </p:nvPr>
        </p:nvSpPr>
        <p:spPr/>
        <p:txBody>
          <a:bodyPr/>
          <a:lstStyle/>
          <a:p>
            <a:r>
              <a:rPr lang="he-IL" dirty="0"/>
              <a:t>סריקת</a:t>
            </a:r>
            <a:r>
              <a:rPr lang="en-US" dirty="0"/>
              <a:t>ACL </a:t>
            </a:r>
            <a:r>
              <a:rPr lang="he-IL" dirty="0"/>
              <a:t> או ניסיון לזיהוי חולשות ב-</a:t>
            </a:r>
            <a:r>
              <a:rPr lang="en-US" dirty="0"/>
              <a:t> ACL </a:t>
            </a:r>
            <a:r>
              <a:rPr lang="he-IL" dirty="0"/>
              <a:t>מתבצעת על ידי תוקפים שמנסים להבין:</a:t>
            </a:r>
          </a:p>
          <a:p>
            <a:r>
              <a:rPr lang="he-IL" dirty="0"/>
              <a:t>1. איך המערכת מנהלת הרשאות.</a:t>
            </a:r>
          </a:p>
          <a:p>
            <a:r>
              <a:rPr lang="he-IL" dirty="0"/>
              <a:t>2. האם ניתן לעקוף את </a:t>
            </a:r>
            <a:r>
              <a:rPr lang="he-IL" dirty="0" err="1"/>
              <a:t>ההגנות</a:t>
            </a:r>
            <a:r>
              <a:rPr lang="he-IL" dirty="0"/>
              <a:t>.</a:t>
            </a:r>
          </a:p>
          <a:p>
            <a:r>
              <a:rPr lang="he-IL" dirty="0"/>
              <a:t>3. האם קיימים משאבים מוגנים שלא מוגדרים כראוי.</a:t>
            </a:r>
          </a:p>
          <a:p>
            <a:endParaRPr lang="he-IL" b="1" dirty="0"/>
          </a:p>
          <a:p>
            <a:r>
              <a:rPr lang="he-IL" b="1" dirty="0"/>
              <a:t>מטרה של זיהוי סריקת </a:t>
            </a:r>
            <a:r>
              <a:rPr lang="en-US" b="1" dirty="0"/>
              <a:t>ACL</a:t>
            </a:r>
            <a:r>
              <a:rPr lang="he-IL" b="1" dirty="0"/>
              <a:t>:</a:t>
            </a:r>
          </a:p>
          <a:p>
            <a:r>
              <a:rPr lang="he-IL" dirty="0"/>
              <a:t>1. למנוע </a:t>
            </a:r>
            <a:r>
              <a:rPr lang="he-IL" b="1" dirty="0"/>
              <a:t>גישה לא מורשית</a:t>
            </a:r>
            <a:r>
              <a:rPr lang="he-IL" dirty="0"/>
              <a:t> למידע רגיש.</a:t>
            </a:r>
          </a:p>
          <a:p>
            <a:r>
              <a:rPr lang="he-IL" dirty="0"/>
              <a:t>2. לאתר פעולות חריגות שמנסות לזהות חולשות במנגנוני בקרת הגישה.</a:t>
            </a:r>
          </a:p>
        </p:txBody>
      </p:sp>
    </p:spTree>
    <p:extLst>
      <p:ext uri="{BB962C8B-B14F-4D97-AF65-F5344CB8AC3E}">
        <p14:creationId xmlns:p14="http://schemas.microsoft.com/office/powerpoint/2010/main" val="2455361904"/>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2066192" y="642594"/>
            <a:ext cx="9059008" cy="1371600"/>
          </a:xfrm>
        </p:spPr>
        <p:txBody>
          <a:bodyPr/>
          <a:lstStyle/>
          <a:p>
            <a:r>
              <a:rPr lang="he-IL" dirty="0"/>
              <a:t>כיצד פועלת סריקת</a:t>
            </a:r>
            <a:r>
              <a:rPr lang="en-US" dirty="0"/>
              <a:t> ACL </a:t>
            </a:r>
            <a:r>
              <a:rPr lang="he-IL" dirty="0"/>
              <a:t>מצד תוקף?</a:t>
            </a:r>
          </a:p>
        </p:txBody>
      </p:sp>
      <p:sp>
        <p:nvSpPr>
          <p:cNvPr id="3" name="מציין מיקום תוכן 2"/>
          <p:cNvSpPr>
            <a:spLocks noGrp="1"/>
          </p:cNvSpPr>
          <p:nvPr>
            <p:ph idx="1"/>
          </p:nvPr>
        </p:nvSpPr>
        <p:spPr/>
        <p:txBody>
          <a:bodyPr/>
          <a:lstStyle/>
          <a:p>
            <a:r>
              <a:rPr lang="he-IL" dirty="0"/>
              <a:t>1. </a:t>
            </a:r>
            <a:r>
              <a:rPr lang="he-IL" b="1" dirty="0"/>
              <a:t>מיפוי המשאבים במערכת</a:t>
            </a:r>
          </a:p>
          <a:p>
            <a:r>
              <a:rPr lang="he-IL" dirty="0"/>
              <a:t>התוקף סורק נתיבי גישה שונים, כמו:</a:t>
            </a:r>
          </a:p>
          <a:p>
            <a:pPr lvl="1"/>
            <a:r>
              <a:rPr lang="he-IL" dirty="0"/>
              <a:t>קבצים ותיקיות.</a:t>
            </a:r>
          </a:p>
          <a:p>
            <a:pPr lvl="1"/>
            <a:r>
              <a:rPr lang="en-US" dirty="0"/>
              <a:t>API endpoints.</a:t>
            </a:r>
          </a:p>
          <a:p>
            <a:pPr lvl="1"/>
            <a:r>
              <a:rPr lang="he-IL" dirty="0"/>
              <a:t>דפים מוגנים באתר אינטרנט.</a:t>
            </a:r>
          </a:p>
          <a:p>
            <a:r>
              <a:rPr lang="he-IL" dirty="0"/>
              <a:t>לדוגמה:</a:t>
            </a:r>
          </a:p>
          <a:p>
            <a:pPr algn="l"/>
            <a:r>
              <a:rPr lang="en-US" dirty="0"/>
              <a:t>/admin</a:t>
            </a:r>
          </a:p>
          <a:p>
            <a:pPr algn="l"/>
            <a:r>
              <a:rPr lang="en-US" dirty="0"/>
              <a:t>/</a:t>
            </a:r>
            <a:r>
              <a:rPr lang="en-US" dirty="0" err="1"/>
              <a:t>config</a:t>
            </a:r>
            <a:endParaRPr lang="en-US" dirty="0"/>
          </a:p>
          <a:p>
            <a:pPr algn="l"/>
            <a:r>
              <a:rPr lang="en-US" dirty="0"/>
              <a:t>/user/123</a:t>
            </a:r>
          </a:p>
          <a:p>
            <a:pPr algn="l"/>
            <a:endParaRPr lang="he-IL" dirty="0"/>
          </a:p>
        </p:txBody>
      </p:sp>
    </p:spTree>
    <p:extLst>
      <p:ext uri="{BB962C8B-B14F-4D97-AF65-F5344CB8AC3E}">
        <p14:creationId xmlns:p14="http://schemas.microsoft.com/office/powerpoint/2010/main" val="1333279037"/>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normAutofit fontScale="90000"/>
          </a:bodyPr>
          <a:lstStyle/>
          <a:p>
            <a:r>
              <a:rPr lang="he-IL" dirty="0"/>
              <a:t>המשך - כיצד פועלת סריקת</a:t>
            </a:r>
            <a:r>
              <a:rPr lang="en-US" dirty="0"/>
              <a:t> ACL </a:t>
            </a:r>
            <a:r>
              <a:rPr lang="he-IL" dirty="0"/>
              <a:t>מצד תוקף?</a:t>
            </a:r>
          </a:p>
        </p:txBody>
      </p:sp>
      <p:sp>
        <p:nvSpPr>
          <p:cNvPr id="3" name="מציין מיקום תוכן 2"/>
          <p:cNvSpPr>
            <a:spLocks noGrp="1"/>
          </p:cNvSpPr>
          <p:nvPr>
            <p:ph idx="1"/>
          </p:nvPr>
        </p:nvSpPr>
        <p:spPr/>
        <p:txBody>
          <a:bodyPr/>
          <a:lstStyle/>
          <a:p>
            <a:r>
              <a:rPr lang="he-IL" dirty="0"/>
              <a:t>2. </a:t>
            </a:r>
            <a:r>
              <a:rPr lang="he-IL" b="1" dirty="0"/>
              <a:t>ניסיון לגשת למשאבים מוגבלים</a:t>
            </a:r>
          </a:p>
          <a:p>
            <a:r>
              <a:rPr lang="he-IL" dirty="0"/>
              <a:t>התוקף מבצע </a:t>
            </a:r>
            <a:r>
              <a:rPr lang="he-IL" b="1" dirty="0"/>
              <a:t>ניחושים</a:t>
            </a:r>
            <a:r>
              <a:rPr lang="he-IL" dirty="0"/>
              <a:t> כדי לגשת למשאבים מוגנים.</a:t>
            </a:r>
          </a:p>
          <a:p>
            <a:r>
              <a:rPr lang="he-IL" dirty="0"/>
              <a:t>לדוגמה, ניסיונות לקרוא קובץ או לגשת לאזורי ניהול:</a:t>
            </a:r>
          </a:p>
          <a:p>
            <a:pPr algn="l"/>
            <a:r>
              <a:rPr lang="en-US" dirty="0"/>
              <a:t>GET /secure/file.txt</a:t>
            </a:r>
          </a:p>
          <a:p>
            <a:pPr algn="l"/>
            <a:r>
              <a:rPr lang="en-US" dirty="0"/>
              <a:t>GET /admin/dashboard</a:t>
            </a:r>
          </a:p>
          <a:p>
            <a:r>
              <a:rPr lang="he-IL" dirty="0"/>
              <a:t>3. </a:t>
            </a:r>
            <a:r>
              <a:rPr lang="he-IL" b="1" dirty="0"/>
              <a:t>הפעלת כלים אוטומטיים</a:t>
            </a:r>
          </a:p>
          <a:p>
            <a:r>
              <a:rPr lang="he-IL" dirty="0"/>
              <a:t>תוקף משתמש בכלים כמו </a:t>
            </a:r>
            <a:r>
              <a:rPr lang="en-US" dirty="0"/>
              <a:t> </a:t>
            </a:r>
            <a:r>
              <a:rPr lang="en-US" b="1" dirty="0"/>
              <a:t>Burp Suite</a:t>
            </a:r>
            <a:r>
              <a:rPr lang="en-US" dirty="0"/>
              <a:t>, </a:t>
            </a:r>
            <a:r>
              <a:rPr lang="en-US" b="1" dirty="0"/>
              <a:t>OWASP ZAP</a:t>
            </a:r>
            <a:r>
              <a:rPr lang="he-IL" dirty="0"/>
              <a:t>או </a:t>
            </a:r>
            <a:r>
              <a:rPr lang="en-US" dirty="0"/>
              <a:t> </a:t>
            </a:r>
            <a:r>
              <a:rPr lang="en-US" b="1" dirty="0" err="1"/>
              <a:t>dirbuster</a:t>
            </a:r>
            <a:r>
              <a:rPr lang="he-IL" dirty="0"/>
              <a:t>כדי לסרוק ולזהות משאבים שאינם מוגנים כראוי.</a:t>
            </a:r>
          </a:p>
          <a:p>
            <a:r>
              <a:rPr lang="he-IL" dirty="0"/>
              <a:t>הכלים שולחים בקשות לנתיבים שונים ומחפשים תגובות שמלמדות על הגבלות הרשאה.</a:t>
            </a:r>
          </a:p>
          <a:p>
            <a:endParaRPr lang="he-IL" dirty="0"/>
          </a:p>
        </p:txBody>
      </p:sp>
    </p:spTree>
    <p:extLst>
      <p:ext uri="{BB962C8B-B14F-4D97-AF65-F5344CB8AC3E}">
        <p14:creationId xmlns:p14="http://schemas.microsoft.com/office/powerpoint/2010/main" val="3803306295"/>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normAutofit fontScale="90000"/>
          </a:bodyPr>
          <a:lstStyle/>
          <a:p>
            <a:r>
              <a:rPr lang="he-IL" dirty="0"/>
              <a:t>המשך - כיצד פועלת סריקת</a:t>
            </a:r>
            <a:r>
              <a:rPr lang="en-US" dirty="0"/>
              <a:t> ACL </a:t>
            </a:r>
            <a:r>
              <a:rPr lang="he-IL" dirty="0"/>
              <a:t>מצד תוקף?</a:t>
            </a:r>
          </a:p>
        </p:txBody>
      </p:sp>
      <p:sp>
        <p:nvSpPr>
          <p:cNvPr id="3" name="מציין מיקום תוכן 2"/>
          <p:cNvSpPr>
            <a:spLocks noGrp="1"/>
          </p:cNvSpPr>
          <p:nvPr>
            <p:ph idx="1"/>
          </p:nvPr>
        </p:nvSpPr>
        <p:spPr/>
        <p:txBody>
          <a:bodyPr/>
          <a:lstStyle/>
          <a:p>
            <a:r>
              <a:rPr lang="he-IL" b="1" dirty="0"/>
              <a:t>זיהוי סריקה על ידי המערכת:</a:t>
            </a:r>
          </a:p>
          <a:p>
            <a:r>
              <a:rPr lang="he-IL" b="1" dirty="0"/>
              <a:t>תכונות סריקה שניתן לזהות:</a:t>
            </a:r>
          </a:p>
          <a:p>
            <a:r>
              <a:rPr lang="he-IL" dirty="0"/>
              <a:t>1. </a:t>
            </a:r>
            <a:r>
              <a:rPr lang="he-IL" b="1" dirty="0"/>
              <a:t>מספר רב של בקשות בבת אחת: </a:t>
            </a:r>
            <a:r>
              <a:rPr lang="he-IL" dirty="0"/>
              <a:t>תוקף שולח בקשות למאות או אלפי נתיבים בזמן קצר.</a:t>
            </a:r>
          </a:p>
          <a:p>
            <a:endParaRPr lang="he-IL" dirty="0"/>
          </a:p>
          <a:p>
            <a:r>
              <a:rPr lang="he-IL" dirty="0"/>
              <a:t>2. </a:t>
            </a:r>
            <a:r>
              <a:rPr lang="he-IL" b="1" dirty="0"/>
              <a:t>בקשות לנתיבים לא </a:t>
            </a:r>
            <a:r>
              <a:rPr lang="he-IL" b="1" dirty="0" err="1"/>
              <a:t>קיימים:</a:t>
            </a:r>
            <a:r>
              <a:rPr lang="he-IL" dirty="0" err="1"/>
              <a:t>בקשות</a:t>
            </a:r>
            <a:r>
              <a:rPr lang="he-IL" dirty="0"/>
              <a:t> כמו </a:t>
            </a:r>
            <a:r>
              <a:rPr lang="en-US" dirty="0"/>
              <a:t>\admin</a:t>
            </a:r>
            <a:r>
              <a:rPr lang="he-IL" dirty="0"/>
              <a:t> או </a:t>
            </a:r>
            <a:r>
              <a:rPr lang="en-US" dirty="0"/>
              <a:t>\private</a:t>
            </a:r>
            <a:r>
              <a:rPr lang="he-IL" dirty="0"/>
              <a:t> שלא מופיעות באתר.</a:t>
            </a:r>
          </a:p>
          <a:p>
            <a:endParaRPr lang="he-IL" dirty="0"/>
          </a:p>
          <a:p>
            <a:r>
              <a:rPr lang="he-IL" dirty="0"/>
              <a:t>3. </a:t>
            </a:r>
            <a:r>
              <a:rPr lang="he-IL" b="1" dirty="0"/>
              <a:t>דפוסי גישה </a:t>
            </a:r>
            <a:r>
              <a:rPr lang="he-IL" b="1" dirty="0" err="1"/>
              <a:t>חריגים:</a:t>
            </a:r>
            <a:r>
              <a:rPr lang="he-IL" dirty="0" err="1"/>
              <a:t>לדוגמה</a:t>
            </a:r>
            <a:r>
              <a:rPr lang="he-IL" dirty="0"/>
              <a:t>, משתמש רגיל מנסה לגשת לנתיבי ניהול.</a:t>
            </a:r>
          </a:p>
          <a:p>
            <a:endParaRPr lang="he-IL" dirty="0"/>
          </a:p>
          <a:p>
            <a:endParaRPr lang="he-IL" dirty="0"/>
          </a:p>
          <a:p>
            <a:endParaRPr lang="he-IL" dirty="0"/>
          </a:p>
        </p:txBody>
      </p:sp>
    </p:spTree>
    <p:extLst>
      <p:ext uri="{BB962C8B-B14F-4D97-AF65-F5344CB8AC3E}">
        <p14:creationId xmlns:p14="http://schemas.microsoft.com/office/powerpoint/2010/main" val="4107922959"/>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2848708" y="642594"/>
            <a:ext cx="8276492" cy="1371600"/>
          </a:xfrm>
        </p:spPr>
        <p:txBody>
          <a:bodyPr/>
          <a:lstStyle/>
          <a:p>
            <a:r>
              <a:rPr lang="he-IL" dirty="0"/>
              <a:t>כיצד להגן על</a:t>
            </a:r>
            <a:r>
              <a:rPr lang="en-US" dirty="0"/>
              <a:t>ACL </a:t>
            </a:r>
            <a:r>
              <a:rPr lang="he-IL" dirty="0"/>
              <a:t> מפני סריקות?</a:t>
            </a:r>
          </a:p>
        </p:txBody>
      </p:sp>
      <p:sp>
        <p:nvSpPr>
          <p:cNvPr id="3" name="מציין מיקום תוכן 2"/>
          <p:cNvSpPr>
            <a:spLocks noGrp="1"/>
          </p:cNvSpPr>
          <p:nvPr>
            <p:ph idx="1"/>
          </p:nvPr>
        </p:nvSpPr>
        <p:spPr/>
        <p:txBody>
          <a:bodyPr/>
          <a:lstStyle/>
          <a:p>
            <a:r>
              <a:rPr lang="he-IL" dirty="0"/>
              <a:t>1. </a:t>
            </a:r>
            <a:r>
              <a:rPr lang="he-IL" b="1" dirty="0"/>
              <a:t>שימוש ברשימות בקרת גישה חזקות</a:t>
            </a:r>
          </a:p>
          <a:p>
            <a:r>
              <a:rPr lang="he-IL" dirty="0"/>
              <a:t>הגדר </a:t>
            </a:r>
            <a:r>
              <a:rPr lang="en-US" dirty="0"/>
              <a:t>ACL </a:t>
            </a:r>
            <a:r>
              <a:rPr lang="he-IL" dirty="0"/>
              <a:t>ברמת שרת הקבצים או השרת האפליקטיבי.</a:t>
            </a:r>
          </a:p>
          <a:p>
            <a:r>
              <a:rPr lang="he-IL" dirty="0"/>
              <a:t>ודא שההרשאות מוגדרות כראוי:</a:t>
            </a:r>
          </a:p>
          <a:p>
            <a:r>
              <a:rPr lang="he-IL" dirty="0"/>
              <a:t>משתמשים מורשים בלבד.</a:t>
            </a:r>
          </a:p>
          <a:p>
            <a:r>
              <a:rPr lang="he-IL" dirty="0"/>
              <a:t>הגבלת פעולות מותרות.</a:t>
            </a:r>
          </a:p>
          <a:p>
            <a:r>
              <a:rPr lang="he-IL" dirty="0"/>
              <a:t>2. </a:t>
            </a:r>
            <a:r>
              <a:rPr lang="he-IL" b="1" dirty="0"/>
              <a:t>זיהוי וחסימת פעילות חריגה</a:t>
            </a:r>
          </a:p>
          <a:p>
            <a:r>
              <a:rPr lang="he-IL" dirty="0"/>
              <a:t>שימוש ב-</a:t>
            </a:r>
            <a:r>
              <a:rPr lang="en-US" dirty="0"/>
              <a:t>IDS/IPS </a:t>
            </a:r>
            <a:r>
              <a:rPr lang="he-IL" dirty="0"/>
              <a:t> מערכות זיהוי/מניעת חדירות לזיהוי:</a:t>
            </a:r>
          </a:p>
          <a:p>
            <a:r>
              <a:rPr lang="he-IL" dirty="0"/>
              <a:t>סריקות.</a:t>
            </a:r>
          </a:p>
          <a:p>
            <a:r>
              <a:rPr lang="he-IL" dirty="0"/>
              <a:t>ניסיונות גישה חוזרים.</a:t>
            </a:r>
          </a:p>
          <a:p>
            <a:r>
              <a:rPr lang="he-IL" dirty="0"/>
              <a:t>דוגמה לכלי: </a:t>
            </a:r>
            <a:r>
              <a:rPr lang="en-US" b="1" dirty="0"/>
              <a:t>Fail2Ban</a:t>
            </a:r>
            <a:endParaRPr lang="en-US" dirty="0"/>
          </a:p>
          <a:p>
            <a:endParaRPr lang="he-IL" dirty="0"/>
          </a:p>
          <a:p>
            <a:endParaRPr lang="he-IL" dirty="0"/>
          </a:p>
        </p:txBody>
      </p:sp>
    </p:spTree>
    <p:extLst>
      <p:ext uri="{BB962C8B-B14F-4D97-AF65-F5344CB8AC3E}">
        <p14:creationId xmlns:p14="http://schemas.microsoft.com/office/powerpoint/2010/main" val="3098281030"/>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1890346" y="642594"/>
            <a:ext cx="9234854" cy="1371600"/>
          </a:xfrm>
        </p:spPr>
        <p:txBody>
          <a:bodyPr>
            <a:normAutofit fontScale="90000"/>
          </a:bodyPr>
          <a:lstStyle/>
          <a:p>
            <a:r>
              <a:rPr lang="he-IL" dirty="0"/>
              <a:t>המשך - כיצד להגן על</a:t>
            </a:r>
            <a:r>
              <a:rPr lang="en-US" dirty="0"/>
              <a:t>ACL </a:t>
            </a:r>
            <a:r>
              <a:rPr lang="he-IL" dirty="0"/>
              <a:t> מפני סריקות?</a:t>
            </a:r>
          </a:p>
        </p:txBody>
      </p:sp>
      <p:sp>
        <p:nvSpPr>
          <p:cNvPr id="3" name="מציין מיקום תוכן 2"/>
          <p:cNvSpPr>
            <a:spLocks noGrp="1"/>
          </p:cNvSpPr>
          <p:nvPr>
            <p:ph idx="1"/>
          </p:nvPr>
        </p:nvSpPr>
        <p:spPr/>
        <p:txBody>
          <a:bodyPr/>
          <a:lstStyle/>
          <a:p>
            <a:r>
              <a:rPr lang="he-IL" dirty="0"/>
              <a:t>3. </a:t>
            </a:r>
            <a:r>
              <a:rPr lang="he-IL" b="1" dirty="0"/>
              <a:t>חסימת ניסיונות לפי כתובת </a:t>
            </a:r>
            <a:r>
              <a:rPr lang="en-US" b="1" dirty="0"/>
              <a:t>IP</a:t>
            </a:r>
          </a:p>
          <a:p>
            <a:r>
              <a:rPr lang="he-IL" dirty="0"/>
              <a:t>אם כתובת </a:t>
            </a:r>
            <a:r>
              <a:rPr lang="en-US" dirty="0"/>
              <a:t>IP</a:t>
            </a:r>
            <a:r>
              <a:rPr lang="he-IL" dirty="0"/>
              <a:t> מבצעת כמות חריגה של בקשות בזמן קצר, חסום אותה אוטומטית.</a:t>
            </a:r>
          </a:p>
          <a:p>
            <a:endParaRPr lang="he-IL" dirty="0"/>
          </a:p>
          <a:p>
            <a:r>
              <a:rPr lang="he-IL" dirty="0"/>
              <a:t>4. </a:t>
            </a:r>
            <a:r>
              <a:rPr lang="he-IL" b="1" dirty="0"/>
              <a:t>שימוש בקבצים מוגנים</a:t>
            </a:r>
          </a:p>
          <a:p>
            <a:r>
              <a:rPr lang="he-IL" dirty="0"/>
              <a:t>הסתרת משאבים מוגנים מאחורי מנגנון אימות.</a:t>
            </a:r>
          </a:p>
          <a:p>
            <a:r>
              <a:rPr lang="he-IL" dirty="0"/>
              <a:t>דוגמה: אם יש לך דף ניהול, וודא שהוא מוגן בסיסמה.</a:t>
            </a:r>
          </a:p>
          <a:p>
            <a:endParaRPr lang="he-IL" dirty="0"/>
          </a:p>
          <a:p>
            <a:endParaRPr lang="he-IL" dirty="0"/>
          </a:p>
        </p:txBody>
      </p:sp>
    </p:spTree>
    <p:extLst>
      <p:ext uri="{BB962C8B-B14F-4D97-AF65-F5344CB8AC3E}">
        <p14:creationId xmlns:p14="http://schemas.microsoft.com/office/powerpoint/2010/main" val="4294366621"/>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2690446" y="141433"/>
            <a:ext cx="8434754" cy="1371600"/>
          </a:xfrm>
        </p:spPr>
        <p:txBody>
          <a:bodyPr/>
          <a:lstStyle/>
          <a:p>
            <a:r>
              <a:rPr lang="he-IL" dirty="0"/>
              <a:t>דוגמה למערכת </a:t>
            </a:r>
            <a:r>
              <a:rPr lang="en-US" dirty="0"/>
              <a:t> ACL</a:t>
            </a:r>
            <a:r>
              <a:rPr lang="he-IL" dirty="0"/>
              <a:t>פשוטה בקוד</a:t>
            </a:r>
          </a:p>
        </p:txBody>
      </p:sp>
      <p:sp>
        <p:nvSpPr>
          <p:cNvPr id="3" name="מציין מיקום תוכן 2"/>
          <p:cNvSpPr>
            <a:spLocks noGrp="1"/>
          </p:cNvSpPr>
          <p:nvPr>
            <p:ph idx="1"/>
          </p:nvPr>
        </p:nvSpPr>
        <p:spPr>
          <a:xfrm>
            <a:off x="1066800" y="1513032"/>
            <a:ext cx="10058400" cy="5063614"/>
          </a:xfrm>
        </p:spPr>
        <p:txBody>
          <a:bodyPr>
            <a:normAutofit fontScale="85000" lnSpcReduction="20000"/>
          </a:bodyPr>
          <a:lstStyle/>
          <a:p>
            <a:r>
              <a:rPr lang="he-IL" dirty="0"/>
              <a:t>נניח שאנחנו מנהלים גישה לקבצים.</a:t>
            </a:r>
            <a:endParaRPr lang="en-US" dirty="0"/>
          </a:p>
          <a:p>
            <a:pPr algn="l"/>
            <a:r>
              <a:rPr lang="en-US" dirty="0" err="1"/>
              <a:t>def</a:t>
            </a:r>
            <a:r>
              <a:rPr lang="en-US" dirty="0"/>
              <a:t> </a:t>
            </a:r>
            <a:r>
              <a:rPr lang="en-US" dirty="0" err="1"/>
              <a:t>is_authorized</a:t>
            </a:r>
            <a:r>
              <a:rPr lang="en-US" dirty="0"/>
              <a:t>(user, resource, action):</a:t>
            </a:r>
          </a:p>
          <a:p>
            <a:pPr algn="l"/>
            <a:r>
              <a:rPr lang="en-US" dirty="0"/>
              <a:t>    </a:t>
            </a:r>
            <a:r>
              <a:rPr lang="en-US" dirty="0" err="1"/>
              <a:t>acl</a:t>
            </a:r>
            <a:r>
              <a:rPr lang="en-US" dirty="0"/>
              <a:t> = {</a:t>
            </a:r>
          </a:p>
          <a:p>
            <a:pPr algn="l"/>
            <a:r>
              <a:rPr lang="en-US" dirty="0"/>
              <a:t>        "admin": {"files": </a:t>
            </a:r>
            <a:r>
              <a:rPr lang="en-US" dirty="0">
                <a:solidFill>
                  <a:srgbClr val="FF0000"/>
                </a:solidFill>
              </a:rPr>
              <a:t>["read", "write", "delete</a:t>
            </a:r>
            <a:r>
              <a:rPr lang="en-US" dirty="0"/>
              <a:t>"]},</a:t>
            </a:r>
          </a:p>
          <a:p>
            <a:pPr algn="l"/>
            <a:r>
              <a:rPr lang="en-US" dirty="0"/>
              <a:t>        "user": {"files": ["read"]}</a:t>
            </a:r>
          </a:p>
          <a:p>
            <a:pPr algn="l"/>
            <a:r>
              <a:rPr lang="en-US" dirty="0"/>
              <a:t>    }</a:t>
            </a:r>
          </a:p>
          <a:p>
            <a:pPr algn="l"/>
            <a:r>
              <a:rPr lang="en-US" dirty="0"/>
              <a:t>    </a:t>
            </a:r>
          </a:p>
          <a:p>
            <a:pPr algn="l"/>
            <a:r>
              <a:rPr lang="en-US" dirty="0"/>
              <a:t>    if user in </a:t>
            </a:r>
            <a:r>
              <a:rPr lang="en-US" dirty="0" err="1"/>
              <a:t>acl</a:t>
            </a:r>
            <a:r>
              <a:rPr lang="en-US" dirty="0"/>
              <a:t> and action in </a:t>
            </a:r>
            <a:r>
              <a:rPr lang="en-US" dirty="0" err="1"/>
              <a:t>acl</a:t>
            </a:r>
            <a:r>
              <a:rPr lang="en-US" dirty="0"/>
              <a:t>[user].get(resource, []):</a:t>
            </a:r>
          </a:p>
          <a:p>
            <a:pPr algn="l"/>
            <a:r>
              <a:rPr lang="en-US" dirty="0"/>
              <a:t>        return True</a:t>
            </a:r>
          </a:p>
          <a:p>
            <a:pPr algn="l"/>
            <a:r>
              <a:rPr lang="en-US" dirty="0"/>
              <a:t>    return False</a:t>
            </a:r>
          </a:p>
          <a:p>
            <a:pPr algn="l"/>
            <a:endParaRPr lang="en-US" dirty="0"/>
          </a:p>
          <a:p>
            <a:pPr algn="l"/>
            <a:r>
              <a:rPr lang="he-IL" dirty="0"/>
              <a:t>דוגמה לשימוש #</a:t>
            </a:r>
          </a:p>
          <a:p>
            <a:pPr algn="l"/>
            <a:r>
              <a:rPr lang="en-US" dirty="0"/>
              <a:t>print(</a:t>
            </a:r>
            <a:r>
              <a:rPr lang="en-US" dirty="0" err="1"/>
              <a:t>is_authorized</a:t>
            </a:r>
            <a:r>
              <a:rPr lang="en-US" dirty="0"/>
              <a:t>("admin", "files", "delete"))  # True</a:t>
            </a:r>
          </a:p>
          <a:p>
            <a:pPr algn="l"/>
            <a:r>
              <a:rPr lang="en-US" dirty="0"/>
              <a:t>print(</a:t>
            </a:r>
            <a:r>
              <a:rPr lang="en-US" dirty="0" err="1"/>
              <a:t>is_authorized</a:t>
            </a:r>
            <a:r>
              <a:rPr lang="en-US" dirty="0"/>
              <a:t>("user", "files", "delete"))  # False</a:t>
            </a:r>
            <a:endParaRPr lang="he-IL" dirty="0"/>
          </a:p>
          <a:p>
            <a:r>
              <a:rPr lang="en-US" dirty="0"/>
              <a:t>Admin </a:t>
            </a:r>
            <a:r>
              <a:rPr lang="he-IL" dirty="0"/>
              <a:t> מורשה למחוק קבצים.</a:t>
            </a:r>
          </a:p>
          <a:p>
            <a:r>
              <a:rPr lang="en-US" dirty="0"/>
              <a:t>User</a:t>
            </a:r>
            <a:r>
              <a:rPr lang="he-IL" dirty="0"/>
              <a:t> מורשה רק לקרוא קבצים.</a:t>
            </a:r>
            <a:endParaRPr lang="en-US" dirty="0"/>
          </a:p>
          <a:p>
            <a:pPr algn="l"/>
            <a:endParaRPr lang="he-IL" dirty="0"/>
          </a:p>
        </p:txBody>
      </p:sp>
    </p:spTree>
    <p:extLst>
      <p:ext uri="{BB962C8B-B14F-4D97-AF65-F5344CB8AC3E}">
        <p14:creationId xmlns:p14="http://schemas.microsoft.com/office/powerpoint/2010/main" val="4253356954"/>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9152792" y="642594"/>
            <a:ext cx="1972408" cy="1371600"/>
          </a:xfrm>
        </p:spPr>
        <p:txBody>
          <a:bodyPr/>
          <a:lstStyle/>
          <a:p>
            <a:r>
              <a:rPr lang="he-IL" dirty="0"/>
              <a:t>שאלות</a:t>
            </a:r>
          </a:p>
        </p:txBody>
      </p:sp>
      <p:sp>
        <p:nvSpPr>
          <p:cNvPr id="3" name="מציין מיקום תוכן 2"/>
          <p:cNvSpPr>
            <a:spLocks noGrp="1"/>
          </p:cNvSpPr>
          <p:nvPr>
            <p:ph idx="1"/>
          </p:nvPr>
        </p:nvSpPr>
        <p:spPr/>
        <p:txBody>
          <a:bodyPr/>
          <a:lstStyle/>
          <a:p>
            <a:r>
              <a:rPr lang="he-IL" dirty="0"/>
              <a:t>1. מהי</a:t>
            </a:r>
            <a:r>
              <a:rPr lang="en-US" dirty="0"/>
              <a:t> ACL </a:t>
            </a:r>
            <a:r>
              <a:rPr lang="he-IL" dirty="0"/>
              <a:t>וכיצד היא מגנה על המערכת?</a:t>
            </a:r>
          </a:p>
          <a:p>
            <a:endParaRPr lang="he-IL" dirty="0"/>
          </a:p>
          <a:p>
            <a:r>
              <a:rPr lang="he-IL" dirty="0"/>
              <a:t>2. איך תוקפים מבצעים סריקת </a:t>
            </a:r>
            <a:r>
              <a:rPr lang="en-US" dirty="0"/>
              <a:t>ACL</a:t>
            </a:r>
            <a:r>
              <a:rPr lang="he-IL" dirty="0"/>
              <a:t>?</a:t>
            </a:r>
          </a:p>
          <a:p>
            <a:endParaRPr lang="he-IL" dirty="0"/>
          </a:p>
          <a:p>
            <a:r>
              <a:rPr lang="he-IL" dirty="0"/>
              <a:t>3. מהן השיטות להגנה מפני סריקות </a:t>
            </a:r>
            <a:r>
              <a:rPr lang="en-US" dirty="0"/>
              <a:t>ACL</a:t>
            </a:r>
            <a:r>
              <a:rPr lang="he-IL" dirty="0"/>
              <a:t>?</a:t>
            </a:r>
          </a:p>
        </p:txBody>
      </p:sp>
    </p:spTree>
    <p:extLst>
      <p:ext uri="{BB962C8B-B14F-4D97-AF65-F5344CB8AC3E}">
        <p14:creationId xmlns:p14="http://schemas.microsoft.com/office/powerpoint/2010/main" val="3648896751"/>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8985738" y="642594"/>
            <a:ext cx="2139462" cy="1371600"/>
          </a:xfrm>
        </p:spPr>
        <p:txBody>
          <a:bodyPr/>
          <a:lstStyle/>
          <a:p>
            <a:r>
              <a:rPr lang="he-IL" dirty="0"/>
              <a:t>תשובות</a:t>
            </a:r>
          </a:p>
        </p:txBody>
      </p:sp>
      <p:sp>
        <p:nvSpPr>
          <p:cNvPr id="3" name="מציין מיקום תוכן 2"/>
          <p:cNvSpPr>
            <a:spLocks noGrp="1"/>
          </p:cNvSpPr>
          <p:nvPr>
            <p:ph idx="1"/>
          </p:nvPr>
        </p:nvSpPr>
        <p:spPr/>
        <p:txBody>
          <a:bodyPr/>
          <a:lstStyle/>
          <a:p>
            <a:r>
              <a:rPr lang="he-IL" dirty="0"/>
              <a:t>1. </a:t>
            </a:r>
            <a:r>
              <a:rPr lang="en-US" dirty="0"/>
              <a:t> ACL</a:t>
            </a:r>
            <a:r>
              <a:rPr lang="he-IL" dirty="0"/>
              <a:t>היא רשימה שמגדירה למי יש הרשאה לגשת למשאב מסוים ומה הפעולות שמותר לבצע עליו. היא מגנה על המערכת על ידי צמצום הגישה רק למשתמשים המורשים ולפעולות המותרות.</a:t>
            </a:r>
          </a:p>
          <a:p>
            <a:r>
              <a:rPr lang="he-IL" dirty="0"/>
              <a:t>2. תוקפים משתמשים בכלים אוטומטיים כמו </a:t>
            </a:r>
            <a:r>
              <a:rPr lang="en-US" dirty="0"/>
              <a:t>Burp Suite</a:t>
            </a:r>
            <a:r>
              <a:rPr lang="he-IL" dirty="0"/>
              <a:t> כדי לשלוח בקשות לנתיבים שונים ולזהות משאבים שאינם מוגנים כראוי. הם מנסים לגלות משאבים על ידי ניחוש נתיבים או שינוי פרמטרים.</a:t>
            </a:r>
          </a:p>
          <a:p>
            <a:r>
              <a:rPr lang="he-IL" dirty="0"/>
              <a:t>3. </a:t>
            </a:r>
          </a:p>
          <a:p>
            <a:r>
              <a:rPr lang="he-IL" dirty="0"/>
              <a:t>א. הגדרת</a:t>
            </a:r>
            <a:r>
              <a:rPr lang="en-US" dirty="0"/>
              <a:t> ACL </a:t>
            </a:r>
            <a:r>
              <a:rPr lang="he-IL" dirty="0"/>
              <a:t>חזקה.</a:t>
            </a:r>
          </a:p>
          <a:p>
            <a:r>
              <a:rPr lang="he-IL" dirty="0"/>
              <a:t>ב. שימוש במנגנוני זיהוי חדירות </a:t>
            </a:r>
            <a:r>
              <a:rPr lang="en-US" dirty="0"/>
              <a:t>IDS/IPS</a:t>
            </a:r>
            <a:endParaRPr lang="he-IL" dirty="0"/>
          </a:p>
          <a:p>
            <a:r>
              <a:rPr lang="he-IL" dirty="0"/>
              <a:t>ג. חסימת כתובות</a:t>
            </a:r>
            <a:r>
              <a:rPr lang="en-US" dirty="0"/>
              <a:t>IP </a:t>
            </a:r>
            <a:r>
              <a:rPr lang="he-IL" dirty="0"/>
              <a:t> על פעילות חריגה.</a:t>
            </a:r>
          </a:p>
          <a:p>
            <a:r>
              <a:rPr lang="he-IL" dirty="0"/>
              <a:t>ד. הגבלת משאבים מוגנים מאחורי אימות.</a:t>
            </a:r>
          </a:p>
          <a:p>
            <a:endParaRPr lang="he-IL" dirty="0"/>
          </a:p>
          <a:p>
            <a:endParaRPr lang="he-IL" dirty="0"/>
          </a:p>
        </p:txBody>
      </p:sp>
    </p:spTree>
    <p:extLst>
      <p:ext uri="{BB962C8B-B14F-4D97-AF65-F5344CB8AC3E}">
        <p14:creationId xmlns:p14="http://schemas.microsoft.com/office/powerpoint/2010/main" val="1598089821"/>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p:cNvSpPr>
            <a:spLocks noGrp="1"/>
          </p:cNvSpPr>
          <p:nvPr>
            <p:ph idx="1"/>
          </p:nvPr>
        </p:nvSpPr>
        <p:spPr>
          <a:xfrm>
            <a:off x="1066800" y="2463605"/>
            <a:ext cx="10058400" cy="3931920"/>
          </a:xfrm>
        </p:spPr>
        <p:txBody>
          <a:bodyPr>
            <a:normAutofit/>
          </a:bodyPr>
          <a:lstStyle/>
          <a:p>
            <a:pPr algn="ctr"/>
            <a:r>
              <a:rPr lang="en-US" sz="7200" dirty="0"/>
              <a:t>Role Matrix</a:t>
            </a:r>
            <a:endParaRPr lang="he-IL" sz="7200" dirty="0"/>
          </a:p>
        </p:txBody>
      </p:sp>
    </p:spTree>
    <p:extLst>
      <p:ext uri="{BB962C8B-B14F-4D97-AF65-F5344CB8AC3E}">
        <p14:creationId xmlns:p14="http://schemas.microsoft.com/office/powerpoint/2010/main" val="2417914066"/>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2136530" y="642594"/>
            <a:ext cx="8988669" cy="1371600"/>
          </a:xfrm>
        </p:spPr>
        <p:txBody>
          <a:bodyPr/>
          <a:lstStyle/>
          <a:p>
            <a:r>
              <a:rPr lang="he-IL" dirty="0"/>
              <a:t>מהי מטריצת תפקידים </a:t>
            </a:r>
            <a:r>
              <a:rPr lang="en-US" dirty="0"/>
              <a:t>Role Matrix</a:t>
            </a:r>
            <a:endParaRPr lang="he-IL" dirty="0"/>
          </a:p>
        </p:txBody>
      </p:sp>
      <p:sp>
        <p:nvSpPr>
          <p:cNvPr id="3" name="מציין מיקום תוכן 2"/>
          <p:cNvSpPr>
            <a:spLocks noGrp="1"/>
          </p:cNvSpPr>
          <p:nvPr>
            <p:ph idx="1"/>
          </p:nvPr>
        </p:nvSpPr>
        <p:spPr/>
        <p:txBody>
          <a:bodyPr/>
          <a:lstStyle/>
          <a:p>
            <a:r>
              <a:rPr lang="he-IL" dirty="0"/>
              <a:t>מטריצת תפקידים היא טבלה שמציגה בצורה ברורה את התפקידים בארגון ואת ההרשאות או הגישה למערכות, משאבים, ונתונים שאליהם הם זכאים. מטריצה זו עוזרת לנהל בקרה על הרשאות, לצמצם סיכונים הנובעים משימוש לא נכון בהרשאות ולמנוע גישה לא מורשית למשאבים.</a:t>
            </a:r>
          </a:p>
          <a:p>
            <a:r>
              <a:rPr lang="he-IL" b="1" dirty="0"/>
              <a:t>מבנה המטריצה:</a:t>
            </a:r>
            <a:endParaRPr lang="he-IL" dirty="0"/>
          </a:p>
          <a:p>
            <a:r>
              <a:rPr lang="he-IL" b="1" dirty="0"/>
              <a:t>שורות:</a:t>
            </a:r>
            <a:r>
              <a:rPr lang="he-IL" dirty="0"/>
              <a:t> תפקידים בארגון </a:t>
            </a:r>
            <a:r>
              <a:rPr lang="en-US" dirty="0"/>
              <a:t> :Role</a:t>
            </a:r>
            <a:r>
              <a:rPr lang="he-IL" dirty="0"/>
              <a:t>למשל, מנהל, מפתח, איש תמיכה, משתמש קצה.</a:t>
            </a:r>
          </a:p>
          <a:p>
            <a:endParaRPr lang="he-IL" dirty="0"/>
          </a:p>
          <a:p>
            <a:r>
              <a:rPr lang="he-IL" b="1" dirty="0"/>
              <a:t>עמודות:</a:t>
            </a:r>
            <a:r>
              <a:rPr lang="he-IL" dirty="0"/>
              <a:t> משאבים או מערכות בארגון: למשל, מערכת </a:t>
            </a:r>
            <a:r>
              <a:rPr lang="en-US" dirty="0"/>
              <a:t>CRM</a:t>
            </a:r>
            <a:r>
              <a:rPr lang="he-IL" dirty="0"/>
              <a:t> מסד נתונים, מערכת </a:t>
            </a:r>
            <a:r>
              <a:rPr lang="en-US" dirty="0"/>
              <a:t>HR</a:t>
            </a:r>
            <a:endParaRPr lang="he-IL" dirty="0"/>
          </a:p>
          <a:p>
            <a:endParaRPr lang="en-US" dirty="0"/>
          </a:p>
          <a:p>
            <a:r>
              <a:rPr lang="he-IL" b="1" dirty="0"/>
              <a:t>תוכן הטבלה:</a:t>
            </a:r>
            <a:r>
              <a:rPr lang="he-IL" dirty="0"/>
              <a:t> ההרשאות</a:t>
            </a:r>
            <a:r>
              <a:rPr lang="en-US" dirty="0"/>
              <a:t>Access </a:t>
            </a:r>
            <a:r>
              <a:rPr lang="he-IL" dirty="0"/>
              <a:t>: לכל שילוב של תפקיד ומשאב. לדוגמה: קריאה בלבד, קריאה וכתיבה, גישה מלאה.</a:t>
            </a:r>
          </a:p>
          <a:p>
            <a:endParaRPr lang="he-IL" dirty="0"/>
          </a:p>
        </p:txBody>
      </p:sp>
    </p:spTree>
    <p:extLst>
      <p:ext uri="{BB962C8B-B14F-4D97-AF65-F5344CB8AC3E}">
        <p14:creationId xmlns:p14="http://schemas.microsoft.com/office/powerpoint/2010/main" val="1417134572"/>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8379068" y="642594"/>
            <a:ext cx="2746131" cy="1371600"/>
          </a:xfrm>
        </p:spPr>
        <p:txBody>
          <a:bodyPr/>
          <a:lstStyle/>
          <a:p>
            <a:r>
              <a:rPr lang="he-IL" dirty="0"/>
              <a:t>מושגי יסוד</a:t>
            </a:r>
          </a:p>
        </p:txBody>
      </p:sp>
      <p:sp>
        <p:nvSpPr>
          <p:cNvPr id="3" name="מציין מיקום תוכן 2"/>
          <p:cNvSpPr>
            <a:spLocks noGrp="1"/>
          </p:cNvSpPr>
          <p:nvPr>
            <p:ph idx="1"/>
          </p:nvPr>
        </p:nvSpPr>
        <p:spPr/>
        <p:txBody>
          <a:bodyPr/>
          <a:lstStyle/>
          <a:p>
            <a:r>
              <a:rPr lang="he-IL" dirty="0"/>
              <a:t>1. א. </a:t>
            </a:r>
            <a:r>
              <a:rPr lang="he-IL" b="1" dirty="0"/>
              <a:t>גישה מבוססת תפקיד </a:t>
            </a:r>
            <a:r>
              <a:rPr lang="en-US" b="1" dirty="0"/>
              <a:t>Role-Based Access Control - RBAC</a:t>
            </a:r>
          </a:p>
          <a:p>
            <a:r>
              <a:rPr lang="he-IL" dirty="0"/>
              <a:t>מדובר במודל ניהול הרשאות שבו זכויות הגישה נקבעות על סמך תפקיד המשתמש בארגון, במקום על סמך זהות המשתמש עצמו.</a:t>
            </a:r>
          </a:p>
          <a:p>
            <a:r>
              <a:rPr lang="he-IL" b="1" dirty="0"/>
              <a:t>יתרונות:</a:t>
            </a:r>
            <a:endParaRPr lang="he-IL" dirty="0"/>
          </a:p>
          <a:p>
            <a:pPr lvl="1"/>
            <a:r>
              <a:rPr lang="he-IL" dirty="0"/>
              <a:t>ניהול פשוט יותר של הרשאות.</a:t>
            </a:r>
          </a:p>
          <a:p>
            <a:pPr lvl="1"/>
            <a:r>
              <a:rPr lang="he-IL" dirty="0"/>
              <a:t>צמצום שגיאות ניהול ידני.</a:t>
            </a:r>
          </a:p>
          <a:p>
            <a:r>
              <a:rPr lang="he-IL" b="1" dirty="0"/>
              <a:t>לדוגמה:</a:t>
            </a:r>
            <a:r>
              <a:rPr lang="he-IL" dirty="0"/>
              <a:t> משתמש בתפקיד "איש" </a:t>
            </a:r>
            <a:r>
              <a:rPr lang="en-US" dirty="0"/>
              <a:t> HR</a:t>
            </a:r>
            <a:r>
              <a:rPr lang="he-IL" dirty="0"/>
              <a:t>יקבל גישה למערכת משאבי האנוש בלבד, ללא תלות בזהותו הפרטית.</a:t>
            </a:r>
          </a:p>
          <a:p>
            <a:r>
              <a:rPr lang="he-IL" dirty="0"/>
              <a:t>ב. </a:t>
            </a:r>
            <a:r>
              <a:rPr lang="en-US" b="1" dirty="0"/>
              <a:t>Least Privilege</a:t>
            </a:r>
            <a:r>
              <a:rPr lang="he-IL" b="1" dirty="0"/>
              <a:t> עיקרון המינימום הרשאות:</a:t>
            </a:r>
          </a:p>
          <a:p>
            <a:r>
              <a:rPr lang="he-IL" dirty="0"/>
              <a:t>כל משתמש מקבל את כמות ההרשאות המינימלית הנדרשת לביצוע משימותיו.</a:t>
            </a:r>
          </a:p>
          <a:p>
            <a:r>
              <a:rPr lang="he-IL" b="1" dirty="0"/>
              <a:t>לדוגמה:</a:t>
            </a:r>
            <a:r>
              <a:rPr lang="he-IL" dirty="0"/>
              <a:t> איש</a:t>
            </a:r>
            <a:r>
              <a:rPr lang="en-US" dirty="0"/>
              <a:t>IT </a:t>
            </a:r>
            <a:r>
              <a:rPr lang="he-IL" dirty="0"/>
              <a:t> שמתקן תקלה במערכת </a:t>
            </a:r>
            <a:r>
              <a:rPr lang="en-US" dirty="0"/>
              <a:t>CRM </a:t>
            </a:r>
            <a:r>
              <a:rPr lang="he-IL" dirty="0"/>
              <a:t> יקבל גישה זמנית למשימה זו בלבד.</a:t>
            </a:r>
          </a:p>
          <a:p>
            <a:endParaRPr lang="he-IL" dirty="0"/>
          </a:p>
          <a:p>
            <a:endParaRPr lang="he-IL" dirty="0"/>
          </a:p>
        </p:txBody>
      </p:sp>
    </p:spTree>
    <p:extLst>
      <p:ext uri="{BB962C8B-B14F-4D97-AF65-F5344CB8AC3E}">
        <p14:creationId xmlns:p14="http://schemas.microsoft.com/office/powerpoint/2010/main" val="95791991"/>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6260122" y="642594"/>
            <a:ext cx="4865077" cy="1371600"/>
          </a:xfrm>
        </p:spPr>
        <p:txBody>
          <a:bodyPr/>
          <a:lstStyle/>
          <a:p>
            <a:r>
              <a:rPr lang="he-IL" dirty="0"/>
              <a:t>המשך - מושגי יסוד</a:t>
            </a:r>
          </a:p>
        </p:txBody>
      </p:sp>
      <p:sp>
        <p:nvSpPr>
          <p:cNvPr id="3" name="מציין מיקום תוכן 2"/>
          <p:cNvSpPr>
            <a:spLocks noGrp="1"/>
          </p:cNvSpPr>
          <p:nvPr>
            <p:ph idx="1"/>
          </p:nvPr>
        </p:nvSpPr>
        <p:spPr/>
        <p:txBody>
          <a:bodyPr/>
          <a:lstStyle/>
          <a:p>
            <a:r>
              <a:rPr lang="he-IL" dirty="0"/>
              <a:t>ג. </a:t>
            </a:r>
            <a:r>
              <a:rPr lang="en-US" dirty="0"/>
              <a:t> </a:t>
            </a:r>
            <a:r>
              <a:rPr lang="en-US" b="1" dirty="0"/>
              <a:t>Separation of Duties</a:t>
            </a:r>
            <a:r>
              <a:rPr lang="he-IL" b="1" dirty="0"/>
              <a:t>הפרדת תפקידים:</a:t>
            </a:r>
          </a:p>
          <a:p>
            <a:r>
              <a:rPr lang="he-IL" dirty="0"/>
              <a:t>עיקרון שמונע ריכוז כוח או הרשאות רבות מדי אצל משתמש אחד, כדי להפחית סיכונים כמו הונאה או טעויות אנוש.</a:t>
            </a:r>
          </a:p>
          <a:p>
            <a:r>
              <a:rPr lang="he-IL" b="1" dirty="0"/>
              <a:t>לדוגמה:</a:t>
            </a:r>
            <a:r>
              <a:rPr lang="he-IL" dirty="0"/>
              <a:t> מי שמבצע תשלומים בארגון לא יכול גם לאשר אותם.</a:t>
            </a:r>
          </a:p>
          <a:p>
            <a:endParaRPr lang="he-IL" dirty="0"/>
          </a:p>
          <a:p>
            <a:r>
              <a:rPr lang="he-IL" dirty="0"/>
              <a:t>ד.</a:t>
            </a:r>
            <a:r>
              <a:rPr lang="en-US" b="1" dirty="0"/>
              <a:t>Data Sensitivity </a:t>
            </a:r>
            <a:r>
              <a:rPr lang="he-IL" b="1" dirty="0"/>
              <a:t> רגישות מידע:</a:t>
            </a:r>
          </a:p>
          <a:p>
            <a:r>
              <a:rPr lang="he-IL" dirty="0"/>
              <a:t>מידע מסווג לפי רמת הרגישות שלו, והגישה אליו מוגבלת בהתאם.</a:t>
            </a:r>
          </a:p>
          <a:p>
            <a:r>
              <a:rPr lang="he-IL" b="1" dirty="0"/>
              <a:t>רמות רגישות:</a:t>
            </a:r>
            <a:r>
              <a:rPr lang="he-IL" dirty="0"/>
              <a:t> ציבורי, פנימי, סודי, סודי ביותר.</a:t>
            </a:r>
          </a:p>
          <a:p>
            <a:endParaRPr lang="he-IL" dirty="0"/>
          </a:p>
          <a:p>
            <a:endParaRPr lang="he-IL" dirty="0"/>
          </a:p>
        </p:txBody>
      </p:sp>
    </p:spTree>
    <p:extLst>
      <p:ext uri="{BB962C8B-B14F-4D97-AF65-F5344CB8AC3E}">
        <p14:creationId xmlns:p14="http://schemas.microsoft.com/office/powerpoint/2010/main" val="418171011"/>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6752492" y="141432"/>
            <a:ext cx="4372708" cy="1371600"/>
          </a:xfrm>
        </p:spPr>
        <p:txBody>
          <a:bodyPr/>
          <a:lstStyle/>
          <a:p>
            <a:r>
              <a:rPr lang="he-IL" dirty="0"/>
              <a:t>עקרונות מרכזיים</a:t>
            </a:r>
          </a:p>
        </p:txBody>
      </p:sp>
      <p:sp>
        <p:nvSpPr>
          <p:cNvPr id="3" name="מציין מיקום תוכן 2"/>
          <p:cNvSpPr>
            <a:spLocks noGrp="1"/>
          </p:cNvSpPr>
          <p:nvPr>
            <p:ph idx="1"/>
          </p:nvPr>
        </p:nvSpPr>
        <p:spPr>
          <a:xfrm>
            <a:off x="1066800" y="1373358"/>
            <a:ext cx="10058400" cy="5203288"/>
          </a:xfrm>
        </p:spPr>
        <p:txBody>
          <a:bodyPr>
            <a:normAutofit/>
          </a:bodyPr>
          <a:lstStyle/>
          <a:p>
            <a:r>
              <a:rPr lang="he-IL" dirty="0"/>
              <a:t>א. </a:t>
            </a:r>
            <a:r>
              <a:rPr lang="en-US" dirty="0"/>
              <a:t> </a:t>
            </a:r>
            <a:r>
              <a:rPr lang="en-US" b="1" dirty="0"/>
              <a:t>Scoping</a:t>
            </a:r>
            <a:r>
              <a:rPr lang="he-IL" b="1" dirty="0"/>
              <a:t>טווח הרשאות:</a:t>
            </a:r>
          </a:p>
          <a:p>
            <a:r>
              <a:rPr lang="he-IL" dirty="0"/>
              <a:t>בעת תכנון המטריצה, חשוב להגדיר טווח ברור לכל תפקיד:</a:t>
            </a:r>
          </a:p>
          <a:p>
            <a:r>
              <a:rPr lang="he-IL" dirty="0"/>
              <a:t>מה התפקיד כולל? משימות ותהליכים.</a:t>
            </a:r>
          </a:p>
          <a:p>
            <a:r>
              <a:rPr lang="he-IL" dirty="0"/>
              <a:t>לאילו מערכות המידע רלוונטיות?</a:t>
            </a:r>
          </a:p>
          <a:p>
            <a:r>
              <a:rPr lang="he-IL" dirty="0"/>
              <a:t>איזה מידע ותהליכים רגישים יש בתפקיד?</a:t>
            </a:r>
          </a:p>
          <a:p>
            <a:r>
              <a:rPr lang="he-IL" dirty="0"/>
              <a:t>ב. </a:t>
            </a:r>
            <a:r>
              <a:rPr lang="en-US" dirty="0"/>
              <a:t> </a:t>
            </a:r>
            <a:r>
              <a:rPr lang="en-US" b="1" dirty="0"/>
              <a:t>Context-Aware Access</a:t>
            </a:r>
            <a:r>
              <a:rPr lang="he-IL" b="1" dirty="0"/>
              <a:t>גישה מבוססת הקשר:</a:t>
            </a:r>
          </a:p>
          <a:p>
            <a:r>
              <a:rPr lang="he-IL" dirty="0"/>
              <a:t>גישה יכולה להיות מותנית ב:</a:t>
            </a:r>
          </a:p>
          <a:p>
            <a:r>
              <a:rPr lang="he-IL" dirty="0"/>
              <a:t>מיקום גיאוגרפי.</a:t>
            </a:r>
          </a:p>
          <a:p>
            <a:r>
              <a:rPr lang="he-IL" dirty="0"/>
              <a:t>זמן (למשל: גישה מותרת רק בשעות העבודה).</a:t>
            </a:r>
          </a:p>
          <a:p>
            <a:r>
              <a:rPr lang="he-IL" dirty="0"/>
              <a:t>רשת האינטרנט (גישה פנימית בלבד).</a:t>
            </a:r>
          </a:p>
          <a:p>
            <a:r>
              <a:rPr lang="he-IL" dirty="0"/>
              <a:t>ג.</a:t>
            </a:r>
            <a:r>
              <a:rPr lang="en-US" dirty="0"/>
              <a:t> </a:t>
            </a:r>
            <a:r>
              <a:rPr lang="en-US" b="1" dirty="0"/>
              <a:t>Dynamic Role Management </a:t>
            </a:r>
            <a:r>
              <a:rPr lang="he-IL" b="1" dirty="0"/>
              <a:t>ניהול תפקידים דינמי:</a:t>
            </a:r>
          </a:p>
          <a:p>
            <a:r>
              <a:rPr lang="he-IL" dirty="0"/>
              <a:t>ניהול הרשאות שמתעדכן בהתאם לשינויים בתפקידים או בארגון.</a:t>
            </a:r>
          </a:p>
          <a:p>
            <a:r>
              <a:rPr lang="he-IL" b="1" dirty="0"/>
              <a:t>לדוגמה:</a:t>
            </a:r>
            <a:r>
              <a:rPr lang="he-IL" dirty="0"/>
              <a:t> עובד שעבר מתפקיד מפתח למנהל צוות, יקבל הרשאות ניהול במקום הרשאות פיתוח.</a:t>
            </a:r>
          </a:p>
          <a:p>
            <a:endParaRPr lang="he-IL" dirty="0"/>
          </a:p>
          <a:p>
            <a:endParaRPr lang="he-IL" dirty="0"/>
          </a:p>
          <a:p>
            <a:endParaRPr lang="he-IL" dirty="0"/>
          </a:p>
          <a:p>
            <a:endParaRPr lang="he-IL" dirty="0"/>
          </a:p>
        </p:txBody>
      </p:sp>
    </p:spTree>
    <p:extLst>
      <p:ext uri="{BB962C8B-B14F-4D97-AF65-F5344CB8AC3E}">
        <p14:creationId xmlns:p14="http://schemas.microsoft.com/office/powerpoint/2010/main" val="26922043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6734908" y="642594"/>
            <a:ext cx="4390292" cy="1371600"/>
          </a:xfrm>
        </p:spPr>
        <p:txBody>
          <a:bodyPr/>
          <a:lstStyle/>
          <a:p>
            <a:r>
              <a:rPr lang="he-IL" dirty="0"/>
              <a:t>מטרות המטריצה</a:t>
            </a:r>
          </a:p>
        </p:txBody>
      </p:sp>
      <p:sp>
        <p:nvSpPr>
          <p:cNvPr id="3" name="מציין מיקום תוכן 2"/>
          <p:cNvSpPr>
            <a:spLocks noGrp="1"/>
          </p:cNvSpPr>
          <p:nvPr>
            <p:ph idx="1"/>
          </p:nvPr>
        </p:nvSpPr>
        <p:spPr/>
        <p:txBody>
          <a:bodyPr/>
          <a:lstStyle/>
          <a:p>
            <a:r>
              <a:rPr lang="he-IL" dirty="0"/>
              <a:t>1. </a:t>
            </a:r>
            <a:r>
              <a:rPr lang="he-IL" b="1" dirty="0"/>
              <a:t>מניעת גישה לא מורשית:</a:t>
            </a:r>
            <a:r>
              <a:rPr lang="he-IL" dirty="0"/>
              <a:t> מוודאים שכל משתמש ניגש רק למה שהוא צריך.</a:t>
            </a:r>
          </a:p>
          <a:p>
            <a:endParaRPr lang="he-IL" dirty="0"/>
          </a:p>
          <a:p>
            <a:r>
              <a:rPr lang="he-IL" dirty="0"/>
              <a:t>2. </a:t>
            </a:r>
            <a:r>
              <a:rPr lang="he-IL" b="1" dirty="0"/>
              <a:t>שיפור ניהול סיכונים:</a:t>
            </a:r>
            <a:r>
              <a:rPr lang="he-IL" dirty="0"/>
              <a:t> הקטנת החשיפה של המידע הרגיש.</a:t>
            </a:r>
          </a:p>
          <a:p>
            <a:endParaRPr lang="he-IL" dirty="0"/>
          </a:p>
          <a:p>
            <a:r>
              <a:rPr lang="he-IL" dirty="0"/>
              <a:t>3. </a:t>
            </a:r>
            <a:r>
              <a:rPr lang="he-IL" b="1" dirty="0"/>
              <a:t>שקיפות:</a:t>
            </a:r>
            <a:r>
              <a:rPr lang="he-IL" dirty="0"/>
              <a:t> הצגת ההרשאות בצורה ברורה לכל הצדדים הרלוונטיים.</a:t>
            </a:r>
          </a:p>
          <a:p>
            <a:endParaRPr lang="he-IL" dirty="0"/>
          </a:p>
          <a:p>
            <a:r>
              <a:rPr lang="he-IL" dirty="0"/>
              <a:t>4. </a:t>
            </a:r>
            <a:r>
              <a:rPr lang="he-IL" b="1" dirty="0"/>
              <a:t>התאמה לתקנים ורגולציות:</a:t>
            </a:r>
            <a:r>
              <a:rPr lang="he-IL" dirty="0"/>
              <a:t> עמידה בדרישות כמו </a:t>
            </a:r>
            <a:r>
              <a:rPr lang="en-US" dirty="0"/>
              <a:t>GDPR, HIPAA, ISO 27001</a:t>
            </a:r>
            <a:endParaRPr lang="he-IL" dirty="0"/>
          </a:p>
          <a:p>
            <a:endParaRPr lang="he-IL" dirty="0"/>
          </a:p>
        </p:txBody>
      </p:sp>
    </p:spTree>
    <p:extLst>
      <p:ext uri="{BB962C8B-B14F-4D97-AF65-F5344CB8AC3E}">
        <p14:creationId xmlns:p14="http://schemas.microsoft.com/office/powerpoint/2010/main" val="4161564827"/>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3121268" y="642594"/>
            <a:ext cx="8003931" cy="1371600"/>
          </a:xfrm>
        </p:spPr>
        <p:txBody>
          <a:bodyPr/>
          <a:lstStyle/>
          <a:p>
            <a:r>
              <a:rPr lang="he-IL" dirty="0"/>
              <a:t>שלבים לבניית מטריצת תפקידים</a:t>
            </a:r>
          </a:p>
        </p:txBody>
      </p:sp>
      <p:sp>
        <p:nvSpPr>
          <p:cNvPr id="3" name="מציין מיקום תוכן 2"/>
          <p:cNvSpPr>
            <a:spLocks noGrp="1"/>
          </p:cNvSpPr>
          <p:nvPr>
            <p:ph idx="1"/>
          </p:nvPr>
        </p:nvSpPr>
        <p:spPr/>
        <p:txBody>
          <a:bodyPr>
            <a:normAutofit fontScale="92500" lnSpcReduction="10000"/>
          </a:bodyPr>
          <a:lstStyle/>
          <a:p>
            <a:r>
              <a:rPr lang="he-IL" dirty="0"/>
              <a:t>1. </a:t>
            </a:r>
            <a:r>
              <a:rPr lang="he-IL" b="1" dirty="0"/>
              <a:t>זיהוי התפקידים בארגון:</a:t>
            </a:r>
            <a:endParaRPr lang="he-IL" dirty="0"/>
          </a:p>
          <a:p>
            <a:r>
              <a:rPr lang="he-IL" dirty="0"/>
              <a:t>נתח את המבנה הארגוני.</a:t>
            </a:r>
          </a:p>
          <a:p>
            <a:r>
              <a:rPr lang="he-IL" dirty="0"/>
              <a:t>הבן מהם התפקידים ומהן המשימות שכל תפקיד מבצע.</a:t>
            </a:r>
          </a:p>
          <a:p>
            <a:endParaRPr lang="he-IL" dirty="0"/>
          </a:p>
          <a:p>
            <a:r>
              <a:rPr lang="he-IL" dirty="0"/>
              <a:t>2. </a:t>
            </a:r>
            <a:r>
              <a:rPr lang="he-IL" b="1" dirty="0"/>
              <a:t>מיפוי המשאבים:</a:t>
            </a:r>
            <a:endParaRPr lang="he-IL" dirty="0"/>
          </a:p>
          <a:p>
            <a:r>
              <a:rPr lang="he-IL" dirty="0"/>
              <a:t>רשום את כל המערכות, הכלים והמידע הקיימים בארגון.</a:t>
            </a:r>
          </a:p>
          <a:p>
            <a:r>
              <a:rPr lang="he-IL" dirty="0"/>
              <a:t>ציין אילו משאבים נחשבים רגישים.</a:t>
            </a:r>
          </a:p>
          <a:p>
            <a:endParaRPr lang="he-IL" dirty="0"/>
          </a:p>
          <a:p>
            <a:r>
              <a:rPr lang="he-IL" dirty="0"/>
              <a:t>3. </a:t>
            </a:r>
            <a:r>
              <a:rPr lang="he-IL" b="1" dirty="0"/>
              <a:t>הגדרת הרשאות:</a:t>
            </a:r>
            <a:endParaRPr lang="he-IL" dirty="0"/>
          </a:p>
          <a:p>
            <a:r>
              <a:rPr lang="he-IL" dirty="0"/>
              <a:t>קבע אילו תפקידים צריכים גישה לאילו משאבים.</a:t>
            </a:r>
          </a:p>
          <a:p>
            <a:r>
              <a:rPr lang="he-IL" dirty="0"/>
              <a:t>ציין את רמות הגישה הנדרשות (למשל: קריאה בלבד, כתיבה, מנהל).</a:t>
            </a:r>
          </a:p>
          <a:p>
            <a:endParaRPr lang="he-IL" dirty="0"/>
          </a:p>
          <a:p>
            <a:endParaRPr lang="he-IL" dirty="0"/>
          </a:p>
        </p:txBody>
      </p:sp>
    </p:spTree>
    <p:extLst>
      <p:ext uri="{BB962C8B-B14F-4D97-AF65-F5344CB8AC3E}">
        <p14:creationId xmlns:p14="http://schemas.microsoft.com/office/powerpoint/2010/main" val="3075702620"/>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המשך - שלבים לבניית מטריצת תפקידים</a:t>
            </a:r>
          </a:p>
        </p:txBody>
      </p:sp>
      <p:sp>
        <p:nvSpPr>
          <p:cNvPr id="3" name="מציין מיקום תוכן 2"/>
          <p:cNvSpPr>
            <a:spLocks noGrp="1"/>
          </p:cNvSpPr>
          <p:nvPr>
            <p:ph idx="1"/>
          </p:nvPr>
        </p:nvSpPr>
        <p:spPr/>
        <p:txBody>
          <a:bodyPr/>
          <a:lstStyle/>
          <a:p>
            <a:r>
              <a:rPr lang="he-IL" dirty="0"/>
              <a:t>4. </a:t>
            </a:r>
            <a:r>
              <a:rPr lang="he-IL" b="1" dirty="0"/>
              <a:t>יצירת המטריצה:</a:t>
            </a:r>
            <a:endParaRPr lang="he-IL" dirty="0"/>
          </a:p>
          <a:p>
            <a:r>
              <a:rPr lang="he-IL" dirty="0"/>
              <a:t>השתמש בטבלה פשוטה או בכלי ייעודי כמו </a:t>
            </a:r>
            <a:r>
              <a:rPr lang="en-US" dirty="0"/>
              <a:t> Excel</a:t>
            </a:r>
          </a:p>
          <a:p>
            <a:r>
              <a:rPr lang="he-IL" dirty="0"/>
              <a:t>מלא את התוכן לפי ההרשאות הנדרשות.</a:t>
            </a:r>
          </a:p>
          <a:p>
            <a:endParaRPr lang="he-IL" dirty="0"/>
          </a:p>
          <a:p>
            <a:r>
              <a:rPr lang="he-IL" dirty="0"/>
              <a:t>5. </a:t>
            </a:r>
            <a:r>
              <a:rPr lang="he-IL" b="1" dirty="0"/>
              <a:t>בדיקה ועדכון תקופתי:</a:t>
            </a:r>
            <a:endParaRPr lang="he-IL" dirty="0"/>
          </a:p>
          <a:p>
            <a:r>
              <a:rPr lang="he-IL" dirty="0"/>
              <a:t>ודא שהמטריצה עדכנית ומתאימה לשינויים ארגוניים או רגולטוריים.</a:t>
            </a:r>
          </a:p>
          <a:p>
            <a:r>
              <a:rPr lang="he-IL" dirty="0"/>
              <a:t>בצע ביקורת תקופתית כדי לאתר הרשאות עודפות.</a:t>
            </a:r>
          </a:p>
          <a:p>
            <a:endParaRPr lang="he-IL" dirty="0"/>
          </a:p>
          <a:p>
            <a:endParaRPr lang="he-IL" dirty="0"/>
          </a:p>
        </p:txBody>
      </p:sp>
    </p:spTree>
    <p:extLst>
      <p:ext uri="{BB962C8B-B14F-4D97-AF65-F5344CB8AC3E}">
        <p14:creationId xmlns:p14="http://schemas.microsoft.com/office/powerpoint/2010/main" val="1871691915"/>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1336430" y="642594"/>
            <a:ext cx="9788769" cy="1371600"/>
          </a:xfrm>
        </p:spPr>
        <p:txBody>
          <a:bodyPr>
            <a:normAutofit fontScale="90000"/>
          </a:bodyPr>
          <a:lstStyle/>
          <a:p>
            <a:r>
              <a:rPr lang="he-IL" dirty="0"/>
              <a:t>אתגרים תיאורטיים בניהול מטריצת תפקידים</a:t>
            </a:r>
          </a:p>
        </p:txBody>
      </p:sp>
      <p:sp>
        <p:nvSpPr>
          <p:cNvPr id="3" name="מציין מיקום תוכן 2"/>
          <p:cNvSpPr>
            <a:spLocks noGrp="1"/>
          </p:cNvSpPr>
          <p:nvPr>
            <p:ph idx="1"/>
          </p:nvPr>
        </p:nvSpPr>
        <p:spPr/>
        <p:txBody>
          <a:bodyPr/>
          <a:lstStyle/>
          <a:p>
            <a:r>
              <a:rPr lang="he-IL" dirty="0"/>
              <a:t>1. </a:t>
            </a:r>
            <a:r>
              <a:rPr lang="en-US" dirty="0"/>
              <a:t> </a:t>
            </a:r>
            <a:r>
              <a:rPr lang="en-US" b="1" dirty="0"/>
              <a:t>Shadow IT</a:t>
            </a:r>
            <a:r>
              <a:rPr lang="he-IL" b="1" dirty="0"/>
              <a:t>טכנולוגיות נסתרות:</a:t>
            </a:r>
          </a:p>
          <a:p>
            <a:r>
              <a:rPr lang="he-IL" dirty="0"/>
              <a:t>שימוש במערכות וכלים שאינם מאושרים על ידי הארגון עלול להוביל לבעיות הרשאות ולפרצות אבטחה.</a:t>
            </a:r>
          </a:p>
          <a:p>
            <a:r>
              <a:rPr lang="he-IL" dirty="0"/>
              <a:t>2. </a:t>
            </a:r>
            <a:r>
              <a:rPr lang="en-US" dirty="0"/>
              <a:t> </a:t>
            </a:r>
            <a:r>
              <a:rPr lang="en-US" b="1" dirty="0"/>
              <a:t>Overprovisioning</a:t>
            </a:r>
            <a:r>
              <a:rPr lang="he-IL" b="1" dirty="0"/>
              <a:t>הרשאות עודפות:</a:t>
            </a:r>
          </a:p>
          <a:p>
            <a:r>
              <a:rPr lang="he-IL" dirty="0"/>
              <a:t>כשמשתמשים מקבלים הרשאות רבות מדי, זה עלול לגרום לסיכוני אבטחה.</a:t>
            </a:r>
          </a:p>
          <a:p>
            <a:r>
              <a:rPr lang="he-IL" b="1" dirty="0"/>
              <a:t>דוגמה נפוצה:</a:t>
            </a:r>
            <a:r>
              <a:rPr lang="he-IL" dirty="0"/>
              <a:t> עובד שפורש נשאר עם גישה פעילה למערכות.</a:t>
            </a:r>
          </a:p>
          <a:p>
            <a:r>
              <a:rPr lang="he-IL" dirty="0"/>
              <a:t>3. </a:t>
            </a:r>
            <a:r>
              <a:rPr lang="he-IL" b="1" dirty="0"/>
              <a:t>ניהול תפקידים מורכבים:</a:t>
            </a:r>
          </a:p>
          <a:p>
            <a:r>
              <a:rPr lang="he-IL" dirty="0"/>
              <a:t>בארגונים גדולים ישנם תפקידים בעלי מאפיינים חופפים, מה שמקשה על יצירת היררכיה ברורה של הרשאות.</a:t>
            </a:r>
          </a:p>
          <a:p>
            <a:r>
              <a:rPr lang="he-IL" dirty="0"/>
              <a:t>4. </a:t>
            </a:r>
            <a:r>
              <a:rPr lang="he-IL" b="1" dirty="0"/>
              <a:t>עמידה ברגולציה:</a:t>
            </a:r>
          </a:p>
          <a:p>
            <a:r>
              <a:rPr lang="he-IL" dirty="0"/>
              <a:t>דרישות רגולציה משתנות מחייבות מעקב ועדכון מתמיד של המטריצה.</a:t>
            </a:r>
          </a:p>
          <a:p>
            <a:endParaRPr lang="he-IL" dirty="0"/>
          </a:p>
          <a:p>
            <a:endParaRPr lang="he-IL" dirty="0"/>
          </a:p>
          <a:p>
            <a:pPr marL="0" indent="0">
              <a:buNone/>
            </a:pPr>
            <a:endParaRPr lang="he-IL" dirty="0"/>
          </a:p>
        </p:txBody>
      </p:sp>
    </p:spTree>
    <p:extLst>
      <p:ext uri="{BB962C8B-B14F-4D97-AF65-F5344CB8AC3E}">
        <p14:creationId xmlns:p14="http://schemas.microsoft.com/office/powerpoint/2010/main" val="3582774816"/>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4747846" y="642594"/>
            <a:ext cx="6377354" cy="1371600"/>
          </a:xfrm>
        </p:spPr>
        <p:txBody>
          <a:bodyPr/>
          <a:lstStyle/>
          <a:p>
            <a:r>
              <a:rPr lang="he-IL" dirty="0"/>
              <a:t>דוגמה למטריצת תפקידים</a:t>
            </a:r>
          </a:p>
        </p:txBody>
      </p:sp>
      <p:pic>
        <p:nvPicPr>
          <p:cNvPr id="4" name="מציין מיקום תוכן 3"/>
          <p:cNvPicPr>
            <a:picLocks noGrp="1" noChangeAspect="1"/>
          </p:cNvPicPr>
          <p:nvPr>
            <p:ph idx="1"/>
          </p:nvPr>
        </p:nvPicPr>
        <p:blipFill>
          <a:blip r:embed="rId2"/>
          <a:stretch>
            <a:fillRect/>
          </a:stretch>
        </p:blipFill>
        <p:spPr>
          <a:xfrm>
            <a:off x="3590193" y="2014194"/>
            <a:ext cx="7535007" cy="1989549"/>
          </a:xfrm>
          <a:prstGeom prst="rect">
            <a:avLst/>
          </a:prstGeom>
        </p:spPr>
      </p:pic>
    </p:spTree>
    <p:extLst>
      <p:ext uri="{BB962C8B-B14F-4D97-AF65-F5344CB8AC3E}">
        <p14:creationId xmlns:p14="http://schemas.microsoft.com/office/powerpoint/2010/main" val="3131513759"/>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9284676" y="642594"/>
            <a:ext cx="1840523" cy="1371600"/>
          </a:xfrm>
        </p:spPr>
        <p:txBody>
          <a:bodyPr/>
          <a:lstStyle/>
          <a:p>
            <a:r>
              <a:rPr lang="he-IL" dirty="0"/>
              <a:t>שאלות</a:t>
            </a:r>
          </a:p>
        </p:txBody>
      </p:sp>
      <p:sp>
        <p:nvSpPr>
          <p:cNvPr id="3" name="מציין מיקום תוכן 2"/>
          <p:cNvSpPr>
            <a:spLocks noGrp="1"/>
          </p:cNvSpPr>
          <p:nvPr>
            <p:ph idx="1"/>
          </p:nvPr>
        </p:nvSpPr>
        <p:spPr/>
        <p:txBody>
          <a:bodyPr/>
          <a:lstStyle/>
          <a:p>
            <a:r>
              <a:rPr lang="he-IL" dirty="0"/>
              <a:t>1. מדוע חשוב לעדכן את המטריצה באופן תקופתי?</a:t>
            </a:r>
          </a:p>
          <a:p>
            <a:endParaRPr lang="he-IL" dirty="0"/>
          </a:p>
          <a:p>
            <a:r>
              <a:rPr lang="he-IL" dirty="0"/>
              <a:t>2. מהי המשמעות של</a:t>
            </a:r>
            <a:r>
              <a:rPr lang="en-US" dirty="0"/>
              <a:t> Least Privilege </a:t>
            </a:r>
            <a:r>
              <a:rPr lang="he-IL" dirty="0"/>
              <a:t>וכיצד הוא מיושם במטריצה?</a:t>
            </a:r>
          </a:p>
          <a:p>
            <a:endParaRPr lang="he-IL" dirty="0"/>
          </a:p>
          <a:p>
            <a:r>
              <a:rPr lang="he-IL" dirty="0"/>
              <a:t>3. מה יכול להשתבש אם המטריצה אינה מנוהלת כראוי?</a:t>
            </a:r>
          </a:p>
        </p:txBody>
      </p:sp>
    </p:spTree>
    <p:extLst>
      <p:ext uri="{BB962C8B-B14F-4D97-AF65-F5344CB8AC3E}">
        <p14:creationId xmlns:p14="http://schemas.microsoft.com/office/powerpoint/2010/main" val="973501934"/>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8994530" y="642594"/>
            <a:ext cx="2130669" cy="1371600"/>
          </a:xfrm>
        </p:spPr>
        <p:txBody>
          <a:bodyPr/>
          <a:lstStyle/>
          <a:p>
            <a:r>
              <a:rPr lang="he-IL" dirty="0"/>
              <a:t>תשובות</a:t>
            </a:r>
          </a:p>
        </p:txBody>
      </p:sp>
      <p:sp>
        <p:nvSpPr>
          <p:cNvPr id="3" name="מציין מיקום תוכן 2"/>
          <p:cNvSpPr>
            <a:spLocks noGrp="1"/>
          </p:cNvSpPr>
          <p:nvPr>
            <p:ph idx="1"/>
          </p:nvPr>
        </p:nvSpPr>
        <p:spPr/>
        <p:txBody>
          <a:bodyPr/>
          <a:lstStyle/>
          <a:p>
            <a:r>
              <a:rPr lang="he-IL" dirty="0"/>
              <a:t>1. עדכון תקופתי של המטריצה מבטיח שהיא תואמת לשינויים בארגון, כמו עזיבת עובדים, שינוי תפקידים או הוספת מערכות חדשות. זה גם מונע מצב שבו משתמשים מחזיקים בהרשאות עודפות, שעלולות להוות סיכון אבטחתי.</a:t>
            </a:r>
          </a:p>
          <a:p>
            <a:r>
              <a:rPr lang="he-IL" dirty="0"/>
              <a:t>2. עיקרון </a:t>
            </a:r>
            <a:r>
              <a:rPr lang="en-US" dirty="0"/>
              <a:t> Least Privilege</a:t>
            </a:r>
            <a:r>
              <a:rPr lang="he-IL" dirty="0"/>
              <a:t>אומר שמשתמשים צריכים לקבל רק את ההרשאות הנחוצות להם לביצוע עבודתם, ולא יותר. במטריצה, זה מתבטא בכך שכל תא בטבלה מציין גישה מינימלית לתפקיד מסוים, ללא הרשאות לא נחוצות.</a:t>
            </a:r>
          </a:p>
          <a:p>
            <a:r>
              <a:rPr lang="he-IL" dirty="0"/>
              <a:t>3. </a:t>
            </a:r>
          </a:p>
          <a:p>
            <a:r>
              <a:rPr lang="he-IL" dirty="0"/>
              <a:t>א. משתמשים עשויים לקבל גישה למידע רגיש שלא אמור להיות בידם.</a:t>
            </a:r>
          </a:p>
          <a:p>
            <a:r>
              <a:rPr lang="he-IL" dirty="0"/>
              <a:t>ב. האקרים או עובדים זדוניים יכולים לנצל הרשאות עודפות.</a:t>
            </a:r>
          </a:p>
          <a:p>
            <a:r>
              <a:rPr lang="he-IL" dirty="0"/>
              <a:t>ג. הארגון עשוי להפר רגולציות ולספוג קנסות כבדים.</a:t>
            </a:r>
          </a:p>
          <a:p>
            <a:endParaRPr lang="he-IL" dirty="0"/>
          </a:p>
          <a:p>
            <a:endParaRPr lang="he-IL" dirty="0"/>
          </a:p>
        </p:txBody>
      </p:sp>
    </p:spTree>
    <p:extLst>
      <p:ext uri="{BB962C8B-B14F-4D97-AF65-F5344CB8AC3E}">
        <p14:creationId xmlns:p14="http://schemas.microsoft.com/office/powerpoint/2010/main" val="2266140843"/>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p:cNvSpPr>
            <a:spLocks noGrp="1"/>
          </p:cNvSpPr>
          <p:nvPr>
            <p:ph idx="1"/>
          </p:nvPr>
        </p:nvSpPr>
        <p:spPr>
          <a:xfrm>
            <a:off x="1066800" y="2507566"/>
            <a:ext cx="10058400" cy="3931920"/>
          </a:xfrm>
        </p:spPr>
        <p:txBody>
          <a:bodyPr>
            <a:normAutofit/>
          </a:bodyPr>
          <a:lstStyle/>
          <a:p>
            <a:pPr algn="ctr"/>
            <a:r>
              <a:rPr lang="he-IL" sz="6600" dirty="0"/>
              <a:t>זיהוי </a:t>
            </a:r>
            <a:r>
              <a:rPr lang="en-US" sz="6600" dirty="0"/>
              <a:t>Access Tokens</a:t>
            </a:r>
            <a:endParaRPr lang="he-IL" sz="6600" dirty="0"/>
          </a:p>
        </p:txBody>
      </p:sp>
    </p:spTree>
    <p:extLst>
      <p:ext uri="{BB962C8B-B14F-4D97-AF65-F5344CB8AC3E}">
        <p14:creationId xmlns:p14="http://schemas.microsoft.com/office/powerpoint/2010/main" val="3410936361"/>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4255476" y="642594"/>
            <a:ext cx="6869723" cy="1371600"/>
          </a:xfrm>
        </p:spPr>
        <p:txBody>
          <a:bodyPr>
            <a:normAutofit fontScale="90000"/>
          </a:bodyPr>
          <a:lstStyle/>
          <a:p>
            <a:r>
              <a:rPr lang="he-IL" dirty="0"/>
              <a:t>מה הם זיהוי </a:t>
            </a:r>
            <a:r>
              <a:rPr lang="en-US" dirty="0"/>
              <a:t>Access Tokens</a:t>
            </a:r>
            <a:endParaRPr lang="he-IL" dirty="0"/>
          </a:p>
        </p:txBody>
      </p:sp>
      <p:sp>
        <p:nvSpPr>
          <p:cNvPr id="3" name="מציין מיקום תוכן 2"/>
          <p:cNvSpPr>
            <a:spLocks noGrp="1"/>
          </p:cNvSpPr>
          <p:nvPr>
            <p:ph idx="1"/>
          </p:nvPr>
        </p:nvSpPr>
        <p:spPr/>
        <p:txBody>
          <a:bodyPr/>
          <a:lstStyle/>
          <a:p>
            <a:r>
              <a:rPr lang="en-US" dirty="0"/>
              <a:t> Access Tokens </a:t>
            </a:r>
            <a:r>
              <a:rPr lang="he-IL" dirty="0"/>
              <a:t>אסימוני גישה הם רכיבים קריטיים באבטחת מידע, במיוחד בתהליכי </a:t>
            </a:r>
            <a:r>
              <a:rPr lang="he-IL" b="1" dirty="0"/>
              <a:t>אימות</a:t>
            </a:r>
            <a:r>
              <a:rPr lang="he-IL" dirty="0"/>
              <a:t> </a:t>
            </a:r>
            <a:r>
              <a:rPr lang="en-US" dirty="0"/>
              <a:t> Authentication </a:t>
            </a:r>
            <a:r>
              <a:rPr lang="he-IL" dirty="0"/>
              <a:t> והרשאה </a:t>
            </a:r>
            <a:r>
              <a:rPr lang="en-US" dirty="0"/>
              <a:t>Authorization</a:t>
            </a:r>
            <a:r>
              <a:rPr lang="he-IL" dirty="0"/>
              <a:t> במערכות מודרניות כמו </a:t>
            </a:r>
            <a:r>
              <a:rPr lang="en-US" dirty="0"/>
              <a:t> API</a:t>
            </a:r>
            <a:r>
              <a:rPr lang="he-IL" dirty="0"/>
              <a:t>אפליקציות ואתרי אינטרנט.</a:t>
            </a:r>
          </a:p>
          <a:p>
            <a:r>
              <a:rPr lang="he-IL" dirty="0"/>
              <a:t>בוא נפרט לעומק על הפן התיאורטי של הנושא, יחד עם שאלות, תשובות ודוגמאות שיעזרו לכם, אליחי הצדיק </a:t>
            </a:r>
            <a:r>
              <a:rPr lang="he-IL" dirty="0" err="1"/>
              <a:t>אוליאל</a:t>
            </a:r>
            <a:r>
              <a:rPr lang="he-IL" dirty="0"/>
              <a:t> שבכלל לא מגיע, ודניאל שמגיע כל שיעור עם הפסד צורב של הקבוצה לשלוט בנושא.</a:t>
            </a:r>
          </a:p>
          <a:p>
            <a:endParaRPr lang="he-IL" dirty="0"/>
          </a:p>
        </p:txBody>
      </p:sp>
    </p:spTree>
    <p:extLst>
      <p:ext uri="{BB962C8B-B14F-4D97-AF65-F5344CB8AC3E}">
        <p14:creationId xmlns:p14="http://schemas.microsoft.com/office/powerpoint/2010/main" val="3535848150"/>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5389684" y="642594"/>
            <a:ext cx="5735515" cy="1371600"/>
          </a:xfrm>
        </p:spPr>
        <p:txBody>
          <a:bodyPr/>
          <a:lstStyle/>
          <a:p>
            <a:r>
              <a:rPr lang="he-IL" dirty="0"/>
              <a:t>מהו </a:t>
            </a:r>
            <a:r>
              <a:rPr lang="en-US" dirty="0"/>
              <a:t>Access Token</a:t>
            </a:r>
            <a:r>
              <a:rPr lang="he-IL" dirty="0"/>
              <a:t>?</a:t>
            </a:r>
          </a:p>
        </p:txBody>
      </p:sp>
      <p:sp>
        <p:nvSpPr>
          <p:cNvPr id="3" name="מציין מיקום תוכן 2"/>
          <p:cNvSpPr>
            <a:spLocks noGrp="1"/>
          </p:cNvSpPr>
          <p:nvPr>
            <p:ph idx="1"/>
          </p:nvPr>
        </p:nvSpPr>
        <p:spPr/>
        <p:txBody>
          <a:bodyPr/>
          <a:lstStyle/>
          <a:p>
            <a:r>
              <a:rPr lang="en-US" b="1" dirty="0"/>
              <a:t>Access Token</a:t>
            </a:r>
            <a:r>
              <a:rPr lang="en-US" dirty="0"/>
              <a:t> </a:t>
            </a:r>
            <a:r>
              <a:rPr lang="he-IL" dirty="0"/>
              <a:t>הוא אסימון</a:t>
            </a:r>
            <a:r>
              <a:rPr lang="en-US" dirty="0"/>
              <a:t>Token </a:t>
            </a:r>
            <a:r>
              <a:rPr lang="he-IL" dirty="0"/>
              <a:t> למעשה מחרוזת נתונים קצרה – המונפקת למשתמש או ליישום לאחר אימות מוצלח. הוא משמש לזיהוי המשתמש או היישום ומאפשר גישה למשאבים מוגדרים במערכת לתקופה מוגבלת.</a:t>
            </a:r>
          </a:p>
          <a:p>
            <a:r>
              <a:rPr lang="he-IL" dirty="0"/>
              <a:t>מאפיינים עיקריים של </a:t>
            </a:r>
            <a:r>
              <a:rPr lang="en-US" dirty="0"/>
              <a:t>Access Tokens</a:t>
            </a:r>
            <a:r>
              <a:rPr lang="he-IL" dirty="0"/>
              <a:t>:</a:t>
            </a:r>
          </a:p>
          <a:p>
            <a:r>
              <a:rPr lang="he-IL" dirty="0"/>
              <a:t>1. </a:t>
            </a:r>
            <a:r>
              <a:rPr lang="he-IL" b="1" dirty="0"/>
              <a:t>מזהה ייחודי:</a:t>
            </a:r>
            <a:r>
              <a:rPr lang="he-IL" dirty="0"/>
              <a:t> משמש לזיהוי בקשות לגישה למשאבים.</a:t>
            </a:r>
          </a:p>
          <a:p>
            <a:r>
              <a:rPr lang="he-IL" dirty="0"/>
              <a:t>2. </a:t>
            </a:r>
            <a:r>
              <a:rPr lang="he-IL" b="1" dirty="0"/>
              <a:t>זמן תוקף</a:t>
            </a:r>
            <a:r>
              <a:rPr lang="en-US" b="1" dirty="0"/>
              <a:t>Expiration</a:t>
            </a:r>
            <a:r>
              <a:rPr lang="en-US" dirty="0"/>
              <a:t> </a:t>
            </a:r>
            <a:r>
              <a:rPr lang="he-IL" dirty="0"/>
              <a:t>: מגביל את זמן השימוש באסימון.</a:t>
            </a:r>
          </a:p>
          <a:p>
            <a:r>
              <a:rPr lang="he-IL" dirty="0"/>
              <a:t>3. </a:t>
            </a:r>
            <a:r>
              <a:rPr lang="he-IL" b="1" dirty="0"/>
              <a:t>אחסון נתונים:</a:t>
            </a:r>
            <a:r>
              <a:rPr lang="he-IL" dirty="0"/>
              <a:t> מכיל מידע מוצפן על המשתמש או היישום, כגון הרשאות וזכויות גישה.</a:t>
            </a:r>
          </a:p>
          <a:p>
            <a:r>
              <a:rPr lang="he-IL" dirty="0"/>
              <a:t>4. </a:t>
            </a:r>
            <a:r>
              <a:rPr lang="he-IL" b="1" dirty="0"/>
              <a:t>ניתן לבדיקה:</a:t>
            </a:r>
            <a:r>
              <a:rPr lang="he-IL" dirty="0"/>
              <a:t> צד שרת יכול לאמת את תוקף האסימון ולוודא שהבקשה לגיטימית.</a:t>
            </a:r>
          </a:p>
          <a:p>
            <a:endParaRPr lang="he-IL" dirty="0"/>
          </a:p>
        </p:txBody>
      </p:sp>
    </p:spTree>
    <p:extLst>
      <p:ext uri="{BB962C8B-B14F-4D97-AF65-F5344CB8AC3E}">
        <p14:creationId xmlns:p14="http://schemas.microsoft.com/office/powerpoint/2010/main" val="2827301845"/>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1195754" y="642594"/>
            <a:ext cx="9929446" cy="1371600"/>
          </a:xfrm>
        </p:spPr>
        <p:txBody>
          <a:bodyPr/>
          <a:lstStyle/>
          <a:p>
            <a:r>
              <a:rPr lang="he-IL" dirty="0"/>
              <a:t>מתי </a:t>
            </a:r>
            <a:r>
              <a:rPr lang="en-US" dirty="0"/>
              <a:t> Access Tokens</a:t>
            </a:r>
            <a:r>
              <a:rPr lang="he-IL" dirty="0"/>
              <a:t>נמצאים בשימוש?</a:t>
            </a:r>
          </a:p>
        </p:txBody>
      </p:sp>
      <p:sp>
        <p:nvSpPr>
          <p:cNvPr id="3" name="מציין מיקום תוכן 2"/>
          <p:cNvSpPr>
            <a:spLocks noGrp="1"/>
          </p:cNvSpPr>
          <p:nvPr>
            <p:ph idx="1"/>
          </p:nvPr>
        </p:nvSpPr>
        <p:spPr/>
        <p:txBody>
          <a:bodyPr/>
          <a:lstStyle/>
          <a:p>
            <a:r>
              <a:rPr lang="he-IL" dirty="0"/>
              <a:t>1. </a:t>
            </a:r>
            <a:r>
              <a:rPr lang="en-US" b="1" dirty="0"/>
              <a:t>OAuth 2.0</a:t>
            </a:r>
            <a:r>
              <a:rPr lang="en-US" dirty="0"/>
              <a:t> </a:t>
            </a:r>
            <a:r>
              <a:rPr lang="he-IL" dirty="0"/>
              <a:t>: פרוטוקול לאימות והרשאה שבו אסימוני גישה משמשים לגישה ל-</a:t>
            </a:r>
            <a:r>
              <a:rPr lang="en-US" dirty="0"/>
              <a:t>APIs </a:t>
            </a:r>
            <a:endParaRPr lang="he-IL" dirty="0"/>
          </a:p>
          <a:p>
            <a:endParaRPr lang="he-IL" dirty="0"/>
          </a:p>
          <a:p>
            <a:r>
              <a:rPr lang="he-IL" dirty="0"/>
              <a:t>2. </a:t>
            </a:r>
            <a:r>
              <a:rPr lang="en-US" dirty="0"/>
              <a:t> :</a:t>
            </a:r>
            <a:r>
              <a:rPr lang="en-US" b="1" dirty="0"/>
              <a:t>JWT (JSON Web Token)</a:t>
            </a:r>
            <a:r>
              <a:rPr lang="he-IL" dirty="0"/>
              <a:t>פורמט נפוץ של אסימוני גישה.</a:t>
            </a:r>
          </a:p>
          <a:p>
            <a:endParaRPr lang="he-IL" dirty="0"/>
          </a:p>
          <a:p>
            <a:r>
              <a:rPr lang="he-IL" dirty="0"/>
              <a:t>3.</a:t>
            </a:r>
            <a:r>
              <a:rPr lang="en-US" b="1" dirty="0"/>
              <a:t>SSO (Single Sign-On)</a:t>
            </a:r>
            <a:r>
              <a:rPr lang="en-US" dirty="0"/>
              <a:t> </a:t>
            </a:r>
            <a:r>
              <a:rPr lang="he-IL" dirty="0"/>
              <a:t>: מערכות זיהוי חד פעמי שבהן האסימון מעביר מידע על האימות בין שירותים שונים.</a:t>
            </a:r>
            <a:endParaRPr lang="en-US" dirty="0"/>
          </a:p>
        </p:txBody>
      </p:sp>
    </p:spTree>
    <p:extLst>
      <p:ext uri="{BB962C8B-B14F-4D97-AF65-F5344CB8AC3E}">
        <p14:creationId xmlns:p14="http://schemas.microsoft.com/office/powerpoint/2010/main" val="2947942146"/>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5416062" y="642594"/>
            <a:ext cx="5709138" cy="1371600"/>
          </a:xfrm>
        </p:spPr>
        <p:txBody>
          <a:bodyPr/>
          <a:lstStyle/>
          <a:p>
            <a:r>
              <a:rPr lang="he-IL" dirty="0"/>
              <a:t>סוגי </a:t>
            </a:r>
            <a:r>
              <a:rPr lang="en-US" dirty="0"/>
              <a:t>Access Tokens</a:t>
            </a:r>
            <a:endParaRPr lang="he-IL" dirty="0"/>
          </a:p>
        </p:txBody>
      </p:sp>
      <p:sp>
        <p:nvSpPr>
          <p:cNvPr id="3" name="מציין מיקום תוכן 2"/>
          <p:cNvSpPr>
            <a:spLocks noGrp="1"/>
          </p:cNvSpPr>
          <p:nvPr>
            <p:ph idx="1"/>
          </p:nvPr>
        </p:nvSpPr>
        <p:spPr/>
        <p:txBody>
          <a:bodyPr/>
          <a:lstStyle/>
          <a:p>
            <a:r>
              <a:rPr lang="he-IL" dirty="0"/>
              <a:t>1. </a:t>
            </a:r>
            <a:r>
              <a:rPr lang="en-US" b="1" dirty="0"/>
              <a:t>Bearer Tokens</a:t>
            </a:r>
            <a:r>
              <a:rPr lang="he-IL" b="1" dirty="0"/>
              <a:t>:</a:t>
            </a:r>
            <a:endParaRPr lang="en-US" dirty="0"/>
          </a:p>
          <a:p>
            <a:r>
              <a:rPr lang="he-IL" dirty="0"/>
              <a:t>משמשים לרוב בפרוטוקול </a:t>
            </a:r>
            <a:r>
              <a:rPr lang="en-US" dirty="0"/>
              <a:t>OAuth 2.0</a:t>
            </a:r>
          </a:p>
          <a:p>
            <a:r>
              <a:rPr lang="he-IL" dirty="0"/>
              <a:t>כל מי שמחזיק באסימון יכול להשתמש בו (ללא צורך בחתימה נוספת).</a:t>
            </a:r>
          </a:p>
          <a:p>
            <a:r>
              <a:rPr lang="he-IL" b="1" dirty="0"/>
              <a:t>חיסרון:</a:t>
            </a:r>
            <a:r>
              <a:rPr lang="he-IL" dirty="0"/>
              <a:t> אם האסימון נגנב, ניתן לנצלו.</a:t>
            </a:r>
          </a:p>
          <a:p>
            <a:endParaRPr lang="he-IL" dirty="0"/>
          </a:p>
          <a:p>
            <a:r>
              <a:rPr lang="he-IL" dirty="0"/>
              <a:t>2. </a:t>
            </a:r>
            <a:r>
              <a:rPr lang="en-US" b="1" dirty="0"/>
              <a:t>MAC Tokens (Message Authentication Code)</a:t>
            </a:r>
            <a:r>
              <a:rPr lang="he-IL" b="1" dirty="0"/>
              <a:t>:</a:t>
            </a:r>
          </a:p>
          <a:p>
            <a:r>
              <a:rPr lang="he-IL" dirty="0"/>
              <a:t>דורשים חתימה דיגיטלית עבור כל בקשה.</a:t>
            </a:r>
          </a:p>
          <a:p>
            <a:r>
              <a:rPr lang="he-IL" dirty="0"/>
              <a:t>בטוחים יותר מ-</a:t>
            </a:r>
            <a:r>
              <a:rPr lang="en-US" dirty="0"/>
              <a:t>Bearer Tokens </a:t>
            </a:r>
            <a:r>
              <a:rPr lang="he-IL" dirty="0"/>
              <a:t> אך מורכבים יותר לניהול.</a:t>
            </a:r>
          </a:p>
          <a:p>
            <a:endParaRPr lang="he-IL" dirty="0"/>
          </a:p>
          <a:p>
            <a:endParaRPr lang="he-IL" dirty="0"/>
          </a:p>
          <a:p>
            <a:endParaRPr lang="he-IL" dirty="0"/>
          </a:p>
          <a:p>
            <a:endParaRPr lang="he-IL" dirty="0"/>
          </a:p>
          <a:p>
            <a:endParaRPr lang="he-IL" dirty="0"/>
          </a:p>
        </p:txBody>
      </p:sp>
    </p:spTree>
    <p:extLst>
      <p:ext uri="{BB962C8B-B14F-4D97-AF65-F5344CB8AC3E}">
        <p14:creationId xmlns:p14="http://schemas.microsoft.com/office/powerpoint/2010/main" val="2826139563"/>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3525714" y="642594"/>
            <a:ext cx="7599485" cy="1371600"/>
          </a:xfrm>
        </p:spPr>
        <p:txBody>
          <a:bodyPr/>
          <a:lstStyle/>
          <a:p>
            <a:r>
              <a:rPr lang="he-IL" dirty="0"/>
              <a:t>המשך - סוגי </a:t>
            </a:r>
            <a:r>
              <a:rPr lang="en-US" dirty="0"/>
              <a:t>Access Tokens</a:t>
            </a:r>
            <a:endParaRPr lang="he-IL" dirty="0"/>
          </a:p>
        </p:txBody>
      </p:sp>
      <p:sp>
        <p:nvSpPr>
          <p:cNvPr id="3" name="מציין מיקום תוכן 2"/>
          <p:cNvSpPr>
            <a:spLocks noGrp="1"/>
          </p:cNvSpPr>
          <p:nvPr>
            <p:ph idx="1"/>
          </p:nvPr>
        </p:nvSpPr>
        <p:spPr/>
        <p:txBody>
          <a:bodyPr/>
          <a:lstStyle/>
          <a:p>
            <a:r>
              <a:rPr lang="he-IL" dirty="0"/>
              <a:t>3. </a:t>
            </a:r>
            <a:r>
              <a:rPr lang="en-US" b="1" dirty="0"/>
              <a:t>Opaque Tokens</a:t>
            </a:r>
            <a:r>
              <a:rPr lang="he-IL" b="1" dirty="0"/>
              <a:t>:</a:t>
            </a:r>
            <a:endParaRPr lang="en-US" dirty="0"/>
          </a:p>
          <a:p>
            <a:r>
              <a:rPr lang="he-IL" dirty="0"/>
              <a:t>אסימונים שבהם המידע אינו קריא (מוצפן או מאוחסן בצד השרת).</a:t>
            </a:r>
          </a:p>
          <a:p>
            <a:r>
              <a:rPr lang="he-IL" dirty="0"/>
              <a:t>מחייבים אימות בצד השרת כדי לבדוק את תוכנם.</a:t>
            </a:r>
          </a:p>
          <a:p>
            <a:endParaRPr lang="he-IL" dirty="0"/>
          </a:p>
          <a:p>
            <a:r>
              <a:rPr lang="he-IL" dirty="0"/>
              <a:t>4. </a:t>
            </a:r>
            <a:r>
              <a:rPr lang="en-US" b="1" dirty="0"/>
              <a:t>JWT Tokens</a:t>
            </a:r>
            <a:r>
              <a:rPr lang="he-IL" b="1" dirty="0"/>
              <a:t>:</a:t>
            </a:r>
            <a:endParaRPr lang="en-US" dirty="0"/>
          </a:p>
          <a:p>
            <a:r>
              <a:rPr lang="he-IL" dirty="0"/>
              <a:t>מחרוזת בפורמט </a:t>
            </a:r>
            <a:r>
              <a:rPr lang="en-US" dirty="0"/>
              <a:t>JSON </a:t>
            </a:r>
            <a:r>
              <a:rPr lang="he-IL" dirty="0"/>
              <a:t> המפוצלת ל-3 חלקים: </a:t>
            </a:r>
            <a:r>
              <a:rPr lang="en-US" dirty="0"/>
              <a:t> Header, Payload </a:t>
            </a:r>
            <a:r>
              <a:rPr lang="he-IL" dirty="0"/>
              <a:t>ו-</a:t>
            </a:r>
            <a:r>
              <a:rPr lang="en-US" dirty="0"/>
              <a:t>Signature </a:t>
            </a:r>
            <a:r>
              <a:rPr lang="he-IL" dirty="0"/>
              <a:t>.</a:t>
            </a:r>
            <a:endParaRPr lang="en-US" dirty="0"/>
          </a:p>
          <a:p>
            <a:r>
              <a:rPr lang="he-IL" b="1" dirty="0"/>
              <a:t>יתרון:</a:t>
            </a:r>
            <a:r>
              <a:rPr lang="he-IL" dirty="0"/>
              <a:t> ניתן לקרוא את המידע בלי צורך בתקשורת עם השרת.</a:t>
            </a:r>
          </a:p>
          <a:p>
            <a:r>
              <a:rPr lang="he-IL" b="1" dirty="0"/>
              <a:t>חיסרון:</a:t>
            </a:r>
            <a:r>
              <a:rPr lang="he-IL" dirty="0"/>
              <a:t> יש להצפין מידע רגיש בתוכן כדי למנוע חשיפה.</a:t>
            </a:r>
          </a:p>
          <a:p>
            <a:endParaRPr lang="he-IL" dirty="0"/>
          </a:p>
          <a:p>
            <a:endParaRPr lang="he-IL" dirty="0"/>
          </a:p>
        </p:txBody>
      </p:sp>
    </p:spTree>
    <p:extLst>
      <p:ext uri="{BB962C8B-B14F-4D97-AF65-F5344CB8AC3E}">
        <p14:creationId xmlns:p14="http://schemas.microsoft.com/office/powerpoint/2010/main" val="1862214518"/>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2259623" y="185394"/>
            <a:ext cx="8865577" cy="1371600"/>
          </a:xfrm>
        </p:spPr>
        <p:txBody>
          <a:bodyPr/>
          <a:lstStyle/>
          <a:p>
            <a:r>
              <a:rPr lang="he-IL" dirty="0"/>
              <a:t>מרכיבי </a:t>
            </a:r>
            <a:r>
              <a:rPr lang="en-US" dirty="0"/>
              <a:t>JWT (JSON Web Token)</a:t>
            </a:r>
            <a:endParaRPr lang="he-IL" dirty="0"/>
          </a:p>
        </p:txBody>
      </p:sp>
      <p:sp>
        <p:nvSpPr>
          <p:cNvPr id="3" name="מציין מיקום תוכן 2"/>
          <p:cNvSpPr>
            <a:spLocks noGrp="1"/>
          </p:cNvSpPr>
          <p:nvPr>
            <p:ph idx="1"/>
          </p:nvPr>
        </p:nvSpPr>
        <p:spPr>
          <a:xfrm>
            <a:off x="1066800" y="1556994"/>
            <a:ext cx="10058400" cy="4499903"/>
          </a:xfrm>
        </p:spPr>
        <p:txBody>
          <a:bodyPr>
            <a:normAutofit fontScale="92500" lnSpcReduction="20000"/>
          </a:bodyPr>
          <a:lstStyle/>
          <a:p>
            <a:r>
              <a:rPr lang="en-US" dirty="0"/>
              <a:t>JWT </a:t>
            </a:r>
            <a:r>
              <a:rPr lang="he-IL" dirty="0"/>
              <a:t>הוא אחד הפורמטים הנפוצים ביותר עבור </a:t>
            </a:r>
            <a:r>
              <a:rPr lang="en-US" dirty="0"/>
              <a:t>Access Tokens</a:t>
            </a:r>
            <a:r>
              <a:rPr lang="he-IL" dirty="0"/>
              <a:t> הוא מורכב מ-3 חלקים:</a:t>
            </a:r>
          </a:p>
          <a:p>
            <a:r>
              <a:rPr lang="he-IL" dirty="0"/>
              <a:t>1. </a:t>
            </a:r>
            <a:r>
              <a:rPr lang="en-US" b="1" dirty="0"/>
              <a:t>Header</a:t>
            </a:r>
            <a:r>
              <a:rPr lang="he-IL" b="1" dirty="0"/>
              <a:t> כותרת:</a:t>
            </a:r>
            <a:endParaRPr lang="he-IL" dirty="0"/>
          </a:p>
          <a:p>
            <a:r>
              <a:rPr lang="he-IL" dirty="0"/>
              <a:t>מידע על האסימון (למשל, סוג האסימון ואלגוריתם החתימה).</a:t>
            </a:r>
          </a:p>
          <a:p>
            <a:pPr algn="l"/>
            <a:r>
              <a:rPr lang="en-US" dirty="0"/>
              <a:t>{</a:t>
            </a:r>
          </a:p>
          <a:p>
            <a:pPr algn="l"/>
            <a:r>
              <a:rPr lang="en-US" dirty="0"/>
              <a:t>    "</a:t>
            </a:r>
            <a:r>
              <a:rPr lang="en-US" dirty="0" err="1"/>
              <a:t>alg</a:t>
            </a:r>
            <a:r>
              <a:rPr lang="en-US" dirty="0"/>
              <a:t>": "HS256",</a:t>
            </a:r>
          </a:p>
          <a:p>
            <a:pPr algn="l"/>
            <a:r>
              <a:rPr lang="en-US" dirty="0"/>
              <a:t>    "</a:t>
            </a:r>
            <a:r>
              <a:rPr lang="en-US" dirty="0" err="1"/>
              <a:t>typ</a:t>
            </a:r>
            <a:r>
              <a:rPr lang="en-US" dirty="0"/>
              <a:t>": "JWT"</a:t>
            </a:r>
          </a:p>
          <a:p>
            <a:pPr algn="l"/>
            <a:r>
              <a:rPr lang="en-US" dirty="0"/>
              <a:t>}</a:t>
            </a:r>
          </a:p>
          <a:p>
            <a:r>
              <a:rPr lang="he-IL" dirty="0"/>
              <a:t>2. </a:t>
            </a:r>
            <a:r>
              <a:rPr lang="en-US" dirty="0"/>
              <a:t> </a:t>
            </a:r>
            <a:r>
              <a:rPr lang="en-US" b="1" dirty="0"/>
              <a:t>Payload</a:t>
            </a:r>
            <a:r>
              <a:rPr lang="he-IL" b="1" dirty="0"/>
              <a:t>מטען:</a:t>
            </a:r>
            <a:endParaRPr lang="he-IL" dirty="0"/>
          </a:p>
          <a:p>
            <a:r>
              <a:rPr lang="he-IL" dirty="0"/>
              <a:t>המידע בפועל, כגון שם המשתמש, הרשאות, וזמן תוקף.</a:t>
            </a:r>
          </a:p>
          <a:p>
            <a:pPr algn="l"/>
            <a:r>
              <a:rPr lang="en-US" dirty="0"/>
              <a:t>{</a:t>
            </a:r>
          </a:p>
          <a:p>
            <a:pPr algn="l"/>
            <a:r>
              <a:rPr lang="en-US" dirty="0"/>
              <a:t>    "sub": "1234567890",</a:t>
            </a:r>
          </a:p>
          <a:p>
            <a:pPr algn="l"/>
            <a:r>
              <a:rPr lang="en-US" dirty="0"/>
              <a:t>    "name": "John Doe",</a:t>
            </a:r>
          </a:p>
          <a:p>
            <a:pPr algn="l"/>
            <a:r>
              <a:rPr lang="en-US" dirty="0"/>
              <a:t>    "admin": true</a:t>
            </a:r>
          </a:p>
          <a:p>
            <a:pPr algn="l"/>
            <a:r>
              <a:rPr lang="en-US" dirty="0"/>
              <a:t>}</a:t>
            </a:r>
          </a:p>
          <a:p>
            <a:pPr algn="l"/>
            <a:endParaRPr lang="he-IL" dirty="0"/>
          </a:p>
          <a:p>
            <a:endParaRPr lang="he-IL" dirty="0"/>
          </a:p>
          <a:p>
            <a:endParaRPr lang="he-IL" dirty="0"/>
          </a:p>
        </p:txBody>
      </p:sp>
    </p:spTree>
    <p:extLst>
      <p:ext uri="{BB962C8B-B14F-4D97-AF65-F5344CB8AC3E}">
        <p14:creationId xmlns:p14="http://schemas.microsoft.com/office/powerpoint/2010/main" val="2412755356"/>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1354014" y="642594"/>
            <a:ext cx="9771185" cy="1371600"/>
          </a:xfrm>
        </p:spPr>
        <p:txBody>
          <a:bodyPr>
            <a:normAutofit fontScale="90000"/>
          </a:bodyPr>
          <a:lstStyle/>
          <a:p>
            <a:r>
              <a:rPr lang="he-IL" dirty="0"/>
              <a:t>המשך - מרכיבי </a:t>
            </a:r>
            <a:r>
              <a:rPr lang="en-US" dirty="0"/>
              <a:t>JWT (JSON Web Token)</a:t>
            </a:r>
            <a:endParaRPr lang="he-IL" dirty="0"/>
          </a:p>
        </p:txBody>
      </p:sp>
      <p:sp>
        <p:nvSpPr>
          <p:cNvPr id="3" name="מציין מיקום תוכן 2"/>
          <p:cNvSpPr>
            <a:spLocks noGrp="1"/>
          </p:cNvSpPr>
          <p:nvPr>
            <p:ph idx="1"/>
          </p:nvPr>
        </p:nvSpPr>
        <p:spPr/>
        <p:txBody>
          <a:bodyPr/>
          <a:lstStyle/>
          <a:p>
            <a:r>
              <a:rPr lang="he-IL" dirty="0"/>
              <a:t>3. </a:t>
            </a:r>
            <a:r>
              <a:rPr lang="en-US" b="1" dirty="0"/>
              <a:t>Signature</a:t>
            </a:r>
            <a:r>
              <a:rPr lang="he-IL" b="1" dirty="0"/>
              <a:t> חתימה:</a:t>
            </a:r>
            <a:endParaRPr lang="he-IL" dirty="0"/>
          </a:p>
          <a:p>
            <a:r>
              <a:rPr lang="he-IL" dirty="0"/>
              <a:t>חתימה דיגיטלית שנוצרת באמצעות אלגוריתם כמו</a:t>
            </a:r>
            <a:r>
              <a:rPr lang="en-US" dirty="0"/>
              <a:t> HMAC </a:t>
            </a:r>
            <a:r>
              <a:rPr lang="he-IL" dirty="0"/>
              <a:t>או </a:t>
            </a:r>
            <a:r>
              <a:rPr lang="en-US" dirty="0"/>
              <a:t>RSA</a:t>
            </a:r>
          </a:p>
          <a:p>
            <a:r>
              <a:rPr lang="he-IL" dirty="0"/>
              <a:t>מטרתה לוודא שהאסימון לא שונה מאז יצירתו.</a:t>
            </a:r>
          </a:p>
          <a:p>
            <a:endParaRPr lang="en-US" dirty="0"/>
          </a:p>
          <a:p>
            <a:r>
              <a:rPr lang="en-US" dirty="0"/>
              <a:t>JWT</a:t>
            </a:r>
            <a:r>
              <a:rPr lang="he-IL" dirty="0"/>
              <a:t> נראה כך:</a:t>
            </a:r>
          </a:p>
          <a:p>
            <a:pPr algn="l"/>
            <a:r>
              <a:rPr lang="en-US" dirty="0"/>
              <a:t>eyJhbGciOiJIUzI1NiIsInR5cCI6IkpXVCJ9.eyJzdWIiOiIxMjM0NTY3ODkwIiwibmFtZSI6IkpvaG4gRG9lIiwiYWRtaW4iOnRydWV9.SflKxwRJSMeKKF2QT4fwpMeJf36POk6yJV_adQssw5c</a:t>
            </a:r>
          </a:p>
          <a:p>
            <a:pPr algn="l"/>
            <a:endParaRPr lang="he-IL" dirty="0"/>
          </a:p>
        </p:txBody>
      </p:sp>
    </p:spTree>
    <p:extLst>
      <p:ext uri="{BB962C8B-B14F-4D97-AF65-F5344CB8AC3E}">
        <p14:creationId xmlns:p14="http://schemas.microsoft.com/office/powerpoint/2010/main" val="237280063"/>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1863968" y="642594"/>
            <a:ext cx="9261231" cy="1371600"/>
          </a:xfrm>
        </p:spPr>
        <p:txBody>
          <a:bodyPr/>
          <a:lstStyle/>
          <a:p>
            <a:r>
              <a:rPr lang="he-IL" dirty="0"/>
              <a:t>איך</a:t>
            </a:r>
            <a:r>
              <a:rPr lang="en-US" dirty="0"/>
              <a:t> Access Tokens </a:t>
            </a:r>
            <a:r>
              <a:rPr lang="he-IL" dirty="0"/>
              <a:t>עובדים בפועל?</a:t>
            </a:r>
          </a:p>
        </p:txBody>
      </p:sp>
      <p:sp>
        <p:nvSpPr>
          <p:cNvPr id="3" name="מציין מיקום תוכן 2"/>
          <p:cNvSpPr>
            <a:spLocks noGrp="1"/>
          </p:cNvSpPr>
          <p:nvPr>
            <p:ph idx="1"/>
          </p:nvPr>
        </p:nvSpPr>
        <p:spPr/>
        <p:txBody>
          <a:bodyPr/>
          <a:lstStyle/>
          <a:p>
            <a:r>
              <a:rPr lang="he-IL" dirty="0"/>
              <a:t>1. </a:t>
            </a:r>
            <a:r>
              <a:rPr lang="he-IL" b="1" dirty="0"/>
              <a:t>שלב האימות </a:t>
            </a:r>
            <a:r>
              <a:rPr lang="en-US" b="1" dirty="0"/>
              <a:t>Authentication</a:t>
            </a:r>
            <a:endParaRPr lang="en-US" dirty="0"/>
          </a:p>
          <a:p>
            <a:r>
              <a:rPr lang="he-IL" dirty="0"/>
              <a:t>המשתמש או היישום מספקים אישורים (כמו שם משתמש וסיסמה).</a:t>
            </a:r>
          </a:p>
          <a:p>
            <a:r>
              <a:rPr lang="he-IL" dirty="0"/>
              <a:t>אם האימות הצליח, מונפק אסימון גישה.</a:t>
            </a:r>
          </a:p>
          <a:p>
            <a:endParaRPr lang="he-IL" dirty="0"/>
          </a:p>
          <a:p>
            <a:r>
              <a:rPr lang="he-IL" dirty="0"/>
              <a:t>2. </a:t>
            </a:r>
            <a:r>
              <a:rPr lang="he-IL" b="1" dirty="0"/>
              <a:t>שלב הבקשה </a:t>
            </a:r>
            <a:r>
              <a:rPr lang="en-US" b="1" dirty="0"/>
              <a:t>Request</a:t>
            </a:r>
            <a:endParaRPr lang="en-US" dirty="0"/>
          </a:p>
          <a:p>
            <a:r>
              <a:rPr lang="he-IL" dirty="0"/>
              <a:t>הלקוח שולח בקשה לשרת, עם האסימון בכותרת הבקשה </a:t>
            </a:r>
            <a:r>
              <a:rPr lang="en-US" dirty="0"/>
              <a:t>Authorization Header</a:t>
            </a:r>
            <a:endParaRPr lang="he-IL" dirty="0"/>
          </a:p>
          <a:p>
            <a:pPr algn="l"/>
            <a:r>
              <a:rPr lang="en-US" dirty="0"/>
              <a:t>GET /resource HTTP/1.1</a:t>
            </a:r>
          </a:p>
          <a:p>
            <a:pPr algn="l"/>
            <a:r>
              <a:rPr lang="en-US" dirty="0"/>
              <a:t>Host: api.example.com</a:t>
            </a:r>
          </a:p>
          <a:p>
            <a:pPr algn="l"/>
            <a:r>
              <a:rPr lang="en-US" dirty="0"/>
              <a:t>Authorization: Bearer &lt;ACCESS_TOKEN&gt;</a:t>
            </a:r>
          </a:p>
          <a:p>
            <a:pPr algn="l"/>
            <a:endParaRPr lang="en-US" dirty="0"/>
          </a:p>
          <a:p>
            <a:endParaRPr lang="he-IL" dirty="0"/>
          </a:p>
          <a:p>
            <a:endParaRPr lang="he-IL" dirty="0"/>
          </a:p>
        </p:txBody>
      </p:sp>
    </p:spTree>
    <p:extLst>
      <p:ext uri="{BB962C8B-B14F-4D97-AF65-F5344CB8AC3E}">
        <p14:creationId xmlns:p14="http://schemas.microsoft.com/office/powerpoint/2010/main" val="3879695168"/>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1066800" y="642594"/>
            <a:ext cx="10307515" cy="1371600"/>
          </a:xfrm>
        </p:spPr>
        <p:txBody>
          <a:bodyPr>
            <a:normAutofit fontScale="90000"/>
          </a:bodyPr>
          <a:lstStyle/>
          <a:p>
            <a:r>
              <a:rPr lang="he-IL" dirty="0"/>
              <a:t>המשך - איך</a:t>
            </a:r>
            <a:r>
              <a:rPr lang="en-US" dirty="0"/>
              <a:t> Access Tokens </a:t>
            </a:r>
            <a:r>
              <a:rPr lang="he-IL" dirty="0"/>
              <a:t>עובדים בפועל?</a:t>
            </a:r>
          </a:p>
        </p:txBody>
      </p:sp>
      <p:sp>
        <p:nvSpPr>
          <p:cNvPr id="3" name="מציין מיקום תוכן 2"/>
          <p:cNvSpPr>
            <a:spLocks noGrp="1"/>
          </p:cNvSpPr>
          <p:nvPr>
            <p:ph idx="1"/>
          </p:nvPr>
        </p:nvSpPr>
        <p:spPr/>
        <p:txBody>
          <a:bodyPr/>
          <a:lstStyle/>
          <a:p>
            <a:r>
              <a:rPr lang="he-IL" dirty="0"/>
              <a:t>3. </a:t>
            </a:r>
            <a:r>
              <a:rPr lang="he-IL" b="1" dirty="0"/>
              <a:t>שלב האימות של האסימון:</a:t>
            </a:r>
            <a:endParaRPr lang="he-IL" dirty="0"/>
          </a:p>
          <a:p>
            <a:r>
              <a:rPr lang="he-IL" dirty="0"/>
              <a:t>השרת בודק אם האסימון תקף:</a:t>
            </a:r>
          </a:p>
          <a:p>
            <a:r>
              <a:rPr lang="he-IL" dirty="0"/>
              <a:t>תוקף.</a:t>
            </a:r>
          </a:p>
          <a:p>
            <a:r>
              <a:rPr lang="he-IL" dirty="0"/>
              <a:t>הרשאות מתאימות.</a:t>
            </a:r>
          </a:p>
          <a:p>
            <a:endParaRPr lang="he-IL" dirty="0"/>
          </a:p>
          <a:p>
            <a:r>
              <a:rPr lang="he-IL" dirty="0"/>
              <a:t>4. </a:t>
            </a:r>
            <a:r>
              <a:rPr lang="he-IL" b="1" dirty="0"/>
              <a:t>שלב המענה </a:t>
            </a:r>
            <a:r>
              <a:rPr lang="en-US" b="1" dirty="0"/>
              <a:t>Response</a:t>
            </a:r>
            <a:endParaRPr lang="en-US" dirty="0"/>
          </a:p>
          <a:p>
            <a:r>
              <a:rPr lang="he-IL" dirty="0"/>
              <a:t>אם האסימון תקף, השרת מספק גישה למשאב המבוקש.</a:t>
            </a:r>
          </a:p>
          <a:p>
            <a:endParaRPr lang="he-IL" dirty="0"/>
          </a:p>
        </p:txBody>
      </p:sp>
    </p:spTree>
    <p:extLst>
      <p:ext uri="{BB962C8B-B14F-4D97-AF65-F5344CB8AC3E}">
        <p14:creationId xmlns:p14="http://schemas.microsoft.com/office/powerpoint/2010/main" val="3651790450"/>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3349868" y="264525"/>
            <a:ext cx="8431823" cy="1371600"/>
          </a:xfrm>
        </p:spPr>
        <p:txBody>
          <a:bodyPr>
            <a:normAutofit/>
          </a:bodyPr>
          <a:lstStyle/>
          <a:p>
            <a:r>
              <a:rPr lang="he-IL" dirty="0"/>
              <a:t>מחזור חיים של </a:t>
            </a:r>
            <a:r>
              <a:rPr lang="en-US" dirty="0"/>
              <a:t>Access Tokens</a:t>
            </a:r>
          </a:p>
        </p:txBody>
      </p:sp>
      <p:sp>
        <p:nvSpPr>
          <p:cNvPr id="3" name="מציין מיקום תוכן 2"/>
          <p:cNvSpPr>
            <a:spLocks noGrp="1"/>
          </p:cNvSpPr>
          <p:nvPr>
            <p:ph idx="1"/>
          </p:nvPr>
        </p:nvSpPr>
        <p:spPr>
          <a:xfrm>
            <a:off x="1066800" y="1566789"/>
            <a:ext cx="10058400" cy="4816425"/>
          </a:xfrm>
        </p:spPr>
        <p:txBody>
          <a:bodyPr>
            <a:normAutofit/>
          </a:bodyPr>
          <a:lstStyle/>
          <a:p>
            <a:r>
              <a:rPr lang="he-IL" dirty="0"/>
              <a:t>1. הבנת מחזור החיים של אסימון חשובה כדי לנהל ולשמור על אבטחה.</a:t>
            </a:r>
            <a:br>
              <a:rPr lang="he-IL" dirty="0"/>
            </a:br>
            <a:r>
              <a:rPr lang="he-IL" dirty="0"/>
              <a:t>השלבים במחזור החיים:</a:t>
            </a:r>
          </a:p>
          <a:p>
            <a:r>
              <a:rPr lang="he-IL" dirty="0"/>
              <a:t>א. </a:t>
            </a:r>
            <a:r>
              <a:rPr lang="he-IL" b="1" dirty="0"/>
              <a:t>הנפקה </a:t>
            </a:r>
            <a:r>
              <a:rPr lang="en-US" b="1" dirty="0"/>
              <a:t>Issuance</a:t>
            </a:r>
            <a:r>
              <a:rPr lang="he-IL" b="1" dirty="0"/>
              <a:t>:</a:t>
            </a:r>
            <a:endParaRPr lang="en-US" dirty="0"/>
          </a:p>
          <a:p>
            <a:r>
              <a:rPr lang="he-IL" dirty="0"/>
              <a:t>אסימון מונפק לאחר אימות מוצלח של המשתמש למשל, דרך </a:t>
            </a:r>
            <a:r>
              <a:rPr lang="en-US" dirty="0"/>
              <a:t>OAuth 2.0</a:t>
            </a:r>
          </a:p>
          <a:p>
            <a:r>
              <a:rPr lang="he-IL" dirty="0"/>
              <a:t>פרטים מוגדרים באסימון: משך חיים </a:t>
            </a:r>
            <a:r>
              <a:rPr lang="en-US" dirty="0"/>
              <a:t> TTL</a:t>
            </a:r>
            <a:r>
              <a:rPr lang="he-IL" dirty="0"/>
              <a:t>הרשאות, משתמש ייעודי.</a:t>
            </a:r>
          </a:p>
          <a:p>
            <a:r>
              <a:rPr lang="he-IL" dirty="0"/>
              <a:t>ב. </a:t>
            </a:r>
            <a:r>
              <a:rPr lang="he-IL" b="1" dirty="0"/>
              <a:t>שימוש </a:t>
            </a:r>
            <a:r>
              <a:rPr lang="en-US" b="1" dirty="0"/>
              <a:t>Usage:</a:t>
            </a:r>
            <a:endParaRPr lang="en-US" dirty="0"/>
          </a:p>
          <a:p>
            <a:r>
              <a:rPr lang="he-IL" dirty="0"/>
              <a:t>הלקוח משתמש באסימון לצורך גישה למשאבים.</a:t>
            </a:r>
          </a:p>
          <a:p>
            <a:r>
              <a:rPr lang="he-IL" dirty="0"/>
              <a:t>האסימון מצורף לבקשה בכותרת </a:t>
            </a:r>
            <a:r>
              <a:rPr lang="en-US" dirty="0"/>
              <a:t> Header</a:t>
            </a:r>
            <a:r>
              <a:rPr lang="he-IL" dirty="0"/>
              <a:t>או בפרמטרים.</a:t>
            </a:r>
          </a:p>
          <a:p>
            <a:r>
              <a:rPr lang="he-IL" dirty="0"/>
              <a:t>ג. </a:t>
            </a:r>
            <a:r>
              <a:rPr lang="he-IL" b="1" dirty="0"/>
              <a:t>חידוש </a:t>
            </a:r>
            <a:r>
              <a:rPr lang="en-US" b="1" dirty="0"/>
              <a:t>Refresh</a:t>
            </a:r>
            <a:r>
              <a:rPr lang="he-IL" b="1" dirty="0"/>
              <a:t>:</a:t>
            </a:r>
            <a:endParaRPr lang="en-US" dirty="0"/>
          </a:p>
          <a:p>
            <a:r>
              <a:rPr lang="he-IL" dirty="0"/>
              <a:t>כאשר תוקף האסימון פג, ניתן להשתמש ב-</a:t>
            </a:r>
            <a:r>
              <a:rPr lang="en-US" b="1" dirty="0"/>
              <a:t>Refresh Token</a:t>
            </a:r>
            <a:r>
              <a:rPr lang="en-US" dirty="0"/>
              <a:t> </a:t>
            </a:r>
            <a:r>
              <a:rPr lang="he-IL" dirty="0"/>
              <a:t> אסימון </a:t>
            </a:r>
            <a:r>
              <a:rPr lang="he-IL" dirty="0" err="1"/>
              <a:t>רענון</a:t>
            </a:r>
            <a:r>
              <a:rPr lang="he-IL" dirty="0"/>
              <a:t> כדי להנפיק אסימון חדש ללא צורך באימות מחדש.</a:t>
            </a:r>
          </a:p>
          <a:p>
            <a:r>
              <a:rPr lang="he-IL" dirty="0"/>
              <a:t>ד. </a:t>
            </a:r>
            <a:r>
              <a:rPr lang="he-IL" b="1" dirty="0"/>
              <a:t>ביטול </a:t>
            </a:r>
            <a:r>
              <a:rPr lang="en-US" b="1" dirty="0"/>
              <a:t>Revocation</a:t>
            </a:r>
            <a:r>
              <a:rPr lang="he-IL" b="1" dirty="0"/>
              <a:t>:</a:t>
            </a:r>
            <a:endParaRPr lang="en-US" dirty="0"/>
          </a:p>
          <a:p>
            <a:r>
              <a:rPr lang="he-IL" dirty="0"/>
              <a:t>האסימון מבוטל יזום (למשל, אם זוהתה פריצה או שינויים בהרשאות).</a:t>
            </a:r>
          </a:p>
          <a:p>
            <a:endParaRPr lang="he-IL" dirty="0"/>
          </a:p>
          <a:p>
            <a:endParaRPr lang="he-IL" dirty="0"/>
          </a:p>
        </p:txBody>
      </p:sp>
    </p:spTree>
    <p:extLst>
      <p:ext uri="{BB962C8B-B14F-4D97-AF65-F5344CB8AC3E}">
        <p14:creationId xmlns:p14="http://schemas.microsoft.com/office/powerpoint/2010/main" val="3920600613"/>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3472961" y="607425"/>
            <a:ext cx="8188569" cy="1371600"/>
          </a:xfrm>
        </p:spPr>
        <p:txBody>
          <a:bodyPr>
            <a:normAutofit/>
          </a:bodyPr>
          <a:lstStyle/>
          <a:p>
            <a:r>
              <a:rPr lang="en-US" dirty="0"/>
              <a:t>Refresh Tokens </a:t>
            </a:r>
            <a:r>
              <a:rPr lang="he-IL" dirty="0"/>
              <a:t> אסימוני </a:t>
            </a:r>
            <a:r>
              <a:rPr lang="he-IL" dirty="0" err="1"/>
              <a:t>רענון</a:t>
            </a:r>
            <a:r>
              <a:rPr lang="he-IL" dirty="0"/>
              <a:t>:</a:t>
            </a:r>
          </a:p>
        </p:txBody>
      </p:sp>
      <p:sp>
        <p:nvSpPr>
          <p:cNvPr id="3" name="מציין מיקום תוכן 2"/>
          <p:cNvSpPr>
            <a:spLocks noGrp="1"/>
          </p:cNvSpPr>
          <p:nvPr>
            <p:ph idx="1"/>
          </p:nvPr>
        </p:nvSpPr>
        <p:spPr/>
        <p:txBody>
          <a:bodyPr>
            <a:normAutofit fontScale="92500" lnSpcReduction="10000"/>
          </a:bodyPr>
          <a:lstStyle/>
          <a:p>
            <a:r>
              <a:rPr lang="he-IL" dirty="0"/>
              <a:t>2</a:t>
            </a:r>
            <a:r>
              <a:rPr lang="he-IL" b="1" dirty="0"/>
              <a:t>. מהו </a:t>
            </a:r>
            <a:r>
              <a:rPr lang="en-US" b="1" dirty="0"/>
              <a:t>Refresh Token</a:t>
            </a:r>
            <a:r>
              <a:rPr lang="he-IL" b="1" dirty="0"/>
              <a:t>?</a:t>
            </a:r>
            <a:endParaRPr lang="en-US" b="1" dirty="0"/>
          </a:p>
          <a:p>
            <a:r>
              <a:rPr lang="he-IL" dirty="0"/>
              <a:t>אסימון מיוחד המונפק לצד</a:t>
            </a:r>
            <a:r>
              <a:rPr lang="en-US" dirty="0"/>
              <a:t> Access Token </a:t>
            </a:r>
            <a:r>
              <a:rPr lang="he-IL" dirty="0"/>
              <a:t>ומשמש לחידושו כאשר תוקפו פג.</a:t>
            </a:r>
          </a:p>
          <a:p>
            <a:r>
              <a:rPr lang="he-IL" b="1" dirty="0"/>
              <a:t>מאפיינים:</a:t>
            </a:r>
          </a:p>
          <a:p>
            <a:r>
              <a:rPr lang="he-IL" dirty="0"/>
              <a:t>לרוב יש לו תוקף ארוך יותר מאסימון הגישה.</a:t>
            </a:r>
          </a:p>
          <a:p>
            <a:r>
              <a:rPr lang="he-IL" dirty="0"/>
              <a:t>ניתן להשתמש בו רק במקרים מוגדרים, כמו חידוש אסימון.</a:t>
            </a:r>
          </a:p>
          <a:p>
            <a:r>
              <a:rPr lang="he-IL" b="1" dirty="0"/>
              <a:t>מדוע</a:t>
            </a:r>
            <a:r>
              <a:rPr lang="en-US" b="1" dirty="0"/>
              <a:t> Refresh Tokens </a:t>
            </a:r>
            <a:r>
              <a:rPr lang="he-IL" b="1" dirty="0"/>
              <a:t>חשובים?</a:t>
            </a:r>
          </a:p>
          <a:p>
            <a:r>
              <a:rPr lang="he-IL" dirty="0"/>
              <a:t>צמצום הצורך באימות מחדש </a:t>
            </a:r>
            <a:r>
              <a:rPr lang="en-US" dirty="0"/>
              <a:t>User Re-Authentication</a:t>
            </a:r>
            <a:endParaRPr lang="he-IL" dirty="0"/>
          </a:p>
          <a:p>
            <a:r>
              <a:rPr lang="he-IL" dirty="0"/>
              <a:t>הגנה על אסימוני הגישה הראשיים.</a:t>
            </a:r>
          </a:p>
          <a:p>
            <a:r>
              <a:rPr lang="he-IL" b="1" dirty="0"/>
              <a:t>אתגרי אבטחה:</a:t>
            </a:r>
          </a:p>
          <a:p>
            <a:r>
              <a:rPr lang="he-IL" dirty="0"/>
              <a:t>אם </a:t>
            </a:r>
            <a:r>
              <a:rPr lang="en-US" dirty="0"/>
              <a:t> Refresh Token</a:t>
            </a:r>
            <a:r>
              <a:rPr lang="he-IL" dirty="0"/>
              <a:t>נגנב, תוקף יכול להנפיק אסימוני גישה חדשים ללא ידיעת המשתמש.</a:t>
            </a:r>
          </a:p>
          <a:p>
            <a:r>
              <a:rPr lang="he-IL" dirty="0"/>
              <a:t>פתרון: שימוש ב-</a:t>
            </a:r>
            <a:r>
              <a:rPr lang="en-US" dirty="0"/>
              <a:t> </a:t>
            </a:r>
            <a:r>
              <a:rPr lang="en-US" b="1" dirty="0"/>
              <a:t>Bound Tokens</a:t>
            </a:r>
            <a:r>
              <a:rPr lang="en-US" dirty="0"/>
              <a:t> </a:t>
            </a:r>
            <a:r>
              <a:rPr lang="he-IL" dirty="0"/>
              <a:t>אסימונים שמוגבלים למכשיר מסוים או למיקום גיאוגרפי.</a:t>
            </a:r>
          </a:p>
          <a:p>
            <a:endParaRPr lang="he-IL" dirty="0"/>
          </a:p>
        </p:txBody>
      </p:sp>
    </p:spTree>
    <p:extLst>
      <p:ext uri="{BB962C8B-B14F-4D97-AF65-F5344CB8AC3E}">
        <p14:creationId xmlns:p14="http://schemas.microsoft.com/office/powerpoint/2010/main" val="321826581"/>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1881554" y="642594"/>
            <a:ext cx="9721362" cy="1371600"/>
          </a:xfrm>
        </p:spPr>
        <p:txBody>
          <a:bodyPr>
            <a:normAutofit fontScale="90000"/>
          </a:bodyPr>
          <a:lstStyle/>
          <a:p>
            <a:r>
              <a:rPr lang="en-US" dirty="0"/>
              <a:t> Access Tokens </a:t>
            </a:r>
            <a:r>
              <a:rPr lang="he-IL" dirty="0"/>
              <a:t>בסביבת </a:t>
            </a:r>
            <a:r>
              <a:rPr lang="en-US" dirty="0" err="1"/>
              <a:t>Microservices</a:t>
            </a:r>
            <a:endParaRPr lang="en-US" dirty="0"/>
          </a:p>
        </p:txBody>
      </p:sp>
      <p:sp>
        <p:nvSpPr>
          <p:cNvPr id="3" name="מציין מיקום תוכן 2"/>
          <p:cNvSpPr>
            <a:spLocks noGrp="1"/>
          </p:cNvSpPr>
          <p:nvPr>
            <p:ph idx="1"/>
          </p:nvPr>
        </p:nvSpPr>
        <p:spPr>
          <a:xfrm>
            <a:off x="1066800" y="2103120"/>
            <a:ext cx="10058400" cy="4244926"/>
          </a:xfrm>
        </p:spPr>
        <p:txBody>
          <a:bodyPr>
            <a:normAutofit/>
          </a:bodyPr>
          <a:lstStyle/>
          <a:p>
            <a:r>
              <a:rPr lang="he-IL" dirty="0"/>
              <a:t>3.</a:t>
            </a:r>
            <a:r>
              <a:rPr lang="en-US" dirty="0"/>
              <a:t> </a:t>
            </a:r>
            <a:r>
              <a:rPr lang="he-IL" b="1" dirty="0"/>
              <a:t>מדוע נדרשים</a:t>
            </a:r>
            <a:r>
              <a:rPr lang="en-US" b="1" dirty="0"/>
              <a:t> Access Tokens </a:t>
            </a:r>
            <a:r>
              <a:rPr lang="he-IL" b="1" dirty="0"/>
              <a:t>ב-</a:t>
            </a:r>
            <a:r>
              <a:rPr lang="en-US" b="1" dirty="0" err="1"/>
              <a:t>Microservices</a:t>
            </a:r>
            <a:r>
              <a:rPr lang="en-US" b="1" dirty="0"/>
              <a:t> </a:t>
            </a:r>
            <a:r>
              <a:rPr lang="he-IL" b="1" dirty="0"/>
              <a:t>?</a:t>
            </a:r>
            <a:r>
              <a:rPr lang="en-US" b="1" dirty="0"/>
              <a:t> </a:t>
            </a:r>
            <a:endParaRPr lang="he-IL" b="1" dirty="0"/>
          </a:p>
          <a:p>
            <a:r>
              <a:rPr lang="he-IL" dirty="0"/>
              <a:t>ארכיטקטורת </a:t>
            </a:r>
            <a:r>
              <a:rPr lang="en-US" dirty="0"/>
              <a:t> </a:t>
            </a:r>
            <a:r>
              <a:rPr lang="en-US" dirty="0" err="1"/>
              <a:t>Microservices</a:t>
            </a:r>
            <a:r>
              <a:rPr lang="he-IL" dirty="0"/>
              <a:t>מבוססת על חלוקת המערכת למספר שירותים קטנים.</a:t>
            </a:r>
            <a:endParaRPr lang="en-US" b="1" dirty="0"/>
          </a:p>
          <a:p>
            <a:r>
              <a:rPr lang="he-IL" dirty="0"/>
              <a:t>כל שירות זקוק למנגנון אימות והרשאה משלו כדי למנוע גישה בלתי מורשית.</a:t>
            </a:r>
            <a:endParaRPr lang="en-US" dirty="0"/>
          </a:p>
          <a:p>
            <a:r>
              <a:rPr lang="he-IL" dirty="0"/>
              <a:t>שיטות לשימוש:</a:t>
            </a:r>
            <a:endParaRPr lang="en-US" dirty="0"/>
          </a:p>
          <a:p>
            <a:r>
              <a:rPr lang="he-IL" dirty="0"/>
              <a:t>1. </a:t>
            </a:r>
            <a:r>
              <a:rPr lang="en-US" b="1" dirty="0"/>
              <a:t>Token Propagation</a:t>
            </a:r>
            <a:r>
              <a:rPr lang="he-IL" b="1" dirty="0"/>
              <a:t>:</a:t>
            </a:r>
            <a:endParaRPr lang="en-US" dirty="0"/>
          </a:p>
          <a:p>
            <a:r>
              <a:rPr lang="he-IL" dirty="0"/>
              <a:t>האסימון עובר משירות לשירות </a:t>
            </a:r>
            <a:r>
              <a:rPr lang="en-US" dirty="0"/>
              <a:t>Chaining</a:t>
            </a:r>
          </a:p>
          <a:p>
            <a:r>
              <a:rPr lang="he-IL" dirty="0"/>
              <a:t>בעיה: האסימון עלול לחשוף מידע מיותר לכל שירות.</a:t>
            </a:r>
          </a:p>
          <a:p>
            <a:r>
              <a:rPr lang="he-IL" dirty="0"/>
              <a:t>2. </a:t>
            </a:r>
            <a:r>
              <a:rPr lang="en-US" b="1" dirty="0"/>
              <a:t>Token Exchange</a:t>
            </a:r>
            <a:endParaRPr lang="en-US" dirty="0"/>
          </a:p>
          <a:p>
            <a:r>
              <a:rPr lang="he-IL" dirty="0"/>
              <a:t>שירות מחליף את האסימון שקיבל באסימון מוגבל לגישה לשירותים אחרים.</a:t>
            </a:r>
          </a:p>
          <a:p>
            <a:r>
              <a:rPr lang="he-IL" dirty="0"/>
              <a:t>מיושם בפרוטוקולים כמו </a:t>
            </a:r>
            <a:r>
              <a:rPr lang="en-US" b="1" dirty="0"/>
              <a:t>OAuth 2.0 Token Exchange</a:t>
            </a:r>
            <a:endParaRPr lang="en-US" dirty="0"/>
          </a:p>
          <a:p>
            <a:endParaRPr lang="he-IL" dirty="0"/>
          </a:p>
          <a:p>
            <a:endParaRPr lang="he-IL" dirty="0"/>
          </a:p>
        </p:txBody>
      </p:sp>
    </p:spTree>
    <p:extLst>
      <p:ext uri="{BB962C8B-B14F-4D97-AF65-F5344CB8AC3E}">
        <p14:creationId xmlns:p14="http://schemas.microsoft.com/office/powerpoint/2010/main" val="895579728"/>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4492868" y="642594"/>
            <a:ext cx="6632331" cy="1371600"/>
          </a:xfrm>
        </p:spPr>
        <p:txBody>
          <a:bodyPr/>
          <a:lstStyle/>
          <a:p>
            <a:r>
              <a:rPr lang="he-IL" dirty="0"/>
              <a:t>הגנה על </a:t>
            </a:r>
            <a:r>
              <a:rPr lang="en-US" dirty="0"/>
              <a:t>Access Tokens</a:t>
            </a:r>
            <a:endParaRPr lang="he-IL" dirty="0"/>
          </a:p>
        </p:txBody>
      </p:sp>
      <p:sp>
        <p:nvSpPr>
          <p:cNvPr id="3" name="מציין מיקום תוכן 2"/>
          <p:cNvSpPr>
            <a:spLocks noGrp="1"/>
          </p:cNvSpPr>
          <p:nvPr>
            <p:ph idx="1"/>
          </p:nvPr>
        </p:nvSpPr>
        <p:spPr/>
        <p:txBody>
          <a:bodyPr>
            <a:normAutofit fontScale="92500" lnSpcReduction="10000"/>
          </a:bodyPr>
          <a:lstStyle/>
          <a:p>
            <a:r>
              <a:rPr lang="he-IL" dirty="0"/>
              <a:t>א</a:t>
            </a:r>
            <a:r>
              <a:rPr lang="he-IL" sz="2200" b="1" u="sng" dirty="0"/>
              <a:t>. אמצעי הגנה בסיסיים:</a:t>
            </a:r>
          </a:p>
          <a:p>
            <a:r>
              <a:rPr lang="he-IL" dirty="0"/>
              <a:t>1. </a:t>
            </a:r>
            <a:r>
              <a:rPr lang="he-IL" b="1" dirty="0"/>
              <a:t>שימוש בפרוטוקול </a:t>
            </a:r>
            <a:r>
              <a:rPr lang="en-US" b="1" dirty="0"/>
              <a:t>HTTPS</a:t>
            </a:r>
            <a:r>
              <a:rPr lang="he-IL" b="1" dirty="0"/>
              <a:t>:</a:t>
            </a:r>
            <a:r>
              <a:rPr lang="he-IL" dirty="0"/>
              <a:t> מגן על האסימון מפני יירוט במהלך העברה.</a:t>
            </a:r>
          </a:p>
          <a:p>
            <a:r>
              <a:rPr lang="he-IL" dirty="0"/>
              <a:t>2. </a:t>
            </a:r>
            <a:r>
              <a:rPr lang="he-IL" b="1" dirty="0"/>
              <a:t>צמצום זמן החיים של האסימון </a:t>
            </a:r>
            <a:r>
              <a:rPr lang="en-US" b="1" dirty="0"/>
              <a:t>TTL</a:t>
            </a:r>
            <a:r>
              <a:rPr lang="he-IL" b="1" dirty="0"/>
              <a:t>: </a:t>
            </a:r>
            <a:r>
              <a:rPr lang="he-IL" dirty="0"/>
              <a:t>אסימונים קצרי חיים מצמצמים את זמן החשיפה הפוטנציאלי במקרה של פריצה.</a:t>
            </a:r>
          </a:p>
          <a:p>
            <a:r>
              <a:rPr lang="he-IL" dirty="0"/>
              <a:t>3. </a:t>
            </a:r>
            <a:r>
              <a:rPr lang="he-IL" b="1" dirty="0"/>
              <a:t>הגבלת גישה לפי מקור </a:t>
            </a:r>
            <a:r>
              <a:rPr lang="en-US" b="1" dirty="0"/>
              <a:t>CORS</a:t>
            </a:r>
            <a:r>
              <a:rPr lang="he-IL" b="1" dirty="0"/>
              <a:t>: </a:t>
            </a:r>
            <a:r>
              <a:rPr lang="he-IL" dirty="0"/>
              <a:t>מונע שימוש לרעה באסימון על ידי </a:t>
            </a:r>
            <a:r>
              <a:rPr lang="he-IL" dirty="0" err="1"/>
              <a:t>דומיינים</a:t>
            </a:r>
            <a:r>
              <a:rPr lang="he-IL" dirty="0"/>
              <a:t> לא מורשים.</a:t>
            </a:r>
          </a:p>
          <a:p>
            <a:r>
              <a:rPr lang="he-IL" dirty="0"/>
              <a:t>ב</a:t>
            </a:r>
            <a:r>
              <a:rPr lang="he-IL" sz="2200" b="1" u="sng" dirty="0"/>
              <a:t>. אמצעי הגנה מתקדמים:</a:t>
            </a:r>
          </a:p>
          <a:p>
            <a:r>
              <a:rPr lang="he-IL" dirty="0"/>
              <a:t>1. </a:t>
            </a:r>
            <a:r>
              <a:rPr lang="en-US" b="1" dirty="0"/>
              <a:t>Token Binding</a:t>
            </a:r>
            <a:r>
              <a:rPr lang="he-IL" b="1" dirty="0"/>
              <a:t>: </a:t>
            </a:r>
            <a:r>
              <a:rPr lang="he-IL" dirty="0"/>
              <a:t>קישור האסימון למכשיר או למזהה מסוים </a:t>
            </a:r>
            <a:r>
              <a:rPr lang="en-US" dirty="0"/>
              <a:t>Device-Specific Token</a:t>
            </a:r>
          </a:p>
          <a:p>
            <a:r>
              <a:rPr lang="he-IL" dirty="0"/>
              <a:t>אם האסימון נגנב, הוא לא יפעל ממכשיר אחר.</a:t>
            </a:r>
          </a:p>
          <a:p>
            <a:r>
              <a:rPr lang="he-IL" dirty="0"/>
              <a:t>2. </a:t>
            </a:r>
            <a:r>
              <a:rPr lang="en-US" b="1" dirty="0"/>
              <a:t>Audience Restriction</a:t>
            </a:r>
            <a:r>
              <a:rPr lang="he-IL" b="1" dirty="0"/>
              <a:t>: </a:t>
            </a:r>
            <a:r>
              <a:rPr lang="he-IL" dirty="0"/>
              <a:t>כל אסימון מוגדר לשימוש בשירות מסוים בלבד.</a:t>
            </a:r>
          </a:p>
          <a:p>
            <a:r>
              <a:rPr lang="he-IL" dirty="0"/>
              <a:t>לדוגמה: אסימון שנועד למערכת</a:t>
            </a:r>
            <a:r>
              <a:rPr lang="en-US" dirty="0"/>
              <a:t>CRM </a:t>
            </a:r>
            <a:r>
              <a:rPr lang="he-IL" dirty="0"/>
              <a:t> לא יעבוד במערכת </a:t>
            </a:r>
            <a:r>
              <a:rPr lang="en-US" dirty="0"/>
              <a:t>HR</a:t>
            </a:r>
            <a:endParaRPr lang="he-IL" dirty="0"/>
          </a:p>
          <a:p>
            <a:r>
              <a:rPr lang="he-IL" dirty="0"/>
              <a:t>3. </a:t>
            </a:r>
            <a:r>
              <a:rPr lang="en-US" b="1" dirty="0"/>
              <a:t>Fingerprinting Tokens</a:t>
            </a:r>
            <a:r>
              <a:rPr lang="he-IL" b="1" dirty="0"/>
              <a:t>:</a:t>
            </a:r>
            <a:r>
              <a:rPr lang="he-IL" dirty="0"/>
              <a:t> יצירת חתימה דיגיטלית ייחודית לכל בקשה כדי לזהות אם האסימון עבר שינוי.</a:t>
            </a:r>
          </a:p>
          <a:p>
            <a:endParaRPr lang="he-IL" dirty="0"/>
          </a:p>
          <a:p>
            <a:endParaRPr lang="he-IL" dirty="0"/>
          </a:p>
        </p:txBody>
      </p:sp>
    </p:spTree>
    <p:extLst>
      <p:ext uri="{BB962C8B-B14F-4D97-AF65-F5344CB8AC3E}">
        <p14:creationId xmlns:p14="http://schemas.microsoft.com/office/powerpoint/2010/main" val="3880113067"/>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4317023" y="642594"/>
            <a:ext cx="6808176" cy="1371600"/>
          </a:xfrm>
        </p:spPr>
        <p:txBody>
          <a:bodyPr>
            <a:normAutofit fontScale="90000"/>
          </a:bodyPr>
          <a:lstStyle/>
          <a:p>
            <a:r>
              <a:rPr lang="he-IL" dirty="0"/>
              <a:t>זיהוי ואיתור פרצות באסימונים</a:t>
            </a:r>
          </a:p>
        </p:txBody>
      </p:sp>
      <p:sp>
        <p:nvSpPr>
          <p:cNvPr id="3" name="מציין מיקום תוכן 2"/>
          <p:cNvSpPr>
            <a:spLocks noGrp="1"/>
          </p:cNvSpPr>
          <p:nvPr>
            <p:ph idx="1"/>
          </p:nvPr>
        </p:nvSpPr>
        <p:spPr>
          <a:xfrm>
            <a:off x="1066800" y="1820008"/>
            <a:ext cx="10058400" cy="4215032"/>
          </a:xfrm>
        </p:spPr>
        <p:txBody>
          <a:bodyPr>
            <a:normAutofit lnSpcReduction="10000"/>
          </a:bodyPr>
          <a:lstStyle/>
          <a:p>
            <a:r>
              <a:rPr lang="he-IL" sz="2400" b="1" u="sng" dirty="0"/>
              <a:t>א. התקפות נפוצות על </a:t>
            </a:r>
            <a:r>
              <a:rPr lang="en-US" sz="2400" b="1" u="sng" dirty="0"/>
              <a:t>Access Tokens</a:t>
            </a:r>
            <a:r>
              <a:rPr lang="he-IL" sz="2400" b="1" u="sng" dirty="0"/>
              <a:t>:</a:t>
            </a:r>
          </a:p>
          <a:p>
            <a:r>
              <a:rPr lang="he-IL" dirty="0"/>
              <a:t>1. </a:t>
            </a:r>
            <a:r>
              <a:rPr lang="en-US" b="1" dirty="0"/>
              <a:t>Replay Attack</a:t>
            </a:r>
            <a:r>
              <a:rPr lang="he-IL" b="1" dirty="0"/>
              <a:t>:</a:t>
            </a:r>
            <a:r>
              <a:rPr lang="he-IL" dirty="0"/>
              <a:t> תוקף מיירט אסימון ומנסה להשתמש בו שוב.</a:t>
            </a:r>
          </a:p>
          <a:p>
            <a:r>
              <a:rPr lang="he-IL" b="1" dirty="0"/>
              <a:t>פתרון:</a:t>
            </a:r>
            <a:r>
              <a:rPr lang="he-IL" dirty="0"/>
              <a:t> שימוש בחתימה דיגיטלית ייחודית לכל בקשה.</a:t>
            </a:r>
          </a:p>
          <a:p>
            <a:r>
              <a:rPr lang="he-IL" dirty="0"/>
              <a:t>2. </a:t>
            </a:r>
            <a:r>
              <a:rPr lang="en-US" b="1" dirty="0"/>
              <a:t>Man-in-the-Middle Attack (MITM)</a:t>
            </a:r>
            <a:r>
              <a:rPr lang="he-IL" b="1" dirty="0"/>
              <a:t>:</a:t>
            </a:r>
            <a:r>
              <a:rPr lang="he-IL" dirty="0"/>
              <a:t> תוקף מיירט אסימונים במהלך העברתם.</a:t>
            </a:r>
          </a:p>
          <a:p>
            <a:r>
              <a:rPr lang="he-IL" b="1" dirty="0"/>
              <a:t>פתרון:</a:t>
            </a:r>
            <a:r>
              <a:rPr lang="he-IL" dirty="0"/>
              <a:t> הצפנת התקשורת באמצעות </a:t>
            </a:r>
            <a:r>
              <a:rPr lang="en-US" dirty="0"/>
              <a:t>HTTPS</a:t>
            </a:r>
            <a:r>
              <a:rPr lang="he-IL" dirty="0"/>
              <a:t>.</a:t>
            </a:r>
          </a:p>
          <a:p>
            <a:r>
              <a:rPr lang="he-IL" dirty="0"/>
              <a:t>3. </a:t>
            </a:r>
            <a:r>
              <a:rPr lang="en-US" b="1" dirty="0"/>
              <a:t>Privilege Escalation</a:t>
            </a:r>
            <a:r>
              <a:rPr lang="he-IL" b="1" dirty="0"/>
              <a:t>:</a:t>
            </a:r>
            <a:r>
              <a:rPr lang="he-IL" dirty="0"/>
              <a:t> אסימון שניתן למשתמש עם הרשאות נמוכות מנוצל להשגת הרשאות גבוהות.</a:t>
            </a:r>
          </a:p>
          <a:p>
            <a:r>
              <a:rPr lang="he-IL" b="1" dirty="0"/>
              <a:t>פתרון:</a:t>
            </a:r>
            <a:r>
              <a:rPr lang="he-IL" dirty="0"/>
              <a:t> אימות מתמיד של ההרשאות.</a:t>
            </a:r>
          </a:p>
          <a:p>
            <a:r>
              <a:rPr lang="he-IL" dirty="0"/>
              <a:t>ב</a:t>
            </a:r>
            <a:r>
              <a:rPr lang="he-IL" sz="2400" b="1" u="sng" dirty="0"/>
              <a:t>. התקפות נפוצות על </a:t>
            </a:r>
            <a:r>
              <a:rPr lang="en-US" sz="2400" b="1" u="sng" dirty="0"/>
              <a:t>Access Tokens</a:t>
            </a:r>
            <a:r>
              <a:rPr lang="he-IL" sz="2400" b="1" u="sng" dirty="0"/>
              <a:t>:</a:t>
            </a:r>
          </a:p>
          <a:p>
            <a:r>
              <a:rPr lang="en-US" b="1" dirty="0"/>
              <a:t>Rate Limiting</a:t>
            </a:r>
            <a:r>
              <a:rPr lang="he-IL" b="1" dirty="0"/>
              <a:t>: </a:t>
            </a:r>
            <a:r>
              <a:rPr lang="he-IL" dirty="0"/>
              <a:t>הגבלת מספר הבקשות שניתן לבצע בפרק זמן מסוים.</a:t>
            </a:r>
          </a:p>
          <a:p>
            <a:r>
              <a:rPr lang="he-IL" b="1" dirty="0"/>
              <a:t>תיעוד גישה </a:t>
            </a:r>
            <a:r>
              <a:rPr lang="en-US" b="1" dirty="0"/>
              <a:t> :Audit Logs</a:t>
            </a:r>
            <a:r>
              <a:rPr lang="he-IL" dirty="0"/>
              <a:t>ניטור כל השימושים באסימונים לזיהוי פעילות חשודה.</a:t>
            </a:r>
          </a:p>
          <a:p>
            <a:r>
              <a:rPr lang="en-US" b="1" dirty="0"/>
              <a:t> :AI/ML-Based Detection</a:t>
            </a:r>
            <a:r>
              <a:rPr lang="he-IL" dirty="0"/>
              <a:t>שימוש במערכות למידת מכונה כדי לזהות תבניות חריגות.</a:t>
            </a:r>
          </a:p>
          <a:p>
            <a:endParaRPr lang="he-IL" dirty="0"/>
          </a:p>
          <a:p>
            <a:endParaRPr lang="he-IL" dirty="0"/>
          </a:p>
          <a:p>
            <a:endParaRPr lang="he-IL" dirty="0"/>
          </a:p>
        </p:txBody>
      </p:sp>
    </p:spTree>
    <p:extLst>
      <p:ext uri="{BB962C8B-B14F-4D97-AF65-F5344CB8AC3E}">
        <p14:creationId xmlns:p14="http://schemas.microsoft.com/office/powerpoint/2010/main" val="17797216"/>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5662246" y="642594"/>
            <a:ext cx="5462954" cy="1371600"/>
          </a:xfrm>
        </p:spPr>
        <p:txBody>
          <a:bodyPr/>
          <a:lstStyle/>
          <a:p>
            <a:r>
              <a:rPr lang="he-IL" dirty="0"/>
              <a:t>פרוטוקולים רלוונטיים</a:t>
            </a:r>
          </a:p>
        </p:txBody>
      </p:sp>
      <p:sp>
        <p:nvSpPr>
          <p:cNvPr id="3" name="מציין מיקום תוכן 2"/>
          <p:cNvSpPr>
            <a:spLocks noGrp="1"/>
          </p:cNvSpPr>
          <p:nvPr>
            <p:ph idx="1"/>
          </p:nvPr>
        </p:nvSpPr>
        <p:spPr/>
        <p:txBody>
          <a:bodyPr/>
          <a:lstStyle/>
          <a:p>
            <a:r>
              <a:rPr lang="he-IL" dirty="0"/>
              <a:t>א. </a:t>
            </a:r>
            <a:r>
              <a:rPr lang="en-US" b="1" dirty="0"/>
              <a:t>OAuth 2.0</a:t>
            </a:r>
            <a:r>
              <a:rPr lang="he-IL" b="1" dirty="0"/>
              <a:t>: </a:t>
            </a:r>
            <a:r>
              <a:rPr lang="he-IL" dirty="0"/>
              <a:t>הפרוטוקול הנפוץ ביותר לניהול אסימונים.</a:t>
            </a:r>
          </a:p>
          <a:p>
            <a:r>
              <a:rPr lang="he-IL" dirty="0"/>
              <a:t>זרימות </a:t>
            </a:r>
            <a:r>
              <a:rPr lang="en-US" dirty="0"/>
              <a:t>Flows</a:t>
            </a:r>
            <a:r>
              <a:rPr lang="he-IL" dirty="0"/>
              <a:t>:</a:t>
            </a:r>
          </a:p>
          <a:p>
            <a:r>
              <a:rPr lang="he-IL" dirty="0"/>
              <a:t>1. </a:t>
            </a:r>
            <a:r>
              <a:rPr lang="en-US" b="1" dirty="0"/>
              <a:t>Authorization Code Flow</a:t>
            </a:r>
            <a:r>
              <a:rPr lang="he-IL" b="1" dirty="0"/>
              <a:t>:</a:t>
            </a:r>
            <a:r>
              <a:rPr lang="he-IL" dirty="0"/>
              <a:t> מתאים לאפליקציות צד שרת.</a:t>
            </a:r>
          </a:p>
          <a:p>
            <a:r>
              <a:rPr lang="he-IL" dirty="0"/>
              <a:t>2. </a:t>
            </a:r>
            <a:r>
              <a:rPr lang="en-US" b="1" dirty="0"/>
              <a:t>Implicit Flow</a:t>
            </a:r>
            <a:r>
              <a:rPr lang="he-IL" b="1" dirty="0"/>
              <a:t>:</a:t>
            </a:r>
            <a:r>
              <a:rPr lang="he-IL" dirty="0"/>
              <a:t> מיועד לאפליקציות צד לקוח (אך פחות מאובטח ולכן לא מומלץ).</a:t>
            </a:r>
          </a:p>
          <a:p>
            <a:r>
              <a:rPr lang="he-IL" dirty="0"/>
              <a:t>3. </a:t>
            </a:r>
            <a:r>
              <a:rPr lang="en-US" b="1" dirty="0"/>
              <a:t>Client Credentials Flow</a:t>
            </a:r>
            <a:r>
              <a:rPr lang="he-IL" b="1" dirty="0"/>
              <a:t>: </a:t>
            </a:r>
            <a:r>
              <a:rPr lang="he-IL" dirty="0"/>
              <a:t>משמש גישה בין שרתים.</a:t>
            </a:r>
          </a:p>
          <a:p>
            <a:endParaRPr lang="he-IL" dirty="0"/>
          </a:p>
          <a:p>
            <a:r>
              <a:rPr lang="he-IL" dirty="0"/>
              <a:t>ב. </a:t>
            </a:r>
            <a:r>
              <a:rPr lang="en-US" dirty="0"/>
              <a:t> :</a:t>
            </a:r>
            <a:r>
              <a:rPr lang="en-US" b="1" dirty="0" err="1"/>
              <a:t>OpenID</a:t>
            </a:r>
            <a:r>
              <a:rPr lang="en-US" b="1" dirty="0"/>
              <a:t> Connect</a:t>
            </a:r>
            <a:r>
              <a:rPr lang="he-IL" dirty="0"/>
              <a:t>הרחבה של </a:t>
            </a:r>
            <a:r>
              <a:rPr lang="en-US" dirty="0"/>
              <a:t> OAuth 2.0</a:t>
            </a:r>
            <a:r>
              <a:rPr lang="he-IL" dirty="0"/>
              <a:t>שמוסיפה אימות </a:t>
            </a:r>
            <a:r>
              <a:rPr lang="en-US" dirty="0"/>
              <a:t> Authentication</a:t>
            </a:r>
            <a:r>
              <a:rPr lang="he-IL" dirty="0"/>
              <a:t>לצד הרשאה </a:t>
            </a:r>
            <a:r>
              <a:rPr lang="en-US" dirty="0"/>
              <a:t>Authorization</a:t>
            </a:r>
            <a:endParaRPr lang="he-IL" dirty="0"/>
          </a:p>
          <a:p>
            <a:r>
              <a:rPr lang="he-IL" dirty="0"/>
              <a:t>משמשת כדי לוודא את זהות המשתמש, בנוסף להענקת אסימון.</a:t>
            </a:r>
            <a:endParaRPr lang="en-US" dirty="0"/>
          </a:p>
          <a:p>
            <a:endParaRPr lang="he-IL" dirty="0"/>
          </a:p>
          <a:p>
            <a:endParaRPr lang="he-IL" dirty="0"/>
          </a:p>
        </p:txBody>
      </p:sp>
    </p:spTree>
    <p:extLst>
      <p:ext uri="{BB962C8B-B14F-4D97-AF65-F5344CB8AC3E}">
        <p14:creationId xmlns:p14="http://schemas.microsoft.com/office/powerpoint/2010/main" val="1129227492"/>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9240714" y="642594"/>
            <a:ext cx="1884485" cy="1371600"/>
          </a:xfrm>
        </p:spPr>
        <p:txBody>
          <a:bodyPr/>
          <a:lstStyle/>
          <a:p>
            <a:r>
              <a:rPr lang="he-IL" dirty="0"/>
              <a:t>שאלות</a:t>
            </a:r>
          </a:p>
        </p:txBody>
      </p:sp>
      <p:sp>
        <p:nvSpPr>
          <p:cNvPr id="3" name="מציין מיקום תוכן 2"/>
          <p:cNvSpPr>
            <a:spLocks noGrp="1"/>
          </p:cNvSpPr>
          <p:nvPr>
            <p:ph idx="1"/>
          </p:nvPr>
        </p:nvSpPr>
        <p:spPr/>
        <p:txBody>
          <a:bodyPr/>
          <a:lstStyle/>
          <a:p>
            <a:r>
              <a:rPr lang="he-IL" dirty="0"/>
              <a:t>1. מה היתרון של </a:t>
            </a:r>
            <a:r>
              <a:rPr lang="en-US" dirty="0"/>
              <a:t> JWT</a:t>
            </a:r>
            <a:r>
              <a:rPr lang="he-IL" dirty="0"/>
              <a:t>על פני </a:t>
            </a:r>
            <a:r>
              <a:rPr lang="en-US" dirty="0"/>
              <a:t>Opaque Tokens</a:t>
            </a:r>
            <a:r>
              <a:rPr lang="he-IL" dirty="0"/>
              <a:t>?</a:t>
            </a:r>
          </a:p>
          <a:p>
            <a:endParaRPr lang="he-IL" dirty="0"/>
          </a:p>
          <a:p>
            <a:r>
              <a:rPr lang="he-IL" dirty="0"/>
              <a:t>2. מה החיסרון המרכזי של </a:t>
            </a:r>
            <a:r>
              <a:rPr lang="en-US" dirty="0"/>
              <a:t>Bearer Tokens</a:t>
            </a:r>
            <a:r>
              <a:rPr lang="he-IL" dirty="0"/>
              <a:t>?</a:t>
            </a:r>
          </a:p>
          <a:p>
            <a:endParaRPr lang="he-IL" dirty="0"/>
          </a:p>
          <a:p>
            <a:r>
              <a:rPr lang="he-IL" dirty="0"/>
              <a:t>3. במה שונה </a:t>
            </a:r>
            <a:r>
              <a:rPr lang="en-US" dirty="0"/>
              <a:t> MAC Token</a:t>
            </a:r>
            <a:r>
              <a:rPr lang="he-IL" dirty="0"/>
              <a:t>מ-</a:t>
            </a:r>
            <a:r>
              <a:rPr lang="en-US" dirty="0"/>
              <a:t>Bearer Token </a:t>
            </a:r>
            <a:r>
              <a:rPr lang="he-IL" dirty="0"/>
              <a:t>?</a:t>
            </a:r>
            <a:r>
              <a:rPr lang="en-US" dirty="0"/>
              <a:t> </a:t>
            </a:r>
            <a:endParaRPr lang="he-IL" dirty="0"/>
          </a:p>
          <a:p>
            <a:endParaRPr lang="he-IL" dirty="0"/>
          </a:p>
          <a:p>
            <a:r>
              <a:rPr lang="he-IL" dirty="0"/>
              <a:t>4. תן דוגמה לאופן שבו </a:t>
            </a:r>
            <a:r>
              <a:rPr lang="en-US" dirty="0"/>
              <a:t>Access Token</a:t>
            </a:r>
            <a:r>
              <a:rPr lang="he-IL" dirty="0"/>
              <a:t> יכול להיפרץ וכיצד ניתן להגן עליו.</a:t>
            </a:r>
          </a:p>
          <a:p>
            <a:endParaRPr lang="he-IL" dirty="0"/>
          </a:p>
          <a:p>
            <a:r>
              <a:rPr lang="he-IL" dirty="0"/>
              <a:t>5. כיצד עקרון ה-</a:t>
            </a:r>
            <a:r>
              <a:rPr lang="en-US" dirty="0"/>
              <a:t> Least Privilege </a:t>
            </a:r>
            <a:r>
              <a:rPr lang="he-IL" dirty="0"/>
              <a:t>רלוונטי ל-</a:t>
            </a:r>
            <a:r>
              <a:rPr lang="en-US" dirty="0"/>
              <a:t>Access Tokens </a:t>
            </a:r>
            <a:r>
              <a:rPr lang="he-IL" dirty="0"/>
              <a:t>?</a:t>
            </a:r>
            <a:r>
              <a:rPr lang="en-US" dirty="0"/>
              <a:t> </a:t>
            </a:r>
            <a:endParaRPr lang="he-IL" dirty="0"/>
          </a:p>
        </p:txBody>
      </p:sp>
    </p:spTree>
    <p:extLst>
      <p:ext uri="{BB962C8B-B14F-4D97-AF65-F5344CB8AC3E}">
        <p14:creationId xmlns:p14="http://schemas.microsoft.com/office/powerpoint/2010/main" val="3449963469"/>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8897815" y="132640"/>
            <a:ext cx="2227385" cy="1371600"/>
          </a:xfrm>
        </p:spPr>
        <p:txBody>
          <a:bodyPr/>
          <a:lstStyle/>
          <a:p>
            <a:r>
              <a:rPr lang="he-IL" dirty="0"/>
              <a:t>תשובות</a:t>
            </a:r>
          </a:p>
        </p:txBody>
      </p:sp>
      <p:sp>
        <p:nvSpPr>
          <p:cNvPr id="3" name="מציין מיקום תוכן 2"/>
          <p:cNvSpPr>
            <a:spLocks noGrp="1"/>
          </p:cNvSpPr>
          <p:nvPr>
            <p:ph idx="1"/>
          </p:nvPr>
        </p:nvSpPr>
        <p:spPr>
          <a:xfrm>
            <a:off x="1066800" y="1292469"/>
            <a:ext cx="10058400" cy="4742571"/>
          </a:xfrm>
        </p:spPr>
        <p:txBody>
          <a:bodyPr>
            <a:normAutofit fontScale="92500" lnSpcReduction="10000"/>
          </a:bodyPr>
          <a:lstStyle/>
          <a:p>
            <a:r>
              <a:rPr lang="he-IL" dirty="0"/>
              <a:t>1. </a:t>
            </a:r>
            <a:r>
              <a:rPr lang="en-US" dirty="0"/>
              <a:t> JWT</a:t>
            </a:r>
            <a:r>
              <a:rPr lang="he-IL" dirty="0"/>
              <a:t>מכיל מידע קריא (כמו מזהה משתמש וההרשאות) שניתן לפענח בצד הלקוח ללא צורך באימות נוסף בשרת, מה שהופך אותו למהיר ויעיל יותר.</a:t>
            </a:r>
          </a:p>
          <a:p>
            <a:r>
              <a:rPr lang="he-IL" dirty="0"/>
              <a:t>2. אם</a:t>
            </a:r>
            <a:r>
              <a:rPr lang="en-US" dirty="0"/>
              <a:t> Bearer Token </a:t>
            </a:r>
            <a:r>
              <a:rPr lang="he-IL" dirty="0"/>
              <a:t>נגנב, ניתן להשתמש בו ללא צורך בחתימה נוספת, מה שהופך אותו לפגיע יותר במקרה של פריצה או הדלפה.</a:t>
            </a:r>
          </a:p>
          <a:p>
            <a:r>
              <a:rPr lang="he-IL" dirty="0"/>
              <a:t>3. </a:t>
            </a:r>
            <a:r>
              <a:rPr lang="en-US" dirty="0"/>
              <a:t> MAC Token</a:t>
            </a:r>
            <a:r>
              <a:rPr lang="he-IL" dirty="0"/>
              <a:t>דורש חתימה דיגיטלית עבור כל בקשה, מה שמגביר את רמת האבטחה אך מקשה על הניהול. </a:t>
            </a:r>
            <a:r>
              <a:rPr lang="en-US" dirty="0"/>
              <a:t> Bearer Token</a:t>
            </a:r>
            <a:r>
              <a:rPr lang="he-IL" dirty="0"/>
              <a:t>לעומת זאת, פשוט יותר לשימוש אך פחות בטוח.</a:t>
            </a:r>
          </a:p>
          <a:p>
            <a:r>
              <a:rPr lang="he-IL" dirty="0"/>
              <a:t>4. </a:t>
            </a:r>
            <a:r>
              <a:rPr lang="he-IL" b="1" dirty="0"/>
              <a:t>דוגמה לפריצה:</a:t>
            </a:r>
            <a:r>
              <a:rPr lang="he-IL" dirty="0"/>
              <a:t> אם אסימון גישה מועבר ללא הצפנה למשל, על גבי </a:t>
            </a:r>
            <a:r>
              <a:rPr lang="en-US" dirty="0"/>
              <a:t> HTTP</a:t>
            </a:r>
            <a:r>
              <a:rPr lang="he-IL" dirty="0"/>
              <a:t>ולא</a:t>
            </a:r>
            <a:r>
              <a:rPr lang="en-US" dirty="0"/>
              <a:t> HTTPS, </a:t>
            </a:r>
            <a:r>
              <a:rPr lang="he-IL" dirty="0"/>
              <a:t>תוקף יכול ליירט אותו באמצעות התקפת </a:t>
            </a:r>
            <a:r>
              <a:rPr lang="en-US" dirty="0"/>
              <a:t>Man-in-the-Middle</a:t>
            </a:r>
            <a:endParaRPr lang="he-IL" dirty="0"/>
          </a:p>
          <a:p>
            <a:r>
              <a:rPr lang="he-IL" dirty="0"/>
              <a:t>אמצעי הגנה:</a:t>
            </a:r>
          </a:p>
          <a:p>
            <a:r>
              <a:rPr lang="he-IL" dirty="0"/>
              <a:t>א. שימוש בפרוטוקול</a:t>
            </a:r>
            <a:r>
              <a:rPr lang="en-US" dirty="0"/>
              <a:t> HTTPS </a:t>
            </a:r>
            <a:r>
              <a:rPr lang="he-IL" dirty="0"/>
              <a:t>להצפנה.</a:t>
            </a:r>
          </a:p>
          <a:p>
            <a:r>
              <a:rPr lang="he-IL" dirty="0"/>
              <a:t>ב. הגבלת טווח חיים של האסימון.</a:t>
            </a:r>
          </a:p>
          <a:p>
            <a:r>
              <a:rPr lang="he-IL" dirty="0"/>
              <a:t>ג. שימוש ב-</a:t>
            </a:r>
            <a:r>
              <a:rPr lang="en-US" dirty="0"/>
              <a:t> Token Refresh </a:t>
            </a:r>
            <a:r>
              <a:rPr lang="he-IL" dirty="0"/>
              <a:t>למניעת שימוש באסימונים ישנים.</a:t>
            </a:r>
          </a:p>
          <a:p>
            <a:endParaRPr lang="he-IL" dirty="0"/>
          </a:p>
          <a:p>
            <a:r>
              <a:rPr lang="he-IL" dirty="0"/>
              <a:t>5. עקרון זה אומר שעל האסימון להכיל רק הרשאות נדרשות ולא יותר מכך. למשל, אסימון למשתמש רגיל לא צריך לאפשר גישה לניהול מערכת.</a:t>
            </a:r>
          </a:p>
          <a:p>
            <a:endParaRPr lang="he-IL" dirty="0"/>
          </a:p>
        </p:txBody>
      </p:sp>
    </p:spTree>
    <p:extLst>
      <p:ext uri="{BB962C8B-B14F-4D97-AF65-F5344CB8AC3E}">
        <p14:creationId xmlns:p14="http://schemas.microsoft.com/office/powerpoint/2010/main" val="3284694913"/>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p:cNvSpPr>
            <a:spLocks noGrp="1"/>
          </p:cNvSpPr>
          <p:nvPr>
            <p:ph idx="1"/>
          </p:nvPr>
        </p:nvSpPr>
        <p:spPr>
          <a:xfrm>
            <a:off x="1066800" y="2454813"/>
            <a:ext cx="10058400" cy="3931920"/>
          </a:xfrm>
        </p:spPr>
        <p:txBody>
          <a:bodyPr>
            <a:normAutofit/>
          </a:bodyPr>
          <a:lstStyle/>
          <a:p>
            <a:pPr algn="ctr"/>
            <a:r>
              <a:rPr lang="he-IL" sz="6600" dirty="0"/>
              <a:t>ניתוח </a:t>
            </a:r>
            <a:r>
              <a:rPr lang="en-US" sz="6600" dirty="0"/>
              <a:t>Session Token</a:t>
            </a:r>
            <a:endParaRPr lang="he-IL" sz="6600" dirty="0"/>
          </a:p>
        </p:txBody>
      </p:sp>
    </p:spTree>
    <p:extLst>
      <p:ext uri="{BB962C8B-B14F-4D97-AF65-F5344CB8AC3E}">
        <p14:creationId xmlns:p14="http://schemas.microsoft.com/office/powerpoint/2010/main" val="299542098"/>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5433646" y="642594"/>
            <a:ext cx="5691554" cy="1371600"/>
          </a:xfrm>
        </p:spPr>
        <p:txBody>
          <a:bodyPr/>
          <a:lstStyle/>
          <a:p>
            <a:r>
              <a:rPr lang="he-IL" dirty="0"/>
              <a:t>מהו </a:t>
            </a:r>
            <a:r>
              <a:rPr lang="en-US" dirty="0"/>
              <a:t>Session Token</a:t>
            </a:r>
            <a:r>
              <a:rPr lang="he-IL" dirty="0"/>
              <a:t>?</a:t>
            </a:r>
          </a:p>
        </p:txBody>
      </p:sp>
      <p:sp>
        <p:nvSpPr>
          <p:cNvPr id="3" name="מציין מיקום תוכן 2"/>
          <p:cNvSpPr>
            <a:spLocks noGrp="1"/>
          </p:cNvSpPr>
          <p:nvPr>
            <p:ph idx="1"/>
          </p:nvPr>
        </p:nvSpPr>
        <p:spPr/>
        <p:txBody>
          <a:bodyPr/>
          <a:lstStyle/>
          <a:p>
            <a:r>
              <a:rPr lang="en-US" b="1" dirty="0"/>
              <a:t> Session Token</a:t>
            </a:r>
            <a:r>
              <a:rPr lang="he-IL" dirty="0"/>
              <a:t>אסימון חיבור הוא מחרוזת ייחודית המשמשת לזיהוי משתמש במהלך </a:t>
            </a:r>
            <a:r>
              <a:rPr lang="he-IL" dirty="0" err="1"/>
              <a:t>סשן</a:t>
            </a:r>
            <a:r>
              <a:rPr lang="he-IL" dirty="0"/>
              <a:t> (מושב) עבודה מסוים מול מערכת או אתר.</a:t>
            </a:r>
            <a:br>
              <a:rPr lang="he-IL" dirty="0"/>
            </a:br>
            <a:r>
              <a:rPr lang="he-IL" dirty="0"/>
              <a:t>אסימונים אלו נוצרים על ידי השרת ונשלחים ללקוח (למשל דפדפן) לאחר הזדהות מוצלחת. הם מונעים מהמשתמש להזדהות מחדש על כל פעולה במהלך </a:t>
            </a:r>
            <a:r>
              <a:rPr lang="he-IL" dirty="0" err="1"/>
              <a:t>הסשן</a:t>
            </a:r>
            <a:r>
              <a:rPr lang="he-IL" dirty="0"/>
              <a:t>.</a:t>
            </a:r>
          </a:p>
          <a:p>
            <a:r>
              <a:rPr lang="he-IL" dirty="0"/>
              <a:t>שימושים נפוצים:</a:t>
            </a:r>
          </a:p>
          <a:p>
            <a:r>
              <a:rPr lang="he-IL" dirty="0"/>
              <a:t>1. </a:t>
            </a:r>
            <a:r>
              <a:rPr lang="he-IL" b="1" dirty="0"/>
              <a:t>אימות משתמשים</a:t>
            </a:r>
            <a:r>
              <a:rPr lang="en-US" b="1" dirty="0"/>
              <a:t> :Authentication</a:t>
            </a:r>
            <a:r>
              <a:rPr lang="en-US" dirty="0"/>
              <a:t> </a:t>
            </a:r>
            <a:r>
              <a:rPr lang="he-IL" dirty="0"/>
              <a:t>האסימון מוכיח שהמשתמש הזדהה בהצלחה.</a:t>
            </a:r>
          </a:p>
          <a:p>
            <a:r>
              <a:rPr lang="he-IL" dirty="0"/>
              <a:t>2. </a:t>
            </a:r>
            <a:r>
              <a:rPr lang="he-IL" b="1" dirty="0"/>
              <a:t>ניהול </a:t>
            </a:r>
            <a:r>
              <a:rPr lang="he-IL" b="1" dirty="0" err="1"/>
              <a:t>סשן</a:t>
            </a:r>
            <a:r>
              <a:rPr lang="he-IL" b="1" dirty="0"/>
              <a:t>:</a:t>
            </a:r>
            <a:r>
              <a:rPr lang="he-IL" dirty="0"/>
              <a:t> שמירת סטטוס פעיל של המשתמש.</a:t>
            </a:r>
          </a:p>
          <a:p>
            <a:r>
              <a:rPr lang="he-IL" dirty="0"/>
              <a:t>3. </a:t>
            </a:r>
            <a:r>
              <a:rPr lang="he-IL" b="1" dirty="0"/>
              <a:t>מניעת </a:t>
            </a:r>
            <a:r>
              <a:rPr lang="en-US" b="1" dirty="0"/>
              <a:t>:CSRF (Cross-Site Request Forgery)</a:t>
            </a:r>
            <a:r>
              <a:rPr lang="he-IL" dirty="0"/>
              <a:t> שימוש בטוקן ייחודי שמונע תקיפות.</a:t>
            </a:r>
          </a:p>
          <a:p>
            <a:endParaRPr lang="he-IL" dirty="0"/>
          </a:p>
        </p:txBody>
      </p:sp>
    </p:spTree>
    <p:extLst>
      <p:ext uri="{BB962C8B-B14F-4D97-AF65-F5344CB8AC3E}">
        <p14:creationId xmlns:p14="http://schemas.microsoft.com/office/powerpoint/2010/main" val="1137164338"/>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1301262" y="642594"/>
            <a:ext cx="9823938" cy="1371600"/>
          </a:xfrm>
        </p:spPr>
        <p:txBody>
          <a:bodyPr/>
          <a:lstStyle/>
          <a:p>
            <a:r>
              <a:rPr lang="he-IL" dirty="0"/>
              <a:t>מאפיינים חשובים של </a:t>
            </a:r>
            <a:r>
              <a:rPr lang="en-US" dirty="0"/>
              <a:t>Session Tokens</a:t>
            </a:r>
            <a:r>
              <a:rPr lang="he-IL" dirty="0"/>
              <a:t>:</a:t>
            </a:r>
          </a:p>
        </p:txBody>
      </p:sp>
      <p:sp>
        <p:nvSpPr>
          <p:cNvPr id="3" name="מציין מיקום תוכן 2"/>
          <p:cNvSpPr>
            <a:spLocks noGrp="1"/>
          </p:cNvSpPr>
          <p:nvPr>
            <p:ph idx="1"/>
          </p:nvPr>
        </p:nvSpPr>
        <p:spPr/>
        <p:txBody>
          <a:bodyPr/>
          <a:lstStyle/>
          <a:p>
            <a:r>
              <a:rPr lang="he-IL" dirty="0"/>
              <a:t>1. </a:t>
            </a:r>
            <a:r>
              <a:rPr lang="he-IL" b="1" dirty="0"/>
              <a:t>ייחודיות:</a:t>
            </a:r>
            <a:r>
              <a:rPr lang="he-IL" dirty="0"/>
              <a:t> לכל </a:t>
            </a:r>
            <a:r>
              <a:rPr lang="he-IL" dirty="0" err="1"/>
              <a:t>סשן</a:t>
            </a:r>
            <a:r>
              <a:rPr lang="he-IL" dirty="0"/>
              <a:t> משתמש מוקצה טוקן ייחודי.</a:t>
            </a:r>
          </a:p>
          <a:p>
            <a:endParaRPr lang="he-IL" dirty="0"/>
          </a:p>
          <a:p>
            <a:r>
              <a:rPr lang="he-IL" dirty="0"/>
              <a:t>2. </a:t>
            </a:r>
            <a:r>
              <a:rPr lang="he-IL" b="1" dirty="0"/>
              <a:t>זמן תפוגה:</a:t>
            </a:r>
            <a:r>
              <a:rPr lang="he-IL" dirty="0"/>
              <a:t> טוקנים יכולים להיות מוגדרים לתקופה מסוימת כדי למנוע שימוש ממושך מדי.</a:t>
            </a:r>
          </a:p>
          <a:p>
            <a:endParaRPr lang="he-IL" dirty="0"/>
          </a:p>
          <a:p>
            <a:r>
              <a:rPr lang="he-IL" dirty="0"/>
              <a:t>3. </a:t>
            </a:r>
            <a:r>
              <a:rPr lang="he-IL" b="1" dirty="0"/>
              <a:t>אחסון מאובטח:</a:t>
            </a:r>
            <a:r>
              <a:rPr lang="he-IL" dirty="0"/>
              <a:t> שמירת הטוקן בלקוח </a:t>
            </a:r>
            <a:r>
              <a:rPr lang="en-US" dirty="0"/>
              <a:t> Cookies</a:t>
            </a:r>
            <a:r>
              <a:rPr lang="he-IL" dirty="0"/>
              <a:t>או </a:t>
            </a:r>
            <a:r>
              <a:rPr lang="en-US" dirty="0"/>
              <a:t> Local Storage</a:t>
            </a:r>
            <a:r>
              <a:rPr lang="he-IL" dirty="0"/>
              <a:t>צריכה להיות מאובטחת.</a:t>
            </a:r>
          </a:p>
          <a:p>
            <a:endParaRPr lang="he-IL" dirty="0"/>
          </a:p>
        </p:txBody>
      </p:sp>
    </p:spTree>
    <p:extLst>
      <p:ext uri="{BB962C8B-B14F-4D97-AF65-F5344CB8AC3E}">
        <p14:creationId xmlns:p14="http://schemas.microsoft.com/office/powerpoint/2010/main" val="2526193823"/>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4633546" y="642594"/>
            <a:ext cx="6491654" cy="1371600"/>
          </a:xfrm>
        </p:spPr>
        <p:txBody>
          <a:bodyPr/>
          <a:lstStyle/>
          <a:p>
            <a:r>
              <a:rPr lang="he-IL" dirty="0"/>
              <a:t>איומים עיקריים ופתרונות:</a:t>
            </a:r>
          </a:p>
        </p:txBody>
      </p:sp>
      <p:sp>
        <p:nvSpPr>
          <p:cNvPr id="3" name="מציין מיקום תוכן 2"/>
          <p:cNvSpPr>
            <a:spLocks noGrp="1"/>
          </p:cNvSpPr>
          <p:nvPr>
            <p:ph idx="1"/>
          </p:nvPr>
        </p:nvSpPr>
        <p:spPr/>
        <p:txBody>
          <a:bodyPr/>
          <a:lstStyle/>
          <a:p>
            <a:r>
              <a:rPr lang="he-IL" dirty="0"/>
              <a:t>1. </a:t>
            </a:r>
            <a:r>
              <a:rPr lang="en-US" b="1" dirty="0"/>
              <a:t>Session Hijacking</a:t>
            </a:r>
            <a:r>
              <a:rPr lang="he-IL" b="1" dirty="0"/>
              <a:t>:</a:t>
            </a:r>
            <a:endParaRPr lang="en-US" dirty="0"/>
          </a:p>
          <a:p>
            <a:r>
              <a:rPr lang="he-IL" b="1" dirty="0"/>
              <a:t>איום:</a:t>
            </a:r>
            <a:r>
              <a:rPr lang="he-IL" dirty="0"/>
              <a:t> גניבת הטוקן ושימוש בו על ידי תוקף.</a:t>
            </a:r>
          </a:p>
          <a:p>
            <a:r>
              <a:rPr lang="he-IL" b="1" dirty="0"/>
              <a:t>פתרון:</a:t>
            </a:r>
            <a:r>
              <a:rPr lang="he-IL" dirty="0"/>
              <a:t> שימוש ב-</a:t>
            </a:r>
            <a:r>
              <a:rPr lang="en-US" dirty="0"/>
              <a:t>HTTPS </a:t>
            </a:r>
            <a:r>
              <a:rPr lang="he-IL" dirty="0"/>
              <a:t> הגדרת </a:t>
            </a:r>
            <a:r>
              <a:rPr lang="en-US" dirty="0" err="1"/>
              <a:t>HttpOnly</a:t>
            </a:r>
            <a:r>
              <a:rPr lang="en-US" dirty="0"/>
              <a:t> cookies</a:t>
            </a:r>
            <a:endParaRPr lang="he-IL" dirty="0"/>
          </a:p>
          <a:p>
            <a:r>
              <a:rPr lang="he-IL" dirty="0"/>
              <a:t>2. </a:t>
            </a:r>
            <a:r>
              <a:rPr lang="en-US" b="1" dirty="0"/>
              <a:t>Session Fixation</a:t>
            </a:r>
            <a:r>
              <a:rPr lang="he-IL" b="1" dirty="0"/>
              <a:t>:</a:t>
            </a:r>
            <a:endParaRPr lang="en-US" dirty="0"/>
          </a:p>
          <a:p>
            <a:r>
              <a:rPr lang="he-IL" b="1" dirty="0"/>
              <a:t>איום:</a:t>
            </a:r>
            <a:r>
              <a:rPr lang="he-IL" dirty="0"/>
              <a:t> התוקף מאלץ משתמש להשתמש בטוקן ידוע מראש.</a:t>
            </a:r>
          </a:p>
          <a:p>
            <a:r>
              <a:rPr lang="he-IL" b="1" dirty="0"/>
              <a:t>פתרון:</a:t>
            </a:r>
            <a:r>
              <a:rPr lang="he-IL" dirty="0"/>
              <a:t> יצירת טוקן חדש לאחר הזדהות.</a:t>
            </a:r>
          </a:p>
          <a:p>
            <a:r>
              <a:rPr lang="he-IL" dirty="0"/>
              <a:t>3. </a:t>
            </a:r>
            <a:r>
              <a:rPr lang="en-US" b="1" dirty="0"/>
              <a:t>Cross-Site Scripting (XSS) </a:t>
            </a:r>
            <a:r>
              <a:rPr lang="he-IL" b="1" dirty="0"/>
              <a:t>:</a:t>
            </a:r>
          </a:p>
          <a:p>
            <a:r>
              <a:rPr lang="he-IL" b="1" dirty="0"/>
              <a:t>איום:</a:t>
            </a:r>
            <a:r>
              <a:rPr lang="he-IL" dirty="0"/>
              <a:t> תוקף משיג גישה לטוקן דרך סקריפט זדוני.</a:t>
            </a:r>
          </a:p>
          <a:p>
            <a:r>
              <a:rPr lang="he-IL" b="1" dirty="0"/>
              <a:t>פתרון:</a:t>
            </a:r>
            <a:r>
              <a:rPr lang="he-IL" dirty="0"/>
              <a:t> אימות קלט המשתמש</a:t>
            </a:r>
            <a:endParaRPr lang="en-US" dirty="0"/>
          </a:p>
        </p:txBody>
      </p:sp>
    </p:spTree>
    <p:extLst>
      <p:ext uri="{BB962C8B-B14F-4D97-AF65-F5344CB8AC3E}">
        <p14:creationId xmlns:p14="http://schemas.microsoft.com/office/powerpoint/2010/main" val="3252221535"/>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2338754" y="642594"/>
            <a:ext cx="8786446" cy="1371600"/>
          </a:xfrm>
        </p:spPr>
        <p:txBody>
          <a:bodyPr/>
          <a:lstStyle/>
          <a:p>
            <a:r>
              <a:rPr lang="he-IL" dirty="0"/>
              <a:t>המחזור החיים של </a:t>
            </a:r>
            <a:r>
              <a:rPr lang="en-US" dirty="0"/>
              <a:t>Session Token</a:t>
            </a:r>
            <a:endParaRPr lang="he-IL" dirty="0"/>
          </a:p>
        </p:txBody>
      </p:sp>
      <p:sp>
        <p:nvSpPr>
          <p:cNvPr id="3" name="מציין מיקום תוכן 2"/>
          <p:cNvSpPr>
            <a:spLocks noGrp="1"/>
          </p:cNvSpPr>
          <p:nvPr>
            <p:ph idx="1"/>
          </p:nvPr>
        </p:nvSpPr>
        <p:spPr/>
        <p:txBody>
          <a:bodyPr>
            <a:normAutofit lnSpcReduction="10000"/>
          </a:bodyPr>
          <a:lstStyle/>
          <a:p>
            <a:r>
              <a:rPr lang="he-IL" dirty="0"/>
              <a:t>שלבים:</a:t>
            </a:r>
          </a:p>
          <a:p>
            <a:r>
              <a:rPr lang="he-IL" dirty="0"/>
              <a:t>1. </a:t>
            </a:r>
            <a:r>
              <a:rPr lang="he-IL" b="1" dirty="0"/>
              <a:t>יצירת הטוקן:</a:t>
            </a:r>
            <a:endParaRPr lang="he-IL" dirty="0"/>
          </a:p>
          <a:p>
            <a:r>
              <a:rPr lang="he-IL" dirty="0"/>
              <a:t>השרת יוצר טוקן ייחודי בעת ההתחברות הראשונית של המשתמש.</a:t>
            </a:r>
          </a:p>
          <a:p>
            <a:r>
              <a:rPr lang="he-IL" dirty="0"/>
              <a:t>בדרך כלל, טוקן זה מכיל מזהה ייחודי </a:t>
            </a:r>
            <a:r>
              <a:rPr lang="en-US" dirty="0"/>
              <a:t>UUID</a:t>
            </a:r>
            <a:r>
              <a:rPr lang="he-IL" dirty="0"/>
              <a:t> ולעיתים נתונים נוספים (כגון </a:t>
            </a:r>
            <a:r>
              <a:rPr lang="en-US" dirty="0"/>
              <a:t>timestamp</a:t>
            </a:r>
            <a:r>
              <a:rPr lang="he-IL" dirty="0"/>
              <a:t> מזהה משתמש).</a:t>
            </a:r>
          </a:p>
          <a:p>
            <a:r>
              <a:rPr lang="he-IL" dirty="0"/>
              <a:t>2. </a:t>
            </a:r>
            <a:r>
              <a:rPr lang="he-IL" b="1" dirty="0"/>
              <a:t>הפצת הטוקן:</a:t>
            </a:r>
            <a:endParaRPr lang="he-IL" dirty="0"/>
          </a:p>
          <a:p>
            <a:r>
              <a:rPr lang="he-IL" dirty="0"/>
              <a:t>הטוקן נשלח ללקוח (לדוגמה, דפדפן) ונשמר בצד הלקוח.</a:t>
            </a:r>
          </a:p>
          <a:p>
            <a:r>
              <a:rPr lang="he-IL" dirty="0"/>
              <a:t>דרכים נפוצות לאחסון:</a:t>
            </a:r>
          </a:p>
          <a:p>
            <a:pPr lvl="1"/>
            <a:r>
              <a:rPr lang="en-US" b="1" dirty="0"/>
              <a:t> :Cookie</a:t>
            </a:r>
            <a:r>
              <a:rPr lang="he-IL" dirty="0"/>
              <a:t>פתרון נפוץ ומאובטח אם מוגדרים הדגלים </a:t>
            </a:r>
            <a:r>
              <a:rPr lang="en-US" dirty="0"/>
              <a:t> </a:t>
            </a:r>
            <a:r>
              <a:rPr lang="en-US" dirty="0" err="1"/>
              <a:t>HttpOnly</a:t>
            </a:r>
            <a:r>
              <a:rPr lang="en-US" dirty="0"/>
              <a:t> </a:t>
            </a:r>
            <a:r>
              <a:rPr lang="he-IL" dirty="0"/>
              <a:t>ו-</a:t>
            </a:r>
            <a:r>
              <a:rPr lang="en-US" dirty="0"/>
              <a:t>Secure </a:t>
            </a:r>
            <a:r>
              <a:rPr lang="he-IL" dirty="0"/>
              <a:t>.</a:t>
            </a:r>
            <a:endParaRPr lang="en-US" dirty="0"/>
          </a:p>
          <a:p>
            <a:pPr lvl="1"/>
            <a:r>
              <a:rPr lang="en-US" b="1" dirty="0"/>
              <a:t> :</a:t>
            </a:r>
            <a:r>
              <a:rPr lang="en-US" b="1" dirty="0" err="1"/>
              <a:t>LocalStorage</a:t>
            </a:r>
            <a:r>
              <a:rPr lang="en-US" b="1" dirty="0"/>
              <a:t>/</a:t>
            </a:r>
            <a:r>
              <a:rPr lang="en-US" b="1" dirty="0" err="1"/>
              <a:t>SessionStorage</a:t>
            </a:r>
            <a:r>
              <a:rPr lang="he-IL" dirty="0"/>
              <a:t>יותר גמיש, אך פגיע ל-</a:t>
            </a:r>
            <a:r>
              <a:rPr lang="en-US" dirty="0"/>
              <a:t> XSS </a:t>
            </a:r>
            <a:r>
              <a:rPr lang="he-IL" dirty="0"/>
              <a:t>אם יש חולשות בקוד.</a:t>
            </a:r>
          </a:p>
          <a:p>
            <a:r>
              <a:rPr lang="he-IL" dirty="0"/>
              <a:t>3. </a:t>
            </a:r>
            <a:r>
              <a:rPr lang="he-IL" b="1" dirty="0"/>
              <a:t>שימוש בטוקן:</a:t>
            </a:r>
            <a:endParaRPr lang="he-IL" dirty="0"/>
          </a:p>
          <a:p>
            <a:r>
              <a:rPr lang="he-IL" dirty="0"/>
              <a:t>בכל בקשה לשרת (כגון קריאת </a:t>
            </a:r>
            <a:r>
              <a:rPr lang="en-US" dirty="0"/>
              <a:t>API), </a:t>
            </a:r>
            <a:r>
              <a:rPr lang="he-IL" dirty="0"/>
              <a:t>הלקוח שולח את הטוקן לזיהוי ואימות.</a:t>
            </a:r>
          </a:p>
          <a:p>
            <a:endParaRPr lang="he-IL" dirty="0"/>
          </a:p>
          <a:p>
            <a:pPr marL="0" indent="0">
              <a:buNone/>
            </a:pPr>
            <a:endParaRPr lang="he-IL" dirty="0"/>
          </a:p>
          <a:p>
            <a:endParaRPr lang="he-IL" dirty="0"/>
          </a:p>
        </p:txBody>
      </p:sp>
    </p:spTree>
    <p:extLst>
      <p:ext uri="{BB962C8B-B14F-4D97-AF65-F5344CB8AC3E}">
        <p14:creationId xmlns:p14="http://schemas.microsoft.com/office/powerpoint/2010/main" val="1109815447"/>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1433146" y="642594"/>
            <a:ext cx="9692054" cy="1371600"/>
          </a:xfrm>
        </p:spPr>
        <p:txBody>
          <a:bodyPr>
            <a:normAutofit fontScale="90000"/>
          </a:bodyPr>
          <a:lstStyle/>
          <a:p>
            <a:r>
              <a:rPr lang="he-IL" dirty="0"/>
              <a:t>המשך - המחזור החיים של </a:t>
            </a:r>
            <a:r>
              <a:rPr lang="en-US" dirty="0"/>
              <a:t>Session Token</a:t>
            </a:r>
            <a:endParaRPr lang="he-IL" dirty="0"/>
          </a:p>
        </p:txBody>
      </p:sp>
      <p:sp>
        <p:nvSpPr>
          <p:cNvPr id="3" name="מציין מיקום תוכן 2"/>
          <p:cNvSpPr>
            <a:spLocks noGrp="1"/>
          </p:cNvSpPr>
          <p:nvPr>
            <p:ph idx="1"/>
          </p:nvPr>
        </p:nvSpPr>
        <p:spPr/>
        <p:txBody>
          <a:bodyPr/>
          <a:lstStyle/>
          <a:p>
            <a:r>
              <a:rPr lang="he-IL" dirty="0"/>
              <a:t>4. </a:t>
            </a:r>
            <a:r>
              <a:rPr lang="he-IL" b="1" dirty="0"/>
              <a:t>תפוגת הטוקן:</a:t>
            </a:r>
            <a:endParaRPr lang="he-IL" dirty="0"/>
          </a:p>
          <a:p>
            <a:r>
              <a:rPr lang="he-IL" dirty="0"/>
              <a:t>הטוקן מוגדר לפוג לאחר זמן מסוים כדי למנוע שימוש ממושך (לדוגמה, 30 דקות של חוסר פעילות).</a:t>
            </a:r>
          </a:p>
          <a:p>
            <a:endParaRPr lang="he-IL" dirty="0"/>
          </a:p>
          <a:p>
            <a:r>
              <a:rPr lang="he-IL" dirty="0"/>
              <a:t>5. </a:t>
            </a:r>
            <a:r>
              <a:rPr lang="he-IL" b="1" dirty="0"/>
              <a:t>חידוש הטוקן </a:t>
            </a:r>
            <a:r>
              <a:rPr lang="en-US" b="1" dirty="0"/>
              <a:t>Token Refresh</a:t>
            </a:r>
            <a:r>
              <a:rPr lang="he-IL" b="1" dirty="0"/>
              <a:t>:</a:t>
            </a:r>
            <a:endParaRPr lang="en-US" dirty="0"/>
          </a:p>
          <a:p>
            <a:r>
              <a:rPr lang="he-IL" dirty="0"/>
              <a:t>במערכות מסוימות משתמשים בטוקן זמני </a:t>
            </a:r>
            <a:r>
              <a:rPr lang="en-US" dirty="0"/>
              <a:t> Access Token</a:t>
            </a:r>
            <a:r>
              <a:rPr lang="he-IL" dirty="0"/>
              <a:t>ובטוקן </a:t>
            </a:r>
            <a:r>
              <a:rPr lang="he-IL" dirty="0" err="1"/>
              <a:t>רענון</a:t>
            </a:r>
            <a:r>
              <a:rPr lang="he-IL" dirty="0"/>
              <a:t> </a:t>
            </a:r>
            <a:r>
              <a:rPr lang="en-US" dirty="0"/>
              <a:t>Refresh Token</a:t>
            </a:r>
          </a:p>
          <a:p>
            <a:r>
              <a:rPr lang="he-IL" dirty="0"/>
              <a:t>ה-</a:t>
            </a:r>
            <a:r>
              <a:rPr lang="en-US" dirty="0"/>
              <a:t> Refresh Token </a:t>
            </a:r>
            <a:r>
              <a:rPr lang="he-IL" dirty="0"/>
              <a:t>מאפשר יצירת טוקן חדש מבלי לדרוש מהמשתמש להזדהות מחדש.</a:t>
            </a:r>
          </a:p>
          <a:p>
            <a:endParaRPr lang="he-IL" dirty="0"/>
          </a:p>
          <a:p>
            <a:endParaRPr lang="he-IL" dirty="0"/>
          </a:p>
        </p:txBody>
      </p:sp>
    </p:spTree>
    <p:extLst>
      <p:ext uri="{BB962C8B-B14F-4D97-AF65-F5344CB8AC3E}">
        <p14:creationId xmlns:p14="http://schemas.microsoft.com/office/powerpoint/2010/main" val="2268708897"/>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4255476" y="642594"/>
            <a:ext cx="6869723" cy="1371600"/>
          </a:xfrm>
        </p:spPr>
        <p:txBody>
          <a:bodyPr/>
          <a:lstStyle/>
          <a:p>
            <a:r>
              <a:rPr lang="he-IL" dirty="0"/>
              <a:t>שיטות לאימות תקינות טוקן</a:t>
            </a:r>
          </a:p>
        </p:txBody>
      </p:sp>
      <p:sp>
        <p:nvSpPr>
          <p:cNvPr id="3" name="מציין מיקום תוכן 2"/>
          <p:cNvSpPr>
            <a:spLocks noGrp="1"/>
          </p:cNvSpPr>
          <p:nvPr>
            <p:ph idx="1"/>
          </p:nvPr>
        </p:nvSpPr>
        <p:spPr/>
        <p:txBody>
          <a:bodyPr/>
          <a:lstStyle/>
          <a:p>
            <a:r>
              <a:rPr lang="he-IL" dirty="0"/>
              <a:t>חתימות דיגיטליות:</a:t>
            </a:r>
          </a:p>
          <a:p>
            <a:r>
              <a:rPr lang="he-IL" dirty="0"/>
              <a:t>ב-</a:t>
            </a:r>
            <a:r>
              <a:rPr lang="en-US" dirty="0"/>
              <a:t>JWT </a:t>
            </a:r>
            <a:r>
              <a:rPr lang="he-IL" dirty="0"/>
              <a:t>החתימה הדיגיטלית </a:t>
            </a:r>
            <a:r>
              <a:rPr lang="en-US" dirty="0"/>
              <a:t>Signature</a:t>
            </a:r>
            <a:r>
              <a:rPr lang="he-IL" dirty="0"/>
              <a:t> מוודאת שהטוקן לא שונה מאז שנוצר.</a:t>
            </a:r>
          </a:p>
          <a:p>
            <a:r>
              <a:rPr lang="he-IL" dirty="0"/>
              <a:t>סוגי חתימות נפוצים:</a:t>
            </a:r>
          </a:p>
          <a:p>
            <a:r>
              <a:rPr lang="en-US" b="1" dirty="0"/>
              <a:t>HMAC</a:t>
            </a:r>
            <a:r>
              <a:rPr lang="en-US" dirty="0"/>
              <a:t> (Shared Key)</a:t>
            </a:r>
            <a:r>
              <a:rPr lang="he-IL" dirty="0"/>
              <a:t>: השרת חותם ומאמת בעזרת מפתח סודי.</a:t>
            </a:r>
          </a:p>
          <a:p>
            <a:endParaRPr lang="he-IL" dirty="0"/>
          </a:p>
          <a:p>
            <a:r>
              <a:rPr lang="en-US" b="1" dirty="0"/>
              <a:t>RSA</a:t>
            </a:r>
            <a:r>
              <a:rPr lang="en-US" dirty="0"/>
              <a:t> (Public/Private Key)</a:t>
            </a:r>
            <a:r>
              <a:rPr lang="he-IL" dirty="0"/>
              <a:t>: חתימה באמצעות מפתח פרטי, ואימות באמצעות מפתח ציבורי.</a:t>
            </a:r>
          </a:p>
        </p:txBody>
      </p:sp>
    </p:spTree>
    <p:extLst>
      <p:ext uri="{BB962C8B-B14F-4D97-AF65-F5344CB8AC3E}">
        <p14:creationId xmlns:p14="http://schemas.microsoft.com/office/powerpoint/2010/main" val="514317464"/>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1969476" y="642594"/>
            <a:ext cx="9155723" cy="1371600"/>
          </a:xfrm>
        </p:spPr>
        <p:txBody>
          <a:bodyPr>
            <a:normAutofit fontScale="90000"/>
          </a:bodyPr>
          <a:lstStyle/>
          <a:p>
            <a:r>
              <a:rPr lang="en-US" dirty="0"/>
              <a:t> Best Practices </a:t>
            </a:r>
            <a:r>
              <a:rPr lang="he-IL" dirty="0"/>
              <a:t>לניהול טוקנים מאובטח</a:t>
            </a:r>
          </a:p>
        </p:txBody>
      </p:sp>
      <p:sp>
        <p:nvSpPr>
          <p:cNvPr id="3" name="מציין מיקום תוכן 2"/>
          <p:cNvSpPr>
            <a:spLocks noGrp="1"/>
          </p:cNvSpPr>
          <p:nvPr>
            <p:ph idx="1"/>
          </p:nvPr>
        </p:nvSpPr>
        <p:spPr/>
        <p:txBody>
          <a:bodyPr>
            <a:normAutofit lnSpcReduction="10000"/>
          </a:bodyPr>
          <a:lstStyle/>
          <a:p>
            <a:r>
              <a:rPr lang="he-IL" sz="2400" b="1" u="sng" dirty="0"/>
              <a:t>אבטחת הטוקן בצד הלקוח:</a:t>
            </a:r>
            <a:endParaRPr lang="en-US" sz="2400" b="1" u="sng" dirty="0"/>
          </a:p>
          <a:p>
            <a:r>
              <a:rPr lang="he-IL" dirty="0"/>
              <a:t>1. </a:t>
            </a:r>
            <a:r>
              <a:rPr lang="en-US" dirty="0"/>
              <a:t> :</a:t>
            </a:r>
            <a:r>
              <a:rPr lang="en-US" b="1" dirty="0" err="1"/>
              <a:t>HttpOnly</a:t>
            </a:r>
            <a:r>
              <a:rPr lang="en-US" b="1" dirty="0"/>
              <a:t> Cookies</a:t>
            </a:r>
            <a:r>
              <a:rPr lang="he-IL" dirty="0"/>
              <a:t>מונעים גישה לטוקן על ידי סקריפטים זדוניים.</a:t>
            </a:r>
          </a:p>
          <a:p>
            <a:r>
              <a:rPr lang="he-IL" dirty="0"/>
              <a:t>2. </a:t>
            </a:r>
            <a:r>
              <a:rPr lang="en-US" dirty="0"/>
              <a:t> :</a:t>
            </a:r>
            <a:r>
              <a:rPr lang="en-US" b="1" dirty="0"/>
              <a:t>Secure Cookies</a:t>
            </a:r>
            <a:r>
              <a:rPr lang="he-IL" dirty="0"/>
              <a:t>מאפשרים העברת טוקן רק בחיבורי </a:t>
            </a:r>
            <a:r>
              <a:rPr lang="en-US" dirty="0"/>
              <a:t>HTTPS</a:t>
            </a:r>
            <a:endParaRPr lang="he-IL" dirty="0"/>
          </a:p>
          <a:p>
            <a:r>
              <a:rPr lang="he-IL" dirty="0"/>
              <a:t>3. </a:t>
            </a:r>
            <a:r>
              <a:rPr lang="en-US" dirty="0"/>
              <a:t> :</a:t>
            </a:r>
            <a:r>
              <a:rPr lang="en-US" b="1" dirty="0"/>
              <a:t>CORS Policy</a:t>
            </a:r>
            <a:r>
              <a:rPr lang="he-IL" dirty="0"/>
              <a:t>הגדרות קפדניות למניעת שימוש זדוני בטוקן מבקשות בין </a:t>
            </a:r>
            <a:r>
              <a:rPr lang="he-IL" dirty="0" err="1"/>
              <a:t>דומיינים</a:t>
            </a:r>
            <a:r>
              <a:rPr lang="he-IL" dirty="0"/>
              <a:t>.</a:t>
            </a:r>
          </a:p>
          <a:p>
            <a:r>
              <a:rPr lang="he-IL" sz="2400" b="1" u="sng" dirty="0"/>
              <a:t>הגנה על תהליך האימות:</a:t>
            </a:r>
            <a:endParaRPr lang="en-US" sz="2400" b="1" u="sng" dirty="0"/>
          </a:p>
          <a:p>
            <a:r>
              <a:rPr lang="he-IL" dirty="0"/>
              <a:t>1. </a:t>
            </a:r>
            <a:r>
              <a:rPr lang="en-US" dirty="0"/>
              <a:t> :</a:t>
            </a:r>
            <a:r>
              <a:rPr lang="en-US" b="1" dirty="0"/>
              <a:t>Rate Limiting</a:t>
            </a:r>
            <a:r>
              <a:rPr lang="he-IL" dirty="0"/>
              <a:t>הגבלת מספר הבקשות לשרת בפרק זמן מסוים.</a:t>
            </a:r>
          </a:p>
          <a:p>
            <a:r>
              <a:rPr lang="he-IL" dirty="0"/>
              <a:t>2. </a:t>
            </a:r>
            <a:r>
              <a:rPr lang="en-US" b="1" dirty="0"/>
              <a:t>IP Address Locking</a:t>
            </a:r>
            <a:r>
              <a:rPr lang="he-IL" b="1" dirty="0"/>
              <a:t>: </a:t>
            </a:r>
            <a:r>
              <a:rPr lang="he-IL" dirty="0"/>
              <a:t>הגבלת השימוש בטוקן לכתובת ה-</a:t>
            </a:r>
            <a:r>
              <a:rPr lang="en-US" dirty="0"/>
              <a:t>IP </a:t>
            </a:r>
            <a:r>
              <a:rPr lang="he-IL" dirty="0"/>
              <a:t> שבה נוצר.</a:t>
            </a:r>
          </a:p>
          <a:p>
            <a:r>
              <a:rPr lang="he-IL" sz="2400" b="1" u="sng" dirty="0"/>
              <a:t>עקרונות עיצוב טוקנים:</a:t>
            </a:r>
          </a:p>
          <a:p>
            <a:r>
              <a:rPr lang="he-IL" dirty="0"/>
              <a:t>1. </a:t>
            </a:r>
            <a:r>
              <a:rPr lang="he-IL" b="1" dirty="0"/>
              <a:t>זמן תפוגה קצר: </a:t>
            </a:r>
            <a:r>
              <a:rPr lang="he-IL" dirty="0"/>
              <a:t>מפחית את הנזק במקרה שהטוקן נגנב.</a:t>
            </a:r>
          </a:p>
          <a:p>
            <a:r>
              <a:rPr lang="he-IL" dirty="0"/>
              <a:t>2. </a:t>
            </a:r>
            <a:r>
              <a:rPr lang="en-US" dirty="0"/>
              <a:t> :</a:t>
            </a:r>
            <a:r>
              <a:rPr lang="en-US" b="1" dirty="0"/>
              <a:t>One-Time Tokens</a:t>
            </a:r>
            <a:r>
              <a:rPr lang="he-IL" dirty="0"/>
              <a:t>יצירת טוקנים חד-פעמיים לביצוע פעולות קריטיות (כגון שינוי סיסמה).</a:t>
            </a:r>
          </a:p>
          <a:p>
            <a:endParaRPr lang="he-IL" dirty="0"/>
          </a:p>
          <a:p>
            <a:endParaRPr lang="he-IL" dirty="0"/>
          </a:p>
          <a:p>
            <a:endParaRPr lang="he-IL" dirty="0"/>
          </a:p>
          <a:p>
            <a:endParaRPr lang="he-IL" dirty="0"/>
          </a:p>
          <a:p>
            <a:endParaRPr lang="he-IL" dirty="0"/>
          </a:p>
        </p:txBody>
      </p:sp>
    </p:spTree>
    <p:extLst>
      <p:ext uri="{BB962C8B-B14F-4D97-AF65-F5344CB8AC3E}">
        <p14:creationId xmlns:p14="http://schemas.microsoft.com/office/powerpoint/2010/main" val="3559967723"/>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5266592" y="642594"/>
            <a:ext cx="5858608" cy="1371600"/>
          </a:xfrm>
        </p:spPr>
        <p:txBody>
          <a:bodyPr/>
          <a:lstStyle/>
          <a:p>
            <a:r>
              <a:rPr lang="he-IL" dirty="0"/>
              <a:t>השוואה בין סוגי טוקנים</a:t>
            </a:r>
          </a:p>
        </p:txBody>
      </p:sp>
      <p:pic>
        <p:nvPicPr>
          <p:cNvPr id="4" name="מציין מיקום תוכן 3"/>
          <p:cNvPicPr>
            <a:picLocks noGrp="1" noChangeAspect="1"/>
          </p:cNvPicPr>
          <p:nvPr>
            <p:ph idx="1"/>
          </p:nvPr>
        </p:nvPicPr>
        <p:blipFill>
          <a:blip r:embed="rId2"/>
          <a:stretch>
            <a:fillRect/>
          </a:stretch>
        </p:blipFill>
        <p:spPr>
          <a:xfrm>
            <a:off x="2765486" y="2147598"/>
            <a:ext cx="8207666" cy="2019955"/>
          </a:xfrm>
          <a:prstGeom prst="rect">
            <a:avLst/>
          </a:prstGeom>
        </p:spPr>
      </p:pic>
    </p:spTree>
    <p:extLst>
      <p:ext uri="{BB962C8B-B14F-4D97-AF65-F5344CB8AC3E}">
        <p14:creationId xmlns:p14="http://schemas.microsoft.com/office/powerpoint/2010/main" val="3098071123"/>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3288322" y="642594"/>
            <a:ext cx="7836877" cy="1371600"/>
          </a:xfrm>
        </p:spPr>
        <p:txBody>
          <a:bodyPr/>
          <a:lstStyle/>
          <a:p>
            <a:r>
              <a:rPr lang="he-IL" dirty="0"/>
              <a:t>ניהול נכון של </a:t>
            </a:r>
            <a:r>
              <a:rPr lang="en-US" dirty="0"/>
              <a:t>Session Tokens</a:t>
            </a:r>
            <a:endParaRPr lang="he-IL" dirty="0"/>
          </a:p>
        </p:txBody>
      </p:sp>
      <p:sp>
        <p:nvSpPr>
          <p:cNvPr id="3" name="מציין מיקום תוכן 2"/>
          <p:cNvSpPr>
            <a:spLocks noGrp="1"/>
          </p:cNvSpPr>
          <p:nvPr>
            <p:ph idx="1"/>
          </p:nvPr>
        </p:nvSpPr>
        <p:spPr/>
        <p:txBody>
          <a:bodyPr/>
          <a:lstStyle/>
          <a:p>
            <a:r>
              <a:rPr lang="he-IL" b="1" dirty="0"/>
              <a:t>מדיניות זמנים:</a:t>
            </a:r>
          </a:p>
          <a:p>
            <a:r>
              <a:rPr lang="en-US" b="1" dirty="0" smtClean="0"/>
              <a:t> Access Token</a:t>
            </a:r>
            <a:r>
              <a:rPr lang="he-IL" b="1" dirty="0" smtClean="0"/>
              <a:t>קצר-טווח</a:t>
            </a:r>
            <a:r>
              <a:rPr lang="he-IL" b="1" dirty="0"/>
              <a:t>:</a:t>
            </a:r>
            <a:endParaRPr lang="he-IL" dirty="0"/>
          </a:p>
          <a:p>
            <a:pPr lvl="1"/>
            <a:r>
              <a:rPr lang="he-IL" dirty="0"/>
              <a:t>תפוגה של 15-30 דקות.</a:t>
            </a:r>
          </a:p>
          <a:p>
            <a:pPr lvl="1"/>
            <a:r>
              <a:rPr lang="he-IL" dirty="0"/>
              <a:t>מפחית את ההשפעה של גניבת טוקן.</a:t>
            </a:r>
          </a:p>
          <a:p>
            <a:r>
              <a:rPr lang="en-US" b="1" dirty="0" smtClean="0"/>
              <a:t> Refresh Token</a:t>
            </a:r>
            <a:r>
              <a:rPr lang="he-IL" b="1" dirty="0" smtClean="0"/>
              <a:t>ארוך-טווח</a:t>
            </a:r>
            <a:r>
              <a:rPr lang="he-IL" b="1" dirty="0"/>
              <a:t>:</a:t>
            </a:r>
            <a:endParaRPr lang="he-IL" dirty="0"/>
          </a:p>
          <a:p>
            <a:pPr lvl="1"/>
            <a:r>
              <a:rPr lang="he-IL" dirty="0"/>
              <a:t>תפוגה של ימים או שבועות.</a:t>
            </a:r>
          </a:p>
          <a:p>
            <a:pPr lvl="1"/>
            <a:r>
              <a:rPr lang="he-IL" dirty="0"/>
              <a:t>מאפשר גישה ממושכת עם אפשרות לחידוש</a:t>
            </a:r>
            <a:r>
              <a:rPr lang="he-IL" dirty="0" smtClean="0"/>
              <a:t>.</a:t>
            </a:r>
          </a:p>
          <a:p>
            <a:r>
              <a:rPr lang="he-IL" b="1" dirty="0"/>
              <a:t>אבטחה בצד השרת:</a:t>
            </a:r>
          </a:p>
          <a:p>
            <a:r>
              <a:rPr lang="he-IL" dirty="0"/>
              <a:t>אימות טוקנים על כל בקשה.</a:t>
            </a:r>
          </a:p>
          <a:p>
            <a:r>
              <a:rPr lang="en-US" dirty="0" smtClean="0"/>
              <a:t>Blacklist</a:t>
            </a:r>
            <a:r>
              <a:rPr lang="he-IL" dirty="0" smtClean="0"/>
              <a:t> לטוקנים </a:t>
            </a:r>
            <a:r>
              <a:rPr lang="he-IL" dirty="0"/>
              <a:t>שבוטלו או פגי תוקף.</a:t>
            </a:r>
          </a:p>
          <a:p>
            <a:r>
              <a:rPr lang="he-IL" dirty="0"/>
              <a:t>בדיקת תכונות נוספות כמו </a:t>
            </a:r>
            <a:r>
              <a:rPr lang="he-IL" dirty="0" smtClean="0"/>
              <a:t>כתובת</a:t>
            </a:r>
            <a:r>
              <a:rPr lang="en-US" dirty="0" smtClean="0"/>
              <a:t> IP </a:t>
            </a:r>
            <a:r>
              <a:rPr lang="he-IL" dirty="0"/>
              <a:t>וסוכן המשתמש </a:t>
            </a:r>
            <a:r>
              <a:rPr lang="en-US" dirty="0" smtClean="0"/>
              <a:t>User-Agent</a:t>
            </a:r>
            <a:endParaRPr lang="en-US" dirty="0"/>
          </a:p>
          <a:p>
            <a:pPr lvl="1"/>
            <a:endParaRPr lang="he-IL" dirty="0"/>
          </a:p>
          <a:p>
            <a:endParaRPr lang="he-IL" dirty="0"/>
          </a:p>
        </p:txBody>
      </p:sp>
    </p:spTree>
    <p:extLst>
      <p:ext uri="{BB962C8B-B14F-4D97-AF65-F5344CB8AC3E}">
        <p14:creationId xmlns:p14="http://schemas.microsoft.com/office/powerpoint/2010/main" val="2180305079"/>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4185138" y="642594"/>
            <a:ext cx="6940062" cy="1371600"/>
          </a:xfrm>
        </p:spPr>
        <p:txBody>
          <a:bodyPr/>
          <a:lstStyle/>
          <a:p>
            <a:r>
              <a:rPr lang="he-IL" dirty="0"/>
              <a:t>התקפות נפוצות נגד טוקנים</a:t>
            </a:r>
          </a:p>
        </p:txBody>
      </p:sp>
      <p:sp>
        <p:nvSpPr>
          <p:cNvPr id="3" name="מציין מיקום תוכן 2"/>
          <p:cNvSpPr>
            <a:spLocks noGrp="1"/>
          </p:cNvSpPr>
          <p:nvPr>
            <p:ph idx="1"/>
          </p:nvPr>
        </p:nvSpPr>
        <p:spPr/>
        <p:txBody>
          <a:bodyPr>
            <a:normAutofit fontScale="70000" lnSpcReduction="20000"/>
          </a:bodyPr>
          <a:lstStyle/>
          <a:p>
            <a:r>
              <a:rPr lang="he-IL" dirty="0"/>
              <a:t>א. </a:t>
            </a:r>
            <a:r>
              <a:rPr lang="en-US" dirty="0"/>
              <a:t>Session Hijacking</a:t>
            </a:r>
            <a:r>
              <a:rPr lang="he-IL" dirty="0"/>
              <a:t>:</a:t>
            </a:r>
          </a:p>
          <a:p>
            <a:r>
              <a:rPr lang="he-IL" b="1" dirty="0"/>
              <a:t>תקיפה:</a:t>
            </a:r>
            <a:r>
              <a:rPr lang="he-IL" dirty="0"/>
              <a:t> תוקף גונב טוקן פעיל (לדוגמה, דרך רשת ל</a:t>
            </a:r>
          </a:p>
          <a:p>
            <a:r>
              <a:rPr lang="he-IL" dirty="0"/>
              <a:t>מניעה:</a:t>
            </a:r>
          </a:p>
          <a:p>
            <a:r>
              <a:rPr lang="he-IL" dirty="0"/>
              <a:t>1. שימוש ב-</a:t>
            </a:r>
            <a:r>
              <a:rPr lang="en-US" dirty="0"/>
              <a:t>HTTPS </a:t>
            </a:r>
            <a:endParaRPr lang="he-IL" dirty="0"/>
          </a:p>
          <a:p>
            <a:r>
              <a:rPr lang="he-IL" dirty="0"/>
              <a:t>2. מעקב אחר כתובת ה-</a:t>
            </a:r>
            <a:r>
              <a:rPr lang="en-US" dirty="0"/>
              <a:t>IP </a:t>
            </a:r>
            <a:r>
              <a:rPr lang="he-IL" dirty="0"/>
              <a:t> של המשתמש.</a:t>
            </a:r>
          </a:p>
          <a:p>
            <a:r>
              <a:rPr lang="he-IL" dirty="0"/>
              <a:t>ב. </a:t>
            </a:r>
            <a:r>
              <a:rPr lang="en-US" dirty="0"/>
              <a:t>Cross-Site Scripting (XSS)</a:t>
            </a:r>
            <a:r>
              <a:rPr lang="he-IL" dirty="0"/>
              <a:t>:</a:t>
            </a:r>
          </a:p>
          <a:p>
            <a:r>
              <a:rPr lang="he-IL" b="1" dirty="0"/>
              <a:t>תקיפה:</a:t>
            </a:r>
            <a:r>
              <a:rPr lang="he-IL" dirty="0"/>
              <a:t> תוקף מחדיר סקריפט זדוני לגישה לטוקן מתוך הדפדפן.</a:t>
            </a:r>
          </a:p>
          <a:p>
            <a:r>
              <a:rPr lang="he-IL" dirty="0"/>
              <a:t>מניעה:</a:t>
            </a:r>
          </a:p>
          <a:p>
            <a:r>
              <a:rPr lang="he-IL" dirty="0"/>
              <a:t>1. הפיכת </a:t>
            </a:r>
            <a:r>
              <a:rPr lang="en-US" dirty="0"/>
              <a:t>Cookies</a:t>
            </a:r>
            <a:r>
              <a:rPr lang="he-IL" dirty="0"/>
              <a:t> ל-</a:t>
            </a:r>
            <a:r>
              <a:rPr lang="en-US" dirty="0" err="1"/>
              <a:t>HttpOnly</a:t>
            </a:r>
            <a:r>
              <a:rPr lang="en-US" dirty="0"/>
              <a:t> </a:t>
            </a:r>
            <a:endParaRPr lang="he-IL" dirty="0"/>
          </a:p>
          <a:p>
            <a:r>
              <a:rPr lang="he-IL" dirty="0"/>
              <a:t>ג. </a:t>
            </a:r>
            <a:r>
              <a:rPr lang="en-US" dirty="0"/>
              <a:t>Session Fixation</a:t>
            </a:r>
            <a:r>
              <a:rPr lang="he-IL" dirty="0"/>
              <a:t>:</a:t>
            </a:r>
          </a:p>
          <a:p>
            <a:r>
              <a:rPr lang="he-IL" b="1" dirty="0"/>
              <a:t>תקיפה:</a:t>
            </a:r>
            <a:r>
              <a:rPr lang="he-IL" dirty="0"/>
              <a:t> תוקף מאלץ משתמש להשתמש בטוקן ידוע מראש.</a:t>
            </a:r>
          </a:p>
          <a:p>
            <a:r>
              <a:rPr lang="he-IL" dirty="0"/>
              <a:t>מניעה</a:t>
            </a:r>
          </a:p>
          <a:p>
            <a:r>
              <a:rPr lang="he-IL" dirty="0"/>
              <a:t>1. חלפת טוקן לאחר התחברות.</a:t>
            </a:r>
          </a:p>
          <a:p>
            <a:r>
              <a:rPr lang="he-IL" dirty="0"/>
              <a:t>2. אימות מידע נוסף כמו </a:t>
            </a:r>
            <a:r>
              <a:rPr lang="en-US" dirty="0"/>
              <a:t>session ID </a:t>
            </a:r>
            <a:r>
              <a:rPr lang="he-IL" dirty="0"/>
              <a:t>יחד עם הטוקן.</a:t>
            </a:r>
          </a:p>
        </p:txBody>
      </p:sp>
    </p:spTree>
    <p:extLst>
      <p:ext uri="{BB962C8B-B14F-4D97-AF65-F5344CB8AC3E}">
        <p14:creationId xmlns:p14="http://schemas.microsoft.com/office/powerpoint/2010/main" val="2735719753"/>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3613637" y="-87168"/>
            <a:ext cx="7599485" cy="1371600"/>
          </a:xfrm>
        </p:spPr>
        <p:txBody>
          <a:bodyPr/>
          <a:lstStyle/>
          <a:p>
            <a:r>
              <a:rPr lang="he-IL" dirty="0"/>
              <a:t>מתקפות מתקדמות על טוקנים</a:t>
            </a:r>
          </a:p>
        </p:txBody>
      </p:sp>
      <p:sp>
        <p:nvSpPr>
          <p:cNvPr id="3" name="מציין מיקום תוכן 2"/>
          <p:cNvSpPr>
            <a:spLocks noGrp="1"/>
          </p:cNvSpPr>
          <p:nvPr>
            <p:ph idx="1"/>
          </p:nvPr>
        </p:nvSpPr>
        <p:spPr>
          <a:xfrm>
            <a:off x="1049216" y="1092003"/>
            <a:ext cx="10058400" cy="5405511"/>
          </a:xfrm>
        </p:spPr>
        <p:txBody>
          <a:bodyPr>
            <a:normAutofit fontScale="92500" lnSpcReduction="10000"/>
          </a:bodyPr>
          <a:lstStyle/>
          <a:p>
            <a:r>
              <a:rPr lang="he-IL" dirty="0" smtClean="0"/>
              <a:t>א. </a:t>
            </a:r>
            <a:r>
              <a:rPr lang="en-US" dirty="0" smtClean="0"/>
              <a:t> </a:t>
            </a:r>
            <a:r>
              <a:rPr lang="en-US" b="1" dirty="0" smtClean="0"/>
              <a:t>Replay Attacks</a:t>
            </a:r>
            <a:r>
              <a:rPr lang="he-IL" b="1" dirty="0" smtClean="0"/>
              <a:t>התקפות </a:t>
            </a:r>
            <a:r>
              <a:rPr lang="he-IL" b="1" dirty="0"/>
              <a:t>שידור </a:t>
            </a:r>
            <a:r>
              <a:rPr lang="he-IL" b="1" dirty="0" smtClean="0"/>
              <a:t>חוזר:</a:t>
            </a:r>
            <a:endParaRPr lang="he-IL" b="1" dirty="0"/>
          </a:p>
          <a:p>
            <a:r>
              <a:rPr lang="he-IL" b="1" dirty="0"/>
              <a:t>מה זה?</a:t>
            </a:r>
            <a:endParaRPr lang="he-IL" dirty="0"/>
          </a:p>
          <a:p>
            <a:pPr lvl="1"/>
            <a:r>
              <a:rPr lang="he-IL" dirty="0"/>
              <a:t>תוקף לוכד טוקן חוקי באמצעות ניטור תעבורה ומנסה להשתמש בו שוב.</a:t>
            </a:r>
          </a:p>
          <a:p>
            <a:r>
              <a:rPr lang="he-IL" b="1" dirty="0"/>
              <a:t>פתרון:</a:t>
            </a:r>
            <a:endParaRPr lang="he-IL" dirty="0"/>
          </a:p>
          <a:p>
            <a:pPr lvl="1"/>
            <a:r>
              <a:rPr lang="he-IL" dirty="0"/>
              <a:t>הוספת </a:t>
            </a:r>
            <a:r>
              <a:rPr lang="en-US" dirty="0" smtClean="0"/>
              <a:t> timestamp</a:t>
            </a:r>
            <a:r>
              <a:rPr lang="he-IL" dirty="0" smtClean="0"/>
              <a:t>בטוקן </a:t>
            </a:r>
            <a:r>
              <a:rPr lang="he-IL" dirty="0"/>
              <a:t>ובדיקת תוקף בזמן אמת.</a:t>
            </a:r>
          </a:p>
          <a:p>
            <a:pPr lvl="1"/>
            <a:r>
              <a:rPr lang="he-IL" dirty="0"/>
              <a:t>שימוש במזהים </a:t>
            </a:r>
            <a:r>
              <a:rPr lang="he-IL" dirty="0" smtClean="0"/>
              <a:t>חד-פעמיים </a:t>
            </a:r>
            <a:r>
              <a:rPr lang="en-US" dirty="0" smtClean="0"/>
              <a:t>Nonce</a:t>
            </a:r>
            <a:r>
              <a:rPr lang="he-IL" dirty="0" smtClean="0"/>
              <a:t> לכל </a:t>
            </a:r>
            <a:r>
              <a:rPr lang="he-IL" dirty="0"/>
              <a:t>בקשה</a:t>
            </a:r>
            <a:r>
              <a:rPr lang="he-IL" dirty="0" smtClean="0"/>
              <a:t>.</a:t>
            </a:r>
          </a:p>
          <a:p>
            <a:r>
              <a:rPr lang="he-IL" dirty="0" smtClean="0"/>
              <a:t>ב. </a:t>
            </a:r>
            <a:r>
              <a:rPr lang="en-US" dirty="0" smtClean="0"/>
              <a:t> </a:t>
            </a:r>
            <a:r>
              <a:rPr lang="en-US" b="1" dirty="0" smtClean="0"/>
              <a:t>Token Injection</a:t>
            </a:r>
            <a:r>
              <a:rPr lang="he-IL" b="1" dirty="0" smtClean="0"/>
              <a:t>הזרקת טוקן:</a:t>
            </a:r>
            <a:endParaRPr lang="he-IL" b="1" dirty="0"/>
          </a:p>
          <a:p>
            <a:r>
              <a:rPr lang="he-IL" b="1" dirty="0"/>
              <a:t>מה זה?</a:t>
            </a:r>
            <a:endParaRPr lang="he-IL" dirty="0"/>
          </a:p>
          <a:p>
            <a:pPr lvl="1"/>
            <a:r>
              <a:rPr lang="he-IL" dirty="0"/>
              <a:t>תוקף מחדיר טוקן זדוני לתוך מערכת שמקבלת טוקן.</a:t>
            </a:r>
          </a:p>
          <a:p>
            <a:r>
              <a:rPr lang="he-IL" b="1" dirty="0"/>
              <a:t>פתרון:</a:t>
            </a:r>
            <a:endParaRPr lang="he-IL" dirty="0"/>
          </a:p>
          <a:p>
            <a:pPr lvl="1"/>
            <a:r>
              <a:rPr lang="he-IL" dirty="0"/>
              <a:t>אימות טוקנים בחתימה דיגיטלית.</a:t>
            </a:r>
          </a:p>
          <a:p>
            <a:pPr lvl="1"/>
            <a:r>
              <a:rPr lang="he-IL" dirty="0"/>
              <a:t>הגדרת בקרות על מקור הטוקן </a:t>
            </a:r>
            <a:r>
              <a:rPr lang="en-US" dirty="0" smtClean="0"/>
              <a:t>CORS</a:t>
            </a:r>
            <a:endParaRPr lang="en-US" dirty="0"/>
          </a:p>
          <a:p>
            <a:r>
              <a:rPr lang="he-IL" dirty="0" smtClean="0"/>
              <a:t>ג. </a:t>
            </a:r>
            <a:r>
              <a:rPr lang="en-US" dirty="0" smtClean="0"/>
              <a:t> </a:t>
            </a:r>
            <a:r>
              <a:rPr lang="en-US" b="1" dirty="0" smtClean="0"/>
              <a:t>Broken </a:t>
            </a:r>
            <a:r>
              <a:rPr lang="en-US" b="1" dirty="0"/>
              <a:t>Token </a:t>
            </a:r>
            <a:r>
              <a:rPr lang="en-US" b="1" dirty="0" smtClean="0"/>
              <a:t>Storage</a:t>
            </a:r>
            <a:r>
              <a:rPr lang="he-IL" b="1" dirty="0" smtClean="0"/>
              <a:t>אחסון </a:t>
            </a:r>
            <a:r>
              <a:rPr lang="he-IL" b="1" dirty="0"/>
              <a:t>לא </a:t>
            </a:r>
            <a:r>
              <a:rPr lang="he-IL" b="1" dirty="0" smtClean="0"/>
              <a:t>מאובטח:</a:t>
            </a:r>
            <a:endParaRPr lang="he-IL" b="1" dirty="0"/>
          </a:p>
          <a:p>
            <a:r>
              <a:rPr lang="he-IL" b="1" dirty="0"/>
              <a:t>מה זה?</a:t>
            </a:r>
            <a:endParaRPr lang="he-IL" dirty="0"/>
          </a:p>
          <a:p>
            <a:pPr lvl="1"/>
            <a:r>
              <a:rPr lang="he-IL" dirty="0"/>
              <a:t>אם הטוקן נשמר בצד הלקוח ללא הצפנה או עם גישה לא מבוקרת, תוקף יכול לגשת אליו.</a:t>
            </a:r>
          </a:p>
          <a:p>
            <a:r>
              <a:rPr lang="he-IL" b="1" dirty="0"/>
              <a:t>פתרון:</a:t>
            </a:r>
            <a:endParaRPr lang="he-IL" dirty="0"/>
          </a:p>
          <a:p>
            <a:pPr lvl="1"/>
            <a:r>
              <a:rPr lang="he-IL" dirty="0" smtClean="0"/>
              <a:t>הגבלות </a:t>
            </a:r>
            <a:r>
              <a:rPr lang="he-IL" dirty="0"/>
              <a:t>גישה </a:t>
            </a:r>
            <a:r>
              <a:rPr lang="he-IL" dirty="0" smtClean="0"/>
              <a:t>ב-</a:t>
            </a:r>
            <a:r>
              <a:rPr lang="en-US" dirty="0" smtClean="0"/>
              <a:t> JavaScript </a:t>
            </a:r>
            <a:r>
              <a:rPr lang="he-IL" dirty="0" smtClean="0"/>
              <a:t>במידה </a:t>
            </a:r>
            <a:r>
              <a:rPr lang="he-IL" dirty="0"/>
              <a:t>ונשמר ב-</a:t>
            </a:r>
            <a:r>
              <a:rPr lang="en-US" dirty="0"/>
              <a:t>Local </a:t>
            </a:r>
            <a:r>
              <a:rPr lang="en-US" dirty="0" smtClean="0"/>
              <a:t>Storage</a:t>
            </a:r>
            <a:r>
              <a:rPr lang="en-US" dirty="0"/>
              <a:t> </a:t>
            </a:r>
          </a:p>
          <a:p>
            <a:pPr marL="274320" lvl="1" indent="0">
              <a:buNone/>
            </a:pPr>
            <a:endParaRPr lang="en-US" dirty="0"/>
          </a:p>
          <a:p>
            <a:pPr marL="274320" lvl="1" indent="0">
              <a:buNone/>
            </a:pPr>
            <a:endParaRPr lang="he-IL" dirty="0"/>
          </a:p>
          <a:p>
            <a:endParaRPr lang="he-IL" dirty="0"/>
          </a:p>
        </p:txBody>
      </p:sp>
    </p:spTree>
    <p:extLst>
      <p:ext uri="{BB962C8B-B14F-4D97-AF65-F5344CB8AC3E}">
        <p14:creationId xmlns:p14="http://schemas.microsoft.com/office/powerpoint/2010/main" val="2944138090"/>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126022" y="633802"/>
            <a:ext cx="12318022" cy="1371600"/>
          </a:xfrm>
        </p:spPr>
        <p:txBody>
          <a:bodyPr>
            <a:normAutofit fontScale="90000"/>
          </a:bodyPr>
          <a:lstStyle/>
          <a:p>
            <a:r>
              <a:rPr lang="he-IL" dirty="0"/>
              <a:t>אסטרטגיות חידוש טוקנים </a:t>
            </a:r>
            <a:r>
              <a:rPr lang="en-US" dirty="0" smtClean="0"/>
              <a:t>Token </a:t>
            </a:r>
            <a:r>
              <a:rPr lang="en-US" dirty="0"/>
              <a:t>Refresh </a:t>
            </a:r>
            <a:r>
              <a:rPr lang="en-US" dirty="0" smtClean="0"/>
              <a:t>Strategies</a:t>
            </a:r>
            <a:endParaRPr lang="he-IL" dirty="0"/>
          </a:p>
        </p:txBody>
      </p:sp>
      <p:sp>
        <p:nvSpPr>
          <p:cNvPr id="3" name="מציין מיקום תוכן 2"/>
          <p:cNvSpPr>
            <a:spLocks noGrp="1"/>
          </p:cNvSpPr>
          <p:nvPr>
            <p:ph idx="1"/>
          </p:nvPr>
        </p:nvSpPr>
        <p:spPr/>
        <p:txBody>
          <a:bodyPr/>
          <a:lstStyle/>
          <a:p>
            <a:r>
              <a:rPr lang="he-IL" dirty="0" smtClean="0"/>
              <a:t>1. </a:t>
            </a:r>
            <a:r>
              <a:rPr lang="he-IL" b="1" dirty="0"/>
              <a:t>חידוש יזום:</a:t>
            </a:r>
            <a:endParaRPr lang="he-IL" dirty="0"/>
          </a:p>
          <a:p>
            <a:r>
              <a:rPr lang="he-IL" dirty="0"/>
              <a:t>הלקוח </a:t>
            </a:r>
            <a:r>
              <a:rPr lang="he-IL" dirty="0" smtClean="0"/>
              <a:t>שולח</a:t>
            </a:r>
            <a:r>
              <a:rPr lang="en-US" dirty="0" smtClean="0"/>
              <a:t> Refresh </a:t>
            </a:r>
            <a:r>
              <a:rPr lang="en-US" dirty="0"/>
              <a:t>Token </a:t>
            </a:r>
            <a:r>
              <a:rPr lang="he-IL" dirty="0"/>
              <a:t>כאשר </a:t>
            </a:r>
            <a:r>
              <a:rPr lang="he-IL" dirty="0" smtClean="0"/>
              <a:t>ה-</a:t>
            </a:r>
            <a:r>
              <a:rPr lang="en-US" dirty="0" smtClean="0"/>
              <a:t> Access </a:t>
            </a:r>
            <a:r>
              <a:rPr lang="en-US" dirty="0"/>
              <a:t>Token </a:t>
            </a:r>
            <a:r>
              <a:rPr lang="he-IL" dirty="0"/>
              <a:t>פג תוקף.</a:t>
            </a:r>
          </a:p>
          <a:p>
            <a:r>
              <a:rPr lang="he-IL" dirty="0"/>
              <a:t>יתרון: מפחית תעבורה.</a:t>
            </a:r>
          </a:p>
          <a:p>
            <a:r>
              <a:rPr lang="he-IL" dirty="0"/>
              <a:t>חיסרון: דורש ניהול חכם של </a:t>
            </a:r>
            <a:r>
              <a:rPr lang="en-US" dirty="0"/>
              <a:t>Refresh </a:t>
            </a:r>
            <a:r>
              <a:rPr lang="en-US" dirty="0" smtClean="0"/>
              <a:t>Tokens</a:t>
            </a:r>
            <a:r>
              <a:rPr lang="he-IL" dirty="0" smtClean="0"/>
              <a:t>.</a:t>
            </a:r>
            <a:endParaRPr lang="en-US" dirty="0"/>
          </a:p>
          <a:p>
            <a:r>
              <a:rPr lang="he-IL" dirty="0" smtClean="0"/>
              <a:t>2. </a:t>
            </a:r>
            <a:r>
              <a:rPr lang="he-IL" b="1" dirty="0"/>
              <a:t>חידוש מתמשך:</a:t>
            </a:r>
            <a:endParaRPr lang="he-IL" dirty="0"/>
          </a:p>
          <a:p>
            <a:r>
              <a:rPr lang="he-IL" dirty="0"/>
              <a:t>השרת שולח </a:t>
            </a:r>
            <a:r>
              <a:rPr lang="en-US" dirty="0" smtClean="0"/>
              <a:t> Access Token</a:t>
            </a:r>
            <a:r>
              <a:rPr lang="he-IL" dirty="0" smtClean="0"/>
              <a:t>חדש </a:t>
            </a:r>
            <a:r>
              <a:rPr lang="he-IL" dirty="0"/>
              <a:t>בכל פעם שהלקוח משתמש בטוקן קיים.</a:t>
            </a:r>
          </a:p>
          <a:p>
            <a:r>
              <a:rPr lang="he-IL" dirty="0"/>
              <a:t>יתרון: גישה נוחה יותר.</a:t>
            </a:r>
          </a:p>
          <a:p>
            <a:r>
              <a:rPr lang="he-IL" dirty="0"/>
              <a:t>חיסרון: יכול להעמיס על השרת.</a:t>
            </a:r>
          </a:p>
          <a:p>
            <a:endParaRPr lang="he-IL" dirty="0"/>
          </a:p>
        </p:txBody>
      </p:sp>
    </p:spTree>
    <p:extLst>
      <p:ext uri="{BB962C8B-B14F-4D97-AF65-F5344CB8AC3E}">
        <p14:creationId xmlns:p14="http://schemas.microsoft.com/office/powerpoint/2010/main" val="3854370223"/>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5257800" y="642594"/>
            <a:ext cx="5867400" cy="1371600"/>
          </a:xfrm>
        </p:spPr>
        <p:txBody>
          <a:bodyPr/>
          <a:lstStyle/>
          <a:p>
            <a:r>
              <a:rPr lang="he-IL" dirty="0"/>
              <a:t>תקנים וכלים בתעשייה</a:t>
            </a:r>
          </a:p>
        </p:txBody>
      </p:sp>
      <p:sp>
        <p:nvSpPr>
          <p:cNvPr id="3" name="מציין מיקום תוכן 2"/>
          <p:cNvSpPr>
            <a:spLocks noGrp="1"/>
          </p:cNvSpPr>
          <p:nvPr>
            <p:ph idx="1"/>
          </p:nvPr>
        </p:nvSpPr>
        <p:spPr/>
        <p:txBody>
          <a:bodyPr/>
          <a:lstStyle/>
          <a:p>
            <a:r>
              <a:rPr lang="en-US" b="1" dirty="0"/>
              <a:t>OAuth </a:t>
            </a:r>
            <a:r>
              <a:rPr lang="en-US" b="1" dirty="0" smtClean="0"/>
              <a:t>2.0</a:t>
            </a:r>
            <a:r>
              <a:rPr lang="he-IL" b="1" dirty="0" smtClean="0"/>
              <a:t>:</a:t>
            </a:r>
            <a:endParaRPr lang="en-US" b="1" dirty="0"/>
          </a:p>
          <a:p>
            <a:r>
              <a:rPr lang="he-IL" dirty="0"/>
              <a:t>תקן המאפשר גישה מוגבלת למשאבים מבלי לחשוף סיסמאות.</a:t>
            </a:r>
          </a:p>
          <a:p>
            <a:r>
              <a:rPr lang="he-IL" dirty="0"/>
              <a:t>משתמש </a:t>
            </a:r>
            <a:r>
              <a:rPr lang="he-IL" dirty="0" smtClean="0"/>
              <a:t>ב-</a:t>
            </a:r>
            <a:r>
              <a:rPr lang="en-US" dirty="0" smtClean="0"/>
              <a:t> Access </a:t>
            </a:r>
            <a:r>
              <a:rPr lang="en-US" dirty="0"/>
              <a:t>Tokens </a:t>
            </a:r>
            <a:r>
              <a:rPr lang="he-IL" dirty="0"/>
              <a:t>ו-</a:t>
            </a:r>
            <a:r>
              <a:rPr lang="en-US" dirty="0"/>
              <a:t>Refresh </a:t>
            </a:r>
            <a:r>
              <a:rPr lang="en-US" dirty="0" smtClean="0"/>
              <a:t>Tokens </a:t>
            </a:r>
            <a:endParaRPr lang="en-US" dirty="0"/>
          </a:p>
          <a:p>
            <a:r>
              <a:rPr lang="he-IL" dirty="0"/>
              <a:t>דוגמה:</a:t>
            </a:r>
          </a:p>
          <a:p>
            <a:pPr lvl="1"/>
            <a:r>
              <a:rPr lang="he-IL" dirty="0"/>
              <a:t>משתמש מאמת מול שרת הזדהות </a:t>
            </a:r>
            <a:r>
              <a:rPr lang="en-US" dirty="0" smtClean="0"/>
              <a:t>Authorization Server</a:t>
            </a:r>
            <a:endParaRPr lang="en-US" dirty="0"/>
          </a:p>
          <a:p>
            <a:pPr lvl="1"/>
            <a:r>
              <a:rPr lang="he-IL" dirty="0"/>
              <a:t>השרת מחזיר טוקן.</a:t>
            </a:r>
          </a:p>
          <a:p>
            <a:pPr lvl="1"/>
            <a:r>
              <a:rPr lang="he-IL" dirty="0"/>
              <a:t>הטוקן משמש לביצוע פעולות מול שרתי ה-</a:t>
            </a:r>
            <a:r>
              <a:rPr lang="en-US" dirty="0" smtClean="0"/>
              <a:t>API </a:t>
            </a:r>
            <a:endParaRPr lang="he-IL" dirty="0" smtClean="0"/>
          </a:p>
          <a:p>
            <a:r>
              <a:rPr lang="en-US" b="1" dirty="0" err="1"/>
              <a:t>OpenID</a:t>
            </a:r>
            <a:r>
              <a:rPr lang="en-US" b="1" dirty="0"/>
              <a:t> Connect (OIDC</a:t>
            </a:r>
            <a:r>
              <a:rPr lang="en-US" b="1" dirty="0" smtClean="0"/>
              <a:t>)</a:t>
            </a:r>
            <a:r>
              <a:rPr lang="he-IL" b="1" dirty="0" smtClean="0"/>
              <a:t>:</a:t>
            </a:r>
            <a:endParaRPr lang="en-US" b="1" dirty="0"/>
          </a:p>
          <a:p>
            <a:r>
              <a:rPr lang="he-IL" dirty="0"/>
              <a:t>הרחבה של </a:t>
            </a:r>
            <a:r>
              <a:rPr lang="en-US" dirty="0"/>
              <a:t>OAuth </a:t>
            </a:r>
            <a:r>
              <a:rPr lang="en-US" dirty="0" smtClean="0"/>
              <a:t>2.0</a:t>
            </a:r>
            <a:endParaRPr lang="en-US" dirty="0"/>
          </a:p>
          <a:p>
            <a:r>
              <a:rPr lang="he-IL" dirty="0"/>
              <a:t>מספק מידע נוסף על המשתמש (פרופיל, אימייל).</a:t>
            </a:r>
          </a:p>
          <a:p>
            <a:pPr marL="274320" lvl="1" indent="0">
              <a:buNone/>
            </a:pPr>
            <a:endParaRPr lang="en-US" dirty="0"/>
          </a:p>
          <a:p>
            <a:endParaRPr lang="he-IL" dirty="0"/>
          </a:p>
        </p:txBody>
      </p:sp>
    </p:spTree>
    <p:extLst>
      <p:ext uri="{BB962C8B-B14F-4D97-AF65-F5344CB8AC3E}">
        <p14:creationId xmlns:p14="http://schemas.microsoft.com/office/powerpoint/2010/main" val="2875905715"/>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4466492" y="642594"/>
            <a:ext cx="6658708" cy="1371600"/>
          </a:xfrm>
        </p:spPr>
        <p:txBody>
          <a:bodyPr/>
          <a:lstStyle/>
          <a:p>
            <a:r>
              <a:rPr lang="he-IL" dirty="0"/>
              <a:t>דגשים ותובנות מתקדמות:</a:t>
            </a:r>
          </a:p>
        </p:txBody>
      </p:sp>
      <p:sp>
        <p:nvSpPr>
          <p:cNvPr id="3" name="מציין מיקום תוכן 2"/>
          <p:cNvSpPr>
            <a:spLocks noGrp="1"/>
          </p:cNvSpPr>
          <p:nvPr>
            <p:ph idx="1"/>
          </p:nvPr>
        </p:nvSpPr>
        <p:spPr/>
        <p:txBody>
          <a:bodyPr/>
          <a:lstStyle/>
          <a:p>
            <a:r>
              <a:rPr lang="he-IL" dirty="0"/>
              <a:t>כיצד להחליט </a:t>
            </a:r>
            <a:r>
              <a:rPr lang="he-IL" dirty="0" smtClean="0"/>
              <a:t>בין</a:t>
            </a:r>
            <a:r>
              <a:rPr lang="en-US" dirty="0" smtClean="0"/>
              <a:t>JWT </a:t>
            </a:r>
            <a:r>
              <a:rPr lang="he-IL" dirty="0" smtClean="0"/>
              <a:t> לטוקנים </a:t>
            </a:r>
            <a:r>
              <a:rPr lang="he-IL" dirty="0"/>
              <a:t>מבוססי </a:t>
            </a:r>
            <a:r>
              <a:rPr lang="en-US" dirty="0" smtClean="0"/>
              <a:t>Session</a:t>
            </a:r>
            <a:r>
              <a:rPr lang="he-IL" dirty="0" smtClean="0"/>
              <a:t>:</a:t>
            </a:r>
          </a:p>
          <a:p>
            <a:r>
              <a:rPr lang="en-US" b="1" dirty="0" smtClean="0"/>
              <a:t> :JWT</a:t>
            </a:r>
            <a:r>
              <a:rPr lang="en-US" dirty="0" smtClean="0"/>
              <a:t> </a:t>
            </a:r>
            <a:r>
              <a:rPr lang="he-IL" dirty="0"/>
              <a:t>מתאים למערכות מבוזרות שבהן השרתים צריכים להיות חסרי-מצב </a:t>
            </a:r>
            <a:endParaRPr lang="he-IL" dirty="0" smtClean="0"/>
          </a:p>
          <a:p>
            <a:r>
              <a:rPr lang="en-US" b="1" dirty="0" smtClean="0"/>
              <a:t> :Session Tokens</a:t>
            </a:r>
            <a:r>
              <a:rPr lang="en-US" dirty="0" smtClean="0"/>
              <a:t> </a:t>
            </a:r>
            <a:r>
              <a:rPr lang="he-IL" dirty="0"/>
              <a:t>מתאים למערכות ריכוזיות שבהן קל לנהל ולבטל טוקנים </a:t>
            </a:r>
            <a:r>
              <a:rPr lang="he-IL" dirty="0" smtClean="0"/>
              <a:t>בשרת</a:t>
            </a:r>
            <a:r>
              <a:rPr lang="en-US" dirty="0" smtClean="0"/>
              <a:t>Stateless </a:t>
            </a:r>
          </a:p>
          <a:p>
            <a:r>
              <a:rPr lang="he-IL" dirty="0"/>
              <a:t>הגדרת טוקן </a:t>
            </a:r>
            <a:r>
              <a:rPr lang="he-IL" dirty="0" smtClean="0"/>
              <a:t>ל-</a:t>
            </a:r>
            <a:r>
              <a:rPr lang="en-US" dirty="0" smtClean="0"/>
              <a:t> Scope </a:t>
            </a:r>
            <a:r>
              <a:rPr lang="he-IL" dirty="0"/>
              <a:t>מסוים</a:t>
            </a:r>
            <a:r>
              <a:rPr lang="he-IL" dirty="0" smtClean="0"/>
              <a:t>:</a:t>
            </a:r>
            <a:endParaRPr lang="en-US" dirty="0" smtClean="0"/>
          </a:p>
          <a:p>
            <a:r>
              <a:rPr lang="he-IL" dirty="0"/>
              <a:t>הגבלת טוקן לפעולות או משאבים מסוימים בלבד</a:t>
            </a:r>
            <a:r>
              <a:rPr lang="he-IL" dirty="0" smtClean="0"/>
              <a:t>.</a:t>
            </a:r>
          </a:p>
          <a:p>
            <a:r>
              <a:rPr lang="he-IL" dirty="0"/>
              <a:t>לדוגמה, טוקן שתקף רק לקריאת נתונים ולא לכתיבה</a:t>
            </a:r>
            <a:r>
              <a:rPr lang="he-IL" dirty="0" smtClean="0"/>
              <a:t>.</a:t>
            </a:r>
          </a:p>
          <a:p>
            <a:r>
              <a:rPr lang="he-IL" dirty="0"/>
              <a:t>הפחתת חשיפת טוקנים</a:t>
            </a:r>
            <a:r>
              <a:rPr lang="he-IL" dirty="0" smtClean="0"/>
              <a:t>:</a:t>
            </a:r>
          </a:p>
          <a:p>
            <a:r>
              <a:rPr lang="he-IL" dirty="0"/>
              <a:t>הגבל את הטוקן לפעול רק </a:t>
            </a:r>
            <a:r>
              <a:rPr lang="he-IL" dirty="0" err="1"/>
              <a:t>מהדומיין</a:t>
            </a:r>
            <a:r>
              <a:rPr lang="he-IL" dirty="0"/>
              <a:t> שבו נוצר</a:t>
            </a:r>
            <a:r>
              <a:rPr lang="he-IL" dirty="0" smtClean="0"/>
              <a:t>.</a:t>
            </a:r>
          </a:p>
          <a:p>
            <a:r>
              <a:rPr lang="he-IL" dirty="0"/>
              <a:t>השתמש באימות דו-שלבי </a:t>
            </a:r>
            <a:r>
              <a:rPr lang="he-IL" dirty="0" smtClean="0"/>
              <a:t>לביצוע </a:t>
            </a:r>
            <a:r>
              <a:rPr lang="he-IL" dirty="0"/>
              <a:t>פעולות רגישות.</a:t>
            </a:r>
          </a:p>
        </p:txBody>
      </p:sp>
    </p:spTree>
    <p:extLst>
      <p:ext uri="{BB962C8B-B14F-4D97-AF65-F5344CB8AC3E}">
        <p14:creationId xmlns:p14="http://schemas.microsoft.com/office/powerpoint/2010/main" val="3111670174"/>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9223130" y="642594"/>
            <a:ext cx="1902069" cy="1371600"/>
          </a:xfrm>
        </p:spPr>
        <p:txBody>
          <a:bodyPr/>
          <a:lstStyle/>
          <a:p>
            <a:r>
              <a:rPr lang="he-IL" dirty="0"/>
              <a:t>שאלות</a:t>
            </a:r>
          </a:p>
        </p:txBody>
      </p:sp>
      <p:sp>
        <p:nvSpPr>
          <p:cNvPr id="3" name="מציין מיקום תוכן 2"/>
          <p:cNvSpPr>
            <a:spLocks noGrp="1"/>
          </p:cNvSpPr>
          <p:nvPr>
            <p:ph idx="1"/>
          </p:nvPr>
        </p:nvSpPr>
        <p:spPr/>
        <p:txBody>
          <a:bodyPr/>
          <a:lstStyle/>
          <a:p>
            <a:r>
              <a:rPr lang="he-IL" dirty="0"/>
              <a:t>1. מהו תפקידו של </a:t>
            </a:r>
            <a:r>
              <a:rPr lang="en-US" dirty="0"/>
              <a:t>session token</a:t>
            </a:r>
            <a:r>
              <a:rPr lang="he-IL" dirty="0"/>
              <a:t>?</a:t>
            </a:r>
          </a:p>
          <a:p>
            <a:endParaRPr lang="he-IL" dirty="0"/>
          </a:p>
          <a:p>
            <a:r>
              <a:rPr lang="he-IL" dirty="0"/>
              <a:t>2. היכן נשמר </a:t>
            </a:r>
            <a:r>
              <a:rPr lang="en-US" dirty="0"/>
              <a:t> session token</a:t>
            </a:r>
            <a:r>
              <a:rPr lang="he-IL" dirty="0"/>
              <a:t>בצד הלקוח?</a:t>
            </a:r>
          </a:p>
          <a:p>
            <a:endParaRPr lang="he-IL" dirty="0"/>
          </a:p>
          <a:p>
            <a:r>
              <a:rPr lang="he-IL" dirty="0"/>
              <a:t>3. מה היתרון בשימוש ב-</a:t>
            </a:r>
            <a:r>
              <a:rPr lang="en-US" dirty="0" err="1"/>
              <a:t>HttpOnly</a:t>
            </a:r>
            <a:r>
              <a:rPr lang="en-US" dirty="0"/>
              <a:t> Cookies </a:t>
            </a:r>
            <a:r>
              <a:rPr lang="he-IL" dirty="0"/>
              <a:t>?</a:t>
            </a:r>
          </a:p>
          <a:p>
            <a:endParaRPr lang="he-IL" dirty="0"/>
          </a:p>
          <a:p>
            <a:r>
              <a:rPr lang="he-IL" dirty="0"/>
              <a:t>4. כיצד</a:t>
            </a:r>
            <a:r>
              <a:rPr lang="en-US" dirty="0"/>
              <a:t> HTTPS </a:t>
            </a:r>
            <a:r>
              <a:rPr lang="he-IL" dirty="0"/>
              <a:t>מגן על </a:t>
            </a:r>
            <a:r>
              <a:rPr lang="en-US" dirty="0"/>
              <a:t>session token</a:t>
            </a:r>
            <a:r>
              <a:rPr lang="he-IL" dirty="0"/>
              <a:t>?</a:t>
            </a:r>
          </a:p>
        </p:txBody>
      </p:sp>
    </p:spTree>
    <p:extLst>
      <p:ext uri="{BB962C8B-B14F-4D97-AF65-F5344CB8AC3E}">
        <p14:creationId xmlns:p14="http://schemas.microsoft.com/office/powerpoint/2010/main" val="4280132350"/>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8968154" y="642594"/>
            <a:ext cx="2157046" cy="1371600"/>
          </a:xfrm>
        </p:spPr>
        <p:txBody>
          <a:bodyPr/>
          <a:lstStyle/>
          <a:p>
            <a:r>
              <a:rPr lang="he-IL" dirty="0"/>
              <a:t>תשובות</a:t>
            </a:r>
          </a:p>
        </p:txBody>
      </p:sp>
      <p:sp>
        <p:nvSpPr>
          <p:cNvPr id="3" name="מציין מיקום תוכן 2"/>
          <p:cNvSpPr>
            <a:spLocks noGrp="1"/>
          </p:cNvSpPr>
          <p:nvPr>
            <p:ph idx="1"/>
          </p:nvPr>
        </p:nvSpPr>
        <p:spPr/>
        <p:txBody>
          <a:bodyPr/>
          <a:lstStyle/>
          <a:p>
            <a:r>
              <a:rPr lang="he-IL" dirty="0"/>
              <a:t>1. לזהות את המשתמש באופן ייחודי ולנהל את החיבור שלו למערכת.</a:t>
            </a:r>
          </a:p>
          <a:p>
            <a:endParaRPr lang="he-IL" dirty="0"/>
          </a:p>
          <a:p>
            <a:r>
              <a:rPr lang="he-IL" dirty="0"/>
              <a:t>2. בדרך כלל ב-</a:t>
            </a:r>
            <a:r>
              <a:rPr lang="en-US" dirty="0"/>
              <a:t>Cookies </a:t>
            </a:r>
            <a:r>
              <a:rPr lang="he-IL" dirty="0"/>
              <a:t> או ב-</a:t>
            </a:r>
            <a:r>
              <a:rPr lang="en-US" dirty="0"/>
              <a:t>Local Storage </a:t>
            </a:r>
            <a:endParaRPr lang="he-IL" dirty="0"/>
          </a:p>
          <a:p>
            <a:endParaRPr lang="he-IL" dirty="0"/>
          </a:p>
          <a:p>
            <a:r>
              <a:rPr lang="he-IL" dirty="0"/>
              <a:t>3. הם מונעים גישה לטוקן באמצעות </a:t>
            </a:r>
            <a:r>
              <a:rPr lang="en-US" dirty="0"/>
              <a:t> JavaScript</a:t>
            </a:r>
            <a:r>
              <a:rPr lang="he-IL" dirty="0"/>
              <a:t>ובכך מפחיתים את הסיכון לתקיפות </a:t>
            </a:r>
            <a:r>
              <a:rPr lang="en-US" dirty="0"/>
              <a:t>XSS</a:t>
            </a:r>
            <a:endParaRPr lang="he-IL" dirty="0"/>
          </a:p>
          <a:p>
            <a:endParaRPr lang="he-IL" dirty="0"/>
          </a:p>
          <a:p>
            <a:r>
              <a:rPr lang="he-IL" dirty="0"/>
              <a:t>4. </a:t>
            </a:r>
            <a:r>
              <a:rPr lang="en-US" dirty="0"/>
              <a:t>HTTPS</a:t>
            </a:r>
            <a:r>
              <a:rPr lang="he-IL" dirty="0"/>
              <a:t> מצפין את המידע המועבר בין הלקוח לשרת, ומונע מתוקפים להאזין או לגנוב את הטוקן באמצעות התקפות </a:t>
            </a:r>
            <a:r>
              <a:rPr lang="en-US" dirty="0"/>
              <a:t>Man-in-the-Middle</a:t>
            </a:r>
            <a:r>
              <a:rPr lang="he-IL" dirty="0"/>
              <a:t>.</a:t>
            </a:r>
          </a:p>
          <a:p>
            <a:endParaRPr lang="he-IL" dirty="0"/>
          </a:p>
        </p:txBody>
      </p:sp>
    </p:spTree>
    <p:extLst>
      <p:ext uri="{BB962C8B-B14F-4D97-AF65-F5344CB8AC3E}">
        <p14:creationId xmlns:p14="http://schemas.microsoft.com/office/powerpoint/2010/main" val="170433010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סבון">
  <a:themeElements>
    <a:clrScheme name="סבון">
      <a:dk1>
        <a:sysClr val="windowText" lastClr="000000"/>
      </a:dk1>
      <a:lt1>
        <a:sysClr val="window" lastClr="FFFFFF"/>
      </a:lt1>
      <a:dk2>
        <a:srgbClr val="1485A4"/>
      </a:dk2>
      <a:lt2>
        <a:srgbClr val="E3DED1"/>
      </a:lt2>
      <a:accent1>
        <a:srgbClr val="1CADE4"/>
      </a:accent1>
      <a:accent2>
        <a:srgbClr val="2683C6"/>
      </a:accent2>
      <a:accent3>
        <a:srgbClr val="27CED7"/>
      </a:accent3>
      <a:accent4>
        <a:srgbClr val="42BA97"/>
      </a:accent4>
      <a:accent5>
        <a:srgbClr val="3E8853"/>
      </a:accent5>
      <a:accent6>
        <a:srgbClr val="62A39F"/>
      </a:accent6>
      <a:hlink>
        <a:srgbClr val="F49100"/>
      </a:hlink>
      <a:folHlink>
        <a:srgbClr val="739D9B"/>
      </a:folHlink>
    </a:clrScheme>
    <a:fontScheme name="סבון">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סבון">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docProps/app.xml><?xml version="1.0" encoding="utf-8"?>
<Properties xmlns="http://schemas.openxmlformats.org/officeDocument/2006/extended-properties" xmlns:vt="http://schemas.openxmlformats.org/officeDocument/2006/docPropsVTypes">
  <Template>TM03457510[[fn=סבון]]</Template>
  <TotalTime>865</TotalTime>
  <Words>10605</Words>
  <Application>Microsoft Office PowerPoint</Application>
  <PresentationFormat>מסך רחב</PresentationFormat>
  <Paragraphs>1210</Paragraphs>
  <Slides>162</Slides>
  <Notes>0</Notes>
  <HiddenSlides>0</HiddenSlides>
  <MMClips>0</MMClips>
  <ScaleCrop>false</ScaleCrop>
  <HeadingPairs>
    <vt:vector size="6" baseType="variant">
      <vt:variant>
        <vt:lpstr>גופנים בשימוש</vt:lpstr>
      </vt:variant>
      <vt:variant>
        <vt:i4>6</vt:i4>
      </vt:variant>
      <vt:variant>
        <vt:lpstr>ערכת נושא</vt:lpstr>
      </vt:variant>
      <vt:variant>
        <vt:i4>1</vt:i4>
      </vt:variant>
      <vt:variant>
        <vt:lpstr>כותרות שקופיות</vt:lpstr>
      </vt:variant>
      <vt:variant>
        <vt:i4>162</vt:i4>
      </vt:variant>
    </vt:vector>
  </HeadingPairs>
  <TitlesOfParts>
    <vt:vector size="169" baseType="lpstr">
      <vt:lpstr>Arial</vt:lpstr>
      <vt:lpstr>Century Gothic</vt:lpstr>
      <vt:lpstr>Garamond</vt:lpstr>
      <vt:lpstr>Gisha</vt:lpstr>
      <vt:lpstr>ui-monospace</vt:lpstr>
      <vt:lpstr>ui-sans-serif</vt:lpstr>
      <vt:lpstr>סבון</vt:lpstr>
      <vt:lpstr>הרצאה מס' 7</vt:lpstr>
      <vt:lpstr>מצגת של PowerPoint‏</vt:lpstr>
      <vt:lpstr>גילוי ואיתור Proxy ו-Firewalls  באבטחת מידע </vt:lpstr>
      <vt:lpstr>איך ניתן לגלותProxy  ו- Firewalls?  </vt:lpstr>
      <vt:lpstr>זיהוי ספציפי:  </vt:lpstr>
      <vt:lpstr>סיפור: "ההאקר וה- Proxy האבוד"</vt:lpstr>
      <vt:lpstr>דוגמה מעשית:</vt:lpstr>
      <vt:lpstr>מצגת של PowerPoint‏</vt:lpstr>
      <vt:lpstr>שאלות</vt:lpstr>
      <vt:lpstr>תשובות</vt:lpstr>
      <vt:lpstr>המשך - תשובות</vt:lpstr>
      <vt:lpstr>מצגת של PowerPoint‏</vt:lpstr>
      <vt:lpstr>מהי בקרת גלישה אגרסיבית ברשת?</vt:lpstr>
      <vt:lpstr>מטרות בקרת גלישה אגרסיבית:</vt:lpstr>
      <vt:lpstr>איפה מיושמת בקרת גלישה?</vt:lpstr>
      <vt:lpstr>טכנולוגיות ליישום בקרת גלישה אגרסיבית</vt:lpstr>
      <vt:lpstr>שיטות יישום בקרת גלישה אגרסיבית</vt:lpstr>
      <vt:lpstr>יתרונות וחסרונות של בקרת גלישה אגרסיבית</vt:lpstr>
      <vt:lpstr>מצגת של PowerPoint‏</vt:lpstr>
      <vt:lpstr>שאלות:</vt:lpstr>
      <vt:lpstr>תשובות</vt:lpstr>
      <vt:lpstr>תשובות</vt:lpstr>
      <vt:lpstr>תשובות</vt:lpstr>
      <vt:lpstr>תשובות</vt:lpstr>
      <vt:lpstr>מצגת של PowerPoint‏</vt:lpstr>
      <vt:lpstr>מהי מחרוזת חיבור SQL Connection String</vt:lpstr>
      <vt:lpstr>דוגמה בסיסית למחרוזת חיבור ב-SQL Server: </vt:lpstr>
      <vt:lpstr>מהי מחרוזת חיבור Cleartext?</vt:lpstr>
      <vt:lpstr>דרכים להגן על מחרוזות חיבור</vt:lpstr>
      <vt:lpstr>המשך - דרכים להגן על מחרוזות חיבור</vt:lpstr>
      <vt:lpstr>תרגיל מעשי: יצירת חיבור עם SQL Server</vt:lpstr>
      <vt:lpstr>תשובה:</vt:lpstr>
      <vt:lpstr>המשך שאלה</vt:lpstr>
      <vt:lpstr>המשך - תשובה</vt:lpstr>
      <vt:lpstr>מצגת של PowerPoint‏</vt:lpstr>
      <vt:lpstr>מה זה Encoding?</vt:lpstr>
      <vt:lpstr>דוגמאות לקידודים נפוצים:</vt:lpstr>
      <vt:lpstr>המשך - דוגמאות לקידודים נפוצים:</vt:lpstr>
      <vt:lpstr>המשך - דוגמאות לקידודים נפוצים:</vt:lpstr>
      <vt:lpstr>שאלות:</vt:lpstr>
      <vt:lpstr>תשובות:</vt:lpstr>
      <vt:lpstr>תשובות </vt:lpstr>
      <vt:lpstr>מה זה Decoding?</vt:lpstr>
      <vt:lpstr>מטרות Decoding?</vt:lpstr>
      <vt:lpstr>דוגמאות נפוצות ל-Decoding: </vt:lpstr>
      <vt:lpstr>המשך - דוגמאות נפוצות ל-Decoding: </vt:lpstr>
      <vt:lpstr>מדוע Decoding חשוב?</vt:lpstr>
      <vt:lpstr>מצגת של PowerPoint‏</vt:lpstr>
      <vt:lpstr>מה זה Strong Output?</vt:lpstr>
      <vt:lpstr>מצגת של PowerPoint‏</vt:lpstr>
      <vt:lpstr>מה זה קובץ עם סיומת .inc?</vt:lpstr>
      <vt:lpstr>אז מה זה בעצם</vt:lpstr>
      <vt:lpstr>למה משתמשים בקבצי .inc</vt:lpstr>
      <vt:lpstr>דוגמה 1: קובץ הגדרות config.inc</vt:lpstr>
      <vt:lpstr>דוגמה 2: קובץ פונקציות functions.inc</vt:lpstr>
      <vt:lpstr>דוגמה 3: הקובץ הראשי index.php</vt:lpstr>
      <vt:lpstr>פלט:</vt:lpstr>
      <vt:lpstr>שלב 4: אבטחת קבצי .inc</vt:lpstr>
      <vt:lpstr>דוגמה להגבלת גישה ב- .htaccess</vt:lpstr>
      <vt:lpstr>מה זה עושה בפועל?</vt:lpstr>
      <vt:lpstr>מספר דרכים להגן על קבצי .imc</vt:lpstr>
      <vt:lpstr>המשך - מספר דרכים להגן על קבצי .inc</vt:lpstr>
      <vt:lpstr>המשך - מספר דרכים להגן על קבצי .inc</vt:lpstr>
      <vt:lpstr>שאלות</vt:lpstr>
      <vt:lpstr>תשובות</vt:lpstr>
      <vt:lpstr>מצגת של PowerPoint‏</vt:lpstr>
      <vt:lpstr>הגנה מפני פריצות ידניות - מבוא</vt:lpstr>
      <vt:lpstr>למה פריצה ידנית מסוכנת?</vt:lpstr>
      <vt:lpstr>שלבי הפריצה הידנית</vt:lpstr>
      <vt:lpstr>דרכים להגן מפני פריצה ידנית</vt:lpstr>
      <vt:lpstr>דוגמה מעשית: ניסיון פריצה ידנית לתיבת דואר</vt:lpstr>
      <vt:lpstr>שאלות</vt:lpstr>
      <vt:lpstr>מצגת של PowerPoint‏</vt:lpstr>
      <vt:lpstr>מבוא ל-IIS Hardening</vt:lpstr>
      <vt:lpstr>שלבים עיקריים ב- IIS Hardening</vt:lpstr>
      <vt:lpstr>המשך - שלבים עיקריים ב- IIS Hardening</vt:lpstr>
      <vt:lpstr>אז איך הוא עובד בפועל?</vt:lpstr>
      <vt:lpstr>המשך - אז איך הוא עובד בפועל?</vt:lpstr>
      <vt:lpstr>המשך - אז איך הוא עובד בפועל?</vt:lpstr>
      <vt:lpstr>שאלות:</vt:lpstr>
      <vt:lpstr>תשובות</vt:lpstr>
      <vt:lpstr>מצגת של PowerPoint‏</vt:lpstr>
      <vt:lpstr>מה זה אימות הרשאותAuthorization (Authz) ?</vt:lpstr>
      <vt:lpstr>מה זה Fingerprinting Authorization?</vt:lpstr>
      <vt:lpstr>הבדל בין Authentication ל-Authorization</vt:lpstr>
      <vt:lpstr>סוגי גישות הרשאה</vt:lpstr>
      <vt:lpstr>בקרת גישה מבוססת תכונות ((ABAC</vt:lpstr>
      <vt:lpstr>רשימות בקרת גישה ((ACL</vt:lpstr>
      <vt:lpstr>בקרת גישה חובה ((MAC</vt:lpstr>
      <vt:lpstr>בקרת גישה לפי שיקול דעת ((DAC</vt:lpstr>
      <vt:lpstr>עקרונות חשובים בניהול הרשאות</vt:lpstr>
      <vt:lpstr>שאלות</vt:lpstr>
      <vt:lpstr>תשובות</vt:lpstr>
      <vt:lpstr>מצגת של PowerPoint‏</vt:lpstr>
      <vt:lpstr>מה זה Fingerprinting Authorization (Authz)</vt:lpstr>
      <vt:lpstr>מושגים מרכזיים</vt:lpstr>
      <vt:lpstr>שלבי Fingerprinting Authorization</vt:lpstr>
      <vt:lpstr>דוגמה מעשית - IDOR</vt:lpstr>
      <vt:lpstr>דוגמה בקוד</vt:lpstr>
      <vt:lpstr>שאלות</vt:lpstr>
      <vt:lpstr>תשובות</vt:lpstr>
      <vt:lpstr>תרגיל מעשי – דניאל לחשוב לבד..</vt:lpstr>
      <vt:lpstr>תשובות לתרגיל המעשי – תשובות בישבילכם אליחי ואוליאל</vt:lpstr>
      <vt:lpstr>המשך תשובות</vt:lpstr>
      <vt:lpstr>מצגת של PowerPoint‏</vt:lpstr>
      <vt:lpstr>מה זה ACL (Access Control List)</vt:lpstr>
      <vt:lpstr>למה זה חשוב?</vt:lpstr>
      <vt:lpstr>כיצד פועלת סריקת ACL מצד תוקף?</vt:lpstr>
      <vt:lpstr>המשך - כיצד פועלת סריקת ACL מצד תוקף?</vt:lpstr>
      <vt:lpstr>המשך - כיצד פועלת סריקת ACL מצד תוקף?</vt:lpstr>
      <vt:lpstr>כיצד להגן עלACL  מפני סריקות?</vt:lpstr>
      <vt:lpstr>המשך - כיצד להגן עלACL  מפני סריקות?</vt:lpstr>
      <vt:lpstr>דוגמה למערכת  ACLפשוטה בקוד</vt:lpstr>
      <vt:lpstr>שאלות</vt:lpstr>
      <vt:lpstr>תשובות</vt:lpstr>
      <vt:lpstr>מצגת של PowerPoint‏</vt:lpstr>
      <vt:lpstr>מהי מטריצת תפקידים Role Matrix</vt:lpstr>
      <vt:lpstr>מושגי יסוד</vt:lpstr>
      <vt:lpstr>המשך - מושגי יסוד</vt:lpstr>
      <vt:lpstr>עקרונות מרכזיים</vt:lpstr>
      <vt:lpstr>מטרות המטריצה</vt:lpstr>
      <vt:lpstr>שלבים לבניית מטריצת תפקידים</vt:lpstr>
      <vt:lpstr>המשך - שלבים לבניית מטריצת תפקידים</vt:lpstr>
      <vt:lpstr>אתגרים תיאורטיים בניהול מטריצת תפקידים</vt:lpstr>
      <vt:lpstr>דוגמה למטריצת תפקידים</vt:lpstr>
      <vt:lpstr>שאלות</vt:lpstr>
      <vt:lpstr>תשובות</vt:lpstr>
      <vt:lpstr>מצגת של PowerPoint‏</vt:lpstr>
      <vt:lpstr>מה הם זיהוי Access Tokens</vt:lpstr>
      <vt:lpstr>מהו Access Token?</vt:lpstr>
      <vt:lpstr>מתי  Access Tokensנמצאים בשימוש?</vt:lpstr>
      <vt:lpstr>סוגי Access Tokens</vt:lpstr>
      <vt:lpstr>המשך - סוגי Access Tokens</vt:lpstr>
      <vt:lpstr>מרכיבי JWT (JSON Web Token)</vt:lpstr>
      <vt:lpstr>המשך - מרכיבי JWT (JSON Web Token)</vt:lpstr>
      <vt:lpstr>איך Access Tokens עובדים בפועל?</vt:lpstr>
      <vt:lpstr>המשך - איך Access Tokens עובדים בפועל?</vt:lpstr>
      <vt:lpstr>מחזור חיים של Access Tokens</vt:lpstr>
      <vt:lpstr>Refresh Tokens  אסימוני רענון:</vt:lpstr>
      <vt:lpstr> Access Tokens בסביבת Microservices</vt:lpstr>
      <vt:lpstr>הגנה על Access Tokens</vt:lpstr>
      <vt:lpstr>זיהוי ואיתור פרצות באסימונים</vt:lpstr>
      <vt:lpstr>פרוטוקולים רלוונטיים</vt:lpstr>
      <vt:lpstr>שאלות</vt:lpstr>
      <vt:lpstr>תשובות</vt:lpstr>
      <vt:lpstr>מצגת של PowerPoint‏</vt:lpstr>
      <vt:lpstr>מהו Session Token?</vt:lpstr>
      <vt:lpstr>מאפיינים חשובים של Session Tokens:</vt:lpstr>
      <vt:lpstr>איומים עיקריים ופתרונות:</vt:lpstr>
      <vt:lpstr>המחזור החיים של Session Token</vt:lpstr>
      <vt:lpstr>המשך - המחזור החיים של Session Token</vt:lpstr>
      <vt:lpstr>שיטות לאימות תקינות טוקן</vt:lpstr>
      <vt:lpstr> Best Practices לניהול טוקנים מאובטח</vt:lpstr>
      <vt:lpstr>השוואה בין סוגי טוקנים</vt:lpstr>
      <vt:lpstr>ניהול נכון של Session Tokens</vt:lpstr>
      <vt:lpstr>התקפות נפוצות נגד טוקנים</vt:lpstr>
      <vt:lpstr>מתקפות מתקדמות על טוקנים</vt:lpstr>
      <vt:lpstr>אסטרטגיות חידוש טוקנים Token Refresh Strategies</vt:lpstr>
      <vt:lpstr>תקנים וכלים בתעשייה</vt:lpstr>
      <vt:lpstr>דגשים ותובנות מתקדמות:</vt:lpstr>
      <vt:lpstr>שאלות</vt:lpstr>
      <vt:lpstr>תשובות</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הרצאה מס' 7</dc:title>
  <dc:creator>Rivka Moradov</dc:creator>
  <cp:lastModifiedBy>itest</cp:lastModifiedBy>
  <cp:revision>73</cp:revision>
  <dcterms:created xsi:type="dcterms:W3CDTF">2024-12-01T09:51:29Z</dcterms:created>
  <dcterms:modified xsi:type="dcterms:W3CDTF">2025-11-23T14:48:57Z</dcterms:modified>
</cp:coreProperties>
</file>