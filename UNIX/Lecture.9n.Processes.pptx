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0.png" ContentType="image/png"/>
  <Override PartName="/ppt/media/image6.jpeg" ContentType="image/jpeg"/>
  <Override PartName="/ppt/media/image17.png" ContentType="image/png"/>
  <Override PartName="/ppt/media/image8.png" ContentType="image/png"/>
  <Override PartName="/ppt/media/image7.png" ContentType="image/png"/>
  <Override PartName="/ppt/media/image16.png" ContentType="image/png"/>
  <Override PartName="/ppt/media/image13.png" ContentType="image/png"/>
  <Override PartName="/ppt/media/image11.png" ContentType="image/png"/>
  <Override PartName="/ppt/media/image26.png" ContentType="image/png"/>
  <Override PartName="/ppt/media/image24.png" ContentType="image/png"/>
  <Override PartName="/ppt/media/image22.png" ContentType="image/png"/>
  <Override PartName="/ppt/media/image1.png" ContentType="image/png"/>
  <Override PartName="/ppt/media/image9.png" ContentType="image/png"/>
  <Override PartName="/ppt/media/image3.png" ContentType="image/png"/>
  <Override PartName="/ppt/media/image2.png" ContentType="image/png"/>
  <Override PartName="/ppt/media/image25.png" ContentType="image/png"/>
  <Override PartName="/ppt/media/image23.png" ContentType="image/png"/>
  <Override PartName="/ppt/media/image12.png" ContentType="image/png"/>
  <Override PartName="/ppt/media/image21.png" ContentType="image/png"/>
  <Override PartName="/ppt/media/image15.png" ContentType="image/png"/>
  <Override PartName="/ppt/media/image4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20.png" ContentType="image/png"/>
  <Override PartName="/ppt/media/image18.png" ContentType="image/png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12.xml.rels" ContentType="application/vnd.openxmlformats-package.relationships+xml"/>
  <Override PartName="/ppt/slides/_rels/slide7.xml.rels" ContentType="application/vnd.openxmlformats-package.relationships+xml"/>
  <Override PartName="/ppt/slides/_rels/slide31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5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16.xml.rels" ContentType="application/vnd.openxmlformats-package.relationships+xml"/>
  <Override PartName="/ppt/slides/_rels/slide11.xml.rels" ContentType="application/vnd.openxmlformats-package.relationships+xml"/>
  <Override PartName="/ppt/slides/_rels/slide25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20.xml.rels" ContentType="application/vnd.openxmlformats-package.relationships+xml"/>
  <Override PartName="/ppt/slides/_rels/slide2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_rels/notesSlide3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notesSlide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L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C8F28E7-840E-4EA1-9AF8-CCB4E9C53559}" type="slidenum"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7A5C20-8AC9-4B1F-8C84-C4FF9A5DAC7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7B5C04-6C05-4635-91A6-637EF3DCA20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D659D0-8B9E-413F-86B8-F94EFAF2484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307119-1F24-4044-ABC0-94F8A67F6C1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FDC0A1-6E14-429F-AE66-B90F5D1D2BC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69A849-2141-473E-B3DB-216B9DEE4A9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63A83A-6AB1-4584-9C09-422C7DA1DF8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440AE9-622E-4FF7-96E1-9692DCA233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33DDD7-7C44-4D59-8E16-FBFD60598D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9C1B32-7742-4773-8A25-02E09D0E95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983593-23A5-4838-91E6-FE0493F793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A93497-8308-4DD9-80BF-407AACBE52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2117B-770B-42ED-B9F2-69EE856FE4C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958F4B-4B2E-4A91-9412-415EF4E8572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תהליכים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he-IL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he-IL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גיא יחזקאל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מטרות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להכיר את הרעיון של תהליך – תוכניות בביצוע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להסביר את המאפיינים הרבים של תהליך – תזמון, יצירה וסיום, ותקשורת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לבחון תקשורת בין תהליכים בעזרת זכרון משותף והעברת הודעות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עקרונות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מערכת הפעלה מבצעת מספר מגוון של תוכניות: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תוכניות אצווה 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batch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– פעולות שמתבצעות אחת אחרי השניה, לא ניתן לבצע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תוכניות בו זמנית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תוכניות חלוקות זמן – תוכניות משתמש או משימות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תהליך – תוכנית בביצוע. תהליך בהרצה חייב להתקדם בצורה רציפה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תהליך מורכב מכמה חלקים: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הקוד של התהליך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הפעילות הנוכחית כולל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program counter, process registers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Stack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כולל מידע זמני, מידע על פונקציות, כתובת חזרה, משתנים מקומיים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 Section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כולל משתנים גלובליים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Heap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זיכרון דינאמי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עקרונות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2" descr=""/>
          <p:cNvPicPr/>
          <p:nvPr/>
        </p:nvPicPr>
        <p:blipFill>
          <a:blip r:embed="rId1"/>
          <a:stretch/>
        </p:blipFill>
        <p:spPr>
          <a:xfrm>
            <a:off x="4718880" y="1825560"/>
            <a:ext cx="2754000" cy="435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2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he-IL" sz="18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he-IL" sz="18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גיא יחזקאל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עקרונות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תוכנית היא פסיבית ומאוחסנת בדיסק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תהליך הוא אקטיבי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תוכנית נהפכת לתהליך כאשר קובץ ההרצה נטען לזכרון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תוכנית אחת יכולה להיות מספר תהליכים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מצבי 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כאשר תהליך מתבצע, הוא משנה מצבים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New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התהליך כרגע נוצר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Running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הוראות התהליך מתבצעות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Waiting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התהליך מחכה לאירוע מסויים שיתחרש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התהליך מחכה להקצאה למעבד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Terminated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התהליך סיים את פעולתו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מצבי 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2" descr=""/>
          <p:cNvPicPr/>
          <p:nvPr/>
        </p:nvPicPr>
        <p:blipFill>
          <a:blip r:embed="rId1"/>
          <a:stretch/>
        </p:blipFill>
        <p:spPr>
          <a:xfrm>
            <a:off x="838080" y="1906200"/>
            <a:ext cx="10515240" cy="41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 Control Block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קיים צורך לשמור מידע על כל תהליך בזמן פעולתו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מאחר ומערכת ההפעלה מנהלת ומחליפה בין תהליכים, כמו גם בזיכרון, דרוש מידע רב על כל תהליך לצורך החזרת התהליך לעבודה תקינה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כשתהליך יוצא ממצב ריצה, צריך לחזור למצב ריצה שוב מאותו הקוד שהוא הפסיק, עם אותם נתונים בזכרון ובמשתנים, ועם אותם ערכי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 Registers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לכן לכל תהליך מערכת ההפעלה שומרת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PCB – Process Control Block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שבו מאוחסנים הנתונים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 Control Block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3197520" y="1825560"/>
            <a:ext cx="81558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Process state – running, waiting, etc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Process number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מזהה התהליך –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P_id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Program counter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מיקום כתובת הפקודה הבאה לביצוע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 registers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 scheduling information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עדיפויות, מצביעים לתור התזמון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Memory management information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מצביעים לזכרון המוקצה לתהליך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Accounting information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מידע לניהול תזמון התהליך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I/O information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מידע על התקני קלט פלט המוקצים לתהליך, קבצים בהם התהליך משתמש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3" descr=""/>
          <p:cNvPicPr/>
          <p:nvPr/>
        </p:nvPicPr>
        <p:blipFill>
          <a:blip r:embed="rId1"/>
          <a:stretch/>
        </p:blipFill>
        <p:spPr>
          <a:xfrm>
            <a:off x="402120" y="1687680"/>
            <a:ext cx="2795400" cy="448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Control Block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914400" y="1825560"/>
            <a:ext cx="104389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תהליך שמורים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PCB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שני נתונים על הכתובת בזכרון: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Base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כתובת ההתחלה של התהליך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Limit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גודל הבלוק של התהליך בזכרון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כאשר המעבד מבקש לגשת לכתובת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מסויימת, מערכת ההפעלה בודקת האם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הכתובת נמצאת בטווח המתאים כדי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שלא תתרחש גלישה וישתנו נתונים של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תהליכים אחרים או כתובות אחרות בזכרון.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ויש חריגה, תתבצע פסיקה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3" descr=""/>
          <p:cNvPicPr/>
          <p:nvPr/>
        </p:nvPicPr>
        <p:blipFill>
          <a:blip r:embed="rId1"/>
          <a:srcRect l="465" t="20835" r="443" b="21425"/>
          <a:stretch/>
        </p:blipFill>
        <p:spPr>
          <a:xfrm>
            <a:off x="154800" y="2425680"/>
            <a:ext cx="5543640" cy="2422800"/>
          </a:xfrm>
          <a:prstGeom prst="rect">
            <a:avLst/>
          </a:prstGeom>
          <a:noFill/>
          <a:ln w="38100">
            <a:solidFill>
              <a:srgbClr val="cc6600"/>
            </a:solidFill>
            <a:miter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 Control Block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969240" y="1690560"/>
            <a:ext cx="4889520" cy="50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כאשר המעבד מחליף לתהליך אחר, המערכת חייבת לשמור את המצב של התהליך הנוכחי, ולטעון את המצב של התהליך הנכנס בעזרת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Context switch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המצב של תהליך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P0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נשמר ב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PCB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שלו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טעינת המצב הקודם מ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PCB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P1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בזמן ההחלפה המערכת במצב של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הזמן תלוי בעיקר במהירות החומרה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Picture 2" descr=""/>
          <p:cNvPicPr/>
          <p:nvPr/>
        </p:nvPicPr>
        <p:blipFill>
          <a:blip r:embed="rId1"/>
          <a:srcRect l="6257" t="4138" r="16028" b="3935"/>
          <a:stretch/>
        </p:blipFill>
        <p:spPr>
          <a:xfrm>
            <a:off x="0" y="1521720"/>
            <a:ext cx="6625440" cy="52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 Scheduling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אחת מטרות של מערכת ההפעלה היא להגיע לניצול המעבד בצורה מקסימלית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במהלך פעולתו של תהליך הוא מבצע, בין היתר, פעולות קלט פלט לקבצים או מהמשתמש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בזמן זה התהליך לא מבצע פעולות עיבוד ולכן למעבד אין צורך לעבוד עם התהליך הזה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לכן מערכת ההפעלה מנהלת את התהליכים בעזרת תורים, ומחליפה ביניהם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כמו כן, ייתכנו תהליכים עם פקודות עיבוד ארוכות מאוד שעלולים לתפוס את המעבד לזמן גדול, מה שיגרום לקיפוח תהליכים אחרים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Scheduling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Process Scheduler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מתזמן התהליכים – בוחר מתוך התהליכים הזמינים מי הבא בתור למעבד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מנהל מספר תורים של תהליכים (אופן הניהול ובחירת התהליכים יילמד בהמשך)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Job Queue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תור של כל התהליכים במערכת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 Queue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תור של כל התליכים שנמצאים בזכרון הראשי, מוכנים וממתינים לביצוע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Device Queue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תור של תהליכים הממתינים להתקני קלט/פלט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התהליכים עוברים בין התורים השונים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2" descr=""/>
          <p:cNvPicPr/>
          <p:nvPr/>
        </p:nvPicPr>
        <p:blipFill>
          <a:blip r:embed="rId1"/>
          <a:stretch/>
        </p:blipFill>
        <p:spPr>
          <a:xfrm>
            <a:off x="0" y="2389680"/>
            <a:ext cx="6546600" cy="378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1119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Scheduling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253080" y="1437480"/>
            <a:ext cx="11100240" cy="500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כשתהליך נוצר הוא נכנס לתור 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וכשמגיע תורו, נכנס למעבד.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לאחר מכן, ישנן 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דרכים אופייניות לתהליך לצאת מהמעבד: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בקשת קלט פלט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נגמר הזמן שהסדרן הקצה לתהליך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התהליך מוליד תהליך נוסף – שניהם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נכנסים לאחר מכן לתור 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4"/>
              <a:tabLst>
                <a:tab algn="l" pos="0"/>
              </a:tabLst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פסיקה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בסיום כל אחת מהפעולות האלה, 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התהליך חוזר לתור 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וייכנס למעבד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שוב, עד שייסים את פעולתו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3" dur="indefinite" restart="never" nodeType="tmRoot">
          <p:childTnLst>
            <p:seq>
              <p:cTn id="124" dur="indefinite" nodeType="mainSeq">
                <p:childTnLst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Scheduling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סדרן לטווח קצר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 Scheduler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– קובע מי מבין התהליכים ירוץ כעת ויוקצה למעבד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לעיתים הסדרן היחיד במערכת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הסדרן מתבצע לעיתים קרובות מאוד - חייב לפעול מהר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סדרן לטווח ארוך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Job Scheduler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– קובע מי מבין התהליכים יעבור 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 queue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הסדכן מתבצע לעיתים יותר רחוקות – יכול לעבוד לאט יותר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תהליכים יכולים להיות מתוארים כ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I/O-bound process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מבצע רוב פעולות קלט/פלט מאשר פעולות עיבוד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CPU-bound process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מבצע רוב פעולות עיבוד מאשר פעולות קלט/פלט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תהליך אב יוצר תהליכי בנים, שבהמשך, יוצרים גם הם תהליכים בנים, בכך נוצר עץ תהליכים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אפשרויות לחלוקת משאבים: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האב והבנים חולקים יחד את כל המשאבים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הבנים חולקים חלק מהמשאבים של האב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לאב ולבנים אין משאבים משותפים כלל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אפשרויות הרצה: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האב והבן רצים במקביל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האב מחכה שהבן יסיים את פעולתו ולאחר מכן ממשיך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מרחב כתובות: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הבן הוא שכפול של האבא – אותו קוד ואותם משתנים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הבן מקבל תוכנית חדשה לביצוע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הפקודה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fork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היא קריאת מערכת כדי ליצור תהליך חדש. התהליך החדש (תהליך בן) הוא כמעט העתק מדוייק של תהליך האב.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הפקודה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exec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מתבצעת אחרי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fork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כדי להחליף את הקוד של התהליך בקוד אחר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2" descr=""/>
          <p:cNvPicPr/>
          <p:nvPr/>
        </p:nvPicPr>
        <p:blipFill>
          <a:blip r:embed="rId1"/>
          <a:srcRect l="384" t="33248" r="576" b="33253"/>
          <a:stretch/>
        </p:blipFill>
        <p:spPr>
          <a:xfrm>
            <a:off x="2817000" y="4513320"/>
            <a:ext cx="6557760" cy="1663200"/>
          </a:xfrm>
          <a:prstGeom prst="rect">
            <a:avLst/>
          </a:prstGeom>
          <a:noFill/>
          <a:ln w="38160">
            <a:solidFill>
              <a:srgbClr val="cc6600"/>
            </a:solidFill>
            <a:miter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7" dur="indefinite" restart="never" nodeType="tmRoot">
          <p:childTnLst>
            <p:seq>
              <p:cTn id="228" dur="indefinite" nodeType="mainSeq">
                <p:childTnLst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55800"/>
            <a:ext cx="10515240" cy="90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3600"/>
            </a:b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956520"/>
            <a:ext cx="10515240" cy="579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NewRoman,Bold"/>
              </a:rPr>
              <a:t>SYNOPSIS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#include &lt;sys/types.h&gt;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TimesNewRoman,Italic"/>
              </a:rPr>
              <a:t>pid_t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fork(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TimesNewRoman,Italic"/>
              </a:rPr>
              <a:t>void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);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The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TimesNewRoman,Italic"/>
              </a:rPr>
              <a:t>fork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command copies all of the process (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the code = the program, the data = global variables, the stack = automatic variable [local variables in the function] and the program counter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). The new process has a different pid and its ppid is the same as the pid of the calling process.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NewRoman,Bold"/>
              </a:rPr>
              <a:t>RETURN VALUES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Upon successful completion,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NewRoman,Bold"/>
              </a:rPr>
              <a:t>fork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() returns a value </a:t>
            </a:r>
            <a:r>
              <a:rPr b="0" lang="en-US" sz="2800" strike="noStrike" u="sng">
                <a:solidFill>
                  <a:schemeClr val="dk1"/>
                </a:solidFill>
                <a:effectLst/>
                <a:uFillTx/>
                <a:latin typeface="TimesNewRoman"/>
              </a:rPr>
              <a:t>of 0 to the child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 process and returns the </a:t>
            </a:r>
            <a:r>
              <a:rPr b="0" lang="en-US" sz="2800" strike="noStrike" u="sng">
                <a:solidFill>
                  <a:schemeClr val="dk1"/>
                </a:solidFill>
                <a:effectLst/>
                <a:uFillTx/>
                <a:latin typeface="TimesNewRoman"/>
              </a:rPr>
              <a:t>process ID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sng">
                <a:solidFill>
                  <a:schemeClr val="dk1"/>
                </a:solidFill>
                <a:effectLst/>
                <a:uFillTx/>
                <a:latin typeface="TimesNewRoman"/>
              </a:rPr>
              <a:t>of the child process to the parent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 process.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Otherwise, a value of -1 is returned to the parent process, no child process is created, and the global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variable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TimesNewRoman,Italic"/>
              </a:rPr>
              <a:t>errno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is set to indicate the error.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Note: If the process has open files and performs fork(), then any change in the read/write head in any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process will entail the same change in the other processes, since the read/write head is shared for all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NewRoman"/>
              </a:rPr>
              <a:t>processes because it is managed by the system.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0" name="Picture 3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10681920" cy="437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3" descr=""/>
          <p:cNvPicPr/>
          <p:nvPr/>
        </p:nvPicPr>
        <p:blipFill>
          <a:blip r:embed="rId1"/>
          <a:stretch/>
        </p:blipFill>
        <p:spPr>
          <a:xfrm>
            <a:off x="1830600" y="1690560"/>
            <a:ext cx="8530560" cy="48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796000" y="1825560"/>
            <a:ext cx="55576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מה יהיה הפלט של התוכנית הבאה?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תשובה: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56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65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תלוי מי מתבצע קודם, הבן או האבא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(תלוי בסדרן התהליכים של מערכת ההפעלה)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3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4352400" cy="402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3" dur="indefinite" restart="never" nodeType="tmRoot">
          <p:childTnLst>
            <p:seq>
              <p:cTn id="254" dur="indefinite" nodeType="mainSeq">
                <p:childTnLst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796000" y="1825560"/>
            <a:ext cx="55576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מה יהיה הפלט של התוכנית הבאה?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תשובה: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2133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1233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1323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2313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3321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לא אפשרי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3312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לא אפשרי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Picture 4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4154400" cy="446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9" dur="indefinite" restart="never" nodeType="tmRoot">
          <p:childTnLst>
            <p:seq>
              <p:cTn id="260" dur="indefinite" nodeType="mainSeq">
                <p:childTnLst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הפקודה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מציגה מידע על התהליכים הפעילים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Picture 3" descr=""/>
          <p:cNvPicPr/>
          <p:nvPr/>
        </p:nvPicPr>
        <p:blipFill>
          <a:blip r:embed="rId1"/>
          <a:stretch/>
        </p:blipFill>
        <p:spPr>
          <a:xfrm>
            <a:off x="1264320" y="2377440"/>
            <a:ext cx="5448600" cy="3513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2" name="Table 4"/>
          <p:cNvGraphicFramePr/>
          <p:nvPr/>
        </p:nvGraphicFramePr>
        <p:xfrm>
          <a:off x="1264320" y="3137400"/>
          <a:ext cx="10089360" cy="2686320"/>
        </p:xfrm>
        <a:graphic>
          <a:graphicData uri="http://schemas.openxmlformats.org/drawingml/2006/table">
            <a:tbl>
              <a:tblPr/>
              <a:tblGrid>
                <a:gridCol w="2097720"/>
                <a:gridCol w="7991280"/>
              </a:tblGrid>
              <a:tr h="464400"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Option</a:t>
                      </a:r>
                      <a:endParaRPr b="0" lang="en-IL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888888"/>
                      </a:solidFill>
                      <a:prstDash val="solid"/>
                    </a:lnL>
                    <a:lnR w="9360">
                      <a:solidFill>
                        <a:srgbClr val="888888"/>
                      </a:solidFill>
                      <a:prstDash val="solid"/>
                    </a:lnR>
                    <a:lnT w="9360">
                      <a:solidFill>
                        <a:srgbClr val="888888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Description</a:t>
                      </a:r>
                      <a:endParaRPr b="0" lang="en-IL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888888"/>
                      </a:solidFill>
                      <a:prstDash val="solid"/>
                    </a:lnL>
                    <a:lnR w="9360">
                      <a:solidFill>
                        <a:srgbClr val="888888"/>
                      </a:solidFill>
                      <a:prstDash val="solid"/>
                    </a:lnR>
                    <a:lnT w="9360">
                      <a:solidFill>
                        <a:srgbClr val="888888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</a:tr>
              <a:tr h="828000"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-a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Displays all processes on a terminal, with the exception of group leaders.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464400"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-e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Displays all processes.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464400"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-f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Displays a full listing.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464400"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-l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lIns="81000" rIns="81000" tIns="32400" bIns="32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Displays a long listing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81000" marT="32400" marB="3240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PID – process ID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TTY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הטרמינל השולט בתהליך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TIME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זמן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שהתהליך צרך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CMD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שם הפקודה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PPID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מספר תהליך האב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(למשל האבא של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הוא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901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שהוא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שרץ על הטרמינל)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5" name="Picture 4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5154120" cy="147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5" descr=""/>
          <p:cNvPicPr/>
          <p:nvPr/>
        </p:nvPicPr>
        <p:blipFill>
          <a:blip r:embed="rId2"/>
          <a:stretch/>
        </p:blipFill>
        <p:spPr>
          <a:xfrm>
            <a:off x="964800" y="3800880"/>
            <a:ext cx="10182240" cy="99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8" name="Content Placeholder 3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10814760" cy="238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הפקודה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kill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"הורגת" תהליכים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kill IDs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IDs – </a:t>
            </a: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מספרי התהליכים שרוצים להרוג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1" name="Picture 3" descr=""/>
          <p:cNvPicPr/>
          <p:nvPr/>
        </p:nvPicPr>
        <p:blipFill>
          <a:blip r:embed="rId1"/>
          <a:stretch/>
        </p:blipFill>
        <p:spPr>
          <a:xfrm>
            <a:off x="1999440" y="3088800"/>
            <a:ext cx="8192880" cy="35877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2" name="Straight Connector 5"/>
          <p:cNvCxnSpPr/>
          <p:nvPr/>
        </p:nvCxnSpPr>
        <p:spPr>
          <a:xfrm>
            <a:off x="1999080" y="4868640"/>
            <a:ext cx="8193600" cy="360"/>
          </a:xfrm>
          <a:prstGeom prst="straightConnector1">
            <a:avLst/>
          </a:prstGeom>
          <a:ln>
            <a:solidFill>
              <a:srgbClr val="ed7d31"/>
            </a:solidFill>
          </a:ln>
        </p:spPr>
      </p:cxn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48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5000" lnSpcReduction="1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הפקודה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top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מספקת סטטיסטיקות על כל התהליכים הפעילים במערכת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SIZE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גודל התהליך בזכרון הוירטואלי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RSS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גודל התהליך בזכרון הפיזי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STATE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מצב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cpu0 -  </a:t>
            </a: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התהליך רץ על מעבד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run – </a:t>
            </a: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התהליך ממתין בתור לריצה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PRI, NICE – priority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TIME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זמן שהתהליך רץ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 - %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ניצול מעבד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PROCESS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שם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Picture 6" descr=""/>
          <p:cNvPicPr/>
          <p:nvPr/>
        </p:nvPicPr>
        <p:blipFill>
          <a:blip r:embed="rId1"/>
          <a:stretch/>
        </p:blipFill>
        <p:spPr>
          <a:xfrm>
            <a:off x="838080" y="2114640"/>
            <a:ext cx="7250400" cy="171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ישנה אפשרות להריץ תהליכים ברקע, ובמקביל לבצע פקודות ודברים נוספים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כתיבת פקודה ולאחריה &amp; 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תריץ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את הפקודה ברקע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הרצת תהליך ומיד לאחר מכן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CTRL+Z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תשהה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את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שימוש בפקודה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מאפשרת להריץ תהליך ברקע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background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הפקודה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jobs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תציג לנו את כל התהליכים המתבצעים והמושהים ברקע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הפקודה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תחזיר תהליך שמתבצע ברקע, להתבצע בחזית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Content Placeholder 3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4718160" cy="140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4"/>
          <p:cNvSpPr/>
          <p:nvPr/>
        </p:nvSpPr>
        <p:spPr>
          <a:xfrm>
            <a:off x="7588080" y="1488960"/>
            <a:ext cx="3765240" cy="16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marL="457200" indent="-457200" algn="r" defTabSz="914400" rtl="1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הרצת לולאה אינסופית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while.sh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r" defTabSz="914400" rtl="1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CTRL+Z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באמצע ההרצה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r" defTabSz="914400" rtl="1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STOPPED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התהליך מושהה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r" defTabSz="914400" rtl="1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jobs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מציג עבודות רקע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[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] - מספר העבודה כרגע מושהה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Picture 5" descr=""/>
          <p:cNvPicPr/>
          <p:nvPr/>
        </p:nvPicPr>
        <p:blipFill>
          <a:blip r:embed="rId2"/>
          <a:stretch/>
        </p:blipFill>
        <p:spPr>
          <a:xfrm>
            <a:off x="838080" y="3277440"/>
            <a:ext cx="4743000" cy="140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6"/>
          <p:cNvSpPr/>
          <p:nvPr/>
        </p:nvSpPr>
        <p:spPr>
          <a:xfrm>
            <a:off x="7305840" y="3580560"/>
            <a:ext cx="404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כעת יש לנו </a:t>
            </a:r>
            <a:r>
              <a:rPr b="0" lang="en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en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עבודות ברקע ושתיהן מושהות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7305840" y="4680720"/>
            <a:ext cx="43185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marL="285840" indent="-285840" algn="r" defTabSz="914400" rtl="1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 : העבודה הנוכחית שעליה יפעלו הפקודות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r" defTabSz="914400" rtl="1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: העודה הבאה שעליה יפעלו הפקודות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8" descr=""/>
          <p:cNvPicPr/>
          <p:nvPr/>
        </p:nvPicPr>
        <p:blipFill>
          <a:blip r:embed="rId3"/>
          <a:stretch/>
        </p:blipFill>
        <p:spPr>
          <a:xfrm>
            <a:off x="838080" y="5218920"/>
            <a:ext cx="4743000" cy="115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7" dur="indefinite" restart="never" nodeType="tmRoot">
          <p:childTnLst>
            <p:seq>
              <p:cTn id="268" dur="indefinite" nodeType="mainSeq">
                <p:childTnLst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Processes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6" name="Content Placeholder 12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4948560" cy="437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Box 13"/>
          <p:cNvSpPr/>
          <p:nvPr/>
        </p:nvSpPr>
        <p:spPr>
          <a:xfrm>
            <a:off x="6095880" y="2599560"/>
            <a:ext cx="5257440" cy="28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r" defTabSz="914400" rtl="1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%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מציין את מספר העבודה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שאליו נרצה לשלוח פקודה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r" defTabSz="914400" rtl="1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ע"י פקודת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kill –STOP %2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לשלוח סיגנל של עצירה לעבודה מספר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r" defTabSz="914400" rtl="1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ע"י פקודת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bg %2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עבודה מספר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תחזור לעבוד ברקע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r" defTabSz="914400" rtl="1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הרצת פקודה ואחריה &amp; - תהליך </a:t>
            </a:r>
            <a:r>
              <a:rPr b="1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רץ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ברקע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r" defTabSz="914400" rtl="1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ע"י פקודת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fg %1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עבודה מספר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תחזור לעבוד בחזית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Straight Arrow Connector 15"/>
          <p:cNvCxnSpPr/>
          <p:nvPr/>
        </p:nvCxnSpPr>
        <p:spPr>
          <a:xfrm flipH="1" flipV="1">
            <a:off x="3193200" y="3429000"/>
            <a:ext cx="6091560" cy="2430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49" name="Straight Arrow Connector 17"/>
          <p:cNvCxnSpPr/>
          <p:nvPr/>
        </p:nvCxnSpPr>
        <p:spPr>
          <a:xfrm flipH="1" flipV="1">
            <a:off x="2895840" y="4191840"/>
            <a:ext cx="7162920" cy="990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50" name="Straight Arrow Connector 19"/>
          <p:cNvCxnSpPr/>
          <p:nvPr/>
        </p:nvCxnSpPr>
        <p:spPr>
          <a:xfrm flipH="1">
            <a:off x="2895840" y="4970520"/>
            <a:ext cx="7303320" cy="50004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51" name="Straight Arrow Connector 23"/>
          <p:cNvCxnSpPr/>
          <p:nvPr/>
        </p:nvCxnSpPr>
        <p:spPr>
          <a:xfrm flipH="1" flipV="1">
            <a:off x="3402720" y="4442040"/>
            <a:ext cx="3434400" cy="17172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52" name="Straight Connector 27"/>
          <p:cNvCxnSpPr/>
          <p:nvPr/>
        </p:nvCxnSpPr>
        <p:spPr>
          <a:xfrm>
            <a:off x="1279800" y="5290560"/>
            <a:ext cx="141948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תרגיל: צרו קובץ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shell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עם לולאה אינסופית המבצעת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I=1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בתוך הלולאה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הפעילו את הקובץ מהטרמינל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פתחו טרמינל נוסף והציגו את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הקובץ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הרגו את הקובץ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6" name="Picture 6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3888360" cy="173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7" descr=""/>
          <p:cNvPicPr/>
          <p:nvPr/>
        </p:nvPicPr>
        <p:blipFill>
          <a:blip r:embed="rId2"/>
          <a:stretch/>
        </p:blipFill>
        <p:spPr>
          <a:xfrm>
            <a:off x="838080" y="3427200"/>
            <a:ext cx="9244440" cy="260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9" name="Picture 6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3888360" cy="173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2" descr=""/>
          <p:cNvPicPr/>
          <p:nvPr/>
        </p:nvPicPr>
        <p:blipFill>
          <a:blip r:embed="rId2"/>
          <a:stretch/>
        </p:blipFill>
        <p:spPr>
          <a:xfrm>
            <a:off x="838080" y="3427200"/>
            <a:ext cx="10793160" cy="169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Picture 6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3803760" cy="239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תהליך האב יוצר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בנים ומסתיים, הבנים בלולאה אינסופית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4" name="Picture 7" descr=""/>
          <p:cNvPicPr/>
          <p:nvPr/>
        </p:nvPicPr>
        <p:blipFill>
          <a:blip r:embed="rId2"/>
          <a:stretch/>
        </p:blipFill>
        <p:spPr>
          <a:xfrm>
            <a:off x="838080" y="4224600"/>
            <a:ext cx="9925560" cy="263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Rectangle 8"/>
          <p:cNvSpPr/>
          <p:nvPr/>
        </p:nvSpPr>
        <p:spPr>
          <a:xfrm>
            <a:off x="4642200" y="3301200"/>
            <a:ext cx="57099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5400" strike="noStrike" u="non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</a:rPr>
              <a:t>kill 1052 1053 1054</a:t>
            </a:r>
            <a:endParaRPr b="0" lang="en-IL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" name="Straight Connector 10"/>
          <p:cNvCxnSpPr/>
          <p:nvPr/>
        </p:nvCxnSpPr>
        <p:spPr>
          <a:xfrm flipH="1">
            <a:off x="2391480" y="6162840"/>
            <a:ext cx="796140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167" name="Straight Connector 11"/>
          <p:cNvCxnSpPr/>
          <p:nvPr/>
        </p:nvCxnSpPr>
        <p:spPr>
          <a:xfrm flipH="1">
            <a:off x="2391480" y="6584760"/>
            <a:ext cx="796140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168" name="Straight Connector 12"/>
          <p:cNvCxnSpPr/>
          <p:nvPr/>
        </p:nvCxnSpPr>
        <p:spPr>
          <a:xfrm flipH="1">
            <a:off x="2391480" y="6829560"/>
            <a:ext cx="796140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3" dur="indefinite" restart="never" nodeType="tmRoot">
          <p:childTnLst>
            <p:seq>
              <p:cTn id="284" dur="indefinite" nodeType="mainSeq">
                <p:childTnLst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nodeType="after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1" dur="20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838080" y="18478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על מנת ש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gcc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יעבוד עם #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include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יש לכתוב בטרמינל את השורה: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dpkg --configure –a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ולאחר מכן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apt-get install build-essential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Processes</a:t>
            </a:r>
            <a:br>
              <a:rPr sz="44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Process Creation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80" y="18478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תרגיל: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כתבו תוכנית ב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היוצרת תהליך בן, תוכנית האב תדפיס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“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 am father, my son pid is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###” כאשר ### הוא מספר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הבן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תוכנית הבן תדפיס “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 am son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תרגיל: כתבו תוכנית ב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היוצרת תהליך בן שנכנס ללולאה אינסופית, כאשר תהליך האבא מדפיס את מספר 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הבן. הרגו את תהליך הבן בעזרת הפקודה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kill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2104</TotalTime>
  <Application>LibreOffice/25.8.1.1$Linux_X86_64 LibreOffice_project/580$Build-1</Application>
  <AppVersion>15.0000</AppVersion>
  <Words>1750</Words>
  <Paragraphs>265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2017-11-06T08:04:51Z</dcterms:created>
  <dc:creator>Yechezkel</dc:creator>
  <dc:description/>
  <dc:language>en-IL</dc:language>
  <cp:lastModifiedBy>גיא יחזקאל</cp:lastModifiedBy>
  <dcterms:modified xsi:type="dcterms:W3CDTF">2025-11-23T13:17:56Z</dcterms:modified>
  <cp:revision>148</cp:revision>
  <dc:subject/>
  <dc:title>Processes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Widescreen</vt:lpwstr>
  </property>
  <property fmtid="{D5CDD505-2E9C-101B-9397-08002B2CF9AE}" pid="4" name="Slides">
    <vt:i4>36</vt:i4>
  </property>
</Properties>
</file>