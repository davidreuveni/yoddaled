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68" r:id="rId1"/>
  </p:sldMasterIdLst>
  <p:sldIdLst>
    <p:sldId id="256" r:id="rId2"/>
    <p:sldId id="257" r:id="rId3"/>
    <p:sldId id="264" r:id="rId4"/>
    <p:sldId id="258" r:id="rId5"/>
    <p:sldId id="259" r:id="rId6"/>
    <p:sldId id="260" r:id="rId7"/>
    <p:sldId id="268" r:id="rId8"/>
    <p:sldId id="269" r:id="rId9"/>
    <p:sldId id="270" r:id="rId10"/>
    <p:sldId id="271" r:id="rId11"/>
    <p:sldId id="272" r:id="rId12"/>
    <p:sldId id="273" r:id="rId13"/>
    <p:sldId id="261" r:id="rId14"/>
    <p:sldId id="262" r:id="rId15"/>
    <p:sldId id="263" r:id="rId16"/>
    <p:sldId id="266" r:id="rId17"/>
    <p:sldId id="265" r:id="rId18"/>
    <p:sldId id="267" r:id="rId19"/>
    <p:sldId id="274" r:id="rId20"/>
    <p:sldId id="275" r:id="rId21"/>
    <p:sldId id="276" r:id="rId22"/>
    <p:sldId id="277" r:id="rId23"/>
    <p:sldId id="278" r:id="rId24"/>
    <p:sldId id="283" r:id="rId25"/>
    <p:sldId id="284" r:id="rId26"/>
    <p:sldId id="285" r:id="rId27"/>
    <p:sldId id="286" r:id="rId28"/>
    <p:sldId id="287" r:id="rId29"/>
    <p:sldId id="288" r:id="rId30"/>
    <p:sldId id="279" r:id="rId31"/>
    <p:sldId id="280" r:id="rId32"/>
    <p:sldId id="281" r:id="rId33"/>
    <p:sldId id="282" r:id="rId34"/>
    <p:sldId id="289" r:id="rId35"/>
    <p:sldId id="290" r:id="rId36"/>
    <p:sldId id="291" r:id="rId37"/>
    <p:sldId id="292" r:id="rId38"/>
    <p:sldId id="293" r:id="rId39"/>
    <p:sldId id="299" r:id="rId40"/>
    <p:sldId id="294" r:id="rId41"/>
    <p:sldId id="295" r:id="rId42"/>
    <p:sldId id="296" r:id="rId43"/>
    <p:sldId id="300" r:id="rId44"/>
    <p:sldId id="302" r:id="rId45"/>
    <p:sldId id="303" r:id="rId46"/>
    <p:sldId id="304" r:id="rId47"/>
    <p:sldId id="301" r:id="rId48"/>
    <p:sldId id="297" r:id="rId49"/>
    <p:sldId id="298" r:id="rId50"/>
    <p:sldId id="305" r:id="rId51"/>
    <p:sldId id="306" r:id="rId52"/>
    <p:sldId id="307" r:id="rId53"/>
    <p:sldId id="308" r:id="rId54"/>
    <p:sldId id="312" r:id="rId55"/>
    <p:sldId id="309" r:id="rId56"/>
    <p:sldId id="310" r:id="rId57"/>
    <p:sldId id="313" r:id="rId58"/>
    <p:sldId id="314" r:id="rId59"/>
    <p:sldId id="315" r:id="rId60"/>
    <p:sldId id="316" r:id="rId61"/>
    <p:sldId id="317" r:id="rId62"/>
    <p:sldId id="311" r:id="rId63"/>
    <p:sldId id="318" r:id="rId64"/>
    <p:sldId id="319" r:id="rId65"/>
    <p:sldId id="320" r:id="rId66"/>
    <p:sldId id="321" r:id="rId67"/>
    <p:sldId id="322" r:id="rId68"/>
    <p:sldId id="323" r:id="rId69"/>
    <p:sldId id="328" r:id="rId70"/>
    <p:sldId id="329" r:id="rId71"/>
    <p:sldId id="330" r:id="rId72"/>
    <p:sldId id="331" r:id="rId73"/>
    <p:sldId id="332" r:id="rId74"/>
    <p:sldId id="324" r:id="rId75"/>
    <p:sldId id="325" r:id="rId76"/>
    <p:sldId id="333" r:id="rId77"/>
    <p:sldId id="334" r:id="rId78"/>
    <p:sldId id="335" r:id="rId79"/>
    <p:sldId id="336" r:id="rId80"/>
    <p:sldId id="326" r:id="rId81"/>
    <p:sldId id="327" r:id="rId82"/>
    <p:sldId id="337" r:id="rId83"/>
    <p:sldId id="338" r:id="rId84"/>
    <p:sldId id="339" r:id="rId85"/>
    <p:sldId id="340" r:id="rId86"/>
    <p:sldId id="341" r:id="rId87"/>
    <p:sldId id="345" r:id="rId88"/>
    <p:sldId id="346" r:id="rId89"/>
    <p:sldId id="347" r:id="rId90"/>
    <p:sldId id="348" r:id="rId91"/>
    <p:sldId id="349" r:id="rId92"/>
    <p:sldId id="342" r:id="rId93"/>
    <p:sldId id="350" r:id="rId94"/>
    <p:sldId id="351" r:id="rId95"/>
    <p:sldId id="352" r:id="rId96"/>
    <p:sldId id="353" r:id="rId97"/>
    <p:sldId id="343" r:id="rId98"/>
    <p:sldId id="344" r:id="rId99"/>
    <p:sldId id="354" r:id="rId100"/>
    <p:sldId id="355" r:id="rId101"/>
    <p:sldId id="356" r:id="rId102"/>
    <p:sldId id="357" r:id="rId103"/>
    <p:sldId id="358" r:id="rId104"/>
    <p:sldId id="363" r:id="rId105"/>
    <p:sldId id="364" r:id="rId106"/>
    <p:sldId id="365" r:id="rId107"/>
    <p:sldId id="366" r:id="rId108"/>
    <p:sldId id="359" r:id="rId109"/>
    <p:sldId id="360" r:id="rId110"/>
    <p:sldId id="367" r:id="rId111"/>
    <p:sldId id="368" r:id="rId112"/>
    <p:sldId id="361" r:id="rId113"/>
    <p:sldId id="362" r:id="rId114"/>
    <p:sldId id="369" r:id="rId115"/>
    <p:sldId id="370" r:id="rId116"/>
    <p:sldId id="371" r:id="rId117"/>
    <p:sldId id="372" r:id="rId118"/>
    <p:sldId id="373" r:id="rId119"/>
    <p:sldId id="374" r:id="rId120"/>
    <p:sldId id="375" r:id="rId121"/>
    <p:sldId id="376" r:id="rId122"/>
    <p:sldId id="377" r:id="rId123"/>
    <p:sldId id="378" r:id="rId124"/>
    <p:sldId id="379" r:id="rId1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5" d="100"/>
          <a:sy n="115" d="100"/>
        </p:scale>
        <p:origin x="37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tableStyles" Target="tableStyle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שקופית כותרת">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he-IL" smtClean="0"/>
              <a:t>לחץ כדי לערוך סגנון כותרת של תבנית בסיס</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smtClean="0"/>
              <a:t>לחץ כדי לערוך סגנון כותרת משנה של תבנית בסיס</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DDA51639-B2D6-4652-B8C3-1B4C224A7BAF}" type="datetimeFigureOut">
              <a:rPr lang="en-US" dirty="0"/>
              <a:t>1/26/2025</a:t>
            </a:fld>
            <a:endParaRPr lang="en-US" dirty="0"/>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US" dirty="0"/>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4FAB73BC-B049-4115-A692-8D63A059BFB8}" type="slidenum">
              <a:rPr lang="en-US" dirty="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smtClean="0"/>
              <a:t>לחץ כדי לערוך סגנון כותרת של תבנית בסיס</a:t>
            </a:r>
            <a:endParaRPr lang="en-US" dirty="0"/>
          </a:p>
        </p:txBody>
      </p:sp>
      <p:sp>
        <p:nvSpPr>
          <p:cNvPr id="3" name="Content Placeholder 2"/>
          <p:cNvSpPr>
            <a:spLocks noGrp="1"/>
          </p:cNvSpPr>
          <p:nvPr>
            <p:ph idx="1"/>
          </p:nvPr>
        </p:nvSpPr>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en-US" dirty="0"/>
          </a:p>
        </p:txBody>
      </p:sp>
      <p:sp>
        <p:nvSpPr>
          <p:cNvPr id="7" name="Date Placeholder 6"/>
          <p:cNvSpPr>
            <a:spLocks noGrp="1"/>
          </p:cNvSpPr>
          <p:nvPr>
            <p:ph type="dt" sz="half" idx="10"/>
          </p:nvPr>
        </p:nvSpPr>
        <p:spPr/>
        <p:txBody>
          <a:bodyPr/>
          <a:lstStyle/>
          <a:p>
            <a:fld id="{82FF5DD9-2C52-442D-92E2-8072C0C3D7CD}" type="datetimeFigureOut">
              <a:rPr lang="en-US" dirty="0"/>
              <a:t>1/26/2025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כותרת מקטע עליונה">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he-IL" smtClean="0"/>
              <a:t>לחץ כדי לערוך סגנון כותרת של תבנית בסיס</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smtClean="0"/>
              <a:t>ערוך סגנונות טקסט של תבנית בסיס</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C44961B7-6B89-48AB-966F-622E2788EECC}" type="datetimeFigureOut">
              <a:rPr lang="en-US" dirty="0"/>
              <a:t>1/26/2025</a:t>
            </a:fld>
            <a:endParaRPr lang="en-US" dirty="0"/>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US" dirty="0"/>
          </a:p>
        </p:txBody>
      </p:sp>
      <p:sp>
        <p:nvSpPr>
          <p:cNvPr id="6" name="Slide Number Placeholder 5"/>
          <p:cNvSpPr>
            <a:spLocks noGrp="1"/>
          </p:cNvSpPr>
          <p:nvPr>
            <p:ph type="sldNum" sz="quarter" idx="12"/>
          </p:nvPr>
        </p:nvSpPr>
        <p:spPr>
          <a:xfrm>
            <a:off x="8604504" y="5211060"/>
            <a:ext cx="2112264" cy="228600"/>
          </a:xfrm>
        </p:spPr>
        <p:txBody>
          <a:bodyPr/>
          <a:lstStyle/>
          <a:p>
            <a:fld id="{4FAB73BC-B049-4115-A692-8D63A059BFB8}" type="slidenum">
              <a:rPr lang="en-US" dirty="0"/>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he-IL" smtClean="0"/>
              <a:t>לחץ כדי לערוך סגנון כותרת של תבנית בסיס</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en-US" dirty="0"/>
          </a:p>
        </p:txBody>
      </p:sp>
      <p:sp>
        <p:nvSpPr>
          <p:cNvPr id="5" name="Date Placeholder 4"/>
          <p:cNvSpPr>
            <a:spLocks noGrp="1"/>
          </p:cNvSpPr>
          <p:nvPr>
            <p:ph type="dt" sz="half" idx="10"/>
          </p:nvPr>
        </p:nvSpPr>
        <p:spPr/>
        <p:txBody>
          <a:bodyPr/>
          <a:lstStyle/>
          <a:p>
            <a:fld id="{DBD3D6FB-79CC-4683-A046-BBE785BA1BED}" type="datetimeFigureOut">
              <a:rPr lang="en-US" dirty="0"/>
              <a:t>1/26/2025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smtClean="0"/>
              <a:t>לחץ כדי לערוך סגנון כותרת של תבנית בסיס</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ערוך סגנונות טקסט של תבנית בסיס</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ערוך סגנונות טקסט של תבנית בסיס</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en-US" dirty="0"/>
          </a:p>
        </p:txBody>
      </p:sp>
      <p:sp>
        <p:nvSpPr>
          <p:cNvPr id="7" name="Date Placeholder 6"/>
          <p:cNvSpPr>
            <a:spLocks noGrp="1"/>
          </p:cNvSpPr>
          <p:nvPr>
            <p:ph type="dt" sz="half" idx="10"/>
          </p:nvPr>
        </p:nvSpPr>
        <p:spPr/>
        <p:txBody>
          <a:bodyPr/>
          <a:lstStyle/>
          <a:p>
            <a:fld id="{9512B3E8-48F1-4B23-8498-D8A04A81EC9C}" type="datetimeFigureOut">
              <a:rPr lang="en-US" dirty="0"/>
              <a:t>1/26/2025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smtClean="0"/>
              <a:t>לחץ כדי לערוך סגנון כותרת של תבנית בסיס</a:t>
            </a:r>
            <a:endParaRPr lang="en-US" dirty="0"/>
          </a:p>
        </p:txBody>
      </p:sp>
      <p:sp>
        <p:nvSpPr>
          <p:cNvPr id="3" name="Date Placeholder 2"/>
          <p:cNvSpPr>
            <a:spLocks noGrp="1"/>
          </p:cNvSpPr>
          <p:nvPr>
            <p:ph type="dt" sz="half" idx="10"/>
          </p:nvPr>
        </p:nvSpPr>
        <p:spPr/>
        <p:txBody>
          <a:bodyPr/>
          <a:lstStyle/>
          <a:p>
            <a:fld id="{10B90D90-AA62-404D-A741-635B4370F9CB}" type="datetimeFigureOut">
              <a:rPr lang="en-US" dirty="0"/>
              <a:t>1/26/2025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7002E4-6836-46D1-9DBB-3C27C0DD3A89}" type="datetimeFigureOut">
              <a:rPr lang="en-US" dirty="0"/>
              <a:t>1/26/2025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תוכן עם כיתוב">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he-IL" smtClean="0"/>
              <a:t>לחץ כדי לערוך סגנון כותרת של תבנית בסיס</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smtClean="0"/>
              <a:t>ערוך סגנונות טקסט של תבנית בסיס</a:t>
            </a:r>
          </a:p>
        </p:txBody>
      </p:sp>
      <p:sp>
        <p:nvSpPr>
          <p:cNvPr id="8" name="Date Placeholder 7"/>
          <p:cNvSpPr>
            <a:spLocks noGrp="1"/>
          </p:cNvSpPr>
          <p:nvPr>
            <p:ph type="dt" sz="half" idx="10"/>
          </p:nvPr>
        </p:nvSpPr>
        <p:spPr/>
        <p:txBody>
          <a:bodyPr/>
          <a:lstStyle/>
          <a:p>
            <a:fld id="{1CF131DD-A141-4471-BCF9-C6073EDD7E20}" type="datetimeFigureOut">
              <a:rPr lang="en-US" dirty="0"/>
              <a:t>1/26/2025</a:t>
            </a:fld>
            <a:endParaRPr lang="en-US" dirty="0"/>
          </a:p>
        </p:txBody>
      </p:sp>
      <p:sp>
        <p:nvSpPr>
          <p:cNvPr id="9" name="Footer Placeholder 8"/>
          <p:cNvSpPr>
            <a:spLocks noGrp="1"/>
          </p:cNvSpPr>
          <p:nvPr>
            <p:ph type="ftr" sz="quarter" idx="11"/>
          </p:nvPr>
        </p:nvSpPr>
        <p:spPr/>
        <p:txBody>
          <a:bodyPr/>
          <a:lstStyle>
            <a:lvl1pPr algn="r">
              <a:defRPr/>
            </a:lvl1pPr>
          </a:lstStyle>
          <a:p>
            <a:endParaRPr lang="en-US" dirty="0"/>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4FAB73BC-B049-4115-A692-8D63A059BFB8}" type="slidenum">
              <a:rPr lang="en-US" dirty="0"/>
              <a:pPr/>
              <a:t>‹#›</a:t>
            </a:fld>
            <a:endParaRPr lang="en-US" dirty="0"/>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תמונה עם כיתוב">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he-IL" smtClean="0"/>
              <a:t>לחץ כדי לערוך סגנון כותרת של תבנית בסיס</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he-IL" smtClean="0"/>
              <a:t>לחץ על הסמל כדי להוסיף תמונה</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smtClean="0"/>
              <a:t>ערוך סגנונות טקסט של תבנית בסיס</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AB334A90-EB03-42F3-8859-2C2B2724C058}" type="datetimeFigureOut">
              <a:rPr lang="en-US" dirty="0"/>
              <a:t>1/26/2025</a:t>
            </a:fld>
            <a:endParaRPr lang="en-US" dirty="0"/>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US" dirty="0"/>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4FAB73BC-B049-4115-A692-8D63A059BFB8}" type="slidenum">
              <a:rPr lang="en-US" dirty="0"/>
              <a:pPr/>
              <a:t>‹#›</a:t>
            </a:fld>
            <a:endParaRPr lang="en-US" dirty="0"/>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smtClean="0"/>
              <a:t>לחץ כדי לערוך סגנון כותרת של תבנית בסיס</a:t>
            </a:r>
            <a:endParaRPr lang="en-US" dirty="0"/>
          </a:p>
        </p:txBody>
      </p:sp>
      <p:sp>
        <p:nvSpPr>
          <p:cNvPr id="3" name="Vertical Text Placeholder 2"/>
          <p:cNvSpPr>
            <a:spLocks noGrp="1"/>
          </p:cNvSpPr>
          <p:nvPr>
            <p:ph type="body" orient="vert" idx="1"/>
          </p:nvPr>
        </p:nvSpPr>
        <p:spPr/>
        <p:txBody>
          <a:bodyPr vert="eaVert"/>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en-US" dirty="0"/>
          </a:p>
        </p:txBody>
      </p:sp>
      <p:sp>
        <p:nvSpPr>
          <p:cNvPr id="4" name="Date Placeholder 3"/>
          <p:cNvSpPr>
            <a:spLocks noGrp="1"/>
          </p:cNvSpPr>
          <p:nvPr>
            <p:ph type="dt" sz="half" idx="10"/>
          </p:nvPr>
        </p:nvSpPr>
        <p:spPr/>
        <p:txBody>
          <a:bodyPr/>
          <a:lstStyle/>
          <a:p>
            <a:fld id="{D11A6AA8-A04B-4104-9AE2-BD48D340E27F}" type="datetimeFigureOut">
              <a:rPr lang="en-US" dirty="0"/>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he-IL" smtClean="0"/>
              <a:t>לחץ כדי לערוך סגנון כותרת של תבנית בסיס</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en-US" dirty="0"/>
          </a:p>
        </p:txBody>
      </p:sp>
      <p:sp>
        <p:nvSpPr>
          <p:cNvPr id="4" name="Date Placeholder 3"/>
          <p:cNvSpPr>
            <a:spLocks noGrp="1"/>
          </p:cNvSpPr>
          <p:nvPr>
            <p:ph type="dt" sz="half" idx="10"/>
          </p:nvPr>
        </p:nvSpPr>
        <p:spPr/>
        <p:txBody>
          <a:bodyPr/>
          <a:lstStyle/>
          <a:p>
            <a:fld id="{B4E0BF79-FAC6-4A96-8DE1-F7B82E2E1652}" type="datetimeFigureOut">
              <a:rPr lang="en-US" dirty="0"/>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he-IL" smtClean="0"/>
              <a:t>לחץ כדי לערוך סגנון כותרת של תבנית בסיס</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CBC48EC7-AF6A-48D3-8284-14BACBEBDD84}" type="datetimeFigureOut">
              <a:rPr lang="en-US" dirty="0"/>
              <a:t>1/26/2025</a:t>
            </a:fld>
            <a:endParaRPr lang="en-US" dirty="0"/>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sldNum="0" hdr="0" ftr="0" dt="0"/>
  <p:txStyles>
    <p:titleStyle>
      <a:lvl1pPr algn="l" defTabSz="914400" rtl="1"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r" defTabSz="914400" rtl="1"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r" defTabSz="914400" rtl="1"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ctrTitle"/>
          </p:nvPr>
        </p:nvSpPr>
        <p:spPr/>
        <p:txBody>
          <a:bodyPr/>
          <a:lstStyle/>
          <a:p>
            <a:r>
              <a:rPr lang="he-IL" dirty="0" smtClean="0"/>
              <a:t>הרצאה מס' 8 </a:t>
            </a:r>
            <a:endParaRPr lang="he-IL" dirty="0"/>
          </a:p>
        </p:txBody>
      </p:sp>
      <p:sp>
        <p:nvSpPr>
          <p:cNvPr id="3" name="כותרת משנה 2"/>
          <p:cNvSpPr>
            <a:spLocks noGrp="1"/>
          </p:cNvSpPr>
          <p:nvPr>
            <p:ph type="subTitle" idx="1"/>
          </p:nvPr>
        </p:nvSpPr>
        <p:spPr/>
        <p:txBody>
          <a:bodyPr/>
          <a:lstStyle/>
          <a:p>
            <a:r>
              <a:rPr lang="he-IL" dirty="0" smtClean="0"/>
              <a:t>מרצה: יניב </a:t>
            </a:r>
            <a:r>
              <a:rPr lang="he-IL" dirty="0" err="1" smtClean="0"/>
              <a:t>מורדוב</a:t>
            </a:r>
            <a:endParaRPr lang="he-IL" dirty="0"/>
          </a:p>
        </p:txBody>
      </p:sp>
    </p:spTree>
    <p:extLst>
      <p:ext uri="{BB962C8B-B14F-4D97-AF65-F5344CB8AC3E}">
        <p14:creationId xmlns:p14="http://schemas.microsoft.com/office/powerpoint/2010/main" val="20486614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1025236" y="1529541"/>
            <a:ext cx="10058400" cy="3931920"/>
          </a:xfrm>
        </p:spPr>
        <p:txBody>
          <a:bodyPr>
            <a:normAutofit/>
          </a:bodyPr>
          <a:lstStyle/>
          <a:p>
            <a:pPr algn="ctr"/>
            <a:r>
              <a:rPr lang="he-IL" sz="8800" dirty="0" err="1"/>
              <a:t>סטגנוגרפיה</a:t>
            </a:r>
            <a:r>
              <a:rPr lang="he-IL" sz="8800" dirty="0"/>
              <a:t> </a:t>
            </a:r>
            <a:r>
              <a:rPr lang="en-US" sz="8800" dirty="0" smtClean="0"/>
              <a:t>Steganography</a:t>
            </a:r>
            <a:endParaRPr lang="he-IL" sz="8800" dirty="0"/>
          </a:p>
        </p:txBody>
      </p:sp>
    </p:spTree>
    <p:extLst>
      <p:ext uri="{BB962C8B-B14F-4D97-AF65-F5344CB8AC3E}">
        <p14:creationId xmlns:p14="http://schemas.microsoft.com/office/powerpoint/2010/main" val="13279449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1066800" y="2518756"/>
            <a:ext cx="10058400" cy="3931920"/>
          </a:xfrm>
        </p:spPr>
        <p:txBody>
          <a:bodyPr>
            <a:normAutofit/>
          </a:bodyPr>
          <a:lstStyle/>
          <a:p>
            <a:pPr algn="ctr"/>
            <a:r>
              <a:rPr lang="he-IL" sz="6000" dirty="0"/>
              <a:t>הגדרה, טכניקות ואיתור</a:t>
            </a:r>
          </a:p>
        </p:txBody>
      </p:sp>
    </p:spTree>
    <p:extLst>
      <p:ext uri="{BB962C8B-B14F-4D97-AF65-F5344CB8AC3E}">
        <p14:creationId xmlns:p14="http://schemas.microsoft.com/office/powerpoint/2010/main" val="26973612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6691744" y="642594"/>
            <a:ext cx="4433455" cy="1371600"/>
          </a:xfrm>
        </p:spPr>
        <p:txBody>
          <a:bodyPr/>
          <a:lstStyle/>
          <a:p>
            <a:r>
              <a:rPr lang="he-IL" dirty="0"/>
              <a:t>מהי </a:t>
            </a:r>
            <a:r>
              <a:rPr lang="he-IL" dirty="0" err="1"/>
              <a:t>סטגנוגרפיה</a:t>
            </a:r>
            <a:r>
              <a:rPr lang="he-IL" dirty="0"/>
              <a:t>?</a:t>
            </a:r>
          </a:p>
        </p:txBody>
      </p:sp>
      <p:sp>
        <p:nvSpPr>
          <p:cNvPr id="3" name="מציין מיקום תוכן 2"/>
          <p:cNvSpPr>
            <a:spLocks noGrp="1"/>
          </p:cNvSpPr>
          <p:nvPr>
            <p:ph idx="1"/>
          </p:nvPr>
        </p:nvSpPr>
        <p:spPr/>
        <p:txBody>
          <a:bodyPr/>
          <a:lstStyle/>
          <a:p>
            <a:r>
              <a:rPr lang="he-IL" b="1" dirty="0"/>
              <a:t>הגדרה:</a:t>
            </a:r>
          </a:p>
          <a:p>
            <a:r>
              <a:rPr lang="he-IL" dirty="0" err="1"/>
              <a:t>סטגנוגרפיה</a:t>
            </a:r>
            <a:r>
              <a:rPr lang="he-IL" dirty="0"/>
              <a:t> </a:t>
            </a:r>
            <a:r>
              <a:rPr lang="en-US" dirty="0" smtClean="0"/>
              <a:t>Steganography</a:t>
            </a:r>
            <a:r>
              <a:rPr lang="he-IL" dirty="0" smtClean="0"/>
              <a:t> היא </a:t>
            </a:r>
            <a:r>
              <a:rPr lang="he-IL" dirty="0"/>
              <a:t>תחום באבטחת מידע שבו מידע מוסתר בתוך מדיה אחרת, כמו תמונות, קבצי אודיו, וידאו או טקסט. המטרה היא להסתיר את עצם קיומו של המידע כדי שמי שיתבונן במדיה לא יחשוד שמשהו מוסתר בתוכה</a:t>
            </a:r>
            <a:r>
              <a:rPr lang="he-IL" dirty="0" smtClean="0"/>
              <a:t>.</a:t>
            </a:r>
          </a:p>
          <a:p>
            <a:endParaRPr lang="he-IL" dirty="0"/>
          </a:p>
          <a:p>
            <a:endParaRPr lang="he-IL" dirty="0"/>
          </a:p>
        </p:txBody>
      </p:sp>
    </p:spTree>
    <p:extLst>
      <p:ext uri="{BB962C8B-B14F-4D97-AF65-F5344CB8AC3E}">
        <p14:creationId xmlns:p14="http://schemas.microsoft.com/office/powerpoint/2010/main" val="6569669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128058" y="642594"/>
            <a:ext cx="8997142" cy="1371600"/>
          </a:xfrm>
        </p:spPr>
        <p:txBody>
          <a:bodyPr/>
          <a:lstStyle/>
          <a:p>
            <a:r>
              <a:rPr lang="he-IL" dirty="0"/>
              <a:t>הבדל בין </a:t>
            </a:r>
            <a:r>
              <a:rPr lang="he-IL" dirty="0" err="1"/>
              <a:t>סטגנוגרפיה</a:t>
            </a:r>
            <a:r>
              <a:rPr lang="he-IL" dirty="0"/>
              <a:t> לקריפטוגרפיה:</a:t>
            </a:r>
          </a:p>
        </p:txBody>
      </p:sp>
      <p:sp>
        <p:nvSpPr>
          <p:cNvPr id="3" name="מציין מיקום תוכן 2"/>
          <p:cNvSpPr>
            <a:spLocks noGrp="1"/>
          </p:cNvSpPr>
          <p:nvPr>
            <p:ph idx="1"/>
          </p:nvPr>
        </p:nvSpPr>
        <p:spPr/>
        <p:txBody>
          <a:bodyPr/>
          <a:lstStyle/>
          <a:p>
            <a:r>
              <a:rPr lang="he-IL" b="1" dirty="0"/>
              <a:t>קריפטוגרפיה</a:t>
            </a:r>
            <a:r>
              <a:rPr lang="he-IL" dirty="0"/>
              <a:t>: מתמקדת בהצפנה של המידע כך שרק מי שיש לו מפתח מתאים יכול לקרוא אותו, אך המידע גלוי לעין (כמו טקסט מוצפן</a:t>
            </a:r>
            <a:r>
              <a:rPr lang="he-IL" dirty="0" smtClean="0"/>
              <a:t>).</a:t>
            </a:r>
          </a:p>
          <a:p>
            <a:endParaRPr lang="he-IL" dirty="0"/>
          </a:p>
          <a:p>
            <a:r>
              <a:rPr lang="he-IL" b="1" dirty="0" err="1"/>
              <a:t>סטגנוגרפיה</a:t>
            </a:r>
            <a:r>
              <a:rPr lang="he-IL" dirty="0"/>
              <a:t>: מסתירה את עצם קיומו של המידע כך שאף אחד לא יידע שהוא שם.</a:t>
            </a:r>
          </a:p>
        </p:txBody>
      </p:sp>
    </p:spTree>
    <p:extLst>
      <p:ext uri="{BB962C8B-B14F-4D97-AF65-F5344CB8AC3E}">
        <p14:creationId xmlns:p14="http://schemas.microsoft.com/office/powerpoint/2010/main" val="39600562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424844" y="642594"/>
            <a:ext cx="7700356" cy="1371600"/>
          </a:xfrm>
        </p:spPr>
        <p:txBody>
          <a:bodyPr/>
          <a:lstStyle/>
          <a:p>
            <a:r>
              <a:rPr lang="he-IL" dirty="0"/>
              <a:t>טכניקות עיקריות </a:t>
            </a:r>
            <a:r>
              <a:rPr lang="he-IL" dirty="0" err="1"/>
              <a:t>בסטגנוגרפיה</a:t>
            </a:r>
            <a:r>
              <a:rPr lang="he-IL" dirty="0"/>
              <a:t>:</a:t>
            </a:r>
          </a:p>
        </p:txBody>
      </p:sp>
      <p:sp>
        <p:nvSpPr>
          <p:cNvPr id="3" name="מציין מיקום תוכן 2"/>
          <p:cNvSpPr>
            <a:spLocks noGrp="1"/>
          </p:cNvSpPr>
          <p:nvPr>
            <p:ph idx="1"/>
          </p:nvPr>
        </p:nvSpPr>
        <p:spPr/>
        <p:txBody>
          <a:bodyPr>
            <a:normAutofit/>
          </a:bodyPr>
          <a:lstStyle/>
          <a:p>
            <a:r>
              <a:rPr lang="he-IL" dirty="0" smtClean="0"/>
              <a:t>1. </a:t>
            </a:r>
            <a:r>
              <a:rPr lang="en-US" b="1" dirty="0"/>
              <a:t>Least Significant Bit (LSB</a:t>
            </a:r>
            <a:r>
              <a:rPr lang="en-US" b="1" dirty="0" smtClean="0"/>
              <a:t>)</a:t>
            </a:r>
            <a:r>
              <a:rPr lang="he-IL" dirty="0" smtClean="0"/>
              <a:t>: מידע </a:t>
            </a:r>
            <a:r>
              <a:rPr lang="he-IL" dirty="0"/>
              <a:t>מוסתר על ידי שינוי הביטים הפחות משמעותיים (למשל, בתמונה).</a:t>
            </a:r>
          </a:p>
          <a:p>
            <a:r>
              <a:rPr lang="he-IL" dirty="0"/>
              <a:t>לדוגמה, בתמונה צבעונית, הערכים של רמות האדום, הירוק והכחול יכולים להשתנות קלות מבלי שהשינוי ייראה לעין</a:t>
            </a:r>
            <a:r>
              <a:rPr lang="he-IL" dirty="0" smtClean="0"/>
              <a:t>.</a:t>
            </a:r>
          </a:p>
          <a:p>
            <a:r>
              <a:rPr lang="he-IL" dirty="0" smtClean="0"/>
              <a:t>2. </a:t>
            </a:r>
            <a:r>
              <a:rPr lang="he-IL" b="1" dirty="0" err="1"/>
              <a:t>סטגנוגרפיה</a:t>
            </a:r>
            <a:r>
              <a:rPr lang="he-IL" b="1" dirty="0"/>
              <a:t> </a:t>
            </a:r>
            <a:r>
              <a:rPr lang="he-IL" b="1" dirty="0" smtClean="0"/>
              <a:t>בטקסט</a:t>
            </a:r>
            <a:r>
              <a:rPr lang="he-IL" dirty="0" smtClean="0"/>
              <a:t>: שימוש </a:t>
            </a:r>
            <a:r>
              <a:rPr lang="he-IL" dirty="0"/>
              <a:t>ברווחים, שגיאות כתיב מכוונות, או שינויים זעירים בפונטים ובפורמט כדי להסתיר מידע</a:t>
            </a:r>
            <a:r>
              <a:rPr lang="he-IL" dirty="0" smtClean="0"/>
              <a:t>.</a:t>
            </a:r>
          </a:p>
          <a:p>
            <a:r>
              <a:rPr lang="he-IL" dirty="0" smtClean="0"/>
              <a:t>3. </a:t>
            </a:r>
            <a:r>
              <a:rPr lang="he-IL" b="1" dirty="0" err="1"/>
              <a:t>סטגנוגרפיה</a:t>
            </a:r>
            <a:r>
              <a:rPr lang="he-IL" b="1" dirty="0"/>
              <a:t> בקבצי </a:t>
            </a:r>
            <a:r>
              <a:rPr lang="he-IL" b="1" dirty="0" smtClean="0"/>
              <a:t>קול</a:t>
            </a:r>
            <a:r>
              <a:rPr lang="he-IL" dirty="0" smtClean="0"/>
              <a:t>: החבאת </a:t>
            </a:r>
            <a:r>
              <a:rPr lang="he-IL" dirty="0"/>
              <a:t>מידע בתדרים שלא נשמעים לאוזן אנושית או בשינויים זעירים בגלי הקול</a:t>
            </a:r>
            <a:r>
              <a:rPr lang="he-IL" dirty="0" smtClean="0"/>
              <a:t>.</a:t>
            </a:r>
          </a:p>
          <a:p>
            <a:r>
              <a:rPr lang="he-IL" dirty="0" smtClean="0"/>
              <a:t>4. </a:t>
            </a:r>
            <a:r>
              <a:rPr lang="he-IL" b="1" dirty="0" err="1"/>
              <a:t>סטגנוגרפיה</a:t>
            </a:r>
            <a:r>
              <a:rPr lang="he-IL" b="1" dirty="0"/>
              <a:t> בקבצי </a:t>
            </a:r>
            <a:r>
              <a:rPr lang="he-IL" b="1" dirty="0" smtClean="0"/>
              <a:t>וידאו</a:t>
            </a:r>
            <a:r>
              <a:rPr lang="he-IL" dirty="0" smtClean="0"/>
              <a:t>: המידע </a:t>
            </a:r>
            <a:r>
              <a:rPr lang="he-IL" dirty="0"/>
              <a:t>מוחבא במסגרת אחת או יותר מתוך רצף הווידאו, בדרך כלל באזורים שאינם קריטיים</a:t>
            </a:r>
            <a:r>
              <a:rPr lang="he-IL" dirty="0" smtClean="0"/>
              <a:t>.</a:t>
            </a:r>
          </a:p>
          <a:p>
            <a:r>
              <a:rPr lang="he-IL" dirty="0" smtClean="0"/>
              <a:t>5. </a:t>
            </a:r>
            <a:r>
              <a:rPr lang="he-IL" b="1" dirty="0"/>
              <a:t>טכניקות </a:t>
            </a:r>
            <a:r>
              <a:rPr lang="he-IL" b="1" dirty="0" smtClean="0"/>
              <a:t>מתקדמות</a:t>
            </a:r>
            <a:r>
              <a:rPr lang="he-IL" dirty="0" smtClean="0"/>
              <a:t>: שימוש </a:t>
            </a:r>
            <a:r>
              <a:rPr lang="he-IL" dirty="0"/>
              <a:t>באלגוריתמים מתמטיים </a:t>
            </a:r>
            <a:r>
              <a:rPr lang="he-IL" dirty="0" smtClean="0"/>
              <a:t>כמו</a:t>
            </a:r>
            <a:r>
              <a:rPr lang="en-US" dirty="0" smtClean="0"/>
              <a:t>Wavelet Transform </a:t>
            </a:r>
            <a:r>
              <a:rPr lang="he-IL" dirty="0" smtClean="0"/>
              <a:t> או </a:t>
            </a:r>
            <a:r>
              <a:rPr lang="he-IL" dirty="0"/>
              <a:t>בהצפנה כפולה כדי להקשות על זיהוי.</a:t>
            </a:r>
          </a:p>
          <a:p>
            <a:endParaRPr lang="he-IL" dirty="0" smtClean="0"/>
          </a:p>
          <a:p>
            <a:endParaRPr lang="he-IL" dirty="0"/>
          </a:p>
        </p:txBody>
      </p:sp>
    </p:spTree>
    <p:extLst>
      <p:ext uri="{BB962C8B-B14F-4D97-AF65-F5344CB8AC3E}">
        <p14:creationId xmlns:p14="http://schemas.microsoft.com/office/powerpoint/2010/main" val="3373843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283526" y="642594"/>
            <a:ext cx="7841673" cy="1371600"/>
          </a:xfrm>
        </p:spPr>
        <p:txBody>
          <a:bodyPr/>
          <a:lstStyle/>
          <a:p>
            <a:r>
              <a:rPr lang="he-IL" dirty="0"/>
              <a:t>הגדרה מורחבת של </a:t>
            </a:r>
            <a:r>
              <a:rPr lang="he-IL" dirty="0" err="1"/>
              <a:t>סטגנוגרפיה</a:t>
            </a:r>
            <a:endParaRPr lang="he-IL" dirty="0"/>
          </a:p>
        </p:txBody>
      </p:sp>
      <p:sp>
        <p:nvSpPr>
          <p:cNvPr id="3" name="מציין מיקום תוכן 2"/>
          <p:cNvSpPr>
            <a:spLocks noGrp="1"/>
          </p:cNvSpPr>
          <p:nvPr>
            <p:ph idx="1"/>
          </p:nvPr>
        </p:nvSpPr>
        <p:spPr/>
        <p:txBody>
          <a:bodyPr/>
          <a:lstStyle/>
          <a:p>
            <a:r>
              <a:rPr lang="he-IL" sz="2400" u="sng" dirty="0"/>
              <a:t>מטרות עיקריות של </a:t>
            </a:r>
            <a:r>
              <a:rPr lang="he-IL" sz="2400" u="sng" dirty="0" err="1"/>
              <a:t>סטגנוגרפיה</a:t>
            </a:r>
            <a:r>
              <a:rPr lang="he-IL" sz="2400" u="sng" dirty="0" smtClean="0"/>
              <a:t>:</a:t>
            </a:r>
          </a:p>
          <a:p>
            <a:r>
              <a:rPr lang="he-IL" dirty="0" smtClean="0"/>
              <a:t>1. </a:t>
            </a:r>
            <a:r>
              <a:rPr lang="he-IL" b="1" dirty="0"/>
              <a:t>שמירה על דיסקרטיות</a:t>
            </a:r>
            <a:r>
              <a:rPr lang="he-IL" dirty="0"/>
              <a:t>: היכולת להחביא מידע רגיש כך שהוא לא יתגלה למתבונן לא מיומן</a:t>
            </a:r>
            <a:r>
              <a:rPr lang="he-IL" dirty="0" smtClean="0"/>
              <a:t>.</a:t>
            </a:r>
          </a:p>
          <a:p>
            <a:r>
              <a:rPr lang="he-IL" dirty="0" smtClean="0"/>
              <a:t>2. </a:t>
            </a:r>
            <a:r>
              <a:rPr lang="he-IL" b="1" dirty="0"/>
              <a:t>שימוש בהקשר טבעי</a:t>
            </a:r>
            <a:r>
              <a:rPr lang="he-IL" dirty="0"/>
              <a:t>: המידע המוסתר משתלב בתוך המדיה כך שהיא נראית </a:t>
            </a:r>
            <a:r>
              <a:rPr lang="he-IL" dirty="0" smtClean="0"/>
              <a:t>לגיטימית</a:t>
            </a:r>
          </a:p>
          <a:p>
            <a:r>
              <a:rPr lang="he-IL" dirty="0" smtClean="0"/>
              <a:t>3. </a:t>
            </a:r>
            <a:r>
              <a:rPr lang="he-IL" b="1" dirty="0"/>
              <a:t>התגברות על סינון</a:t>
            </a:r>
            <a:r>
              <a:rPr lang="he-IL" dirty="0"/>
              <a:t>: </a:t>
            </a:r>
            <a:r>
              <a:rPr lang="he-IL" dirty="0" err="1" smtClean="0"/>
              <a:t>סטגנוגרפיה</a:t>
            </a:r>
            <a:r>
              <a:rPr lang="he-IL" dirty="0" smtClean="0"/>
              <a:t> </a:t>
            </a:r>
            <a:r>
              <a:rPr lang="he-IL" dirty="0"/>
              <a:t>מאפשרת לעקוף אמצעי אבטחה או צנזורה שמזהים תוכן בעייתי</a:t>
            </a:r>
            <a:r>
              <a:rPr lang="he-IL" dirty="0" smtClean="0"/>
              <a:t>.</a:t>
            </a:r>
          </a:p>
          <a:p>
            <a:r>
              <a:rPr lang="he-IL" sz="2400" u="sng" dirty="0"/>
              <a:t>שימושים נפוצים</a:t>
            </a:r>
            <a:r>
              <a:rPr lang="he-IL" sz="2400" u="sng" dirty="0" smtClean="0"/>
              <a:t>:</a:t>
            </a:r>
          </a:p>
          <a:p>
            <a:r>
              <a:rPr lang="he-IL" dirty="0" smtClean="0"/>
              <a:t>1. </a:t>
            </a:r>
            <a:r>
              <a:rPr lang="he-IL" b="1" dirty="0"/>
              <a:t>אבטחת מידע</a:t>
            </a:r>
            <a:r>
              <a:rPr lang="he-IL" dirty="0"/>
              <a:t>: העברת נתונים רגישים בערוצים לא בטוחים.</a:t>
            </a:r>
            <a:endParaRPr lang="he-IL" dirty="0" smtClean="0"/>
          </a:p>
          <a:p>
            <a:r>
              <a:rPr lang="he-IL" dirty="0" smtClean="0"/>
              <a:t>2. </a:t>
            </a:r>
            <a:r>
              <a:rPr lang="he-IL" b="1" dirty="0"/>
              <a:t>ריגול ותעשייה</a:t>
            </a:r>
            <a:r>
              <a:rPr lang="he-IL" dirty="0"/>
              <a:t>: העברת מסרים סודיים.</a:t>
            </a:r>
            <a:endParaRPr lang="he-IL" dirty="0" smtClean="0"/>
          </a:p>
          <a:p>
            <a:r>
              <a:rPr lang="he-IL" dirty="0" smtClean="0"/>
              <a:t>3. </a:t>
            </a:r>
            <a:r>
              <a:rPr lang="he-IL" b="1" dirty="0"/>
              <a:t>סימון דיגיטלי</a:t>
            </a:r>
            <a:r>
              <a:rPr lang="he-IL" dirty="0"/>
              <a:t>: </a:t>
            </a:r>
            <a:r>
              <a:rPr lang="en-US" dirty="0" smtClean="0"/>
              <a:t> Watermarking</a:t>
            </a:r>
            <a:r>
              <a:rPr lang="he-IL" dirty="0" smtClean="0"/>
              <a:t>לזיהוי </a:t>
            </a:r>
            <a:r>
              <a:rPr lang="he-IL" dirty="0"/>
              <a:t>זכויות יוצרים.</a:t>
            </a:r>
            <a:endParaRPr lang="he-IL" dirty="0" smtClean="0"/>
          </a:p>
          <a:p>
            <a:r>
              <a:rPr lang="he-IL" dirty="0" smtClean="0"/>
              <a:t>4. </a:t>
            </a:r>
            <a:r>
              <a:rPr lang="he-IL" b="1" dirty="0"/>
              <a:t>תקשורת מחתרתית</a:t>
            </a:r>
            <a:r>
              <a:rPr lang="he-IL" dirty="0"/>
              <a:t>: שימוש על ידי ארגונים כדי לתקשר ללא חשש מגילוי.</a:t>
            </a:r>
            <a:endParaRPr lang="he-IL" dirty="0" smtClean="0"/>
          </a:p>
          <a:p>
            <a:endParaRPr lang="he-IL" dirty="0"/>
          </a:p>
        </p:txBody>
      </p:sp>
    </p:spTree>
    <p:extLst>
      <p:ext uri="{BB962C8B-B14F-4D97-AF65-F5344CB8AC3E}">
        <p14:creationId xmlns:p14="http://schemas.microsoft.com/office/powerpoint/2010/main" val="27745482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025833" y="177081"/>
            <a:ext cx="8099367" cy="1371600"/>
          </a:xfrm>
        </p:spPr>
        <p:txBody>
          <a:bodyPr/>
          <a:lstStyle/>
          <a:p>
            <a:r>
              <a:rPr lang="he-IL" dirty="0"/>
              <a:t>טכניקות מתקדמות </a:t>
            </a:r>
            <a:r>
              <a:rPr lang="he-IL" dirty="0" err="1"/>
              <a:t>בסטגנוגרפיה</a:t>
            </a:r>
            <a:endParaRPr lang="he-IL" dirty="0"/>
          </a:p>
        </p:txBody>
      </p:sp>
      <p:sp>
        <p:nvSpPr>
          <p:cNvPr id="3" name="מציין מיקום תוכן 2"/>
          <p:cNvSpPr>
            <a:spLocks noGrp="1"/>
          </p:cNvSpPr>
          <p:nvPr>
            <p:ph idx="1"/>
          </p:nvPr>
        </p:nvSpPr>
        <p:spPr>
          <a:xfrm>
            <a:off x="1000298" y="1548681"/>
            <a:ext cx="10058400" cy="4660926"/>
          </a:xfrm>
        </p:spPr>
        <p:txBody>
          <a:bodyPr>
            <a:normAutofit/>
          </a:bodyPr>
          <a:lstStyle/>
          <a:p>
            <a:r>
              <a:rPr lang="he-IL" dirty="0" smtClean="0"/>
              <a:t>1. </a:t>
            </a:r>
            <a:r>
              <a:rPr lang="he-IL" b="1" dirty="0" err="1"/>
              <a:t>סטגנוגרפיה</a:t>
            </a:r>
            <a:r>
              <a:rPr lang="he-IL" b="1" dirty="0"/>
              <a:t> מבוססת תכונות סטטיסטיות:</a:t>
            </a:r>
          </a:p>
          <a:p>
            <a:r>
              <a:rPr lang="he-IL" dirty="0"/>
              <a:t>מנצלת תכונות סטטיסטיות של המדיה, כמו </a:t>
            </a:r>
            <a:r>
              <a:rPr lang="he-IL" dirty="0" err="1"/>
              <a:t>היסטוגרמות</a:t>
            </a:r>
            <a:r>
              <a:rPr lang="he-IL" dirty="0"/>
              <a:t> או פרמטרים סטטיסטיים (ממוצע, סטיית תקן) לצורך החבאת המידע.</a:t>
            </a:r>
          </a:p>
          <a:p>
            <a:r>
              <a:rPr lang="he-IL" dirty="0"/>
              <a:t>דוגמה: שינוי קטן בערכים של קבוצת פיקסלים כדי לייצר קוד</a:t>
            </a:r>
            <a:r>
              <a:rPr lang="he-IL" dirty="0" smtClean="0"/>
              <a:t>.</a:t>
            </a:r>
          </a:p>
          <a:p>
            <a:r>
              <a:rPr lang="he-IL" dirty="0" smtClean="0"/>
              <a:t>2. </a:t>
            </a:r>
            <a:r>
              <a:rPr lang="he-IL" b="1" dirty="0" err="1"/>
              <a:t>סטגנוגרפיה</a:t>
            </a:r>
            <a:r>
              <a:rPr lang="he-IL" b="1" dirty="0"/>
              <a:t> </a:t>
            </a:r>
            <a:r>
              <a:rPr lang="he-IL" b="1" dirty="0" smtClean="0"/>
              <a:t>דינמית </a:t>
            </a:r>
            <a:r>
              <a:rPr lang="en-US" b="1" dirty="0" smtClean="0"/>
              <a:t>Adaptive Steganography</a:t>
            </a:r>
            <a:endParaRPr lang="en-US" b="1" dirty="0"/>
          </a:p>
          <a:p>
            <a:r>
              <a:rPr lang="he-IL" dirty="0"/>
              <a:t>שיטה זו מתאימה את החבאת המידע לאזורים בעלי פחות בולטות במדיה.</a:t>
            </a:r>
          </a:p>
          <a:p>
            <a:r>
              <a:rPr lang="he-IL" dirty="0"/>
              <a:t>למשל, באזורים בתמונה שיש בהם שינויים מהירים בצבע, קל יותר להחביא מידע מבלי שהוא יתגלה</a:t>
            </a:r>
            <a:r>
              <a:rPr lang="he-IL" dirty="0" smtClean="0"/>
              <a:t>.</a:t>
            </a:r>
          </a:p>
          <a:p>
            <a:r>
              <a:rPr lang="he-IL" dirty="0" smtClean="0"/>
              <a:t>3. </a:t>
            </a:r>
            <a:r>
              <a:rPr lang="he-IL" b="1" dirty="0" err="1"/>
              <a:t>סטגנוגרפיה</a:t>
            </a:r>
            <a:r>
              <a:rPr lang="he-IL" b="1" dirty="0"/>
              <a:t> מבוססת טרנספורמציות:</a:t>
            </a:r>
          </a:p>
          <a:p>
            <a:r>
              <a:rPr lang="he-IL" dirty="0"/>
              <a:t>מסתירה מידע במרחב התדרים במקום במרחב </a:t>
            </a:r>
            <a:r>
              <a:rPr lang="he-IL" dirty="0" smtClean="0"/>
              <a:t>הישיר </a:t>
            </a:r>
            <a:r>
              <a:rPr lang="en-US" dirty="0" smtClean="0"/>
              <a:t>Spatial Domain</a:t>
            </a:r>
            <a:endParaRPr lang="en-US" dirty="0"/>
          </a:p>
          <a:p>
            <a:r>
              <a:rPr lang="he-IL" dirty="0"/>
              <a:t>משתמשת בטרנספורמציות מתמטיות כמו:</a:t>
            </a:r>
          </a:p>
          <a:p>
            <a:pPr lvl="1"/>
            <a:r>
              <a:rPr lang="en-US" b="1" dirty="0"/>
              <a:t>Discrete Cosine Transform (DCT</a:t>
            </a:r>
            <a:r>
              <a:rPr lang="en-US" b="1" dirty="0" smtClean="0"/>
              <a:t>)</a:t>
            </a:r>
            <a:r>
              <a:rPr lang="he-IL" dirty="0" smtClean="0"/>
              <a:t>:</a:t>
            </a:r>
            <a:r>
              <a:rPr lang="en-US" dirty="0" smtClean="0"/>
              <a:t> </a:t>
            </a:r>
            <a:r>
              <a:rPr lang="he-IL" dirty="0"/>
              <a:t>שימוש במדיה דחוסה </a:t>
            </a:r>
            <a:r>
              <a:rPr lang="en-US" dirty="0" smtClean="0"/>
              <a:t>JPEG</a:t>
            </a:r>
          </a:p>
          <a:p>
            <a:pPr lvl="1"/>
            <a:r>
              <a:rPr lang="en-US" b="1" dirty="0" smtClean="0"/>
              <a:t>Discrete </a:t>
            </a:r>
            <a:r>
              <a:rPr lang="en-US" b="1" dirty="0"/>
              <a:t>Wavelet Transform (</a:t>
            </a:r>
            <a:r>
              <a:rPr lang="en-US" b="1" dirty="0" smtClean="0"/>
              <a:t>DWT)</a:t>
            </a:r>
            <a:r>
              <a:rPr lang="he-IL" dirty="0" smtClean="0"/>
              <a:t>: שיטה </a:t>
            </a:r>
            <a:r>
              <a:rPr lang="he-IL" dirty="0"/>
              <a:t>המאפשרת לשנות את הנתונים באופן מקומי ולאורך כל הקובץ.</a:t>
            </a:r>
          </a:p>
          <a:p>
            <a:endParaRPr lang="he-IL" dirty="0" smtClean="0"/>
          </a:p>
          <a:p>
            <a:endParaRPr lang="he-IL" dirty="0" smtClean="0"/>
          </a:p>
          <a:p>
            <a:endParaRPr lang="he-IL" dirty="0"/>
          </a:p>
        </p:txBody>
      </p:sp>
    </p:spTree>
    <p:extLst>
      <p:ext uri="{BB962C8B-B14F-4D97-AF65-F5344CB8AC3E}">
        <p14:creationId xmlns:p14="http://schemas.microsoft.com/office/powerpoint/2010/main" val="2974885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036618" y="642594"/>
            <a:ext cx="9088582" cy="1371600"/>
          </a:xfrm>
        </p:spPr>
        <p:txBody>
          <a:bodyPr>
            <a:normAutofit fontScale="90000"/>
          </a:bodyPr>
          <a:lstStyle/>
          <a:p>
            <a:r>
              <a:rPr lang="he-IL" dirty="0" smtClean="0"/>
              <a:t>המשך - </a:t>
            </a:r>
            <a:r>
              <a:rPr lang="he-IL" dirty="0"/>
              <a:t>טכניקות מתקדמות </a:t>
            </a:r>
            <a:r>
              <a:rPr lang="he-IL" dirty="0" err="1"/>
              <a:t>בסטגנוגרפיה</a:t>
            </a:r>
            <a:endParaRPr lang="he-IL" dirty="0"/>
          </a:p>
        </p:txBody>
      </p:sp>
      <p:sp>
        <p:nvSpPr>
          <p:cNvPr id="3" name="מציין מיקום תוכן 2"/>
          <p:cNvSpPr>
            <a:spLocks noGrp="1"/>
          </p:cNvSpPr>
          <p:nvPr>
            <p:ph idx="1"/>
          </p:nvPr>
        </p:nvSpPr>
        <p:spPr/>
        <p:txBody>
          <a:bodyPr/>
          <a:lstStyle/>
          <a:p>
            <a:r>
              <a:rPr lang="he-IL" dirty="0" smtClean="0"/>
              <a:t>4. </a:t>
            </a:r>
            <a:r>
              <a:rPr lang="he-IL" b="1" dirty="0" err="1"/>
              <a:t>חביאה</a:t>
            </a:r>
            <a:r>
              <a:rPr lang="he-IL" b="1" dirty="0"/>
              <a:t> באמצעות קומפרסיה:</a:t>
            </a:r>
          </a:p>
          <a:p>
            <a:r>
              <a:rPr lang="he-IL" dirty="0"/>
              <a:t>מסתירים מידע בתוך מבנה הדחיסה של קבצים, לדוגמה:</a:t>
            </a:r>
          </a:p>
          <a:p>
            <a:pPr lvl="1"/>
            <a:r>
              <a:rPr lang="he-IL" dirty="0"/>
              <a:t>במידע </a:t>
            </a:r>
            <a:r>
              <a:rPr lang="en-US" dirty="0" smtClean="0"/>
              <a:t> redundancy</a:t>
            </a:r>
            <a:r>
              <a:rPr lang="he-IL" dirty="0" smtClean="0"/>
              <a:t>בקבצי </a:t>
            </a:r>
            <a:r>
              <a:rPr lang="en-US" dirty="0" smtClean="0"/>
              <a:t>MP3</a:t>
            </a:r>
            <a:endParaRPr lang="en-US" dirty="0"/>
          </a:p>
          <a:p>
            <a:pPr lvl="1"/>
            <a:r>
              <a:rPr lang="he-IL" dirty="0"/>
              <a:t>בחללים שבין </a:t>
            </a:r>
            <a:r>
              <a:rPr lang="he-IL" dirty="0" err="1"/>
              <a:t>פריימים</a:t>
            </a:r>
            <a:r>
              <a:rPr lang="he-IL" dirty="0"/>
              <a:t> של וידאו</a:t>
            </a:r>
            <a:r>
              <a:rPr lang="he-IL" dirty="0" smtClean="0"/>
              <a:t>.</a:t>
            </a:r>
          </a:p>
          <a:p>
            <a:pPr lvl="1"/>
            <a:endParaRPr lang="he-IL" dirty="0" smtClean="0"/>
          </a:p>
          <a:p>
            <a:r>
              <a:rPr lang="he-IL" dirty="0" smtClean="0"/>
              <a:t>5. </a:t>
            </a:r>
            <a:r>
              <a:rPr lang="he-IL" b="1" dirty="0" err="1"/>
              <a:t>סטגנוגרפיה</a:t>
            </a:r>
            <a:r>
              <a:rPr lang="he-IL" b="1" dirty="0"/>
              <a:t> מתקדמת עם למידה עמוקה:</a:t>
            </a:r>
          </a:p>
          <a:p>
            <a:r>
              <a:rPr lang="he-IL" dirty="0"/>
              <a:t>שימוש </a:t>
            </a:r>
            <a:r>
              <a:rPr lang="he-IL" dirty="0" smtClean="0"/>
              <a:t>ב-</a:t>
            </a:r>
            <a:r>
              <a:rPr lang="en-US" dirty="0" smtClean="0"/>
              <a:t> AI </a:t>
            </a:r>
            <a:r>
              <a:rPr lang="he-IL" dirty="0"/>
              <a:t>ובמודלים של למידת מכונה כדי לנתח את המדיה ולמצוא אזורים אופטימליים להחבאת מידע.</a:t>
            </a:r>
          </a:p>
          <a:p>
            <a:r>
              <a:rPr lang="he-IL" dirty="0"/>
              <a:t>ניתן גם לזהות </a:t>
            </a:r>
            <a:r>
              <a:rPr lang="he-IL" dirty="0" err="1"/>
              <a:t>סטגנוגרפיה</a:t>
            </a:r>
            <a:r>
              <a:rPr lang="he-IL" dirty="0"/>
              <a:t> קיימת באמצעות רשתות עצביות שמחפשות תבניות בלתי טבעיות.</a:t>
            </a:r>
          </a:p>
          <a:p>
            <a:endParaRPr lang="he-IL" dirty="0" smtClean="0"/>
          </a:p>
          <a:p>
            <a:endParaRPr lang="he-IL" dirty="0"/>
          </a:p>
        </p:txBody>
      </p:sp>
    </p:spTree>
    <p:extLst>
      <p:ext uri="{BB962C8B-B14F-4D97-AF65-F5344CB8AC3E}">
        <p14:creationId xmlns:p14="http://schemas.microsoft.com/office/powerpoint/2010/main" val="38309814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886988" y="642594"/>
            <a:ext cx="9238211" cy="1371600"/>
          </a:xfrm>
        </p:spPr>
        <p:txBody>
          <a:bodyPr/>
          <a:lstStyle/>
          <a:p>
            <a:r>
              <a:rPr lang="he-IL" dirty="0"/>
              <a:t>שיטות מתקדמות לאיתור </a:t>
            </a:r>
            <a:r>
              <a:rPr lang="he-IL" dirty="0" err="1"/>
              <a:t>סטגנוגרפיה</a:t>
            </a:r>
            <a:endParaRPr lang="he-IL" dirty="0"/>
          </a:p>
        </p:txBody>
      </p:sp>
      <p:sp>
        <p:nvSpPr>
          <p:cNvPr id="3" name="מציין מיקום תוכן 2"/>
          <p:cNvSpPr>
            <a:spLocks noGrp="1"/>
          </p:cNvSpPr>
          <p:nvPr>
            <p:ph idx="1"/>
          </p:nvPr>
        </p:nvSpPr>
        <p:spPr/>
        <p:txBody>
          <a:bodyPr>
            <a:normAutofit lnSpcReduction="10000"/>
          </a:bodyPr>
          <a:lstStyle/>
          <a:p>
            <a:r>
              <a:rPr lang="he-IL" dirty="0" smtClean="0"/>
              <a:t>1. </a:t>
            </a:r>
            <a:r>
              <a:rPr lang="he-IL" b="1" dirty="0"/>
              <a:t>איתור לפי מרחב ישיר </a:t>
            </a:r>
            <a:r>
              <a:rPr lang="en-US" b="1" dirty="0" smtClean="0"/>
              <a:t>Spatial </a:t>
            </a:r>
            <a:r>
              <a:rPr lang="en-US" b="1" dirty="0"/>
              <a:t>Domain </a:t>
            </a:r>
            <a:r>
              <a:rPr lang="en-US" b="1" dirty="0" smtClean="0"/>
              <a:t>Analysis</a:t>
            </a:r>
            <a:endParaRPr lang="en-US" b="1" dirty="0"/>
          </a:p>
          <a:p>
            <a:r>
              <a:rPr lang="he-IL" dirty="0"/>
              <a:t>זיהוי שינויים זעירים בפיקסלים במדיה.</a:t>
            </a:r>
          </a:p>
          <a:p>
            <a:r>
              <a:rPr lang="he-IL" dirty="0"/>
              <a:t>כלים נפוצים:</a:t>
            </a:r>
          </a:p>
          <a:p>
            <a:pPr lvl="1"/>
            <a:r>
              <a:rPr lang="he-IL" b="1" dirty="0" err="1"/>
              <a:t>היסטוגרמות</a:t>
            </a:r>
            <a:r>
              <a:rPr lang="he-IL" b="1" dirty="0"/>
              <a:t> פיקסלים</a:t>
            </a:r>
            <a:r>
              <a:rPr lang="he-IL" dirty="0"/>
              <a:t>: לבדוק אם יש תבנית לא טבעית.</a:t>
            </a:r>
          </a:p>
          <a:p>
            <a:pPr lvl="1"/>
            <a:r>
              <a:rPr lang="he-IL" b="1" dirty="0"/>
              <a:t>זיהוי שינויים בביטים הפחות משמעותיים </a:t>
            </a:r>
            <a:r>
              <a:rPr lang="en-US" b="1" dirty="0" smtClean="0"/>
              <a:t>LSB</a:t>
            </a:r>
            <a:endParaRPr lang="he-IL" dirty="0" smtClean="0"/>
          </a:p>
          <a:p>
            <a:r>
              <a:rPr lang="he-IL" dirty="0" smtClean="0"/>
              <a:t>2. </a:t>
            </a:r>
            <a:r>
              <a:rPr lang="he-IL" b="1" dirty="0"/>
              <a:t>איתור במרחב התדרים </a:t>
            </a:r>
            <a:r>
              <a:rPr lang="en-US" b="1" dirty="0" smtClean="0"/>
              <a:t>Frequency </a:t>
            </a:r>
            <a:r>
              <a:rPr lang="en-US" b="1" dirty="0"/>
              <a:t>Domain </a:t>
            </a:r>
            <a:r>
              <a:rPr lang="en-US" b="1" dirty="0" smtClean="0"/>
              <a:t>Analysis)</a:t>
            </a:r>
            <a:endParaRPr lang="en-US" b="1" dirty="0"/>
          </a:p>
          <a:p>
            <a:r>
              <a:rPr lang="he-IL" dirty="0"/>
              <a:t>מדיה כמו </a:t>
            </a:r>
            <a:r>
              <a:rPr lang="he-IL" dirty="0" smtClean="0"/>
              <a:t>קבצי</a:t>
            </a:r>
            <a:r>
              <a:rPr lang="en-US" dirty="0" smtClean="0"/>
              <a:t> JPEG </a:t>
            </a:r>
            <a:r>
              <a:rPr lang="he-IL" dirty="0"/>
              <a:t>משתמשים בדחיסה מבוססת תדרים, מה שמאפשר לאתר שינויים חריגים בתדר.</a:t>
            </a:r>
          </a:p>
          <a:p>
            <a:r>
              <a:rPr lang="he-IL" dirty="0"/>
              <a:t>כלי עיקרי: בדיקת </a:t>
            </a:r>
            <a:r>
              <a:rPr lang="en-US" dirty="0" smtClean="0"/>
              <a:t> coefficients </a:t>
            </a:r>
            <a:r>
              <a:rPr lang="he-IL" dirty="0"/>
              <a:t>ב-</a:t>
            </a:r>
            <a:r>
              <a:rPr lang="en-US" dirty="0" smtClean="0"/>
              <a:t>DCT </a:t>
            </a:r>
            <a:r>
              <a:rPr lang="he-IL" dirty="0" smtClean="0"/>
              <a:t>.</a:t>
            </a:r>
          </a:p>
          <a:p>
            <a:r>
              <a:rPr lang="he-IL" dirty="0" smtClean="0"/>
              <a:t>3. </a:t>
            </a:r>
            <a:r>
              <a:rPr lang="he-IL" b="1" dirty="0" err="1"/>
              <a:t>סטגנליזה</a:t>
            </a:r>
            <a:r>
              <a:rPr lang="he-IL" b="1" dirty="0"/>
              <a:t> מבוססת סטטיסטיקה:</a:t>
            </a:r>
          </a:p>
          <a:p>
            <a:r>
              <a:rPr lang="he-IL" dirty="0"/>
              <a:t>ניתוח הבדלים סטטיסטיים בין מדיה רגילה למדיה שיש בה מידע מוסתר.</a:t>
            </a:r>
          </a:p>
          <a:p>
            <a:r>
              <a:rPr lang="he-IL" dirty="0" smtClean="0"/>
              <a:t>דוגמה:</a:t>
            </a:r>
            <a:r>
              <a:rPr lang="en-US" b="1" dirty="0" smtClean="0"/>
              <a:t>RS </a:t>
            </a:r>
            <a:r>
              <a:rPr lang="en-US" b="1" dirty="0"/>
              <a:t>Analysis</a:t>
            </a:r>
            <a:r>
              <a:rPr lang="en-US" dirty="0"/>
              <a:t> </a:t>
            </a:r>
            <a:r>
              <a:rPr lang="he-IL" dirty="0" smtClean="0"/>
              <a:t> מזהה </a:t>
            </a:r>
            <a:r>
              <a:rPr lang="he-IL" dirty="0"/>
              <a:t>שינויים בתבניות </a:t>
            </a:r>
            <a:r>
              <a:rPr lang="he-IL" dirty="0" err="1"/>
              <a:t>חזרתיות</a:t>
            </a:r>
            <a:r>
              <a:rPr lang="he-IL" dirty="0"/>
              <a:t> של פיקסלים.</a:t>
            </a:r>
          </a:p>
          <a:p>
            <a:endParaRPr lang="he-IL" dirty="0" smtClean="0"/>
          </a:p>
          <a:p>
            <a:endParaRPr lang="he-IL" dirty="0"/>
          </a:p>
        </p:txBody>
      </p:sp>
    </p:spTree>
    <p:extLst>
      <p:ext uri="{BB962C8B-B14F-4D97-AF65-F5344CB8AC3E}">
        <p14:creationId xmlns:p14="http://schemas.microsoft.com/office/powerpoint/2010/main" val="29324581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066800" y="642594"/>
            <a:ext cx="10058400" cy="1371600"/>
          </a:xfrm>
        </p:spPr>
        <p:txBody>
          <a:bodyPr>
            <a:normAutofit fontScale="90000"/>
          </a:bodyPr>
          <a:lstStyle/>
          <a:p>
            <a:r>
              <a:rPr lang="he-IL" dirty="0" smtClean="0"/>
              <a:t>המשך - </a:t>
            </a:r>
            <a:r>
              <a:rPr lang="he-IL" dirty="0"/>
              <a:t>שיטות מתקדמות לאיתור </a:t>
            </a:r>
            <a:r>
              <a:rPr lang="he-IL" dirty="0" err="1"/>
              <a:t>סטגנוגרפיה</a:t>
            </a:r>
            <a:endParaRPr lang="he-IL" dirty="0"/>
          </a:p>
        </p:txBody>
      </p:sp>
      <p:sp>
        <p:nvSpPr>
          <p:cNvPr id="3" name="מציין מיקום תוכן 2"/>
          <p:cNvSpPr>
            <a:spLocks noGrp="1"/>
          </p:cNvSpPr>
          <p:nvPr>
            <p:ph idx="1"/>
          </p:nvPr>
        </p:nvSpPr>
        <p:spPr/>
        <p:txBody>
          <a:bodyPr/>
          <a:lstStyle/>
          <a:p>
            <a:r>
              <a:rPr lang="he-IL" dirty="0" smtClean="0"/>
              <a:t>4. </a:t>
            </a:r>
            <a:r>
              <a:rPr lang="he-IL" b="1" dirty="0" err="1"/>
              <a:t>סטגנליזה</a:t>
            </a:r>
            <a:r>
              <a:rPr lang="he-IL" b="1" dirty="0"/>
              <a:t> בעזרת למידה עמוקה:</a:t>
            </a:r>
          </a:p>
          <a:p>
            <a:r>
              <a:rPr lang="he-IL" dirty="0"/>
              <a:t>מודלים של </a:t>
            </a:r>
            <a:r>
              <a:rPr lang="en-US" dirty="0" smtClean="0"/>
              <a:t> AI</a:t>
            </a:r>
            <a:r>
              <a:rPr lang="he-IL" dirty="0" smtClean="0"/>
              <a:t>משמשים </a:t>
            </a:r>
            <a:r>
              <a:rPr lang="he-IL" dirty="0"/>
              <a:t>לזיהוי תבניות שאינן נראות לעין אנושית.</a:t>
            </a:r>
          </a:p>
          <a:p>
            <a:r>
              <a:rPr lang="he-IL" dirty="0"/>
              <a:t>לדוגמה, </a:t>
            </a:r>
            <a:r>
              <a:rPr lang="he-IL" dirty="0" smtClean="0"/>
              <a:t>רשתות</a:t>
            </a:r>
            <a:r>
              <a:rPr lang="en-US" dirty="0" smtClean="0"/>
              <a:t> CNN </a:t>
            </a:r>
            <a:r>
              <a:rPr lang="he-IL" dirty="0"/>
              <a:t>שמנתחות את המדיה ומספקות הסתברות להימצאות </a:t>
            </a:r>
            <a:r>
              <a:rPr lang="he-IL" dirty="0" err="1"/>
              <a:t>סטגנוגרפיה</a:t>
            </a:r>
            <a:r>
              <a:rPr lang="he-IL" dirty="0"/>
              <a:t>.</a:t>
            </a:r>
          </a:p>
          <a:p>
            <a:endParaRPr lang="he-IL" dirty="0" smtClean="0"/>
          </a:p>
          <a:p>
            <a:r>
              <a:rPr lang="he-IL" dirty="0" smtClean="0"/>
              <a:t>5. </a:t>
            </a:r>
            <a:r>
              <a:rPr lang="he-IL" b="1" dirty="0"/>
              <a:t>שימוש בכלי </a:t>
            </a:r>
            <a:r>
              <a:rPr lang="he-IL" b="1" dirty="0" err="1"/>
              <a:t>סטגנליזה</a:t>
            </a:r>
            <a:r>
              <a:rPr lang="he-IL" b="1" dirty="0"/>
              <a:t>:</a:t>
            </a:r>
          </a:p>
          <a:p>
            <a:r>
              <a:rPr lang="en-US" b="1" dirty="0" err="1" smtClean="0"/>
              <a:t>StegDetect</a:t>
            </a:r>
            <a:r>
              <a:rPr lang="he-IL" dirty="0" smtClean="0"/>
              <a:t>:</a:t>
            </a:r>
            <a:r>
              <a:rPr lang="en-US" dirty="0" smtClean="0"/>
              <a:t> </a:t>
            </a:r>
            <a:r>
              <a:rPr lang="he-IL" dirty="0"/>
              <a:t>כלי לזיהוי </a:t>
            </a:r>
            <a:r>
              <a:rPr lang="he-IL" dirty="0" err="1"/>
              <a:t>סטגנוגרפיה</a:t>
            </a:r>
            <a:r>
              <a:rPr lang="he-IL" dirty="0"/>
              <a:t> בתמונות </a:t>
            </a:r>
            <a:r>
              <a:rPr lang="en-US" dirty="0" smtClean="0"/>
              <a:t>JPEG</a:t>
            </a:r>
            <a:r>
              <a:rPr lang="he-IL" dirty="0" smtClean="0"/>
              <a:t>.</a:t>
            </a:r>
            <a:endParaRPr lang="en-US" dirty="0" smtClean="0"/>
          </a:p>
          <a:p>
            <a:r>
              <a:rPr lang="en-US" b="1" dirty="0" err="1" smtClean="0"/>
              <a:t>StegSecret</a:t>
            </a:r>
            <a:r>
              <a:rPr lang="he-IL" dirty="0" smtClean="0"/>
              <a:t>: כלי </a:t>
            </a:r>
            <a:r>
              <a:rPr lang="he-IL" dirty="0"/>
              <a:t>לבדיקת קבצי אודיו ווידאו.</a:t>
            </a:r>
          </a:p>
          <a:p>
            <a:r>
              <a:rPr lang="en-US" b="1" dirty="0"/>
              <a:t>Forensic </a:t>
            </a:r>
            <a:r>
              <a:rPr lang="en-US" b="1" dirty="0" smtClean="0"/>
              <a:t>Tools</a:t>
            </a:r>
            <a:r>
              <a:rPr lang="he-IL" dirty="0" smtClean="0"/>
              <a:t>: כלים </a:t>
            </a:r>
            <a:r>
              <a:rPr lang="he-IL" dirty="0"/>
              <a:t>לזיהוי ותיעוד שינויים דיגיטליים.</a:t>
            </a:r>
          </a:p>
          <a:p>
            <a:endParaRPr lang="he-IL" dirty="0" smtClean="0"/>
          </a:p>
          <a:p>
            <a:endParaRPr lang="he-IL" dirty="0"/>
          </a:p>
        </p:txBody>
      </p:sp>
    </p:spTree>
    <p:extLst>
      <p:ext uri="{BB962C8B-B14F-4D97-AF65-F5344CB8AC3E}">
        <p14:creationId xmlns:p14="http://schemas.microsoft.com/office/powerpoint/2010/main" val="2683811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090756" y="642594"/>
            <a:ext cx="4034444" cy="1371600"/>
          </a:xfrm>
        </p:spPr>
        <p:txBody>
          <a:bodyPr/>
          <a:lstStyle/>
          <a:p>
            <a:r>
              <a:rPr lang="he-IL" dirty="0"/>
              <a:t>דגשים חשובים:</a:t>
            </a:r>
          </a:p>
        </p:txBody>
      </p:sp>
      <p:sp>
        <p:nvSpPr>
          <p:cNvPr id="3" name="מציין מיקום תוכן 2"/>
          <p:cNvSpPr>
            <a:spLocks noGrp="1"/>
          </p:cNvSpPr>
          <p:nvPr>
            <p:ph idx="1"/>
          </p:nvPr>
        </p:nvSpPr>
        <p:spPr/>
        <p:txBody>
          <a:bodyPr/>
          <a:lstStyle/>
          <a:p>
            <a:r>
              <a:rPr lang="he-IL" dirty="0" smtClean="0"/>
              <a:t>1. </a:t>
            </a:r>
            <a:r>
              <a:rPr lang="he-IL" b="1" dirty="0"/>
              <a:t>איזון בין אבטחה לנראות</a:t>
            </a:r>
            <a:r>
              <a:rPr lang="he-IL" dirty="0"/>
              <a:t>: מידע מוסתר בצורה בולטת מדי עלול להתגלות בקלות</a:t>
            </a:r>
            <a:r>
              <a:rPr lang="he-IL" dirty="0" smtClean="0"/>
              <a:t>.</a:t>
            </a:r>
          </a:p>
          <a:p>
            <a:endParaRPr lang="he-IL" dirty="0" smtClean="0"/>
          </a:p>
          <a:p>
            <a:r>
              <a:rPr lang="he-IL" dirty="0" smtClean="0"/>
              <a:t>2. </a:t>
            </a:r>
            <a:r>
              <a:rPr lang="he-IL" b="1" dirty="0"/>
              <a:t>שיקולי יעילות</a:t>
            </a:r>
            <a:r>
              <a:rPr lang="he-IL" dirty="0"/>
              <a:t>: ככל שהמדיה גדולה יותר, ניתן להחביא בה יותר מידע</a:t>
            </a:r>
            <a:r>
              <a:rPr lang="he-IL" dirty="0" smtClean="0"/>
              <a:t>.</a:t>
            </a:r>
          </a:p>
          <a:p>
            <a:endParaRPr lang="he-IL" dirty="0"/>
          </a:p>
          <a:p>
            <a:r>
              <a:rPr lang="he-IL" dirty="0" smtClean="0"/>
              <a:t>3. </a:t>
            </a:r>
            <a:r>
              <a:rPr lang="he-IL" b="1" dirty="0"/>
              <a:t>התמודדות עם דחיסה</a:t>
            </a:r>
            <a:r>
              <a:rPr lang="he-IL" dirty="0"/>
              <a:t>: דחיסה של קובץ עלולה להרוס את המידע המוסתר.</a:t>
            </a:r>
            <a:endParaRPr lang="he-IL" dirty="0" smtClean="0"/>
          </a:p>
          <a:p>
            <a:endParaRPr lang="he-IL" dirty="0"/>
          </a:p>
        </p:txBody>
      </p:sp>
    </p:spTree>
    <p:extLst>
      <p:ext uri="{BB962C8B-B14F-4D97-AF65-F5344CB8AC3E}">
        <p14:creationId xmlns:p14="http://schemas.microsoft.com/office/powerpoint/2010/main" val="27050580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6616930" y="642594"/>
            <a:ext cx="4508269" cy="1371600"/>
          </a:xfrm>
        </p:spPr>
        <p:txBody>
          <a:bodyPr/>
          <a:lstStyle/>
          <a:p>
            <a:r>
              <a:rPr lang="he-IL" dirty="0"/>
              <a:t>דוגמאות מעשיות:</a:t>
            </a:r>
          </a:p>
        </p:txBody>
      </p:sp>
      <p:sp>
        <p:nvSpPr>
          <p:cNvPr id="3" name="מציין מיקום תוכן 2"/>
          <p:cNvSpPr>
            <a:spLocks noGrp="1"/>
          </p:cNvSpPr>
          <p:nvPr>
            <p:ph idx="1"/>
          </p:nvPr>
        </p:nvSpPr>
        <p:spPr/>
        <p:txBody>
          <a:bodyPr>
            <a:normAutofit lnSpcReduction="10000"/>
          </a:bodyPr>
          <a:lstStyle/>
          <a:p>
            <a:r>
              <a:rPr lang="he-IL" dirty="0"/>
              <a:t>דוגמה 1: שימוש ב-</a:t>
            </a:r>
            <a:r>
              <a:rPr lang="en-US" dirty="0"/>
              <a:t>LSB </a:t>
            </a:r>
            <a:r>
              <a:rPr lang="he-IL" dirty="0" smtClean="0"/>
              <a:t> בתמונה:</a:t>
            </a:r>
          </a:p>
          <a:p>
            <a:r>
              <a:rPr lang="he-IL" dirty="0" smtClean="0"/>
              <a:t>התהליך:</a:t>
            </a:r>
          </a:p>
          <a:p>
            <a:r>
              <a:rPr lang="he-IL" dirty="0" smtClean="0"/>
              <a:t>1</a:t>
            </a:r>
            <a:r>
              <a:rPr lang="he-IL" dirty="0"/>
              <a:t>. קח תמונה בפורמט </a:t>
            </a:r>
            <a:r>
              <a:rPr lang="en-US" dirty="0" smtClean="0"/>
              <a:t> BMP</a:t>
            </a:r>
            <a:r>
              <a:rPr lang="he-IL" dirty="0" smtClean="0"/>
              <a:t>שמאחסנת </a:t>
            </a:r>
            <a:r>
              <a:rPr lang="he-IL" dirty="0"/>
              <a:t>מידע </a:t>
            </a:r>
            <a:r>
              <a:rPr lang="he-IL" dirty="0" smtClean="0"/>
              <a:t>גולמי.</a:t>
            </a:r>
          </a:p>
          <a:p>
            <a:r>
              <a:rPr lang="he-IL" dirty="0" smtClean="0"/>
              <a:t>2</a:t>
            </a:r>
            <a:r>
              <a:rPr lang="he-IL" dirty="0"/>
              <a:t>. עבור על הביטים של כל פיקסל, ושנה את הביט הכי פחות משמעותי כך שיתאים לביט מתוך המידע שברצונך להסתיר</a:t>
            </a:r>
            <a:r>
              <a:rPr lang="he-IL" dirty="0" smtClean="0"/>
              <a:t>.</a:t>
            </a:r>
          </a:p>
          <a:p>
            <a:r>
              <a:rPr lang="he-IL" dirty="0"/>
              <a:t>3. התוצאה היא תמונה כמעט זהה, אך המידע שלך מוסתר בתוכה</a:t>
            </a:r>
            <a:r>
              <a:rPr lang="he-IL" dirty="0" smtClean="0"/>
              <a:t>.</a:t>
            </a:r>
          </a:p>
          <a:p>
            <a:r>
              <a:rPr lang="he-IL" b="1" dirty="0"/>
              <a:t>דוגמה:</a:t>
            </a:r>
          </a:p>
          <a:p>
            <a:r>
              <a:rPr lang="he-IL" dirty="0"/>
              <a:t>אם לפיקסל בתמונה יש ערך </a:t>
            </a:r>
            <a:r>
              <a:rPr lang="en-US" dirty="0" smtClean="0"/>
              <a:t>RGB</a:t>
            </a:r>
            <a:r>
              <a:rPr lang="he-IL" dirty="0"/>
              <a:t> של (255, 128, 64</a:t>
            </a:r>
            <a:r>
              <a:rPr lang="he-IL" dirty="0" smtClean="0"/>
              <a:t>):</a:t>
            </a:r>
          </a:p>
          <a:p>
            <a:r>
              <a:rPr lang="he-IL" dirty="0"/>
              <a:t>בבינארי: 11111111 10000000 </a:t>
            </a:r>
            <a:r>
              <a:rPr lang="he-IL" dirty="0" smtClean="0"/>
              <a:t>01000000</a:t>
            </a:r>
          </a:p>
          <a:p>
            <a:r>
              <a:rPr lang="he-IL" dirty="0"/>
              <a:t>אם רוצים להסתיר את הביט 1 נחליף את הביט הכי פחות משמעותי</a:t>
            </a:r>
            <a:r>
              <a:rPr lang="he-IL" dirty="0" smtClean="0"/>
              <a:t>:</a:t>
            </a:r>
          </a:p>
          <a:p>
            <a:r>
              <a:rPr lang="he-IL" dirty="0"/>
              <a:t>חדש: 11111111 1000000</a:t>
            </a:r>
            <a:r>
              <a:rPr lang="he-IL" b="1" dirty="0"/>
              <a:t>1</a:t>
            </a:r>
            <a:r>
              <a:rPr lang="he-IL" dirty="0"/>
              <a:t> 01000000</a:t>
            </a:r>
          </a:p>
          <a:p>
            <a:endParaRPr lang="he-IL" dirty="0" smtClean="0"/>
          </a:p>
          <a:p>
            <a:endParaRPr lang="he-IL" dirty="0"/>
          </a:p>
        </p:txBody>
      </p:sp>
    </p:spTree>
    <p:extLst>
      <p:ext uri="{BB962C8B-B14F-4D97-AF65-F5344CB8AC3E}">
        <p14:creationId xmlns:p14="http://schemas.microsoft.com/office/powerpoint/2010/main" val="30187513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6342610" y="642594"/>
            <a:ext cx="4782589" cy="1371600"/>
          </a:xfrm>
        </p:spPr>
        <p:txBody>
          <a:bodyPr/>
          <a:lstStyle/>
          <a:p>
            <a:r>
              <a:rPr lang="he-IL" dirty="0"/>
              <a:t>איתור </a:t>
            </a:r>
            <a:r>
              <a:rPr lang="he-IL" dirty="0" err="1"/>
              <a:t>סטגנוגרפיה</a:t>
            </a:r>
            <a:r>
              <a:rPr lang="he-IL" dirty="0"/>
              <a:t>:</a:t>
            </a:r>
          </a:p>
        </p:txBody>
      </p:sp>
      <p:sp>
        <p:nvSpPr>
          <p:cNvPr id="3" name="מציין מיקום תוכן 2"/>
          <p:cNvSpPr>
            <a:spLocks noGrp="1"/>
          </p:cNvSpPr>
          <p:nvPr>
            <p:ph idx="1"/>
          </p:nvPr>
        </p:nvSpPr>
        <p:spPr/>
        <p:txBody>
          <a:bodyPr/>
          <a:lstStyle/>
          <a:p>
            <a:r>
              <a:rPr lang="he-IL" dirty="0"/>
              <a:t>איתור מידע מוסתר נעשה באמצעות כלים וטכניקות של </a:t>
            </a:r>
            <a:r>
              <a:rPr lang="he-IL" b="1" dirty="0" err="1"/>
              <a:t>סטגנליזה</a:t>
            </a:r>
            <a:r>
              <a:rPr lang="he-IL" b="1" dirty="0"/>
              <a:t> </a:t>
            </a:r>
            <a:r>
              <a:rPr lang="en-US" b="1" dirty="0" err="1" smtClean="0"/>
              <a:t>Steganalysis</a:t>
            </a:r>
            <a:endParaRPr lang="he-IL" b="1" dirty="0" smtClean="0"/>
          </a:p>
          <a:p>
            <a:r>
              <a:rPr lang="he-IL" dirty="0" smtClean="0"/>
              <a:t>1. </a:t>
            </a:r>
            <a:r>
              <a:rPr lang="he-IL" b="1" dirty="0"/>
              <a:t>השוואת קבצים</a:t>
            </a:r>
            <a:r>
              <a:rPr lang="he-IL" dirty="0"/>
              <a:t>: השוואה בין הקובץ המקורי לבין הקובץ החשוד</a:t>
            </a:r>
            <a:r>
              <a:rPr lang="he-IL" dirty="0" smtClean="0"/>
              <a:t>.</a:t>
            </a:r>
          </a:p>
          <a:p>
            <a:endParaRPr lang="he-IL" dirty="0" smtClean="0"/>
          </a:p>
          <a:p>
            <a:r>
              <a:rPr lang="he-IL" dirty="0" smtClean="0"/>
              <a:t>2. </a:t>
            </a:r>
            <a:r>
              <a:rPr lang="he-IL" b="1" dirty="0"/>
              <a:t>ניתוח סטטיסטי</a:t>
            </a:r>
            <a:r>
              <a:rPr lang="he-IL" dirty="0"/>
              <a:t>: זיהוי תבניות או שינויים חריגים בתמונה, בקול או בווידאו</a:t>
            </a:r>
            <a:r>
              <a:rPr lang="he-IL" dirty="0" smtClean="0"/>
              <a:t>.</a:t>
            </a:r>
          </a:p>
          <a:p>
            <a:endParaRPr lang="he-IL" dirty="0" smtClean="0"/>
          </a:p>
          <a:p>
            <a:r>
              <a:rPr lang="he-IL" dirty="0" smtClean="0"/>
              <a:t>3. </a:t>
            </a:r>
            <a:r>
              <a:rPr lang="he-IL" b="1" dirty="0"/>
              <a:t>כלים </a:t>
            </a:r>
            <a:r>
              <a:rPr lang="he-IL" b="1" dirty="0" smtClean="0"/>
              <a:t>אוטומטיים</a:t>
            </a:r>
            <a:r>
              <a:rPr lang="he-IL" dirty="0" smtClean="0"/>
              <a:t>:</a:t>
            </a:r>
            <a:endParaRPr lang="en-US" dirty="0" smtClean="0"/>
          </a:p>
          <a:p>
            <a:r>
              <a:rPr lang="en-US" b="1" dirty="0" err="1" smtClean="0"/>
              <a:t>StegExpose</a:t>
            </a:r>
            <a:r>
              <a:rPr lang="he-IL" dirty="0" smtClean="0"/>
              <a:t>:</a:t>
            </a:r>
            <a:r>
              <a:rPr lang="en-US" dirty="0" smtClean="0"/>
              <a:t> </a:t>
            </a:r>
            <a:r>
              <a:rPr lang="he-IL" dirty="0" smtClean="0"/>
              <a:t>כלי </a:t>
            </a:r>
            <a:r>
              <a:rPr lang="he-IL" dirty="0"/>
              <a:t>לזיהוי </a:t>
            </a:r>
            <a:r>
              <a:rPr lang="he-IL" dirty="0" err="1"/>
              <a:t>סטגנוגרפיה</a:t>
            </a:r>
            <a:r>
              <a:rPr lang="he-IL" dirty="0"/>
              <a:t> בתמונות.</a:t>
            </a:r>
          </a:p>
          <a:p>
            <a:r>
              <a:rPr lang="en-US" b="1" dirty="0" err="1" smtClean="0"/>
              <a:t>DeepSound</a:t>
            </a:r>
            <a:r>
              <a:rPr lang="he-IL" dirty="0" smtClean="0"/>
              <a:t>: כלי </a:t>
            </a:r>
            <a:r>
              <a:rPr lang="he-IL" dirty="0"/>
              <a:t>לזיהוי וליצירת </a:t>
            </a:r>
            <a:r>
              <a:rPr lang="he-IL" dirty="0" err="1"/>
              <a:t>סטגנוגרפיה</a:t>
            </a:r>
            <a:r>
              <a:rPr lang="he-IL" dirty="0"/>
              <a:t> בקול.</a:t>
            </a:r>
          </a:p>
          <a:p>
            <a:endParaRPr lang="he-IL" dirty="0" smtClean="0"/>
          </a:p>
          <a:p>
            <a:endParaRPr lang="he-IL" dirty="0" smtClean="0"/>
          </a:p>
          <a:p>
            <a:endParaRPr lang="he-IL" dirty="0"/>
          </a:p>
        </p:txBody>
      </p:sp>
    </p:spTree>
    <p:extLst>
      <p:ext uri="{BB962C8B-B14F-4D97-AF65-F5344CB8AC3E}">
        <p14:creationId xmlns:p14="http://schemas.microsoft.com/office/powerpoint/2010/main" val="32951930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160624" y="642594"/>
            <a:ext cx="1964575" cy="1371600"/>
          </a:xfrm>
        </p:spPr>
        <p:txBody>
          <a:bodyPr/>
          <a:lstStyle/>
          <a:p>
            <a:r>
              <a:rPr lang="he-IL" dirty="0" smtClean="0"/>
              <a:t>שאלות</a:t>
            </a:r>
            <a:endParaRPr lang="he-IL" dirty="0"/>
          </a:p>
        </p:txBody>
      </p:sp>
      <p:sp>
        <p:nvSpPr>
          <p:cNvPr id="3" name="מציין מיקום תוכן 2"/>
          <p:cNvSpPr>
            <a:spLocks noGrp="1"/>
          </p:cNvSpPr>
          <p:nvPr>
            <p:ph idx="1"/>
          </p:nvPr>
        </p:nvSpPr>
        <p:spPr/>
        <p:txBody>
          <a:bodyPr/>
          <a:lstStyle/>
          <a:p>
            <a:r>
              <a:rPr lang="he-IL" dirty="0" smtClean="0"/>
              <a:t>1</a:t>
            </a:r>
            <a:r>
              <a:rPr lang="he-IL" dirty="0"/>
              <a:t>. מה ההבדל בין </a:t>
            </a:r>
            <a:r>
              <a:rPr lang="he-IL" dirty="0" err="1"/>
              <a:t>סטגנוגרפיה</a:t>
            </a:r>
            <a:r>
              <a:rPr lang="he-IL" dirty="0"/>
              <a:t> לקריפטוגרפיה</a:t>
            </a:r>
            <a:r>
              <a:rPr lang="he-IL" dirty="0" smtClean="0"/>
              <a:t>?</a:t>
            </a:r>
          </a:p>
          <a:p>
            <a:endParaRPr lang="he-IL" dirty="0" smtClean="0"/>
          </a:p>
          <a:p>
            <a:r>
              <a:rPr lang="he-IL" dirty="0" smtClean="0"/>
              <a:t>2</a:t>
            </a:r>
            <a:r>
              <a:rPr lang="he-IL" dirty="0"/>
              <a:t>. מהם היתרונות והחסרונות של שימוש </a:t>
            </a:r>
            <a:r>
              <a:rPr lang="he-IL" dirty="0" err="1"/>
              <a:t>בסטגנוגרפיה</a:t>
            </a:r>
            <a:r>
              <a:rPr lang="he-IL" dirty="0" smtClean="0"/>
              <a:t>?</a:t>
            </a:r>
          </a:p>
          <a:p>
            <a:endParaRPr lang="he-IL" dirty="0" smtClean="0"/>
          </a:p>
          <a:p>
            <a:r>
              <a:rPr lang="he-IL" dirty="0" smtClean="0"/>
              <a:t>3</a:t>
            </a:r>
            <a:r>
              <a:rPr lang="he-IL" dirty="0"/>
              <a:t>. ציין לפחות שתי שיטות </a:t>
            </a:r>
            <a:r>
              <a:rPr lang="he-IL" dirty="0" err="1"/>
              <a:t>סטגנוגרפיה</a:t>
            </a:r>
            <a:r>
              <a:rPr lang="he-IL" dirty="0"/>
              <a:t> בקול.</a:t>
            </a:r>
            <a:endParaRPr lang="he-IL" dirty="0" smtClean="0"/>
          </a:p>
          <a:p>
            <a:endParaRPr lang="he-IL" dirty="0"/>
          </a:p>
        </p:txBody>
      </p:sp>
    </p:spTree>
    <p:extLst>
      <p:ext uri="{BB962C8B-B14F-4D97-AF65-F5344CB8AC3E}">
        <p14:creationId xmlns:p14="http://schemas.microsoft.com/office/powerpoint/2010/main" val="5349836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994370" y="642594"/>
            <a:ext cx="2130829" cy="1371600"/>
          </a:xfrm>
        </p:spPr>
        <p:txBody>
          <a:bodyPr/>
          <a:lstStyle/>
          <a:p>
            <a:r>
              <a:rPr lang="he-IL" dirty="0" smtClean="0"/>
              <a:t>תשובות</a:t>
            </a:r>
            <a:endParaRPr lang="he-IL" dirty="0"/>
          </a:p>
        </p:txBody>
      </p:sp>
      <p:sp>
        <p:nvSpPr>
          <p:cNvPr id="3" name="מציין מיקום תוכן 2"/>
          <p:cNvSpPr>
            <a:spLocks noGrp="1"/>
          </p:cNvSpPr>
          <p:nvPr>
            <p:ph idx="1"/>
          </p:nvPr>
        </p:nvSpPr>
        <p:spPr/>
        <p:txBody>
          <a:bodyPr/>
          <a:lstStyle/>
          <a:p>
            <a:r>
              <a:rPr lang="he-IL" dirty="0" smtClean="0"/>
              <a:t>1</a:t>
            </a:r>
            <a:r>
              <a:rPr lang="he-IL" dirty="0"/>
              <a:t>. קריפטוגרפיה מצפינה מידע אך אינה מסתירה את עצם קיומו; </a:t>
            </a:r>
            <a:r>
              <a:rPr lang="he-IL" dirty="0" err="1"/>
              <a:t>סטגנוגרפיה</a:t>
            </a:r>
            <a:r>
              <a:rPr lang="he-IL" dirty="0"/>
              <a:t> מסתירה את המידע כך שלא יתגלה שהוא קיים</a:t>
            </a:r>
            <a:r>
              <a:rPr lang="he-IL" dirty="0" smtClean="0"/>
              <a:t>.</a:t>
            </a:r>
          </a:p>
          <a:p>
            <a:endParaRPr lang="he-IL" dirty="0" smtClean="0"/>
          </a:p>
          <a:p>
            <a:r>
              <a:rPr lang="he-IL" dirty="0" smtClean="0"/>
              <a:t>2</a:t>
            </a:r>
            <a:r>
              <a:rPr lang="he-IL" dirty="0"/>
              <a:t>. יתרונות: שומר על דיסקרטיות, קשה לגילוי. חסרונות: מגבלות בכמות המידע שניתן להסתיר, רגישות לכלים לזיהוי</a:t>
            </a:r>
            <a:r>
              <a:rPr lang="he-IL" dirty="0" smtClean="0"/>
              <a:t>.</a:t>
            </a:r>
          </a:p>
          <a:p>
            <a:endParaRPr lang="he-IL" dirty="0" smtClean="0"/>
          </a:p>
          <a:p>
            <a:r>
              <a:rPr lang="he-IL" dirty="0" smtClean="0"/>
              <a:t>3</a:t>
            </a:r>
            <a:r>
              <a:rPr lang="he-IL" dirty="0"/>
              <a:t>. שיטות בקול: החבאת מידע בתדרים גבוהים, החבאה באמצעות שינוי אמפליטודה.</a:t>
            </a:r>
            <a:endParaRPr lang="he-IL" dirty="0" smtClean="0"/>
          </a:p>
          <a:p>
            <a:endParaRPr lang="he-IL" dirty="0"/>
          </a:p>
        </p:txBody>
      </p:sp>
    </p:spTree>
    <p:extLst>
      <p:ext uri="{BB962C8B-B14F-4D97-AF65-F5344CB8AC3E}">
        <p14:creationId xmlns:p14="http://schemas.microsoft.com/office/powerpoint/2010/main" val="8278867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024254" y="642594"/>
            <a:ext cx="4100945" cy="1371600"/>
          </a:xfrm>
        </p:spPr>
        <p:txBody>
          <a:bodyPr/>
          <a:lstStyle/>
          <a:p>
            <a:r>
              <a:rPr lang="he-IL" dirty="0"/>
              <a:t>שאלות מעשיות:</a:t>
            </a:r>
          </a:p>
        </p:txBody>
      </p:sp>
      <p:sp>
        <p:nvSpPr>
          <p:cNvPr id="3" name="מציין מיקום תוכן 2"/>
          <p:cNvSpPr>
            <a:spLocks noGrp="1"/>
          </p:cNvSpPr>
          <p:nvPr>
            <p:ph idx="1"/>
          </p:nvPr>
        </p:nvSpPr>
        <p:spPr/>
        <p:txBody>
          <a:bodyPr/>
          <a:lstStyle/>
          <a:p>
            <a:r>
              <a:rPr lang="he-IL" dirty="0" smtClean="0"/>
              <a:t>1</a:t>
            </a:r>
            <a:r>
              <a:rPr lang="he-IL" dirty="0"/>
              <a:t>. אם לפיקסל יש </a:t>
            </a:r>
            <a:r>
              <a:rPr lang="he-IL" dirty="0" smtClean="0"/>
              <a:t>ערך</a:t>
            </a:r>
            <a:r>
              <a:rPr lang="en-US" dirty="0" smtClean="0"/>
              <a:t> RGB </a:t>
            </a:r>
            <a:r>
              <a:rPr lang="he-IL" dirty="0"/>
              <a:t>של (200, 150, 100) מה יהיה הערך החדש אם רוצים להסתיר את </a:t>
            </a:r>
            <a:r>
              <a:rPr lang="he-IL" dirty="0" smtClean="0"/>
              <a:t>הביט 0?</a:t>
            </a:r>
          </a:p>
          <a:p>
            <a:endParaRPr lang="he-IL" dirty="0" smtClean="0"/>
          </a:p>
          <a:p>
            <a:r>
              <a:rPr lang="he-IL" dirty="0" smtClean="0"/>
              <a:t>2</a:t>
            </a:r>
            <a:r>
              <a:rPr lang="he-IL" dirty="0"/>
              <a:t>. הסבר כיצד היית בודק אם תמונה מכילה מידע מוסתר.</a:t>
            </a:r>
            <a:endParaRPr lang="he-IL" dirty="0" smtClean="0"/>
          </a:p>
          <a:p>
            <a:endParaRPr lang="he-IL" dirty="0"/>
          </a:p>
        </p:txBody>
      </p:sp>
    </p:spTree>
    <p:extLst>
      <p:ext uri="{BB962C8B-B14F-4D97-AF65-F5344CB8AC3E}">
        <p14:creationId xmlns:p14="http://schemas.microsoft.com/office/powerpoint/2010/main" val="39646456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952806" y="642594"/>
            <a:ext cx="2172393" cy="1371600"/>
          </a:xfrm>
        </p:spPr>
        <p:txBody>
          <a:bodyPr/>
          <a:lstStyle/>
          <a:p>
            <a:r>
              <a:rPr lang="he-IL" dirty="0" smtClean="0"/>
              <a:t>תשובות</a:t>
            </a:r>
            <a:endParaRPr lang="he-IL" dirty="0"/>
          </a:p>
        </p:txBody>
      </p:sp>
      <p:sp>
        <p:nvSpPr>
          <p:cNvPr id="3" name="מציין מיקום תוכן 2"/>
          <p:cNvSpPr>
            <a:spLocks noGrp="1"/>
          </p:cNvSpPr>
          <p:nvPr>
            <p:ph idx="1"/>
          </p:nvPr>
        </p:nvSpPr>
        <p:spPr/>
        <p:txBody>
          <a:bodyPr/>
          <a:lstStyle/>
          <a:p>
            <a:r>
              <a:rPr lang="he-IL" dirty="0"/>
              <a:t>1. (200, 150, 100) בבינארי: 11001000 10010110 </a:t>
            </a:r>
            <a:r>
              <a:rPr lang="he-IL" dirty="0" smtClean="0"/>
              <a:t>01100100 </a:t>
            </a:r>
          </a:p>
          <a:p>
            <a:r>
              <a:rPr lang="he-IL" dirty="0"/>
              <a:t>שנה את הביט הכי פחות משמעותי בכל ערך</a:t>
            </a:r>
            <a:r>
              <a:rPr lang="he-IL" dirty="0" smtClean="0"/>
              <a:t>.</a:t>
            </a:r>
          </a:p>
          <a:p>
            <a:r>
              <a:rPr lang="he-IL" dirty="0"/>
              <a:t>אם המידע להסתיר </a:t>
            </a:r>
            <a:r>
              <a:rPr lang="he-IL" dirty="0" smtClean="0"/>
              <a:t>הוא 0: </a:t>
            </a:r>
            <a:r>
              <a:rPr lang="he-IL" dirty="0"/>
              <a:t>1100100</a:t>
            </a:r>
            <a:r>
              <a:rPr lang="he-IL" b="1" dirty="0"/>
              <a:t>0</a:t>
            </a:r>
            <a:r>
              <a:rPr lang="he-IL" dirty="0"/>
              <a:t> 1001011</a:t>
            </a:r>
            <a:r>
              <a:rPr lang="he-IL" b="1" dirty="0"/>
              <a:t>0</a:t>
            </a:r>
            <a:r>
              <a:rPr lang="he-IL" dirty="0"/>
              <a:t> 0110010</a:t>
            </a:r>
            <a:r>
              <a:rPr lang="he-IL" b="1" dirty="0"/>
              <a:t>0</a:t>
            </a:r>
            <a:r>
              <a:rPr lang="he-IL" dirty="0"/>
              <a:t>, הערכים </a:t>
            </a:r>
            <a:r>
              <a:rPr lang="he-IL" b="1" dirty="0"/>
              <a:t>יישארו כפי שהם</a:t>
            </a:r>
            <a:r>
              <a:rPr lang="he-IL" dirty="0"/>
              <a:t>, משום שכל הביטים הפחות משמעותיים כבר תואמים</a:t>
            </a:r>
            <a:r>
              <a:rPr lang="he-IL" dirty="0" smtClean="0"/>
              <a:t>.</a:t>
            </a:r>
          </a:p>
          <a:p>
            <a:r>
              <a:rPr lang="he-IL" b="1" dirty="0"/>
              <a:t>תוצאה:</a:t>
            </a:r>
          </a:p>
          <a:p>
            <a:r>
              <a:rPr lang="he-IL" dirty="0"/>
              <a:t>הערך החדש של הפיקסל נשאר </a:t>
            </a:r>
            <a:r>
              <a:rPr lang="he-IL" b="1" dirty="0"/>
              <a:t>(200, 150, 100)</a:t>
            </a:r>
            <a:r>
              <a:rPr lang="he-IL" dirty="0"/>
              <a:t>.</a:t>
            </a:r>
          </a:p>
          <a:p>
            <a:r>
              <a:rPr lang="he-IL" dirty="0"/>
              <a:t>2. ניתוח סטטיסטי של התמונה ובדיקת שינויים חריגים </a:t>
            </a:r>
            <a:r>
              <a:rPr lang="he-IL" dirty="0" smtClean="0"/>
              <a:t>בערכים, לדוגמא דחיסות מידע, אם יש קובץ מקורי ניתן </a:t>
            </a:r>
            <a:r>
              <a:rPr lang="he-IL" dirty="0" err="1" smtClean="0"/>
              <a:t>לנהשוות</a:t>
            </a:r>
            <a:r>
              <a:rPr lang="he-IL" dirty="0" smtClean="0"/>
              <a:t> ולגלות, ישנם כלים שבודקים זאת, במקרים פשוטים ניתן לקרוא את הביטים המשמעותיים.</a:t>
            </a:r>
            <a:endParaRPr lang="he-IL" dirty="0"/>
          </a:p>
          <a:p>
            <a:r>
              <a:rPr lang="he-IL" dirty="0" smtClean="0"/>
              <a:t> </a:t>
            </a:r>
            <a:endParaRPr lang="he-IL" dirty="0"/>
          </a:p>
          <a:p>
            <a:endParaRPr lang="he-IL" dirty="0"/>
          </a:p>
        </p:txBody>
      </p:sp>
    </p:spTree>
    <p:extLst>
      <p:ext uri="{BB962C8B-B14F-4D97-AF65-F5344CB8AC3E}">
        <p14:creationId xmlns:p14="http://schemas.microsoft.com/office/powerpoint/2010/main" val="7501739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1066800" y="2269375"/>
            <a:ext cx="10058400" cy="3931920"/>
          </a:xfrm>
        </p:spPr>
        <p:txBody>
          <a:bodyPr>
            <a:normAutofit/>
          </a:bodyPr>
          <a:lstStyle/>
          <a:p>
            <a:pPr algn="ctr"/>
            <a:r>
              <a:rPr lang="he-IL" sz="7200" dirty="0"/>
              <a:t>הסוואה בקבצי מדיה</a:t>
            </a:r>
          </a:p>
        </p:txBody>
      </p:sp>
    </p:spTree>
    <p:extLst>
      <p:ext uri="{BB962C8B-B14F-4D97-AF65-F5344CB8AC3E}">
        <p14:creationId xmlns:p14="http://schemas.microsoft.com/office/powerpoint/2010/main" val="29437141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555374" y="642594"/>
            <a:ext cx="6569825" cy="1371600"/>
          </a:xfrm>
        </p:spPr>
        <p:txBody>
          <a:bodyPr/>
          <a:lstStyle/>
          <a:p>
            <a:r>
              <a:rPr lang="he-IL" dirty="0"/>
              <a:t>מהי הסוואה בקבצי </a:t>
            </a:r>
            <a:r>
              <a:rPr lang="he-IL" dirty="0" smtClean="0"/>
              <a:t>מדיה?</a:t>
            </a:r>
            <a:endParaRPr lang="he-IL" dirty="0"/>
          </a:p>
        </p:txBody>
      </p:sp>
      <p:sp>
        <p:nvSpPr>
          <p:cNvPr id="3" name="מציין מיקום תוכן 2"/>
          <p:cNvSpPr>
            <a:spLocks noGrp="1"/>
          </p:cNvSpPr>
          <p:nvPr>
            <p:ph idx="1"/>
          </p:nvPr>
        </p:nvSpPr>
        <p:spPr/>
        <p:txBody>
          <a:bodyPr/>
          <a:lstStyle/>
          <a:p>
            <a:r>
              <a:rPr lang="he-IL" b="1" dirty="0"/>
              <a:t>הגדרה:</a:t>
            </a:r>
          </a:p>
          <a:p>
            <a:r>
              <a:rPr lang="he-IL" dirty="0"/>
              <a:t>הסוואה בקבצי מדיה היא תהליך שבו מוסתרים נתונים בתוך קבצים רגילים כמו תמונות, קבצי קול, או סרטוני וידאו.</a:t>
            </a:r>
            <a:br>
              <a:rPr lang="he-IL" dirty="0"/>
            </a:br>
            <a:r>
              <a:rPr lang="he-IL" dirty="0"/>
              <a:t>המטרה היא להעביר מידע סודי בלי לעורר חשד, תוך שמירה על מראה תקין של קובץ המדיה.</a:t>
            </a:r>
          </a:p>
          <a:p>
            <a:endParaRPr lang="he-IL" dirty="0"/>
          </a:p>
        </p:txBody>
      </p:sp>
    </p:spTree>
    <p:extLst>
      <p:ext uri="{BB962C8B-B14F-4D97-AF65-F5344CB8AC3E}">
        <p14:creationId xmlns:p14="http://schemas.microsoft.com/office/powerpoint/2010/main" val="36386052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6026726" y="642594"/>
            <a:ext cx="5098473" cy="1371600"/>
          </a:xfrm>
        </p:spPr>
        <p:txBody>
          <a:bodyPr>
            <a:normAutofit fontScale="90000"/>
          </a:bodyPr>
          <a:lstStyle/>
          <a:p>
            <a:r>
              <a:rPr lang="he-IL" dirty="0"/>
              <a:t>העקרונות המרכזיים:</a:t>
            </a:r>
          </a:p>
        </p:txBody>
      </p:sp>
      <p:sp>
        <p:nvSpPr>
          <p:cNvPr id="3" name="מציין מיקום תוכן 2"/>
          <p:cNvSpPr>
            <a:spLocks noGrp="1"/>
          </p:cNvSpPr>
          <p:nvPr>
            <p:ph idx="1"/>
          </p:nvPr>
        </p:nvSpPr>
        <p:spPr/>
        <p:txBody>
          <a:bodyPr/>
          <a:lstStyle/>
          <a:p>
            <a:r>
              <a:rPr lang="he-IL" dirty="0" smtClean="0"/>
              <a:t>1. </a:t>
            </a:r>
            <a:r>
              <a:rPr lang="he-IL" b="1" dirty="0"/>
              <a:t>ביטוי מינימלי:</a:t>
            </a:r>
            <a:r>
              <a:rPr lang="he-IL" dirty="0"/>
              <a:t> ההסוואה משנה את קובץ המדיה באופן שמבחינה ויזואלית, קולית או שימושית לא יהיה הבדל מורגש</a:t>
            </a:r>
            <a:r>
              <a:rPr lang="he-IL" dirty="0" smtClean="0"/>
              <a:t>.</a:t>
            </a:r>
          </a:p>
          <a:p>
            <a:endParaRPr lang="he-IL" dirty="0" smtClean="0"/>
          </a:p>
          <a:p>
            <a:r>
              <a:rPr lang="he-IL" dirty="0" smtClean="0"/>
              <a:t>2. </a:t>
            </a:r>
            <a:r>
              <a:rPr lang="he-IL" b="1" dirty="0"/>
              <a:t>התאמה לפורמט:</a:t>
            </a:r>
            <a:r>
              <a:rPr lang="he-IL" dirty="0"/>
              <a:t> טכניקות ההסוואה משתנות בהתאם לסוג הקובץ (תמונה, אודיו, וידאו</a:t>
            </a:r>
            <a:r>
              <a:rPr lang="he-IL" dirty="0" smtClean="0"/>
              <a:t>).</a:t>
            </a:r>
          </a:p>
          <a:p>
            <a:endParaRPr lang="he-IL" dirty="0" smtClean="0"/>
          </a:p>
          <a:p>
            <a:r>
              <a:rPr lang="he-IL" dirty="0" smtClean="0"/>
              <a:t>3. </a:t>
            </a:r>
            <a:r>
              <a:rPr lang="he-IL" b="1" dirty="0"/>
              <a:t>עמידות לשינויים:</a:t>
            </a:r>
            <a:r>
              <a:rPr lang="he-IL" dirty="0"/>
              <a:t> לעיתים יש צורך שהמידע המוסתר ישרוד עיבודים, כמו דחיסה או עריכה בסיסית.</a:t>
            </a:r>
            <a:endParaRPr lang="he-IL" dirty="0" smtClean="0"/>
          </a:p>
          <a:p>
            <a:endParaRPr lang="he-IL" dirty="0"/>
          </a:p>
        </p:txBody>
      </p:sp>
    </p:spTree>
    <p:extLst>
      <p:ext uri="{BB962C8B-B14F-4D97-AF65-F5344CB8AC3E}">
        <p14:creationId xmlns:p14="http://schemas.microsoft.com/office/powerpoint/2010/main" val="1473297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757352" y="642594"/>
            <a:ext cx="7367847" cy="1371600"/>
          </a:xfrm>
        </p:spPr>
        <p:txBody>
          <a:bodyPr/>
          <a:lstStyle/>
          <a:p>
            <a:r>
              <a:rPr lang="he-IL" dirty="0"/>
              <a:t>סוגי מדיה וטכניקות להסוואה</a:t>
            </a:r>
          </a:p>
        </p:txBody>
      </p:sp>
      <p:sp>
        <p:nvSpPr>
          <p:cNvPr id="3" name="מציין מיקום תוכן 2"/>
          <p:cNvSpPr>
            <a:spLocks noGrp="1"/>
          </p:cNvSpPr>
          <p:nvPr>
            <p:ph idx="1"/>
          </p:nvPr>
        </p:nvSpPr>
        <p:spPr/>
        <p:txBody>
          <a:bodyPr/>
          <a:lstStyle/>
          <a:p>
            <a:r>
              <a:rPr lang="he-IL" b="1" dirty="0"/>
              <a:t>א. הסוואה בתמונות</a:t>
            </a:r>
            <a:r>
              <a:rPr lang="he-IL" b="1" dirty="0" smtClean="0"/>
              <a:t>:</a:t>
            </a:r>
          </a:p>
          <a:p>
            <a:r>
              <a:rPr lang="he-IL" dirty="0"/>
              <a:t>טכניקות נפוצות</a:t>
            </a:r>
            <a:r>
              <a:rPr lang="he-IL" dirty="0" smtClean="0"/>
              <a:t>:</a:t>
            </a:r>
          </a:p>
          <a:p>
            <a:r>
              <a:rPr lang="he-IL" dirty="0" smtClean="0"/>
              <a:t>1. </a:t>
            </a:r>
            <a:r>
              <a:rPr lang="en-US" dirty="0"/>
              <a:t>LSB (Least Significant Bit</a:t>
            </a:r>
            <a:r>
              <a:rPr lang="en-US" dirty="0" smtClean="0"/>
              <a:t>)</a:t>
            </a:r>
            <a:r>
              <a:rPr lang="he-IL" dirty="0"/>
              <a:t>: שינוי הביטים הכי פחות משמעותיים של ערכי </a:t>
            </a:r>
            <a:r>
              <a:rPr lang="he-IL" dirty="0" smtClean="0"/>
              <a:t>הצבע</a:t>
            </a:r>
            <a:r>
              <a:rPr lang="en-US" dirty="0" smtClean="0"/>
              <a:t> RGB </a:t>
            </a:r>
            <a:r>
              <a:rPr lang="he-IL" dirty="0"/>
              <a:t>של פיקסלים בתמונה</a:t>
            </a:r>
            <a:r>
              <a:rPr lang="he-IL" dirty="0" smtClean="0"/>
              <a:t>.</a:t>
            </a:r>
          </a:p>
          <a:p>
            <a:r>
              <a:rPr lang="he-IL" dirty="0"/>
              <a:t>לדוגמה: אם הביט האחרון של ערך 11001000 ישתנה מ- 0 ל- 1 ההבדל בצבע יהיה זניח</a:t>
            </a:r>
            <a:r>
              <a:rPr lang="he-IL" dirty="0" smtClean="0"/>
              <a:t>.</a:t>
            </a:r>
          </a:p>
          <a:p>
            <a:r>
              <a:rPr lang="he-IL" dirty="0"/>
              <a:t>2. דחיסת </a:t>
            </a:r>
            <a:r>
              <a:rPr lang="en-US" dirty="0"/>
              <a:t>DCT (Discrete Cosine Transform</a:t>
            </a:r>
            <a:r>
              <a:rPr lang="en-US" dirty="0" smtClean="0"/>
              <a:t>)</a:t>
            </a:r>
            <a:r>
              <a:rPr lang="he-IL" dirty="0"/>
              <a:t>: בשימוש בתמונות </a:t>
            </a:r>
            <a:r>
              <a:rPr lang="en-US" dirty="0" smtClean="0"/>
              <a:t>JPEG</a:t>
            </a:r>
            <a:r>
              <a:rPr lang="he-IL" dirty="0" smtClean="0"/>
              <a:t> המידע </a:t>
            </a:r>
            <a:r>
              <a:rPr lang="he-IL" dirty="0"/>
              <a:t>מוסתר בשינויים בתדרים (במקום ישירות בפיקסלים</a:t>
            </a:r>
            <a:r>
              <a:rPr lang="he-IL" dirty="0" smtClean="0"/>
              <a:t>).</a:t>
            </a:r>
          </a:p>
          <a:p>
            <a:r>
              <a:rPr lang="he-IL" dirty="0"/>
              <a:t>השיטה פועלת על מקדמי התדרים של התמונה, כך שהשינויים לא נראים לעין</a:t>
            </a:r>
            <a:r>
              <a:rPr lang="he-IL" dirty="0" smtClean="0"/>
              <a:t>.</a:t>
            </a:r>
          </a:p>
          <a:p>
            <a:r>
              <a:rPr lang="he-IL" dirty="0" smtClean="0"/>
              <a:t>3. </a:t>
            </a:r>
            <a:r>
              <a:rPr lang="en-US" dirty="0" smtClean="0"/>
              <a:t>Watermarking</a:t>
            </a:r>
            <a:r>
              <a:rPr lang="he-IL" dirty="0"/>
              <a:t>: טכניקה שמשתמשת בתמונה כולה לשם סימון או הסוואה, לרוב בזכויות יוצרים.</a:t>
            </a:r>
            <a:endParaRPr lang="he-IL" dirty="0" smtClean="0"/>
          </a:p>
          <a:p>
            <a:endParaRPr lang="he-IL" dirty="0" smtClean="0"/>
          </a:p>
          <a:p>
            <a:endParaRPr lang="he-IL" dirty="0" smtClean="0"/>
          </a:p>
          <a:p>
            <a:endParaRPr lang="he-IL" dirty="0"/>
          </a:p>
        </p:txBody>
      </p:sp>
    </p:spTree>
    <p:extLst>
      <p:ext uri="{BB962C8B-B14F-4D97-AF65-F5344CB8AC3E}">
        <p14:creationId xmlns:p14="http://schemas.microsoft.com/office/powerpoint/2010/main" val="22938653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826326" y="642594"/>
            <a:ext cx="8298873" cy="1371600"/>
          </a:xfrm>
        </p:spPr>
        <p:txBody>
          <a:bodyPr>
            <a:normAutofit fontScale="90000"/>
          </a:bodyPr>
          <a:lstStyle/>
          <a:p>
            <a:r>
              <a:rPr lang="he-IL" dirty="0" smtClean="0"/>
              <a:t>המשך - סוגי </a:t>
            </a:r>
            <a:r>
              <a:rPr lang="he-IL" dirty="0"/>
              <a:t>מדיה וטכניקות להסוואה</a:t>
            </a:r>
          </a:p>
        </p:txBody>
      </p:sp>
      <p:sp>
        <p:nvSpPr>
          <p:cNvPr id="3" name="מציין מיקום תוכן 2"/>
          <p:cNvSpPr>
            <a:spLocks noGrp="1"/>
          </p:cNvSpPr>
          <p:nvPr>
            <p:ph idx="1"/>
          </p:nvPr>
        </p:nvSpPr>
        <p:spPr/>
        <p:txBody>
          <a:bodyPr/>
          <a:lstStyle/>
          <a:p>
            <a:r>
              <a:rPr lang="he-IL" b="1" dirty="0"/>
              <a:t>ב. הסוואה בקבצי אודיו</a:t>
            </a:r>
            <a:r>
              <a:rPr lang="he-IL" b="1" dirty="0" smtClean="0"/>
              <a:t>:</a:t>
            </a:r>
          </a:p>
          <a:p>
            <a:r>
              <a:rPr lang="he-IL" dirty="0"/>
              <a:t>טכניקות נפוצות</a:t>
            </a:r>
            <a:r>
              <a:rPr lang="he-IL" dirty="0" smtClean="0"/>
              <a:t>:</a:t>
            </a:r>
          </a:p>
          <a:p>
            <a:r>
              <a:rPr lang="he-IL" dirty="0" smtClean="0"/>
              <a:t>1. </a:t>
            </a:r>
            <a:r>
              <a:rPr lang="en-US" dirty="0" smtClean="0"/>
              <a:t> </a:t>
            </a:r>
            <a:r>
              <a:rPr lang="en-US" b="1" dirty="0" smtClean="0"/>
              <a:t>LSB</a:t>
            </a:r>
            <a:r>
              <a:rPr lang="he-IL" b="1" dirty="0" smtClean="0"/>
              <a:t>באודיו:</a:t>
            </a:r>
            <a:r>
              <a:rPr lang="he-IL" dirty="0" smtClean="0"/>
              <a:t> כמו </a:t>
            </a:r>
            <a:r>
              <a:rPr lang="he-IL" dirty="0"/>
              <a:t>בתמונות, שינוי הביטים הפחות משמעותיים של ערכי האודיו.</a:t>
            </a:r>
          </a:p>
          <a:p>
            <a:r>
              <a:rPr lang="he-IL" dirty="0"/>
              <a:t>לדוגמה: בגלי קול בפורמט </a:t>
            </a:r>
            <a:r>
              <a:rPr lang="en-US" dirty="0" smtClean="0"/>
              <a:t>WAV</a:t>
            </a:r>
            <a:endParaRPr lang="he-IL" dirty="0" smtClean="0"/>
          </a:p>
          <a:p>
            <a:endParaRPr lang="he-IL" dirty="0" smtClean="0"/>
          </a:p>
          <a:p>
            <a:r>
              <a:rPr lang="he-IL" dirty="0" smtClean="0"/>
              <a:t>2. </a:t>
            </a:r>
            <a:r>
              <a:rPr lang="en-US" b="1" dirty="0"/>
              <a:t>Echo </a:t>
            </a:r>
            <a:r>
              <a:rPr lang="en-US" b="1" dirty="0" smtClean="0"/>
              <a:t>Hiding</a:t>
            </a:r>
            <a:r>
              <a:rPr lang="he-IL" b="1" dirty="0" smtClean="0"/>
              <a:t>:</a:t>
            </a:r>
            <a:r>
              <a:rPr lang="he-IL" dirty="0" smtClean="0"/>
              <a:t> מוסיפים </a:t>
            </a:r>
            <a:r>
              <a:rPr lang="he-IL" dirty="0"/>
              <a:t>הד חוזר קל שלא מורגש באוזן אנושית, אך הוא מקודד מידע</a:t>
            </a:r>
            <a:r>
              <a:rPr lang="he-IL" dirty="0" smtClean="0"/>
              <a:t>.</a:t>
            </a:r>
          </a:p>
          <a:p>
            <a:endParaRPr lang="he-IL" dirty="0" smtClean="0"/>
          </a:p>
          <a:p>
            <a:r>
              <a:rPr lang="he-IL" dirty="0" smtClean="0"/>
              <a:t>3. </a:t>
            </a:r>
            <a:r>
              <a:rPr lang="en-US" b="1" dirty="0"/>
              <a:t>Phase </a:t>
            </a:r>
            <a:r>
              <a:rPr lang="en-US" b="1" dirty="0" smtClean="0"/>
              <a:t>Coding</a:t>
            </a:r>
            <a:r>
              <a:rPr lang="he-IL" b="1" dirty="0" smtClean="0"/>
              <a:t>:</a:t>
            </a:r>
            <a:r>
              <a:rPr lang="he-IL" dirty="0" smtClean="0"/>
              <a:t> משנה </a:t>
            </a:r>
            <a:r>
              <a:rPr lang="he-IL" dirty="0"/>
              <a:t>את הפאזה של גלי הקול כדי להחביא מידע.</a:t>
            </a:r>
          </a:p>
          <a:p>
            <a:endParaRPr lang="he-IL" dirty="0" smtClean="0"/>
          </a:p>
          <a:p>
            <a:endParaRPr lang="he-IL" dirty="0"/>
          </a:p>
        </p:txBody>
      </p:sp>
    </p:spTree>
    <p:extLst>
      <p:ext uri="{BB962C8B-B14F-4D97-AF65-F5344CB8AC3E}">
        <p14:creationId xmlns:p14="http://schemas.microsoft.com/office/powerpoint/2010/main" val="17836243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680960" y="642594"/>
            <a:ext cx="3444240" cy="1371600"/>
          </a:xfrm>
        </p:spPr>
        <p:txBody>
          <a:bodyPr/>
          <a:lstStyle/>
          <a:p>
            <a:r>
              <a:rPr lang="he-IL" dirty="0"/>
              <a:t>עקרונות יסוד</a:t>
            </a:r>
          </a:p>
        </p:txBody>
      </p:sp>
      <p:sp>
        <p:nvSpPr>
          <p:cNvPr id="3" name="מציין מיקום תוכן 2"/>
          <p:cNvSpPr>
            <a:spLocks noGrp="1"/>
          </p:cNvSpPr>
          <p:nvPr>
            <p:ph idx="1"/>
          </p:nvPr>
        </p:nvSpPr>
        <p:spPr/>
        <p:txBody>
          <a:bodyPr/>
          <a:lstStyle/>
          <a:p>
            <a:r>
              <a:rPr lang="he-IL" b="1" dirty="0"/>
              <a:t>מה הופך קובץ מדיה למתאים להסוואה</a:t>
            </a:r>
            <a:r>
              <a:rPr lang="he-IL" b="1" dirty="0" smtClean="0"/>
              <a:t>?</a:t>
            </a:r>
            <a:endParaRPr lang="he-IL" b="1" dirty="0"/>
          </a:p>
          <a:p>
            <a:r>
              <a:rPr lang="he-IL" b="1" dirty="0"/>
              <a:t>נפח מידע גדול:</a:t>
            </a:r>
            <a:r>
              <a:rPr lang="he-IL" dirty="0"/>
              <a:t> קבצי תמונות, אודיו ווידאו מכילים כמויות עצומות של נתונים, מה שמקל על הסוואת מידע ללא פגיעה משמעותית באיכות</a:t>
            </a:r>
            <a:r>
              <a:rPr lang="he-IL" dirty="0" smtClean="0"/>
              <a:t>.</a:t>
            </a:r>
          </a:p>
          <a:p>
            <a:endParaRPr lang="he-IL" dirty="0"/>
          </a:p>
          <a:p>
            <a:r>
              <a:rPr lang="he-IL" b="1" dirty="0"/>
              <a:t>רגישות אנושית נמוכה:</a:t>
            </a:r>
            <a:r>
              <a:rPr lang="he-IL" dirty="0"/>
              <a:t> חוש הראייה והשמיעה האנושיים לא תמיד מבחינים בשינויים קטנים</a:t>
            </a:r>
            <a:r>
              <a:rPr lang="he-IL" dirty="0" smtClean="0"/>
              <a:t>.</a:t>
            </a:r>
          </a:p>
          <a:p>
            <a:endParaRPr lang="he-IL" dirty="0" smtClean="0"/>
          </a:p>
          <a:p>
            <a:r>
              <a:rPr lang="he-IL" b="1" dirty="0"/>
              <a:t>חוסר אחידות בנתונים:</a:t>
            </a:r>
            <a:r>
              <a:rPr lang="he-IL" dirty="0"/>
              <a:t> פורמטים </a:t>
            </a:r>
            <a:r>
              <a:rPr lang="he-IL" dirty="0" smtClean="0"/>
              <a:t>כמו</a:t>
            </a:r>
            <a:r>
              <a:rPr lang="en-US" dirty="0" smtClean="0"/>
              <a:t> BMP </a:t>
            </a:r>
            <a:r>
              <a:rPr lang="he-IL" dirty="0"/>
              <a:t>ו-</a:t>
            </a:r>
            <a:r>
              <a:rPr lang="en-US" dirty="0"/>
              <a:t>WAV </a:t>
            </a:r>
            <a:r>
              <a:rPr lang="he-IL" dirty="0" smtClean="0"/>
              <a:t> הם </a:t>
            </a:r>
            <a:r>
              <a:rPr lang="he-IL" dirty="0"/>
              <a:t>"גולמיים", כלומר אין בהם דחיסה שמוחקת מידע מיותר. זה מקל על שילוב מידע מוסתר.</a:t>
            </a:r>
          </a:p>
        </p:txBody>
      </p:sp>
    </p:spTree>
    <p:extLst>
      <p:ext uri="{BB962C8B-B14F-4D97-AF65-F5344CB8AC3E}">
        <p14:creationId xmlns:p14="http://schemas.microsoft.com/office/powerpoint/2010/main" val="14527570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019993" y="343335"/>
            <a:ext cx="9105207" cy="1371600"/>
          </a:xfrm>
        </p:spPr>
        <p:txBody>
          <a:bodyPr/>
          <a:lstStyle/>
          <a:p>
            <a:r>
              <a:rPr lang="he-IL" dirty="0"/>
              <a:t>סוגי טכניקות להסוואה </a:t>
            </a:r>
            <a:r>
              <a:rPr lang="he-IL" dirty="0" smtClean="0"/>
              <a:t>מעבר </a:t>
            </a:r>
            <a:r>
              <a:rPr lang="he-IL" dirty="0"/>
              <a:t>ל-</a:t>
            </a:r>
            <a:r>
              <a:rPr lang="en-US" dirty="0" smtClean="0"/>
              <a:t>LSB </a:t>
            </a:r>
            <a:endParaRPr lang="he-IL" dirty="0"/>
          </a:p>
        </p:txBody>
      </p:sp>
      <p:sp>
        <p:nvSpPr>
          <p:cNvPr id="3" name="מציין מיקום תוכן 2"/>
          <p:cNvSpPr>
            <a:spLocks noGrp="1"/>
          </p:cNvSpPr>
          <p:nvPr>
            <p:ph idx="1"/>
          </p:nvPr>
        </p:nvSpPr>
        <p:spPr>
          <a:xfrm>
            <a:off x="1066800" y="1870364"/>
            <a:ext cx="10058400" cy="4655126"/>
          </a:xfrm>
        </p:spPr>
        <p:txBody>
          <a:bodyPr>
            <a:normAutofit/>
          </a:bodyPr>
          <a:lstStyle/>
          <a:p>
            <a:r>
              <a:rPr lang="he-IL" sz="2400" b="1" dirty="0"/>
              <a:t>טכניקות ישירות </a:t>
            </a:r>
            <a:r>
              <a:rPr lang="en-US" sz="2400" b="1" dirty="0" smtClean="0"/>
              <a:t>Spatial Domain</a:t>
            </a:r>
            <a:r>
              <a:rPr lang="he-IL" sz="2400" b="1" dirty="0" smtClean="0"/>
              <a:t>:</a:t>
            </a:r>
          </a:p>
          <a:p>
            <a:r>
              <a:rPr lang="he-IL" dirty="0" smtClean="0"/>
              <a:t>1. </a:t>
            </a:r>
            <a:r>
              <a:rPr lang="en-US" b="1" dirty="0" smtClean="0"/>
              <a:t>Pixel </a:t>
            </a:r>
            <a:r>
              <a:rPr lang="en-US" b="1" dirty="0"/>
              <a:t>Value Manipulation (PVM</a:t>
            </a:r>
            <a:r>
              <a:rPr lang="en-US" b="1" dirty="0" smtClean="0"/>
              <a:t>)</a:t>
            </a:r>
            <a:r>
              <a:rPr lang="he-IL" b="1" dirty="0" smtClean="0"/>
              <a:t>:</a:t>
            </a:r>
            <a:r>
              <a:rPr lang="he-IL" dirty="0" smtClean="0"/>
              <a:t> שינוי </a:t>
            </a:r>
            <a:r>
              <a:rPr lang="he-IL" dirty="0"/>
              <a:t>ערכי פיקסלים ישירות.</a:t>
            </a:r>
          </a:p>
          <a:p>
            <a:r>
              <a:rPr lang="he-IL" dirty="0"/>
              <a:t>דוגמה: לשנות את רמת הבהירות של פיקסלים מסוימים בהתאם למידע המוסתר</a:t>
            </a:r>
            <a:r>
              <a:rPr lang="he-IL" dirty="0" smtClean="0"/>
              <a:t>.</a:t>
            </a:r>
          </a:p>
          <a:p>
            <a:r>
              <a:rPr lang="he-IL" dirty="0" smtClean="0"/>
              <a:t>2. </a:t>
            </a:r>
            <a:r>
              <a:rPr lang="en-US" b="1" dirty="0"/>
              <a:t>Bit-Plane </a:t>
            </a:r>
            <a:r>
              <a:rPr lang="en-US" b="1" dirty="0" smtClean="0"/>
              <a:t>Slicing</a:t>
            </a:r>
            <a:r>
              <a:rPr lang="he-IL" b="1" dirty="0" smtClean="0"/>
              <a:t>:</a:t>
            </a:r>
            <a:r>
              <a:rPr lang="he-IL" dirty="0" smtClean="0"/>
              <a:t> חלוקה </a:t>
            </a:r>
            <a:r>
              <a:rPr lang="he-IL" dirty="0"/>
              <a:t>של פיקסל לרמות שונות של ביטים.</a:t>
            </a:r>
          </a:p>
          <a:p>
            <a:r>
              <a:rPr lang="he-IL" dirty="0"/>
              <a:t>מידע מוסתר מוחדר לרמות הנמוכות </a:t>
            </a:r>
            <a:r>
              <a:rPr lang="he-IL" dirty="0" smtClean="0"/>
              <a:t>ביותר </a:t>
            </a:r>
            <a:r>
              <a:rPr lang="en-US" dirty="0" smtClean="0"/>
              <a:t>LSB</a:t>
            </a:r>
            <a:endParaRPr lang="he-IL" dirty="0" smtClean="0"/>
          </a:p>
          <a:p>
            <a:r>
              <a:rPr lang="he-IL" sz="2400" b="1" dirty="0"/>
              <a:t>טכניקות עקיפות </a:t>
            </a:r>
            <a:r>
              <a:rPr lang="en-US" sz="2400" b="1" dirty="0" smtClean="0"/>
              <a:t>Transform Domain</a:t>
            </a:r>
            <a:r>
              <a:rPr lang="he-IL" sz="2400" b="1" dirty="0" smtClean="0"/>
              <a:t>:</a:t>
            </a:r>
          </a:p>
          <a:p>
            <a:r>
              <a:rPr lang="he-IL" dirty="0" smtClean="0"/>
              <a:t>1. </a:t>
            </a:r>
            <a:r>
              <a:rPr lang="en-US" b="1" dirty="0"/>
              <a:t>Discrete Cosine Transform (DCT</a:t>
            </a:r>
            <a:r>
              <a:rPr lang="en-US" b="1" dirty="0" smtClean="0"/>
              <a:t>)</a:t>
            </a:r>
            <a:r>
              <a:rPr lang="he-IL" b="1" dirty="0" smtClean="0"/>
              <a:t>:</a:t>
            </a:r>
            <a:r>
              <a:rPr lang="he-IL" dirty="0" smtClean="0"/>
              <a:t> פירוק </a:t>
            </a:r>
            <a:r>
              <a:rPr lang="he-IL" dirty="0"/>
              <a:t>התמונה למרכיבי תדרים. המידע מוסתר בתדרים הגבוהים שאינם בולטים </a:t>
            </a:r>
            <a:r>
              <a:rPr lang="he-IL" dirty="0" smtClean="0"/>
              <a:t>לעין. הדבר משמש </a:t>
            </a:r>
            <a:r>
              <a:rPr lang="he-IL" dirty="0"/>
              <a:t>במיוחד בתמונות דחוסות כמו </a:t>
            </a:r>
            <a:r>
              <a:rPr lang="en-US" dirty="0" smtClean="0"/>
              <a:t>JPEG</a:t>
            </a:r>
            <a:endParaRPr lang="he-IL" dirty="0" smtClean="0"/>
          </a:p>
          <a:p>
            <a:r>
              <a:rPr lang="he-IL" dirty="0" smtClean="0"/>
              <a:t>2. </a:t>
            </a:r>
            <a:r>
              <a:rPr lang="en-US" b="1" dirty="0"/>
              <a:t>Discrete Wavelet Transform (DWT</a:t>
            </a:r>
            <a:r>
              <a:rPr lang="en-US" b="1" dirty="0" smtClean="0"/>
              <a:t>)</a:t>
            </a:r>
            <a:r>
              <a:rPr lang="he-IL" b="1" dirty="0" smtClean="0"/>
              <a:t>:</a:t>
            </a:r>
            <a:r>
              <a:rPr lang="he-IL" dirty="0" smtClean="0"/>
              <a:t> טכניקה </a:t>
            </a:r>
            <a:r>
              <a:rPr lang="he-IL" dirty="0"/>
              <a:t>מתקדמת יותר שמפרקת את התמונה ל"תת-רמות" </a:t>
            </a:r>
            <a:r>
              <a:rPr lang="en-US" dirty="0" smtClean="0"/>
              <a:t>sub-bands</a:t>
            </a:r>
            <a:r>
              <a:rPr lang="he-IL" dirty="0" smtClean="0"/>
              <a:t>, המידע </a:t>
            </a:r>
            <a:r>
              <a:rPr lang="he-IL" dirty="0"/>
              <a:t>מוסתר באזורים בעלי תדרים בינוניים, שהם פחות רגישים לשינויים</a:t>
            </a:r>
            <a:r>
              <a:rPr lang="he-IL" dirty="0" smtClean="0"/>
              <a:t>.</a:t>
            </a:r>
          </a:p>
          <a:p>
            <a:r>
              <a:rPr lang="he-IL" dirty="0" smtClean="0"/>
              <a:t>3. </a:t>
            </a:r>
            <a:r>
              <a:rPr lang="en-US" b="1" dirty="0"/>
              <a:t>Spread </a:t>
            </a:r>
            <a:r>
              <a:rPr lang="en-US" b="1" dirty="0" smtClean="0"/>
              <a:t>Spectrum</a:t>
            </a:r>
            <a:r>
              <a:rPr lang="he-IL" b="1" dirty="0" smtClean="0"/>
              <a:t>:</a:t>
            </a:r>
            <a:r>
              <a:rPr lang="he-IL" dirty="0" smtClean="0"/>
              <a:t> המידע </a:t>
            </a:r>
            <a:r>
              <a:rPr lang="he-IL" dirty="0"/>
              <a:t>המוסתר מפוזר על פני תדרים רבים, כך שהשפעתו על הקובץ קטנה אך עמידותו לדחיסה גבוהה.</a:t>
            </a:r>
          </a:p>
          <a:p>
            <a:endParaRPr lang="en-US" dirty="0"/>
          </a:p>
          <a:p>
            <a:endParaRPr lang="he-IL" dirty="0" smtClean="0"/>
          </a:p>
          <a:p>
            <a:endParaRPr lang="he-IL" dirty="0"/>
          </a:p>
        </p:txBody>
      </p:sp>
    </p:spTree>
    <p:extLst>
      <p:ext uri="{BB962C8B-B14F-4D97-AF65-F5344CB8AC3E}">
        <p14:creationId xmlns:p14="http://schemas.microsoft.com/office/powerpoint/2010/main" val="10531295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97527" y="601030"/>
            <a:ext cx="10668000" cy="1371600"/>
          </a:xfrm>
        </p:spPr>
        <p:txBody>
          <a:bodyPr>
            <a:normAutofit fontScale="90000"/>
          </a:bodyPr>
          <a:lstStyle/>
          <a:p>
            <a:r>
              <a:rPr lang="he-IL" dirty="0"/>
              <a:t>מאפייני קבצים שונים וההתאמה שלהם להסוואה</a:t>
            </a:r>
          </a:p>
        </p:txBody>
      </p:sp>
      <p:sp>
        <p:nvSpPr>
          <p:cNvPr id="3" name="מציין מיקום תוכן 2"/>
          <p:cNvSpPr>
            <a:spLocks noGrp="1"/>
          </p:cNvSpPr>
          <p:nvPr>
            <p:ph idx="1"/>
          </p:nvPr>
        </p:nvSpPr>
        <p:spPr>
          <a:xfrm>
            <a:off x="1066800" y="2103120"/>
            <a:ext cx="10058400" cy="4256116"/>
          </a:xfrm>
        </p:spPr>
        <p:txBody>
          <a:bodyPr>
            <a:normAutofit/>
          </a:bodyPr>
          <a:lstStyle/>
          <a:p>
            <a:r>
              <a:rPr lang="he-IL" b="1" dirty="0"/>
              <a:t>תמונות:</a:t>
            </a:r>
          </a:p>
          <a:p>
            <a:r>
              <a:rPr lang="he-IL" b="1" dirty="0"/>
              <a:t>פורמט </a:t>
            </a:r>
            <a:r>
              <a:rPr lang="en-US" b="1" dirty="0" smtClean="0"/>
              <a:t>BMP</a:t>
            </a:r>
            <a:r>
              <a:rPr lang="he-IL" b="1" dirty="0" smtClean="0"/>
              <a:t>:</a:t>
            </a:r>
            <a:r>
              <a:rPr lang="en-US" dirty="0" smtClean="0"/>
              <a:t> </a:t>
            </a:r>
            <a:r>
              <a:rPr lang="he-IL" dirty="0"/>
              <a:t>אידיאלי להסוואה, כי הוא שומר על כל הנתונים ללא דחיסה.</a:t>
            </a:r>
          </a:p>
          <a:p>
            <a:r>
              <a:rPr lang="he-IL" b="1" dirty="0"/>
              <a:t>פורמט </a:t>
            </a:r>
            <a:r>
              <a:rPr lang="en-US" b="1" dirty="0" smtClean="0"/>
              <a:t>JPEG</a:t>
            </a:r>
            <a:r>
              <a:rPr lang="he-IL" b="1" dirty="0" smtClean="0"/>
              <a:t>:</a:t>
            </a:r>
            <a:r>
              <a:rPr lang="en-US" dirty="0" smtClean="0"/>
              <a:t> </a:t>
            </a:r>
            <a:r>
              <a:rPr lang="he-IL" dirty="0"/>
              <a:t>מאתגר יותר, כי הוא מבצע דחיסת נתונים. נדרשות טכניקות במרחב התדרים </a:t>
            </a:r>
            <a:r>
              <a:rPr lang="en-US" dirty="0" smtClean="0"/>
              <a:t>DCT</a:t>
            </a:r>
            <a:endParaRPr lang="en-US" dirty="0"/>
          </a:p>
          <a:p>
            <a:r>
              <a:rPr lang="he-IL" b="1" dirty="0"/>
              <a:t>פורמט </a:t>
            </a:r>
            <a:r>
              <a:rPr lang="en-US" b="1" dirty="0" smtClean="0"/>
              <a:t>PNG</a:t>
            </a:r>
            <a:r>
              <a:rPr lang="he-IL" b="1" dirty="0" smtClean="0"/>
              <a:t>:</a:t>
            </a:r>
            <a:r>
              <a:rPr lang="en-US" dirty="0" smtClean="0"/>
              <a:t> </a:t>
            </a:r>
            <a:r>
              <a:rPr lang="he-IL" dirty="0"/>
              <a:t>מתאים להסוואה בשיטות כמו </a:t>
            </a:r>
            <a:r>
              <a:rPr lang="en-US" dirty="0" smtClean="0"/>
              <a:t>LSB</a:t>
            </a:r>
            <a:r>
              <a:rPr lang="he-IL" dirty="0" smtClean="0"/>
              <a:t> שכן </a:t>
            </a:r>
            <a:r>
              <a:rPr lang="he-IL" dirty="0"/>
              <a:t>הוא תומך בדחיסה ללא איבוד נתונים</a:t>
            </a:r>
            <a:r>
              <a:rPr lang="he-IL" dirty="0" smtClean="0"/>
              <a:t>.</a:t>
            </a:r>
          </a:p>
          <a:p>
            <a:r>
              <a:rPr lang="he-IL" b="1" dirty="0"/>
              <a:t>אודיו:</a:t>
            </a:r>
          </a:p>
          <a:p>
            <a:r>
              <a:rPr lang="he-IL" b="1" dirty="0"/>
              <a:t>פורמט </a:t>
            </a:r>
            <a:r>
              <a:rPr lang="en-US" b="1" dirty="0" smtClean="0"/>
              <a:t>WAV</a:t>
            </a:r>
            <a:r>
              <a:rPr lang="he-IL" b="1" dirty="0" smtClean="0"/>
              <a:t>:</a:t>
            </a:r>
            <a:r>
              <a:rPr lang="en-US" dirty="0" smtClean="0"/>
              <a:t> </a:t>
            </a:r>
            <a:r>
              <a:rPr lang="he-IL" dirty="0"/>
              <a:t>אידיאלי, כיוון שהוא אינו דחוס.</a:t>
            </a:r>
          </a:p>
          <a:p>
            <a:r>
              <a:rPr lang="he-IL" b="1" dirty="0"/>
              <a:t>פורמט </a:t>
            </a:r>
            <a:r>
              <a:rPr lang="en-US" b="1" dirty="0" smtClean="0"/>
              <a:t>MP3</a:t>
            </a:r>
            <a:r>
              <a:rPr lang="he-IL" b="1" dirty="0" smtClean="0"/>
              <a:t>:</a:t>
            </a:r>
            <a:r>
              <a:rPr lang="en-US" dirty="0" smtClean="0"/>
              <a:t> </a:t>
            </a:r>
            <a:r>
              <a:rPr lang="he-IL" dirty="0"/>
              <a:t>קשה יותר להסוואה, כיוון שדחיסה מאבדת פרטים ש"לא נשמעים".</a:t>
            </a:r>
          </a:p>
          <a:p>
            <a:r>
              <a:rPr lang="he-IL" b="1" dirty="0"/>
              <a:t>דחיסת אודיו והסוואה:</a:t>
            </a:r>
            <a:r>
              <a:rPr lang="he-IL" dirty="0"/>
              <a:t> טכניקות כמו </a:t>
            </a:r>
            <a:r>
              <a:rPr lang="en-US" dirty="0"/>
              <a:t>Phase </a:t>
            </a:r>
            <a:r>
              <a:rPr lang="en-US" dirty="0" smtClean="0"/>
              <a:t>Coding</a:t>
            </a:r>
            <a:r>
              <a:rPr lang="he-IL" dirty="0" smtClean="0"/>
              <a:t> או </a:t>
            </a:r>
            <a:r>
              <a:rPr lang="en-US" dirty="0" smtClean="0"/>
              <a:t> Echo Hiding</a:t>
            </a:r>
            <a:r>
              <a:rPr lang="he-IL" dirty="0" smtClean="0"/>
              <a:t>עוקפות </a:t>
            </a:r>
            <a:r>
              <a:rPr lang="he-IL" dirty="0"/>
              <a:t>את הבעיות של דחיסה</a:t>
            </a:r>
            <a:r>
              <a:rPr lang="he-IL" dirty="0" smtClean="0"/>
              <a:t>.</a:t>
            </a:r>
          </a:p>
          <a:p>
            <a:r>
              <a:rPr lang="he-IL" b="1" dirty="0"/>
              <a:t>וידאו:</a:t>
            </a:r>
          </a:p>
          <a:p>
            <a:r>
              <a:rPr lang="he-IL" dirty="0"/>
              <a:t>שימוש </a:t>
            </a:r>
            <a:r>
              <a:rPr lang="he-IL" dirty="0" err="1"/>
              <a:t>בוידאו</a:t>
            </a:r>
            <a:r>
              <a:rPr lang="he-IL" dirty="0"/>
              <a:t> מאפשר הסוואת כמויות גדולות של מידע, כיוון שהנתונים מתפרסים על פני </a:t>
            </a:r>
            <a:r>
              <a:rPr lang="he-IL" dirty="0" err="1"/>
              <a:t>פריימים</a:t>
            </a:r>
            <a:r>
              <a:rPr lang="he-IL" dirty="0"/>
              <a:t> רבים.</a:t>
            </a:r>
          </a:p>
          <a:p>
            <a:r>
              <a:rPr lang="he-IL" b="1" dirty="0"/>
              <a:t>אתגרים:</a:t>
            </a:r>
            <a:r>
              <a:rPr lang="he-IL" dirty="0"/>
              <a:t> שינוי במסגרות בודדות עשוי להיות בלתי מורגש, אך דחיסה עלולה לפגוע במידע המוסתר.</a:t>
            </a:r>
          </a:p>
          <a:p>
            <a:endParaRPr lang="he-IL" dirty="0"/>
          </a:p>
          <a:p>
            <a:endParaRPr lang="he-IL" dirty="0"/>
          </a:p>
        </p:txBody>
      </p:sp>
    </p:spTree>
    <p:extLst>
      <p:ext uri="{BB962C8B-B14F-4D97-AF65-F5344CB8AC3E}">
        <p14:creationId xmlns:p14="http://schemas.microsoft.com/office/powerpoint/2010/main" val="35058091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662544" y="642594"/>
            <a:ext cx="9462655" cy="1371600"/>
          </a:xfrm>
        </p:spPr>
        <p:txBody>
          <a:bodyPr/>
          <a:lstStyle/>
          <a:p>
            <a:r>
              <a:rPr lang="he-IL" dirty="0"/>
              <a:t>יתרונות וחסרונות של טכניקות הסוואה</a:t>
            </a:r>
          </a:p>
        </p:txBody>
      </p:sp>
      <p:sp>
        <p:nvSpPr>
          <p:cNvPr id="3" name="מציין מיקום תוכן 2"/>
          <p:cNvSpPr>
            <a:spLocks noGrp="1"/>
          </p:cNvSpPr>
          <p:nvPr>
            <p:ph idx="1"/>
          </p:nvPr>
        </p:nvSpPr>
        <p:spPr/>
        <p:txBody>
          <a:bodyPr/>
          <a:lstStyle/>
          <a:p>
            <a:r>
              <a:rPr lang="he-IL" b="1" dirty="0"/>
              <a:t>יתרונות:</a:t>
            </a:r>
          </a:p>
          <a:p>
            <a:r>
              <a:rPr lang="he-IL" b="1" dirty="0" smtClean="0"/>
              <a:t>1. חשאיות </a:t>
            </a:r>
            <a:r>
              <a:rPr lang="he-IL" b="1" dirty="0"/>
              <a:t>גבוהה:</a:t>
            </a:r>
            <a:r>
              <a:rPr lang="he-IL" dirty="0"/>
              <a:t> המידע המוסתר אינו גלוי לעין או נגיש ישירות.</a:t>
            </a:r>
          </a:p>
          <a:p>
            <a:r>
              <a:rPr lang="he-IL" b="1" dirty="0" smtClean="0"/>
              <a:t>2. קושי </a:t>
            </a:r>
            <a:r>
              <a:rPr lang="he-IL" b="1" dirty="0"/>
              <a:t>לזיהוי:</a:t>
            </a:r>
            <a:r>
              <a:rPr lang="he-IL" dirty="0"/>
              <a:t> </a:t>
            </a:r>
            <a:r>
              <a:rPr lang="he-IL" dirty="0" err="1"/>
              <a:t>סטגנוגרפיה</a:t>
            </a:r>
            <a:r>
              <a:rPr lang="he-IL" dirty="0"/>
              <a:t>, בשונה מקריפטוגרפיה, אינה מבליטה את עצם קיומו של המידע המוסתר.</a:t>
            </a:r>
          </a:p>
          <a:p>
            <a:r>
              <a:rPr lang="he-IL" b="1" dirty="0" smtClean="0"/>
              <a:t>3. קלות </a:t>
            </a:r>
            <a:r>
              <a:rPr lang="he-IL" b="1" dirty="0"/>
              <a:t>יישום:</a:t>
            </a:r>
            <a:r>
              <a:rPr lang="he-IL" dirty="0"/>
              <a:t> טכניקות כמו </a:t>
            </a:r>
            <a:r>
              <a:rPr lang="en-US" dirty="0" smtClean="0"/>
              <a:t>LSB</a:t>
            </a:r>
            <a:r>
              <a:rPr lang="he-IL" dirty="0" smtClean="0"/>
              <a:t> פשוטות </a:t>
            </a:r>
            <a:r>
              <a:rPr lang="he-IL" dirty="0"/>
              <a:t>ליישום ומספקות רמה בסיסית של הסוואה</a:t>
            </a:r>
            <a:r>
              <a:rPr lang="he-IL" dirty="0" smtClean="0"/>
              <a:t>.</a:t>
            </a:r>
          </a:p>
          <a:p>
            <a:r>
              <a:rPr lang="he-IL" b="1" dirty="0"/>
              <a:t>חסרונות:</a:t>
            </a:r>
          </a:p>
          <a:p>
            <a:r>
              <a:rPr lang="he-IL" b="1" dirty="0" smtClean="0"/>
              <a:t>1. רגישות </a:t>
            </a:r>
            <a:r>
              <a:rPr lang="he-IL" b="1" dirty="0"/>
              <a:t>לשינויים:</a:t>
            </a:r>
            <a:r>
              <a:rPr lang="he-IL" dirty="0"/>
              <a:t> דחיסה או עריכה של הקובץ עלולה למחוק את המידע המוסתר.</a:t>
            </a:r>
          </a:p>
          <a:p>
            <a:r>
              <a:rPr lang="he-IL" b="1" dirty="0" smtClean="0"/>
              <a:t>2. היקף </a:t>
            </a:r>
            <a:r>
              <a:rPr lang="he-IL" b="1" dirty="0"/>
              <a:t>מוגבל:</a:t>
            </a:r>
            <a:r>
              <a:rPr lang="he-IL" dirty="0"/>
              <a:t> בקבצים קטנים קשה להחביא מידע גדול.</a:t>
            </a:r>
          </a:p>
          <a:p>
            <a:r>
              <a:rPr lang="he-IL" b="1" dirty="0" smtClean="0"/>
              <a:t>3. קלות </a:t>
            </a:r>
            <a:r>
              <a:rPr lang="he-IL" b="1" dirty="0"/>
              <a:t>זיהוי בטכניקות פשוטות:</a:t>
            </a:r>
            <a:r>
              <a:rPr lang="he-IL" dirty="0"/>
              <a:t> טכניקות </a:t>
            </a:r>
            <a:r>
              <a:rPr lang="he-IL" dirty="0" smtClean="0"/>
              <a:t>כמו</a:t>
            </a:r>
            <a:r>
              <a:rPr lang="en-US" dirty="0" smtClean="0"/>
              <a:t> LSB </a:t>
            </a:r>
            <a:r>
              <a:rPr lang="he-IL" dirty="0"/>
              <a:t>קלות לזיהוי על ידי ניתוח סטטיסטי.</a:t>
            </a:r>
          </a:p>
          <a:p>
            <a:endParaRPr lang="he-IL" dirty="0"/>
          </a:p>
          <a:p>
            <a:endParaRPr lang="he-IL" dirty="0"/>
          </a:p>
        </p:txBody>
      </p:sp>
    </p:spTree>
    <p:extLst>
      <p:ext uri="{BB962C8B-B14F-4D97-AF65-F5344CB8AC3E}">
        <p14:creationId xmlns:p14="http://schemas.microsoft.com/office/powerpoint/2010/main" val="31060204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427316" y="642594"/>
            <a:ext cx="8697884" cy="1371600"/>
          </a:xfrm>
        </p:spPr>
        <p:txBody>
          <a:bodyPr/>
          <a:lstStyle/>
          <a:p>
            <a:r>
              <a:rPr lang="he-IL" dirty="0"/>
              <a:t>שימושים </a:t>
            </a:r>
            <a:r>
              <a:rPr lang="he-IL" dirty="0" err="1"/>
              <a:t>בסטגנוגרפיה</a:t>
            </a:r>
            <a:r>
              <a:rPr lang="he-IL" dirty="0"/>
              <a:t> בקבצי מדיה</a:t>
            </a:r>
          </a:p>
        </p:txBody>
      </p:sp>
      <p:sp>
        <p:nvSpPr>
          <p:cNvPr id="3" name="מציין מיקום תוכן 2"/>
          <p:cNvSpPr>
            <a:spLocks noGrp="1"/>
          </p:cNvSpPr>
          <p:nvPr>
            <p:ph idx="1"/>
          </p:nvPr>
        </p:nvSpPr>
        <p:spPr/>
        <p:txBody>
          <a:bodyPr/>
          <a:lstStyle/>
          <a:p>
            <a:r>
              <a:rPr lang="he-IL" b="1" dirty="0"/>
              <a:t>שימושים לגיטימיים:</a:t>
            </a:r>
          </a:p>
          <a:p>
            <a:r>
              <a:rPr lang="he-IL" b="1" dirty="0"/>
              <a:t>סימני מים </a:t>
            </a:r>
            <a:r>
              <a:rPr lang="he-IL" b="1" dirty="0" smtClean="0"/>
              <a:t>דיגיטליים</a:t>
            </a:r>
            <a:r>
              <a:rPr lang="en-US" b="1" dirty="0" smtClean="0"/>
              <a:t> Digital Watermarking</a:t>
            </a:r>
            <a:r>
              <a:rPr lang="en-US" dirty="0" smtClean="0"/>
              <a:t> </a:t>
            </a:r>
            <a:r>
              <a:rPr lang="he-IL" dirty="0"/>
              <a:t>הגנה על זכויות יוצרים.</a:t>
            </a:r>
          </a:p>
          <a:p>
            <a:r>
              <a:rPr lang="he-IL" b="1" dirty="0"/>
              <a:t>אימות קבצים:</a:t>
            </a:r>
            <a:r>
              <a:rPr lang="he-IL" dirty="0"/>
              <a:t> שילוב נתוני אימות בקובץ כדי לוודא שלא שונה</a:t>
            </a:r>
            <a:r>
              <a:rPr lang="he-IL" dirty="0" smtClean="0"/>
              <a:t>.</a:t>
            </a:r>
          </a:p>
          <a:p>
            <a:endParaRPr lang="he-IL" dirty="0" smtClean="0"/>
          </a:p>
          <a:p>
            <a:r>
              <a:rPr lang="he-IL" b="1" dirty="0"/>
              <a:t>שימושים זדוניים:</a:t>
            </a:r>
          </a:p>
          <a:p>
            <a:r>
              <a:rPr lang="he-IL" b="1" dirty="0"/>
              <a:t>גניבת נתונים:</a:t>
            </a:r>
            <a:r>
              <a:rPr lang="he-IL" dirty="0"/>
              <a:t> החבאת מידע מסווג והעברתו.</a:t>
            </a:r>
          </a:p>
          <a:p>
            <a:r>
              <a:rPr lang="he-IL" b="1" dirty="0"/>
              <a:t>העברת פקודות </a:t>
            </a:r>
            <a:r>
              <a:rPr lang="he-IL" b="1" dirty="0" err="1"/>
              <a:t>לנוזקות</a:t>
            </a:r>
            <a:r>
              <a:rPr lang="he-IL" b="1" dirty="0"/>
              <a:t>:</a:t>
            </a:r>
            <a:r>
              <a:rPr lang="he-IL" dirty="0"/>
              <a:t> פקודות מוסתרות בקבצים שנראים תמימים.</a:t>
            </a:r>
          </a:p>
          <a:p>
            <a:endParaRPr lang="he-IL" dirty="0"/>
          </a:p>
          <a:p>
            <a:endParaRPr lang="he-IL" dirty="0"/>
          </a:p>
        </p:txBody>
      </p:sp>
    </p:spTree>
    <p:extLst>
      <p:ext uri="{BB962C8B-B14F-4D97-AF65-F5344CB8AC3E}">
        <p14:creationId xmlns:p14="http://schemas.microsoft.com/office/powerpoint/2010/main" val="18785454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5137264" y="642594"/>
            <a:ext cx="5987935" cy="1371600"/>
          </a:xfrm>
        </p:spPr>
        <p:txBody>
          <a:bodyPr/>
          <a:lstStyle/>
          <a:p>
            <a:r>
              <a:rPr lang="he-IL" dirty="0"/>
              <a:t>גילוי וניתוח </a:t>
            </a:r>
            <a:r>
              <a:rPr lang="he-IL" dirty="0" err="1"/>
              <a:t>סטגנוגרפיה</a:t>
            </a:r>
            <a:endParaRPr lang="he-IL" dirty="0"/>
          </a:p>
        </p:txBody>
      </p:sp>
      <p:sp>
        <p:nvSpPr>
          <p:cNvPr id="3" name="מציין מיקום תוכן 2"/>
          <p:cNvSpPr>
            <a:spLocks noGrp="1"/>
          </p:cNvSpPr>
          <p:nvPr>
            <p:ph idx="1"/>
          </p:nvPr>
        </p:nvSpPr>
        <p:spPr/>
        <p:txBody>
          <a:bodyPr/>
          <a:lstStyle/>
          <a:p>
            <a:r>
              <a:rPr lang="he-IL" b="1" dirty="0"/>
              <a:t>טכניקות לניתוח:</a:t>
            </a:r>
          </a:p>
          <a:p>
            <a:r>
              <a:rPr lang="he-IL" b="1" dirty="0"/>
              <a:t>ניתוח </a:t>
            </a:r>
            <a:r>
              <a:rPr lang="he-IL" b="1" dirty="0" err="1" smtClean="0"/>
              <a:t>היסטוגרמות</a:t>
            </a:r>
            <a:r>
              <a:rPr lang="he-IL" b="1" dirty="0" smtClean="0"/>
              <a:t>:</a:t>
            </a:r>
            <a:r>
              <a:rPr lang="he-IL" dirty="0" smtClean="0"/>
              <a:t> שינויים </a:t>
            </a:r>
            <a:r>
              <a:rPr lang="he-IL" dirty="0"/>
              <a:t>לא טבעיים בפיזור ערכי פיקסלים או תדרים יכולים לחשוף מידע מוסתר</a:t>
            </a:r>
            <a:r>
              <a:rPr lang="he-IL" dirty="0" smtClean="0"/>
              <a:t>.</a:t>
            </a:r>
          </a:p>
          <a:p>
            <a:endParaRPr lang="he-IL" dirty="0"/>
          </a:p>
          <a:p>
            <a:r>
              <a:rPr lang="he-IL" b="1" dirty="0"/>
              <a:t>ניתוח </a:t>
            </a:r>
            <a:r>
              <a:rPr lang="he-IL" b="1" dirty="0" smtClean="0"/>
              <a:t>סטטיסטי:</a:t>
            </a:r>
            <a:r>
              <a:rPr lang="he-IL" dirty="0" smtClean="0"/>
              <a:t> בדיקה </a:t>
            </a:r>
            <a:r>
              <a:rPr lang="he-IL" dirty="0"/>
              <a:t>אם יש תבניות חשודות, כמו פיזור ביטים לא אקראי בערכי </a:t>
            </a:r>
            <a:r>
              <a:rPr lang="en-US" dirty="0" smtClean="0"/>
              <a:t>RGB</a:t>
            </a:r>
            <a:endParaRPr lang="he-IL" dirty="0" smtClean="0"/>
          </a:p>
          <a:p>
            <a:endParaRPr lang="en-US" dirty="0"/>
          </a:p>
          <a:p>
            <a:r>
              <a:rPr lang="he-IL" b="1" dirty="0"/>
              <a:t>זיהוי דחיסת </a:t>
            </a:r>
            <a:r>
              <a:rPr lang="he-IL" b="1" dirty="0" smtClean="0"/>
              <a:t>יתר:</a:t>
            </a:r>
            <a:r>
              <a:rPr lang="he-IL" dirty="0" smtClean="0"/>
              <a:t> </a:t>
            </a:r>
            <a:r>
              <a:rPr lang="he-IL" dirty="0" err="1" smtClean="0"/>
              <a:t>סטגנוגרפיה</a:t>
            </a:r>
            <a:r>
              <a:rPr lang="he-IL" dirty="0" smtClean="0"/>
              <a:t> </a:t>
            </a:r>
            <a:r>
              <a:rPr lang="he-IL" dirty="0"/>
              <a:t>יכולה לשנות את מאפייני הדחיסה בקובץ.</a:t>
            </a:r>
          </a:p>
          <a:p>
            <a:endParaRPr lang="he-IL" dirty="0"/>
          </a:p>
        </p:txBody>
      </p:sp>
    </p:spTree>
    <p:extLst>
      <p:ext uri="{BB962C8B-B14F-4D97-AF65-F5344CB8AC3E}">
        <p14:creationId xmlns:p14="http://schemas.microsoft.com/office/powerpoint/2010/main" val="37276356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870364" y="642594"/>
            <a:ext cx="9254836" cy="1371600"/>
          </a:xfrm>
        </p:spPr>
        <p:txBody>
          <a:bodyPr/>
          <a:lstStyle/>
          <a:p>
            <a:r>
              <a:rPr lang="he-IL" dirty="0"/>
              <a:t>המשך - סוגי מדיה וטכניקות להסוואה</a:t>
            </a:r>
          </a:p>
        </p:txBody>
      </p:sp>
      <p:sp>
        <p:nvSpPr>
          <p:cNvPr id="3" name="מציין מיקום תוכן 2"/>
          <p:cNvSpPr>
            <a:spLocks noGrp="1"/>
          </p:cNvSpPr>
          <p:nvPr>
            <p:ph idx="1"/>
          </p:nvPr>
        </p:nvSpPr>
        <p:spPr/>
        <p:txBody>
          <a:bodyPr/>
          <a:lstStyle/>
          <a:p>
            <a:r>
              <a:rPr lang="he-IL" b="1" dirty="0"/>
              <a:t>ג. הסוואה בקבצי וידאו</a:t>
            </a:r>
            <a:r>
              <a:rPr lang="he-IL" b="1" dirty="0" smtClean="0"/>
              <a:t>:</a:t>
            </a:r>
          </a:p>
          <a:p>
            <a:r>
              <a:rPr lang="he-IL" dirty="0"/>
              <a:t>טכניקות נפוצות</a:t>
            </a:r>
            <a:r>
              <a:rPr lang="he-IL" dirty="0" smtClean="0"/>
              <a:t>:</a:t>
            </a:r>
          </a:p>
          <a:p>
            <a:r>
              <a:rPr lang="he-IL" dirty="0" smtClean="0"/>
              <a:t>1. </a:t>
            </a:r>
            <a:r>
              <a:rPr lang="he-IL" b="1" dirty="0"/>
              <a:t>שינוי צבעים במסגרות </a:t>
            </a:r>
            <a:r>
              <a:rPr lang="he-IL" b="1" dirty="0" smtClean="0"/>
              <a:t>מסוימות:</a:t>
            </a:r>
            <a:r>
              <a:rPr lang="he-IL" dirty="0" smtClean="0"/>
              <a:t> שילוב </a:t>
            </a:r>
            <a:r>
              <a:rPr lang="he-IL" dirty="0"/>
              <a:t>מידע בביטים של פיקסלים במסגרות ספציפיות.</a:t>
            </a:r>
          </a:p>
          <a:p>
            <a:endParaRPr lang="he-IL" dirty="0" smtClean="0"/>
          </a:p>
          <a:p>
            <a:r>
              <a:rPr lang="he-IL" dirty="0" smtClean="0"/>
              <a:t>2. </a:t>
            </a:r>
            <a:r>
              <a:rPr lang="he-IL" b="1" dirty="0"/>
              <a:t>שימוש ברווחים בין </a:t>
            </a:r>
            <a:r>
              <a:rPr lang="he-IL" b="1" dirty="0" err="1" smtClean="0"/>
              <a:t>פריימים</a:t>
            </a:r>
            <a:r>
              <a:rPr lang="he-IL" b="1" dirty="0" smtClean="0"/>
              <a:t>:</a:t>
            </a:r>
            <a:r>
              <a:rPr lang="he-IL" dirty="0" smtClean="0"/>
              <a:t> מוסיפים </a:t>
            </a:r>
            <a:r>
              <a:rPr lang="he-IL" dirty="0"/>
              <a:t>מידע לשדות או מרווחים שאינם נראים בעין אנושית.</a:t>
            </a:r>
          </a:p>
          <a:p>
            <a:endParaRPr lang="he-IL" dirty="0" smtClean="0"/>
          </a:p>
          <a:p>
            <a:r>
              <a:rPr lang="he-IL" dirty="0" smtClean="0"/>
              <a:t>3. </a:t>
            </a:r>
            <a:r>
              <a:rPr lang="he-IL" b="1" dirty="0"/>
              <a:t>טרנספורמציות בתדרי </a:t>
            </a:r>
            <a:r>
              <a:rPr lang="he-IL" b="1" dirty="0" err="1" smtClean="0"/>
              <a:t>פריימים</a:t>
            </a:r>
            <a:r>
              <a:rPr lang="he-IL" b="1" dirty="0" smtClean="0"/>
              <a:t>:</a:t>
            </a:r>
            <a:r>
              <a:rPr lang="he-IL" dirty="0" smtClean="0"/>
              <a:t> שינוי </a:t>
            </a:r>
            <a:r>
              <a:rPr lang="he-IL" dirty="0"/>
              <a:t>נתונים בתדרים הגבוהים של </a:t>
            </a:r>
            <a:r>
              <a:rPr lang="he-IL" dirty="0" err="1"/>
              <a:t>הפריימים</a:t>
            </a:r>
            <a:r>
              <a:rPr lang="he-IL" dirty="0"/>
              <a:t>.</a:t>
            </a:r>
          </a:p>
          <a:p>
            <a:endParaRPr lang="he-IL" dirty="0" smtClean="0"/>
          </a:p>
          <a:p>
            <a:endParaRPr lang="he-IL" dirty="0" smtClean="0"/>
          </a:p>
        </p:txBody>
      </p:sp>
    </p:spTree>
    <p:extLst>
      <p:ext uri="{BB962C8B-B14F-4D97-AF65-F5344CB8AC3E}">
        <p14:creationId xmlns:p14="http://schemas.microsoft.com/office/powerpoint/2010/main" val="24443274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671752" y="642594"/>
            <a:ext cx="6453447" cy="1371600"/>
          </a:xfrm>
        </p:spPr>
        <p:txBody>
          <a:bodyPr/>
          <a:lstStyle/>
          <a:p>
            <a:r>
              <a:rPr lang="he-IL" dirty="0"/>
              <a:t>שלבים בתהליך ההסוואה:</a:t>
            </a:r>
          </a:p>
        </p:txBody>
      </p:sp>
      <p:sp>
        <p:nvSpPr>
          <p:cNvPr id="3" name="מציין מיקום תוכן 2"/>
          <p:cNvSpPr>
            <a:spLocks noGrp="1"/>
          </p:cNvSpPr>
          <p:nvPr>
            <p:ph idx="1"/>
          </p:nvPr>
        </p:nvSpPr>
        <p:spPr/>
        <p:txBody>
          <a:bodyPr/>
          <a:lstStyle/>
          <a:p>
            <a:r>
              <a:rPr lang="he-IL" dirty="0" smtClean="0"/>
              <a:t>1. </a:t>
            </a:r>
            <a:r>
              <a:rPr lang="he-IL" b="1" dirty="0"/>
              <a:t>קלט:</a:t>
            </a:r>
            <a:r>
              <a:rPr lang="he-IL" dirty="0"/>
              <a:t> בחירת קובץ המדיה המתאים (תמונה, אודיו, וידאו</a:t>
            </a:r>
            <a:r>
              <a:rPr lang="he-IL" dirty="0" smtClean="0"/>
              <a:t>).</a:t>
            </a:r>
          </a:p>
          <a:p>
            <a:endParaRPr lang="he-IL" dirty="0" smtClean="0"/>
          </a:p>
          <a:p>
            <a:r>
              <a:rPr lang="he-IL" dirty="0" smtClean="0"/>
              <a:t>2. </a:t>
            </a:r>
            <a:r>
              <a:rPr lang="he-IL" b="1" dirty="0"/>
              <a:t>מידע מוסתר:</a:t>
            </a:r>
            <a:r>
              <a:rPr lang="he-IL" dirty="0"/>
              <a:t> המידע אותו נרצה להחביא (לדוגמה, מחרוזת טקסט, קובץ שלם</a:t>
            </a:r>
            <a:r>
              <a:rPr lang="he-IL" dirty="0" smtClean="0"/>
              <a:t>).</a:t>
            </a:r>
          </a:p>
          <a:p>
            <a:endParaRPr lang="he-IL" dirty="0" smtClean="0"/>
          </a:p>
          <a:p>
            <a:r>
              <a:rPr lang="he-IL" dirty="0" smtClean="0"/>
              <a:t>3. </a:t>
            </a:r>
            <a:r>
              <a:rPr lang="he-IL" b="1" dirty="0"/>
              <a:t>שינוי הנתונים:</a:t>
            </a:r>
            <a:r>
              <a:rPr lang="he-IL" dirty="0"/>
              <a:t> הטמעה של המידע המוסתר בעזרת הטכניקות</a:t>
            </a:r>
            <a:r>
              <a:rPr lang="he-IL" dirty="0" smtClean="0"/>
              <a:t>.</a:t>
            </a:r>
          </a:p>
          <a:p>
            <a:endParaRPr lang="he-IL" dirty="0" smtClean="0"/>
          </a:p>
          <a:p>
            <a:r>
              <a:rPr lang="he-IL" dirty="0" smtClean="0"/>
              <a:t>4. </a:t>
            </a:r>
            <a:r>
              <a:rPr lang="he-IL" b="1" dirty="0"/>
              <a:t>פלט:</a:t>
            </a:r>
            <a:r>
              <a:rPr lang="he-IL" dirty="0"/>
              <a:t> קובץ מדיה שנראה ומתפקד כרגיל, אבל מכיל בתוכו מידע סודי.</a:t>
            </a:r>
            <a:endParaRPr lang="he-IL" dirty="0" smtClean="0"/>
          </a:p>
        </p:txBody>
      </p:sp>
    </p:spTree>
    <p:extLst>
      <p:ext uri="{BB962C8B-B14F-4D97-AF65-F5344CB8AC3E}">
        <p14:creationId xmlns:p14="http://schemas.microsoft.com/office/powerpoint/2010/main" val="37246079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6317672" y="642594"/>
            <a:ext cx="4807527" cy="1371600"/>
          </a:xfrm>
        </p:spPr>
        <p:txBody>
          <a:bodyPr/>
          <a:lstStyle/>
          <a:p>
            <a:r>
              <a:rPr lang="he-IL" dirty="0"/>
              <a:t>שיטות זיהוי ואיתור</a:t>
            </a:r>
          </a:p>
        </p:txBody>
      </p:sp>
      <p:sp>
        <p:nvSpPr>
          <p:cNvPr id="3" name="מציין מיקום תוכן 2"/>
          <p:cNvSpPr>
            <a:spLocks noGrp="1"/>
          </p:cNvSpPr>
          <p:nvPr>
            <p:ph idx="1"/>
          </p:nvPr>
        </p:nvSpPr>
        <p:spPr/>
        <p:txBody>
          <a:bodyPr/>
          <a:lstStyle/>
          <a:p>
            <a:r>
              <a:rPr lang="he-IL" dirty="0" smtClean="0"/>
              <a:t>1. </a:t>
            </a:r>
            <a:r>
              <a:rPr lang="he-IL" b="1" dirty="0" err="1"/>
              <a:t>היסטוגרמות</a:t>
            </a:r>
            <a:r>
              <a:rPr lang="he-IL" b="1" dirty="0"/>
              <a:t> של צבעים או ערכי </a:t>
            </a:r>
            <a:r>
              <a:rPr lang="he-IL" b="1" dirty="0" smtClean="0"/>
              <a:t>אודיו:</a:t>
            </a:r>
            <a:r>
              <a:rPr lang="he-IL" dirty="0" smtClean="0"/>
              <a:t> מזהים </a:t>
            </a:r>
            <a:r>
              <a:rPr lang="he-IL" dirty="0"/>
              <a:t>שינויים לא טבעיים בפיזור של ביטים במדיה.</a:t>
            </a:r>
          </a:p>
          <a:p>
            <a:endParaRPr lang="he-IL" dirty="0" smtClean="0"/>
          </a:p>
          <a:p>
            <a:r>
              <a:rPr lang="he-IL" dirty="0" smtClean="0"/>
              <a:t>2. </a:t>
            </a:r>
            <a:r>
              <a:rPr lang="he-IL" b="1" dirty="0"/>
              <a:t>ניתוח שאריות </a:t>
            </a:r>
            <a:r>
              <a:rPr lang="he-IL" b="1" dirty="0" smtClean="0"/>
              <a:t>דחיסה:</a:t>
            </a:r>
            <a:r>
              <a:rPr lang="he-IL" dirty="0" smtClean="0"/>
              <a:t> </a:t>
            </a:r>
            <a:r>
              <a:rPr lang="he-IL" dirty="0" err="1" smtClean="0"/>
              <a:t>סטגנוגרפיה</a:t>
            </a:r>
            <a:r>
              <a:rPr lang="he-IL" dirty="0" smtClean="0"/>
              <a:t> בתמונות</a:t>
            </a:r>
            <a:r>
              <a:rPr lang="en-US" dirty="0" smtClean="0"/>
              <a:t> JPEG </a:t>
            </a:r>
            <a:r>
              <a:rPr lang="he-IL" dirty="0"/>
              <a:t>יכולה להשאיר דפוסי דחיסה שונים.</a:t>
            </a:r>
          </a:p>
          <a:p>
            <a:endParaRPr lang="he-IL" dirty="0" smtClean="0"/>
          </a:p>
          <a:p>
            <a:r>
              <a:rPr lang="he-IL" dirty="0" smtClean="0"/>
              <a:t>3. </a:t>
            </a:r>
            <a:r>
              <a:rPr lang="he-IL" b="1" dirty="0"/>
              <a:t>כלי תוכנה לאיתור </a:t>
            </a:r>
            <a:r>
              <a:rPr lang="he-IL" b="1" dirty="0" err="1"/>
              <a:t>סטגנוגרפיה</a:t>
            </a:r>
            <a:r>
              <a:rPr lang="he-IL" b="1" dirty="0"/>
              <a:t>:</a:t>
            </a:r>
            <a:endParaRPr lang="he-IL" dirty="0"/>
          </a:p>
          <a:p>
            <a:r>
              <a:rPr lang="en-US" b="1" dirty="0" err="1" smtClean="0"/>
              <a:t>StegExpose</a:t>
            </a:r>
            <a:r>
              <a:rPr lang="he-IL" dirty="0" smtClean="0"/>
              <a:t>:</a:t>
            </a:r>
            <a:r>
              <a:rPr lang="en-US" dirty="0" smtClean="0"/>
              <a:t> </a:t>
            </a:r>
            <a:r>
              <a:rPr lang="he-IL" dirty="0"/>
              <a:t>כלי אוטומטי שמנתח קבצי תמונות.</a:t>
            </a:r>
          </a:p>
          <a:p>
            <a:r>
              <a:rPr lang="en-US" b="1" dirty="0"/>
              <a:t>Forensic </a:t>
            </a:r>
            <a:r>
              <a:rPr lang="en-US" b="1" dirty="0" smtClean="0"/>
              <a:t>Tools</a:t>
            </a:r>
            <a:r>
              <a:rPr lang="he-IL" dirty="0" smtClean="0"/>
              <a:t>: זיהוי </a:t>
            </a:r>
            <a:r>
              <a:rPr lang="he-IL" dirty="0"/>
              <a:t>תבניות חשודות בקבצים.</a:t>
            </a:r>
          </a:p>
          <a:p>
            <a:endParaRPr lang="he-IL" dirty="0" smtClean="0"/>
          </a:p>
          <a:p>
            <a:endParaRPr lang="he-IL" dirty="0"/>
          </a:p>
        </p:txBody>
      </p:sp>
    </p:spTree>
    <p:extLst>
      <p:ext uri="{BB962C8B-B14F-4D97-AF65-F5344CB8AC3E}">
        <p14:creationId xmlns:p14="http://schemas.microsoft.com/office/powerpoint/2010/main" val="13134415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177250" y="642594"/>
            <a:ext cx="1947949" cy="1371600"/>
          </a:xfrm>
        </p:spPr>
        <p:txBody>
          <a:bodyPr/>
          <a:lstStyle/>
          <a:p>
            <a:r>
              <a:rPr lang="he-IL" dirty="0" smtClean="0"/>
              <a:t>שאלות</a:t>
            </a:r>
            <a:endParaRPr lang="he-IL" dirty="0"/>
          </a:p>
        </p:txBody>
      </p:sp>
      <p:sp>
        <p:nvSpPr>
          <p:cNvPr id="3" name="מציין מיקום תוכן 2"/>
          <p:cNvSpPr>
            <a:spLocks noGrp="1"/>
          </p:cNvSpPr>
          <p:nvPr>
            <p:ph idx="1"/>
          </p:nvPr>
        </p:nvSpPr>
        <p:spPr/>
        <p:txBody>
          <a:bodyPr/>
          <a:lstStyle/>
          <a:p>
            <a:r>
              <a:rPr lang="he-IL" dirty="0" smtClean="0"/>
              <a:t>1</a:t>
            </a:r>
            <a:r>
              <a:rPr lang="he-IL" dirty="0"/>
              <a:t>. מה היתרון של טכניקת </a:t>
            </a:r>
            <a:r>
              <a:rPr lang="en-US" dirty="0" smtClean="0"/>
              <a:t> LSB</a:t>
            </a:r>
            <a:r>
              <a:rPr lang="he-IL" dirty="0" smtClean="0"/>
              <a:t>בתמונות</a:t>
            </a:r>
          </a:p>
          <a:p>
            <a:r>
              <a:rPr lang="he-IL" dirty="0" smtClean="0"/>
              <a:t>2</a:t>
            </a:r>
            <a:r>
              <a:rPr lang="he-IL" dirty="0"/>
              <a:t>. כיצד ניתן להחביא מידע בתוך קובץ קול?</a:t>
            </a:r>
            <a:endParaRPr lang="he-IL" dirty="0" smtClean="0"/>
          </a:p>
          <a:p>
            <a:r>
              <a:rPr lang="he-IL" dirty="0" smtClean="0"/>
              <a:t>3</a:t>
            </a:r>
            <a:r>
              <a:rPr lang="he-IL" dirty="0"/>
              <a:t>. למה קובצי </a:t>
            </a:r>
            <a:r>
              <a:rPr lang="en-US" dirty="0" smtClean="0"/>
              <a:t>BMP</a:t>
            </a:r>
            <a:r>
              <a:rPr lang="he-IL" dirty="0" smtClean="0"/>
              <a:t> מתאימים </a:t>
            </a:r>
            <a:r>
              <a:rPr lang="he-IL" dirty="0"/>
              <a:t>במיוחד להסוואה?</a:t>
            </a:r>
            <a:endParaRPr lang="he-IL" dirty="0" smtClean="0"/>
          </a:p>
          <a:p>
            <a:endParaRPr lang="he-IL" dirty="0"/>
          </a:p>
        </p:txBody>
      </p:sp>
    </p:spTree>
    <p:extLst>
      <p:ext uri="{BB962C8B-B14F-4D97-AF65-F5344CB8AC3E}">
        <p14:creationId xmlns:p14="http://schemas.microsoft.com/office/powerpoint/2010/main" val="23960757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5212080" y="642594"/>
            <a:ext cx="5913120" cy="1371600"/>
          </a:xfrm>
        </p:spPr>
        <p:txBody>
          <a:bodyPr/>
          <a:lstStyle/>
          <a:p>
            <a:r>
              <a:rPr lang="he-IL" dirty="0" smtClean="0"/>
              <a:t>שאלות קצת יותר קשות</a:t>
            </a:r>
            <a:endParaRPr lang="he-IL" dirty="0"/>
          </a:p>
        </p:txBody>
      </p:sp>
      <p:sp>
        <p:nvSpPr>
          <p:cNvPr id="3" name="מציין מיקום תוכן 2"/>
          <p:cNvSpPr>
            <a:spLocks noGrp="1"/>
          </p:cNvSpPr>
          <p:nvPr>
            <p:ph idx="1"/>
          </p:nvPr>
        </p:nvSpPr>
        <p:spPr/>
        <p:txBody>
          <a:bodyPr/>
          <a:lstStyle/>
          <a:p>
            <a:r>
              <a:rPr lang="he-IL" dirty="0"/>
              <a:t>1. כיצד ניתן להשתמש במרחב התדרים </a:t>
            </a:r>
            <a:r>
              <a:rPr lang="en-US" dirty="0" smtClean="0"/>
              <a:t> Frequency Domain</a:t>
            </a:r>
            <a:r>
              <a:rPr lang="he-IL" dirty="0" smtClean="0"/>
              <a:t>להסוואה </a:t>
            </a:r>
            <a:r>
              <a:rPr lang="he-IL" dirty="0"/>
              <a:t>בקובץ </a:t>
            </a:r>
            <a:r>
              <a:rPr lang="en-US" dirty="0" smtClean="0"/>
              <a:t>JPEG</a:t>
            </a:r>
            <a:r>
              <a:rPr lang="he-IL" dirty="0" smtClean="0"/>
              <a:t>?</a:t>
            </a:r>
            <a:endParaRPr lang="he-IL" dirty="0"/>
          </a:p>
        </p:txBody>
      </p:sp>
    </p:spTree>
    <p:extLst>
      <p:ext uri="{BB962C8B-B14F-4D97-AF65-F5344CB8AC3E}">
        <p14:creationId xmlns:p14="http://schemas.microsoft.com/office/powerpoint/2010/main" val="19888079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052559" y="0"/>
            <a:ext cx="2014451" cy="1371600"/>
          </a:xfrm>
        </p:spPr>
        <p:txBody>
          <a:bodyPr/>
          <a:lstStyle/>
          <a:p>
            <a:r>
              <a:rPr lang="he-IL" dirty="0" smtClean="0"/>
              <a:t>תשובה</a:t>
            </a:r>
            <a:endParaRPr lang="he-IL" dirty="0"/>
          </a:p>
        </p:txBody>
      </p:sp>
      <p:sp>
        <p:nvSpPr>
          <p:cNvPr id="3" name="מציין מיקום תוכן 2"/>
          <p:cNvSpPr>
            <a:spLocks noGrp="1"/>
          </p:cNvSpPr>
          <p:nvPr>
            <p:ph idx="1"/>
          </p:nvPr>
        </p:nvSpPr>
        <p:spPr>
          <a:xfrm>
            <a:off x="1166552" y="1072342"/>
            <a:ext cx="10058400" cy="4962698"/>
          </a:xfrm>
        </p:spPr>
        <p:txBody>
          <a:bodyPr>
            <a:normAutofit fontScale="92500" lnSpcReduction="10000"/>
          </a:bodyPr>
          <a:lstStyle/>
          <a:p>
            <a:r>
              <a:rPr lang="he-IL" dirty="0"/>
              <a:t>מרחב </a:t>
            </a:r>
            <a:r>
              <a:rPr lang="he-IL" dirty="0" smtClean="0"/>
              <a:t>התדרים</a:t>
            </a:r>
            <a:r>
              <a:rPr lang="en-US" dirty="0" smtClean="0"/>
              <a:t>Frequency Domain </a:t>
            </a:r>
            <a:r>
              <a:rPr lang="he-IL" dirty="0" smtClean="0"/>
              <a:t> הוא </a:t>
            </a:r>
            <a:r>
              <a:rPr lang="he-IL" dirty="0"/>
              <a:t>כלי חזק להסוואת מידע בקובץ </a:t>
            </a:r>
            <a:r>
              <a:rPr lang="en-US" dirty="0" smtClean="0"/>
              <a:t>JPEG</a:t>
            </a:r>
            <a:r>
              <a:rPr lang="he-IL" dirty="0" smtClean="0"/>
              <a:t> שמתבסס </a:t>
            </a:r>
            <a:r>
              <a:rPr lang="he-IL" dirty="0"/>
              <a:t>על שינויים באזורים שקשה לזהות בעין אנושית. קבצי </a:t>
            </a:r>
            <a:r>
              <a:rPr lang="en-US" dirty="0" smtClean="0"/>
              <a:t> JPEG</a:t>
            </a:r>
            <a:r>
              <a:rPr lang="he-IL" dirty="0" smtClean="0"/>
              <a:t>עוברים </a:t>
            </a:r>
            <a:r>
              <a:rPr lang="he-IL" dirty="0"/>
              <a:t>תהליך דחיסה הכולל טרנספורמציה של התמונה למרחב התדרים באמצעות </a:t>
            </a:r>
            <a:r>
              <a:rPr lang="en-US" dirty="0" smtClean="0"/>
              <a:t> </a:t>
            </a:r>
            <a:r>
              <a:rPr lang="en-US" b="1" dirty="0" smtClean="0"/>
              <a:t>(DCT)</a:t>
            </a:r>
            <a:r>
              <a:rPr lang="en-US" dirty="0" smtClean="0"/>
              <a:t> </a:t>
            </a:r>
            <a:r>
              <a:rPr lang="he-IL" dirty="0" smtClean="0"/>
              <a:t>במקום </a:t>
            </a:r>
            <a:r>
              <a:rPr lang="he-IL" dirty="0"/>
              <a:t>לעבוד ישירות על פיקסלים, דוחסים את התמונה על ידי פירוק למרכיבי תדרים</a:t>
            </a:r>
            <a:r>
              <a:rPr lang="he-IL" dirty="0" smtClean="0"/>
              <a:t>:</a:t>
            </a:r>
          </a:p>
          <a:p>
            <a:r>
              <a:rPr lang="he-IL" b="1" dirty="0"/>
              <a:t>תדרים נמוכים</a:t>
            </a:r>
            <a:r>
              <a:rPr lang="he-IL" dirty="0"/>
              <a:t>: מכילים את עיקר המידע של התמונה (כמו צבעים וצורות עיקריות</a:t>
            </a:r>
            <a:r>
              <a:rPr lang="he-IL" dirty="0" smtClean="0"/>
              <a:t>).</a:t>
            </a:r>
          </a:p>
          <a:p>
            <a:r>
              <a:rPr lang="he-IL" b="1" dirty="0"/>
              <a:t>תדרים בינוניים וגבוהים</a:t>
            </a:r>
            <a:r>
              <a:rPr lang="he-IL" dirty="0"/>
              <a:t>: מכילים פרטים עדינים של התמונה, ופחות בולטים לעין האנושית</a:t>
            </a:r>
            <a:r>
              <a:rPr lang="he-IL" dirty="0" smtClean="0"/>
              <a:t>.</a:t>
            </a:r>
          </a:p>
          <a:p>
            <a:r>
              <a:rPr lang="he-IL" dirty="0"/>
              <a:t>תהליך הסוואה</a:t>
            </a:r>
            <a:r>
              <a:rPr lang="he-IL" dirty="0" smtClean="0"/>
              <a:t>:</a:t>
            </a:r>
          </a:p>
          <a:p>
            <a:r>
              <a:rPr lang="he-IL" dirty="0" smtClean="0"/>
              <a:t>1. </a:t>
            </a:r>
            <a:r>
              <a:rPr lang="he-IL" b="1" dirty="0"/>
              <a:t>פירוק התמונה למקטעי </a:t>
            </a:r>
            <a:r>
              <a:rPr lang="en-US" b="1" dirty="0" smtClean="0"/>
              <a:t>DCT</a:t>
            </a:r>
            <a:r>
              <a:rPr lang="he-IL" b="1" dirty="0" smtClean="0"/>
              <a:t>:</a:t>
            </a:r>
            <a:endParaRPr lang="en-US" dirty="0"/>
          </a:p>
          <a:p>
            <a:r>
              <a:rPr lang="he-IL" dirty="0"/>
              <a:t>תמונה מחולקת לבלוקים של </a:t>
            </a:r>
            <a:r>
              <a:rPr lang="he-IL" dirty="0" smtClean="0"/>
              <a:t>8</a:t>
            </a:r>
            <a:r>
              <a:rPr lang="en-US" dirty="0"/>
              <a:t> </a:t>
            </a:r>
            <a:r>
              <a:rPr lang="en-US" dirty="0" smtClean="0"/>
              <a:t>8X </a:t>
            </a:r>
            <a:r>
              <a:rPr lang="he-IL" dirty="0" smtClean="0"/>
              <a:t>פיקסלים</a:t>
            </a:r>
            <a:r>
              <a:rPr lang="he-IL" dirty="0"/>
              <a:t>.</a:t>
            </a:r>
          </a:p>
          <a:p>
            <a:r>
              <a:rPr lang="he-IL" dirty="0"/>
              <a:t>כל בלוק עובר טרנספורמציה </a:t>
            </a:r>
            <a:r>
              <a:rPr lang="he-IL" dirty="0" smtClean="0"/>
              <a:t>ל-</a:t>
            </a:r>
            <a:r>
              <a:rPr lang="en-US" dirty="0" smtClean="0"/>
              <a:t>DCT </a:t>
            </a:r>
            <a:r>
              <a:rPr lang="he-IL" dirty="0" smtClean="0"/>
              <a:t> שמייצרת </a:t>
            </a:r>
            <a:r>
              <a:rPr lang="he-IL" dirty="0"/>
              <a:t>מקדמים שמתארים את התדרים</a:t>
            </a:r>
            <a:r>
              <a:rPr lang="he-IL" dirty="0" smtClean="0"/>
              <a:t>.</a:t>
            </a:r>
          </a:p>
          <a:p>
            <a:r>
              <a:rPr lang="he-IL" dirty="0" smtClean="0"/>
              <a:t>2. </a:t>
            </a:r>
            <a:r>
              <a:rPr lang="he-IL" b="1" dirty="0"/>
              <a:t>החבאת מידע בתדרים הגבוהים:</a:t>
            </a:r>
            <a:endParaRPr lang="he-IL" dirty="0"/>
          </a:p>
          <a:p>
            <a:r>
              <a:rPr lang="he-IL" dirty="0"/>
              <a:t>במקום לשנות ישירות את הפיקסלים, מטמיעים ביטים של מידע במקדמי התדרים הגבוהים של כל בלוק.</a:t>
            </a:r>
          </a:p>
          <a:p>
            <a:r>
              <a:rPr lang="he-IL" dirty="0"/>
              <a:t>לדוגמה, אם יש לך מידע להחביא, תשנה מקדם בתדר גבוה בהתאם לערך הביט (0 או 1).</a:t>
            </a:r>
          </a:p>
          <a:p>
            <a:r>
              <a:rPr lang="he-IL" dirty="0" smtClean="0"/>
              <a:t>3. </a:t>
            </a:r>
            <a:r>
              <a:rPr lang="he-IL" b="1" dirty="0"/>
              <a:t>שחזור התמונה:</a:t>
            </a:r>
            <a:endParaRPr lang="he-IL" dirty="0"/>
          </a:p>
          <a:p>
            <a:r>
              <a:rPr lang="he-IL" dirty="0"/>
              <a:t>לאחר הטמעת המידע, מבצעים </a:t>
            </a:r>
            <a:r>
              <a:rPr lang="he-IL" dirty="0" err="1"/>
              <a:t>אינברס</a:t>
            </a:r>
            <a:r>
              <a:rPr lang="he-IL" dirty="0"/>
              <a:t> </a:t>
            </a:r>
            <a:r>
              <a:rPr lang="en-US" dirty="0"/>
              <a:t>DCT (IDCT) </a:t>
            </a:r>
            <a:r>
              <a:rPr lang="he-IL" dirty="0" smtClean="0"/>
              <a:t> כדי </a:t>
            </a:r>
            <a:r>
              <a:rPr lang="he-IL" dirty="0"/>
              <a:t>להחזיר את התמונה למרחב הפיקסלים.</a:t>
            </a:r>
          </a:p>
          <a:p>
            <a:endParaRPr lang="he-IL" dirty="0"/>
          </a:p>
          <a:p>
            <a:endParaRPr lang="he-IL" dirty="0"/>
          </a:p>
        </p:txBody>
      </p:sp>
    </p:spTree>
    <p:extLst>
      <p:ext uri="{BB962C8B-B14F-4D97-AF65-F5344CB8AC3E}">
        <p14:creationId xmlns:p14="http://schemas.microsoft.com/office/powerpoint/2010/main" val="15120614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764087" y="-99753"/>
            <a:ext cx="3361113" cy="1371600"/>
          </a:xfrm>
        </p:spPr>
        <p:txBody>
          <a:bodyPr/>
          <a:lstStyle/>
          <a:p>
            <a:r>
              <a:rPr lang="he-IL" dirty="0" smtClean="0"/>
              <a:t>שאלה נוספת</a:t>
            </a:r>
            <a:endParaRPr lang="he-IL" dirty="0"/>
          </a:p>
        </p:txBody>
      </p:sp>
      <p:sp>
        <p:nvSpPr>
          <p:cNvPr id="3" name="מציין מיקום תוכן 2"/>
          <p:cNvSpPr>
            <a:spLocks noGrp="1"/>
          </p:cNvSpPr>
          <p:nvPr>
            <p:ph idx="1"/>
          </p:nvPr>
        </p:nvSpPr>
        <p:spPr>
          <a:xfrm>
            <a:off x="1066800" y="864524"/>
            <a:ext cx="10058400" cy="5860472"/>
          </a:xfrm>
        </p:spPr>
        <p:txBody>
          <a:bodyPr>
            <a:normAutofit fontScale="62500" lnSpcReduction="20000"/>
          </a:bodyPr>
          <a:lstStyle/>
          <a:p>
            <a:r>
              <a:rPr lang="he-IL" dirty="0"/>
              <a:t>2. אם </a:t>
            </a:r>
            <a:r>
              <a:rPr lang="he-IL" dirty="0" smtClean="0"/>
              <a:t>הערך</a:t>
            </a:r>
            <a:r>
              <a:rPr lang="en-US" dirty="0" smtClean="0"/>
              <a:t>RGB </a:t>
            </a:r>
            <a:r>
              <a:rPr lang="he-IL" dirty="0" smtClean="0"/>
              <a:t> של </a:t>
            </a:r>
            <a:r>
              <a:rPr lang="he-IL" dirty="0"/>
              <a:t>פיקסל הוא (255, 128, 64), כיצד היית משנה אותו כדי להחביא את הביטים 1, 0, 1</a:t>
            </a:r>
            <a:r>
              <a:rPr lang="he-IL" dirty="0" smtClean="0"/>
              <a:t>?</a:t>
            </a:r>
          </a:p>
          <a:p>
            <a:r>
              <a:rPr lang="he-IL" dirty="0"/>
              <a:t>הטכניקה הנפוצה להסוואה בפיקסלים </a:t>
            </a:r>
            <a:r>
              <a:rPr lang="he-IL" dirty="0" smtClean="0"/>
              <a:t>היא</a:t>
            </a:r>
            <a:r>
              <a:rPr lang="en-US" b="1" dirty="0" smtClean="0"/>
              <a:t>LSB </a:t>
            </a:r>
            <a:r>
              <a:rPr lang="en-US" b="1" dirty="0"/>
              <a:t>(Least Significant Bit</a:t>
            </a:r>
            <a:r>
              <a:rPr lang="en-US" b="1" dirty="0" smtClean="0"/>
              <a:t>)</a:t>
            </a:r>
            <a:r>
              <a:rPr lang="en-US" dirty="0" smtClean="0"/>
              <a:t> </a:t>
            </a:r>
            <a:r>
              <a:rPr lang="he-IL" dirty="0" smtClean="0"/>
              <a:t> שמשנה </a:t>
            </a:r>
            <a:r>
              <a:rPr lang="he-IL" dirty="0"/>
              <a:t>את הביט האחרון של כל ערך בערוץ הצבע (</a:t>
            </a:r>
            <a:r>
              <a:rPr lang="en-US" dirty="0"/>
              <a:t>R, G, </a:t>
            </a:r>
            <a:r>
              <a:rPr lang="en-US" dirty="0" smtClean="0"/>
              <a:t>B</a:t>
            </a:r>
            <a:r>
              <a:rPr lang="he-IL" dirty="0" smtClean="0"/>
              <a:t>)</a:t>
            </a:r>
          </a:p>
          <a:p>
            <a:r>
              <a:rPr lang="he-IL" b="1" dirty="0"/>
              <a:t>שלבים:</a:t>
            </a:r>
          </a:p>
          <a:p>
            <a:r>
              <a:rPr lang="he-IL" b="1" dirty="0" smtClean="0"/>
              <a:t>1. ייצוג </a:t>
            </a:r>
            <a:r>
              <a:rPr lang="en-US" b="1" dirty="0" smtClean="0"/>
              <a:t> RGB </a:t>
            </a:r>
            <a:r>
              <a:rPr lang="he-IL" b="1" dirty="0"/>
              <a:t>בבינארי</a:t>
            </a:r>
            <a:r>
              <a:rPr lang="he-IL" b="1" dirty="0" smtClean="0"/>
              <a:t>:</a:t>
            </a:r>
          </a:p>
          <a:p>
            <a:r>
              <a:rPr lang="he-IL" dirty="0" smtClean="0"/>
              <a:t>11111111 </a:t>
            </a:r>
            <a:r>
              <a:rPr lang="en-US" dirty="0"/>
              <a:t>R (255):</a:t>
            </a:r>
            <a:endParaRPr lang="he-IL" dirty="0" smtClean="0"/>
          </a:p>
          <a:p>
            <a:r>
              <a:rPr lang="he-IL" dirty="0" smtClean="0"/>
              <a:t>10000000</a:t>
            </a:r>
            <a:r>
              <a:rPr lang="en-US" dirty="0"/>
              <a:t>G (128</a:t>
            </a:r>
            <a:r>
              <a:rPr lang="en-US" dirty="0" smtClean="0"/>
              <a:t>): </a:t>
            </a:r>
            <a:r>
              <a:rPr lang="he-IL" dirty="0" smtClean="0"/>
              <a:t> </a:t>
            </a:r>
          </a:p>
          <a:p>
            <a:r>
              <a:rPr lang="he-IL" dirty="0" smtClean="0"/>
              <a:t>01000000 </a:t>
            </a:r>
            <a:r>
              <a:rPr lang="en-US" dirty="0"/>
              <a:t>B (64</a:t>
            </a:r>
            <a:r>
              <a:rPr lang="en-US" dirty="0" smtClean="0"/>
              <a:t>):</a:t>
            </a:r>
            <a:endParaRPr lang="he-IL" dirty="0" smtClean="0"/>
          </a:p>
          <a:p>
            <a:r>
              <a:rPr lang="he-IL" dirty="0"/>
              <a:t>2. מיפוי הביטים המוסתרים לערוצי </a:t>
            </a:r>
            <a:r>
              <a:rPr lang="en-US" dirty="0" smtClean="0"/>
              <a:t>RGB</a:t>
            </a:r>
            <a:r>
              <a:rPr lang="he-IL" dirty="0" smtClean="0"/>
              <a:t>:</a:t>
            </a:r>
          </a:p>
          <a:p>
            <a:r>
              <a:rPr lang="he-IL" dirty="0"/>
              <a:t>הביטים להחביא הם </a:t>
            </a:r>
            <a:r>
              <a:rPr lang="he-IL" dirty="0" smtClean="0"/>
              <a:t> 1,0,1</a:t>
            </a:r>
          </a:p>
          <a:p>
            <a:r>
              <a:rPr lang="he-IL" dirty="0"/>
              <a:t>כל ביט מותאם לערוץ </a:t>
            </a:r>
            <a:r>
              <a:rPr lang="he-IL" dirty="0" smtClean="0"/>
              <a:t>צבע</a:t>
            </a:r>
          </a:p>
          <a:p>
            <a:r>
              <a:rPr lang="he-IL" dirty="0"/>
              <a:t>1 לערוץ </a:t>
            </a:r>
            <a:r>
              <a:rPr lang="en-US" dirty="0" smtClean="0"/>
              <a:t>R</a:t>
            </a:r>
          </a:p>
          <a:p>
            <a:r>
              <a:rPr lang="en-US" dirty="0" smtClean="0"/>
              <a:t>0</a:t>
            </a:r>
            <a:r>
              <a:rPr lang="he-IL" dirty="0"/>
              <a:t> לערוץ </a:t>
            </a:r>
            <a:r>
              <a:rPr lang="en-US" dirty="0" smtClean="0"/>
              <a:t>G</a:t>
            </a:r>
          </a:p>
          <a:p>
            <a:r>
              <a:rPr lang="he-IL" dirty="0"/>
              <a:t>1 לערוץ </a:t>
            </a:r>
            <a:r>
              <a:rPr lang="en-US" dirty="0" smtClean="0"/>
              <a:t>B</a:t>
            </a:r>
            <a:endParaRPr lang="he-IL" dirty="0" smtClean="0"/>
          </a:p>
          <a:p>
            <a:r>
              <a:rPr lang="he-IL" dirty="0"/>
              <a:t>3. שינוי הביט האחרון בכל ערוץ</a:t>
            </a:r>
            <a:r>
              <a:rPr lang="he-IL" dirty="0" smtClean="0"/>
              <a:t>:</a:t>
            </a:r>
          </a:p>
          <a:p>
            <a:r>
              <a:rPr lang="en-US" dirty="0" smtClean="0"/>
              <a:t>R</a:t>
            </a:r>
            <a:r>
              <a:rPr lang="he-IL" dirty="0"/>
              <a:t> אין צורך </a:t>
            </a:r>
            <a:r>
              <a:rPr lang="he-IL" dirty="0" smtClean="0"/>
              <a:t>לשנות</a:t>
            </a:r>
          </a:p>
          <a:p>
            <a:r>
              <a:rPr lang="en-US" dirty="0" smtClean="0"/>
              <a:t>G</a:t>
            </a:r>
            <a:r>
              <a:rPr lang="he-IL" dirty="0"/>
              <a:t> אין צורך </a:t>
            </a:r>
            <a:r>
              <a:rPr lang="he-IL" dirty="0" smtClean="0"/>
              <a:t>לשנות</a:t>
            </a:r>
          </a:p>
          <a:p>
            <a:r>
              <a:rPr lang="en-US" dirty="0" smtClean="0"/>
              <a:t>B</a:t>
            </a:r>
            <a:r>
              <a:rPr lang="he-IL" dirty="0"/>
              <a:t> משנים את הביט האחרון ל-1 ונקבל </a:t>
            </a:r>
            <a:r>
              <a:rPr lang="he-IL" dirty="0" smtClean="0"/>
              <a:t>01000001</a:t>
            </a:r>
          </a:p>
          <a:p>
            <a:r>
              <a:rPr lang="he-IL" dirty="0"/>
              <a:t>4. הערכים החדשים</a:t>
            </a:r>
            <a:r>
              <a:rPr lang="he-IL" dirty="0" smtClean="0"/>
              <a:t>:</a:t>
            </a:r>
          </a:p>
          <a:p>
            <a:r>
              <a:rPr lang="en-US" dirty="0" smtClean="0"/>
              <a:t>R- 255</a:t>
            </a:r>
          </a:p>
          <a:p>
            <a:r>
              <a:rPr lang="en-US" dirty="0" smtClean="0"/>
              <a:t>G- 128</a:t>
            </a:r>
          </a:p>
          <a:p>
            <a:r>
              <a:rPr lang="en-US" dirty="0" smtClean="0"/>
              <a:t>B- 65</a:t>
            </a:r>
          </a:p>
          <a:p>
            <a:r>
              <a:rPr lang="he-IL" b="1" dirty="0"/>
              <a:t>תוצאה סופית:</a:t>
            </a:r>
          </a:p>
          <a:p>
            <a:r>
              <a:rPr lang="he-IL" dirty="0"/>
              <a:t>הפסקול החדש של הפיקסל הוא </a:t>
            </a:r>
            <a:r>
              <a:rPr lang="he-IL" b="1" dirty="0"/>
              <a:t>(255, 128, 65)</a:t>
            </a:r>
            <a:r>
              <a:rPr lang="he-IL" dirty="0"/>
              <a:t>.</a:t>
            </a:r>
          </a:p>
          <a:p>
            <a:endParaRPr lang="en-US" dirty="0" smtClean="0"/>
          </a:p>
          <a:p>
            <a:endParaRPr lang="he-IL" dirty="0"/>
          </a:p>
          <a:p>
            <a:endParaRPr lang="he-IL" dirty="0"/>
          </a:p>
        </p:txBody>
      </p:sp>
    </p:spTree>
    <p:extLst>
      <p:ext uri="{BB962C8B-B14F-4D97-AF65-F5344CB8AC3E}">
        <p14:creationId xmlns:p14="http://schemas.microsoft.com/office/powerpoint/2010/main" val="855462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1066800" y="2560320"/>
            <a:ext cx="10058400" cy="3931920"/>
          </a:xfrm>
        </p:spPr>
        <p:txBody>
          <a:bodyPr>
            <a:normAutofit/>
          </a:bodyPr>
          <a:lstStyle/>
          <a:p>
            <a:pPr algn="ctr"/>
            <a:r>
              <a:rPr lang="en-US" sz="5400" dirty="0"/>
              <a:t>Chaffing and Winnowing</a:t>
            </a:r>
            <a:endParaRPr lang="he-IL" sz="5400" dirty="0"/>
          </a:p>
        </p:txBody>
      </p:sp>
    </p:spTree>
    <p:extLst>
      <p:ext uri="{BB962C8B-B14F-4D97-AF65-F5344CB8AC3E}">
        <p14:creationId xmlns:p14="http://schemas.microsoft.com/office/powerpoint/2010/main" val="6383863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019992" y="642594"/>
            <a:ext cx="9105207" cy="1371600"/>
          </a:xfrm>
        </p:spPr>
        <p:txBody>
          <a:bodyPr/>
          <a:lstStyle/>
          <a:p>
            <a:r>
              <a:rPr lang="he-IL" dirty="0"/>
              <a:t>מהו </a:t>
            </a:r>
            <a:r>
              <a:rPr lang="en-US" dirty="0"/>
              <a:t>Chaffing and </a:t>
            </a:r>
            <a:r>
              <a:rPr lang="en-US" dirty="0" smtClean="0"/>
              <a:t>Winnowing</a:t>
            </a:r>
            <a:r>
              <a:rPr lang="he-IL" dirty="0" smtClean="0"/>
              <a:t>?</a:t>
            </a:r>
            <a:endParaRPr lang="he-IL" dirty="0"/>
          </a:p>
        </p:txBody>
      </p:sp>
      <p:sp>
        <p:nvSpPr>
          <p:cNvPr id="3" name="מציין מיקום תוכן 2"/>
          <p:cNvSpPr>
            <a:spLocks noGrp="1"/>
          </p:cNvSpPr>
          <p:nvPr>
            <p:ph idx="1"/>
          </p:nvPr>
        </p:nvSpPr>
        <p:spPr/>
        <p:txBody>
          <a:bodyPr/>
          <a:lstStyle/>
          <a:p>
            <a:r>
              <a:rPr lang="en-US" b="1" dirty="0" smtClean="0"/>
              <a:t> :Chaffing </a:t>
            </a:r>
            <a:r>
              <a:rPr lang="en-US" b="1" dirty="0"/>
              <a:t>and </a:t>
            </a:r>
            <a:r>
              <a:rPr lang="en-US" b="1" dirty="0" smtClean="0"/>
              <a:t>Winnowing</a:t>
            </a:r>
            <a:r>
              <a:rPr lang="he-IL" dirty="0" smtClean="0"/>
              <a:t>היא </a:t>
            </a:r>
            <a:r>
              <a:rPr lang="he-IL" dirty="0"/>
              <a:t>טכניקה </a:t>
            </a:r>
            <a:r>
              <a:rPr lang="he-IL" dirty="0" err="1"/>
              <a:t>קריפטוגרפית</a:t>
            </a:r>
            <a:r>
              <a:rPr lang="he-IL" dirty="0"/>
              <a:t> שמיועדת להבטחת סודיות התקשורת, והיא פותחה על ידי </a:t>
            </a:r>
            <a:r>
              <a:rPr lang="he-IL" dirty="0" err="1"/>
              <a:t>רונלד</a:t>
            </a:r>
            <a:r>
              <a:rPr lang="he-IL" dirty="0"/>
              <a:t> </a:t>
            </a:r>
            <a:r>
              <a:rPr lang="he-IL" dirty="0" err="1" smtClean="0"/>
              <a:t>ריבסט</a:t>
            </a:r>
            <a:r>
              <a:rPr lang="he-IL" dirty="0"/>
              <a:t> </a:t>
            </a:r>
            <a:r>
              <a:rPr lang="en-US" dirty="0" smtClean="0"/>
              <a:t>Ronald </a:t>
            </a:r>
            <a:r>
              <a:rPr lang="en-US" dirty="0" err="1" smtClean="0"/>
              <a:t>Rivest</a:t>
            </a:r>
            <a:endParaRPr lang="he-IL" dirty="0" smtClean="0"/>
          </a:p>
          <a:p>
            <a:endParaRPr lang="he-IL" dirty="0" smtClean="0"/>
          </a:p>
          <a:p>
            <a:r>
              <a:rPr lang="he-IL" dirty="0"/>
              <a:t>בניגוד לקריפטוגרפיה מסורתית, הטכניקה הזו </a:t>
            </a:r>
            <a:r>
              <a:rPr lang="he-IL" dirty="0" smtClean="0"/>
              <a:t>אינה </a:t>
            </a:r>
            <a:r>
              <a:rPr lang="he-IL" dirty="0"/>
              <a:t>מצפינה את המידע אלא משתמשת </a:t>
            </a:r>
            <a:r>
              <a:rPr lang="he-IL" dirty="0" smtClean="0"/>
              <a:t>ב</a:t>
            </a:r>
            <a:r>
              <a:rPr lang="he-IL" b="1" dirty="0" smtClean="0"/>
              <a:t>אימות  </a:t>
            </a:r>
            <a:r>
              <a:rPr lang="en-US" b="1" dirty="0" smtClean="0"/>
              <a:t>authentication</a:t>
            </a:r>
            <a:r>
              <a:rPr lang="he-IL" b="1" dirty="0" smtClean="0"/>
              <a:t> </a:t>
            </a:r>
            <a:r>
              <a:rPr lang="he-IL" dirty="0" smtClean="0"/>
              <a:t>כדי </a:t>
            </a:r>
            <a:r>
              <a:rPr lang="he-IL" dirty="0"/>
              <a:t>להפריד בין מידע </a:t>
            </a:r>
            <a:r>
              <a:rPr lang="he-IL" dirty="0" err="1"/>
              <a:t>אמיתי</a:t>
            </a:r>
            <a:r>
              <a:rPr lang="he-IL" dirty="0"/>
              <a:t> ל"מזויף".</a:t>
            </a:r>
            <a:endParaRPr lang="he-IL" dirty="0" smtClean="0"/>
          </a:p>
          <a:p>
            <a:endParaRPr lang="he-IL" dirty="0"/>
          </a:p>
        </p:txBody>
      </p:sp>
    </p:spTree>
    <p:extLst>
      <p:ext uri="{BB962C8B-B14F-4D97-AF65-F5344CB8AC3E}">
        <p14:creationId xmlns:p14="http://schemas.microsoft.com/office/powerpoint/2010/main" val="5502993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094807" y="193707"/>
            <a:ext cx="9030393" cy="1371600"/>
          </a:xfrm>
        </p:spPr>
        <p:txBody>
          <a:bodyPr/>
          <a:lstStyle/>
          <a:p>
            <a:r>
              <a:rPr lang="he-IL" dirty="0"/>
              <a:t>כיצד השיטה מממשת אבטחת מידע?</a:t>
            </a:r>
          </a:p>
        </p:txBody>
      </p:sp>
      <p:sp>
        <p:nvSpPr>
          <p:cNvPr id="3" name="מציין מיקום תוכן 2"/>
          <p:cNvSpPr>
            <a:spLocks noGrp="1"/>
          </p:cNvSpPr>
          <p:nvPr>
            <p:ph idx="1"/>
          </p:nvPr>
        </p:nvSpPr>
        <p:spPr>
          <a:xfrm>
            <a:off x="1066800" y="1371600"/>
            <a:ext cx="10058400" cy="4663440"/>
          </a:xfrm>
        </p:spPr>
        <p:txBody>
          <a:bodyPr>
            <a:normAutofit fontScale="92500" lnSpcReduction="20000"/>
          </a:bodyPr>
          <a:lstStyle/>
          <a:p>
            <a:r>
              <a:rPr lang="he-IL" dirty="0"/>
              <a:t>השיטה מבוססת על הרעיון של </a:t>
            </a:r>
            <a:r>
              <a:rPr lang="he-IL" b="1" dirty="0"/>
              <a:t>ניפוי רעש</a:t>
            </a:r>
            <a:r>
              <a:rPr lang="he-IL" dirty="0"/>
              <a:t>:</a:t>
            </a:r>
            <a:br>
              <a:rPr lang="he-IL" dirty="0"/>
            </a:br>
            <a:r>
              <a:rPr lang="he-IL" dirty="0"/>
              <a:t>זרם הנתונים מורכב ממידע </a:t>
            </a:r>
            <a:r>
              <a:rPr lang="he-IL" dirty="0" err="1"/>
              <a:t>אמיתי</a:t>
            </a:r>
            <a:r>
              <a:rPr lang="he-IL" dirty="0"/>
              <a:t> ורעש </a:t>
            </a:r>
            <a:r>
              <a:rPr lang="en-US" dirty="0" smtClean="0"/>
              <a:t>Chaff</a:t>
            </a:r>
            <a:r>
              <a:rPr lang="en-US" dirty="0"/>
              <a:t/>
            </a:r>
            <a:br>
              <a:rPr lang="en-US" dirty="0"/>
            </a:br>
            <a:r>
              <a:rPr lang="he-IL" dirty="0"/>
              <a:t>המקבל משתמש במפתח הסודי כדי להבדיל בין נתונים </a:t>
            </a:r>
            <a:r>
              <a:rPr lang="he-IL" dirty="0" err="1"/>
              <a:t>אמיתיים</a:t>
            </a:r>
            <a:r>
              <a:rPr lang="he-IL" dirty="0"/>
              <a:t> למזויפים</a:t>
            </a:r>
            <a:r>
              <a:rPr lang="he-IL" dirty="0" smtClean="0"/>
              <a:t>.</a:t>
            </a:r>
          </a:p>
          <a:p>
            <a:r>
              <a:rPr lang="he-IL" dirty="0"/>
              <a:t>שלבי הפעולה</a:t>
            </a:r>
            <a:r>
              <a:rPr lang="he-IL" dirty="0" smtClean="0"/>
              <a:t>:</a:t>
            </a:r>
          </a:p>
          <a:p>
            <a:r>
              <a:rPr lang="he-IL" dirty="0" smtClean="0"/>
              <a:t>1</a:t>
            </a:r>
            <a:r>
              <a:rPr lang="he-IL" dirty="0"/>
              <a:t>. הפקת </a:t>
            </a:r>
            <a:r>
              <a:rPr lang="en-US" dirty="0"/>
              <a:t>MAC (Message Authentication Code</a:t>
            </a:r>
            <a:r>
              <a:rPr lang="en-US" dirty="0" smtClean="0"/>
              <a:t>)</a:t>
            </a:r>
            <a:r>
              <a:rPr lang="he-IL" dirty="0" smtClean="0"/>
              <a:t>:</a:t>
            </a:r>
          </a:p>
          <a:p>
            <a:r>
              <a:rPr lang="he-IL" dirty="0" smtClean="0"/>
              <a:t>ה-</a:t>
            </a:r>
            <a:r>
              <a:rPr lang="en-US" dirty="0" smtClean="0"/>
              <a:t> MAC </a:t>
            </a:r>
            <a:r>
              <a:rPr lang="he-IL" dirty="0"/>
              <a:t>מחושב עבור כל חבילת מידע בעזרת מפתח סודי</a:t>
            </a:r>
            <a:r>
              <a:rPr lang="he-IL" dirty="0" smtClean="0"/>
              <a:t>.</a:t>
            </a:r>
          </a:p>
          <a:p>
            <a:r>
              <a:rPr lang="he-IL" dirty="0"/>
              <a:t>לדוגמה: חבילת </a:t>
            </a:r>
            <a:r>
              <a:rPr lang="he-IL" dirty="0" smtClean="0"/>
              <a:t>מידע </a:t>
            </a:r>
            <a:r>
              <a:rPr lang="en-US" dirty="0" smtClean="0"/>
              <a:t>DATA1</a:t>
            </a:r>
            <a:r>
              <a:rPr lang="he-IL" dirty="0"/>
              <a:t> </a:t>
            </a:r>
            <a:r>
              <a:rPr lang="he-IL" dirty="0" smtClean="0"/>
              <a:t>תקבל</a:t>
            </a:r>
            <a:r>
              <a:rPr lang="en-US" dirty="0" smtClean="0"/>
              <a:t> MAC </a:t>
            </a:r>
            <a:r>
              <a:rPr lang="he-IL" dirty="0"/>
              <a:t>שמחושב לפי נוסחה</a:t>
            </a:r>
            <a:r>
              <a:rPr lang="he-IL" dirty="0" smtClean="0"/>
              <a:t>:</a:t>
            </a:r>
          </a:p>
          <a:p>
            <a:r>
              <a:rPr lang="en-US" dirty="0" smtClean="0"/>
              <a:t>MAC = H(DATA1,KEY)</a:t>
            </a:r>
            <a:endParaRPr lang="he-IL" dirty="0" smtClean="0"/>
          </a:p>
          <a:p>
            <a:r>
              <a:rPr lang="he-IL" dirty="0" smtClean="0"/>
              <a:t>כאשר</a:t>
            </a:r>
            <a:r>
              <a:rPr lang="en-US" dirty="0" smtClean="0"/>
              <a:t>H </a:t>
            </a:r>
            <a:r>
              <a:rPr lang="he-IL" dirty="0" smtClean="0"/>
              <a:t> היא </a:t>
            </a:r>
            <a:r>
              <a:rPr lang="he-IL" dirty="0"/>
              <a:t>פונקציית גיבוב כמו </a:t>
            </a:r>
            <a:r>
              <a:rPr lang="en-US" dirty="0" smtClean="0"/>
              <a:t>SHA-256</a:t>
            </a:r>
            <a:r>
              <a:rPr lang="he-IL" dirty="0" smtClean="0"/>
              <a:t>.</a:t>
            </a:r>
          </a:p>
          <a:p>
            <a:r>
              <a:rPr lang="he-IL" dirty="0" smtClean="0"/>
              <a:t>2. </a:t>
            </a:r>
            <a:r>
              <a:rPr lang="he-IL" b="1" dirty="0"/>
              <a:t>הוספת רעש:</a:t>
            </a:r>
            <a:endParaRPr lang="he-IL" dirty="0"/>
          </a:p>
          <a:p>
            <a:r>
              <a:rPr lang="he-IL" dirty="0"/>
              <a:t>חבילות </a:t>
            </a:r>
            <a:r>
              <a:rPr lang="he-IL" dirty="0" smtClean="0"/>
              <a:t>מזויפות</a:t>
            </a:r>
            <a:r>
              <a:rPr lang="en-US" dirty="0" smtClean="0"/>
              <a:t> Chaff </a:t>
            </a:r>
            <a:r>
              <a:rPr lang="he-IL" dirty="0"/>
              <a:t>נוצרות ומתווספות לזרם המידע.</a:t>
            </a:r>
          </a:p>
          <a:p>
            <a:r>
              <a:rPr lang="he-IL" dirty="0"/>
              <a:t>לכל חבילה מזויפת מתווסף </a:t>
            </a:r>
            <a:r>
              <a:rPr lang="en-US" dirty="0" smtClean="0"/>
              <a:t> MAC</a:t>
            </a:r>
            <a:r>
              <a:rPr lang="he-IL" dirty="0" smtClean="0"/>
              <a:t>מזויף </a:t>
            </a:r>
            <a:r>
              <a:rPr lang="he-IL" dirty="0"/>
              <a:t>שאינו תואם לחבילה</a:t>
            </a:r>
            <a:r>
              <a:rPr lang="he-IL" dirty="0" smtClean="0"/>
              <a:t>.</a:t>
            </a:r>
          </a:p>
          <a:p>
            <a:r>
              <a:rPr lang="he-IL" dirty="0" smtClean="0"/>
              <a:t>3. </a:t>
            </a:r>
            <a:r>
              <a:rPr lang="he-IL" b="1" dirty="0"/>
              <a:t>זיהוי במקבל:</a:t>
            </a:r>
            <a:endParaRPr lang="he-IL" dirty="0"/>
          </a:p>
          <a:p>
            <a:r>
              <a:rPr lang="he-IL" dirty="0"/>
              <a:t>המקבל בודק את ה-</a:t>
            </a:r>
            <a:r>
              <a:rPr lang="en-US" dirty="0"/>
              <a:t>MAC </a:t>
            </a:r>
            <a:r>
              <a:rPr lang="he-IL" dirty="0" smtClean="0"/>
              <a:t> של </a:t>
            </a:r>
            <a:r>
              <a:rPr lang="he-IL" dirty="0"/>
              <a:t>כל חבילה.</a:t>
            </a:r>
          </a:p>
          <a:p>
            <a:r>
              <a:rPr lang="he-IL" dirty="0"/>
              <a:t>אם ה-</a:t>
            </a:r>
            <a:r>
              <a:rPr lang="en-US" dirty="0"/>
              <a:t>MAC </a:t>
            </a:r>
            <a:r>
              <a:rPr lang="he-IL" dirty="0" smtClean="0"/>
              <a:t> מתאים</a:t>
            </a:r>
            <a:r>
              <a:rPr lang="he-IL" dirty="0"/>
              <a:t>, החבילה מזוהה </a:t>
            </a:r>
            <a:r>
              <a:rPr lang="he-IL" dirty="0" err="1"/>
              <a:t>כאמיתית</a:t>
            </a:r>
            <a:r>
              <a:rPr lang="he-IL" dirty="0"/>
              <a:t>. אחרת, היא מזוהה כרעש </a:t>
            </a:r>
            <a:r>
              <a:rPr lang="he-IL" dirty="0" err="1"/>
              <a:t>וננפת</a:t>
            </a:r>
            <a:r>
              <a:rPr lang="he-IL" dirty="0"/>
              <a:t>.</a:t>
            </a:r>
          </a:p>
          <a:p>
            <a:endParaRPr lang="he-IL" dirty="0"/>
          </a:p>
          <a:p>
            <a:endParaRPr lang="he-IL" dirty="0" smtClean="0"/>
          </a:p>
          <a:p>
            <a:endParaRPr lang="he-IL" dirty="0"/>
          </a:p>
        </p:txBody>
      </p:sp>
    </p:spTree>
    <p:extLst>
      <p:ext uri="{BB962C8B-B14F-4D97-AF65-F5344CB8AC3E}">
        <p14:creationId xmlns:p14="http://schemas.microsoft.com/office/powerpoint/2010/main" val="9973811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6716684" y="127205"/>
            <a:ext cx="4408516" cy="1371600"/>
          </a:xfrm>
        </p:spPr>
        <p:txBody>
          <a:bodyPr/>
          <a:lstStyle/>
          <a:p>
            <a:r>
              <a:rPr lang="he-IL" dirty="0"/>
              <a:t>עקרונות הפעולה</a:t>
            </a:r>
          </a:p>
        </p:txBody>
      </p:sp>
      <p:sp>
        <p:nvSpPr>
          <p:cNvPr id="3" name="מציין מיקום תוכן 2"/>
          <p:cNvSpPr>
            <a:spLocks noGrp="1"/>
          </p:cNvSpPr>
          <p:nvPr>
            <p:ph idx="1"/>
          </p:nvPr>
        </p:nvSpPr>
        <p:spPr>
          <a:xfrm>
            <a:off x="1066800" y="1357489"/>
            <a:ext cx="10058400" cy="4943558"/>
          </a:xfrm>
        </p:spPr>
        <p:txBody>
          <a:bodyPr>
            <a:normAutofit/>
          </a:bodyPr>
          <a:lstStyle/>
          <a:p>
            <a:r>
              <a:rPr lang="he-IL" dirty="0" smtClean="0"/>
              <a:t>1. </a:t>
            </a:r>
            <a:r>
              <a:rPr lang="he-IL" b="1" dirty="0"/>
              <a:t>המונחים:</a:t>
            </a:r>
            <a:endParaRPr lang="he-IL" dirty="0"/>
          </a:p>
          <a:p>
            <a:r>
              <a:rPr lang="en-US" b="1" dirty="0" smtClean="0"/>
              <a:t>Chaff</a:t>
            </a:r>
            <a:r>
              <a:rPr lang="he-IL" b="1" dirty="0" smtClean="0"/>
              <a:t>:</a:t>
            </a:r>
            <a:r>
              <a:rPr lang="en-US" dirty="0" smtClean="0"/>
              <a:t> </a:t>
            </a:r>
            <a:r>
              <a:rPr lang="he-IL" dirty="0" smtClean="0"/>
              <a:t>"פסולת</a:t>
            </a:r>
            <a:r>
              <a:rPr lang="he-IL" dirty="0"/>
              <a:t>" או "רעש" – נתונים מזויפים שמתווספים לזרם המידע כדי לבלבל את התוקף.</a:t>
            </a:r>
          </a:p>
          <a:p>
            <a:r>
              <a:rPr lang="en-US" b="1" dirty="0" smtClean="0"/>
              <a:t>Winnowing</a:t>
            </a:r>
            <a:r>
              <a:rPr lang="he-IL" dirty="0" smtClean="0"/>
              <a:t>: "ניפוי</a:t>
            </a:r>
            <a:r>
              <a:rPr lang="he-IL" dirty="0"/>
              <a:t>" – תהליך שמאפשר למקבל המידע להפריד בין הנתונים </a:t>
            </a:r>
            <a:r>
              <a:rPr lang="he-IL" dirty="0" err="1"/>
              <a:t>האמיתיים</a:t>
            </a:r>
            <a:r>
              <a:rPr lang="he-IL" dirty="0"/>
              <a:t> לנתונים </a:t>
            </a:r>
            <a:r>
              <a:rPr lang="he-IL" dirty="0" smtClean="0"/>
              <a:t>המזויפים.</a:t>
            </a:r>
          </a:p>
          <a:p>
            <a:endParaRPr lang="he-IL" dirty="0" smtClean="0"/>
          </a:p>
          <a:p>
            <a:r>
              <a:rPr lang="he-IL" dirty="0" smtClean="0"/>
              <a:t>2. </a:t>
            </a:r>
            <a:r>
              <a:rPr lang="he-IL" b="1" dirty="0"/>
              <a:t>תהליך </a:t>
            </a:r>
            <a:r>
              <a:rPr lang="he-IL" b="1" dirty="0" smtClean="0"/>
              <a:t>הפעולה:</a:t>
            </a:r>
            <a:r>
              <a:rPr lang="he-IL" dirty="0" smtClean="0"/>
              <a:t> המידע </a:t>
            </a:r>
            <a:r>
              <a:rPr lang="he-IL" dirty="0"/>
              <a:t>מחולק </a:t>
            </a:r>
            <a:r>
              <a:rPr lang="he-IL" dirty="0" smtClean="0"/>
              <a:t>לחבילות </a:t>
            </a:r>
            <a:r>
              <a:rPr lang="en-US" dirty="0" smtClean="0"/>
              <a:t>packets</a:t>
            </a:r>
            <a:endParaRPr lang="en-US" dirty="0"/>
          </a:p>
          <a:p>
            <a:r>
              <a:rPr lang="he-IL" dirty="0"/>
              <a:t>כל חבילה מזוהה באמצעות </a:t>
            </a:r>
            <a:r>
              <a:rPr lang="he-IL" b="1" dirty="0"/>
              <a:t>קוד אימות </a:t>
            </a:r>
            <a:r>
              <a:rPr lang="en-US" b="1" dirty="0" smtClean="0"/>
              <a:t> Message </a:t>
            </a:r>
            <a:r>
              <a:rPr lang="en-US" b="1" dirty="0"/>
              <a:t>Authentication Code - </a:t>
            </a:r>
            <a:r>
              <a:rPr lang="en-US" b="1" dirty="0" smtClean="0"/>
              <a:t>MAC</a:t>
            </a:r>
            <a:r>
              <a:rPr lang="he-IL" dirty="0" smtClean="0"/>
              <a:t>שנוצר </a:t>
            </a:r>
            <a:r>
              <a:rPr lang="he-IL" dirty="0"/>
              <a:t>באמצעות מפתח סודי משותף.</a:t>
            </a:r>
          </a:p>
          <a:p>
            <a:r>
              <a:rPr lang="he-IL" dirty="0"/>
              <a:t>חבילות </a:t>
            </a:r>
            <a:r>
              <a:rPr lang="he-IL" dirty="0" smtClean="0"/>
              <a:t>מזויפות</a:t>
            </a:r>
            <a:r>
              <a:rPr lang="en-US" dirty="0" smtClean="0"/>
              <a:t> Chaff </a:t>
            </a:r>
            <a:r>
              <a:rPr lang="he-IL" dirty="0"/>
              <a:t>מתווספות לזרם המידע, והן כוללות קודים לא תקינים או מזויפים.</a:t>
            </a:r>
          </a:p>
          <a:p>
            <a:r>
              <a:rPr lang="he-IL" dirty="0"/>
              <a:t>המקבל, שיש לו את המפתח הסודי, יכול לזהות את החבילות </a:t>
            </a:r>
            <a:r>
              <a:rPr lang="he-IL" dirty="0" err="1"/>
              <a:t>האמיתיות</a:t>
            </a:r>
            <a:r>
              <a:rPr lang="he-IL" dirty="0"/>
              <a:t> (באמצעות בדיקת </a:t>
            </a:r>
            <a:r>
              <a:rPr lang="he-IL" dirty="0" smtClean="0"/>
              <a:t>ה-</a:t>
            </a:r>
            <a:r>
              <a:rPr lang="en-US" dirty="0" smtClean="0"/>
              <a:t> (MAC </a:t>
            </a:r>
            <a:r>
              <a:rPr lang="he-IL" dirty="0"/>
              <a:t>ולנפות את המזויפות</a:t>
            </a:r>
            <a:r>
              <a:rPr lang="he-IL" dirty="0" smtClean="0"/>
              <a:t>.</a:t>
            </a:r>
          </a:p>
          <a:p>
            <a:endParaRPr lang="he-IL" dirty="0" smtClean="0"/>
          </a:p>
          <a:p>
            <a:r>
              <a:rPr lang="he-IL" dirty="0" smtClean="0"/>
              <a:t>3. </a:t>
            </a:r>
            <a:r>
              <a:rPr lang="he-IL" b="1" dirty="0"/>
              <a:t>מפתח </a:t>
            </a:r>
            <a:r>
              <a:rPr lang="he-IL" b="1" dirty="0" smtClean="0"/>
              <a:t>הסודי:</a:t>
            </a:r>
            <a:r>
              <a:rPr lang="he-IL" dirty="0" smtClean="0"/>
              <a:t> רק </a:t>
            </a:r>
            <a:r>
              <a:rPr lang="he-IL" dirty="0"/>
              <a:t>מי שיש לו את המפתח הסודי יכול להבדיל בין חבילות </a:t>
            </a:r>
            <a:r>
              <a:rPr lang="he-IL" dirty="0" err="1"/>
              <a:t>אמיתיות</a:t>
            </a:r>
            <a:r>
              <a:rPr lang="he-IL" dirty="0"/>
              <a:t> למזויפות.</a:t>
            </a:r>
          </a:p>
          <a:p>
            <a:r>
              <a:rPr lang="he-IL" dirty="0"/>
              <a:t>המידע המועבר הוא "גלוי", אך היכולת לזהות את המידע הרלוונטי מוגנת על ידי המפתח.</a:t>
            </a:r>
          </a:p>
          <a:p>
            <a:endParaRPr lang="he-IL" dirty="0"/>
          </a:p>
          <a:p>
            <a:endParaRPr lang="he-IL" dirty="0"/>
          </a:p>
          <a:p>
            <a:endParaRPr lang="he-IL" dirty="0"/>
          </a:p>
        </p:txBody>
      </p:sp>
    </p:spTree>
    <p:extLst>
      <p:ext uri="{BB962C8B-B14F-4D97-AF65-F5344CB8AC3E}">
        <p14:creationId xmlns:p14="http://schemas.microsoft.com/office/powerpoint/2010/main" val="8723049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027622" y="642594"/>
            <a:ext cx="2097578" cy="1371600"/>
          </a:xfrm>
        </p:spPr>
        <p:txBody>
          <a:bodyPr/>
          <a:lstStyle/>
          <a:p>
            <a:r>
              <a:rPr lang="he-IL" dirty="0" smtClean="0"/>
              <a:t>יתרונות</a:t>
            </a:r>
            <a:endParaRPr lang="he-IL" dirty="0"/>
          </a:p>
        </p:txBody>
      </p:sp>
      <p:sp>
        <p:nvSpPr>
          <p:cNvPr id="3" name="מציין מיקום תוכן 2"/>
          <p:cNvSpPr>
            <a:spLocks noGrp="1"/>
          </p:cNvSpPr>
          <p:nvPr>
            <p:ph idx="1"/>
          </p:nvPr>
        </p:nvSpPr>
        <p:spPr/>
        <p:txBody>
          <a:bodyPr>
            <a:normAutofit fontScale="92500" lnSpcReduction="10000"/>
          </a:bodyPr>
          <a:lstStyle/>
          <a:p>
            <a:r>
              <a:rPr lang="he-IL" dirty="0" smtClean="0"/>
              <a:t>1. </a:t>
            </a:r>
            <a:r>
              <a:rPr lang="he-IL" b="1" dirty="0"/>
              <a:t>ללא הצפנה:</a:t>
            </a:r>
            <a:endParaRPr lang="he-IL" dirty="0"/>
          </a:p>
          <a:p>
            <a:r>
              <a:rPr lang="he-IL" dirty="0"/>
              <a:t>בניגוד לשיטות הצפנה מסורתיות, המידע אינו מוצפן ואינו דורש כוח עיבוד רב לפענוח.</a:t>
            </a:r>
          </a:p>
          <a:p>
            <a:r>
              <a:rPr lang="he-IL" dirty="0"/>
              <a:t>אין צורך ברישיון לשימוש בטכנולוגיות הצפנה באזורים עם הגבלות חוקיות.</a:t>
            </a:r>
          </a:p>
          <a:p>
            <a:endParaRPr lang="he-IL" dirty="0" smtClean="0"/>
          </a:p>
          <a:p>
            <a:r>
              <a:rPr lang="he-IL" dirty="0" smtClean="0"/>
              <a:t>2. </a:t>
            </a:r>
            <a:r>
              <a:rPr lang="he-IL" b="1" dirty="0"/>
              <a:t>עמידות לתקיפה:</a:t>
            </a:r>
            <a:endParaRPr lang="he-IL" dirty="0"/>
          </a:p>
          <a:p>
            <a:r>
              <a:rPr lang="he-IL" dirty="0"/>
              <a:t>קשה מאוד לתוקף להבחין בין חבילות </a:t>
            </a:r>
            <a:r>
              <a:rPr lang="he-IL" dirty="0" err="1"/>
              <a:t>אמיתיות</a:t>
            </a:r>
            <a:r>
              <a:rPr lang="he-IL" dirty="0"/>
              <a:t> למזויפות ללא המפתח הסודי.</a:t>
            </a:r>
          </a:p>
          <a:p>
            <a:r>
              <a:rPr lang="he-IL" dirty="0"/>
              <a:t>כמות </a:t>
            </a:r>
            <a:r>
              <a:rPr lang="he-IL" dirty="0" smtClean="0"/>
              <a:t>ה"רעש"</a:t>
            </a:r>
            <a:r>
              <a:rPr lang="en-US" dirty="0" smtClean="0"/>
              <a:t> Chaff </a:t>
            </a:r>
            <a:r>
              <a:rPr lang="he-IL" dirty="0"/>
              <a:t>יכולה להיות גדולה כדי להקשות על ניסיון זיהוי.</a:t>
            </a:r>
          </a:p>
          <a:p>
            <a:endParaRPr lang="he-IL" dirty="0" smtClean="0"/>
          </a:p>
          <a:p>
            <a:r>
              <a:rPr lang="he-IL" dirty="0" smtClean="0"/>
              <a:t>3. </a:t>
            </a:r>
            <a:r>
              <a:rPr lang="he-IL" b="1" dirty="0"/>
              <a:t>שימושים אפשריים:</a:t>
            </a:r>
            <a:endParaRPr lang="he-IL" dirty="0"/>
          </a:p>
          <a:p>
            <a:r>
              <a:rPr lang="he-IL" dirty="0"/>
              <a:t>אבטחת מידע בהעברת מסרים ברשתות פתוחות.</a:t>
            </a:r>
          </a:p>
          <a:p>
            <a:r>
              <a:rPr lang="he-IL" dirty="0"/>
              <a:t>מניעת גישה למידע על ידי יריבים.</a:t>
            </a:r>
          </a:p>
          <a:p>
            <a:endParaRPr lang="he-IL" dirty="0" smtClean="0"/>
          </a:p>
          <a:p>
            <a:endParaRPr lang="he-IL" dirty="0"/>
          </a:p>
        </p:txBody>
      </p:sp>
    </p:spTree>
    <p:extLst>
      <p:ext uri="{BB962C8B-B14F-4D97-AF65-F5344CB8AC3E}">
        <p14:creationId xmlns:p14="http://schemas.microsoft.com/office/powerpoint/2010/main" val="8875901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877992" y="642594"/>
            <a:ext cx="2247207" cy="1371600"/>
          </a:xfrm>
        </p:spPr>
        <p:txBody>
          <a:bodyPr/>
          <a:lstStyle/>
          <a:p>
            <a:r>
              <a:rPr lang="he-IL" dirty="0"/>
              <a:t>חסרונות</a:t>
            </a:r>
          </a:p>
        </p:txBody>
      </p:sp>
      <p:sp>
        <p:nvSpPr>
          <p:cNvPr id="3" name="מציין מיקום תוכן 2"/>
          <p:cNvSpPr>
            <a:spLocks noGrp="1"/>
          </p:cNvSpPr>
          <p:nvPr>
            <p:ph idx="1"/>
          </p:nvPr>
        </p:nvSpPr>
        <p:spPr/>
        <p:txBody>
          <a:bodyPr/>
          <a:lstStyle/>
          <a:p>
            <a:r>
              <a:rPr lang="he-IL" dirty="0" smtClean="0"/>
              <a:t>1. </a:t>
            </a:r>
            <a:r>
              <a:rPr lang="he-IL" b="1" dirty="0"/>
              <a:t>תלות במפתח הסודי:</a:t>
            </a:r>
            <a:endParaRPr lang="he-IL" dirty="0"/>
          </a:p>
          <a:p>
            <a:r>
              <a:rPr lang="he-IL" dirty="0"/>
              <a:t>אם המפתח נחשף, כל המידע יהיה חשוף.</a:t>
            </a:r>
          </a:p>
          <a:p>
            <a:endParaRPr lang="he-IL" dirty="0" smtClean="0"/>
          </a:p>
          <a:p>
            <a:r>
              <a:rPr lang="he-IL" dirty="0" smtClean="0"/>
              <a:t>2. </a:t>
            </a:r>
            <a:r>
              <a:rPr lang="he-IL" b="1" dirty="0"/>
              <a:t>בזבוז משאבים:</a:t>
            </a:r>
            <a:endParaRPr lang="he-IL" dirty="0"/>
          </a:p>
          <a:p>
            <a:r>
              <a:rPr lang="he-IL" dirty="0"/>
              <a:t>הוספת כמויות גדולות של חבילות מזויפות יכולה להגדיל משמעותית את רוחב הפס הנדרש.</a:t>
            </a:r>
          </a:p>
          <a:p>
            <a:endParaRPr lang="he-IL" dirty="0" smtClean="0"/>
          </a:p>
          <a:p>
            <a:r>
              <a:rPr lang="he-IL" dirty="0" smtClean="0"/>
              <a:t>3. </a:t>
            </a:r>
            <a:r>
              <a:rPr lang="he-IL" b="1" dirty="0"/>
              <a:t>לא מונע יירוט מידע:</a:t>
            </a:r>
            <a:endParaRPr lang="he-IL" dirty="0"/>
          </a:p>
          <a:p>
            <a:r>
              <a:rPr lang="he-IL" dirty="0"/>
              <a:t>המידע </a:t>
            </a:r>
            <a:r>
              <a:rPr lang="he-IL" dirty="0" err="1"/>
              <a:t>האמיתי</a:t>
            </a:r>
            <a:r>
              <a:rPr lang="he-IL" dirty="0"/>
              <a:t> והנתונים המזויפים מועברים "בבירור". לכן, המידע אינו מוגן מפני יירוט אלא רק מפני הבנה.</a:t>
            </a:r>
          </a:p>
          <a:p>
            <a:endParaRPr lang="he-IL" dirty="0" smtClean="0"/>
          </a:p>
          <a:p>
            <a:endParaRPr lang="he-IL" dirty="0"/>
          </a:p>
        </p:txBody>
      </p:sp>
    </p:spTree>
    <p:extLst>
      <p:ext uri="{BB962C8B-B14F-4D97-AF65-F5344CB8AC3E}">
        <p14:creationId xmlns:p14="http://schemas.microsoft.com/office/powerpoint/2010/main" val="26294403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548639" y="642594"/>
            <a:ext cx="11538066" cy="1371600"/>
          </a:xfrm>
        </p:spPr>
        <p:txBody>
          <a:bodyPr>
            <a:normAutofit fontScale="90000"/>
          </a:bodyPr>
          <a:lstStyle/>
          <a:p>
            <a:r>
              <a:rPr lang="he-IL" dirty="0"/>
              <a:t>השוואה </a:t>
            </a:r>
            <a:r>
              <a:rPr lang="he-IL" dirty="0" smtClean="0"/>
              <a:t>בין</a:t>
            </a:r>
            <a:r>
              <a:rPr lang="en-US" dirty="0" smtClean="0"/>
              <a:t> Chaffing </a:t>
            </a:r>
            <a:r>
              <a:rPr lang="en-US" dirty="0"/>
              <a:t>and Winnowing </a:t>
            </a:r>
            <a:r>
              <a:rPr lang="he-IL" dirty="0"/>
              <a:t>להצפנה:</a:t>
            </a:r>
          </a:p>
        </p:txBody>
      </p:sp>
      <p:pic>
        <p:nvPicPr>
          <p:cNvPr id="4" name="מציין מיקום תוכן 3"/>
          <p:cNvPicPr>
            <a:picLocks noGrp="1" noChangeAspect="1"/>
          </p:cNvPicPr>
          <p:nvPr>
            <p:ph idx="1"/>
          </p:nvPr>
        </p:nvPicPr>
        <p:blipFill>
          <a:blip r:embed="rId2"/>
          <a:stretch>
            <a:fillRect/>
          </a:stretch>
        </p:blipFill>
        <p:spPr>
          <a:xfrm>
            <a:off x="1555316" y="2452255"/>
            <a:ext cx="8740265" cy="1974420"/>
          </a:xfrm>
          <a:prstGeom prst="rect">
            <a:avLst/>
          </a:prstGeom>
        </p:spPr>
      </p:pic>
    </p:spTree>
    <p:extLst>
      <p:ext uri="{BB962C8B-B14F-4D97-AF65-F5344CB8AC3E}">
        <p14:creationId xmlns:p14="http://schemas.microsoft.com/office/powerpoint/2010/main" val="33993953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364182" y="260208"/>
            <a:ext cx="6761018" cy="1371600"/>
          </a:xfrm>
        </p:spPr>
        <p:txBody>
          <a:bodyPr/>
          <a:lstStyle/>
          <a:p>
            <a:r>
              <a:rPr lang="he-IL" dirty="0"/>
              <a:t>יישומים מעשיים מתקדמים</a:t>
            </a:r>
          </a:p>
        </p:txBody>
      </p:sp>
      <p:sp>
        <p:nvSpPr>
          <p:cNvPr id="3" name="מציין מיקום תוכן 2"/>
          <p:cNvSpPr>
            <a:spLocks noGrp="1"/>
          </p:cNvSpPr>
          <p:nvPr>
            <p:ph idx="1"/>
          </p:nvPr>
        </p:nvSpPr>
        <p:spPr>
          <a:xfrm>
            <a:off x="1066800" y="1895302"/>
            <a:ext cx="10058400" cy="4139738"/>
          </a:xfrm>
        </p:spPr>
        <p:txBody>
          <a:bodyPr>
            <a:normAutofit/>
          </a:bodyPr>
          <a:lstStyle/>
          <a:p>
            <a:r>
              <a:rPr lang="he-IL" dirty="0" smtClean="0"/>
              <a:t>א. </a:t>
            </a:r>
            <a:r>
              <a:rPr lang="he-IL" b="1" dirty="0"/>
              <a:t>אבטחת תקשורת ברשתות </a:t>
            </a:r>
            <a:r>
              <a:rPr lang="he-IL" b="1" dirty="0" smtClean="0"/>
              <a:t>ציבוריות: </a:t>
            </a:r>
            <a:r>
              <a:rPr lang="he-IL" dirty="0" smtClean="0"/>
              <a:t>ברשתות </a:t>
            </a:r>
            <a:r>
              <a:rPr lang="he-IL" dirty="0"/>
              <a:t>ציבוריות </a:t>
            </a:r>
            <a:r>
              <a:rPr lang="he-IL" dirty="0" smtClean="0"/>
              <a:t>כמו</a:t>
            </a:r>
            <a:r>
              <a:rPr lang="en-US" dirty="0" smtClean="0"/>
              <a:t> Wi-Fi ,Chaffing </a:t>
            </a:r>
            <a:r>
              <a:rPr lang="en-US" dirty="0"/>
              <a:t>and Winnowing </a:t>
            </a:r>
            <a:r>
              <a:rPr lang="he-IL" dirty="0"/>
              <a:t>יכול להקשות על תוקפים ליירט מידע, משום שהם אינם יכולים לזהות אילו חבילות הן </a:t>
            </a:r>
            <a:r>
              <a:rPr lang="he-IL" dirty="0" err="1"/>
              <a:t>אמיתיות</a:t>
            </a:r>
            <a:r>
              <a:rPr lang="he-IL" dirty="0"/>
              <a:t> ואילו מזויפות.</a:t>
            </a:r>
          </a:p>
          <a:p>
            <a:r>
              <a:rPr lang="he-IL" dirty="0"/>
              <a:t>דוגמה: בתקשורת </a:t>
            </a:r>
            <a:r>
              <a:rPr lang="en-US" dirty="0" smtClean="0"/>
              <a:t> HTTP</a:t>
            </a:r>
            <a:r>
              <a:rPr lang="he-IL" dirty="0" smtClean="0"/>
              <a:t>שאינה </a:t>
            </a:r>
            <a:r>
              <a:rPr lang="he-IL" dirty="0"/>
              <a:t>מוצפנת, ניתן להוסיף חבילות מזויפות כדי להקשות על תוקפים שמנסים לנתח תעבורה</a:t>
            </a:r>
            <a:r>
              <a:rPr lang="he-IL" dirty="0" smtClean="0"/>
              <a:t>.</a:t>
            </a:r>
          </a:p>
          <a:p>
            <a:endParaRPr lang="he-IL" dirty="0" smtClean="0"/>
          </a:p>
          <a:p>
            <a:r>
              <a:rPr lang="he-IL" dirty="0" smtClean="0"/>
              <a:t>ב. </a:t>
            </a:r>
            <a:r>
              <a:rPr lang="he-IL" b="1" dirty="0"/>
              <a:t>הגנה מפני מתקפות ניתוח </a:t>
            </a:r>
            <a:r>
              <a:rPr lang="he-IL" b="1" dirty="0" smtClean="0"/>
              <a:t>תעבורה: </a:t>
            </a:r>
            <a:r>
              <a:rPr lang="he-IL" dirty="0" smtClean="0"/>
              <a:t>מתקפות </a:t>
            </a:r>
            <a:r>
              <a:rPr lang="he-IL" dirty="0"/>
              <a:t>ניתוח </a:t>
            </a:r>
            <a:r>
              <a:rPr lang="he-IL" dirty="0" smtClean="0"/>
              <a:t>תעבורה</a:t>
            </a:r>
            <a:r>
              <a:rPr lang="en-US" dirty="0" smtClean="0"/>
              <a:t> Traffic Analysis </a:t>
            </a:r>
            <a:r>
              <a:rPr lang="he-IL" dirty="0"/>
              <a:t>מנסות לחשוף מידע על בסיס מאפיינים כמו גודל חבילות, זמן שליחה ותדירות</a:t>
            </a:r>
            <a:r>
              <a:rPr lang="he-IL" dirty="0" smtClean="0"/>
              <a:t>.</a:t>
            </a:r>
            <a:endParaRPr lang="he-IL" dirty="0"/>
          </a:p>
          <a:p>
            <a:r>
              <a:rPr lang="he-IL" dirty="0"/>
              <a:t>הוספת </a:t>
            </a:r>
            <a:r>
              <a:rPr lang="en-US" dirty="0" smtClean="0"/>
              <a:t> Chaff</a:t>
            </a:r>
            <a:r>
              <a:rPr lang="he-IL" dirty="0" smtClean="0"/>
              <a:t>גורמת </a:t>
            </a:r>
            <a:r>
              <a:rPr lang="he-IL" dirty="0"/>
              <a:t>לתעבורה להיראות אקראית יותר, מה שמקשה על מתקפות מסוג זה</a:t>
            </a:r>
            <a:r>
              <a:rPr lang="he-IL" dirty="0" smtClean="0"/>
              <a:t>.</a:t>
            </a:r>
          </a:p>
          <a:p>
            <a:endParaRPr lang="he-IL" dirty="0" smtClean="0"/>
          </a:p>
          <a:p>
            <a:r>
              <a:rPr lang="he-IL" dirty="0" smtClean="0"/>
              <a:t>ג. </a:t>
            </a:r>
            <a:r>
              <a:rPr lang="he-IL" b="1" dirty="0"/>
              <a:t>העברת מסרים במדינות עם פיקוח על </a:t>
            </a:r>
            <a:r>
              <a:rPr lang="he-IL" b="1" dirty="0" smtClean="0"/>
              <a:t>הצפנה: </a:t>
            </a:r>
            <a:r>
              <a:rPr lang="he-IL" dirty="0" smtClean="0"/>
              <a:t>במדינות </a:t>
            </a:r>
            <a:r>
              <a:rPr lang="he-IL" dirty="0"/>
              <a:t>שבהן יש מגבלות על שימוש בהצפנה, הטכניקה יכולה לשמש כחלופה להעברת מידע בצורה מאובטחת.</a:t>
            </a:r>
          </a:p>
          <a:p>
            <a:endParaRPr lang="he-IL" dirty="0"/>
          </a:p>
          <a:p>
            <a:endParaRPr lang="he-IL" dirty="0"/>
          </a:p>
          <a:p>
            <a:pPr marL="0" indent="0">
              <a:buNone/>
            </a:pPr>
            <a:endParaRPr lang="he-IL" dirty="0"/>
          </a:p>
        </p:txBody>
      </p:sp>
    </p:spTree>
    <p:extLst>
      <p:ext uri="{BB962C8B-B14F-4D97-AF65-F5344CB8AC3E}">
        <p14:creationId xmlns:p14="http://schemas.microsoft.com/office/powerpoint/2010/main" val="15051337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5353396" y="177082"/>
            <a:ext cx="5771804" cy="1371600"/>
          </a:xfrm>
        </p:spPr>
        <p:txBody>
          <a:bodyPr/>
          <a:lstStyle/>
          <a:p>
            <a:r>
              <a:rPr lang="he-IL" dirty="0"/>
              <a:t>ניתוח אבטחה מתקדם</a:t>
            </a:r>
          </a:p>
        </p:txBody>
      </p:sp>
      <p:sp>
        <p:nvSpPr>
          <p:cNvPr id="3" name="מציין מיקום תוכן 2"/>
          <p:cNvSpPr>
            <a:spLocks noGrp="1"/>
          </p:cNvSpPr>
          <p:nvPr>
            <p:ph idx="1"/>
          </p:nvPr>
        </p:nvSpPr>
        <p:spPr>
          <a:xfrm>
            <a:off x="1066800" y="1862051"/>
            <a:ext cx="10058400" cy="4172989"/>
          </a:xfrm>
        </p:spPr>
        <p:txBody>
          <a:bodyPr>
            <a:normAutofit/>
          </a:bodyPr>
          <a:lstStyle/>
          <a:p>
            <a:r>
              <a:rPr lang="he-IL" sz="2400" b="1" dirty="0"/>
              <a:t>התקפות אפשריות נגד השיטה</a:t>
            </a:r>
            <a:r>
              <a:rPr lang="he-IL" sz="2400" b="1" dirty="0" smtClean="0"/>
              <a:t>:</a:t>
            </a:r>
          </a:p>
          <a:p>
            <a:r>
              <a:rPr lang="he-IL" dirty="0" smtClean="0"/>
              <a:t>1. </a:t>
            </a:r>
            <a:r>
              <a:rPr lang="he-IL" b="1" dirty="0"/>
              <a:t>מתקפות ניחוש </a:t>
            </a:r>
            <a:r>
              <a:rPr lang="he-IL" b="1" dirty="0" smtClean="0"/>
              <a:t>מפתח:</a:t>
            </a:r>
            <a:r>
              <a:rPr lang="he-IL" dirty="0" smtClean="0"/>
              <a:t> תוקף </a:t>
            </a:r>
            <a:r>
              <a:rPr lang="he-IL" dirty="0"/>
              <a:t>עשוי לנסות לנחש את המפתח הסודי כדי לזהות את החבילות </a:t>
            </a:r>
            <a:r>
              <a:rPr lang="he-IL" dirty="0" err="1"/>
              <a:t>האמיתיות</a:t>
            </a:r>
            <a:r>
              <a:rPr lang="he-IL" dirty="0"/>
              <a:t>.</a:t>
            </a:r>
          </a:p>
          <a:p>
            <a:r>
              <a:rPr lang="he-IL" dirty="0"/>
              <a:t>פתרון: שימוש במפתחות חזקים ובפרוטוקולים לניהול מפתחות.</a:t>
            </a:r>
          </a:p>
          <a:p>
            <a:endParaRPr lang="he-IL" dirty="0" smtClean="0"/>
          </a:p>
          <a:p>
            <a:r>
              <a:rPr lang="he-IL" dirty="0" smtClean="0"/>
              <a:t>2. </a:t>
            </a:r>
            <a:r>
              <a:rPr lang="he-IL" b="1" dirty="0"/>
              <a:t>ניתוח מבוסס </a:t>
            </a:r>
            <a:r>
              <a:rPr lang="he-IL" b="1" dirty="0" smtClean="0"/>
              <a:t>תוכן:</a:t>
            </a:r>
            <a:r>
              <a:rPr lang="he-IL" dirty="0" smtClean="0"/>
              <a:t> אם </a:t>
            </a:r>
            <a:r>
              <a:rPr lang="he-IL" dirty="0"/>
              <a:t>החבילות המזויפות נראות שונה מהחבילות </a:t>
            </a:r>
            <a:r>
              <a:rPr lang="he-IL" dirty="0" err="1"/>
              <a:t>האמיתיות</a:t>
            </a:r>
            <a:r>
              <a:rPr lang="he-IL" dirty="0"/>
              <a:t> (למשל, בגודל או במבנה), תוקף יכול לנסות לזהות אותן</a:t>
            </a:r>
            <a:r>
              <a:rPr lang="he-IL" dirty="0" smtClean="0"/>
              <a:t>.</a:t>
            </a:r>
          </a:p>
          <a:p>
            <a:endParaRPr lang="he-IL" dirty="0"/>
          </a:p>
          <a:p>
            <a:r>
              <a:rPr lang="he-IL" dirty="0"/>
              <a:t>פתרון: הקפדה על כך שהחבילות המזויפות ייראו זהות לחבילות </a:t>
            </a:r>
            <a:r>
              <a:rPr lang="he-IL" dirty="0" err="1"/>
              <a:t>האמיתיות</a:t>
            </a:r>
            <a:r>
              <a:rPr lang="he-IL" dirty="0"/>
              <a:t> מבחינת מבנה וגודל.</a:t>
            </a:r>
            <a:endParaRPr lang="he-IL" dirty="0" smtClean="0"/>
          </a:p>
          <a:p>
            <a:r>
              <a:rPr lang="he-IL" dirty="0" smtClean="0"/>
              <a:t>3. </a:t>
            </a:r>
            <a:r>
              <a:rPr lang="he-IL" b="1" dirty="0"/>
              <a:t>מתקפת מניעת שירות </a:t>
            </a:r>
            <a:r>
              <a:rPr lang="en-US" b="1" dirty="0" err="1" smtClean="0"/>
              <a:t>DoS</a:t>
            </a:r>
            <a:r>
              <a:rPr lang="he-IL" dirty="0" smtClean="0"/>
              <a:t>: תוקף </a:t>
            </a:r>
            <a:r>
              <a:rPr lang="he-IL" dirty="0"/>
              <a:t>יכול להציף את התקשורת בכמות גדולה של חבילות מזויפות כדי להפריע למקבל.</a:t>
            </a:r>
          </a:p>
          <a:p>
            <a:r>
              <a:rPr lang="he-IL" dirty="0"/>
              <a:t>פתרון: מנגנוני זיהוי וניפוי חבילות בזמן אמת.</a:t>
            </a:r>
          </a:p>
          <a:p>
            <a:endParaRPr lang="he-IL" dirty="0" smtClean="0"/>
          </a:p>
          <a:p>
            <a:endParaRPr lang="he-IL" dirty="0"/>
          </a:p>
        </p:txBody>
      </p:sp>
    </p:spTree>
    <p:extLst>
      <p:ext uri="{BB962C8B-B14F-4D97-AF65-F5344CB8AC3E}">
        <p14:creationId xmlns:p14="http://schemas.microsoft.com/office/powerpoint/2010/main" val="11118528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167148" y="642594"/>
            <a:ext cx="7958051" cy="1371600"/>
          </a:xfrm>
        </p:spPr>
        <p:txBody>
          <a:bodyPr/>
          <a:lstStyle/>
          <a:p>
            <a:r>
              <a:rPr lang="he-IL" dirty="0"/>
              <a:t>תובנות מתמטיות על יצירת רעש</a:t>
            </a:r>
          </a:p>
        </p:txBody>
      </p:sp>
      <p:sp>
        <p:nvSpPr>
          <p:cNvPr id="3" name="מציין מיקום תוכן 2"/>
          <p:cNvSpPr>
            <a:spLocks noGrp="1"/>
          </p:cNvSpPr>
          <p:nvPr>
            <p:ph idx="1"/>
          </p:nvPr>
        </p:nvSpPr>
        <p:spPr/>
        <p:txBody>
          <a:bodyPr/>
          <a:lstStyle/>
          <a:p>
            <a:r>
              <a:rPr lang="he-IL" dirty="0" smtClean="0"/>
              <a:t>א. </a:t>
            </a:r>
            <a:r>
              <a:rPr lang="he-IL" b="1" dirty="0"/>
              <a:t>פונקציות גיבוב </a:t>
            </a:r>
            <a:r>
              <a:rPr lang="en-US" b="1" dirty="0" smtClean="0"/>
              <a:t>Hash Functions</a:t>
            </a:r>
            <a:r>
              <a:rPr lang="he-IL" b="1" dirty="0" smtClean="0"/>
              <a:t>: </a:t>
            </a:r>
            <a:r>
              <a:rPr lang="he-IL" dirty="0" smtClean="0"/>
              <a:t>פונקציות </a:t>
            </a:r>
            <a:r>
              <a:rPr lang="he-IL" dirty="0"/>
              <a:t>גיבוב משמשות ליצירת קודי </a:t>
            </a:r>
            <a:r>
              <a:rPr lang="en-US" dirty="0" smtClean="0"/>
              <a:t> MAC</a:t>
            </a:r>
            <a:r>
              <a:rPr lang="he-IL" dirty="0" smtClean="0"/>
              <a:t>ולוודא </a:t>
            </a:r>
            <a:r>
              <a:rPr lang="he-IL" dirty="0"/>
              <a:t>שהנתונים לא שונו.</a:t>
            </a:r>
          </a:p>
          <a:p>
            <a:r>
              <a:rPr lang="he-IL" dirty="0"/>
              <a:t>דוגמה: </a:t>
            </a:r>
            <a:r>
              <a:rPr lang="en-US" dirty="0" smtClean="0"/>
              <a:t> SHA-256</a:t>
            </a:r>
            <a:r>
              <a:rPr lang="he-IL" dirty="0" smtClean="0"/>
              <a:t>או </a:t>
            </a:r>
            <a:r>
              <a:rPr lang="en-US" dirty="0" smtClean="0"/>
              <a:t>HMAC</a:t>
            </a:r>
            <a:r>
              <a:rPr lang="he-IL" dirty="0" smtClean="0"/>
              <a:t>.</a:t>
            </a:r>
          </a:p>
          <a:p>
            <a:endParaRPr lang="he-IL" dirty="0"/>
          </a:p>
          <a:p>
            <a:r>
              <a:rPr lang="he-IL" dirty="0" smtClean="0"/>
              <a:t>ב. </a:t>
            </a:r>
            <a:r>
              <a:rPr lang="he-IL" b="1" dirty="0"/>
              <a:t>הדור אקראי של </a:t>
            </a:r>
            <a:r>
              <a:rPr lang="he-IL" b="1" dirty="0" smtClean="0"/>
              <a:t>רעש: </a:t>
            </a:r>
            <a:r>
              <a:rPr lang="he-IL" dirty="0" smtClean="0"/>
              <a:t>הוספת </a:t>
            </a:r>
            <a:r>
              <a:rPr lang="he-IL" dirty="0"/>
              <a:t>רעש </a:t>
            </a:r>
            <a:r>
              <a:rPr lang="en-US" dirty="0" smtClean="0"/>
              <a:t> Chaff</a:t>
            </a:r>
            <a:r>
              <a:rPr lang="he-IL" dirty="0" smtClean="0"/>
              <a:t>דורשת </a:t>
            </a:r>
            <a:r>
              <a:rPr lang="he-IL" dirty="0"/>
              <a:t>יצירת נתונים אקראיים.</a:t>
            </a:r>
          </a:p>
          <a:p>
            <a:r>
              <a:rPr lang="he-IL" dirty="0"/>
              <a:t>חשוב שהנתונים האקראיים ייראו "</a:t>
            </a:r>
            <a:r>
              <a:rPr lang="he-IL" dirty="0" err="1"/>
              <a:t>אמיתיים</a:t>
            </a:r>
            <a:r>
              <a:rPr lang="he-IL" dirty="0"/>
              <a:t>" ככל האפשר כדי למנוע זיהוי.</a:t>
            </a:r>
          </a:p>
          <a:p>
            <a:endParaRPr lang="en-US" dirty="0"/>
          </a:p>
          <a:p>
            <a:endParaRPr lang="he-IL" dirty="0"/>
          </a:p>
        </p:txBody>
      </p:sp>
    </p:spTree>
    <p:extLst>
      <p:ext uri="{BB962C8B-B14F-4D97-AF65-F5344CB8AC3E}">
        <p14:creationId xmlns:p14="http://schemas.microsoft.com/office/powerpoint/2010/main" val="13767182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23949" y="642594"/>
            <a:ext cx="11587941" cy="1371600"/>
          </a:xfrm>
        </p:spPr>
        <p:txBody>
          <a:bodyPr>
            <a:normAutofit fontScale="90000"/>
          </a:bodyPr>
          <a:lstStyle/>
          <a:p>
            <a:r>
              <a:rPr lang="he-IL" dirty="0"/>
              <a:t>קשר </a:t>
            </a:r>
            <a:r>
              <a:rPr lang="he-IL" dirty="0" smtClean="0"/>
              <a:t>בין</a:t>
            </a:r>
            <a:r>
              <a:rPr lang="en-US" dirty="0" smtClean="0"/>
              <a:t> Chaffing </a:t>
            </a:r>
            <a:r>
              <a:rPr lang="en-US" dirty="0"/>
              <a:t>and </a:t>
            </a:r>
            <a:r>
              <a:rPr lang="en-US" dirty="0" smtClean="0"/>
              <a:t>Winnowing </a:t>
            </a:r>
            <a:r>
              <a:rPr lang="he-IL" dirty="0" err="1" smtClean="0"/>
              <a:t>לסטגנוגרפיה</a:t>
            </a:r>
            <a:endParaRPr lang="he-IL" dirty="0"/>
          </a:p>
        </p:txBody>
      </p:sp>
      <p:sp>
        <p:nvSpPr>
          <p:cNvPr id="3" name="מציין מיקום תוכן 2"/>
          <p:cNvSpPr>
            <a:spLocks noGrp="1"/>
          </p:cNvSpPr>
          <p:nvPr>
            <p:ph idx="1"/>
          </p:nvPr>
        </p:nvSpPr>
        <p:spPr/>
        <p:txBody>
          <a:bodyPr/>
          <a:lstStyle/>
          <a:p>
            <a:r>
              <a:rPr lang="he-IL" b="1" dirty="0" err="1"/>
              <a:t>סטגנוגרפיה</a:t>
            </a:r>
            <a:r>
              <a:rPr lang="he-IL" dirty="0"/>
              <a:t> עוסקת בהסתרת מידע בתוך מדיה (תמונה, וידאו, אודיו), ואילו </a:t>
            </a:r>
            <a:r>
              <a:rPr lang="en-US" dirty="0"/>
              <a:t>Chaffing and Winnowing </a:t>
            </a:r>
            <a:r>
              <a:rPr lang="he-IL" dirty="0"/>
              <a:t>עוסקת בהסוואת המידע בתוך זרם נתונים</a:t>
            </a:r>
            <a:r>
              <a:rPr lang="he-IL" dirty="0" smtClean="0"/>
              <a:t>.</a:t>
            </a:r>
          </a:p>
          <a:p>
            <a:r>
              <a:rPr lang="he-IL" dirty="0"/>
              <a:t>השיטה </a:t>
            </a:r>
            <a:r>
              <a:rPr lang="he-IL" dirty="0" smtClean="0"/>
              <a:t>של</a:t>
            </a:r>
            <a:r>
              <a:rPr lang="en-US" dirty="0" smtClean="0"/>
              <a:t> Chaffing </a:t>
            </a:r>
            <a:r>
              <a:rPr lang="he-IL" dirty="0"/>
              <a:t>יכולה להשתלב עם </a:t>
            </a:r>
            <a:r>
              <a:rPr lang="he-IL" dirty="0" err="1"/>
              <a:t>סטגנוגרפיה</a:t>
            </a:r>
            <a:r>
              <a:rPr lang="he-IL" dirty="0"/>
              <a:t>, </a:t>
            </a:r>
            <a:r>
              <a:rPr lang="he-IL" dirty="0" smtClean="0"/>
              <a:t>למשל:</a:t>
            </a:r>
          </a:p>
          <a:p>
            <a:r>
              <a:rPr lang="he-IL" dirty="0"/>
              <a:t>מידע שמוסתר בתמונה מחולק לחבילות מידע, ולאחר מכן מתווסף רעש </a:t>
            </a:r>
            <a:r>
              <a:rPr lang="en-US" dirty="0" smtClean="0"/>
              <a:t>Chaff</a:t>
            </a:r>
            <a:r>
              <a:rPr lang="he-IL" dirty="0" smtClean="0"/>
              <a:t> שמסתיר </a:t>
            </a:r>
            <a:r>
              <a:rPr lang="he-IL" dirty="0"/>
              <a:t>את החבילות </a:t>
            </a:r>
            <a:r>
              <a:rPr lang="he-IL" dirty="0" err="1"/>
              <a:t>האמיתיות</a:t>
            </a:r>
            <a:r>
              <a:rPr lang="he-IL" dirty="0"/>
              <a:t>.</a:t>
            </a:r>
          </a:p>
        </p:txBody>
      </p:sp>
    </p:spTree>
    <p:extLst>
      <p:ext uri="{BB962C8B-B14F-4D97-AF65-F5344CB8AC3E}">
        <p14:creationId xmlns:p14="http://schemas.microsoft.com/office/powerpoint/2010/main" val="30170680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185564" y="642594"/>
            <a:ext cx="1939636" cy="1371600"/>
          </a:xfrm>
        </p:spPr>
        <p:txBody>
          <a:bodyPr/>
          <a:lstStyle/>
          <a:p>
            <a:r>
              <a:rPr lang="he-IL" dirty="0" smtClean="0"/>
              <a:t>שאלות</a:t>
            </a:r>
            <a:endParaRPr lang="he-IL" dirty="0"/>
          </a:p>
        </p:txBody>
      </p:sp>
      <p:sp>
        <p:nvSpPr>
          <p:cNvPr id="3" name="מציין מיקום תוכן 2"/>
          <p:cNvSpPr>
            <a:spLocks noGrp="1"/>
          </p:cNvSpPr>
          <p:nvPr>
            <p:ph idx="1"/>
          </p:nvPr>
        </p:nvSpPr>
        <p:spPr/>
        <p:txBody>
          <a:bodyPr/>
          <a:lstStyle/>
          <a:p>
            <a:r>
              <a:rPr lang="he-IL" dirty="0" smtClean="0"/>
              <a:t>1</a:t>
            </a:r>
            <a:r>
              <a:rPr lang="he-IL" dirty="0"/>
              <a:t>. מהם </a:t>
            </a:r>
            <a:r>
              <a:rPr lang="he-IL" dirty="0" smtClean="0"/>
              <a:t>המונחים</a:t>
            </a:r>
            <a:r>
              <a:rPr lang="en-US" dirty="0" smtClean="0"/>
              <a:t>Chaff </a:t>
            </a:r>
            <a:r>
              <a:rPr lang="he-IL" dirty="0" smtClean="0"/>
              <a:t> ו- </a:t>
            </a:r>
            <a:r>
              <a:rPr lang="en-US" dirty="0" smtClean="0"/>
              <a:t>Winnowing</a:t>
            </a:r>
            <a:r>
              <a:rPr lang="he-IL" dirty="0" smtClean="0"/>
              <a:t> בטכניקה </a:t>
            </a:r>
            <a:r>
              <a:rPr lang="he-IL" dirty="0"/>
              <a:t>זו?</a:t>
            </a:r>
            <a:endParaRPr lang="he-IL" dirty="0" smtClean="0"/>
          </a:p>
          <a:p>
            <a:r>
              <a:rPr lang="he-IL" dirty="0" smtClean="0"/>
              <a:t>2</a:t>
            </a:r>
            <a:r>
              <a:rPr lang="he-IL" dirty="0"/>
              <a:t>. מה ההבדל בין הטכניקה הזו לבין הצפנה?</a:t>
            </a:r>
            <a:endParaRPr lang="he-IL" dirty="0" smtClean="0"/>
          </a:p>
          <a:p>
            <a:r>
              <a:rPr lang="he-IL" dirty="0" smtClean="0"/>
              <a:t>3</a:t>
            </a:r>
            <a:r>
              <a:rPr lang="he-IL" dirty="0"/>
              <a:t>. לשם מה נדרש המפתח הסודי?</a:t>
            </a:r>
            <a:endParaRPr lang="he-IL" dirty="0" smtClean="0"/>
          </a:p>
          <a:p>
            <a:r>
              <a:rPr lang="he-IL" dirty="0" smtClean="0"/>
              <a:t>4</a:t>
            </a:r>
            <a:r>
              <a:rPr lang="he-IL" dirty="0"/>
              <a:t>. כיצד תוקף יכול לנסות לתקוף את המערכת, ומה מקשה עליו להצליח?</a:t>
            </a:r>
            <a:endParaRPr lang="he-IL" dirty="0" smtClean="0"/>
          </a:p>
          <a:p>
            <a:r>
              <a:rPr lang="he-IL" dirty="0" smtClean="0"/>
              <a:t>5</a:t>
            </a:r>
            <a:r>
              <a:rPr lang="he-IL" dirty="0"/>
              <a:t>. מה יקרה אם תוקף ישיג את המפתח הסודי</a:t>
            </a:r>
          </a:p>
        </p:txBody>
      </p:sp>
    </p:spTree>
    <p:extLst>
      <p:ext uri="{BB962C8B-B14F-4D97-AF65-F5344CB8AC3E}">
        <p14:creationId xmlns:p14="http://schemas.microsoft.com/office/powerpoint/2010/main" val="16370102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986058" y="642594"/>
            <a:ext cx="2139142" cy="1371600"/>
          </a:xfrm>
        </p:spPr>
        <p:txBody>
          <a:bodyPr/>
          <a:lstStyle/>
          <a:p>
            <a:r>
              <a:rPr lang="he-IL" dirty="0" smtClean="0"/>
              <a:t>תשובות</a:t>
            </a:r>
            <a:endParaRPr lang="he-IL" dirty="0"/>
          </a:p>
        </p:txBody>
      </p:sp>
      <p:sp>
        <p:nvSpPr>
          <p:cNvPr id="3" name="מציין מיקום תוכן 2"/>
          <p:cNvSpPr>
            <a:spLocks noGrp="1"/>
          </p:cNvSpPr>
          <p:nvPr>
            <p:ph idx="1"/>
          </p:nvPr>
        </p:nvSpPr>
        <p:spPr/>
        <p:txBody>
          <a:bodyPr/>
          <a:lstStyle/>
          <a:p>
            <a:r>
              <a:rPr lang="he-IL" dirty="0" smtClean="0"/>
              <a:t>1.</a:t>
            </a:r>
            <a:r>
              <a:rPr lang="en-US" dirty="0" smtClean="0"/>
              <a:t>Chaff </a:t>
            </a:r>
            <a:r>
              <a:rPr lang="he-IL" dirty="0" smtClean="0"/>
              <a:t> הם </a:t>
            </a:r>
            <a:r>
              <a:rPr lang="he-IL" dirty="0"/>
              <a:t>נתונים מזויפים שמתווספים לזרם המידע, </a:t>
            </a:r>
            <a:r>
              <a:rPr lang="he-IL" dirty="0" smtClean="0"/>
              <a:t>ו-</a:t>
            </a:r>
            <a:r>
              <a:rPr lang="en-US" dirty="0" smtClean="0"/>
              <a:t> Winnowing </a:t>
            </a:r>
            <a:r>
              <a:rPr lang="he-IL" dirty="0"/>
              <a:t>הוא תהליך שמאפשר לזהות ולנפות את הנתונים </a:t>
            </a:r>
            <a:r>
              <a:rPr lang="he-IL" dirty="0" err="1"/>
              <a:t>האמיתיים</a:t>
            </a:r>
            <a:r>
              <a:rPr lang="he-IL" dirty="0"/>
              <a:t> מתוך זרם המידע</a:t>
            </a:r>
            <a:r>
              <a:rPr lang="he-IL" dirty="0" smtClean="0"/>
              <a:t>.</a:t>
            </a:r>
          </a:p>
          <a:p>
            <a:r>
              <a:rPr lang="he-IL" dirty="0"/>
              <a:t>2. בטכניקת </a:t>
            </a:r>
            <a:r>
              <a:rPr lang="en-US" dirty="0" smtClean="0"/>
              <a:t> Chaffing </a:t>
            </a:r>
            <a:r>
              <a:rPr lang="en-US" dirty="0"/>
              <a:t>and </a:t>
            </a:r>
            <a:r>
              <a:rPr lang="en-US" dirty="0" smtClean="0"/>
              <a:t>Winnowing</a:t>
            </a:r>
            <a:r>
              <a:rPr lang="he-IL" dirty="0" smtClean="0"/>
              <a:t>המידע </a:t>
            </a:r>
            <a:r>
              <a:rPr lang="he-IL" dirty="0"/>
              <a:t>אינו מוצפן, אלא משתמשים בקודי אימות כדי להבדיל בין נתונים </a:t>
            </a:r>
            <a:r>
              <a:rPr lang="he-IL" dirty="0" err="1"/>
              <a:t>אמיתיים</a:t>
            </a:r>
            <a:r>
              <a:rPr lang="he-IL" dirty="0"/>
              <a:t> למזויפים, בעוד שבהצפנה המידע מוגן על ידי הפיכתו לבלתי קריא.</a:t>
            </a:r>
            <a:endParaRPr lang="he-IL" dirty="0" smtClean="0"/>
          </a:p>
          <a:p>
            <a:r>
              <a:rPr lang="he-IL" dirty="0" smtClean="0"/>
              <a:t>3</a:t>
            </a:r>
            <a:r>
              <a:rPr lang="he-IL" dirty="0"/>
              <a:t>. המפתח הסודי נדרש כדי לחשב את קודי </a:t>
            </a:r>
            <a:r>
              <a:rPr lang="he-IL" dirty="0" smtClean="0"/>
              <a:t>ה-</a:t>
            </a:r>
            <a:r>
              <a:rPr lang="en-US" dirty="0" smtClean="0"/>
              <a:t> MAC </a:t>
            </a:r>
            <a:r>
              <a:rPr lang="he-IL" dirty="0"/>
              <a:t>ולזהות חבילות מידע </a:t>
            </a:r>
            <a:r>
              <a:rPr lang="he-IL" dirty="0" err="1"/>
              <a:t>אמיתיות</a:t>
            </a:r>
            <a:r>
              <a:rPr lang="he-IL" dirty="0"/>
              <a:t>.</a:t>
            </a:r>
            <a:endParaRPr lang="he-IL" dirty="0" smtClean="0"/>
          </a:p>
          <a:p>
            <a:r>
              <a:rPr lang="he-IL" dirty="0" smtClean="0"/>
              <a:t>4</a:t>
            </a:r>
            <a:r>
              <a:rPr lang="he-IL" dirty="0"/>
              <a:t>. תוקף יכול לנסות לזהות חבילות מידע </a:t>
            </a:r>
            <a:r>
              <a:rPr lang="he-IL" dirty="0" err="1"/>
              <a:t>אמיתיות</a:t>
            </a:r>
            <a:r>
              <a:rPr lang="he-IL" dirty="0"/>
              <a:t> באמצעות ניתוח סטטיסטי או בדיקה שיטתית. עם זאת, כמות ה-</a:t>
            </a:r>
            <a:r>
              <a:rPr lang="en-US" dirty="0"/>
              <a:t>Chaff </a:t>
            </a:r>
            <a:r>
              <a:rPr lang="he-IL" dirty="0" smtClean="0"/>
              <a:t> והרעש </a:t>
            </a:r>
            <a:r>
              <a:rPr lang="he-IL" dirty="0"/>
              <a:t>גורמת לכך שיהיה לו קשה להפריד בין חבילות </a:t>
            </a:r>
            <a:r>
              <a:rPr lang="he-IL" dirty="0" err="1"/>
              <a:t>אמיתיות</a:t>
            </a:r>
            <a:r>
              <a:rPr lang="he-IL" dirty="0"/>
              <a:t> למזויפות ללא המפתח הסודי.</a:t>
            </a:r>
            <a:endParaRPr lang="he-IL" dirty="0" smtClean="0"/>
          </a:p>
          <a:p>
            <a:r>
              <a:rPr lang="he-IL" dirty="0" smtClean="0"/>
              <a:t>5</a:t>
            </a:r>
            <a:r>
              <a:rPr lang="he-IL" dirty="0"/>
              <a:t>. אם התוקף ישיג את המפתח הסודי, הוא יוכל לזהות את החבילות </a:t>
            </a:r>
            <a:r>
              <a:rPr lang="he-IL" dirty="0" err="1"/>
              <a:t>האמיתיות</a:t>
            </a:r>
            <a:r>
              <a:rPr lang="he-IL" dirty="0"/>
              <a:t> ולקרוא את המידע המועבר. זו נקודת תורפה בטכניקה.</a:t>
            </a:r>
            <a:endParaRPr lang="he-IL" dirty="0" smtClean="0"/>
          </a:p>
          <a:p>
            <a:endParaRPr lang="he-IL" dirty="0"/>
          </a:p>
        </p:txBody>
      </p:sp>
    </p:spTree>
    <p:extLst>
      <p:ext uri="{BB962C8B-B14F-4D97-AF65-F5344CB8AC3E}">
        <p14:creationId xmlns:p14="http://schemas.microsoft.com/office/powerpoint/2010/main" val="350105013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1083426" y="2435629"/>
            <a:ext cx="10058400" cy="3931920"/>
          </a:xfrm>
        </p:spPr>
        <p:txBody>
          <a:bodyPr>
            <a:normAutofit/>
          </a:bodyPr>
          <a:lstStyle/>
          <a:p>
            <a:pPr algn="ctr"/>
            <a:r>
              <a:rPr lang="en-US" sz="6000" dirty="0"/>
              <a:t>Null Cipher</a:t>
            </a:r>
            <a:endParaRPr lang="he-IL" sz="6000" dirty="0"/>
          </a:p>
        </p:txBody>
      </p:sp>
    </p:spTree>
    <p:extLst>
      <p:ext uri="{BB962C8B-B14F-4D97-AF65-F5344CB8AC3E}">
        <p14:creationId xmlns:p14="http://schemas.microsoft.com/office/powerpoint/2010/main" val="16376768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6467302" y="642594"/>
            <a:ext cx="4657897" cy="1371600"/>
          </a:xfrm>
        </p:spPr>
        <p:txBody>
          <a:bodyPr/>
          <a:lstStyle/>
          <a:p>
            <a:r>
              <a:rPr lang="he-IL" dirty="0" smtClean="0"/>
              <a:t>מהו </a:t>
            </a:r>
            <a:r>
              <a:rPr lang="en-US" dirty="0"/>
              <a:t>Null Cipher</a:t>
            </a:r>
            <a:endParaRPr lang="he-IL" dirty="0"/>
          </a:p>
        </p:txBody>
      </p:sp>
      <p:sp>
        <p:nvSpPr>
          <p:cNvPr id="3" name="מציין מיקום תוכן 2"/>
          <p:cNvSpPr>
            <a:spLocks noGrp="1"/>
          </p:cNvSpPr>
          <p:nvPr>
            <p:ph idx="1"/>
          </p:nvPr>
        </p:nvSpPr>
        <p:spPr/>
        <p:txBody>
          <a:bodyPr/>
          <a:lstStyle/>
          <a:p>
            <a:r>
              <a:rPr lang="en-US" b="1" dirty="0" smtClean="0"/>
              <a:t> Null Cipher</a:t>
            </a:r>
            <a:r>
              <a:rPr lang="he-IL" dirty="0" smtClean="0"/>
              <a:t>הוא </a:t>
            </a:r>
            <a:r>
              <a:rPr lang="he-IL" dirty="0"/>
              <a:t>טכניקת הסתרה פשוטה ועתיקה שמשתמשת בטקסט רגיל כדי להחביא מסר סודי. </a:t>
            </a:r>
            <a:endParaRPr lang="he-IL" dirty="0" smtClean="0"/>
          </a:p>
          <a:p>
            <a:endParaRPr lang="he-IL" dirty="0"/>
          </a:p>
          <a:p>
            <a:r>
              <a:rPr lang="he-IL" b="1" dirty="0" smtClean="0"/>
              <a:t>הגדרה:</a:t>
            </a:r>
            <a:endParaRPr lang="he-IL" b="1" dirty="0"/>
          </a:p>
          <a:p>
            <a:r>
              <a:rPr lang="en-US" dirty="0" smtClean="0"/>
              <a:t> Null Cipher</a:t>
            </a:r>
            <a:r>
              <a:rPr lang="he-IL" dirty="0" smtClean="0"/>
              <a:t>הוא </a:t>
            </a:r>
            <a:r>
              <a:rPr lang="he-IL" dirty="0"/>
              <a:t>סוג של </a:t>
            </a:r>
            <a:r>
              <a:rPr lang="he-IL" dirty="0" err="1"/>
              <a:t>סטגנוגרפיה</a:t>
            </a:r>
            <a:r>
              <a:rPr lang="he-IL" dirty="0"/>
              <a:t> טקסטואלית שבו המסר המוסתר נשמר בטקסט רגיל על ידי שימוש באותיות נבחרות ממילים, משפטים או פסקאות. המסר המוסתר מוסווה כחלק מהטקסט, ולכן מי שאינו יודע את הכלל לא יוכל לקרוא את המידע.</a:t>
            </a:r>
          </a:p>
          <a:p>
            <a:endParaRPr lang="he-IL" dirty="0"/>
          </a:p>
        </p:txBody>
      </p:sp>
    </p:spTree>
    <p:extLst>
      <p:ext uri="{BB962C8B-B14F-4D97-AF65-F5344CB8AC3E}">
        <p14:creationId xmlns:p14="http://schemas.microsoft.com/office/powerpoint/2010/main" val="275545906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588625" y="226958"/>
            <a:ext cx="6536575" cy="1371600"/>
          </a:xfrm>
        </p:spPr>
        <p:txBody>
          <a:bodyPr/>
          <a:lstStyle/>
          <a:p>
            <a:r>
              <a:rPr lang="he-IL" dirty="0"/>
              <a:t>דוגמאות לשימוש בטכניקה</a:t>
            </a:r>
          </a:p>
        </p:txBody>
      </p:sp>
      <p:sp>
        <p:nvSpPr>
          <p:cNvPr id="3" name="מציין מיקום תוכן 2"/>
          <p:cNvSpPr>
            <a:spLocks noGrp="1"/>
          </p:cNvSpPr>
          <p:nvPr>
            <p:ph idx="1"/>
          </p:nvPr>
        </p:nvSpPr>
        <p:spPr>
          <a:xfrm>
            <a:off x="1066800" y="1598557"/>
            <a:ext cx="10058400" cy="4536235"/>
          </a:xfrm>
        </p:spPr>
        <p:txBody>
          <a:bodyPr>
            <a:normAutofit lnSpcReduction="10000"/>
          </a:bodyPr>
          <a:lstStyle/>
          <a:p>
            <a:r>
              <a:rPr lang="he-IL" dirty="0" smtClean="0"/>
              <a:t>1. </a:t>
            </a:r>
            <a:r>
              <a:rPr lang="he-IL" b="1" dirty="0"/>
              <a:t>בחירת אותיות לפי מיקום מסוים</a:t>
            </a:r>
            <a:r>
              <a:rPr lang="he-IL" dirty="0"/>
              <a:t/>
            </a:r>
            <a:br>
              <a:rPr lang="he-IL" dirty="0"/>
            </a:br>
            <a:r>
              <a:rPr lang="he-IL" dirty="0"/>
              <a:t>לדוגמה:</a:t>
            </a:r>
            <a:br>
              <a:rPr lang="he-IL" dirty="0"/>
            </a:br>
            <a:r>
              <a:rPr lang="he-IL" dirty="0"/>
              <a:t>טקסט</a:t>
            </a:r>
            <a:r>
              <a:rPr lang="he-IL" dirty="0" smtClean="0"/>
              <a:t>:</a:t>
            </a:r>
          </a:p>
          <a:p>
            <a:r>
              <a:rPr lang="he-IL" dirty="0"/>
              <a:t>"אני אוהב לטייל בים בשבתות ולצפות בשקיעה."</a:t>
            </a:r>
            <a:br>
              <a:rPr lang="he-IL" dirty="0"/>
            </a:br>
            <a:r>
              <a:rPr lang="he-IL" dirty="0"/>
              <a:t>כלל: קח את האות הראשונה של כל מילה.</a:t>
            </a:r>
            <a:br>
              <a:rPr lang="he-IL" dirty="0"/>
            </a:br>
            <a:r>
              <a:rPr lang="he-IL" dirty="0"/>
              <a:t>מסר: "</a:t>
            </a:r>
            <a:r>
              <a:rPr lang="he-IL" dirty="0" err="1"/>
              <a:t>אולטבבבשו</a:t>
            </a:r>
            <a:r>
              <a:rPr lang="he-IL" dirty="0"/>
              <a:t>" (לא בהכרח קריא</a:t>
            </a:r>
            <a:r>
              <a:rPr lang="he-IL" dirty="0" smtClean="0"/>
              <a:t>).</a:t>
            </a:r>
          </a:p>
          <a:p>
            <a:r>
              <a:rPr lang="he-IL" dirty="0" smtClean="0"/>
              <a:t>2. </a:t>
            </a:r>
            <a:r>
              <a:rPr lang="he-IL" b="1" dirty="0"/>
              <a:t>בחירת אותיות לפי תבנית ידועה מראש</a:t>
            </a:r>
            <a:r>
              <a:rPr lang="he-IL" dirty="0"/>
              <a:t/>
            </a:r>
            <a:br>
              <a:rPr lang="he-IL" dirty="0"/>
            </a:br>
            <a:r>
              <a:rPr lang="he-IL" dirty="0"/>
              <a:t>לדוגמה:</a:t>
            </a:r>
            <a:br>
              <a:rPr lang="he-IL" dirty="0"/>
            </a:br>
            <a:r>
              <a:rPr lang="he-IL" dirty="0"/>
              <a:t>טקסט</a:t>
            </a:r>
            <a:r>
              <a:rPr lang="he-IL" dirty="0" smtClean="0"/>
              <a:t>:</a:t>
            </a:r>
          </a:p>
          <a:p>
            <a:r>
              <a:rPr lang="he-IL" dirty="0"/>
              <a:t>"ליל הסערה היה קר וגשום, ופתאום נשמעה דפיקה בדלת."</a:t>
            </a:r>
            <a:br>
              <a:rPr lang="he-IL" dirty="0"/>
            </a:br>
            <a:r>
              <a:rPr lang="he-IL" dirty="0"/>
              <a:t>כלל: קח את האות השלישית מכל מילה.</a:t>
            </a:r>
            <a:br>
              <a:rPr lang="he-IL" dirty="0"/>
            </a:br>
            <a:r>
              <a:rPr lang="he-IL" dirty="0"/>
              <a:t>מסר: "</a:t>
            </a:r>
            <a:r>
              <a:rPr lang="he-IL" dirty="0" err="1"/>
              <a:t>סההווםפעהקה</a:t>
            </a:r>
            <a:r>
              <a:rPr lang="he-IL" dirty="0" smtClean="0"/>
              <a:t>".</a:t>
            </a:r>
          </a:p>
          <a:p>
            <a:r>
              <a:rPr lang="he-IL" dirty="0" smtClean="0"/>
              <a:t>3. </a:t>
            </a:r>
            <a:r>
              <a:rPr lang="he-IL" b="1" dirty="0"/>
              <a:t>שימוש במרווחים בין מילים או בפיסוק</a:t>
            </a:r>
            <a:r>
              <a:rPr lang="he-IL" dirty="0"/>
              <a:t/>
            </a:r>
            <a:br>
              <a:rPr lang="he-IL" dirty="0"/>
            </a:br>
            <a:r>
              <a:rPr lang="he-IL" dirty="0"/>
              <a:t>לדוגמה:</a:t>
            </a:r>
            <a:br>
              <a:rPr lang="he-IL" dirty="0"/>
            </a:br>
            <a:r>
              <a:rPr lang="he-IL" dirty="0"/>
              <a:t>הטקסט הרגיל מכיל מסר נסתר שמפוענח לפי מרחקים בין המילים או סימני הפיסוק.</a:t>
            </a:r>
          </a:p>
        </p:txBody>
      </p:sp>
    </p:spTree>
    <p:extLst>
      <p:ext uri="{BB962C8B-B14F-4D97-AF65-F5344CB8AC3E}">
        <p14:creationId xmlns:p14="http://schemas.microsoft.com/office/powerpoint/2010/main" val="417109800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173884" y="642594"/>
            <a:ext cx="3951316" cy="1371600"/>
          </a:xfrm>
        </p:spPr>
        <p:txBody>
          <a:bodyPr/>
          <a:lstStyle/>
          <a:p>
            <a:r>
              <a:rPr lang="he-IL" dirty="0"/>
              <a:t>יתרונות השיטה</a:t>
            </a:r>
          </a:p>
        </p:txBody>
      </p:sp>
      <p:sp>
        <p:nvSpPr>
          <p:cNvPr id="3" name="מציין מיקום תוכן 2"/>
          <p:cNvSpPr>
            <a:spLocks noGrp="1"/>
          </p:cNvSpPr>
          <p:nvPr>
            <p:ph idx="1"/>
          </p:nvPr>
        </p:nvSpPr>
        <p:spPr/>
        <p:txBody>
          <a:bodyPr/>
          <a:lstStyle/>
          <a:p>
            <a:r>
              <a:rPr lang="he-IL" dirty="0" smtClean="0"/>
              <a:t>1. </a:t>
            </a:r>
            <a:r>
              <a:rPr lang="he-IL" b="1" dirty="0"/>
              <a:t>פשטות:</a:t>
            </a:r>
            <a:r>
              <a:rPr lang="he-IL" dirty="0"/>
              <a:t> אינה דורשת טכנולוגיה מתקדמת או תוכנה מיוחדת</a:t>
            </a:r>
            <a:r>
              <a:rPr lang="he-IL" dirty="0" smtClean="0"/>
              <a:t>.</a:t>
            </a:r>
          </a:p>
          <a:p>
            <a:endParaRPr lang="he-IL" dirty="0" smtClean="0"/>
          </a:p>
          <a:p>
            <a:r>
              <a:rPr lang="he-IL" dirty="0" smtClean="0"/>
              <a:t>2. </a:t>
            </a:r>
            <a:r>
              <a:rPr lang="he-IL" b="1" dirty="0"/>
              <a:t>התמזגות טבעית:</a:t>
            </a:r>
            <a:r>
              <a:rPr lang="he-IL" dirty="0"/>
              <a:t> הטקסט נראה רגיל לחלוטין ולא מעורר חשד</a:t>
            </a:r>
            <a:r>
              <a:rPr lang="he-IL" dirty="0" smtClean="0"/>
              <a:t>.</a:t>
            </a:r>
          </a:p>
          <a:p>
            <a:endParaRPr lang="he-IL" dirty="0" smtClean="0"/>
          </a:p>
          <a:p>
            <a:r>
              <a:rPr lang="he-IL" dirty="0" smtClean="0"/>
              <a:t>3. </a:t>
            </a:r>
            <a:r>
              <a:rPr lang="he-IL" b="1" dirty="0"/>
              <a:t>עמידות לזיהוי אוטומטי:</a:t>
            </a:r>
            <a:r>
              <a:rPr lang="he-IL" dirty="0"/>
              <a:t> קשה לכלים אוטומטיים לחשוף את המסר אם הכלל אינו ידוע.</a:t>
            </a:r>
            <a:endParaRPr lang="he-IL" dirty="0" smtClean="0"/>
          </a:p>
          <a:p>
            <a:endParaRPr lang="he-IL" dirty="0"/>
          </a:p>
        </p:txBody>
      </p:sp>
    </p:spTree>
    <p:extLst>
      <p:ext uri="{BB962C8B-B14F-4D97-AF65-F5344CB8AC3E}">
        <p14:creationId xmlns:p14="http://schemas.microsoft.com/office/powerpoint/2010/main" val="18328480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818014" y="642594"/>
            <a:ext cx="8307185" cy="1371600"/>
          </a:xfrm>
        </p:spPr>
        <p:txBody>
          <a:bodyPr/>
          <a:lstStyle/>
          <a:p>
            <a:r>
              <a:rPr lang="he-IL" dirty="0"/>
              <a:t>יתרונות טקטיים של </a:t>
            </a:r>
            <a:r>
              <a:rPr lang="en-US" dirty="0"/>
              <a:t>Null Cipher</a:t>
            </a:r>
            <a:endParaRPr lang="he-IL" dirty="0"/>
          </a:p>
        </p:txBody>
      </p:sp>
      <p:sp>
        <p:nvSpPr>
          <p:cNvPr id="3" name="מציין מיקום תוכן 2"/>
          <p:cNvSpPr>
            <a:spLocks noGrp="1"/>
          </p:cNvSpPr>
          <p:nvPr>
            <p:ph idx="1"/>
          </p:nvPr>
        </p:nvSpPr>
        <p:spPr/>
        <p:txBody>
          <a:bodyPr/>
          <a:lstStyle/>
          <a:p>
            <a:r>
              <a:rPr lang="he-IL" dirty="0" smtClean="0"/>
              <a:t>1. </a:t>
            </a:r>
            <a:r>
              <a:rPr lang="he-IL" b="1" dirty="0"/>
              <a:t>טבעיות ופשטות:</a:t>
            </a:r>
          </a:p>
          <a:p>
            <a:r>
              <a:rPr lang="he-IL" dirty="0"/>
              <a:t>המראה הטבעי של הטקסט מאפשר להעביר מסרים סודיים מבלי לעורר חשד.</a:t>
            </a:r>
          </a:p>
          <a:p>
            <a:endParaRPr lang="he-IL" dirty="0" smtClean="0"/>
          </a:p>
          <a:p>
            <a:r>
              <a:rPr lang="he-IL" dirty="0" smtClean="0"/>
              <a:t>2. </a:t>
            </a:r>
            <a:r>
              <a:rPr lang="he-IL" b="1" dirty="0"/>
              <a:t>קלות יישום:</a:t>
            </a:r>
          </a:p>
          <a:p>
            <a:r>
              <a:rPr lang="he-IL" dirty="0"/>
              <a:t>אין צורך בטכנולוגיה מיוחדת או במפתחות הצפנה.</a:t>
            </a:r>
          </a:p>
          <a:p>
            <a:endParaRPr lang="he-IL" dirty="0" smtClean="0"/>
          </a:p>
          <a:p>
            <a:r>
              <a:rPr lang="he-IL" dirty="0" smtClean="0"/>
              <a:t>3. </a:t>
            </a:r>
            <a:r>
              <a:rPr lang="he-IL" b="1" dirty="0"/>
              <a:t>עמידות בפני כלי ניתוח בסיסיים:</a:t>
            </a:r>
          </a:p>
          <a:p>
            <a:r>
              <a:rPr lang="en-US" dirty="0"/>
              <a:t>Null </a:t>
            </a:r>
            <a:r>
              <a:rPr lang="en-US" dirty="0" smtClean="0"/>
              <a:t>Cipher</a:t>
            </a:r>
            <a:r>
              <a:rPr lang="he-IL" dirty="0" smtClean="0"/>
              <a:t> יעיל </a:t>
            </a:r>
            <a:r>
              <a:rPr lang="he-IL" dirty="0"/>
              <a:t>במיוחד כאשר הכללים מורכבים או משתנים, כי קשה לנתח את המידע באופן אוטומטי.</a:t>
            </a:r>
          </a:p>
          <a:p>
            <a:endParaRPr lang="he-IL" dirty="0" smtClean="0"/>
          </a:p>
          <a:p>
            <a:endParaRPr lang="he-IL" dirty="0"/>
          </a:p>
        </p:txBody>
      </p:sp>
    </p:spTree>
    <p:extLst>
      <p:ext uri="{BB962C8B-B14F-4D97-AF65-F5344CB8AC3E}">
        <p14:creationId xmlns:p14="http://schemas.microsoft.com/office/powerpoint/2010/main" val="118238296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6991004" y="642594"/>
            <a:ext cx="4134196" cy="1371600"/>
          </a:xfrm>
        </p:spPr>
        <p:txBody>
          <a:bodyPr/>
          <a:lstStyle/>
          <a:p>
            <a:r>
              <a:rPr lang="he-IL" dirty="0"/>
              <a:t>חסרונות השיטה</a:t>
            </a:r>
          </a:p>
        </p:txBody>
      </p:sp>
      <p:sp>
        <p:nvSpPr>
          <p:cNvPr id="3" name="מציין מיקום תוכן 2"/>
          <p:cNvSpPr>
            <a:spLocks noGrp="1"/>
          </p:cNvSpPr>
          <p:nvPr>
            <p:ph idx="1"/>
          </p:nvPr>
        </p:nvSpPr>
        <p:spPr/>
        <p:txBody>
          <a:bodyPr/>
          <a:lstStyle/>
          <a:p>
            <a:r>
              <a:rPr lang="he-IL" dirty="0" smtClean="0"/>
              <a:t>1. </a:t>
            </a:r>
            <a:r>
              <a:rPr lang="he-IL" b="1" dirty="0"/>
              <a:t>מוגבלת בכמות המידע:</a:t>
            </a:r>
            <a:r>
              <a:rPr lang="he-IL" dirty="0"/>
              <a:t> כמות המידע שניתן להסתיר מוגבלת </a:t>
            </a:r>
            <a:r>
              <a:rPr lang="he-IL" dirty="0" smtClean="0"/>
              <a:t>מאוד</a:t>
            </a:r>
          </a:p>
          <a:p>
            <a:endParaRPr lang="he-IL" dirty="0" smtClean="0"/>
          </a:p>
          <a:p>
            <a:r>
              <a:rPr lang="he-IL" dirty="0" smtClean="0"/>
              <a:t>2. </a:t>
            </a:r>
            <a:r>
              <a:rPr lang="he-IL" b="1" dirty="0"/>
              <a:t>רגישות לחשיפת הכלל:</a:t>
            </a:r>
            <a:r>
              <a:rPr lang="he-IL" dirty="0"/>
              <a:t> אם התוקף מגלה את הכלל, כל המסר נחשף</a:t>
            </a:r>
            <a:r>
              <a:rPr lang="he-IL" dirty="0" smtClean="0"/>
              <a:t>.</a:t>
            </a:r>
          </a:p>
          <a:p>
            <a:endParaRPr lang="he-IL" dirty="0" smtClean="0"/>
          </a:p>
          <a:p>
            <a:r>
              <a:rPr lang="he-IL" dirty="0" smtClean="0"/>
              <a:t>3. </a:t>
            </a:r>
            <a:r>
              <a:rPr lang="he-IL" b="1" dirty="0"/>
              <a:t>תלות בטקסט ברור:</a:t>
            </a:r>
            <a:r>
              <a:rPr lang="he-IL" dirty="0"/>
              <a:t> דורשת טקסט איכותי ומובן כדי לא לעורר חשד.</a:t>
            </a:r>
            <a:endParaRPr lang="he-IL" dirty="0" smtClean="0"/>
          </a:p>
          <a:p>
            <a:endParaRPr lang="he-IL" dirty="0"/>
          </a:p>
        </p:txBody>
      </p:sp>
    </p:spTree>
    <p:extLst>
      <p:ext uri="{BB962C8B-B14F-4D97-AF65-F5344CB8AC3E}">
        <p14:creationId xmlns:p14="http://schemas.microsoft.com/office/powerpoint/2010/main" val="137220712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219498" y="642594"/>
            <a:ext cx="8905702" cy="1371600"/>
          </a:xfrm>
        </p:spPr>
        <p:txBody>
          <a:bodyPr/>
          <a:lstStyle/>
          <a:p>
            <a:r>
              <a:rPr lang="he-IL" dirty="0"/>
              <a:t>שימושים עכשוויים של </a:t>
            </a:r>
            <a:r>
              <a:rPr lang="en-US" dirty="0"/>
              <a:t>Null Cipher</a:t>
            </a:r>
            <a:endParaRPr lang="he-IL" dirty="0"/>
          </a:p>
        </p:txBody>
      </p:sp>
      <p:sp>
        <p:nvSpPr>
          <p:cNvPr id="3" name="מציין מיקום תוכן 2"/>
          <p:cNvSpPr>
            <a:spLocks noGrp="1"/>
          </p:cNvSpPr>
          <p:nvPr>
            <p:ph idx="1"/>
          </p:nvPr>
        </p:nvSpPr>
        <p:spPr/>
        <p:txBody>
          <a:bodyPr/>
          <a:lstStyle/>
          <a:p>
            <a:r>
              <a:rPr lang="he-IL" b="1" dirty="0"/>
              <a:t>מעבר מסרים סמויים:</a:t>
            </a:r>
            <a:r>
              <a:rPr lang="he-IL" dirty="0"/>
              <a:t> בתקופות מלחמה או בתנאים של מעקב אינטנסיבי, שיטה זו שימשה להעברת מסרים סודיים דרך טקסטים שנראו תמימים</a:t>
            </a:r>
            <a:r>
              <a:rPr lang="he-IL" dirty="0" smtClean="0"/>
              <a:t>.</a:t>
            </a:r>
          </a:p>
          <a:p>
            <a:endParaRPr lang="he-IL" dirty="0"/>
          </a:p>
          <a:p>
            <a:r>
              <a:rPr lang="he-IL" b="1" dirty="0"/>
              <a:t>תרגול באבטחת מידע:</a:t>
            </a:r>
            <a:r>
              <a:rPr lang="he-IL" dirty="0"/>
              <a:t> כיום, </a:t>
            </a:r>
            <a:r>
              <a:rPr lang="en-US" dirty="0"/>
              <a:t>Null </a:t>
            </a:r>
            <a:r>
              <a:rPr lang="en-US" dirty="0" smtClean="0"/>
              <a:t>Cipher</a:t>
            </a:r>
            <a:r>
              <a:rPr lang="he-IL" dirty="0" smtClean="0"/>
              <a:t> משמשת </a:t>
            </a:r>
            <a:r>
              <a:rPr lang="he-IL" dirty="0"/>
              <a:t>בעיקר כחלק מתרגולים בלימודי </a:t>
            </a:r>
            <a:r>
              <a:rPr lang="he-IL" dirty="0" err="1"/>
              <a:t>סטגנוגרפיה</a:t>
            </a:r>
            <a:r>
              <a:rPr lang="he-IL" dirty="0"/>
              <a:t> ואבטחת מידע.</a:t>
            </a:r>
          </a:p>
        </p:txBody>
      </p:sp>
    </p:spTree>
    <p:extLst>
      <p:ext uri="{BB962C8B-B14F-4D97-AF65-F5344CB8AC3E}">
        <p14:creationId xmlns:p14="http://schemas.microsoft.com/office/powerpoint/2010/main" val="25865901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6916188" y="642594"/>
            <a:ext cx="4209011" cy="1371600"/>
          </a:xfrm>
        </p:spPr>
        <p:txBody>
          <a:bodyPr/>
          <a:lstStyle/>
          <a:p>
            <a:r>
              <a:rPr lang="he-IL" dirty="0"/>
              <a:t>אתגרים והגבלות</a:t>
            </a:r>
          </a:p>
        </p:txBody>
      </p:sp>
      <p:sp>
        <p:nvSpPr>
          <p:cNvPr id="3" name="מציין מיקום תוכן 2"/>
          <p:cNvSpPr>
            <a:spLocks noGrp="1"/>
          </p:cNvSpPr>
          <p:nvPr>
            <p:ph idx="1"/>
          </p:nvPr>
        </p:nvSpPr>
        <p:spPr/>
        <p:txBody>
          <a:bodyPr/>
          <a:lstStyle/>
          <a:p>
            <a:r>
              <a:rPr lang="he-IL" dirty="0" smtClean="0"/>
              <a:t>1. </a:t>
            </a:r>
            <a:r>
              <a:rPr lang="he-IL" b="1" dirty="0"/>
              <a:t>מגבלות מידע:</a:t>
            </a:r>
          </a:p>
          <a:p>
            <a:r>
              <a:rPr lang="he-IL" dirty="0"/>
              <a:t>קשה להעביר כמויות גדולות של מידע.</a:t>
            </a:r>
          </a:p>
          <a:p>
            <a:r>
              <a:rPr lang="he-IL" dirty="0"/>
              <a:t>אם רוצים להחביא מסר מורכב, יש צורך בטקסט ארוך מאוד.</a:t>
            </a:r>
          </a:p>
          <a:p>
            <a:pPr marL="0" indent="0">
              <a:buNone/>
            </a:pPr>
            <a:endParaRPr lang="he-IL" dirty="0" smtClean="0"/>
          </a:p>
          <a:p>
            <a:r>
              <a:rPr lang="he-IL" dirty="0" smtClean="0"/>
              <a:t>2. </a:t>
            </a:r>
            <a:r>
              <a:rPr lang="he-IL" b="1" dirty="0"/>
              <a:t>חשיפת הכלל:</a:t>
            </a:r>
          </a:p>
          <a:p>
            <a:r>
              <a:rPr lang="he-IL" dirty="0"/>
              <a:t>אם המפתח (הכלל לבחירת האותיות) נחשף, המסר הסודי מאבד מהאבטחה שלו.</a:t>
            </a:r>
          </a:p>
          <a:p>
            <a:pPr marL="0" indent="0">
              <a:buNone/>
            </a:pPr>
            <a:endParaRPr lang="he-IL" dirty="0" smtClean="0"/>
          </a:p>
          <a:p>
            <a:r>
              <a:rPr lang="he-IL" dirty="0" smtClean="0"/>
              <a:t>3. </a:t>
            </a:r>
            <a:r>
              <a:rPr lang="he-IL" b="1" dirty="0"/>
              <a:t>חוסר עמידות לעיבוד נתונים:</a:t>
            </a:r>
          </a:p>
          <a:p>
            <a:r>
              <a:rPr lang="he-IL" dirty="0"/>
              <a:t>אם הטקסט עובר עיבוד כלשהו (כמו דחיסה או עריכה), המידע המוסתר עלול להיהרס.</a:t>
            </a:r>
          </a:p>
          <a:p>
            <a:pPr marL="0" indent="0">
              <a:buNone/>
            </a:pPr>
            <a:endParaRPr lang="he-IL" dirty="0" smtClean="0"/>
          </a:p>
          <a:p>
            <a:pPr marL="0" indent="0">
              <a:buNone/>
            </a:pPr>
            <a:endParaRPr lang="he-IL" dirty="0" smtClean="0"/>
          </a:p>
        </p:txBody>
      </p:sp>
    </p:spTree>
    <p:extLst>
      <p:ext uri="{BB962C8B-B14F-4D97-AF65-F5344CB8AC3E}">
        <p14:creationId xmlns:p14="http://schemas.microsoft.com/office/powerpoint/2010/main" val="31557918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025832" y="642594"/>
            <a:ext cx="8099367" cy="1371600"/>
          </a:xfrm>
        </p:spPr>
        <p:txBody>
          <a:bodyPr>
            <a:normAutofit fontScale="90000"/>
          </a:bodyPr>
          <a:lstStyle/>
          <a:p>
            <a:r>
              <a:rPr lang="he-IL" dirty="0"/>
              <a:t>השוואה </a:t>
            </a:r>
            <a:r>
              <a:rPr lang="he-IL" dirty="0" err="1"/>
              <a:t>לסטגנוגרפיה</a:t>
            </a:r>
            <a:r>
              <a:rPr lang="he-IL" dirty="0"/>
              <a:t> מסוגים אחרים</a:t>
            </a:r>
          </a:p>
        </p:txBody>
      </p:sp>
      <p:pic>
        <p:nvPicPr>
          <p:cNvPr id="4" name="מציין מיקום תוכן 3"/>
          <p:cNvPicPr>
            <a:picLocks noGrp="1" noChangeAspect="1"/>
          </p:cNvPicPr>
          <p:nvPr>
            <p:ph idx="1"/>
          </p:nvPr>
        </p:nvPicPr>
        <p:blipFill>
          <a:blip r:embed="rId2"/>
          <a:stretch>
            <a:fillRect/>
          </a:stretch>
        </p:blipFill>
        <p:spPr>
          <a:xfrm>
            <a:off x="4176300" y="2014194"/>
            <a:ext cx="5668211" cy="3102953"/>
          </a:xfrm>
          <a:prstGeom prst="rect">
            <a:avLst/>
          </a:prstGeom>
        </p:spPr>
      </p:pic>
    </p:spTree>
    <p:extLst>
      <p:ext uri="{BB962C8B-B14F-4D97-AF65-F5344CB8AC3E}">
        <p14:creationId xmlns:p14="http://schemas.microsoft.com/office/powerpoint/2010/main" val="73186770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671752" y="642594"/>
            <a:ext cx="6453447" cy="1371600"/>
          </a:xfrm>
        </p:spPr>
        <p:txBody>
          <a:bodyPr/>
          <a:lstStyle/>
          <a:p>
            <a:r>
              <a:rPr lang="he-IL" dirty="0"/>
              <a:t>שילוב עם טכניקות אחרות</a:t>
            </a:r>
          </a:p>
        </p:txBody>
      </p:sp>
      <p:sp>
        <p:nvSpPr>
          <p:cNvPr id="3" name="מציין מיקום תוכן 2"/>
          <p:cNvSpPr>
            <a:spLocks noGrp="1"/>
          </p:cNvSpPr>
          <p:nvPr>
            <p:ph idx="1"/>
          </p:nvPr>
        </p:nvSpPr>
        <p:spPr/>
        <p:txBody>
          <a:bodyPr/>
          <a:lstStyle/>
          <a:p>
            <a:r>
              <a:rPr lang="he-IL" dirty="0" smtClean="0"/>
              <a:t>1. </a:t>
            </a:r>
            <a:r>
              <a:rPr lang="he-IL" b="1" dirty="0" err="1"/>
              <a:t>סטגנוגרפיה</a:t>
            </a:r>
            <a:r>
              <a:rPr lang="he-IL" b="1" dirty="0"/>
              <a:t> רב-שכבתית:</a:t>
            </a:r>
          </a:p>
          <a:p>
            <a:r>
              <a:rPr lang="en-US" dirty="0" smtClean="0"/>
              <a:t> Null Cipher</a:t>
            </a:r>
            <a:r>
              <a:rPr lang="he-IL" dirty="0" smtClean="0"/>
              <a:t>יכול </a:t>
            </a:r>
            <a:r>
              <a:rPr lang="he-IL" dirty="0"/>
              <a:t>לשמש כשכבה ראשונה להסתרת מסר, ולאחר מכן אפשר לשלב את הטקסט המוסתר בתוך תמונה, אודיו או קובץ אחר.</a:t>
            </a:r>
          </a:p>
          <a:p>
            <a:endParaRPr lang="he-IL" dirty="0" smtClean="0"/>
          </a:p>
          <a:p>
            <a:r>
              <a:rPr lang="he-IL" dirty="0" smtClean="0"/>
              <a:t>2. </a:t>
            </a:r>
            <a:r>
              <a:rPr lang="he-IL" b="1" dirty="0"/>
              <a:t>קידוד נוסף:</a:t>
            </a:r>
          </a:p>
          <a:p>
            <a:r>
              <a:rPr lang="he-IL" dirty="0"/>
              <a:t>אפשר להסתיר את המסר </a:t>
            </a:r>
            <a:r>
              <a:rPr lang="he-IL" dirty="0" smtClean="0"/>
              <a:t>עם</a:t>
            </a:r>
            <a:r>
              <a:rPr lang="en-US" dirty="0" smtClean="0"/>
              <a:t> Null </a:t>
            </a:r>
            <a:r>
              <a:rPr lang="en-US" dirty="0"/>
              <a:t>Cipher </a:t>
            </a:r>
            <a:r>
              <a:rPr lang="he-IL" dirty="0"/>
              <a:t>ואז להצפין את האותיות שנבחרו עם צופן נוסף.</a:t>
            </a:r>
          </a:p>
          <a:p>
            <a:endParaRPr lang="he-IL" dirty="0" smtClean="0"/>
          </a:p>
          <a:p>
            <a:endParaRPr lang="he-IL" dirty="0"/>
          </a:p>
        </p:txBody>
      </p:sp>
    </p:spTree>
    <p:extLst>
      <p:ext uri="{BB962C8B-B14F-4D97-AF65-F5344CB8AC3E}">
        <p14:creationId xmlns:p14="http://schemas.microsoft.com/office/powerpoint/2010/main" val="423450814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286000" y="642594"/>
            <a:ext cx="8839200" cy="1371600"/>
          </a:xfrm>
        </p:spPr>
        <p:txBody>
          <a:bodyPr/>
          <a:lstStyle/>
          <a:p>
            <a:r>
              <a:rPr lang="he-IL" dirty="0"/>
              <a:t>טכניקות נגדיות לזיהוי </a:t>
            </a:r>
            <a:r>
              <a:rPr lang="en-US" dirty="0"/>
              <a:t>Null Cipher</a:t>
            </a:r>
            <a:endParaRPr lang="he-IL" dirty="0"/>
          </a:p>
        </p:txBody>
      </p:sp>
      <p:sp>
        <p:nvSpPr>
          <p:cNvPr id="3" name="מציין מיקום תוכן 2"/>
          <p:cNvSpPr>
            <a:spLocks noGrp="1"/>
          </p:cNvSpPr>
          <p:nvPr>
            <p:ph idx="1"/>
          </p:nvPr>
        </p:nvSpPr>
        <p:spPr/>
        <p:txBody>
          <a:bodyPr/>
          <a:lstStyle/>
          <a:p>
            <a:r>
              <a:rPr lang="he-IL" b="1" dirty="0"/>
              <a:t>א. ניתוח סטטיסטי של </a:t>
            </a:r>
            <a:r>
              <a:rPr lang="he-IL" b="1" dirty="0" smtClean="0"/>
              <a:t>הטקסט: </a:t>
            </a:r>
            <a:r>
              <a:rPr lang="he-IL" dirty="0" smtClean="0"/>
              <a:t>כלים </a:t>
            </a:r>
            <a:r>
              <a:rPr lang="he-IL" dirty="0"/>
              <a:t>לניתוח טקסט יכולים לזהות דפוסים כמו תדירות אותיות, מילות מפתח, או דילוגים חוזרים</a:t>
            </a:r>
            <a:r>
              <a:rPr lang="he-IL" dirty="0" smtClean="0"/>
              <a:t>.</a:t>
            </a:r>
          </a:p>
          <a:p>
            <a:endParaRPr lang="he-IL" dirty="0"/>
          </a:p>
          <a:p>
            <a:r>
              <a:rPr lang="he-IL" b="1" dirty="0"/>
              <a:t>ב. שימוש באלגוריתמים </a:t>
            </a:r>
            <a:r>
              <a:rPr lang="he-IL" b="1" dirty="0" smtClean="0"/>
              <a:t>לזיהוי דפוסים: </a:t>
            </a:r>
            <a:r>
              <a:rPr lang="he-IL" dirty="0" smtClean="0"/>
              <a:t>אלגוריתמים </a:t>
            </a:r>
            <a:r>
              <a:rPr lang="he-IL" dirty="0"/>
              <a:t>ללמידת מכונה יכולים לנתח טקסטים ולגלות חריגות שמעידות על שימוש ב-</a:t>
            </a:r>
            <a:r>
              <a:rPr lang="en-US" dirty="0"/>
              <a:t>Null </a:t>
            </a:r>
            <a:r>
              <a:rPr lang="en-US" dirty="0" smtClean="0"/>
              <a:t>Cipher </a:t>
            </a:r>
            <a:r>
              <a:rPr lang="he-IL" dirty="0" smtClean="0"/>
              <a:t>.</a:t>
            </a:r>
          </a:p>
          <a:p>
            <a:endParaRPr lang="en-US" dirty="0"/>
          </a:p>
          <a:p>
            <a:r>
              <a:rPr lang="he-IL" b="1" dirty="0"/>
              <a:t>ג. ניתוח </a:t>
            </a:r>
            <a:r>
              <a:rPr lang="he-IL" b="1" dirty="0" smtClean="0"/>
              <a:t>סמנטי: </a:t>
            </a:r>
            <a:r>
              <a:rPr lang="he-IL" dirty="0" smtClean="0"/>
              <a:t>ניתוח </a:t>
            </a:r>
            <a:r>
              <a:rPr lang="he-IL" dirty="0"/>
              <a:t>משמעותי של הטקסט יכול לגלות אם הטקסט מנסה להעביר מסר נסתר דרך מילים מסוימות או מבנה משפטים.</a:t>
            </a:r>
          </a:p>
          <a:p>
            <a:endParaRPr lang="he-IL" dirty="0"/>
          </a:p>
        </p:txBody>
      </p:sp>
    </p:spTree>
    <p:extLst>
      <p:ext uri="{BB962C8B-B14F-4D97-AF65-F5344CB8AC3E}">
        <p14:creationId xmlns:p14="http://schemas.microsoft.com/office/powerpoint/2010/main" val="131433898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705004" y="642594"/>
            <a:ext cx="6420196" cy="1371600"/>
          </a:xfrm>
        </p:spPr>
        <p:txBody>
          <a:bodyPr/>
          <a:lstStyle/>
          <a:p>
            <a:r>
              <a:rPr lang="he-IL" dirty="0"/>
              <a:t>דוגמאות לשימוש מתקדם</a:t>
            </a:r>
          </a:p>
        </p:txBody>
      </p:sp>
      <p:sp>
        <p:nvSpPr>
          <p:cNvPr id="3" name="מציין מיקום תוכן 2"/>
          <p:cNvSpPr>
            <a:spLocks noGrp="1"/>
          </p:cNvSpPr>
          <p:nvPr>
            <p:ph idx="1"/>
          </p:nvPr>
        </p:nvSpPr>
        <p:spPr/>
        <p:txBody>
          <a:bodyPr/>
          <a:lstStyle/>
          <a:p>
            <a:r>
              <a:rPr lang="he-IL" b="1" dirty="0"/>
              <a:t>א. שילוב של טכניקות </a:t>
            </a:r>
            <a:r>
              <a:rPr lang="he-IL" b="1" dirty="0" err="1" smtClean="0"/>
              <a:t>סטגנוגרפיות</a:t>
            </a:r>
            <a:r>
              <a:rPr lang="he-IL" b="1" dirty="0" smtClean="0"/>
              <a:t>: </a:t>
            </a:r>
            <a:r>
              <a:rPr lang="he-IL" dirty="0" smtClean="0"/>
              <a:t>לדוגמה</a:t>
            </a:r>
            <a:r>
              <a:rPr lang="he-IL" dirty="0"/>
              <a:t>: טקסט רגיל שמכיל מסר ב-</a:t>
            </a:r>
            <a:r>
              <a:rPr lang="en-US" dirty="0"/>
              <a:t>Null Cipher </a:t>
            </a:r>
            <a:r>
              <a:rPr lang="he-IL" dirty="0" smtClean="0"/>
              <a:t> משולב </a:t>
            </a:r>
            <a:r>
              <a:rPr lang="he-IL" dirty="0"/>
              <a:t>עם תמונה שבה מוסתר מסר נוסף</a:t>
            </a:r>
            <a:r>
              <a:rPr lang="he-IL" dirty="0" smtClean="0"/>
              <a:t>.</a:t>
            </a:r>
          </a:p>
          <a:p>
            <a:endParaRPr lang="he-IL" dirty="0"/>
          </a:p>
          <a:p>
            <a:r>
              <a:rPr lang="he-IL" b="1" dirty="0"/>
              <a:t>ב. שימוש בטקסטים </a:t>
            </a:r>
            <a:r>
              <a:rPr lang="he-IL" b="1" dirty="0" smtClean="0"/>
              <a:t>ציבוריים: </a:t>
            </a:r>
            <a:r>
              <a:rPr lang="he-IL" dirty="0" smtClean="0"/>
              <a:t>ניתן </a:t>
            </a:r>
            <a:r>
              <a:rPr lang="he-IL" dirty="0"/>
              <a:t>להשתמש בטקסטים קיימים (למשל, נאומים, שירים או מאמרים) ולהתאים אותם כך שיכילו מסרים נסתרים.</a:t>
            </a:r>
          </a:p>
          <a:p>
            <a:endParaRPr lang="he-IL" dirty="0"/>
          </a:p>
        </p:txBody>
      </p:sp>
    </p:spTree>
    <p:extLst>
      <p:ext uri="{BB962C8B-B14F-4D97-AF65-F5344CB8AC3E}">
        <p14:creationId xmlns:p14="http://schemas.microsoft.com/office/powerpoint/2010/main" val="58740367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86938" y="642594"/>
            <a:ext cx="11405062" cy="1371600"/>
          </a:xfrm>
        </p:spPr>
        <p:txBody>
          <a:bodyPr>
            <a:normAutofit fontScale="90000"/>
          </a:bodyPr>
          <a:lstStyle/>
          <a:p>
            <a:r>
              <a:rPr lang="he-IL" dirty="0"/>
              <a:t>תהליך מעשי ליצירת מסר באמצעות </a:t>
            </a:r>
            <a:r>
              <a:rPr lang="en-US" dirty="0"/>
              <a:t>Null Cipher</a:t>
            </a:r>
            <a:endParaRPr lang="he-IL" dirty="0"/>
          </a:p>
        </p:txBody>
      </p:sp>
      <p:sp>
        <p:nvSpPr>
          <p:cNvPr id="3" name="מציין מיקום תוכן 2"/>
          <p:cNvSpPr>
            <a:spLocks noGrp="1"/>
          </p:cNvSpPr>
          <p:nvPr>
            <p:ph idx="1"/>
          </p:nvPr>
        </p:nvSpPr>
        <p:spPr/>
        <p:txBody>
          <a:bodyPr/>
          <a:lstStyle/>
          <a:p>
            <a:r>
              <a:rPr lang="he-IL" dirty="0" smtClean="0"/>
              <a:t>1. </a:t>
            </a:r>
            <a:r>
              <a:rPr lang="he-IL" b="1" dirty="0"/>
              <a:t>הכנת הטקסט הרגיל:</a:t>
            </a:r>
            <a:r>
              <a:rPr lang="he-IL" dirty="0"/>
              <a:t> כתוב טקסט רגיל שנראה טבעי</a:t>
            </a:r>
            <a:r>
              <a:rPr lang="he-IL" dirty="0" smtClean="0"/>
              <a:t>.</a:t>
            </a:r>
          </a:p>
          <a:p>
            <a:endParaRPr lang="he-IL" dirty="0" smtClean="0"/>
          </a:p>
          <a:p>
            <a:r>
              <a:rPr lang="he-IL" dirty="0" smtClean="0"/>
              <a:t>2. </a:t>
            </a:r>
            <a:r>
              <a:rPr lang="he-IL" b="1" dirty="0"/>
              <a:t>בחירת כלל הסתרה:</a:t>
            </a:r>
            <a:r>
              <a:rPr lang="he-IL" dirty="0"/>
              <a:t> בחר כלל לבחירת אותיות, </a:t>
            </a:r>
            <a:r>
              <a:rPr lang="he-IL" dirty="0" smtClean="0"/>
              <a:t>לדוגמה </a:t>
            </a:r>
            <a:r>
              <a:rPr lang="he-IL" dirty="0"/>
              <a:t>כל אות שנייה</a:t>
            </a:r>
            <a:r>
              <a:rPr lang="he-IL" dirty="0" smtClean="0"/>
              <a:t>.</a:t>
            </a:r>
          </a:p>
          <a:p>
            <a:endParaRPr lang="he-IL" dirty="0" smtClean="0"/>
          </a:p>
          <a:p>
            <a:r>
              <a:rPr lang="he-IL" dirty="0" smtClean="0"/>
              <a:t>3. </a:t>
            </a:r>
            <a:r>
              <a:rPr lang="he-IL" b="1" dirty="0"/>
              <a:t>פיזור המסר:</a:t>
            </a:r>
            <a:r>
              <a:rPr lang="he-IL" dirty="0"/>
              <a:t> השתמש בכלל כדי לשלב את האותיות בתוכן</a:t>
            </a:r>
            <a:r>
              <a:rPr lang="he-IL" dirty="0" smtClean="0"/>
              <a:t>.</a:t>
            </a:r>
          </a:p>
          <a:p>
            <a:endParaRPr lang="he-IL" dirty="0" smtClean="0"/>
          </a:p>
          <a:p>
            <a:r>
              <a:rPr lang="he-IL" dirty="0" smtClean="0"/>
              <a:t>4. </a:t>
            </a:r>
            <a:r>
              <a:rPr lang="he-IL" b="1" dirty="0"/>
              <a:t>מסירת הטקסט:</a:t>
            </a:r>
            <a:r>
              <a:rPr lang="he-IL" dirty="0"/>
              <a:t> מסור את הטקסט הרגיל עם המסר </a:t>
            </a:r>
            <a:r>
              <a:rPr lang="he-IL" dirty="0" smtClean="0"/>
              <a:t>המוסתר.</a:t>
            </a:r>
          </a:p>
          <a:p>
            <a:endParaRPr lang="he-IL" dirty="0"/>
          </a:p>
        </p:txBody>
      </p:sp>
    </p:spTree>
    <p:extLst>
      <p:ext uri="{BB962C8B-B14F-4D97-AF65-F5344CB8AC3E}">
        <p14:creationId xmlns:p14="http://schemas.microsoft.com/office/powerpoint/2010/main" val="419827705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202188" y="642594"/>
            <a:ext cx="1923011" cy="1371600"/>
          </a:xfrm>
        </p:spPr>
        <p:txBody>
          <a:bodyPr/>
          <a:lstStyle/>
          <a:p>
            <a:r>
              <a:rPr lang="he-IL" dirty="0" smtClean="0"/>
              <a:t>שאלות</a:t>
            </a:r>
            <a:endParaRPr lang="he-IL" dirty="0"/>
          </a:p>
        </p:txBody>
      </p:sp>
      <p:sp>
        <p:nvSpPr>
          <p:cNvPr id="3" name="מציין מיקום תוכן 2"/>
          <p:cNvSpPr>
            <a:spLocks noGrp="1"/>
          </p:cNvSpPr>
          <p:nvPr>
            <p:ph idx="1"/>
          </p:nvPr>
        </p:nvSpPr>
        <p:spPr/>
        <p:txBody>
          <a:bodyPr/>
          <a:lstStyle/>
          <a:p>
            <a:r>
              <a:rPr lang="he-IL" dirty="0" smtClean="0"/>
              <a:t>1</a:t>
            </a:r>
            <a:r>
              <a:rPr lang="he-IL" dirty="0"/>
              <a:t>. מה ההבדל בין </a:t>
            </a:r>
            <a:r>
              <a:rPr lang="en-US" dirty="0" smtClean="0"/>
              <a:t> Null Cipher</a:t>
            </a:r>
            <a:r>
              <a:rPr lang="he-IL" dirty="0" smtClean="0"/>
              <a:t>לבין </a:t>
            </a:r>
            <a:r>
              <a:rPr lang="he-IL" dirty="0"/>
              <a:t>הצפנה?</a:t>
            </a:r>
            <a:endParaRPr lang="he-IL" dirty="0" smtClean="0"/>
          </a:p>
          <a:p>
            <a:r>
              <a:rPr lang="he-IL" dirty="0" smtClean="0"/>
              <a:t>2</a:t>
            </a:r>
            <a:r>
              <a:rPr lang="he-IL" dirty="0"/>
              <a:t>. מדוע </a:t>
            </a:r>
            <a:r>
              <a:rPr lang="en-US" dirty="0"/>
              <a:t>Null </a:t>
            </a:r>
            <a:r>
              <a:rPr lang="en-US" dirty="0" smtClean="0"/>
              <a:t>Cipher</a:t>
            </a:r>
            <a:r>
              <a:rPr lang="he-IL" dirty="0" smtClean="0"/>
              <a:t> נחשב </a:t>
            </a:r>
            <a:r>
              <a:rPr lang="he-IL" dirty="0"/>
              <a:t>לחלק </a:t>
            </a:r>
            <a:r>
              <a:rPr lang="he-IL" dirty="0" err="1"/>
              <a:t>מסטגנוגרפיה</a:t>
            </a:r>
            <a:r>
              <a:rPr lang="he-IL" dirty="0"/>
              <a:t>?</a:t>
            </a:r>
            <a:endParaRPr lang="he-IL" dirty="0" smtClean="0"/>
          </a:p>
          <a:p>
            <a:r>
              <a:rPr lang="he-IL" dirty="0" smtClean="0"/>
              <a:t>3</a:t>
            </a:r>
            <a:r>
              <a:rPr lang="he-IL" dirty="0"/>
              <a:t>. איזו תכונה בטקסט מנוצלת ב-</a:t>
            </a:r>
            <a:r>
              <a:rPr lang="en-US" dirty="0"/>
              <a:t>Null </a:t>
            </a:r>
            <a:r>
              <a:rPr lang="en-US" dirty="0" smtClean="0"/>
              <a:t>Cipher</a:t>
            </a:r>
            <a:r>
              <a:rPr lang="he-IL" dirty="0" smtClean="0"/>
              <a:t>?</a:t>
            </a:r>
          </a:p>
          <a:p>
            <a:r>
              <a:rPr lang="he-IL" dirty="0" smtClean="0"/>
              <a:t>4</a:t>
            </a:r>
            <a:r>
              <a:rPr lang="he-IL" dirty="0"/>
              <a:t>. כיצד ניתן להחביא מסר בטקסט של 10 מילים כך שייראה טבעי?</a:t>
            </a:r>
            <a:endParaRPr lang="he-IL" dirty="0" smtClean="0"/>
          </a:p>
          <a:p>
            <a:r>
              <a:rPr lang="he-IL" dirty="0" smtClean="0"/>
              <a:t>5</a:t>
            </a:r>
            <a:r>
              <a:rPr lang="he-IL" dirty="0"/>
              <a:t>. כיצד ניתן להקשות על זיהוי מסרים מוסתרים ב-</a:t>
            </a:r>
            <a:r>
              <a:rPr lang="en-US" dirty="0"/>
              <a:t>Null </a:t>
            </a:r>
            <a:r>
              <a:rPr lang="en-US" dirty="0" smtClean="0"/>
              <a:t>Cipher</a:t>
            </a:r>
            <a:r>
              <a:rPr lang="he-IL" dirty="0" smtClean="0"/>
              <a:t>?</a:t>
            </a:r>
          </a:p>
          <a:p>
            <a:r>
              <a:rPr lang="he-IL" dirty="0" smtClean="0"/>
              <a:t>6</a:t>
            </a:r>
            <a:r>
              <a:rPr lang="he-IL" dirty="0"/>
              <a:t>. כיצד היית מסתיר את המסר "סודי" בטקסט הבא? "ספורט הוא דרך מצוינת לשמור על בריאות ואושר."</a:t>
            </a:r>
            <a:br>
              <a:rPr lang="he-IL" dirty="0"/>
            </a:br>
            <a:endParaRPr lang="he-IL" dirty="0"/>
          </a:p>
        </p:txBody>
      </p:sp>
    </p:spTree>
    <p:extLst>
      <p:ext uri="{BB962C8B-B14F-4D97-AF65-F5344CB8AC3E}">
        <p14:creationId xmlns:p14="http://schemas.microsoft.com/office/powerpoint/2010/main" val="21094493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027622" y="642594"/>
            <a:ext cx="2097578" cy="1371600"/>
          </a:xfrm>
        </p:spPr>
        <p:txBody>
          <a:bodyPr/>
          <a:lstStyle/>
          <a:p>
            <a:r>
              <a:rPr lang="he-IL" dirty="0" smtClean="0"/>
              <a:t>תשובות</a:t>
            </a:r>
            <a:endParaRPr lang="he-IL" dirty="0"/>
          </a:p>
        </p:txBody>
      </p:sp>
      <p:sp>
        <p:nvSpPr>
          <p:cNvPr id="3" name="מציין מיקום תוכן 2"/>
          <p:cNvSpPr>
            <a:spLocks noGrp="1"/>
          </p:cNvSpPr>
          <p:nvPr>
            <p:ph idx="1"/>
          </p:nvPr>
        </p:nvSpPr>
        <p:spPr/>
        <p:txBody>
          <a:bodyPr/>
          <a:lstStyle/>
          <a:p>
            <a:r>
              <a:rPr lang="he-IL" dirty="0" smtClean="0"/>
              <a:t>1. </a:t>
            </a:r>
            <a:r>
              <a:rPr lang="en-US" dirty="0"/>
              <a:t>Null </a:t>
            </a:r>
            <a:r>
              <a:rPr lang="en-US" dirty="0" smtClean="0"/>
              <a:t>Cipher</a:t>
            </a:r>
            <a:r>
              <a:rPr lang="he-IL" dirty="0" smtClean="0"/>
              <a:t> משאיר </a:t>
            </a:r>
            <a:r>
              <a:rPr lang="he-IL" dirty="0"/>
              <a:t>את הטקסט קריא ומסתיר מסר בתוך הטקסט, בעוד שהצפנה משנה את הטקסט כך שלא יהיה קריא ללא מפתח.</a:t>
            </a:r>
            <a:endParaRPr lang="he-IL" dirty="0" smtClean="0"/>
          </a:p>
          <a:p>
            <a:r>
              <a:rPr lang="he-IL" dirty="0" smtClean="0"/>
              <a:t>2</a:t>
            </a:r>
            <a:r>
              <a:rPr lang="he-IL" dirty="0"/>
              <a:t>. כי הוא מסתיר מידע בתוך תוכן קיים, בדומה לשיטות אחרות </a:t>
            </a:r>
            <a:r>
              <a:rPr lang="he-IL" dirty="0" err="1"/>
              <a:t>בסטגנוגרפיה</a:t>
            </a:r>
            <a:r>
              <a:rPr lang="he-IL" dirty="0"/>
              <a:t>.</a:t>
            </a:r>
            <a:endParaRPr lang="he-IL" dirty="0" smtClean="0"/>
          </a:p>
          <a:p>
            <a:r>
              <a:rPr lang="he-IL" dirty="0" smtClean="0"/>
              <a:t>3</a:t>
            </a:r>
            <a:r>
              <a:rPr lang="he-IL" dirty="0"/>
              <a:t>. אותיות, מילים, או תבניות קבועות בטקסט.</a:t>
            </a:r>
            <a:endParaRPr lang="he-IL" dirty="0" smtClean="0"/>
          </a:p>
          <a:p>
            <a:r>
              <a:rPr lang="he-IL" dirty="0" smtClean="0"/>
              <a:t>4</a:t>
            </a:r>
            <a:r>
              <a:rPr lang="he-IL" dirty="0"/>
              <a:t>. על ידי בחירת אותיות מתוך מילים מסוימות (למשל, האות הראשונה מכל מילה זוגית).</a:t>
            </a:r>
            <a:endParaRPr lang="he-IL" dirty="0" smtClean="0"/>
          </a:p>
          <a:p>
            <a:r>
              <a:rPr lang="he-IL" dirty="0" smtClean="0"/>
              <a:t>5</a:t>
            </a:r>
            <a:r>
              <a:rPr lang="he-IL" dirty="0"/>
              <a:t>. על ידי בחירת כללים מורכבים יותר, כמו שילוב אותיות ממיקומים שונים, ושימוש בטקסט שמכיל מילים אקראיות או משמעותיות.</a:t>
            </a:r>
            <a:endParaRPr lang="he-IL" dirty="0" smtClean="0"/>
          </a:p>
          <a:p>
            <a:r>
              <a:rPr lang="he-IL" dirty="0" smtClean="0"/>
              <a:t>6</a:t>
            </a:r>
            <a:r>
              <a:rPr lang="he-IL" dirty="0"/>
              <a:t>. בחירת האות הראשונה של כל מילה: </a:t>
            </a:r>
            <a:r>
              <a:rPr lang="he-IL" b="1" dirty="0"/>
              <a:t>"</a:t>
            </a:r>
            <a:r>
              <a:rPr lang="he-IL" b="1" dirty="0" err="1"/>
              <a:t>סוהדמלבוא</a:t>
            </a:r>
            <a:r>
              <a:rPr lang="he-IL" b="1" dirty="0"/>
              <a:t>"</a:t>
            </a:r>
            <a:endParaRPr lang="he-IL" dirty="0" smtClean="0"/>
          </a:p>
          <a:p>
            <a:endParaRPr lang="he-IL" dirty="0"/>
          </a:p>
        </p:txBody>
      </p:sp>
    </p:spTree>
    <p:extLst>
      <p:ext uri="{BB962C8B-B14F-4D97-AF65-F5344CB8AC3E}">
        <p14:creationId xmlns:p14="http://schemas.microsoft.com/office/powerpoint/2010/main" val="410440641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1066800" y="2294312"/>
            <a:ext cx="10058400" cy="3931920"/>
          </a:xfrm>
        </p:spPr>
        <p:txBody>
          <a:bodyPr>
            <a:normAutofit/>
          </a:bodyPr>
          <a:lstStyle/>
          <a:p>
            <a:pPr algn="ctr"/>
            <a:r>
              <a:rPr lang="he-IL" sz="6000" dirty="0"/>
              <a:t>ניצול יתרות קובצי הרצה וספריות</a:t>
            </a:r>
          </a:p>
        </p:txBody>
      </p:sp>
    </p:spTree>
    <p:extLst>
      <p:ext uri="{BB962C8B-B14F-4D97-AF65-F5344CB8AC3E}">
        <p14:creationId xmlns:p14="http://schemas.microsoft.com/office/powerpoint/2010/main" val="132816455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52302" y="667532"/>
            <a:ext cx="10687396" cy="1371600"/>
          </a:xfrm>
        </p:spPr>
        <p:txBody>
          <a:bodyPr>
            <a:normAutofit fontScale="90000"/>
          </a:bodyPr>
          <a:lstStyle/>
          <a:p>
            <a:r>
              <a:rPr lang="he-IL" dirty="0"/>
              <a:t>ניצול יתרות בקובצי הרצה </a:t>
            </a:r>
            <a:r>
              <a:rPr lang="he-IL" dirty="0" smtClean="0"/>
              <a:t>וספריות </a:t>
            </a:r>
            <a:r>
              <a:rPr lang="he-IL" dirty="0" err="1"/>
              <a:t>בסטגנוגרפיה</a:t>
            </a:r>
            <a:endParaRPr lang="he-IL" dirty="0"/>
          </a:p>
        </p:txBody>
      </p:sp>
      <p:sp>
        <p:nvSpPr>
          <p:cNvPr id="3" name="מציין מיקום תוכן 2"/>
          <p:cNvSpPr>
            <a:spLocks noGrp="1"/>
          </p:cNvSpPr>
          <p:nvPr>
            <p:ph idx="1"/>
          </p:nvPr>
        </p:nvSpPr>
        <p:spPr/>
        <p:txBody>
          <a:bodyPr/>
          <a:lstStyle/>
          <a:p>
            <a:r>
              <a:rPr lang="he-IL" dirty="0"/>
              <a:t>נושא זה עוסק בשימוש בנתונים בלתי מנוצלים או שדות יתירים בקובצי הרצה </a:t>
            </a:r>
            <a:r>
              <a:rPr lang="he-IL" dirty="0" smtClean="0"/>
              <a:t>כגון </a:t>
            </a:r>
            <a:r>
              <a:rPr lang="he-IL" dirty="0"/>
              <a:t>קבצי </a:t>
            </a:r>
            <a:r>
              <a:rPr lang="en-US" dirty="0" smtClean="0"/>
              <a:t> EXE</a:t>
            </a:r>
            <a:r>
              <a:rPr lang="he-IL" dirty="0" smtClean="0"/>
              <a:t>ובספריות </a:t>
            </a:r>
            <a:r>
              <a:rPr lang="he-IL" dirty="0"/>
              <a:t>(כגון </a:t>
            </a:r>
            <a:r>
              <a:rPr lang="en-US" dirty="0" smtClean="0"/>
              <a:t>  (DLL</a:t>
            </a:r>
            <a:r>
              <a:rPr lang="he-IL" dirty="0" smtClean="0"/>
              <a:t>להחבאת </a:t>
            </a:r>
            <a:r>
              <a:rPr lang="he-IL" dirty="0"/>
              <a:t>מידע סודי. מדובר באחת הטכניקות המתקדמות </a:t>
            </a:r>
            <a:r>
              <a:rPr lang="he-IL" dirty="0" err="1"/>
              <a:t>בסטגנוגרפיה</a:t>
            </a:r>
            <a:r>
              <a:rPr lang="he-IL" dirty="0"/>
              <a:t> דיגיטלית, והיא מנצלת מבנה פנימי של קובצי תוכנה.</a:t>
            </a:r>
          </a:p>
        </p:txBody>
      </p:sp>
    </p:spTree>
    <p:extLst>
      <p:ext uri="{BB962C8B-B14F-4D97-AF65-F5344CB8AC3E}">
        <p14:creationId xmlns:p14="http://schemas.microsoft.com/office/powerpoint/2010/main" val="372588648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635134" y="642594"/>
            <a:ext cx="8490065" cy="1371600"/>
          </a:xfrm>
        </p:spPr>
        <p:txBody>
          <a:bodyPr/>
          <a:lstStyle/>
          <a:p>
            <a:r>
              <a:rPr lang="he-IL" dirty="0"/>
              <a:t>מהן יתרות בקובצי הרצה וספריות?</a:t>
            </a:r>
          </a:p>
        </p:txBody>
      </p:sp>
      <p:sp>
        <p:nvSpPr>
          <p:cNvPr id="3" name="מציין מיקום תוכן 2"/>
          <p:cNvSpPr>
            <a:spLocks noGrp="1"/>
          </p:cNvSpPr>
          <p:nvPr>
            <p:ph idx="1"/>
          </p:nvPr>
        </p:nvSpPr>
        <p:spPr/>
        <p:txBody>
          <a:bodyPr/>
          <a:lstStyle/>
          <a:p>
            <a:r>
              <a:rPr lang="he-IL" b="1" dirty="0"/>
              <a:t>יתרות בקובצי הרצה </a:t>
            </a:r>
            <a:r>
              <a:rPr lang="en-US" b="1" dirty="0" smtClean="0"/>
              <a:t>EXE</a:t>
            </a:r>
            <a:r>
              <a:rPr lang="he-IL" b="1" dirty="0" smtClean="0"/>
              <a:t>:</a:t>
            </a:r>
          </a:p>
          <a:p>
            <a:r>
              <a:rPr lang="he-IL" dirty="0" smtClean="0"/>
              <a:t>בקובצי</a:t>
            </a:r>
            <a:r>
              <a:rPr lang="en-US" dirty="0" smtClean="0"/>
              <a:t>EXE </a:t>
            </a:r>
            <a:r>
              <a:rPr lang="he-IL" dirty="0" smtClean="0"/>
              <a:t> קיימים </a:t>
            </a:r>
            <a:r>
              <a:rPr lang="he-IL" dirty="0"/>
              <a:t>שטחים שאינם בשימוש, </a:t>
            </a:r>
            <a:r>
              <a:rPr lang="he-IL" dirty="0" smtClean="0"/>
              <a:t>כגון:</a:t>
            </a:r>
          </a:p>
          <a:p>
            <a:r>
              <a:rPr lang="he-IL" dirty="0"/>
              <a:t>שדות יתירים במבנה הכותרת </a:t>
            </a:r>
            <a:r>
              <a:rPr lang="en-US" dirty="0" smtClean="0"/>
              <a:t>Header</a:t>
            </a:r>
            <a:r>
              <a:rPr lang="he-IL" dirty="0" smtClean="0"/>
              <a:t>.</a:t>
            </a:r>
          </a:p>
          <a:p>
            <a:r>
              <a:rPr lang="he-IL" dirty="0"/>
              <a:t>אזורים ריקים בין חלקי הקובץ, הנובעים מיישור נתונים בזיכרון </a:t>
            </a:r>
            <a:r>
              <a:rPr lang="en-US" dirty="0" smtClean="0"/>
              <a:t>Pad</a:t>
            </a:r>
            <a:r>
              <a:rPr lang="he-IL" dirty="0" smtClean="0"/>
              <a:t>.</a:t>
            </a:r>
          </a:p>
          <a:p>
            <a:r>
              <a:rPr lang="he-IL" dirty="0"/>
              <a:t>אזורים שאינם מנוצלים על ידי התוכנה במהלך </a:t>
            </a:r>
            <a:r>
              <a:rPr lang="he-IL" dirty="0" smtClean="0"/>
              <a:t>ההרצה </a:t>
            </a:r>
            <a:r>
              <a:rPr lang="en-US" dirty="0" smtClean="0"/>
              <a:t> ding</a:t>
            </a:r>
            <a:endParaRPr lang="he-IL" dirty="0" smtClean="0"/>
          </a:p>
          <a:p>
            <a:r>
              <a:rPr lang="he-IL" b="1" dirty="0" smtClean="0"/>
              <a:t>יתרות </a:t>
            </a:r>
            <a:r>
              <a:rPr lang="he-IL" b="1" dirty="0"/>
              <a:t>בספריות דינמיות </a:t>
            </a:r>
            <a:r>
              <a:rPr lang="en-US" b="1" dirty="0" smtClean="0"/>
              <a:t>:DLL</a:t>
            </a:r>
            <a:endParaRPr lang="en-US" dirty="0"/>
          </a:p>
          <a:p>
            <a:r>
              <a:rPr lang="he-IL" dirty="0"/>
              <a:t>קבצי </a:t>
            </a:r>
            <a:r>
              <a:rPr lang="en-US" dirty="0" smtClean="0"/>
              <a:t>DLL</a:t>
            </a:r>
            <a:r>
              <a:rPr lang="he-IL" dirty="0" smtClean="0"/>
              <a:t> משמשים </a:t>
            </a:r>
            <a:r>
              <a:rPr lang="he-IL" dirty="0"/>
              <a:t>כספריות קוד שניתן לטעון בזמן ריצה. גם בהם יש שדות ריקים או אזורים לא מנוצלים.</a:t>
            </a:r>
          </a:p>
          <a:p>
            <a:endParaRPr lang="he-IL" dirty="0"/>
          </a:p>
        </p:txBody>
      </p:sp>
    </p:spTree>
    <p:extLst>
      <p:ext uri="{BB962C8B-B14F-4D97-AF65-F5344CB8AC3E}">
        <p14:creationId xmlns:p14="http://schemas.microsoft.com/office/powerpoint/2010/main" val="235514002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221971" y="243583"/>
            <a:ext cx="9903229" cy="1371600"/>
          </a:xfrm>
        </p:spPr>
        <p:txBody>
          <a:bodyPr/>
          <a:lstStyle/>
          <a:p>
            <a:r>
              <a:rPr lang="he-IL" dirty="0"/>
              <a:t>כיצד מנצלים יתרות אלו להחבאת מידע?</a:t>
            </a:r>
          </a:p>
        </p:txBody>
      </p:sp>
      <p:sp>
        <p:nvSpPr>
          <p:cNvPr id="3" name="מציין מיקום תוכן 2"/>
          <p:cNvSpPr>
            <a:spLocks noGrp="1"/>
          </p:cNvSpPr>
          <p:nvPr>
            <p:ph idx="1"/>
          </p:nvPr>
        </p:nvSpPr>
        <p:spPr>
          <a:xfrm>
            <a:off x="1066800" y="1615183"/>
            <a:ext cx="10058400" cy="4419857"/>
          </a:xfrm>
        </p:spPr>
        <p:txBody>
          <a:bodyPr>
            <a:normAutofit fontScale="92500" lnSpcReduction="10000"/>
          </a:bodyPr>
          <a:lstStyle/>
          <a:p>
            <a:r>
              <a:rPr lang="he-IL" b="1" dirty="0"/>
              <a:t>א. החבאת מידע בכותרת הקובץ </a:t>
            </a:r>
            <a:r>
              <a:rPr lang="en-US" b="1" dirty="0" smtClean="0"/>
              <a:t>:Header</a:t>
            </a:r>
            <a:endParaRPr lang="en-US" b="1" dirty="0"/>
          </a:p>
          <a:p>
            <a:r>
              <a:rPr lang="he-IL" dirty="0"/>
              <a:t>קובצי </a:t>
            </a:r>
            <a:r>
              <a:rPr lang="en-US" dirty="0" smtClean="0"/>
              <a:t> EXE</a:t>
            </a:r>
            <a:r>
              <a:rPr lang="he-IL" dirty="0" smtClean="0"/>
              <a:t>ו-</a:t>
            </a:r>
            <a:r>
              <a:rPr lang="en-US" dirty="0" smtClean="0"/>
              <a:t> DLL </a:t>
            </a:r>
            <a:r>
              <a:rPr lang="he-IL" dirty="0"/>
              <a:t>מכילים כותרות עם שדות שלא תמיד מנוצלים.</a:t>
            </a:r>
          </a:p>
          <a:p>
            <a:r>
              <a:rPr lang="he-IL" dirty="0"/>
              <a:t>ניתן לכתוב מידע סודי בשדות אלה בלי להשפיע על תפקוד הקובץ</a:t>
            </a:r>
            <a:r>
              <a:rPr lang="he-IL" dirty="0" smtClean="0"/>
              <a:t>.</a:t>
            </a:r>
          </a:p>
          <a:p>
            <a:r>
              <a:rPr lang="he-IL" b="1" dirty="0" smtClean="0"/>
              <a:t>ב. החבאת </a:t>
            </a:r>
            <a:r>
              <a:rPr lang="he-IL" b="1" dirty="0"/>
              <a:t>מידע בשדות </a:t>
            </a:r>
            <a:r>
              <a:rPr lang="en-US" b="1" dirty="0" smtClean="0"/>
              <a:t>Padding</a:t>
            </a:r>
            <a:r>
              <a:rPr lang="he-IL" b="1" dirty="0" smtClean="0"/>
              <a:t>:</a:t>
            </a:r>
            <a:endParaRPr lang="en-US" b="1" dirty="0"/>
          </a:p>
          <a:p>
            <a:r>
              <a:rPr lang="he-IL" dirty="0"/>
              <a:t>במהלך יצירת קבצים, תהליך יישור הנתונים יוצר שטחים ריקים שמיועדים להתאמת נתונים לגדלים מסוימים (לדוגמה: מיושרים לגודל של 4 בתים).</a:t>
            </a:r>
          </a:p>
          <a:p>
            <a:r>
              <a:rPr lang="he-IL" dirty="0"/>
              <a:t>ניתן להשתמש בשטחים אלו להחבאת נתונים מבלי לפגוע בפעולת הקובץ</a:t>
            </a:r>
            <a:r>
              <a:rPr lang="he-IL" dirty="0" smtClean="0"/>
              <a:t>.</a:t>
            </a:r>
          </a:p>
          <a:p>
            <a:r>
              <a:rPr lang="he-IL" b="1" dirty="0" smtClean="0"/>
              <a:t>ג. </a:t>
            </a:r>
            <a:r>
              <a:rPr lang="he-IL" b="1" dirty="0"/>
              <a:t>החבאת מידע בנתונים שאינם קריטיים</a:t>
            </a:r>
          </a:p>
          <a:p>
            <a:r>
              <a:rPr lang="he-IL" dirty="0"/>
              <a:t>בקובצי תוכנה יש נתונים שאינם קריטיים להרצה (כגון נתוני גרפיקה, הערות או </a:t>
            </a:r>
            <a:r>
              <a:rPr lang="en-US" dirty="0" smtClean="0"/>
              <a:t> Metadata</a:t>
            </a:r>
            <a:r>
              <a:rPr lang="he-IL" dirty="0" smtClean="0"/>
              <a:t>ניתן </a:t>
            </a:r>
            <a:r>
              <a:rPr lang="he-IL" dirty="0"/>
              <a:t>לשנות נתונים אלו ולהחביא בהם מסר סודי</a:t>
            </a:r>
            <a:r>
              <a:rPr lang="he-IL" dirty="0" smtClean="0"/>
              <a:t>.</a:t>
            </a:r>
          </a:p>
          <a:p>
            <a:r>
              <a:rPr lang="he-IL" b="1" dirty="0" smtClean="0"/>
              <a:t>ד. </a:t>
            </a:r>
            <a:r>
              <a:rPr lang="he-IL" b="1" dirty="0"/>
              <a:t>הוספת סגמנטים </a:t>
            </a:r>
            <a:r>
              <a:rPr lang="en-US" b="1" dirty="0" smtClean="0"/>
              <a:t>Segments</a:t>
            </a:r>
            <a:r>
              <a:rPr lang="he-IL" b="1" dirty="0" smtClean="0"/>
              <a:t> חדשים</a:t>
            </a:r>
            <a:endParaRPr lang="he-IL" b="1" dirty="0"/>
          </a:p>
          <a:p>
            <a:r>
              <a:rPr lang="he-IL" dirty="0" smtClean="0"/>
              <a:t>בקובצי</a:t>
            </a:r>
            <a:r>
              <a:rPr lang="en-US" dirty="0" smtClean="0"/>
              <a:t> EXE </a:t>
            </a:r>
            <a:r>
              <a:rPr lang="he-IL" dirty="0"/>
              <a:t>ניתן להוסיף סגמנט חדש לתוכנית (למשל, קטע קוד או נתונים) שמכיל את המידע המוסתר.</a:t>
            </a:r>
          </a:p>
          <a:p>
            <a:r>
              <a:rPr lang="he-IL" dirty="0"/>
              <a:t>סגמנט זה נרשם בכותרת הקובץ, אך לא מבוצע בפועל במהלך הרצת התוכנית.</a:t>
            </a:r>
          </a:p>
          <a:p>
            <a:endParaRPr lang="he-IL" dirty="0"/>
          </a:p>
          <a:p>
            <a:endParaRPr lang="he-IL" dirty="0"/>
          </a:p>
          <a:p>
            <a:endParaRPr lang="he-IL" dirty="0"/>
          </a:p>
          <a:p>
            <a:endParaRPr lang="he-IL" dirty="0"/>
          </a:p>
        </p:txBody>
      </p:sp>
    </p:spTree>
    <p:extLst>
      <p:ext uri="{BB962C8B-B14F-4D97-AF65-F5344CB8AC3E}">
        <p14:creationId xmlns:p14="http://schemas.microsoft.com/office/powerpoint/2010/main" val="260917397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463040" y="642594"/>
            <a:ext cx="9662160" cy="1371600"/>
          </a:xfrm>
        </p:spPr>
        <p:txBody>
          <a:bodyPr>
            <a:normAutofit fontScale="90000"/>
          </a:bodyPr>
          <a:lstStyle/>
          <a:p>
            <a:r>
              <a:rPr lang="he-IL" dirty="0"/>
              <a:t>מבנה קובצי </a:t>
            </a:r>
            <a:r>
              <a:rPr lang="en-US" dirty="0"/>
              <a:t>PE (Portable Executable)</a:t>
            </a:r>
            <a:endParaRPr lang="he-IL" dirty="0"/>
          </a:p>
        </p:txBody>
      </p:sp>
      <p:sp>
        <p:nvSpPr>
          <p:cNvPr id="3" name="מציין מיקום תוכן 2"/>
          <p:cNvSpPr>
            <a:spLocks noGrp="1"/>
          </p:cNvSpPr>
          <p:nvPr>
            <p:ph idx="1"/>
          </p:nvPr>
        </p:nvSpPr>
        <p:spPr/>
        <p:txBody>
          <a:bodyPr/>
          <a:lstStyle/>
          <a:p>
            <a:r>
              <a:rPr lang="he-IL" dirty="0"/>
              <a:t>קובצי הרצה מבוססי </a:t>
            </a:r>
            <a:r>
              <a:rPr lang="en-US" dirty="0" smtClean="0"/>
              <a:t> Windows</a:t>
            </a:r>
            <a:r>
              <a:rPr lang="he-IL" dirty="0" smtClean="0"/>
              <a:t>כגון</a:t>
            </a:r>
            <a:r>
              <a:rPr lang="en-US" dirty="0" smtClean="0"/>
              <a:t> EXE </a:t>
            </a:r>
            <a:r>
              <a:rPr lang="he-IL" dirty="0" smtClean="0"/>
              <a:t>ו-</a:t>
            </a:r>
            <a:r>
              <a:rPr lang="en-US" dirty="0" smtClean="0"/>
              <a:t> DLL </a:t>
            </a:r>
            <a:r>
              <a:rPr lang="he-IL" dirty="0"/>
              <a:t>פועלים לפי פורמט </a:t>
            </a:r>
            <a:r>
              <a:rPr lang="en-US" dirty="0" smtClean="0"/>
              <a:t> PE</a:t>
            </a:r>
            <a:r>
              <a:rPr lang="he-IL" dirty="0" smtClean="0"/>
              <a:t>הפורמט </a:t>
            </a:r>
            <a:r>
              <a:rPr lang="he-IL" dirty="0"/>
              <a:t>כולל מבנים ותתי-מבנים המספקים נקודות רבות להחבאת מידע. נסקור מבנה זה בקצרה</a:t>
            </a:r>
            <a:r>
              <a:rPr lang="he-IL" dirty="0" smtClean="0"/>
              <a:t>:</a:t>
            </a:r>
          </a:p>
          <a:p>
            <a:r>
              <a:rPr lang="en-US" b="1" dirty="0"/>
              <a:t>DOS </a:t>
            </a:r>
            <a:r>
              <a:rPr lang="en-US" b="1" dirty="0" smtClean="0"/>
              <a:t>Header</a:t>
            </a:r>
            <a:r>
              <a:rPr lang="he-IL" dirty="0" smtClean="0"/>
              <a:t>: הכותרת </a:t>
            </a:r>
            <a:r>
              <a:rPr lang="he-IL" dirty="0"/>
              <a:t>הראשונית </a:t>
            </a:r>
            <a:r>
              <a:rPr lang="he-IL" dirty="0" smtClean="0"/>
              <a:t>בפורמט</a:t>
            </a:r>
            <a:r>
              <a:rPr lang="en-US" dirty="0" smtClean="0"/>
              <a:t> DOS </a:t>
            </a:r>
            <a:r>
              <a:rPr lang="he-IL" dirty="0"/>
              <a:t>שכוללת שדות רבים שאינם מנוצלים במערכות מודרניות</a:t>
            </a:r>
            <a:r>
              <a:rPr lang="he-IL" dirty="0" smtClean="0"/>
              <a:t>.</a:t>
            </a:r>
          </a:p>
          <a:p>
            <a:r>
              <a:rPr lang="en-US" b="1" dirty="0"/>
              <a:t>PE </a:t>
            </a:r>
            <a:r>
              <a:rPr lang="en-US" b="1" dirty="0" smtClean="0"/>
              <a:t>Header</a:t>
            </a:r>
            <a:r>
              <a:rPr lang="he-IL" dirty="0" smtClean="0"/>
              <a:t>: הכותרת </a:t>
            </a:r>
            <a:r>
              <a:rPr lang="he-IL" dirty="0"/>
              <a:t>המרכזית של הפורמט. היא מכילה שדות המצביעים למיקום נתונים וקוד</a:t>
            </a:r>
            <a:r>
              <a:rPr lang="he-IL" dirty="0" smtClean="0"/>
              <a:t>.</a:t>
            </a:r>
          </a:p>
          <a:p>
            <a:r>
              <a:rPr lang="en-US" b="1" dirty="0" smtClean="0"/>
              <a:t>Sections</a:t>
            </a:r>
            <a:r>
              <a:rPr lang="he-IL" dirty="0" smtClean="0"/>
              <a:t>: אזורים </a:t>
            </a:r>
            <a:r>
              <a:rPr lang="he-IL" dirty="0"/>
              <a:t>עיקריים של הקובץ</a:t>
            </a:r>
            <a:r>
              <a:rPr lang="he-IL" dirty="0" smtClean="0"/>
              <a:t>:</a:t>
            </a:r>
          </a:p>
          <a:p>
            <a:r>
              <a:rPr lang="en-US" dirty="0"/>
              <a:t>.</a:t>
            </a:r>
            <a:r>
              <a:rPr lang="en-US" dirty="0" smtClean="0"/>
              <a:t>text</a:t>
            </a:r>
            <a:r>
              <a:rPr lang="he-IL" dirty="0"/>
              <a:t> : מכיל את הקוד הבינארי של התוכנית</a:t>
            </a:r>
            <a:r>
              <a:rPr lang="he-IL" dirty="0" smtClean="0"/>
              <a:t>.</a:t>
            </a:r>
          </a:p>
          <a:p>
            <a:r>
              <a:rPr lang="en-US" dirty="0"/>
              <a:t>.</a:t>
            </a:r>
            <a:r>
              <a:rPr lang="en-US" dirty="0" smtClean="0"/>
              <a:t>data</a:t>
            </a:r>
            <a:r>
              <a:rPr lang="he-IL" dirty="0"/>
              <a:t> : מכיל נתונים גלובליים</a:t>
            </a:r>
            <a:r>
              <a:rPr lang="he-IL" dirty="0" smtClean="0"/>
              <a:t>.</a:t>
            </a:r>
          </a:p>
          <a:p>
            <a:r>
              <a:rPr lang="en-US" dirty="0"/>
              <a:t>.</a:t>
            </a:r>
            <a:r>
              <a:rPr lang="en-US" dirty="0" err="1" smtClean="0"/>
              <a:t>rsrc</a:t>
            </a:r>
            <a:r>
              <a:rPr lang="he-IL" dirty="0"/>
              <a:t> : משאבים כמו אייקונים, תפריטים ותמונות</a:t>
            </a:r>
            <a:r>
              <a:rPr lang="he-IL" dirty="0" smtClean="0"/>
              <a:t>.</a:t>
            </a:r>
          </a:p>
          <a:p>
            <a:r>
              <a:rPr lang="he-IL" dirty="0"/>
              <a:t>שדות </a:t>
            </a:r>
            <a:r>
              <a:rPr lang="en-US" dirty="0" smtClean="0"/>
              <a:t> padding</a:t>
            </a:r>
            <a:r>
              <a:rPr lang="he-IL" dirty="0" smtClean="0"/>
              <a:t>בין </a:t>
            </a:r>
            <a:r>
              <a:rPr lang="he-IL" dirty="0"/>
              <a:t>הסגמנטים או סגמנטים יתירים מהווים מיקום פוטנציאלי להסתרה.</a:t>
            </a:r>
          </a:p>
        </p:txBody>
      </p:sp>
    </p:spTree>
    <p:extLst>
      <p:ext uri="{BB962C8B-B14F-4D97-AF65-F5344CB8AC3E}">
        <p14:creationId xmlns:p14="http://schemas.microsoft.com/office/powerpoint/2010/main" val="108052503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23949" y="650906"/>
            <a:ext cx="11587942" cy="1371600"/>
          </a:xfrm>
        </p:spPr>
        <p:txBody>
          <a:bodyPr>
            <a:normAutofit fontScale="90000"/>
          </a:bodyPr>
          <a:lstStyle/>
          <a:p>
            <a:r>
              <a:rPr lang="he-IL" dirty="0" smtClean="0"/>
              <a:t>המשך - </a:t>
            </a:r>
            <a:r>
              <a:rPr lang="he-IL" dirty="0"/>
              <a:t>מבנה קובצי </a:t>
            </a:r>
            <a:r>
              <a:rPr lang="en-US" dirty="0"/>
              <a:t>PE (Portable Executable)</a:t>
            </a:r>
            <a:endParaRPr lang="he-IL" dirty="0"/>
          </a:p>
        </p:txBody>
      </p:sp>
      <p:sp>
        <p:nvSpPr>
          <p:cNvPr id="3" name="מציין מיקום תוכן 2"/>
          <p:cNvSpPr>
            <a:spLocks noGrp="1"/>
          </p:cNvSpPr>
          <p:nvPr>
            <p:ph idx="1"/>
          </p:nvPr>
        </p:nvSpPr>
        <p:spPr/>
        <p:txBody>
          <a:bodyPr>
            <a:normAutofit/>
          </a:bodyPr>
          <a:lstStyle/>
          <a:p>
            <a:r>
              <a:rPr lang="he-IL" sz="2400" b="1" dirty="0"/>
              <a:t>נקודות להחבאת מידע במבנה </a:t>
            </a:r>
            <a:r>
              <a:rPr lang="en-US" sz="2400" b="1" dirty="0" smtClean="0"/>
              <a:t>PE</a:t>
            </a:r>
            <a:r>
              <a:rPr lang="he-IL" sz="2400" b="1" dirty="0" smtClean="0"/>
              <a:t>:</a:t>
            </a:r>
          </a:p>
          <a:p>
            <a:endParaRPr lang="he-IL" sz="2400" b="1" dirty="0" smtClean="0"/>
          </a:p>
          <a:p>
            <a:r>
              <a:rPr lang="he-IL" dirty="0" smtClean="0"/>
              <a:t>1. </a:t>
            </a:r>
            <a:r>
              <a:rPr lang="he-IL" b="1" dirty="0"/>
              <a:t>שדות שאינם בשימוש בכותרות</a:t>
            </a:r>
            <a:r>
              <a:rPr lang="he-IL" b="1" dirty="0" smtClean="0"/>
              <a:t>: </a:t>
            </a:r>
            <a:r>
              <a:rPr lang="he-IL" dirty="0" smtClean="0"/>
              <a:t>לדוגמה</a:t>
            </a:r>
            <a:r>
              <a:rPr lang="he-IL" dirty="0"/>
              <a:t>, שדות ששמורים לעתיד או שדות שאינם מנוצלים במערכות מודרניות.</a:t>
            </a:r>
          </a:p>
          <a:p>
            <a:endParaRPr lang="he-IL" dirty="0" smtClean="0"/>
          </a:p>
          <a:p>
            <a:r>
              <a:rPr lang="he-IL" dirty="0" smtClean="0"/>
              <a:t>2. </a:t>
            </a:r>
            <a:r>
              <a:rPr lang="he-IL" b="1" dirty="0"/>
              <a:t>שדות יתירים בין סגמנטים</a:t>
            </a:r>
            <a:r>
              <a:rPr lang="he-IL" b="1" dirty="0" smtClean="0"/>
              <a:t>: </a:t>
            </a:r>
            <a:r>
              <a:rPr lang="he-IL" dirty="0" smtClean="0"/>
              <a:t>יישור </a:t>
            </a:r>
            <a:r>
              <a:rPr lang="he-IL" dirty="0"/>
              <a:t>הנתונים בקובץ לגדלים מסוימים יוצר אזורים ריקים.</a:t>
            </a:r>
          </a:p>
          <a:p>
            <a:endParaRPr lang="he-IL" dirty="0" smtClean="0"/>
          </a:p>
          <a:p>
            <a:r>
              <a:rPr lang="he-IL" dirty="0" smtClean="0"/>
              <a:t>3</a:t>
            </a:r>
            <a:r>
              <a:rPr lang="he-IL" dirty="0"/>
              <a:t>. </a:t>
            </a:r>
            <a:r>
              <a:rPr lang="he-IL" b="1" dirty="0"/>
              <a:t>שדות בסגמנט </a:t>
            </a:r>
            <a:r>
              <a:rPr lang="he-IL" b="1" dirty="0" smtClean="0"/>
              <a:t>המשאבים (</a:t>
            </a:r>
            <a:r>
              <a:rPr lang="en-US" b="1" dirty="0"/>
              <a:t>.</a:t>
            </a:r>
            <a:r>
              <a:rPr lang="en-US" b="1" dirty="0" err="1" smtClean="0"/>
              <a:t>rsrc</a:t>
            </a:r>
            <a:r>
              <a:rPr lang="he-IL" b="1" dirty="0" smtClean="0"/>
              <a:t>): </a:t>
            </a:r>
            <a:r>
              <a:rPr lang="he-IL" dirty="0"/>
              <a:t>ניתן לשנות או להוסיף מידע נסתר לתוך אובייקטים כמו אייקונים או טקסטים בקובץ.</a:t>
            </a:r>
          </a:p>
        </p:txBody>
      </p:sp>
    </p:spTree>
    <p:extLst>
      <p:ext uri="{BB962C8B-B14F-4D97-AF65-F5344CB8AC3E}">
        <p14:creationId xmlns:p14="http://schemas.microsoft.com/office/powerpoint/2010/main" val="263195864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66254" y="251896"/>
            <a:ext cx="11962013" cy="1371600"/>
          </a:xfrm>
        </p:spPr>
        <p:txBody>
          <a:bodyPr>
            <a:normAutofit fontScale="90000"/>
          </a:bodyPr>
          <a:lstStyle/>
          <a:p>
            <a:r>
              <a:rPr lang="he-IL" dirty="0"/>
              <a:t>שיטות חדשניות להחבאת מידע בקובצי הרצה וספריות</a:t>
            </a:r>
          </a:p>
        </p:txBody>
      </p:sp>
      <p:sp>
        <p:nvSpPr>
          <p:cNvPr id="3" name="מציין מיקום תוכן 2"/>
          <p:cNvSpPr>
            <a:spLocks noGrp="1"/>
          </p:cNvSpPr>
          <p:nvPr>
            <p:ph idx="1"/>
          </p:nvPr>
        </p:nvSpPr>
        <p:spPr>
          <a:xfrm>
            <a:off x="1118061" y="1623496"/>
            <a:ext cx="10058400" cy="4599452"/>
          </a:xfrm>
        </p:spPr>
        <p:txBody>
          <a:bodyPr>
            <a:normAutofit/>
          </a:bodyPr>
          <a:lstStyle/>
          <a:p>
            <a:r>
              <a:rPr lang="he-IL" b="1" dirty="0"/>
              <a:t>א. הוספת מידע לסגמנט </a:t>
            </a:r>
            <a:r>
              <a:rPr lang="he-IL" b="1" dirty="0" smtClean="0"/>
              <a:t>חדש </a:t>
            </a:r>
            <a:r>
              <a:rPr lang="en-US" b="1" dirty="0" smtClean="0"/>
              <a:t>Custom Section</a:t>
            </a:r>
            <a:r>
              <a:rPr lang="he-IL" b="1" dirty="0" smtClean="0"/>
              <a:t>: </a:t>
            </a:r>
            <a:r>
              <a:rPr lang="he-IL" dirty="0" smtClean="0"/>
              <a:t>אפשרות </a:t>
            </a:r>
            <a:r>
              <a:rPr lang="he-IL" dirty="0"/>
              <a:t>זו כוללת יצירת סגמנט חדש (</a:t>
            </a:r>
            <a:r>
              <a:rPr lang="he-IL" dirty="0" smtClean="0"/>
              <a:t>לדוגמה </a:t>
            </a:r>
            <a:r>
              <a:rPr lang="en-US" dirty="0"/>
              <a:t>.</a:t>
            </a:r>
            <a:r>
              <a:rPr lang="en-US" dirty="0" smtClean="0"/>
              <a:t>hidden</a:t>
            </a:r>
            <a:r>
              <a:rPr lang="he-IL" dirty="0"/>
              <a:t>) והוספת המידע המוסתר לשם</a:t>
            </a:r>
            <a:r>
              <a:rPr lang="he-IL" dirty="0" smtClean="0"/>
              <a:t>.</a:t>
            </a:r>
          </a:p>
          <a:p>
            <a:r>
              <a:rPr lang="he-IL" dirty="0"/>
              <a:t>יתרון: לא משפיע על התפקוד של סגמנטים אחרים</a:t>
            </a:r>
            <a:r>
              <a:rPr lang="he-IL" dirty="0" smtClean="0"/>
              <a:t>.</a:t>
            </a:r>
          </a:p>
          <a:p>
            <a:r>
              <a:rPr lang="he-IL" dirty="0"/>
              <a:t>חסרון: קל לזיהוי אם מישהו משווה את הקובץ המקורי לקובץ המעובד.</a:t>
            </a:r>
          </a:p>
          <a:p>
            <a:r>
              <a:rPr lang="he-IL" b="1" dirty="0"/>
              <a:t>ב. החבאת מידע באמצעות שגיאות </a:t>
            </a:r>
            <a:r>
              <a:rPr lang="he-IL" b="1" dirty="0" smtClean="0"/>
              <a:t>מכוונות: </a:t>
            </a:r>
            <a:r>
              <a:rPr lang="he-IL" dirty="0" smtClean="0"/>
              <a:t>שגיאות </a:t>
            </a:r>
            <a:r>
              <a:rPr lang="he-IL" dirty="0"/>
              <a:t>מכוונות (כגון </a:t>
            </a:r>
            <a:r>
              <a:rPr lang="he-IL" dirty="0" smtClean="0"/>
              <a:t>שינוי</a:t>
            </a:r>
            <a:r>
              <a:rPr lang="en-US" dirty="0" smtClean="0"/>
              <a:t>checksum </a:t>
            </a:r>
            <a:r>
              <a:rPr lang="he-IL" dirty="0" smtClean="0"/>
              <a:t> או </a:t>
            </a:r>
            <a:r>
              <a:rPr lang="he-IL" dirty="0"/>
              <a:t>הזנת ערכים לא תקינים) מאפשרות להחביא ביטים של מידע.</a:t>
            </a:r>
          </a:p>
          <a:p>
            <a:r>
              <a:rPr lang="he-IL" dirty="0"/>
              <a:t>יתרון: קשה לזיהוי אם השגיאה נראית "טבעית".</a:t>
            </a:r>
          </a:p>
          <a:p>
            <a:r>
              <a:rPr lang="he-IL" dirty="0"/>
              <a:t>חסרון: עלולה לגרום לתקלה בהרצת הקובץ</a:t>
            </a:r>
            <a:r>
              <a:rPr lang="he-IL" dirty="0" smtClean="0"/>
              <a:t>.</a:t>
            </a:r>
          </a:p>
          <a:p>
            <a:r>
              <a:rPr lang="he-IL" b="1" dirty="0"/>
              <a:t>ג. החבאת מידע בתוך נתוני </a:t>
            </a:r>
            <a:r>
              <a:rPr lang="en-US" b="1" dirty="0" smtClean="0"/>
              <a:t>Debug</a:t>
            </a:r>
            <a:r>
              <a:rPr lang="he-IL" b="1" dirty="0" smtClean="0"/>
              <a:t>: </a:t>
            </a:r>
            <a:r>
              <a:rPr lang="he-IL" dirty="0" smtClean="0"/>
              <a:t>קבצי </a:t>
            </a:r>
            <a:r>
              <a:rPr lang="he-IL" dirty="0"/>
              <a:t>הרצה יכולים להכיל נתוני </a:t>
            </a:r>
            <a:r>
              <a:rPr lang="en-US" dirty="0"/>
              <a:t>Debug </a:t>
            </a:r>
            <a:r>
              <a:rPr lang="he-IL" dirty="0" smtClean="0"/>
              <a:t> שאינם </a:t>
            </a:r>
            <a:r>
              <a:rPr lang="he-IL" dirty="0"/>
              <a:t>קריטיים להרצה, ולכן ניתן להוסיף לשדות אלו מידע מוסתר</a:t>
            </a:r>
            <a:r>
              <a:rPr lang="he-IL" dirty="0" smtClean="0"/>
              <a:t>.</a:t>
            </a:r>
          </a:p>
          <a:p>
            <a:r>
              <a:rPr lang="he-IL" b="1" dirty="0"/>
              <a:t>ד. שינוי תוכן שאינו בשימוש </a:t>
            </a:r>
            <a:r>
              <a:rPr lang="he-IL" b="1" dirty="0" smtClean="0"/>
              <a:t>בפועל: </a:t>
            </a:r>
            <a:r>
              <a:rPr lang="he-IL" dirty="0" smtClean="0"/>
              <a:t>לדוגמה</a:t>
            </a:r>
            <a:r>
              <a:rPr lang="he-IL" dirty="0"/>
              <a:t>: שינוי ערכים בקובץ הריצה שמשפיעים רק על תצוגת הודעות למשתמש, ולא על הפונקציונליות.</a:t>
            </a:r>
          </a:p>
          <a:p>
            <a:endParaRPr lang="he-IL" dirty="0"/>
          </a:p>
          <a:p>
            <a:endParaRPr lang="he-IL" dirty="0"/>
          </a:p>
          <a:p>
            <a:endParaRPr lang="he-IL" dirty="0"/>
          </a:p>
        </p:txBody>
      </p:sp>
    </p:spTree>
    <p:extLst>
      <p:ext uri="{BB962C8B-B14F-4D97-AF65-F5344CB8AC3E}">
        <p14:creationId xmlns:p14="http://schemas.microsoft.com/office/powerpoint/2010/main" val="347657400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771504" y="642594"/>
            <a:ext cx="6353695" cy="1371600"/>
          </a:xfrm>
        </p:spPr>
        <p:txBody>
          <a:bodyPr/>
          <a:lstStyle/>
          <a:p>
            <a:r>
              <a:rPr lang="he-IL" dirty="0"/>
              <a:t>אתגרים ושיקולים טכניים</a:t>
            </a:r>
          </a:p>
        </p:txBody>
      </p:sp>
      <p:sp>
        <p:nvSpPr>
          <p:cNvPr id="3" name="מציין מיקום תוכן 2"/>
          <p:cNvSpPr>
            <a:spLocks noGrp="1"/>
          </p:cNvSpPr>
          <p:nvPr>
            <p:ph idx="1"/>
          </p:nvPr>
        </p:nvSpPr>
        <p:spPr/>
        <p:txBody>
          <a:bodyPr/>
          <a:lstStyle/>
          <a:p>
            <a:r>
              <a:rPr lang="he-IL" b="1" dirty="0"/>
              <a:t>א. שימור פונקציונליות </a:t>
            </a:r>
            <a:r>
              <a:rPr lang="he-IL" b="1" dirty="0" smtClean="0"/>
              <a:t>הקובץ: </a:t>
            </a:r>
            <a:r>
              <a:rPr lang="he-IL" dirty="0" smtClean="0"/>
              <a:t>כל </a:t>
            </a:r>
            <a:r>
              <a:rPr lang="he-IL" dirty="0"/>
              <a:t>שינוי חייב להיעשות בזהירות כדי שהקובץ ימשיך לפעול כראוי.</a:t>
            </a:r>
          </a:p>
          <a:p>
            <a:r>
              <a:rPr lang="he-IL" dirty="0"/>
              <a:t>לדוגמה, שינוי </a:t>
            </a:r>
            <a:r>
              <a:rPr lang="he-IL" dirty="0" smtClean="0"/>
              <a:t>בסגמנט </a:t>
            </a:r>
            <a:r>
              <a:rPr lang="en-US" dirty="0"/>
              <a:t>.</a:t>
            </a:r>
            <a:r>
              <a:rPr lang="en-US" dirty="0" smtClean="0"/>
              <a:t>text</a:t>
            </a:r>
            <a:r>
              <a:rPr lang="he-IL" dirty="0"/>
              <a:t> עלול לשנות את התנהגות התוכנה ולגרום לתקלות</a:t>
            </a:r>
            <a:r>
              <a:rPr lang="he-IL" dirty="0" smtClean="0"/>
              <a:t>.</a:t>
            </a:r>
          </a:p>
          <a:p>
            <a:endParaRPr lang="he-IL" dirty="0" smtClean="0"/>
          </a:p>
          <a:p>
            <a:r>
              <a:rPr lang="he-IL" b="1" dirty="0"/>
              <a:t>ב. זיהוי אוטומטי של תוכנות </a:t>
            </a:r>
            <a:r>
              <a:rPr lang="he-IL" b="1" dirty="0" smtClean="0"/>
              <a:t>אבטחה: </a:t>
            </a:r>
            <a:r>
              <a:rPr lang="he-IL" dirty="0" smtClean="0"/>
              <a:t>מערכות </a:t>
            </a:r>
            <a:r>
              <a:rPr lang="he-IL" dirty="0"/>
              <a:t>אנטי-וירוס וסורקי קבצים משתמשים בטכניקות מתקדמות כדי לזהות שינויים לא טבעיים בקבצי </a:t>
            </a:r>
            <a:r>
              <a:rPr lang="en-US" dirty="0" smtClean="0"/>
              <a:t>EXE</a:t>
            </a:r>
            <a:r>
              <a:rPr lang="he-IL" dirty="0" smtClean="0"/>
              <a:t>.</a:t>
            </a:r>
            <a:endParaRPr lang="en-US" dirty="0"/>
          </a:p>
          <a:p>
            <a:r>
              <a:rPr lang="he-IL" dirty="0"/>
              <a:t>פתרון: להשתמש בטכניקות מתוחכמות שמחקות את מבנה הקובץ המקורי</a:t>
            </a:r>
            <a:r>
              <a:rPr lang="he-IL" dirty="0" smtClean="0"/>
              <a:t>.</a:t>
            </a:r>
          </a:p>
          <a:p>
            <a:endParaRPr lang="he-IL" dirty="0"/>
          </a:p>
          <a:p>
            <a:r>
              <a:rPr lang="he-IL" b="1" dirty="0"/>
              <a:t>ג. ניתוח </a:t>
            </a:r>
            <a:r>
              <a:rPr lang="he-IL" b="1" dirty="0" smtClean="0"/>
              <a:t>סטטיסטי: </a:t>
            </a:r>
            <a:r>
              <a:rPr lang="he-IL" dirty="0" smtClean="0"/>
              <a:t>כל </a:t>
            </a:r>
            <a:r>
              <a:rPr lang="he-IL" dirty="0"/>
              <a:t>שינוי חייב להיראות טבעי מבחינת גודל הקובץ ותוכנו, כדי להימנע מחשד.</a:t>
            </a:r>
          </a:p>
          <a:p>
            <a:endParaRPr lang="he-IL" dirty="0"/>
          </a:p>
          <a:p>
            <a:endParaRPr lang="he-IL" dirty="0"/>
          </a:p>
        </p:txBody>
      </p:sp>
    </p:spTree>
    <p:extLst>
      <p:ext uri="{BB962C8B-B14F-4D97-AF65-F5344CB8AC3E}">
        <p14:creationId xmlns:p14="http://schemas.microsoft.com/office/powerpoint/2010/main" val="65782453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660072" y="642594"/>
            <a:ext cx="8465127" cy="1371600"/>
          </a:xfrm>
        </p:spPr>
        <p:txBody>
          <a:bodyPr/>
          <a:lstStyle/>
          <a:p>
            <a:r>
              <a:rPr lang="he-IL" dirty="0"/>
              <a:t>כלים וטכניקות לזיהוי מידע מוסתר</a:t>
            </a:r>
          </a:p>
        </p:txBody>
      </p:sp>
      <p:sp>
        <p:nvSpPr>
          <p:cNvPr id="3" name="מציין מיקום תוכן 2"/>
          <p:cNvSpPr>
            <a:spLocks noGrp="1"/>
          </p:cNvSpPr>
          <p:nvPr>
            <p:ph idx="1"/>
          </p:nvPr>
        </p:nvSpPr>
        <p:spPr/>
        <p:txBody>
          <a:bodyPr/>
          <a:lstStyle/>
          <a:p>
            <a:r>
              <a:rPr lang="he-IL" b="1" dirty="0"/>
              <a:t>א. ניתוח מבנה </a:t>
            </a:r>
            <a:r>
              <a:rPr lang="he-IL" b="1" dirty="0" smtClean="0"/>
              <a:t>הקובץ: </a:t>
            </a:r>
            <a:r>
              <a:rPr lang="he-IL" dirty="0" smtClean="0"/>
              <a:t>כלים </a:t>
            </a:r>
            <a:r>
              <a:rPr lang="he-IL" dirty="0"/>
              <a:t>כמו </a:t>
            </a:r>
            <a:r>
              <a:rPr lang="en-US" dirty="0" smtClean="0"/>
              <a:t> </a:t>
            </a:r>
            <a:r>
              <a:rPr lang="en-US" b="1" dirty="0" smtClean="0"/>
              <a:t>PE </a:t>
            </a:r>
            <a:r>
              <a:rPr lang="en-US" b="1" dirty="0"/>
              <a:t>Explorer</a:t>
            </a:r>
            <a:r>
              <a:rPr lang="en-US" dirty="0"/>
              <a:t> </a:t>
            </a:r>
            <a:r>
              <a:rPr lang="he-IL" dirty="0" smtClean="0"/>
              <a:t>ו-</a:t>
            </a:r>
            <a:r>
              <a:rPr lang="en-US" dirty="0" smtClean="0"/>
              <a:t> </a:t>
            </a:r>
            <a:r>
              <a:rPr lang="en-US" b="1" dirty="0" smtClean="0"/>
              <a:t>IDA </a:t>
            </a:r>
            <a:r>
              <a:rPr lang="en-US" b="1" dirty="0"/>
              <a:t>Pro</a:t>
            </a:r>
            <a:r>
              <a:rPr lang="en-US" dirty="0"/>
              <a:t> </a:t>
            </a:r>
            <a:r>
              <a:rPr lang="he-IL" dirty="0"/>
              <a:t>מאפשרים ניתוח מבנה קובץ וזיהוי שדות חשודים.</a:t>
            </a:r>
          </a:p>
          <a:p>
            <a:endParaRPr lang="he-IL" dirty="0" smtClean="0"/>
          </a:p>
          <a:p>
            <a:r>
              <a:rPr lang="he-IL" b="1" dirty="0"/>
              <a:t>ב. השוואת </a:t>
            </a:r>
            <a:r>
              <a:rPr lang="he-IL" b="1" dirty="0" smtClean="0"/>
              <a:t>קבצים: </a:t>
            </a:r>
            <a:r>
              <a:rPr lang="he-IL" dirty="0" smtClean="0"/>
              <a:t>השוואת </a:t>
            </a:r>
            <a:r>
              <a:rPr lang="he-IL" dirty="0"/>
              <a:t>הקובץ לקובץ המקורי יכולה לחשוף הבדלים חשודים</a:t>
            </a:r>
            <a:r>
              <a:rPr lang="he-IL" dirty="0" smtClean="0"/>
              <a:t>.</a:t>
            </a:r>
          </a:p>
          <a:p>
            <a:endParaRPr lang="he-IL" dirty="0"/>
          </a:p>
          <a:p>
            <a:r>
              <a:rPr lang="he-IL" b="1" dirty="0" smtClean="0"/>
              <a:t>ג. ניתוח </a:t>
            </a:r>
            <a:r>
              <a:rPr lang="he-IL" b="1" dirty="0"/>
              <a:t>נתוני </a:t>
            </a:r>
            <a:r>
              <a:rPr lang="en-US" b="1" dirty="0" smtClean="0"/>
              <a:t>Metadata</a:t>
            </a:r>
            <a:r>
              <a:rPr lang="he-IL" b="1" dirty="0" smtClean="0"/>
              <a:t>: </a:t>
            </a:r>
            <a:r>
              <a:rPr lang="he-IL" dirty="0" smtClean="0"/>
              <a:t>בדיקת </a:t>
            </a:r>
            <a:r>
              <a:rPr lang="he-IL" dirty="0"/>
              <a:t>שדות </a:t>
            </a:r>
            <a:r>
              <a:rPr lang="en-US" dirty="0" smtClean="0"/>
              <a:t> Metadata</a:t>
            </a:r>
            <a:r>
              <a:rPr lang="he-IL" dirty="0" smtClean="0"/>
              <a:t>לא </a:t>
            </a:r>
            <a:r>
              <a:rPr lang="he-IL" dirty="0"/>
              <a:t>טיפוסיים יכולה להצביע על שינויים שנעשו בקובץ</a:t>
            </a:r>
            <a:r>
              <a:rPr lang="he-IL" dirty="0" smtClean="0"/>
              <a:t>.</a:t>
            </a:r>
          </a:p>
          <a:p>
            <a:endParaRPr lang="he-IL" dirty="0"/>
          </a:p>
          <a:p>
            <a:r>
              <a:rPr lang="he-IL" b="1" dirty="0" smtClean="0"/>
              <a:t>ד. ניתוח התנהגותי: </a:t>
            </a:r>
            <a:r>
              <a:rPr lang="he-IL" dirty="0" smtClean="0"/>
              <a:t>הרצת </a:t>
            </a:r>
            <a:r>
              <a:rPr lang="he-IL" dirty="0"/>
              <a:t>הקובץ במכונה וירטואלית ובחינת השפעותיו מאפשרת לזהות קוד או נתונים מוסתרים.</a:t>
            </a:r>
          </a:p>
          <a:p>
            <a:endParaRPr lang="he-IL" dirty="0"/>
          </a:p>
          <a:p>
            <a:endParaRPr lang="he-IL" dirty="0"/>
          </a:p>
          <a:p>
            <a:endParaRPr lang="he-IL" dirty="0"/>
          </a:p>
        </p:txBody>
      </p:sp>
    </p:spTree>
    <p:extLst>
      <p:ext uri="{BB962C8B-B14F-4D97-AF65-F5344CB8AC3E}">
        <p14:creationId xmlns:p14="http://schemas.microsoft.com/office/powerpoint/2010/main" val="128047547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49283" y="642594"/>
            <a:ext cx="10493433" cy="1371600"/>
          </a:xfrm>
        </p:spPr>
        <p:txBody>
          <a:bodyPr>
            <a:normAutofit fontScale="90000"/>
          </a:bodyPr>
          <a:lstStyle/>
          <a:p>
            <a:r>
              <a:rPr lang="he-IL" dirty="0"/>
              <a:t>יתרונות וחסרונות של ניצול יתרות בקובצי הרצה</a:t>
            </a:r>
          </a:p>
        </p:txBody>
      </p:sp>
      <p:sp>
        <p:nvSpPr>
          <p:cNvPr id="3" name="מציין מיקום תוכן 2"/>
          <p:cNvSpPr>
            <a:spLocks noGrp="1"/>
          </p:cNvSpPr>
          <p:nvPr>
            <p:ph idx="1"/>
          </p:nvPr>
        </p:nvSpPr>
        <p:spPr/>
        <p:txBody>
          <a:bodyPr/>
          <a:lstStyle/>
          <a:p>
            <a:r>
              <a:rPr lang="he-IL" b="1" dirty="0"/>
              <a:t>יתרונות:</a:t>
            </a:r>
          </a:p>
          <a:p>
            <a:r>
              <a:rPr lang="he-IL" b="1" dirty="0" smtClean="0"/>
              <a:t>1. שקיפות </a:t>
            </a:r>
            <a:r>
              <a:rPr lang="he-IL" b="1" dirty="0"/>
              <a:t>למשתמש:</a:t>
            </a:r>
            <a:r>
              <a:rPr lang="he-IL" dirty="0"/>
              <a:t> הקבצים נראים רגילים ופועלים כרגיל, מה שמקשה על זיהוי.</a:t>
            </a:r>
          </a:p>
          <a:p>
            <a:r>
              <a:rPr lang="he-IL" b="1" dirty="0" smtClean="0"/>
              <a:t>2. יכולת </a:t>
            </a:r>
            <a:r>
              <a:rPr lang="he-IL" b="1" dirty="0"/>
              <a:t>להחביא כמויות גדולות של מידע:</a:t>
            </a:r>
            <a:r>
              <a:rPr lang="he-IL" dirty="0"/>
              <a:t> במיוחד אם הקובץ מכיל הרבה שטחים ריקים.</a:t>
            </a:r>
          </a:p>
          <a:p>
            <a:r>
              <a:rPr lang="he-IL" b="1" dirty="0" smtClean="0"/>
              <a:t>3. עמידות </a:t>
            </a:r>
            <a:r>
              <a:rPr lang="he-IL" b="1" dirty="0"/>
              <a:t>לתוכנות אנטי-וירוס בסיסיות:</a:t>
            </a:r>
            <a:r>
              <a:rPr lang="he-IL" dirty="0"/>
              <a:t> רוב כלי האבטחה לא מזהים מסרים מוסתרים בשדות יתירים</a:t>
            </a:r>
            <a:r>
              <a:rPr lang="he-IL" dirty="0" smtClean="0"/>
              <a:t>.</a:t>
            </a:r>
          </a:p>
          <a:p>
            <a:endParaRPr lang="he-IL" dirty="0"/>
          </a:p>
          <a:p>
            <a:r>
              <a:rPr lang="he-IL" b="1" dirty="0"/>
              <a:t>חסרונות:</a:t>
            </a:r>
          </a:p>
          <a:p>
            <a:r>
              <a:rPr lang="he-IL" b="1" dirty="0" smtClean="0"/>
              <a:t>1. רגישות </a:t>
            </a:r>
            <a:r>
              <a:rPr lang="he-IL" b="1" dirty="0"/>
              <a:t>לשינויים בקובץ:</a:t>
            </a:r>
            <a:r>
              <a:rPr lang="he-IL" dirty="0"/>
              <a:t> עדכון או עריכה בקובץ עלולה למחוק את המידע המוסתר.</a:t>
            </a:r>
          </a:p>
          <a:p>
            <a:r>
              <a:rPr lang="he-IL" b="1" dirty="0" smtClean="0"/>
              <a:t>2. חשד </a:t>
            </a:r>
            <a:r>
              <a:rPr lang="he-IL" b="1" dirty="0"/>
              <a:t>מצד כלי ניתוח מתקדמים:</a:t>
            </a:r>
            <a:r>
              <a:rPr lang="he-IL" dirty="0"/>
              <a:t> כלים מתקדמים יכולים לזהות אזורים "מוזרים" בקובץ.</a:t>
            </a:r>
          </a:p>
          <a:p>
            <a:r>
              <a:rPr lang="he-IL" b="1" dirty="0" smtClean="0"/>
              <a:t>3. תלות </a:t>
            </a:r>
            <a:r>
              <a:rPr lang="he-IL" b="1" dirty="0"/>
              <a:t>במבנה הקובץ:</a:t>
            </a:r>
            <a:r>
              <a:rPr lang="he-IL" dirty="0"/>
              <a:t> המידע צריך להתאים למבנה הספציפי של הקובץ ולא להשפיע על תפקודו.</a:t>
            </a:r>
          </a:p>
          <a:p>
            <a:endParaRPr lang="he-IL" dirty="0"/>
          </a:p>
          <a:p>
            <a:endParaRPr lang="he-IL" dirty="0"/>
          </a:p>
        </p:txBody>
      </p:sp>
    </p:spTree>
    <p:extLst>
      <p:ext uri="{BB962C8B-B14F-4D97-AF65-F5344CB8AC3E}">
        <p14:creationId xmlns:p14="http://schemas.microsoft.com/office/powerpoint/2010/main" val="183442985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286000" y="642594"/>
            <a:ext cx="8839200" cy="1371600"/>
          </a:xfrm>
        </p:spPr>
        <p:txBody>
          <a:bodyPr/>
          <a:lstStyle/>
          <a:p>
            <a:r>
              <a:rPr lang="he-IL" dirty="0"/>
              <a:t>אתגרים בניצול יתרות בקובצי הרצה</a:t>
            </a:r>
          </a:p>
        </p:txBody>
      </p:sp>
      <p:sp>
        <p:nvSpPr>
          <p:cNvPr id="3" name="מציין מיקום תוכן 2"/>
          <p:cNvSpPr>
            <a:spLocks noGrp="1"/>
          </p:cNvSpPr>
          <p:nvPr>
            <p:ph idx="1"/>
          </p:nvPr>
        </p:nvSpPr>
        <p:spPr/>
        <p:txBody>
          <a:bodyPr/>
          <a:lstStyle/>
          <a:p>
            <a:r>
              <a:rPr lang="he-IL" dirty="0" smtClean="0"/>
              <a:t>1. </a:t>
            </a:r>
            <a:r>
              <a:rPr lang="he-IL" b="1" dirty="0"/>
              <a:t>ניתוח מבנה הקובץ</a:t>
            </a:r>
            <a:r>
              <a:rPr lang="he-IL" b="1" dirty="0" smtClean="0"/>
              <a:t>: </a:t>
            </a:r>
            <a:r>
              <a:rPr lang="he-IL" dirty="0" smtClean="0"/>
              <a:t>יש </a:t>
            </a:r>
            <a:r>
              <a:rPr lang="he-IL" dirty="0"/>
              <a:t>צורך להבין את מבנה הקובץ </a:t>
            </a:r>
            <a:r>
              <a:rPr lang="he-IL" dirty="0" smtClean="0"/>
              <a:t>כגון </a:t>
            </a:r>
            <a:r>
              <a:rPr lang="en-US" dirty="0" smtClean="0"/>
              <a:t> PE </a:t>
            </a:r>
            <a:r>
              <a:rPr lang="en-US" dirty="0"/>
              <a:t>Header </a:t>
            </a:r>
            <a:r>
              <a:rPr lang="he-IL" dirty="0"/>
              <a:t>בקובצי </a:t>
            </a:r>
            <a:r>
              <a:rPr lang="en-US" dirty="0" smtClean="0"/>
              <a:t>EXE</a:t>
            </a:r>
            <a:endParaRPr lang="en-US" dirty="0"/>
          </a:p>
          <a:p>
            <a:endParaRPr lang="he-IL" dirty="0" smtClean="0"/>
          </a:p>
          <a:p>
            <a:r>
              <a:rPr lang="he-IL" dirty="0" smtClean="0"/>
              <a:t>2. </a:t>
            </a:r>
            <a:r>
              <a:rPr lang="he-IL" b="1" dirty="0"/>
              <a:t>מניעת פגיעה בהרצת הקובץ</a:t>
            </a:r>
            <a:r>
              <a:rPr lang="he-IL" b="1" dirty="0" smtClean="0"/>
              <a:t>: </a:t>
            </a:r>
            <a:r>
              <a:rPr lang="he-IL" dirty="0" smtClean="0"/>
              <a:t>חובה </a:t>
            </a:r>
            <a:r>
              <a:rPr lang="he-IL" dirty="0"/>
              <a:t>לוודא שהוספת המידע המוסתר לא תפגע בפונקציונליות של הקובץ.</a:t>
            </a:r>
          </a:p>
          <a:p>
            <a:endParaRPr lang="he-IL" dirty="0" smtClean="0"/>
          </a:p>
          <a:p>
            <a:r>
              <a:rPr lang="he-IL" dirty="0" smtClean="0"/>
              <a:t>3. </a:t>
            </a:r>
            <a:r>
              <a:rPr lang="he-IL" b="1" dirty="0"/>
              <a:t>גילוי על ידי כלים אוטומטיים</a:t>
            </a:r>
            <a:r>
              <a:rPr lang="he-IL" b="1" dirty="0" smtClean="0"/>
              <a:t>: </a:t>
            </a:r>
            <a:r>
              <a:rPr lang="he-IL" dirty="0" smtClean="0"/>
              <a:t>כיום </a:t>
            </a:r>
            <a:r>
              <a:rPr lang="he-IL" dirty="0"/>
              <a:t>קיימים כלים מתקדמים שמסוגלים לנתח את מבנה הקובץ ולגלות שינויים חשודים.</a:t>
            </a:r>
          </a:p>
          <a:p>
            <a:endParaRPr lang="he-IL" dirty="0" smtClean="0"/>
          </a:p>
          <a:p>
            <a:endParaRPr lang="he-IL" dirty="0"/>
          </a:p>
        </p:txBody>
      </p:sp>
    </p:spTree>
    <p:extLst>
      <p:ext uri="{BB962C8B-B14F-4D97-AF65-F5344CB8AC3E}">
        <p14:creationId xmlns:p14="http://schemas.microsoft.com/office/powerpoint/2010/main" val="56890307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310938" y="642594"/>
            <a:ext cx="8814262" cy="1371600"/>
          </a:xfrm>
        </p:spPr>
        <p:txBody>
          <a:bodyPr/>
          <a:lstStyle/>
          <a:p>
            <a:r>
              <a:rPr lang="he-IL" dirty="0" smtClean="0"/>
              <a:t>שאלה מעשית בכדי לשכך את האוזן</a:t>
            </a:r>
            <a:endParaRPr lang="he-IL" dirty="0"/>
          </a:p>
        </p:txBody>
      </p:sp>
      <p:sp>
        <p:nvSpPr>
          <p:cNvPr id="3" name="מציין מיקום תוכן 2"/>
          <p:cNvSpPr>
            <a:spLocks noGrp="1"/>
          </p:cNvSpPr>
          <p:nvPr>
            <p:ph idx="1"/>
          </p:nvPr>
        </p:nvSpPr>
        <p:spPr/>
        <p:txBody>
          <a:bodyPr/>
          <a:lstStyle/>
          <a:p>
            <a:r>
              <a:rPr lang="he-IL" dirty="0"/>
              <a:t>נתון קובץ </a:t>
            </a:r>
            <a:r>
              <a:rPr lang="he-IL" dirty="0" smtClean="0"/>
              <a:t>הרצה</a:t>
            </a:r>
            <a:r>
              <a:rPr lang="en-US" dirty="0" smtClean="0"/>
              <a:t> EXE </a:t>
            </a:r>
            <a:r>
              <a:rPr lang="he-IL" dirty="0"/>
              <a:t>פשוט הכולל את </a:t>
            </a:r>
            <a:r>
              <a:rPr lang="he-IL" dirty="0" smtClean="0"/>
              <a:t>מבנה</a:t>
            </a:r>
            <a:r>
              <a:rPr lang="en-US" dirty="0" smtClean="0"/>
              <a:t>PE </a:t>
            </a:r>
            <a:r>
              <a:rPr lang="he-IL" dirty="0" smtClean="0"/>
              <a:t> הסטנדרטי</a:t>
            </a:r>
            <a:r>
              <a:rPr lang="he-IL" dirty="0"/>
              <a:t>. בסגמנט </a:t>
            </a:r>
            <a:r>
              <a:rPr lang="he-IL" dirty="0" smtClean="0"/>
              <a:t>המשאבים (</a:t>
            </a:r>
            <a:r>
              <a:rPr lang="en-US" dirty="0"/>
              <a:t>.</a:t>
            </a:r>
            <a:r>
              <a:rPr lang="en-US" dirty="0" err="1" smtClean="0"/>
              <a:t>rsrc</a:t>
            </a:r>
            <a:r>
              <a:rPr lang="he-IL" dirty="0"/>
              <a:t>) יש אזור ריק של 100 בתים שלא מנוצל.</a:t>
            </a:r>
          </a:p>
          <a:p>
            <a:r>
              <a:rPr lang="he-IL" dirty="0"/>
              <a:t>עליך להחביא את המידע </a:t>
            </a:r>
            <a:r>
              <a:rPr lang="he-IL" dirty="0" smtClean="0"/>
              <a:t>הבא: </a:t>
            </a:r>
            <a:r>
              <a:rPr lang="en-US" b="1" dirty="0" smtClean="0"/>
              <a:t> “HELLO"</a:t>
            </a:r>
            <a:r>
              <a:rPr lang="he-IL" dirty="0" smtClean="0"/>
              <a:t>באסקי </a:t>
            </a:r>
          </a:p>
          <a:p>
            <a:r>
              <a:rPr lang="he-IL" dirty="0" smtClean="0"/>
              <a:t>1</a:t>
            </a:r>
            <a:r>
              <a:rPr lang="he-IL" dirty="0"/>
              <a:t>. הסבר כיצד היית ממיר את הטקסט לנתונים בינאריים.</a:t>
            </a:r>
            <a:endParaRPr lang="he-IL" dirty="0" smtClean="0"/>
          </a:p>
          <a:p>
            <a:r>
              <a:rPr lang="he-IL" dirty="0" smtClean="0"/>
              <a:t>2</a:t>
            </a:r>
            <a:r>
              <a:rPr lang="he-IL" dirty="0"/>
              <a:t>. פרט את הצעדים שצריך לבצע כדי להוסיף את המידע לסגמנט המשאבים.</a:t>
            </a:r>
            <a:endParaRPr lang="he-IL" dirty="0" smtClean="0"/>
          </a:p>
          <a:p>
            <a:r>
              <a:rPr lang="he-IL" dirty="0" smtClean="0"/>
              <a:t>3</a:t>
            </a:r>
            <a:r>
              <a:rPr lang="he-IL" dirty="0"/>
              <a:t>. כיצד תוודא שהקובץ יישאר שמיש לאחר ההחבאה?</a:t>
            </a:r>
            <a:endParaRPr lang="he-IL" dirty="0" smtClean="0"/>
          </a:p>
          <a:p>
            <a:endParaRPr lang="en-US" dirty="0"/>
          </a:p>
          <a:p>
            <a:endParaRPr lang="he-IL" dirty="0"/>
          </a:p>
        </p:txBody>
      </p:sp>
    </p:spTree>
    <p:extLst>
      <p:ext uri="{BB962C8B-B14F-4D97-AF65-F5344CB8AC3E}">
        <p14:creationId xmlns:p14="http://schemas.microsoft.com/office/powerpoint/2010/main" val="223141838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977744" y="642594"/>
            <a:ext cx="2147455" cy="1371600"/>
          </a:xfrm>
        </p:spPr>
        <p:txBody>
          <a:bodyPr/>
          <a:lstStyle/>
          <a:p>
            <a:r>
              <a:rPr lang="he-IL" dirty="0" smtClean="0"/>
              <a:t>תשובה</a:t>
            </a:r>
            <a:endParaRPr lang="he-IL" dirty="0"/>
          </a:p>
        </p:txBody>
      </p:sp>
      <p:sp>
        <p:nvSpPr>
          <p:cNvPr id="3" name="מציין מיקום תוכן 2"/>
          <p:cNvSpPr>
            <a:spLocks noGrp="1"/>
          </p:cNvSpPr>
          <p:nvPr>
            <p:ph idx="1"/>
          </p:nvPr>
        </p:nvSpPr>
        <p:spPr/>
        <p:txBody>
          <a:bodyPr>
            <a:normAutofit lnSpcReduction="10000"/>
          </a:bodyPr>
          <a:lstStyle/>
          <a:p>
            <a:r>
              <a:rPr lang="he-IL" b="1" dirty="0" smtClean="0"/>
              <a:t>1. המרת </a:t>
            </a:r>
            <a:r>
              <a:rPr lang="he-IL" b="1" dirty="0"/>
              <a:t>הטקסט לנתונים בינאריים:</a:t>
            </a:r>
            <a:r>
              <a:rPr lang="he-IL" dirty="0"/>
              <a:t/>
            </a:r>
            <a:br>
              <a:rPr lang="he-IL" dirty="0"/>
            </a:br>
            <a:r>
              <a:rPr lang="he-IL" dirty="0"/>
              <a:t>כל אות </a:t>
            </a:r>
            <a:r>
              <a:rPr lang="he-IL" dirty="0" smtClean="0"/>
              <a:t>בטקסט</a:t>
            </a:r>
            <a:r>
              <a:rPr lang="en-US" dirty="0" smtClean="0"/>
              <a:t> HELLO </a:t>
            </a:r>
            <a:r>
              <a:rPr lang="he-IL" dirty="0"/>
              <a:t>מתורגמת לקוד </a:t>
            </a:r>
            <a:r>
              <a:rPr lang="en-US" dirty="0" smtClean="0"/>
              <a:t>ASCII</a:t>
            </a:r>
            <a:r>
              <a:rPr lang="he-IL" dirty="0" smtClean="0"/>
              <a:t> ואז </a:t>
            </a:r>
            <a:r>
              <a:rPr lang="he-IL" dirty="0"/>
              <a:t>לבינארי</a:t>
            </a:r>
            <a:r>
              <a:rPr lang="he-IL" dirty="0" smtClean="0"/>
              <a:t>:</a:t>
            </a:r>
          </a:p>
          <a:p>
            <a:r>
              <a:rPr lang="he-IL" dirty="0" smtClean="0"/>
              <a:t>01001000</a:t>
            </a:r>
            <a:r>
              <a:rPr lang="en-US" dirty="0" smtClean="0"/>
              <a:t> </a:t>
            </a:r>
            <a:r>
              <a:rPr lang="he-IL" dirty="0" smtClean="0"/>
              <a:t> </a:t>
            </a:r>
            <a:r>
              <a:rPr lang="en-US" dirty="0"/>
              <a:t>H = 72 </a:t>
            </a:r>
            <a:r>
              <a:rPr lang="en-US" dirty="0" smtClean="0"/>
              <a:t>=</a:t>
            </a:r>
            <a:endParaRPr lang="he-IL" dirty="0" smtClean="0"/>
          </a:p>
          <a:p>
            <a:r>
              <a:rPr lang="he-IL" dirty="0" smtClean="0"/>
              <a:t>01000101 </a:t>
            </a:r>
            <a:r>
              <a:rPr lang="en-US" dirty="0"/>
              <a:t>E = 69 </a:t>
            </a:r>
            <a:r>
              <a:rPr lang="en-US" dirty="0" smtClean="0"/>
              <a:t>=</a:t>
            </a:r>
            <a:endParaRPr lang="he-IL" dirty="0" smtClean="0"/>
          </a:p>
          <a:p>
            <a:r>
              <a:rPr lang="he-IL" dirty="0" smtClean="0"/>
              <a:t>01001100 </a:t>
            </a:r>
            <a:r>
              <a:rPr lang="en-US" dirty="0"/>
              <a:t>L = 76 = </a:t>
            </a:r>
            <a:endParaRPr lang="he-IL" dirty="0" smtClean="0"/>
          </a:p>
          <a:p>
            <a:r>
              <a:rPr lang="he-IL" dirty="0" smtClean="0"/>
              <a:t>01001100 </a:t>
            </a:r>
            <a:r>
              <a:rPr lang="en-US" dirty="0"/>
              <a:t>L = 76 </a:t>
            </a:r>
            <a:r>
              <a:rPr lang="en-US" dirty="0" smtClean="0"/>
              <a:t>=</a:t>
            </a:r>
            <a:endParaRPr lang="he-IL" dirty="0" smtClean="0"/>
          </a:p>
          <a:p>
            <a:r>
              <a:rPr lang="he-IL" dirty="0" smtClean="0"/>
              <a:t>01001111 </a:t>
            </a:r>
            <a:r>
              <a:rPr lang="en-US" dirty="0"/>
              <a:t>O = 79 </a:t>
            </a:r>
            <a:r>
              <a:rPr lang="en-US" dirty="0" smtClean="0"/>
              <a:t>=</a:t>
            </a:r>
            <a:endParaRPr lang="he-IL" dirty="0" smtClean="0"/>
          </a:p>
          <a:p>
            <a:r>
              <a:rPr lang="he-IL" dirty="0"/>
              <a:t>כך, המידע הבינארי המלא הוא</a:t>
            </a:r>
            <a:r>
              <a:rPr lang="he-IL" dirty="0" smtClean="0"/>
              <a:t>:</a:t>
            </a:r>
          </a:p>
          <a:p>
            <a:r>
              <a:rPr lang="he-IL" dirty="0"/>
              <a:t>01001000 01000101 01001100 01001100 </a:t>
            </a:r>
            <a:r>
              <a:rPr lang="he-IL" dirty="0" smtClean="0"/>
              <a:t>01001111</a:t>
            </a:r>
          </a:p>
          <a:p>
            <a:endParaRPr lang="en-US" dirty="0"/>
          </a:p>
          <a:p>
            <a:r>
              <a:rPr lang="he-IL" dirty="0" smtClean="0"/>
              <a:t> </a:t>
            </a:r>
            <a:endParaRPr lang="he-IL" dirty="0"/>
          </a:p>
        </p:txBody>
      </p:sp>
    </p:spTree>
    <p:extLst>
      <p:ext uri="{BB962C8B-B14F-4D97-AF65-F5344CB8AC3E}">
        <p14:creationId xmlns:p14="http://schemas.microsoft.com/office/powerpoint/2010/main" val="376181359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040880" y="642594"/>
            <a:ext cx="4084320" cy="1371600"/>
          </a:xfrm>
        </p:spPr>
        <p:txBody>
          <a:bodyPr/>
          <a:lstStyle/>
          <a:p>
            <a:r>
              <a:rPr lang="he-IL" dirty="0" smtClean="0"/>
              <a:t>המשך - תשובה</a:t>
            </a:r>
            <a:endParaRPr lang="he-IL" dirty="0"/>
          </a:p>
        </p:txBody>
      </p:sp>
      <p:sp>
        <p:nvSpPr>
          <p:cNvPr id="3" name="מציין מיקום תוכן 2"/>
          <p:cNvSpPr>
            <a:spLocks noGrp="1"/>
          </p:cNvSpPr>
          <p:nvPr>
            <p:ph idx="1"/>
          </p:nvPr>
        </p:nvSpPr>
        <p:spPr/>
        <p:txBody>
          <a:bodyPr/>
          <a:lstStyle/>
          <a:p>
            <a:r>
              <a:rPr lang="he-IL" dirty="0" smtClean="0"/>
              <a:t>2</a:t>
            </a:r>
            <a:r>
              <a:rPr lang="he-IL" dirty="0"/>
              <a:t>. שלבים להחבאה בסגמנט המשאבים</a:t>
            </a:r>
            <a:r>
              <a:rPr lang="he-IL" dirty="0" smtClean="0"/>
              <a:t>:</a:t>
            </a:r>
          </a:p>
          <a:p>
            <a:r>
              <a:rPr lang="he-IL" b="1" dirty="0"/>
              <a:t>שלב 1:</a:t>
            </a:r>
            <a:r>
              <a:rPr lang="he-IL" dirty="0"/>
              <a:t> פתח את הקובץ באמצעות </a:t>
            </a:r>
            <a:r>
              <a:rPr lang="en-US" dirty="0" smtClean="0"/>
              <a:t> Hex Editor</a:t>
            </a:r>
            <a:r>
              <a:rPr lang="he-IL" dirty="0" smtClean="0"/>
              <a:t>כמו </a:t>
            </a:r>
            <a:r>
              <a:rPr lang="en-US" dirty="0" err="1" smtClean="0"/>
              <a:t>HxD</a:t>
            </a:r>
            <a:endParaRPr lang="he-IL" dirty="0" smtClean="0"/>
          </a:p>
          <a:p>
            <a:r>
              <a:rPr lang="he-IL" b="1" dirty="0" smtClean="0"/>
              <a:t>שלב 2:</a:t>
            </a:r>
            <a:r>
              <a:rPr lang="he-IL" dirty="0" smtClean="0"/>
              <a:t> אתר את תחילת סגמנט המשאבים (</a:t>
            </a:r>
            <a:r>
              <a:rPr lang="en-US" dirty="0" smtClean="0"/>
              <a:t>.</a:t>
            </a:r>
            <a:r>
              <a:rPr lang="en-US" dirty="0" err="1" smtClean="0"/>
              <a:t>rsrc</a:t>
            </a:r>
            <a:r>
              <a:rPr lang="he-IL" dirty="0" smtClean="0"/>
              <a:t>) לפי כותרת </a:t>
            </a:r>
            <a:r>
              <a:rPr lang="en-US" dirty="0" smtClean="0"/>
              <a:t>PE</a:t>
            </a:r>
            <a:br>
              <a:rPr lang="en-US" dirty="0" smtClean="0"/>
            </a:br>
            <a:r>
              <a:rPr lang="he-IL" dirty="0" smtClean="0"/>
              <a:t>ניתן לזהות את הסגמנט בעזרת ה-</a:t>
            </a:r>
            <a:r>
              <a:rPr lang="en-US" dirty="0" smtClean="0"/>
              <a:t> Offset </a:t>
            </a:r>
            <a:r>
              <a:rPr lang="he-IL" dirty="0" smtClean="0"/>
              <a:t>שמופיע בכותרת.</a:t>
            </a:r>
          </a:p>
          <a:p>
            <a:r>
              <a:rPr lang="he-IL" b="1" dirty="0" smtClean="0"/>
              <a:t>שלב </a:t>
            </a:r>
            <a:r>
              <a:rPr lang="he-IL" b="1" dirty="0"/>
              <a:t>3:</a:t>
            </a:r>
            <a:r>
              <a:rPr lang="he-IL" dirty="0"/>
              <a:t> מצא אזור ריק באורך של לפחות 40 ביטים (5 בתים) בתוך הסגמנט</a:t>
            </a:r>
            <a:r>
              <a:rPr lang="he-IL" dirty="0" smtClean="0"/>
              <a:t>.</a:t>
            </a:r>
          </a:p>
          <a:p>
            <a:r>
              <a:rPr lang="he-IL" b="1" dirty="0"/>
              <a:t>שלב 4:</a:t>
            </a:r>
            <a:r>
              <a:rPr lang="he-IL" dirty="0"/>
              <a:t> כתוב את המידע הבינארי (לפי הטבלה למעלה) במקום הריק.</a:t>
            </a:r>
          </a:p>
        </p:txBody>
      </p:sp>
    </p:spTree>
    <p:extLst>
      <p:ext uri="{BB962C8B-B14F-4D97-AF65-F5344CB8AC3E}">
        <p14:creationId xmlns:p14="http://schemas.microsoft.com/office/powerpoint/2010/main" val="66541190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099068" y="642594"/>
            <a:ext cx="4026131" cy="1371600"/>
          </a:xfrm>
        </p:spPr>
        <p:txBody>
          <a:bodyPr/>
          <a:lstStyle/>
          <a:p>
            <a:r>
              <a:rPr lang="he-IL" dirty="0"/>
              <a:t>המשך - תשובה</a:t>
            </a:r>
          </a:p>
        </p:txBody>
      </p:sp>
      <p:sp>
        <p:nvSpPr>
          <p:cNvPr id="3" name="מציין מיקום תוכן 2"/>
          <p:cNvSpPr>
            <a:spLocks noGrp="1"/>
          </p:cNvSpPr>
          <p:nvPr>
            <p:ph idx="1"/>
          </p:nvPr>
        </p:nvSpPr>
        <p:spPr/>
        <p:txBody>
          <a:bodyPr/>
          <a:lstStyle/>
          <a:p>
            <a:r>
              <a:rPr lang="he-IL" dirty="0" smtClean="0"/>
              <a:t>3. </a:t>
            </a:r>
            <a:r>
              <a:rPr lang="he-IL" b="1" dirty="0"/>
              <a:t>ווידוא שהקובץ נשאר שמיש:</a:t>
            </a:r>
            <a:endParaRPr lang="he-IL" dirty="0"/>
          </a:p>
          <a:p>
            <a:r>
              <a:rPr lang="he-IL" b="1" dirty="0"/>
              <a:t>בדיקה 1:</a:t>
            </a:r>
            <a:r>
              <a:rPr lang="he-IL" dirty="0"/>
              <a:t> ודא שלא שינית נתונים קריטיים, כמו ערכים בכותרת או אזורים פעילים בקובץ.</a:t>
            </a:r>
          </a:p>
          <a:p>
            <a:r>
              <a:rPr lang="he-IL" b="1" dirty="0"/>
              <a:t>בדיקה 2:</a:t>
            </a:r>
            <a:r>
              <a:rPr lang="he-IL" dirty="0"/>
              <a:t> הרץ את קובץ ה-</a:t>
            </a:r>
            <a:r>
              <a:rPr lang="en-US" dirty="0"/>
              <a:t>EXE </a:t>
            </a:r>
            <a:r>
              <a:rPr lang="he-IL" dirty="0" smtClean="0"/>
              <a:t> ובדוק </a:t>
            </a:r>
            <a:r>
              <a:rPr lang="he-IL" dirty="0"/>
              <a:t>שהוא פועל כראוי.</a:t>
            </a:r>
          </a:p>
          <a:p>
            <a:r>
              <a:rPr lang="he-IL" b="1" dirty="0"/>
              <a:t>בדיקה 3:</a:t>
            </a:r>
            <a:r>
              <a:rPr lang="he-IL" dirty="0"/>
              <a:t> השתמש בכלי </a:t>
            </a:r>
            <a:r>
              <a:rPr lang="he-IL" dirty="0" smtClean="0"/>
              <a:t>כמו</a:t>
            </a:r>
            <a:r>
              <a:rPr lang="en-US" dirty="0" smtClean="0"/>
              <a:t> PE </a:t>
            </a:r>
            <a:r>
              <a:rPr lang="en-US" dirty="0"/>
              <a:t>Explorer </a:t>
            </a:r>
            <a:r>
              <a:rPr lang="he-IL" dirty="0"/>
              <a:t>כדי לוודא שהמבנה של הסגמנט נשאר תקין.</a:t>
            </a:r>
          </a:p>
          <a:p>
            <a:endParaRPr lang="he-IL" dirty="0"/>
          </a:p>
        </p:txBody>
      </p:sp>
    </p:spTree>
    <p:extLst>
      <p:ext uri="{BB962C8B-B14F-4D97-AF65-F5344CB8AC3E}">
        <p14:creationId xmlns:p14="http://schemas.microsoft.com/office/powerpoint/2010/main" val="121681151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102436" y="642594"/>
            <a:ext cx="2022764" cy="1371600"/>
          </a:xfrm>
        </p:spPr>
        <p:txBody>
          <a:bodyPr/>
          <a:lstStyle/>
          <a:p>
            <a:r>
              <a:rPr lang="he-IL" dirty="0" smtClean="0"/>
              <a:t>שאלות</a:t>
            </a:r>
            <a:endParaRPr lang="he-IL" dirty="0"/>
          </a:p>
        </p:txBody>
      </p:sp>
      <p:sp>
        <p:nvSpPr>
          <p:cNvPr id="3" name="מציין מיקום תוכן 2"/>
          <p:cNvSpPr>
            <a:spLocks noGrp="1"/>
          </p:cNvSpPr>
          <p:nvPr>
            <p:ph idx="1"/>
          </p:nvPr>
        </p:nvSpPr>
        <p:spPr/>
        <p:txBody>
          <a:bodyPr/>
          <a:lstStyle/>
          <a:p>
            <a:r>
              <a:rPr lang="he-IL" dirty="0" smtClean="0"/>
              <a:t>1</a:t>
            </a:r>
            <a:r>
              <a:rPr lang="he-IL" dirty="0"/>
              <a:t>. מהי יתרה </a:t>
            </a:r>
            <a:r>
              <a:rPr lang="en-US" dirty="0" smtClean="0"/>
              <a:t>Padding</a:t>
            </a:r>
            <a:r>
              <a:rPr lang="he-IL" dirty="0" smtClean="0"/>
              <a:t> בקובץ </a:t>
            </a:r>
            <a:r>
              <a:rPr lang="he-IL" dirty="0"/>
              <a:t>הרצה?</a:t>
            </a:r>
            <a:endParaRPr lang="he-IL" dirty="0" smtClean="0"/>
          </a:p>
          <a:p>
            <a:r>
              <a:rPr lang="he-IL" dirty="0" smtClean="0"/>
              <a:t>2</a:t>
            </a:r>
            <a:r>
              <a:rPr lang="he-IL" dirty="0"/>
              <a:t>. באילו אזורים בקובץ </a:t>
            </a:r>
            <a:r>
              <a:rPr lang="en-US" dirty="0" smtClean="0"/>
              <a:t> EXE</a:t>
            </a:r>
            <a:r>
              <a:rPr lang="he-IL" dirty="0" smtClean="0"/>
              <a:t>ניתן </a:t>
            </a:r>
            <a:r>
              <a:rPr lang="he-IL" dirty="0"/>
              <a:t>להחביא מידע?</a:t>
            </a:r>
            <a:endParaRPr lang="he-IL" dirty="0" smtClean="0"/>
          </a:p>
          <a:p>
            <a:r>
              <a:rPr lang="he-IL" dirty="0" smtClean="0"/>
              <a:t>3</a:t>
            </a:r>
            <a:r>
              <a:rPr lang="he-IL" dirty="0"/>
              <a:t>. מדוע ניצול יתרות בקבצים נחשב </a:t>
            </a:r>
            <a:r>
              <a:rPr lang="he-IL" dirty="0" err="1"/>
              <a:t>לסטגנוגרפיה</a:t>
            </a:r>
            <a:r>
              <a:rPr lang="he-IL" dirty="0"/>
              <a:t>?</a:t>
            </a:r>
            <a:endParaRPr lang="he-IL" dirty="0" smtClean="0"/>
          </a:p>
          <a:p>
            <a:r>
              <a:rPr lang="he-IL" dirty="0" smtClean="0"/>
              <a:t>4</a:t>
            </a:r>
            <a:r>
              <a:rPr lang="he-IL" dirty="0"/>
              <a:t>. כיצד ניתן להוסיף מידע מוסתר לקובץ </a:t>
            </a:r>
            <a:r>
              <a:rPr lang="en-US" dirty="0" smtClean="0"/>
              <a:t>EXE</a:t>
            </a:r>
            <a:r>
              <a:rPr lang="he-IL" dirty="0" smtClean="0"/>
              <a:t> מבלי </a:t>
            </a:r>
            <a:r>
              <a:rPr lang="he-IL" dirty="0"/>
              <a:t>לשנות את תפקודו?</a:t>
            </a:r>
            <a:endParaRPr lang="he-IL" dirty="0" smtClean="0"/>
          </a:p>
          <a:p>
            <a:r>
              <a:rPr lang="he-IL" dirty="0" smtClean="0"/>
              <a:t>5</a:t>
            </a:r>
            <a:r>
              <a:rPr lang="he-IL" dirty="0"/>
              <a:t>. מהם האתגרים בשימוש בקובצי </a:t>
            </a:r>
            <a:r>
              <a:rPr lang="en-US" dirty="0" smtClean="0"/>
              <a:t> DLL</a:t>
            </a:r>
            <a:r>
              <a:rPr lang="he-IL" dirty="0" smtClean="0"/>
              <a:t>להסתרת </a:t>
            </a:r>
            <a:r>
              <a:rPr lang="he-IL" dirty="0"/>
              <a:t>מידע</a:t>
            </a:r>
            <a:r>
              <a:rPr lang="he-IL" dirty="0" smtClean="0"/>
              <a:t>?</a:t>
            </a:r>
          </a:p>
          <a:p>
            <a:r>
              <a:rPr lang="he-IL" dirty="0"/>
              <a:t>6. כיצד ניתן לזהות אם קובץ </a:t>
            </a:r>
            <a:r>
              <a:rPr lang="en-US" dirty="0" smtClean="0"/>
              <a:t>EXE</a:t>
            </a:r>
            <a:r>
              <a:rPr lang="he-IL" dirty="0" smtClean="0"/>
              <a:t> מכיל </a:t>
            </a:r>
            <a:r>
              <a:rPr lang="he-IL" dirty="0"/>
              <a:t>מידע מוסתר</a:t>
            </a:r>
            <a:r>
              <a:rPr lang="he-IL" dirty="0" smtClean="0"/>
              <a:t>?</a:t>
            </a:r>
          </a:p>
          <a:p>
            <a:r>
              <a:rPr lang="he-IL" dirty="0" smtClean="0"/>
              <a:t>7</a:t>
            </a:r>
            <a:r>
              <a:rPr lang="he-IL" dirty="0"/>
              <a:t>. נתון קובץ </a:t>
            </a:r>
            <a:r>
              <a:rPr lang="en-US" dirty="0" smtClean="0"/>
              <a:t>EXE</a:t>
            </a:r>
            <a:r>
              <a:rPr lang="he-IL" dirty="0" smtClean="0"/>
              <a:t> בגודל </a:t>
            </a:r>
            <a:r>
              <a:rPr lang="en-US" dirty="0" smtClean="0"/>
              <a:t>2MB</a:t>
            </a:r>
            <a:r>
              <a:rPr lang="he-IL" dirty="0" smtClean="0"/>
              <a:t> ואתה </a:t>
            </a:r>
            <a:r>
              <a:rPr lang="he-IL" dirty="0"/>
              <a:t>רוצה להחביא בו מסר </a:t>
            </a:r>
            <a:r>
              <a:rPr lang="he-IL" dirty="0" smtClean="0"/>
              <a:t>בגודל</a:t>
            </a:r>
            <a:r>
              <a:rPr lang="en-US" dirty="0" smtClean="0"/>
              <a:t>10KB </a:t>
            </a:r>
            <a:r>
              <a:rPr lang="he-IL" dirty="0" smtClean="0"/>
              <a:t> באילו </a:t>
            </a:r>
            <a:r>
              <a:rPr lang="he-IL" dirty="0"/>
              <a:t>שיטות תשתמש כדי להחביא את המידע, ומהם הסיכונים האפשריים?</a:t>
            </a:r>
            <a:endParaRPr lang="he-IL" dirty="0" smtClean="0"/>
          </a:p>
          <a:p>
            <a:endParaRPr lang="he-IL" dirty="0"/>
          </a:p>
        </p:txBody>
      </p:sp>
    </p:spTree>
    <p:extLst>
      <p:ext uri="{BB962C8B-B14F-4D97-AF65-F5344CB8AC3E}">
        <p14:creationId xmlns:p14="http://schemas.microsoft.com/office/powerpoint/2010/main" val="155689580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952807" y="401525"/>
            <a:ext cx="2172393" cy="1371600"/>
          </a:xfrm>
        </p:spPr>
        <p:txBody>
          <a:bodyPr/>
          <a:lstStyle/>
          <a:p>
            <a:r>
              <a:rPr lang="he-IL" dirty="0" smtClean="0"/>
              <a:t>תשובות</a:t>
            </a:r>
            <a:endParaRPr lang="he-IL" dirty="0"/>
          </a:p>
        </p:txBody>
      </p:sp>
      <p:sp>
        <p:nvSpPr>
          <p:cNvPr id="3" name="מציין מיקום תוכן 2"/>
          <p:cNvSpPr>
            <a:spLocks noGrp="1"/>
          </p:cNvSpPr>
          <p:nvPr>
            <p:ph idx="1"/>
          </p:nvPr>
        </p:nvSpPr>
        <p:spPr>
          <a:xfrm>
            <a:off x="1066800" y="1704109"/>
            <a:ext cx="10058400" cy="4530436"/>
          </a:xfrm>
        </p:spPr>
        <p:txBody>
          <a:bodyPr>
            <a:normAutofit lnSpcReduction="10000"/>
          </a:bodyPr>
          <a:lstStyle/>
          <a:p>
            <a:r>
              <a:rPr lang="he-IL" dirty="0" smtClean="0"/>
              <a:t>1</a:t>
            </a:r>
            <a:r>
              <a:rPr lang="he-IL" dirty="0"/>
              <a:t>. מדובר בשטחים ריקים שנוצרים במהלך יישור נתונים לזיכרון.</a:t>
            </a:r>
            <a:endParaRPr lang="he-IL" dirty="0" smtClean="0"/>
          </a:p>
          <a:p>
            <a:r>
              <a:rPr lang="he-IL" dirty="0" smtClean="0"/>
              <a:t>2</a:t>
            </a:r>
            <a:r>
              <a:rPr lang="he-IL" dirty="0"/>
              <a:t>. בכותרת הקובץ </a:t>
            </a:r>
            <a:r>
              <a:rPr lang="en-US" dirty="0" smtClean="0"/>
              <a:t> Header</a:t>
            </a:r>
            <a:r>
              <a:rPr lang="he-IL" dirty="0" smtClean="0"/>
              <a:t>בשדות</a:t>
            </a:r>
            <a:r>
              <a:rPr lang="en-US" dirty="0" smtClean="0"/>
              <a:t>Padding </a:t>
            </a:r>
            <a:r>
              <a:rPr lang="he-IL" dirty="0" smtClean="0"/>
              <a:t> או </a:t>
            </a:r>
            <a:r>
              <a:rPr lang="he-IL" dirty="0"/>
              <a:t>באזורים שאינם קריטיים לתפקוד הקובץ.</a:t>
            </a:r>
            <a:endParaRPr lang="he-IL" dirty="0" smtClean="0"/>
          </a:p>
          <a:p>
            <a:r>
              <a:rPr lang="he-IL" dirty="0" smtClean="0"/>
              <a:t>3</a:t>
            </a:r>
            <a:r>
              <a:rPr lang="he-IL" dirty="0"/>
              <a:t>. משום שהמידע המוסתר אינו נראה לעין ומשתלב במבנה הקובץ.</a:t>
            </a:r>
            <a:endParaRPr lang="he-IL" dirty="0" smtClean="0"/>
          </a:p>
          <a:p>
            <a:r>
              <a:rPr lang="he-IL" dirty="0" smtClean="0"/>
              <a:t>4</a:t>
            </a:r>
            <a:r>
              <a:rPr lang="he-IL" dirty="0"/>
              <a:t>. ניתן להוסיף מידע בשדות יתירים בכותרת הקובץ, באזורים ריקים בין סגמנטים, או על ידי יצירת סגמנט חדש.</a:t>
            </a:r>
            <a:endParaRPr lang="he-IL" dirty="0" smtClean="0"/>
          </a:p>
          <a:p>
            <a:r>
              <a:rPr lang="he-IL" dirty="0" smtClean="0"/>
              <a:t>5</a:t>
            </a:r>
            <a:r>
              <a:rPr lang="he-IL" dirty="0"/>
              <a:t>. יש צורך להכיר היטב את מבנה הקובץ, לוודא שהמידע המוסתר לא משפיע על פונקציות טעינת הספרייה, ולמנוע זיהוי על ידי כלים אוטומטיים.</a:t>
            </a:r>
          </a:p>
          <a:p>
            <a:r>
              <a:rPr lang="he-IL" dirty="0" smtClean="0"/>
              <a:t>6</a:t>
            </a:r>
            <a:r>
              <a:rPr lang="he-IL" dirty="0"/>
              <a:t>. על ידי ניתוח מבנה הקובץ והשוואת האזורים היתירים לאזורים המשמשים בפועל על ידי התוכנית.</a:t>
            </a:r>
            <a:endParaRPr lang="he-IL" dirty="0" smtClean="0"/>
          </a:p>
          <a:p>
            <a:r>
              <a:rPr lang="he-IL" dirty="0" smtClean="0"/>
              <a:t>7. שיטות:</a:t>
            </a:r>
          </a:p>
          <a:p>
            <a:r>
              <a:rPr lang="he-IL" dirty="0"/>
              <a:t>הוספת המידע בשדות </a:t>
            </a:r>
            <a:r>
              <a:rPr lang="en-US" dirty="0" smtClean="0"/>
              <a:t>Padding</a:t>
            </a:r>
            <a:r>
              <a:rPr lang="he-IL" dirty="0"/>
              <a:t>, שימוש בשדות יתירים בכותרת הקובץ, הוספת סגמנט חדש למידע המוסתר</a:t>
            </a:r>
            <a:r>
              <a:rPr lang="he-IL" dirty="0" smtClean="0"/>
              <a:t>.</a:t>
            </a:r>
          </a:p>
          <a:p>
            <a:r>
              <a:rPr lang="he-IL" dirty="0" smtClean="0"/>
              <a:t>סיכונים:</a:t>
            </a:r>
          </a:p>
          <a:p>
            <a:r>
              <a:rPr lang="he-IL" dirty="0"/>
              <a:t>פגיעה בתפקוד הקובץ אם המבנה ישתנה, זיהוי על ידי כלים מתקדמים המנתחים את מבנה הקובץ.</a:t>
            </a:r>
            <a:endParaRPr lang="he-IL" dirty="0" smtClean="0"/>
          </a:p>
          <a:p>
            <a:endParaRPr lang="he-IL" dirty="0"/>
          </a:p>
        </p:txBody>
      </p:sp>
    </p:spTree>
    <p:extLst>
      <p:ext uri="{BB962C8B-B14F-4D97-AF65-F5344CB8AC3E}">
        <p14:creationId xmlns:p14="http://schemas.microsoft.com/office/powerpoint/2010/main" val="237123314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1066800" y="2352502"/>
            <a:ext cx="10058400" cy="3931920"/>
          </a:xfrm>
        </p:spPr>
        <p:txBody>
          <a:bodyPr>
            <a:normAutofit/>
          </a:bodyPr>
          <a:lstStyle/>
          <a:p>
            <a:pPr algn="ctr"/>
            <a:r>
              <a:rPr lang="he-IL" sz="6000" dirty="0"/>
              <a:t>הסוואה בציוד היקפי</a:t>
            </a:r>
          </a:p>
        </p:txBody>
      </p:sp>
    </p:spTree>
    <p:extLst>
      <p:ext uri="{BB962C8B-B14F-4D97-AF65-F5344CB8AC3E}">
        <p14:creationId xmlns:p14="http://schemas.microsoft.com/office/powerpoint/2010/main" val="200708818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771504" y="642594"/>
            <a:ext cx="6353695" cy="1371600"/>
          </a:xfrm>
        </p:spPr>
        <p:txBody>
          <a:bodyPr/>
          <a:lstStyle/>
          <a:p>
            <a:r>
              <a:rPr lang="he-IL" dirty="0"/>
              <a:t>מהי הסוואה בציוד היקפי</a:t>
            </a:r>
          </a:p>
        </p:txBody>
      </p:sp>
      <p:sp>
        <p:nvSpPr>
          <p:cNvPr id="3" name="מציין מיקום תוכן 2"/>
          <p:cNvSpPr>
            <a:spLocks noGrp="1"/>
          </p:cNvSpPr>
          <p:nvPr>
            <p:ph idx="1"/>
          </p:nvPr>
        </p:nvSpPr>
        <p:spPr/>
        <p:txBody>
          <a:bodyPr/>
          <a:lstStyle/>
          <a:p>
            <a:r>
              <a:rPr lang="he-IL" b="1" dirty="0"/>
              <a:t>"הסוואה בציוד היקפי"</a:t>
            </a:r>
            <a:r>
              <a:rPr lang="he-IL" dirty="0"/>
              <a:t> היא שיטה </a:t>
            </a:r>
            <a:r>
              <a:rPr lang="he-IL" dirty="0" err="1"/>
              <a:t>בסטגנוגרפיה</a:t>
            </a:r>
            <a:r>
              <a:rPr lang="he-IL" dirty="0"/>
              <a:t> שבה מידע מוסתר בתוך התקנים פיזיים או נתונים שנוצרים על ידם. במקום להסתיר מידע בקבצים או בתקשורת דיגיטלית, הסוואה זו עושה שימוש בהתקנים חיצוניים כמו מדפסות, כונני </a:t>
            </a:r>
            <a:r>
              <a:rPr lang="en-US" dirty="0" smtClean="0"/>
              <a:t> USB</a:t>
            </a:r>
            <a:r>
              <a:rPr lang="he-IL" dirty="0" smtClean="0"/>
              <a:t>מצלמות</a:t>
            </a:r>
            <a:r>
              <a:rPr lang="he-IL" dirty="0"/>
              <a:t>, מקלדות, או כל התקן אחר המתחבר למחשב.</a:t>
            </a:r>
          </a:p>
        </p:txBody>
      </p:sp>
    </p:spTree>
    <p:extLst>
      <p:ext uri="{BB962C8B-B14F-4D97-AF65-F5344CB8AC3E}">
        <p14:creationId xmlns:p14="http://schemas.microsoft.com/office/powerpoint/2010/main" val="50652965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398326" y="642594"/>
            <a:ext cx="3726873" cy="1371600"/>
          </a:xfrm>
        </p:spPr>
        <p:txBody>
          <a:bodyPr>
            <a:normAutofit/>
          </a:bodyPr>
          <a:lstStyle/>
          <a:p>
            <a:r>
              <a:rPr lang="he-IL" dirty="0"/>
              <a:t>מטרות השיטה</a:t>
            </a:r>
          </a:p>
        </p:txBody>
      </p:sp>
      <p:sp>
        <p:nvSpPr>
          <p:cNvPr id="3" name="מציין מיקום תוכן 2"/>
          <p:cNvSpPr>
            <a:spLocks noGrp="1"/>
          </p:cNvSpPr>
          <p:nvPr>
            <p:ph idx="1"/>
          </p:nvPr>
        </p:nvSpPr>
        <p:spPr/>
        <p:txBody>
          <a:bodyPr/>
          <a:lstStyle/>
          <a:p>
            <a:r>
              <a:rPr lang="he-IL" dirty="0" smtClean="0"/>
              <a:t>1. </a:t>
            </a:r>
            <a:r>
              <a:rPr lang="he-IL" b="1" dirty="0"/>
              <a:t>העברת מידע בסתר:</a:t>
            </a:r>
            <a:r>
              <a:rPr lang="he-IL" dirty="0"/>
              <a:t> ניצול ציוד היקפי להעברת נתונים מבלי לעורר חשד</a:t>
            </a:r>
            <a:r>
              <a:rPr lang="he-IL" dirty="0" smtClean="0"/>
              <a:t>.</a:t>
            </a:r>
          </a:p>
          <a:p>
            <a:endParaRPr lang="he-IL" dirty="0" smtClean="0"/>
          </a:p>
          <a:p>
            <a:r>
              <a:rPr lang="he-IL" dirty="0" smtClean="0"/>
              <a:t>2. </a:t>
            </a:r>
            <a:r>
              <a:rPr lang="he-IL" b="1" dirty="0"/>
              <a:t>מניעת זיהוי ע"י מערכות אבטחה:</a:t>
            </a:r>
            <a:r>
              <a:rPr lang="he-IL" dirty="0"/>
              <a:t> רוב תוכנות האבטחה מתמקדות בקבצים ותעבורת רשת, ולא בציוד היקפי</a:t>
            </a:r>
            <a:r>
              <a:rPr lang="he-IL" dirty="0" smtClean="0"/>
              <a:t>.</a:t>
            </a:r>
          </a:p>
          <a:p>
            <a:endParaRPr lang="he-IL" dirty="0"/>
          </a:p>
          <a:p>
            <a:r>
              <a:rPr lang="he-IL" dirty="0" smtClean="0"/>
              <a:t>3. </a:t>
            </a:r>
            <a:r>
              <a:rPr lang="he-IL" b="1" dirty="0"/>
              <a:t>שימוש </a:t>
            </a:r>
            <a:r>
              <a:rPr lang="he-IL" b="1" dirty="0" smtClean="0"/>
              <a:t>באמצעים </a:t>
            </a:r>
            <a:r>
              <a:rPr lang="he-IL" b="1" dirty="0"/>
              <a:t>פיזיים כערוץ להעברת נתונים:</a:t>
            </a:r>
            <a:r>
              <a:rPr lang="he-IL" dirty="0"/>
              <a:t> לדוגמה, הדפסת מידע בקודים בלתי נראים, או שימוש </a:t>
            </a:r>
            <a:r>
              <a:rPr lang="he-IL" dirty="0" err="1"/>
              <a:t>בויברציות</a:t>
            </a:r>
            <a:r>
              <a:rPr lang="he-IL" dirty="0"/>
              <a:t> של מכשירים להעברת נתונים.</a:t>
            </a:r>
          </a:p>
        </p:txBody>
      </p:sp>
    </p:spTree>
    <p:extLst>
      <p:ext uri="{BB962C8B-B14F-4D97-AF65-F5344CB8AC3E}">
        <p14:creationId xmlns:p14="http://schemas.microsoft.com/office/powerpoint/2010/main" val="226602933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965170" y="642594"/>
            <a:ext cx="7160029" cy="1371600"/>
          </a:xfrm>
        </p:spPr>
        <p:txBody>
          <a:bodyPr/>
          <a:lstStyle/>
          <a:p>
            <a:r>
              <a:rPr lang="he-IL" dirty="0"/>
              <a:t>שיטות להסוואה בציוד היקפי</a:t>
            </a:r>
          </a:p>
        </p:txBody>
      </p:sp>
      <p:sp>
        <p:nvSpPr>
          <p:cNvPr id="3" name="מציין מיקום תוכן 2"/>
          <p:cNvSpPr>
            <a:spLocks noGrp="1"/>
          </p:cNvSpPr>
          <p:nvPr>
            <p:ph idx="1"/>
          </p:nvPr>
        </p:nvSpPr>
        <p:spPr/>
        <p:txBody>
          <a:bodyPr>
            <a:normAutofit lnSpcReduction="10000"/>
          </a:bodyPr>
          <a:lstStyle/>
          <a:p>
            <a:r>
              <a:rPr lang="he-IL" b="1" dirty="0"/>
              <a:t>1. הדפסה נסתרת </a:t>
            </a:r>
            <a:r>
              <a:rPr lang="en-US" b="1" dirty="0" smtClean="0"/>
              <a:t>Steganography </a:t>
            </a:r>
            <a:r>
              <a:rPr lang="en-US" b="1" dirty="0"/>
              <a:t>in </a:t>
            </a:r>
            <a:r>
              <a:rPr lang="en-US" b="1" dirty="0" smtClean="0"/>
              <a:t>Printers</a:t>
            </a:r>
            <a:r>
              <a:rPr lang="he-IL" b="1" dirty="0" smtClean="0"/>
              <a:t>: </a:t>
            </a:r>
          </a:p>
          <a:p>
            <a:r>
              <a:rPr lang="he-IL" dirty="0" smtClean="0"/>
              <a:t>מדפסות </a:t>
            </a:r>
            <a:r>
              <a:rPr lang="he-IL" dirty="0"/>
              <a:t>יכולות לשמש להחבאת מידע בדרכים יצירתיות:</a:t>
            </a:r>
          </a:p>
          <a:p>
            <a:r>
              <a:rPr lang="he-IL" b="1" dirty="0"/>
              <a:t>שימוש בנקודות צהובות בלתי נראות:</a:t>
            </a:r>
            <a:r>
              <a:rPr lang="he-IL" dirty="0"/>
              <a:t> רבות מהמדפסות המודרניות מוסיפות באופן אוטומטי נקודות צהובות זעירות למסמכים שהן מדפיסות. ניתן לנצל שיטה זו להוספת נתונים מוסתרים בתוך ההדפסה.</a:t>
            </a:r>
          </a:p>
          <a:p>
            <a:r>
              <a:rPr lang="he-IL" b="1" dirty="0"/>
              <a:t>שימוש בקודים נסתרים בתמונות מודפסות:</a:t>
            </a:r>
            <a:r>
              <a:rPr lang="he-IL" dirty="0"/>
              <a:t> ניתן לשנות את מיקום הפיקסלים בתמונה או את הצבעים בצורה שלא תהיה גלויה לעין האנושית</a:t>
            </a:r>
            <a:r>
              <a:rPr lang="he-IL" dirty="0" smtClean="0"/>
              <a:t>.</a:t>
            </a:r>
          </a:p>
          <a:p>
            <a:r>
              <a:rPr lang="he-IL" b="1" dirty="0"/>
              <a:t>2. שימוש במקלדות או עכברים </a:t>
            </a:r>
            <a:r>
              <a:rPr lang="en-US" b="1" dirty="0" smtClean="0"/>
              <a:t>Keyboards </a:t>
            </a:r>
            <a:r>
              <a:rPr lang="en-US" b="1" dirty="0"/>
              <a:t>and </a:t>
            </a:r>
            <a:r>
              <a:rPr lang="en-US" b="1" dirty="0" smtClean="0"/>
              <a:t>Mice</a:t>
            </a:r>
            <a:r>
              <a:rPr lang="he-IL" b="1" dirty="0" smtClean="0"/>
              <a:t>:</a:t>
            </a:r>
            <a:endParaRPr lang="en-US" b="1" dirty="0"/>
          </a:p>
          <a:p>
            <a:r>
              <a:rPr lang="he-IL" b="1" dirty="0"/>
              <a:t>הסתרת נתונים בתקשורת </a:t>
            </a:r>
            <a:r>
              <a:rPr lang="en-US" b="1" dirty="0"/>
              <a:t>HID (Human Interface Device</a:t>
            </a:r>
            <a:r>
              <a:rPr lang="en-US" b="1" dirty="0" smtClean="0"/>
              <a:t>)</a:t>
            </a:r>
            <a:r>
              <a:rPr lang="he-IL" b="1" dirty="0" smtClean="0"/>
              <a:t>:</a:t>
            </a:r>
            <a:r>
              <a:rPr lang="en-US" dirty="0"/>
              <a:t/>
            </a:r>
            <a:br>
              <a:rPr lang="en-US" dirty="0"/>
            </a:br>
            <a:r>
              <a:rPr lang="he-IL" dirty="0"/>
              <a:t>מכשירים אלה מתקשרים עם מערכת ההפעלה באמצעות פרוטוקולים סטנדרטיים. ניתן להטמיע נתונים מוסתרים בתוך אותות המועברים מהמקלדת או העכבר.</a:t>
            </a:r>
          </a:p>
          <a:p>
            <a:r>
              <a:rPr lang="he-IL" b="1" dirty="0"/>
              <a:t>שליחת מידע באמצעות לחיצות מקשים:</a:t>
            </a:r>
            <a:r>
              <a:rPr lang="he-IL" dirty="0"/>
              <a:t> למשל, מקלדת חכמה יכולה להעביר נתונים מוסתרים על ידי שינויים מזעריים בעיכוב בין לחיצות מקשים.</a:t>
            </a:r>
          </a:p>
          <a:p>
            <a:endParaRPr lang="he-IL" dirty="0"/>
          </a:p>
          <a:p>
            <a:endParaRPr lang="he-IL" dirty="0"/>
          </a:p>
        </p:txBody>
      </p:sp>
      <p:sp>
        <p:nvSpPr>
          <p:cNvPr id="4" name="מציין מיקום תוכן 2"/>
          <p:cNvSpPr txBox="1">
            <a:spLocks/>
          </p:cNvSpPr>
          <p:nvPr/>
        </p:nvSpPr>
        <p:spPr>
          <a:xfrm>
            <a:off x="1066799" y="2103120"/>
            <a:ext cx="10058400" cy="3931920"/>
          </a:xfrm>
          <a:prstGeom prst="rect">
            <a:avLst/>
          </a:prstGeom>
        </p:spPr>
        <p:txBody>
          <a:bodyPr vert="horz" lIns="91440" tIns="45720" rIns="91440" bIns="45720" rtlCol="0">
            <a:normAutofit lnSpcReduction="10000"/>
          </a:bodyPr>
          <a:lstStyle>
            <a:lvl1pPr marL="182880" indent="-182880" algn="r" defTabSz="914400" rtl="1"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r" defTabSz="914400" rtl="1"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r>
              <a:rPr lang="he-IL" b="1" dirty="0" smtClean="0"/>
              <a:t>1. הדפסה נסתרת </a:t>
            </a:r>
            <a:r>
              <a:rPr lang="en-US" b="1" dirty="0" smtClean="0"/>
              <a:t>Steganography in Printers</a:t>
            </a:r>
            <a:r>
              <a:rPr lang="he-IL" b="1" dirty="0" smtClean="0"/>
              <a:t>: </a:t>
            </a:r>
          </a:p>
          <a:p>
            <a:r>
              <a:rPr lang="he-IL" dirty="0" smtClean="0"/>
              <a:t>מדפסות יכולות לשמש להחבאת מידע בדרכים יצירתיות:</a:t>
            </a:r>
          </a:p>
          <a:p>
            <a:r>
              <a:rPr lang="he-IL" b="1" dirty="0" smtClean="0"/>
              <a:t>שימוש בנקודות צהובות בלתי נראות:</a:t>
            </a:r>
            <a:r>
              <a:rPr lang="he-IL" dirty="0" smtClean="0"/>
              <a:t> רבות מהמדפסות המודרניות מוסיפות באופן אוטומטי נקודות צהובות זעירות למסמכים שהן מדפיסות. ניתן לנצל שיטה זו להוספת נתונים מוסתרים בתוך ההדפסה.</a:t>
            </a:r>
          </a:p>
          <a:p>
            <a:r>
              <a:rPr lang="he-IL" b="1" dirty="0" smtClean="0"/>
              <a:t>שימוש בקודים נסתרים בתמונות מודפסות:</a:t>
            </a:r>
            <a:r>
              <a:rPr lang="he-IL" dirty="0" smtClean="0"/>
              <a:t> ניתן לשנות את מיקום הפיקסלים בתמונה או את הצבעים בצורה שלא תהיה גלויה לעין האנושית.</a:t>
            </a:r>
          </a:p>
          <a:p>
            <a:r>
              <a:rPr lang="he-IL" b="1" dirty="0" smtClean="0"/>
              <a:t>2. שימוש במקלדות או עכברים </a:t>
            </a:r>
            <a:r>
              <a:rPr lang="en-US" b="1" dirty="0" smtClean="0"/>
              <a:t>Keyboards and Mice</a:t>
            </a:r>
            <a:r>
              <a:rPr lang="he-IL" b="1" dirty="0" smtClean="0"/>
              <a:t>:</a:t>
            </a:r>
            <a:endParaRPr lang="en-US" b="1" dirty="0" smtClean="0"/>
          </a:p>
          <a:p>
            <a:r>
              <a:rPr lang="he-IL" b="1" dirty="0" smtClean="0"/>
              <a:t>הסתרת נתונים בתקשורת </a:t>
            </a:r>
            <a:r>
              <a:rPr lang="en-US" b="1" dirty="0" smtClean="0"/>
              <a:t>HID (Human Interface Device)</a:t>
            </a:r>
            <a:r>
              <a:rPr lang="he-IL" b="1" dirty="0" smtClean="0"/>
              <a:t>:</a:t>
            </a:r>
            <a:r>
              <a:rPr lang="en-US" dirty="0" smtClean="0"/>
              <a:t/>
            </a:r>
            <a:br>
              <a:rPr lang="en-US" dirty="0" smtClean="0"/>
            </a:br>
            <a:r>
              <a:rPr lang="he-IL" dirty="0" smtClean="0"/>
              <a:t>מכשירים אלה מתקשרים עם מערכת ההפעלה באמצעות פרוטוקולים סטנדרטיים. ניתן להטמיע נתונים מוסתרים בתוך אותות המועברים מהמקלדת או העכבר.</a:t>
            </a:r>
          </a:p>
          <a:p>
            <a:r>
              <a:rPr lang="he-IL" b="1" dirty="0" smtClean="0"/>
              <a:t>שליחת מידע באמצעות לחיצות מקשים:</a:t>
            </a:r>
            <a:r>
              <a:rPr lang="he-IL" dirty="0" smtClean="0"/>
              <a:t> למשל, מקלדת חכמה יכולה להעביר נתונים מוסתרים על ידי שינויים מזעריים בעיכוב בין לחיצות מקשים.</a:t>
            </a:r>
          </a:p>
          <a:p>
            <a:endParaRPr lang="he-IL" dirty="0" smtClean="0"/>
          </a:p>
          <a:p>
            <a:endParaRPr lang="he-IL" dirty="0"/>
          </a:p>
        </p:txBody>
      </p:sp>
    </p:spTree>
    <p:extLst>
      <p:ext uri="{BB962C8B-B14F-4D97-AF65-F5344CB8AC3E}">
        <p14:creationId xmlns:p14="http://schemas.microsoft.com/office/powerpoint/2010/main" val="320453283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961804" y="642594"/>
            <a:ext cx="9163396" cy="1371600"/>
          </a:xfrm>
        </p:spPr>
        <p:txBody>
          <a:bodyPr/>
          <a:lstStyle/>
          <a:p>
            <a:r>
              <a:rPr lang="he-IL" dirty="0"/>
              <a:t>המשך - שיטות להסוואה בציוד היקפי</a:t>
            </a:r>
          </a:p>
        </p:txBody>
      </p:sp>
      <p:sp>
        <p:nvSpPr>
          <p:cNvPr id="3" name="מציין מיקום תוכן 2"/>
          <p:cNvSpPr>
            <a:spLocks noGrp="1"/>
          </p:cNvSpPr>
          <p:nvPr>
            <p:ph idx="1"/>
          </p:nvPr>
        </p:nvSpPr>
        <p:spPr/>
        <p:txBody>
          <a:bodyPr>
            <a:normAutofit lnSpcReduction="10000"/>
          </a:bodyPr>
          <a:lstStyle/>
          <a:p>
            <a:r>
              <a:rPr lang="he-IL" b="1" dirty="0"/>
              <a:t>3. </a:t>
            </a:r>
            <a:r>
              <a:rPr lang="he-IL" sz="2400" b="1" dirty="0"/>
              <a:t>מצלמות ודיסק און קי </a:t>
            </a:r>
            <a:r>
              <a:rPr lang="en-US" sz="2400" b="1" dirty="0" smtClean="0"/>
              <a:t>USB Drives</a:t>
            </a:r>
            <a:r>
              <a:rPr lang="he-IL" sz="2400" b="1" dirty="0" smtClean="0"/>
              <a:t>:</a:t>
            </a:r>
            <a:endParaRPr lang="en-US" sz="2400" b="1" dirty="0"/>
          </a:p>
          <a:p>
            <a:r>
              <a:rPr lang="he-IL" b="1" dirty="0"/>
              <a:t>שימוש במצלמות להעברת נתונים:</a:t>
            </a:r>
            <a:r>
              <a:rPr lang="he-IL" dirty="0"/>
              <a:t/>
            </a:r>
            <a:br>
              <a:rPr lang="he-IL" dirty="0"/>
            </a:br>
            <a:r>
              <a:rPr lang="he-IL" dirty="0"/>
              <a:t>מצלמות יכולות להקליט מידע מוסתר בתמונות או בסרטונים, למשל, באמצעות מיקוד או צבעים שאינם גלויים לעין האנושית (כגון תדרי אינפרה-אדום</a:t>
            </a:r>
            <a:r>
              <a:rPr lang="he-IL" dirty="0" smtClean="0"/>
              <a:t>).</a:t>
            </a:r>
          </a:p>
          <a:p>
            <a:r>
              <a:rPr lang="he-IL" b="1" dirty="0"/>
              <a:t>החבאת נתונים בתוך </a:t>
            </a:r>
            <a:r>
              <a:rPr lang="en-US" b="1" dirty="0" smtClean="0"/>
              <a:t>Firmware</a:t>
            </a:r>
            <a:r>
              <a:rPr lang="he-IL" b="1" dirty="0" smtClean="0"/>
              <a:t> של </a:t>
            </a:r>
            <a:r>
              <a:rPr lang="en-US" b="1" dirty="0"/>
              <a:t>USB </a:t>
            </a:r>
            <a:r>
              <a:rPr lang="en-US" b="1" dirty="0" smtClean="0"/>
              <a:t>Drives</a:t>
            </a:r>
            <a:r>
              <a:rPr lang="he-IL" b="1" dirty="0" smtClean="0"/>
              <a:t>:</a:t>
            </a:r>
            <a:r>
              <a:rPr lang="en-US" dirty="0"/>
              <a:t/>
            </a:r>
            <a:br>
              <a:rPr lang="en-US" dirty="0"/>
            </a:br>
            <a:r>
              <a:rPr lang="he-IL" dirty="0"/>
              <a:t>ניתן לשנות את הקוד הפנימי (</a:t>
            </a:r>
            <a:r>
              <a:rPr lang="en-US" dirty="0"/>
              <a:t>Firmware) </a:t>
            </a:r>
            <a:r>
              <a:rPr lang="he-IL" dirty="0"/>
              <a:t>של כונני </a:t>
            </a:r>
            <a:r>
              <a:rPr lang="en-US" dirty="0"/>
              <a:t>USB </a:t>
            </a:r>
            <a:r>
              <a:rPr lang="he-IL" dirty="0"/>
              <a:t>כדי להסתיר מידע בסקטורים בלתי נראים</a:t>
            </a:r>
            <a:r>
              <a:rPr lang="he-IL" dirty="0" smtClean="0"/>
              <a:t>.</a:t>
            </a:r>
          </a:p>
          <a:p>
            <a:r>
              <a:rPr lang="he-IL" b="1" dirty="0"/>
              <a:t>4. </a:t>
            </a:r>
            <a:r>
              <a:rPr lang="he-IL" sz="2400" b="1" dirty="0"/>
              <a:t>התקני קול ורמקולים:</a:t>
            </a:r>
          </a:p>
          <a:p>
            <a:r>
              <a:rPr lang="he-IL" b="1" dirty="0"/>
              <a:t>העברת נתונים באמצעות גלי קול:</a:t>
            </a:r>
            <a:r>
              <a:rPr lang="he-IL" dirty="0"/>
              <a:t/>
            </a:r>
            <a:br>
              <a:rPr lang="he-IL" dirty="0"/>
            </a:br>
            <a:r>
              <a:rPr lang="he-IL" dirty="0"/>
              <a:t>רמקולים יכולים להשמיע גלי קול בתדרים שאינם נשמעים לאוזן האנושית (</a:t>
            </a:r>
            <a:r>
              <a:rPr lang="he-IL" dirty="0" err="1"/>
              <a:t>אולטרסוניק</a:t>
            </a:r>
            <a:r>
              <a:rPr lang="he-IL" dirty="0"/>
              <a:t>), וכך להעביר נתונים באופן נסתר.</a:t>
            </a:r>
          </a:p>
          <a:p>
            <a:r>
              <a:rPr lang="he-IL" b="1" dirty="0"/>
              <a:t>הקלטה סמויה במיקרופונים:</a:t>
            </a:r>
            <a:r>
              <a:rPr lang="he-IL" dirty="0"/>
              <a:t/>
            </a:r>
            <a:br>
              <a:rPr lang="he-IL" dirty="0"/>
            </a:br>
            <a:r>
              <a:rPr lang="he-IL" dirty="0"/>
              <a:t>ניתן להחביא נתונים בתוך אותות מוקלטים, בדומה </a:t>
            </a:r>
            <a:r>
              <a:rPr lang="he-IL" dirty="0" err="1"/>
              <a:t>לסטגנוגרפיה</a:t>
            </a:r>
            <a:r>
              <a:rPr lang="he-IL" dirty="0"/>
              <a:t> בקבצי אודיו.</a:t>
            </a:r>
          </a:p>
          <a:p>
            <a:endParaRPr lang="he-IL" dirty="0"/>
          </a:p>
          <a:p>
            <a:endParaRPr lang="he-IL" dirty="0"/>
          </a:p>
        </p:txBody>
      </p:sp>
    </p:spTree>
    <p:extLst>
      <p:ext uri="{BB962C8B-B14F-4D97-AF65-F5344CB8AC3E}">
        <p14:creationId xmlns:p14="http://schemas.microsoft.com/office/powerpoint/2010/main" val="32062557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571105" y="659219"/>
            <a:ext cx="9770225" cy="1371600"/>
          </a:xfrm>
        </p:spPr>
        <p:txBody>
          <a:bodyPr>
            <a:normAutofit fontScale="90000"/>
          </a:bodyPr>
          <a:lstStyle/>
          <a:p>
            <a:r>
              <a:rPr lang="he-IL" dirty="0" smtClean="0"/>
              <a:t>1. ניצול </a:t>
            </a:r>
            <a:r>
              <a:rPr lang="he-IL" dirty="0"/>
              <a:t>רכיבים אלקטרוניים להעברת מידע</a:t>
            </a:r>
          </a:p>
        </p:txBody>
      </p:sp>
      <p:sp>
        <p:nvSpPr>
          <p:cNvPr id="3" name="מציין מיקום תוכן 2"/>
          <p:cNvSpPr>
            <a:spLocks noGrp="1"/>
          </p:cNvSpPr>
          <p:nvPr>
            <p:ph idx="1"/>
          </p:nvPr>
        </p:nvSpPr>
        <p:spPr/>
        <p:txBody>
          <a:bodyPr/>
          <a:lstStyle/>
          <a:p>
            <a:r>
              <a:rPr lang="he-IL" dirty="0" smtClean="0"/>
              <a:t>רכיבים </a:t>
            </a:r>
            <a:r>
              <a:rPr lang="he-IL" dirty="0"/>
              <a:t>אלקטרוניים נפוצים, כמו כרטיסי רשת, מצלמות, ומקלדות, יכולים להיות מנוצלים להחבאת מידע, במיוחד כשהם חלק ממערכות שנמצאות בשימוש שוטף. הנה כמה רעיונות:</a:t>
            </a:r>
          </a:p>
          <a:p>
            <a:r>
              <a:rPr lang="he-IL" b="1" dirty="0"/>
              <a:t>שינוי תדרי פעולה:</a:t>
            </a:r>
            <a:r>
              <a:rPr lang="he-IL" dirty="0"/>
              <a:t> חלק מהרכיבים פועלים בתדרים משתנים (למשל, שעון פנימי של רכיב). ניתן להשתמש בתדרים אלו להעברת מידע מוסתר, כמו רצפים בינאריים</a:t>
            </a:r>
            <a:r>
              <a:rPr lang="he-IL" dirty="0" smtClean="0"/>
              <a:t>.</a:t>
            </a:r>
          </a:p>
          <a:p>
            <a:endParaRPr lang="he-IL" dirty="0"/>
          </a:p>
          <a:p>
            <a:r>
              <a:rPr lang="he-IL" b="1" dirty="0" smtClean="0"/>
              <a:t>תוכנות</a:t>
            </a:r>
            <a:r>
              <a:rPr lang="en-US" b="1" dirty="0" smtClean="0"/>
              <a:t> Firmware </a:t>
            </a:r>
            <a:r>
              <a:rPr lang="he-IL" b="1" dirty="0"/>
              <a:t>מותאמות אישית:</a:t>
            </a:r>
            <a:r>
              <a:rPr lang="he-IL" dirty="0"/>
              <a:t> עדכון ה-</a:t>
            </a:r>
            <a:r>
              <a:rPr lang="en-US" dirty="0"/>
              <a:t>Firmware </a:t>
            </a:r>
            <a:r>
              <a:rPr lang="he-IL" dirty="0" smtClean="0"/>
              <a:t> של </a:t>
            </a:r>
            <a:r>
              <a:rPr lang="he-IL" dirty="0"/>
              <a:t>התקנים פיזיים כך שיכילו מידע מוסתר הוא דרך מתוחכמת וקשה לזיהוי.</a:t>
            </a:r>
          </a:p>
          <a:p>
            <a:endParaRPr lang="he-IL" dirty="0"/>
          </a:p>
        </p:txBody>
      </p:sp>
    </p:spTree>
    <p:extLst>
      <p:ext uri="{BB962C8B-B14F-4D97-AF65-F5344CB8AC3E}">
        <p14:creationId xmlns:p14="http://schemas.microsoft.com/office/powerpoint/2010/main" val="101741763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066800" y="650907"/>
            <a:ext cx="10352116" cy="1371600"/>
          </a:xfrm>
        </p:spPr>
        <p:txBody>
          <a:bodyPr>
            <a:normAutofit fontScale="90000"/>
          </a:bodyPr>
          <a:lstStyle/>
          <a:p>
            <a:r>
              <a:rPr lang="he-IL" dirty="0" smtClean="0"/>
              <a:t>2. שימוש </a:t>
            </a:r>
            <a:r>
              <a:rPr lang="he-IL" dirty="0"/>
              <a:t>במיקרופונים ורמקולים להעברת מידע</a:t>
            </a:r>
          </a:p>
        </p:txBody>
      </p:sp>
      <p:sp>
        <p:nvSpPr>
          <p:cNvPr id="3" name="מציין מיקום תוכן 2"/>
          <p:cNvSpPr>
            <a:spLocks noGrp="1"/>
          </p:cNvSpPr>
          <p:nvPr>
            <p:ph idx="1"/>
          </p:nvPr>
        </p:nvSpPr>
        <p:spPr/>
        <p:txBody>
          <a:bodyPr/>
          <a:lstStyle/>
          <a:p>
            <a:r>
              <a:rPr lang="he-IL" dirty="0" smtClean="0"/>
              <a:t>2. </a:t>
            </a:r>
            <a:r>
              <a:rPr lang="he-IL" b="1" dirty="0" smtClean="0"/>
              <a:t>העברת </a:t>
            </a:r>
            <a:r>
              <a:rPr lang="he-IL" b="1" dirty="0"/>
              <a:t>נתונים באמצעות גלי קול:</a:t>
            </a:r>
            <a:endParaRPr lang="he-IL" dirty="0"/>
          </a:p>
          <a:p>
            <a:r>
              <a:rPr lang="he-IL" dirty="0"/>
              <a:t>ניתן לשדר נתונים בתדרי </a:t>
            </a:r>
            <a:r>
              <a:rPr lang="he-IL" b="1" dirty="0"/>
              <a:t>אולטרסאונד</a:t>
            </a:r>
            <a:r>
              <a:rPr lang="he-IL" dirty="0"/>
              <a:t> שאינם נשמעים לאוזן האנושית, ולקלוט אותם באמצעות מיקרופונים רגישים במיוחד</a:t>
            </a:r>
            <a:r>
              <a:rPr lang="he-IL" dirty="0" smtClean="0"/>
              <a:t>.</a:t>
            </a:r>
            <a:endParaRPr lang="he-IL" dirty="0"/>
          </a:p>
          <a:p>
            <a:r>
              <a:rPr lang="he-IL" dirty="0"/>
              <a:t>שימוש בקידוד </a:t>
            </a:r>
            <a:r>
              <a:rPr lang="he-IL" dirty="0" smtClean="0"/>
              <a:t>כמו</a:t>
            </a:r>
            <a:r>
              <a:rPr lang="en-US" dirty="0" smtClean="0"/>
              <a:t> </a:t>
            </a:r>
            <a:r>
              <a:rPr lang="en-US" b="1" dirty="0" smtClean="0"/>
              <a:t>Amplitude </a:t>
            </a:r>
            <a:r>
              <a:rPr lang="en-US" b="1" dirty="0"/>
              <a:t>Modulation (AM)</a:t>
            </a:r>
            <a:r>
              <a:rPr lang="en-US" dirty="0"/>
              <a:t> </a:t>
            </a:r>
            <a:r>
              <a:rPr lang="he-IL" dirty="0"/>
              <a:t>או </a:t>
            </a:r>
            <a:r>
              <a:rPr lang="en-US" b="1" dirty="0"/>
              <a:t>Frequency Modulation (</a:t>
            </a:r>
            <a:r>
              <a:rPr lang="en-US" b="1" dirty="0" smtClean="0"/>
              <a:t>FM)</a:t>
            </a:r>
            <a:r>
              <a:rPr lang="he-IL" b="1" dirty="0" smtClean="0"/>
              <a:t> </a:t>
            </a:r>
            <a:r>
              <a:rPr lang="he-IL" dirty="0" smtClean="0"/>
              <a:t>יאפשר </a:t>
            </a:r>
            <a:r>
              <a:rPr lang="he-IL" dirty="0"/>
              <a:t>העברת מידע יציבה ומוסתרת יותר</a:t>
            </a:r>
            <a:r>
              <a:rPr lang="he-IL" dirty="0" smtClean="0"/>
              <a:t>.</a:t>
            </a:r>
          </a:p>
          <a:p>
            <a:endParaRPr lang="he-IL" dirty="0" smtClean="0"/>
          </a:p>
          <a:p>
            <a:r>
              <a:rPr lang="he-IL" b="1" dirty="0"/>
              <a:t>דוגמה מעשית:</a:t>
            </a:r>
            <a:r>
              <a:rPr lang="he-IL" dirty="0"/>
              <a:t/>
            </a:r>
            <a:br>
              <a:rPr lang="he-IL" dirty="0"/>
            </a:br>
            <a:r>
              <a:rPr lang="he-IL" dirty="0"/>
              <a:t>דמיין מצב שבו רמקול במחשב משדר "קול מוסתר" לחדר אחר, והמידע נקלט ע"י מיקרופון שמחובר למחשב אחר. על בסיס צלילים בתדרים שונים, ניתן להעביר ביטים בודדים.</a:t>
            </a:r>
          </a:p>
          <a:p>
            <a:endParaRPr lang="he-IL" dirty="0"/>
          </a:p>
        </p:txBody>
      </p:sp>
    </p:spTree>
    <p:extLst>
      <p:ext uri="{BB962C8B-B14F-4D97-AF65-F5344CB8AC3E}">
        <p14:creationId xmlns:p14="http://schemas.microsoft.com/office/powerpoint/2010/main" val="146141804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5070764" y="642594"/>
            <a:ext cx="6054436" cy="1371600"/>
          </a:xfrm>
        </p:spPr>
        <p:txBody>
          <a:bodyPr>
            <a:normAutofit fontScale="90000"/>
          </a:bodyPr>
          <a:lstStyle/>
          <a:p>
            <a:r>
              <a:rPr lang="he-IL" dirty="0" smtClean="0"/>
              <a:t>3. שימוש </a:t>
            </a:r>
            <a:r>
              <a:rPr lang="he-IL" dirty="0"/>
              <a:t>במצלמות חכמות</a:t>
            </a:r>
          </a:p>
        </p:txBody>
      </p:sp>
      <p:sp>
        <p:nvSpPr>
          <p:cNvPr id="3" name="מציין מיקום תוכן 2"/>
          <p:cNvSpPr>
            <a:spLocks noGrp="1"/>
          </p:cNvSpPr>
          <p:nvPr>
            <p:ph idx="1"/>
          </p:nvPr>
        </p:nvSpPr>
        <p:spPr/>
        <p:txBody>
          <a:bodyPr/>
          <a:lstStyle/>
          <a:p>
            <a:r>
              <a:rPr lang="he-IL" b="1" dirty="0" smtClean="0"/>
              <a:t>טשטוש </a:t>
            </a:r>
            <a:r>
              <a:rPr lang="he-IL" b="1" dirty="0"/>
              <a:t>מכוון בתמונות:</a:t>
            </a:r>
            <a:r>
              <a:rPr lang="he-IL" dirty="0"/>
              <a:t> מצלמה יכולה לצלם תמונה עם "שגיאות מכוונות" בצבע או במיקום פיקסלים. השגיאות מכילות את המידע הסמוי</a:t>
            </a:r>
            <a:r>
              <a:rPr lang="he-IL" dirty="0" smtClean="0"/>
              <a:t>.</a:t>
            </a:r>
          </a:p>
          <a:p>
            <a:endParaRPr lang="he-IL" dirty="0"/>
          </a:p>
          <a:p>
            <a:r>
              <a:rPr lang="he-IL" b="1" dirty="0"/>
              <a:t>שימוש באינפרה-אדום:</a:t>
            </a:r>
            <a:r>
              <a:rPr lang="he-IL" dirty="0"/>
              <a:t> מצלמות המסוגלות ללכוד תדרי אינפרה-אדום יכולות לשדר נתונים מוסתרים למקלטים מותאמים, כמו חיישנים או מצלמות אחרות</a:t>
            </a:r>
            <a:r>
              <a:rPr lang="he-IL" dirty="0" smtClean="0"/>
              <a:t>.</a:t>
            </a:r>
          </a:p>
          <a:p>
            <a:endParaRPr lang="he-IL" dirty="0"/>
          </a:p>
          <a:p>
            <a:r>
              <a:rPr lang="he-IL" b="1" dirty="0"/>
              <a:t>דוגמה</a:t>
            </a:r>
            <a:r>
              <a:rPr lang="he-IL" b="1" dirty="0" smtClean="0"/>
              <a:t>:</a:t>
            </a:r>
            <a:r>
              <a:rPr lang="he-IL" dirty="0"/>
              <a:t/>
            </a:r>
            <a:br>
              <a:rPr lang="he-IL" dirty="0"/>
            </a:br>
            <a:r>
              <a:rPr lang="he-IL" dirty="0"/>
              <a:t>תמונה תמימה יכולה לכלול מידע חבוי במקומות שלא מורגשים בעין, כמו זוויות חשוכות, פרטים מטושטשים, או "רעש" מכוון.</a:t>
            </a:r>
          </a:p>
          <a:p>
            <a:endParaRPr lang="he-IL" dirty="0"/>
          </a:p>
        </p:txBody>
      </p:sp>
    </p:spTree>
    <p:extLst>
      <p:ext uri="{BB962C8B-B14F-4D97-AF65-F5344CB8AC3E}">
        <p14:creationId xmlns:p14="http://schemas.microsoft.com/office/powerpoint/2010/main" val="249583121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973484" y="642594"/>
            <a:ext cx="7151716" cy="1371600"/>
          </a:xfrm>
        </p:spPr>
        <p:txBody>
          <a:bodyPr/>
          <a:lstStyle/>
          <a:p>
            <a:r>
              <a:rPr lang="he-IL" dirty="0" smtClean="0"/>
              <a:t>4. הדפסה </a:t>
            </a:r>
            <a:r>
              <a:rPr lang="he-IL" dirty="0"/>
              <a:t>נסתרת במדפסות</a:t>
            </a:r>
          </a:p>
        </p:txBody>
      </p:sp>
      <p:sp>
        <p:nvSpPr>
          <p:cNvPr id="3" name="מציין מיקום תוכן 2"/>
          <p:cNvSpPr>
            <a:spLocks noGrp="1"/>
          </p:cNvSpPr>
          <p:nvPr>
            <p:ph idx="1"/>
          </p:nvPr>
        </p:nvSpPr>
        <p:spPr/>
        <p:txBody>
          <a:bodyPr/>
          <a:lstStyle/>
          <a:p>
            <a:r>
              <a:rPr lang="he-IL" b="1" dirty="0" smtClean="0"/>
              <a:t>הדפסת </a:t>
            </a:r>
            <a:r>
              <a:rPr lang="he-IL" b="1" dirty="0"/>
              <a:t>נקודות בלתי נראות:</a:t>
            </a:r>
            <a:r>
              <a:rPr lang="he-IL" dirty="0"/>
              <a:t> כפי שהוזכר קודם, ניתן להחביא נתונים בתוך נקודות צהובות זעירות המודפסות על המסמך. הנקודות ניתנות לקריאה רק ע"י סורק מיוחד</a:t>
            </a:r>
            <a:r>
              <a:rPr lang="he-IL" dirty="0" smtClean="0"/>
              <a:t>.</a:t>
            </a:r>
          </a:p>
          <a:p>
            <a:endParaRPr lang="he-IL" dirty="0"/>
          </a:p>
          <a:p>
            <a:r>
              <a:rPr lang="he-IL" b="1" dirty="0"/>
              <a:t>קידוד פיקסלים:</a:t>
            </a:r>
            <a:r>
              <a:rPr lang="he-IL" dirty="0"/>
              <a:t> במדפסת תמונה, ניתן לשנות את ערכי הפיקסלים באופן שאינו פוגע בתמונה עצמה, אך כולל מידע סמוי.</a:t>
            </a:r>
          </a:p>
          <a:p>
            <a:endParaRPr lang="he-IL" dirty="0"/>
          </a:p>
        </p:txBody>
      </p:sp>
    </p:spTree>
    <p:extLst>
      <p:ext uri="{BB962C8B-B14F-4D97-AF65-F5344CB8AC3E}">
        <p14:creationId xmlns:p14="http://schemas.microsoft.com/office/powerpoint/2010/main" val="176279754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5868784" y="642594"/>
            <a:ext cx="5256415" cy="1371600"/>
          </a:xfrm>
        </p:spPr>
        <p:txBody>
          <a:bodyPr/>
          <a:lstStyle/>
          <a:p>
            <a:r>
              <a:rPr lang="he-IL" dirty="0"/>
              <a:t>5. שימוש בכונני </a:t>
            </a:r>
            <a:r>
              <a:rPr lang="en-US" dirty="0"/>
              <a:t>USB</a:t>
            </a:r>
            <a:endParaRPr lang="he-IL" dirty="0"/>
          </a:p>
        </p:txBody>
      </p:sp>
      <p:sp>
        <p:nvSpPr>
          <p:cNvPr id="3" name="מציין מיקום תוכן 2"/>
          <p:cNvSpPr>
            <a:spLocks noGrp="1"/>
          </p:cNvSpPr>
          <p:nvPr>
            <p:ph idx="1"/>
          </p:nvPr>
        </p:nvSpPr>
        <p:spPr/>
        <p:txBody>
          <a:bodyPr/>
          <a:lstStyle/>
          <a:p>
            <a:r>
              <a:rPr lang="he-IL" b="1" dirty="0" smtClean="0"/>
              <a:t>החבאה ב-</a:t>
            </a:r>
            <a:r>
              <a:rPr lang="en-US" b="1" dirty="0" smtClean="0"/>
              <a:t> Firmware </a:t>
            </a:r>
            <a:r>
              <a:rPr lang="he-IL" b="1" dirty="0"/>
              <a:t>של </a:t>
            </a:r>
            <a:r>
              <a:rPr lang="he-IL" b="1" dirty="0" smtClean="0"/>
              <a:t>הכונן:</a:t>
            </a:r>
            <a:endParaRPr lang="he-IL" dirty="0" smtClean="0"/>
          </a:p>
          <a:p>
            <a:r>
              <a:rPr lang="he-IL" dirty="0" smtClean="0"/>
              <a:t>ניתן </a:t>
            </a:r>
            <a:r>
              <a:rPr lang="he-IL" dirty="0"/>
              <a:t>לשנות את ה-</a:t>
            </a:r>
            <a:r>
              <a:rPr lang="en-US" dirty="0"/>
              <a:t>Firmware </a:t>
            </a:r>
            <a:r>
              <a:rPr lang="he-IL" dirty="0" smtClean="0"/>
              <a:t> תוכנה </a:t>
            </a:r>
            <a:r>
              <a:rPr lang="he-IL" dirty="0"/>
              <a:t>פנימית) של כונן </a:t>
            </a:r>
            <a:r>
              <a:rPr lang="he-IL" dirty="0" smtClean="0"/>
              <a:t>ה-</a:t>
            </a:r>
            <a:r>
              <a:rPr lang="en-US" dirty="0" smtClean="0"/>
              <a:t> USB </a:t>
            </a:r>
            <a:r>
              <a:rPr lang="he-IL" dirty="0"/>
              <a:t>כדי להוסיף חלקי קוד שמסתירים נתונים.</a:t>
            </a:r>
          </a:p>
          <a:p>
            <a:r>
              <a:rPr lang="he-IL" b="1" dirty="0"/>
              <a:t>שימוש בסקטורים בלתי </a:t>
            </a:r>
            <a:r>
              <a:rPr lang="he-IL" b="1" dirty="0" smtClean="0"/>
              <a:t>נראים:</a:t>
            </a:r>
            <a:endParaRPr lang="he-IL" dirty="0" smtClean="0"/>
          </a:p>
          <a:p>
            <a:r>
              <a:rPr lang="he-IL" dirty="0" smtClean="0"/>
              <a:t>כל כונן</a:t>
            </a:r>
            <a:r>
              <a:rPr lang="en-US" dirty="0" smtClean="0"/>
              <a:t>USB </a:t>
            </a:r>
            <a:r>
              <a:rPr lang="he-IL" dirty="0" smtClean="0"/>
              <a:t> מכיל </a:t>
            </a:r>
            <a:r>
              <a:rPr lang="he-IL" dirty="0"/>
              <a:t>סקטורים </a:t>
            </a:r>
            <a:r>
              <a:rPr lang="he-IL" dirty="0" smtClean="0"/>
              <a:t>ריקים</a:t>
            </a:r>
            <a:r>
              <a:rPr lang="en-US" dirty="0" smtClean="0"/>
              <a:t> Unallocated Space </a:t>
            </a:r>
            <a:r>
              <a:rPr lang="he-IL" dirty="0" smtClean="0"/>
              <a:t>ניתן </a:t>
            </a:r>
            <a:r>
              <a:rPr lang="he-IL" dirty="0"/>
              <a:t>להטמיע מידע באזורים אלו מבלי שזה ייראה במערכת ההפעלה.</a:t>
            </a:r>
          </a:p>
          <a:p>
            <a:endParaRPr lang="he-IL" dirty="0"/>
          </a:p>
        </p:txBody>
      </p:sp>
    </p:spTree>
    <p:extLst>
      <p:ext uri="{BB962C8B-B14F-4D97-AF65-F5344CB8AC3E}">
        <p14:creationId xmlns:p14="http://schemas.microsoft.com/office/powerpoint/2010/main" val="11423885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903614" y="642594"/>
            <a:ext cx="9221585" cy="1371600"/>
          </a:xfrm>
        </p:spPr>
        <p:txBody>
          <a:bodyPr>
            <a:normAutofit fontScale="90000"/>
          </a:bodyPr>
          <a:lstStyle/>
          <a:p>
            <a:r>
              <a:rPr lang="he-IL" dirty="0"/>
              <a:t>יתרונות וחסרונות של הסוואה בציוד היקפי</a:t>
            </a:r>
          </a:p>
        </p:txBody>
      </p:sp>
      <p:sp>
        <p:nvSpPr>
          <p:cNvPr id="3" name="מציין מיקום תוכן 2"/>
          <p:cNvSpPr>
            <a:spLocks noGrp="1"/>
          </p:cNvSpPr>
          <p:nvPr>
            <p:ph idx="1"/>
          </p:nvPr>
        </p:nvSpPr>
        <p:spPr/>
        <p:txBody>
          <a:bodyPr/>
          <a:lstStyle/>
          <a:p>
            <a:r>
              <a:rPr lang="he-IL" b="1" dirty="0"/>
              <a:t>יתרונות:</a:t>
            </a:r>
          </a:p>
          <a:p>
            <a:r>
              <a:rPr lang="he-IL" b="1" dirty="0" smtClean="0"/>
              <a:t>1. קושי </a:t>
            </a:r>
            <a:r>
              <a:rPr lang="he-IL" b="1" dirty="0"/>
              <a:t>בזיהוי:</a:t>
            </a:r>
            <a:r>
              <a:rPr lang="he-IL" dirty="0"/>
              <a:t> רוב מערכות האבטחה אינן מנתחות את המידע שמועבר בציוד היקפי.</a:t>
            </a:r>
          </a:p>
          <a:p>
            <a:r>
              <a:rPr lang="he-IL" b="1" dirty="0" smtClean="0"/>
              <a:t>2. אפשרויות </a:t>
            </a:r>
            <a:r>
              <a:rPr lang="he-IL" b="1" dirty="0"/>
              <a:t>יצירתיות:</a:t>
            </a:r>
            <a:r>
              <a:rPr lang="he-IL" dirty="0"/>
              <a:t> ניתן לנצל מגוון רחב של התקנים להעברת נתונים.</a:t>
            </a:r>
          </a:p>
          <a:p>
            <a:r>
              <a:rPr lang="he-IL" b="1" dirty="0" smtClean="0"/>
              <a:t>3. נגישות </a:t>
            </a:r>
            <a:r>
              <a:rPr lang="he-IL" b="1" dirty="0"/>
              <a:t>גבוהה:</a:t>
            </a:r>
            <a:r>
              <a:rPr lang="he-IL" dirty="0"/>
              <a:t> ציוד היקפי זמין ונפוץ, ולכן קל להשתמש בו להסתרת נתונים.</a:t>
            </a:r>
          </a:p>
          <a:p>
            <a:endParaRPr lang="he-IL" dirty="0" smtClean="0"/>
          </a:p>
          <a:p>
            <a:r>
              <a:rPr lang="he-IL" b="1" dirty="0"/>
              <a:t>חסרונות:</a:t>
            </a:r>
          </a:p>
          <a:p>
            <a:r>
              <a:rPr lang="he-IL" b="1" dirty="0" smtClean="0"/>
              <a:t>1. מגבלות </a:t>
            </a:r>
            <a:r>
              <a:rPr lang="he-IL" b="1" dirty="0"/>
              <a:t>טכניות:</a:t>
            </a:r>
            <a:r>
              <a:rPr lang="he-IL" dirty="0"/>
              <a:t> חלק מהשיטות דורשות ידע מתקדם בתכנות ובחומרה.</a:t>
            </a:r>
          </a:p>
          <a:p>
            <a:r>
              <a:rPr lang="he-IL" b="1" dirty="0" smtClean="0"/>
              <a:t>2. חשש </a:t>
            </a:r>
            <a:r>
              <a:rPr lang="he-IL" b="1" dirty="0"/>
              <a:t>מזיהוי ידני:</a:t>
            </a:r>
            <a:r>
              <a:rPr lang="he-IL" dirty="0"/>
              <a:t> אם מישהו בודק את ההתקנים באופן פיזי, ניתן לגלות את המידע.</a:t>
            </a:r>
          </a:p>
          <a:p>
            <a:r>
              <a:rPr lang="he-IL" b="1" dirty="0" smtClean="0"/>
              <a:t>3. שיעור </a:t>
            </a:r>
            <a:r>
              <a:rPr lang="he-IL" b="1" dirty="0"/>
              <a:t>העברת נתונים מוגבל:</a:t>
            </a:r>
            <a:r>
              <a:rPr lang="he-IL" dirty="0"/>
              <a:t> ברוב המקרים, קצב העברת הנתונים נמוך יחסית.</a:t>
            </a:r>
          </a:p>
          <a:p>
            <a:endParaRPr lang="he-IL" dirty="0"/>
          </a:p>
        </p:txBody>
      </p:sp>
    </p:spTree>
    <p:extLst>
      <p:ext uri="{BB962C8B-B14F-4D97-AF65-F5344CB8AC3E}">
        <p14:creationId xmlns:p14="http://schemas.microsoft.com/office/powerpoint/2010/main" val="65885562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902930" y="642594"/>
            <a:ext cx="2222269" cy="1371600"/>
          </a:xfrm>
        </p:spPr>
        <p:txBody>
          <a:bodyPr/>
          <a:lstStyle/>
          <a:p>
            <a:r>
              <a:rPr lang="he-IL" dirty="0"/>
              <a:t>אתגרים</a:t>
            </a:r>
          </a:p>
        </p:txBody>
      </p:sp>
      <p:sp>
        <p:nvSpPr>
          <p:cNvPr id="3" name="מציין מיקום תוכן 2"/>
          <p:cNvSpPr>
            <a:spLocks noGrp="1"/>
          </p:cNvSpPr>
          <p:nvPr>
            <p:ph idx="1"/>
          </p:nvPr>
        </p:nvSpPr>
        <p:spPr/>
        <p:txBody>
          <a:bodyPr/>
          <a:lstStyle/>
          <a:p>
            <a:r>
              <a:rPr lang="he-IL" dirty="0" smtClean="0"/>
              <a:t>1. </a:t>
            </a:r>
            <a:r>
              <a:rPr lang="he-IL" b="1" dirty="0"/>
              <a:t>איתור המידע המוסתר</a:t>
            </a:r>
            <a:r>
              <a:rPr lang="he-IL" b="1" dirty="0" smtClean="0"/>
              <a:t>: </a:t>
            </a:r>
          </a:p>
          <a:p>
            <a:r>
              <a:rPr lang="he-IL" dirty="0" smtClean="0"/>
              <a:t>מידע </a:t>
            </a:r>
            <a:r>
              <a:rPr lang="he-IL" dirty="0"/>
              <a:t>שמוסתר בציוד היקפי קשה מאוד לגילוי, במיוחד כשהוא נמצא בחומרה ולא בתוכנה.</a:t>
            </a:r>
          </a:p>
          <a:p>
            <a:endParaRPr lang="he-IL" dirty="0" smtClean="0"/>
          </a:p>
          <a:p>
            <a:r>
              <a:rPr lang="he-IL" dirty="0" smtClean="0"/>
              <a:t>2. </a:t>
            </a:r>
            <a:r>
              <a:rPr lang="he-IL" b="1" dirty="0"/>
              <a:t>שמירה על תפקוד תקין של ההתקן</a:t>
            </a:r>
            <a:r>
              <a:rPr lang="he-IL" b="1" dirty="0" smtClean="0"/>
              <a:t>:</a:t>
            </a:r>
          </a:p>
          <a:p>
            <a:r>
              <a:rPr lang="he-IL" dirty="0" smtClean="0"/>
              <a:t>כל </a:t>
            </a:r>
            <a:r>
              <a:rPr lang="he-IL" dirty="0"/>
              <a:t>שינוי </a:t>
            </a:r>
            <a:r>
              <a:rPr lang="he-IL" dirty="0" smtClean="0"/>
              <a:t>ב-</a:t>
            </a:r>
            <a:r>
              <a:rPr lang="en-US" dirty="0" smtClean="0"/>
              <a:t> Firmware </a:t>
            </a:r>
            <a:r>
              <a:rPr lang="he-IL" dirty="0"/>
              <a:t>או במבנה הקובץ עלול לגרום לתקלות בתפקוד הציוד.</a:t>
            </a:r>
          </a:p>
          <a:p>
            <a:endParaRPr lang="he-IL" dirty="0" smtClean="0"/>
          </a:p>
          <a:p>
            <a:r>
              <a:rPr lang="he-IL" dirty="0" smtClean="0"/>
              <a:t>3. </a:t>
            </a:r>
            <a:r>
              <a:rPr lang="he-IL" b="1" dirty="0"/>
              <a:t>אבטחה מוגברת בציוד מודרני</a:t>
            </a:r>
            <a:r>
              <a:rPr lang="he-IL" b="1" dirty="0" smtClean="0"/>
              <a:t>: </a:t>
            </a:r>
          </a:p>
          <a:p>
            <a:r>
              <a:rPr lang="he-IL" dirty="0" smtClean="0"/>
              <a:t>חלק </a:t>
            </a:r>
            <a:r>
              <a:rPr lang="he-IL" dirty="0"/>
              <a:t>מההתקנים כוללים מערכות שמונעות שינויים לא מורשים, כמו חתימות דיגיטליות ב-</a:t>
            </a:r>
            <a:r>
              <a:rPr lang="en-US" dirty="0" smtClean="0"/>
              <a:t>Firmware</a:t>
            </a:r>
            <a:r>
              <a:rPr lang="he-IL" dirty="0" smtClean="0"/>
              <a:t>.</a:t>
            </a:r>
            <a:endParaRPr lang="en-US" dirty="0"/>
          </a:p>
          <a:p>
            <a:endParaRPr lang="he-IL" dirty="0" smtClean="0"/>
          </a:p>
          <a:p>
            <a:endParaRPr lang="he-IL" dirty="0"/>
          </a:p>
        </p:txBody>
      </p:sp>
    </p:spTree>
    <p:extLst>
      <p:ext uri="{BB962C8B-B14F-4D97-AF65-F5344CB8AC3E}">
        <p14:creationId xmlns:p14="http://schemas.microsoft.com/office/powerpoint/2010/main" val="402601366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877992" y="642594"/>
            <a:ext cx="2247207" cy="1371600"/>
          </a:xfrm>
        </p:spPr>
        <p:txBody>
          <a:bodyPr/>
          <a:lstStyle/>
          <a:p>
            <a:r>
              <a:rPr lang="he-IL" dirty="0" smtClean="0"/>
              <a:t>פתרונות</a:t>
            </a:r>
            <a:endParaRPr lang="he-IL" dirty="0"/>
          </a:p>
        </p:txBody>
      </p:sp>
      <p:sp>
        <p:nvSpPr>
          <p:cNvPr id="3" name="מציין מיקום תוכן 2"/>
          <p:cNvSpPr>
            <a:spLocks noGrp="1"/>
          </p:cNvSpPr>
          <p:nvPr>
            <p:ph idx="1"/>
          </p:nvPr>
        </p:nvSpPr>
        <p:spPr/>
        <p:txBody>
          <a:bodyPr/>
          <a:lstStyle/>
          <a:p>
            <a:r>
              <a:rPr lang="he-IL" dirty="0" smtClean="0"/>
              <a:t>1. </a:t>
            </a:r>
            <a:r>
              <a:rPr lang="he-IL" b="1" dirty="0"/>
              <a:t>הצפנה של המידע המוסתר</a:t>
            </a:r>
            <a:r>
              <a:rPr lang="he-IL" b="1" dirty="0" smtClean="0"/>
              <a:t>: </a:t>
            </a:r>
          </a:p>
          <a:p>
            <a:r>
              <a:rPr lang="he-IL" dirty="0" smtClean="0"/>
              <a:t>גם </a:t>
            </a:r>
            <a:r>
              <a:rPr lang="he-IL" dirty="0"/>
              <a:t>אם המידע מזוהה, הצפנה תמנע את קריאתו על ידי גורמים זרים.</a:t>
            </a:r>
          </a:p>
          <a:p>
            <a:endParaRPr lang="he-IL" dirty="0" smtClean="0"/>
          </a:p>
          <a:p>
            <a:r>
              <a:rPr lang="he-IL" dirty="0" smtClean="0"/>
              <a:t>2. </a:t>
            </a:r>
            <a:r>
              <a:rPr lang="he-IL" b="1" dirty="0"/>
              <a:t>שימוש בשיטות </a:t>
            </a:r>
            <a:r>
              <a:rPr lang="he-IL" b="1" dirty="0" err="1"/>
              <a:t>סטגנוגרפיות</a:t>
            </a:r>
            <a:r>
              <a:rPr lang="he-IL" b="1" dirty="0"/>
              <a:t> עדינות</a:t>
            </a:r>
            <a:r>
              <a:rPr lang="he-IL" b="1" dirty="0" smtClean="0"/>
              <a:t>:</a:t>
            </a:r>
          </a:p>
          <a:p>
            <a:r>
              <a:rPr lang="he-IL" dirty="0" smtClean="0"/>
              <a:t>טכניקות </a:t>
            </a:r>
            <a:r>
              <a:rPr lang="he-IL" dirty="0"/>
              <a:t>שמפחיתות את הסיכון לשינויים בולטים במכשירים.</a:t>
            </a:r>
          </a:p>
          <a:p>
            <a:endParaRPr lang="he-IL" dirty="0" smtClean="0"/>
          </a:p>
          <a:p>
            <a:r>
              <a:rPr lang="he-IL" dirty="0" smtClean="0"/>
              <a:t>3. </a:t>
            </a:r>
            <a:r>
              <a:rPr lang="he-IL" b="1" dirty="0"/>
              <a:t>תכנון מבוסס תרחישים</a:t>
            </a:r>
            <a:r>
              <a:rPr lang="he-IL" b="1" dirty="0" smtClean="0"/>
              <a:t>:</a:t>
            </a:r>
          </a:p>
          <a:p>
            <a:r>
              <a:rPr lang="he-IL" dirty="0" smtClean="0"/>
              <a:t>שימוש </a:t>
            </a:r>
            <a:r>
              <a:rPr lang="he-IL" dirty="0"/>
              <a:t>בציוד שנבדק בקפידה כדי להבטיח שתפקודו לא ייפגע.</a:t>
            </a:r>
          </a:p>
          <a:p>
            <a:endParaRPr lang="he-IL" dirty="0" smtClean="0"/>
          </a:p>
          <a:p>
            <a:endParaRPr lang="he-IL" dirty="0"/>
          </a:p>
        </p:txBody>
      </p:sp>
    </p:spTree>
    <p:extLst>
      <p:ext uri="{BB962C8B-B14F-4D97-AF65-F5344CB8AC3E}">
        <p14:creationId xmlns:p14="http://schemas.microsoft.com/office/powerpoint/2010/main" val="170991899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448204" y="642594"/>
            <a:ext cx="3676996" cy="1371600"/>
          </a:xfrm>
        </p:spPr>
        <p:txBody>
          <a:bodyPr/>
          <a:lstStyle/>
          <a:p>
            <a:r>
              <a:rPr lang="he-IL" dirty="0" smtClean="0"/>
              <a:t>שאלה מעשית</a:t>
            </a:r>
            <a:endParaRPr lang="he-IL" dirty="0"/>
          </a:p>
        </p:txBody>
      </p:sp>
      <p:sp>
        <p:nvSpPr>
          <p:cNvPr id="3" name="מציין מיקום תוכן 2"/>
          <p:cNvSpPr>
            <a:spLocks noGrp="1"/>
          </p:cNvSpPr>
          <p:nvPr>
            <p:ph idx="1"/>
          </p:nvPr>
        </p:nvSpPr>
        <p:spPr/>
        <p:txBody>
          <a:bodyPr/>
          <a:lstStyle/>
          <a:p>
            <a:r>
              <a:rPr lang="he-IL" dirty="0"/>
              <a:t>אתה עובד כמתכנן אבטחת מידע </a:t>
            </a:r>
            <a:r>
              <a:rPr lang="he-IL" dirty="0" smtClean="0"/>
              <a:t>במכללת כנפי רוח אצל יוסי לביא. </a:t>
            </a:r>
            <a:r>
              <a:rPr lang="he-IL" dirty="0"/>
              <a:t>יש לך מדפסת משרדית שתומכת בהדפסת נקודות בלתי נראות </a:t>
            </a:r>
            <a:r>
              <a:rPr lang="en-US" dirty="0" smtClean="0"/>
              <a:t>Invisible Dots</a:t>
            </a:r>
            <a:r>
              <a:rPr lang="he-IL" dirty="0" smtClean="0"/>
              <a:t> המנהל </a:t>
            </a:r>
            <a:r>
              <a:rPr lang="he-IL" dirty="0"/>
              <a:t>שלך ביקש ממך לפתח שיטה שתאפשר להעביר מסר סודי לעובד אחר באמצעות המדפסת, תוך שמירה על </a:t>
            </a:r>
            <a:r>
              <a:rPr lang="he-IL" dirty="0" smtClean="0"/>
              <a:t>סודיות </a:t>
            </a:r>
            <a:r>
              <a:rPr lang="he-IL" dirty="0"/>
              <a:t>המסר והסוואתו מפני גורמים שאינם מורשים</a:t>
            </a:r>
            <a:r>
              <a:rPr lang="he-IL" dirty="0" smtClean="0"/>
              <a:t>.</a:t>
            </a:r>
          </a:p>
          <a:p>
            <a:r>
              <a:rPr lang="he-IL" b="1" dirty="0"/>
              <a:t>משימות:</a:t>
            </a:r>
            <a:endParaRPr lang="he-IL" dirty="0"/>
          </a:p>
          <a:p>
            <a:r>
              <a:rPr lang="he-IL" dirty="0" smtClean="0"/>
              <a:t>1. תאר </a:t>
            </a:r>
            <a:r>
              <a:rPr lang="he-IL" dirty="0"/>
              <a:t>כיצד תטמיע את המידע הסודי בתוך הדפסת מסמך באמצעות נקודות בלתי נראות.</a:t>
            </a:r>
          </a:p>
          <a:p>
            <a:r>
              <a:rPr lang="he-IL" dirty="0" smtClean="0"/>
              <a:t>2. כיצד </a:t>
            </a:r>
            <a:r>
              <a:rPr lang="he-IL" dirty="0"/>
              <a:t>העובד יוכל לחלץ את המידע </a:t>
            </a:r>
            <a:r>
              <a:rPr lang="he-IL" dirty="0" err="1"/>
              <a:t>מהממסמך</a:t>
            </a:r>
            <a:r>
              <a:rPr lang="he-IL" dirty="0"/>
              <a:t> המודפס?</a:t>
            </a:r>
          </a:p>
          <a:p>
            <a:r>
              <a:rPr lang="he-IL" dirty="0" smtClean="0"/>
              <a:t>3. מה </a:t>
            </a:r>
            <a:r>
              <a:rPr lang="he-IL" dirty="0"/>
              <a:t>תעשה כדי להבטיח שאף גורם בלתי מורשה לא יוכל לקרוא את המידע החבוי?</a:t>
            </a:r>
          </a:p>
          <a:p>
            <a:endParaRPr lang="he-IL" dirty="0"/>
          </a:p>
        </p:txBody>
      </p:sp>
    </p:spTree>
    <p:extLst>
      <p:ext uri="{BB962C8B-B14F-4D97-AF65-F5344CB8AC3E}">
        <p14:creationId xmlns:p14="http://schemas.microsoft.com/office/powerpoint/2010/main" val="206748311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052560" y="193706"/>
            <a:ext cx="2072640" cy="1371600"/>
          </a:xfrm>
        </p:spPr>
        <p:txBody>
          <a:bodyPr/>
          <a:lstStyle/>
          <a:p>
            <a:r>
              <a:rPr lang="he-IL" dirty="0" smtClean="0"/>
              <a:t>תשובה</a:t>
            </a:r>
            <a:endParaRPr lang="he-IL" dirty="0"/>
          </a:p>
        </p:txBody>
      </p:sp>
      <p:sp>
        <p:nvSpPr>
          <p:cNvPr id="3" name="מציין מיקום תוכן 2"/>
          <p:cNvSpPr>
            <a:spLocks noGrp="1"/>
          </p:cNvSpPr>
          <p:nvPr>
            <p:ph idx="1"/>
          </p:nvPr>
        </p:nvSpPr>
        <p:spPr>
          <a:xfrm>
            <a:off x="1066800" y="1778923"/>
            <a:ext cx="10058400" cy="4705003"/>
          </a:xfrm>
        </p:spPr>
        <p:txBody>
          <a:bodyPr>
            <a:normAutofit/>
          </a:bodyPr>
          <a:lstStyle/>
          <a:p>
            <a:r>
              <a:rPr lang="he-IL" dirty="0" smtClean="0"/>
              <a:t>1. </a:t>
            </a:r>
            <a:r>
              <a:rPr lang="he-IL" b="1" dirty="0"/>
              <a:t>הטמעת המידע:</a:t>
            </a:r>
            <a:endParaRPr lang="he-IL" dirty="0"/>
          </a:p>
          <a:p>
            <a:r>
              <a:rPr lang="he-IL" dirty="0"/>
              <a:t>המידע הסודי יומר לרצף בינארי (0 ו-1).</a:t>
            </a:r>
          </a:p>
          <a:p>
            <a:r>
              <a:rPr lang="he-IL" dirty="0"/>
              <a:t>לכל ביט (0 או 1) יותאם מיקום מסוים במסמך (למשל, שורות ותווים ספציפיים).</a:t>
            </a:r>
          </a:p>
          <a:p>
            <a:r>
              <a:rPr lang="he-IL" dirty="0"/>
              <a:t>המדפסת תוסיף נקודות צהובות זעירות במיקומים המתאימים, כך </a:t>
            </a:r>
            <a:r>
              <a:rPr lang="he-IL" dirty="0" smtClean="0"/>
              <a:t>ש- "</a:t>
            </a:r>
            <a:r>
              <a:rPr lang="he-IL" dirty="0"/>
              <a:t>1" יסומן על ידי נקודה </a:t>
            </a:r>
            <a:r>
              <a:rPr lang="he-IL" dirty="0" smtClean="0"/>
              <a:t>ו- "</a:t>
            </a:r>
            <a:r>
              <a:rPr lang="he-IL" dirty="0"/>
              <a:t>0" על ידי היעדר נקודה</a:t>
            </a:r>
            <a:r>
              <a:rPr lang="he-IL" dirty="0" smtClean="0"/>
              <a:t>.</a:t>
            </a:r>
          </a:p>
          <a:p>
            <a:r>
              <a:rPr lang="he-IL" dirty="0" smtClean="0"/>
              <a:t>2. </a:t>
            </a:r>
            <a:r>
              <a:rPr lang="he-IL" b="1" dirty="0"/>
              <a:t>חילוץ המידע:</a:t>
            </a:r>
            <a:endParaRPr lang="he-IL" dirty="0"/>
          </a:p>
          <a:p>
            <a:r>
              <a:rPr lang="he-IL" dirty="0"/>
              <a:t>העובד יקבל סורק מיוחד או אפליקציה המותאמת לקריאת הנקודות הבלתי נראות.</a:t>
            </a:r>
          </a:p>
          <a:p>
            <a:r>
              <a:rPr lang="he-IL" dirty="0"/>
              <a:t>הסורק יתרגם את מיקום הנקודות לרצף בינארי, שיעבור דה-קידוד למידע המקורי (למשל, טקסט או מספרים</a:t>
            </a:r>
            <a:r>
              <a:rPr lang="he-IL" dirty="0" smtClean="0"/>
              <a:t>).</a:t>
            </a:r>
          </a:p>
          <a:p>
            <a:r>
              <a:rPr lang="he-IL" dirty="0" smtClean="0"/>
              <a:t>3. </a:t>
            </a:r>
            <a:r>
              <a:rPr lang="he-IL" b="1" dirty="0"/>
              <a:t>הבטחת סודיות:</a:t>
            </a:r>
            <a:endParaRPr lang="he-IL" dirty="0"/>
          </a:p>
          <a:p>
            <a:r>
              <a:rPr lang="he-IL" dirty="0"/>
              <a:t>המידע יועבר מוצפן, כך שגם אם הנקודות הבלתי נראות יזוהו, הן לא יפוענחו ללא מפתח ההצפנה.</a:t>
            </a:r>
          </a:p>
          <a:p>
            <a:r>
              <a:rPr lang="he-IL" dirty="0"/>
              <a:t>המדפסת תדרוש הרשאה מיוחדת להדפסה בפורמט זה, למשל באמצעות סיסמה או כרטיס זיהוי של העובד המורשה.</a:t>
            </a:r>
          </a:p>
          <a:p>
            <a:endParaRPr lang="he-IL" dirty="0"/>
          </a:p>
          <a:p>
            <a:endParaRPr lang="he-IL" dirty="0"/>
          </a:p>
          <a:p>
            <a:endParaRPr lang="he-IL" dirty="0"/>
          </a:p>
        </p:txBody>
      </p:sp>
    </p:spTree>
    <p:extLst>
      <p:ext uri="{BB962C8B-B14F-4D97-AF65-F5344CB8AC3E}">
        <p14:creationId xmlns:p14="http://schemas.microsoft.com/office/powerpoint/2010/main" val="327568538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252064" y="642594"/>
            <a:ext cx="1873135" cy="1371600"/>
          </a:xfrm>
        </p:spPr>
        <p:txBody>
          <a:bodyPr/>
          <a:lstStyle/>
          <a:p>
            <a:r>
              <a:rPr lang="he-IL" dirty="0" smtClean="0"/>
              <a:t>שאלות</a:t>
            </a:r>
            <a:endParaRPr lang="he-IL" dirty="0"/>
          </a:p>
        </p:txBody>
      </p:sp>
      <p:sp>
        <p:nvSpPr>
          <p:cNvPr id="3" name="מציין מיקום תוכן 2"/>
          <p:cNvSpPr>
            <a:spLocks noGrp="1"/>
          </p:cNvSpPr>
          <p:nvPr>
            <p:ph idx="1"/>
          </p:nvPr>
        </p:nvSpPr>
        <p:spPr/>
        <p:txBody>
          <a:bodyPr/>
          <a:lstStyle/>
          <a:p>
            <a:r>
              <a:rPr lang="he-IL" dirty="0" smtClean="0"/>
              <a:t>1</a:t>
            </a:r>
            <a:r>
              <a:rPr lang="he-IL" dirty="0"/>
              <a:t>. </a:t>
            </a:r>
            <a:r>
              <a:rPr lang="he-IL" dirty="0" smtClean="0"/>
              <a:t>מהו</a:t>
            </a:r>
            <a:r>
              <a:rPr lang="en-US" dirty="0" smtClean="0"/>
              <a:t>Steganography </a:t>
            </a:r>
            <a:r>
              <a:rPr lang="en-US" dirty="0"/>
              <a:t>in </a:t>
            </a:r>
            <a:r>
              <a:rPr lang="en-US" dirty="0" smtClean="0"/>
              <a:t>Printers </a:t>
            </a:r>
            <a:r>
              <a:rPr lang="he-IL" dirty="0" smtClean="0"/>
              <a:t> וכיצד </a:t>
            </a:r>
            <a:r>
              <a:rPr lang="he-IL" dirty="0"/>
              <a:t>ניתן להשתמש בו להחבאת מידע?</a:t>
            </a:r>
            <a:endParaRPr lang="he-IL" dirty="0" smtClean="0"/>
          </a:p>
          <a:p>
            <a:r>
              <a:rPr lang="he-IL" dirty="0" smtClean="0"/>
              <a:t>2</a:t>
            </a:r>
            <a:r>
              <a:rPr lang="he-IL" dirty="0"/>
              <a:t>. כיצד ניתן להעביר נתונים מוסתרים באמצעות מקלדת?</a:t>
            </a:r>
            <a:endParaRPr lang="he-IL" dirty="0" smtClean="0"/>
          </a:p>
          <a:p>
            <a:r>
              <a:rPr lang="he-IL" dirty="0" smtClean="0"/>
              <a:t>3</a:t>
            </a:r>
            <a:r>
              <a:rPr lang="he-IL" dirty="0"/>
              <a:t>. נתון מדפסת שיכולה להוסיף נקודות צהובות למסמך. כיצד היית משתמש בשיטה זו להחבאת מידע?</a:t>
            </a:r>
            <a:endParaRPr lang="he-IL" dirty="0" smtClean="0"/>
          </a:p>
          <a:p>
            <a:r>
              <a:rPr lang="he-IL" dirty="0" smtClean="0"/>
              <a:t>4</a:t>
            </a:r>
            <a:r>
              <a:rPr lang="he-IL" dirty="0"/>
              <a:t>. מהם האתגרים בזיהוי נתונים מוסתרים בכונני </a:t>
            </a:r>
            <a:r>
              <a:rPr lang="en-US" dirty="0" smtClean="0"/>
              <a:t>USB</a:t>
            </a:r>
            <a:r>
              <a:rPr lang="he-IL" dirty="0" smtClean="0"/>
              <a:t>?</a:t>
            </a:r>
          </a:p>
          <a:p>
            <a:r>
              <a:rPr lang="he-IL" dirty="0"/>
              <a:t>5. כיצד רמקולים יכולים לשמש להעברת מידע מוסתר</a:t>
            </a:r>
            <a:r>
              <a:rPr lang="he-IL" dirty="0" smtClean="0"/>
              <a:t>?</a:t>
            </a:r>
          </a:p>
          <a:p>
            <a:r>
              <a:rPr lang="he-IL" dirty="0" smtClean="0"/>
              <a:t>6. </a:t>
            </a:r>
            <a:r>
              <a:rPr lang="he-IL" dirty="0"/>
              <a:t>איך היית משלב מצלמה חכמה במערכת </a:t>
            </a:r>
            <a:r>
              <a:rPr lang="he-IL" dirty="0" err="1"/>
              <a:t>סטגנוגרפיה</a:t>
            </a:r>
            <a:r>
              <a:rPr lang="he-IL" dirty="0"/>
              <a:t> להעברת נתונים בין שני מחשבים ללא חיבור רשת?</a:t>
            </a:r>
            <a:br>
              <a:rPr lang="he-IL" dirty="0"/>
            </a:br>
            <a:endParaRPr lang="he-IL" dirty="0"/>
          </a:p>
        </p:txBody>
      </p:sp>
    </p:spTree>
    <p:extLst>
      <p:ext uri="{BB962C8B-B14F-4D97-AF65-F5344CB8AC3E}">
        <p14:creationId xmlns:p14="http://schemas.microsoft.com/office/powerpoint/2010/main" val="33794262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027622" y="642594"/>
            <a:ext cx="2097578" cy="1371600"/>
          </a:xfrm>
        </p:spPr>
        <p:txBody>
          <a:bodyPr/>
          <a:lstStyle/>
          <a:p>
            <a:r>
              <a:rPr lang="he-IL" dirty="0" smtClean="0"/>
              <a:t>תשובות</a:t>
            </a:r>
            <a:endParaRPr lang="he-IL" dirty="0"/>
          </a:p>
        </p:txBody>
      </p:sp>
      <p:sp>
        <p:nvSpPr>
          <p:cNvPr id="3" name="מציין מיקום תוכן 2"/>
          <p:cNvSpPr>
            <a:spLocks noGrp="1"/>
          </p:cNvSpPr>
          <p:nvPr>
            <p:ph idx="1"/>
          </p:nvPr>
        </p:nvSpPr>
        <p:spPr/>
        <p:txBody>
          <a:bodyPr/>
          <a:lstStyle/>
          <a:p>
            <a:r>
              <a:rPr lang="he-IL" dirty="0" smtClean="0"/>
              <a:t>1</a:t>
            </a:r>
            <a:r>
              <a:rPr lang="he-IL" dirty="0"/>
              <a:t>. זוהי שיטה שבה מידע מוסתר בתוך מסמכים מודפסים, למשל באמצעות נקודות צהובות בלתי נראות או שינוי פיקסלים בתמונה.</a:t>
            </a:r>
            <a:endParaRPr lang="he-IL" dirty="0" smtClean="0"/>
          </a:p>
          <a:p>
            <a:r>
              <a:rPr lang="he-IL" dirty="0" smtClean="0"/>
              <a:t>2</a:t>
            </a:r>
            <a:r>
              <a:rPr lang="he-IL" dirty="0"/>
              <a:t>. אפשר לשנות את עיכוב הזמן בין לחיצות המקשים או להוסיף אותות נוספים לתקשורת </a:t>
            </a:r>
            <a:r>
              <a:rPr lang="en-US" dirty="0" smtClean="0"/>
              <a:t>HID</a:t>
            </a:r>
            <a:r>
              <a:rPr lang="he-IL" dirty="0" smtClean="0"/>
              <a:t>.</a:t>
            </a:r>
          </a:p>
          <a:p>
            <a:r>
              <a:rPr lang="he-IL" dirty="0" smtClean="0"/>
              <a:t>3</a:t>
            </a:r>
            <a:r>
              <a:rPr lang="he-IL" dirty="0"/>
              <a:t>. ניתן להמיר את הנתונים שרוצים להחביא (למשל טקסט) למידע בינארי, ואז להוסיף נקודות צהובות במסמך לפי המידע הבינארי.</a:t>
            </a:r>
            <a:endParaRPr lang="he-IL" dirty="0" smtClean="0"/>
          </a:p>
          <a:p>
            <a:r>
              <a:rPr lang="he-IL" dirty="0" smtClean="0"/>
              <a:t>4</a:t>
            </a:r>
            <a:r>
              <a:rPr lang="he-IL" dirty="0"/>
              <a:t>. האתגרים כוללים איתור נתונים מוסתרים </a:t>
            </a:r>
            <a:r>
              <a:rPr lang="he-IL" dirty="0" smtClean="0"/>
              <a:t>ב-</a:t>
            </a:r>
            <a:r>
              <a:rPr lang="en-US" dirty="0" smtClean="0"/>
              <a:t> Firmware </a:t>
            </a:r>
            <a:r>
              <a:rPr lang="he-IL" dirty="0"/>
              <a:t>של הכונן, ניתוח סקטורים בלתי נראים, וזיהוי שינויים עדינים במבנה הקבצים.</a:t>
            </a:r>
            <a:endParaRPr lang="he-IL" dirty="0" smtClean="0"/>
          </a:p>
          <a:p>
            <a:r>
              <a:rPr lang="he-IL" dirty="0" smtClean="0"/>
              <a:t>5</a:t>
            </a:r>
            <a:r>
              <a:rPr lang="he-IL" dirty="0"/>
              <a:t>. ניתן לשדר גלי קול בתדרים שאינם נשמעים לאוזן האנושית (</a:t>
            </a:r>
            <a:r>
              <a:rPr lang="he-IL" dirty="0" err="1"/>
              <a:t>אולטרסוניק</a:t>
            </a:r>
            <a:r>
              <a:rPr lang="he-IL" dirty="0"/>
              <a:t>), וכך להעביר נתונים למכשירים קרובים שמצוידים במיקרופונים רגישים.</a:t>
            </a:r>
            <a:endParaRPr lang="he-IL" dirty="0" smtClean="0"/>
          </a:p>
          <a:p>
            <a:r>
              <a:rPr lang="he-IL" dirty="0" smtClean="0"/>
              <a:t>6</a:t>
            </a:r>
            <a:r>
              <a:rPr lang="he-IL" dirty="0"/>
              <a:t>. מצלמה חכמה יכולה לצלם סדרת תמונות שבהן מוסתר המידע באמצעות שינוי צבעים, תאורה, או מיקום פיקסלים זעירים. התמונות ינותחו בצד השני על ידי אלגוריתם </a:t>
            </a:r>
            <a:r>
              <a:rPr lang="he-IL" dirty="0" err="1"/>
              <a:t>סטגנוגרפי</a:t>
            </a:r>
            <a:r>
              <a:rPr lang="he-IL" dirty="0"/>
              <a:t> שיחלץ את המידע.</a:t>
            </a:r>
            <a:endParaRPr lang="he-IL" dirty="0" smtClean="0"/>
          </a:p>
          <a:p>
            <a:endParaRPr lang="he-IL" dirty="0"/>
          </a:p>
        </p:txBody>
      </p:sp>
    </p:spTree>
    <p:extLst>
      <p:ext uri="{BB962C8B-B14F-4D97-AF65-F5344CB8AC3E}">
        <p14:creationId xmlns:p14="http://schemas.microsoft.com/office/powerpoint/2010/main" val="89665614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1066800" y="2385752"/>
            <a:ext cx="10058400" cy="3931920"/>
          </a:xfrm>
        </p:spPr>
        <p:txBody>
          <a:bodyPr>
            <a:normAutofit/>
          </a:bodyPr>
          <a:lstStyle/>
          <a:p>
            <a:pPr algn="ctr"/>
            <a:r>
              <a:rPr lang="he-IL" sz="6600" dirty="0"/>
              <a:t>סיכוך מידע </a:t>
            </a:r>
          </a:p>
        </p:txBody>
      </p:sp>
    </p:spTree>
    <p:extLst>
      <p:ext uri="{BB962C8B-B14F-4D97-AF65-F5344CB8AC3E}">
        <p14:creationId xmlns:p14="http://schemas.microsoft.com/office/powerpoint/2010/main" val="3864818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937760" y="642594"/>
            <a:ext cx="6187440" cy="1371600"/>
          </a:xfrm>
        </p:spPr>
        <p:txBody>
          <a:bodyPr>
            <a:normAutofit/>
          </a:bodyPr>
          <a:lstStyle/>
          <a:p>
            <a:r>
              <a:rPr lang="he-IL" dirty="0"/>
              <a:t>סיכוך </a:t>
            </a:r>
            <a:r>
              <a:rPr lang="he-IL" dirty="0" smtClean="0"/>
              <a:t>מידע</a:t>
            </a:r>
            <a:r>
              <a:rPr lang="en-US" dirty="0" smtClean="0"/>
              <a:t> </a:t>
            </a:r>
            <a:r>
              <a:rPr lang="he-IL" dirty="0" err="1"/>
              <a:t>בסטגנוגרפיה</a:t>
            </a:r>
            <a:endParaRPr lang="he-IL" dirty="0"/>
          </a:p>
        </p:txBody>
      </p:sp>
      <p:sp>
        <p:nvSpPr>
          <p:cNvPr id="3" name="מציין מיקום תוכן 2"/>
          <p:cNvSpPr>
            <a:spLocks noGrp="1"/>
          </p:cNvSpPr>
          <p:nvPr>
            <p:ph idx="1"/>
          </p:nvPr>
        </p:nvSpPr>
        <p:spPr/>
        <p:txBody>
          <a:bodyPr/>
          <a:lstStyle/>
          <a:p>
            <a:r>
              <a:rPr lang="he-IL" b="1" dirty="0"/>
              <a:t>מה זה סיכוך מידע?</a:t>
            </a:r>
          </a:p>
          <a:p>
            <a:r>
              <a:rPr lang="he-IL" dirty="0"/>
              <a:t>סיכוך מידע הוא תהליך שבו מידע רגיש או סודי מוגן על ידי עטיפה (או "סיכוך") של המידע בתוך קונטקסט שאינו נראה או נגיש ישירות. בניגוד להחבאת מידע </a:t>
            </a:r>
            <a:r>
              <a:rPr lang="en-US" dirty="0" smtClean="0"/>
              <a:t>Steganography</a:t>
            </a:r>
            <a:r>
              <a:rPr lang="he-IL" dirty="0" smtClean="0"/>
              <a:t> שבה </a:t>
            </a:r>
            <a:r>
              <a:rPr lang="he-IL" dirty="0"/>
              <a:t>מסתירים את המידע בתוך מדיה (תמונה, אודיו, וידאו), סיכוך מידע מתמקד בהגנה על המידע על ידי הפרדתו, הצפנתו, או הסטתו למקום שבו לא ייחשף בקלות.</a:t>
            </a:r>
          </a:p>
          <a:p>
            <a:endParaRPr lang="he-IL" dirty="0"/>
          </a:p>
        </p:txBody>
      </p:sp>
    </p:spTree>
    <p:extLst>
      <p:ext uri="{BB962C8B-B14F-4D97-AF65-F5344CB8AC3E}">
        <p14:creationId xmlns:p14="http://schemas.microsoft.com/office/powerpoint/2010/main" val="36865374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709948" y="642594"/>
            <a:ext cx="8415251" cy="1371600"/>
          </a:xfrm>
        </p:spPr>
        <p:txBody>
          <a:bodyPr/>
          <a:lstStyle/>
          <a:p>
            <a:r>
              <a:rPr lang="he-IL" dirty="0"/>
              <a:t>השימושים המרכזיים בסיכוך מידע</a:t>
            </a:r>
          </a:p>
        </p:txBody>
      </p:sp>
      <p:sp>
        <p:nvSpPr>
          <p:cNvPr id="3" name="מציין מיקום תוכן 2"/>
          <p:cNvSpPr>
            <a:spLocks noGrp="1"/>
          </p:cNvSpPr>
          <p:nvPr>
            <p:ph idx="1"/>
          </p:nvPr>
        </p:nvSpPr>
        <p:spPr/>
        <p:txBody>
          <a:bodyPr/>
          <a:lstStyle/>
          <a:p>
            <a:r>
              <a:rPr lang="he-IL" dirty="0" smtClean="0"/>
              <a:t>1. </a:t>
            </a:r>
            <a:r>
              <a:rPr lang="he-IL" b="1" dirty="0"/>
              <a:t>הסתרת מיקום המידע </a:t>
            </a:r>
            <a:r>
              <a:rPr lang="he-IL" b="1" dirty="0" smtClean="0"/>
              <a:t>הרגיש:</a:t>
            </a:r>
            <a:r>
              <a:rPr lang="he-IL" dirty="0" smtClean="0"/>
              <a:t> מידע </a:t>
            </a:r>
            <a:r>
              <a:rPr lang="he-IL" dirty="0"/>
              <a:t>מאוחסן במקומות שאינם נגישים למשתמש הממוצע, למשל, אזורים לא מנוצלים בזיכרון או בקבצים</a:t>
            </a:r>
          </a:p>
          <a:p>
            <a:endParaRPr lang="he-IL" dirty="0" smtClean="0"/>
          </a:p>
          <a:p>
            <a:r>
              <a:rPr lang="he-IL" dirty="0" smtClean="0"/>
              <a:t>2. </a:t>
            </a:r>
            <a:r>
              <a:rPr lang="he-IL" b="1" dirty="0"/>
              <a:t>יצירת שכבת הגנה </a:t>
            </a:r>
            <a:r>
              <a:rPr lang="he-IL" b="1" dirty="0" smtClean="0"/>
              <a:t>נוספת:</a:t>
            </a:r>
            <a:r>
              <a:rPr lang="he-IL" dirty="0" smtClean="0"/>
              <a:t> סיכוך </a:t>
            </a:r>
            <a:r>
              <a:rPr lang="he-IL" dirty="0"/>
              <a:t>משמש כשכבת הגנה נוספת מעל הצפנה או טכניקות אבטחה אחרות, כך שגם אם הצפנה נפרצת, הסיכוך מונע את זיהוי המידע.</a:t>
            </a:r>
          </a:p>
          <a:p>
            <a:endParaRPr lang="he-IL" dirty="0" smtClean="0"/>
          </a:p>
          <a:p>
            <a:r>
              <a:rPr lang="he-IL" dirty="0" smtClean="0"/>
              <a:t>3. </a:t>
            </a:r>
            <a:r>
              <a:rPr lang="he-IL" b="1" dirty="0"/>
              <a:t>הונאה ואבטחה מבוססת </a:t>
            </a:r>
            <a:r>
              <a:rPr lang="he-IL" b="1" dirty="0" smtClean="0"/>
              <a:t>דיסאינפורמציה:</a:t>
            </a:r>
            <a:r>
              <a:rPr lang="he-IL" dirty="0" smtClean="0"/>
              <a:t> סיכוך </a:t>
            </a:r>
            <a:r>
              <a:rPr lang="he-IL" dirty="0"/>
              <a:t>יכול להסתיר את המידע </a:t>
            </a:r>
            <a:r>
              <a:rPr lang="he-IL" dirty="0" err="1"/>
              <a:t>האמיתי</a:t>
            </a:r>
            <a:r>
              <a:rPr lang="he-IL" dirty="0"/>
              <a:t> באמצעות יצירת מידע "מיותר" או מטעה.</a:t>
            </a:r>
          </a:p>
          <a:p>
            <a:endParaRPr lang="he-IL" dirty="0" smtClean="0"/>
          </a:p>
          <a:p>
            <a:endParaRPr lang="he-IL" dirty="0"/>
          </a:p>
        </p:txBody>
      </p:sp>
    </p:spTree>
    <p:extLst>
      <p:ext uri="{BB962C8B-B14F-4D97-AF65-F5344CB8AC3E}">
        <p14:creationId xmlns:p14="http://schemas.microsoft.com/office/powerpoint/2010/main" val="297715385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064924" y="642594"/>
            <a:ext cx="7060276" cy="1371600"/>
          </a:xfrm>
        </p:spPr>
        <p:txBody>
          <a:bodyPr/>
          <a:lstStyle/>
          <a:p>
            <a:r>
              <a:rPr lang="he-IL" dirty="0"/>
              <a:t>שיטות מרכזיות לסיכוך מידע</a:t>
            </a:r>
          </a:p>
        </p:txBody>
      </p:sp>
      <p:sp>
        <p:nvSpPr>
          <p:cNvPr id="3" name="מציין מיקום תוכן 2"/>
          <p:cNvSpPr>
            <a:spLocks noGrp="1"/>
          </p:cNvSpPr>
          <p:nvPr>
            <p:ph idx="1"/>
          </p:nvPr>
        </p:nvSpPr>
        <p:spPr/>
        <p:txBody>
          <a:bodyPr/>
          <a:lstStyle/>
          <a:p>
            <a:r>
              <a:rPr lang="he-IL" dirty="0" smtClean="0"/>
              <a:t>1. </a:t>
            </a:r>
            <a:r>
              <a:rPr lang="he-IL" sz="2400" b="1" dirty="0"/>
              <a:t>שימוש במבני נתונים בלתי נראים</a:t>
            </a:r>
          </a:p>
          <a:p>
            <a:r>
              <a:rPr lang="he-IL" b="1" dirty="0"/>
              <a:t>ניצול שטח ריק </a:t>
            </a:r>
            <a:r>
              <a:rPr lang="he-IL" b="1" dirty="0" smtClean="0"/>
              <a:t>בקבצים</a:t>
            </a:r>
            <a:r>
              <a:rPr lang="en-US" b="1" dirty="0" smtClean="0"/>
              <a:t>Slack Space </a:t>
            </a:r>
            <a:r>
              <a:rPr lang="he-IL" b="1" dirty="0" smtClean="0"/>
              <a:t>:</a:t>
            </a:r>
            <a:r>
              <a:rPr lang="en-US" b="1" dirty="0" smtClean="0"/>
              <a:t> </a:t>
            </a:r>
            <a:r>
              <a:rPr lang="en-US" dirty="0"/>
              <a:t/>
            </a:r>
            <a:br>
              <a:rPr lang="en-US" dirty="0"/>
            </a:br>
            <a:r>
              <a:rPr lang="he-IL" dirty="0"/>
              <a:t>שטח ריק שנשאר לאחר כתיבת קובץ לדיסק עשוי להיות מנוצל להחבאת מידע סודי.</a:t>
            </a:r>
          </a:p>
          <a:p>
            <a:r>
              <a:rPr lang="he-IL" b="1" dirty="0"/>
              <a:t>אזורים לא מנוצלים בזיכרון:</a:t>
            </a:r>
            <a:r>
              <a:rPr lang="he-IL" dirty="0"/>
              <a:t/>
            </a:r>
            <a:br>
              <a:rPr lang="he-IL" dirty="0"/>
            </a:br>
            <a:r>
              <a:rPr lang="he-IL" dirty="0"/>
              <a:t>תוכנות מסוימות שומרות חלקים לא מנוצלים בזיכרון </a:t>
            </a:r>
            <a:r>
              <a:rPr lang="he-IL" dirty="0" smtClean="0"/>
              <a:t>העבודה</a:t>
            </a:r>
            <a:r>
              <a:rPr lang="en-US" dirty="0" smtClean="0"/>
              <a:t> RAM </a:t>
            </a:r>
            <a:r>
              <a:rPr lang="he-IL" dirty="0"/>
              <a:t>שאליהם ניתן להכניס מידע סודי</a:t>
            </a:r>
            <a:r>
              <a:rPr lang="he-IL" dirty="0" smtClean="0"/>
              <a:t>.</a:t>
            </a:r>
          </a:p>
          <a:p>
            <a:r>
              <a:rPr lang="he-IL" dirty="0" smtClean="0"/>
              <a:t>2. </a:t>
            </a:r>
            <a:r>
              <a:rPr lang="he-IL" sz="2400" b="1" dirty="0"/>
              <a:t>ריבוי שכבות הגנה</a:t>
            </a:r>
          </a:p>
          <a:p>
            <a:r>
              <a:rPr lang="he-IL" dirty="0"/>
              <a:t>שימוש בשכבות אבטחה מרובות (למשל, שילוב בין הצפנה </a:t>
            </a:r>
            <a:r>
              <a:rPr lang="he-IL" dirty="0" err="1"/>
              <a:t>וסטגנוגרפיה</a:t>
            </a:r>
            <a:r>
              <a:rPr lang="he-IL" dirty="0"/>
              <a:t>) כדי להבטיח שלא ניתן יהיה לזהות את המידע.</a:t>
            </a:r>
          </a:p>
          <a:p>
            <a:r>
              <a:rPr lang="he-IL" dirty="0"/>
              <a:t>הטמעת המידע בתוך מידע "מיותר" או "רעש".</a:t>
            </a:r>
          </a:p>
          <a:p>
            <a:endParaRPr lang="he-IL" dirty="0"/>
          </a:p>
          <a:p>
            <a:endParaRPr lang="he-IL" dirty="0"/>
          </a:p>
        </p:txBody>
      </p:sp>
    </p:spTree>
    <p:extLst>
      <p:ext uri="{BB962C8B-B14F-4D97-AF65-F5344CB8AC3E}">
        <p14:creationId xmlns:p14="http://schemas.microsoft.com/office/powerpoint/2010/main" val="305628513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136370" y="642594"/>
            <a:ext cx="8988829" cy="1371600"/>
          </a:xfrm>
        </p:spPr>
        <p:txBody>
          <a:bodyPr/>
          <a:lstStyle/>
          <a:p>
            <a:r>
              <a:rPr lang="he-IL" dirty="0" smtClean="0"/>
              <a:t>המשך </a:t>
            </a:r>
            <a:r>
              <a:rPr lang="he-IL" dirty="0"/>
              <a:t>- שיטות מרכזיות לסיכוך מידע</a:t>
            </a:r>
          </a:p>
        </p:txBody>
      </p:sp>
      <p:sp>
        <p:nvSpPr>
          <p:cNvPr id="3" name="מציין מיקום תוכן 2"/>
          <p:cNvSpPr>
            <a:spLocks noGrp="1"/>
          </p:cNvSpPr>
          <p:nvPr>
            <p:ph idx="1"/>
          </p:nvPr>
        </p:nvSpPr>
        <p:spPr/>
        <p:txBody>
          <a:bodyPr/>
          <a:lstStyle/>
          <a:p>
            <a:r>
              <a:rPr lang="he-IL" dirty="0" smtClean="0"/>
              <a:t>3. </a:t>
            </a:r>
            <a:r>
              <a:rPr lang="he-IL" b="1" dirty="0"/>
              <a:t>הסוואה באמצעות מבנים תקניים</a:t>
            </a:r>
          </a:p>
          <a:p>
            <a:r>
              <a:rPr lang="he-IL" dirty="0"/>
              <a:t>מידע סודי מוטמן בתבניות קיימות כמו טבלאות נתונים או לוגים, כך שהמבנה אינו נראה חשוד.</a:t>
            </a:r>
          </a:p>
          <a:p>
            <a:endParaRPr lang="he-IL" dirty="0" smtClean="0"/>
          </a:p>
          <a:p>
            <a:r>
              <a:rPr lang="he-IL" dirty="0" smtClean="0"/>
              <a:t>4. </a:t>
            </a:r>
            <a:r>
              <a:rPr lang="he-IL" b="1" dirty="0"/>
              <a:t>שימוש במטא-נתונים</a:t>
            </a:r>
          </a:p>
          <a:p>
            <a:r>
              <a:rPr lang="he-IL" dirty="0"/>
              <a:t>מידע מוסתר במטא-נתונים של קבצים (כגון תמונות, מסמכים וקבצי וידאו).</a:t>
            </a:r>
            <a:br>
              <a:rPr lang="he-IL" dirty="0"/>
            </a:br>
            <a:r>
              <a:rPr lang="he-IL" dirty="0"/>
              <a:t>לדוגמה: הוספת שדות נסתרים בקובץ </a:t>
            </a:r>
            <a:r>
              <a:rPr lang="en-US" dirty="0" smtClean="0"/>
              <a:t>PDF</a:t>
            </a:r>
            <a:endParaRPr lang="en-US" dirty="0"/>
          </a:p>
          <a:p>
            <a:endParaRPr lang="he-IL" dirty="0" smtClean="0"/>
          </a:p>
          <a:p>
            <a:endParaRPr lang="he-IL" dirty="0"/>
          </a:p>
        </p:txBody>
      </p:sp>
    </p:spTree>
    <p:extLst>
      <p:ext uri="{BB962C8B-B14F-4D97-AF65-F5344CB8AC3E}">
        <p14:creationId xmlns:p14="http://schemas.microsoft.com/office/powerpoint/2010/main" val="127001554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5345084" y="642594"/>
            <a:ext cx="5780116" cy="1371600"/>
          </a:xfrm>
        </p:spPr>
        <p:txBody>
          <a:bodyPr>
            <a:normAutofit fontScale="90000"/>
          </a:bodyPr>
          <a:lstStyle/>
          <a:p>
            <a:r>
              <a:rPr lang="he-IL" dirty="0" smtClean="0"/>
              <a:t>1 .שילוב </a:t>
            </a:r>
            <a:r>
              <a:rPr lang="he-IL" dirty="0"/>
              <a:t>סיכוך עם הצפנה</a:t>
            </a:r>
          </a:p>
        </p:txBody>
      </p:sp>
      <p:sp>
        <p:nvSpPr>
          <p:cNvPr id="3" name="מציין מיקום תוכן 2"/>
          <p:cNvSpPr>
            <a:spLocks noGrp="1"/>
          </p:cNvSpPr>
          <p:nvPr>
            <p:ph idx="1"/>
          </p:nvPr>
        </p:nvSpPr>
        <p:spPr/>
        <p:txBody>
          <a:bodyPr/>
          <a:lstStyle/>
          <a:p>
            <a:r>
              <a:rPr lang="he-IL" b="1" dirty="0" smtClean="0"/>
              <a:t>שימוש </a:t>
            </a:r>
            <a:r>
              <a:rPr lang="he-IL" b="1" dirty="0"/>
              <a:t>בהצפנה לפני הסיכוך:</a:t>
            </a:r>
            <a:r>
              <a:rPr lang="he-IL" dirty="0"/>
              <a:t/>
            </a:r>
            <a:br>
              <a:rPr lang="he-IL" dirty="0"/>
            </a:br>
            <a:r>
              <a:rPr lang="he-IL" dirty="0"/>
              <a:t>לפני שמסווים את המידע, ניתן להצפין אותו. גם אם הסיכוך נחשף, המידע עצמו יישאר בלתי קריא ללא מפתח </a:t>
            </a:r>
            <a:r>
              <a:rPr lang="he-IL" dirty="0" smtClean="0"/>
              <a:t>ההצפנה.</a:t>
            </a:r>
          </a:p>
          <a:p>
            <a:r>
              <a:rPr lang="he-IL" b="1" dirty="0" smtClean="0"/>
              <a:t>יתרון</a:t>
            </a:r>
            <a:r>
              <a:rPr lang="he-IL" b="1" dirty="0"/>
              <a:t>:</a:t>
            </a:r>
            <a:r>
              <a:rPr lang="he-IL" dirty="0"/>
              <a:t> שכבת הגנה </a:t>
            </a:r>
            <a:r>
              <a:rPr lang="he-IL" dirty="0" smtClean="0"/>
              <a:t>כפולה.</a:t>
            </a:r>
          </a:p>
          <a:p>
            <a:r>
              <a:rPr lang="he-IL" b="1" dirty="0" smtClean="0"/>
              <a:t>אתגר</a:t>
            </a:r>
            <a:r>
              <a:rPr lang="he-IL" b="1" dirty="0"/>
              <a:t>:</a:t>
            </a:r>
            <a:r>
              <a:rPr lang="he-IL" dirty="0"/>
              <a:t> מורכבות ניהול המפתחות.</a:t>
            </a:r>
          </a:p>
          <a:p>
            <a:r>
              <a:rPr lang="he-IL" b="1" dirty="0"/>
              <a:t>שימוש בקוד </a:t>
            </a:r>
            <a:r>
              <a:rPr lang="he-IL" b="1" dirty="0" smtClean="0"/>
              <a:t>הטעיה </a:t>
            </a:r>
            <a:r>
              <a:rPr lang="en-US" b="1" dirty="0" smtClean="0"/>
              <a:t>Decoy Code</a:t>
            </a:r>
            <a:r>
              <a:rPr lang="he-IL" b="1" dirty="0" smtClean="0"/>
              <a:t>:</a:t>
            </a:r>
            <a:r>
              <a:rPr lang="en-US" dirty="0"/>
              <a:t/>
            </a:r>
            <a:br>
              <a:rPr lang="en-US" dirty="0"/>
            </a:br>
            <a:r>
              <a:rPr lang="he-IL" dirty="0"/>
              <a:t>ניתן לשלב קוד הטעיה בתוך המידע הסמוי כדי להסוות מידע </a:t>
            </a:r>
            <a:r>
              <a:rPr lang="he-IL" dirty="0" err="1"/>
              <a:t>אמיתי</a:t>
            </a:r>
            <a:r>
              <a:rPr lang="he-IL" dirty="0"/>
              <a:t>. לדוגמה, קובץ שמכיל שתי שכבות: שכבה חיצונית עם נתונים תמימים ושכבה פנימית מוצפנת.</a:t>
            </a:r>
          </a:p>
          <a:p>
            <a:endParaRPr lang="he-IL" dirty="0"/>
          </a:p>
        </p:txBody>
      </p:sp>
    </p:spTree>
    <p:extLst>
      <p:ext uri="{BB962C8B-B14F-4D97-AF65-F5344CB8AC3E}">
        <p14:creationId xmlns:p14="http://schemas.microsoft.com/office/powerpoint/2010/main" val="340802161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006734" y="642594"/>
            <a:ext cx="7118465" cy="1371600"/>
          </a:xfrm>
        </p:spPr>
        <p:txBody>
          <a:bodyPr>
            <a:normAutofit fontScale="90000"/>
          </a:bodyPr>
          <a:lstStyle/>
          <a:p>
            <a:r>
              <a:rPr lang="he-IL" dirty="0" smtClean="0"/>
              <a:t>2. סיכוך </a:t>
            </a:r>
            <a:r>
              <a:rPr lang="he-IL" dirty="0"/>
              <a:t>במבני קבצים מורכבים</a:t>
            </a:r>
          </a:p>
        </p:txBody>
      </p:sp>
      <p:sp>
        <p:nvSpPr>
          <p:cNvPr id="3" name="מציין מיקום תוכן 2"/>
          <p:cNvSpPr>
            <a:spLocks noGrp="1"/>
          </p:cNvSpPr>
          <p:nvPr>
            <p:ph idx="1"/>
          </p:nvPr>
        </p:nvSpPr>
        <p:spPr/>
        <p:txBody>
          <a:bodyPr/>
          <a:lstStyle/>
          <a:p>
            <a:r>
              <a:rPr lang="he-IL" b="1" dirty="0"/>
              <a:t>סיכוך במבני קבצים מורכבים</a:t>
            </a:r>
          </a:p>
          <a:p>
            <a:r>
              <a:rPr lang="he-IL" b="1" dirty="0"/>
              <a:t>קבצי </a:t>
            </a:r>
            <a:r>
              <a:rPr lang="en-US" b="1" dirty="0" smtClean="0"/>
              <a:t>PDF</a:t>
            </a:r>
            <a:r>
              <a:rPr lang="he-IL" b="1" dirty="0" smtClean="0"/>
              <a:t>:</a:t>
            </a:r>
            <a:r>
              <a:rPr lang="en-US" dirty="0"/>
              <a:t/>
            </a:r>
            <a:br>
              <a:rPr lang="en-US" dirty="0"/>
            </a:br>
            <a:r>
              <a:rPr lang="he-IL" dirty="0"/>
              <a:t>בפורמט זה ניתן להחביא מידע באמצעות שדות נסתרים, אובייקטים לא מוצגים </a:t>
            </a:r>
            <a:r>
              <a:rPr lang="en-US" dirty="0" smtClean="0"/>
              <a:t> Hidden Objects</a:t>
            </a:r>
            <a:r>
              <a:rPr lang="he-IL" dirty="0" smtClean="0"/>
              <a:t>או </a:t>
            </a:r>
            <a:r>
              <a:rPr lang="he-IL" dirty="0"/>
              <a:t>ריווח שולי </a:t>
            </a:r>
            <a:r>
              <a:rPr lang="he-IL" dirty="0" smtClean="0"/>
              <a:t>המסמך.</a:t>
            </a:r>
          </a:p>
          <a:p>
            <a:r>
              <a:rPr lang="he-IL" dirty="0" smtClean="0"/>
              <a:t>דוגמה</a:t>
            </a:r>
            <a:r>
              <a:rPr lang="he-IL" dirty="0"/>
              <a:t>: ניתן להוסיף שכבות בלתי נראות הכוללות טקסט מוסתר.</a:t>
            </a:r>
          </a:p>
          <a:p>
            <a:r>
              <a:rPr lang="he-IL" b="1" dirty="0" smtClean="0"/>
              <a:t>קבצי</a:t>
            </a:r>
            <a:r>
              <a:rPr lang="en-US" b="1" dirty="0" smtClean="0"/>
              <a:t>ZIP </a:t>
            </a:r>
            <a:r>
              <a:rPr lang="he-IL" b="1" dirty="0" smtClean="0"/>
              <a:t> או </a:t>
            </a:r>
            <a:r>
              <a:rPr lang="en-US" b="1" dirty="0" smtClean="0"/>
              <a:t>RAR</a:t>
            </a:r>
            <a:r>
              <a:rPr lang="he-IL" b="1" dirty="0" smtClean="0"/>
              <a:t>:</a:t>
            </a:r>
            <a:r>
              <a:rPr lang="en-US" dirty="0"/>
              <a:t/>
            </a:r>
            <a:br>
              <a:rPr lang="en-US" dirty="0"/>
            </a:br>
            <a:r>
              <a:rPr lang="he-IL" dirty="0"/>
              <a:t>בפורמטים אלה ניתן לסכך מידע על ידי הוספת קבצים תמימים לצד הקובץ הרגיש, כך שהוא ייראה כחלק מהחבילה התקנית.</a:t>
            </a:r>
          </a:p>
          <a:p>
            <a:r>
              <a:rPr lang="he-IL" b="1" dirty="0"/>
              <a:t>קבצי וידאו ואודיו:</a:t>
            </a:r>
            <a:r>
              <a:rPr lang="he-IL" dirty="0"/>
              <a:t/>
            </a:r>
            <a:br>
              <a:rPr lang="he-IL" dirty="0"/>
            </a:br>
            <a:r>
              <a:rPr lang="he-IL" dirty="0"/>
              <a:t>פורמטים אלה מציעים אפשרויות רבות לסיכוך, כמו הסתרת מידע באזורים שאינם משפיעים על איכות התצוגה או השמע (לדוגמה, אזורים עם רעש רקע).</a:t>
            </a:r>
          </a:p>
          <a:p>
            <a:endParaRPr lang="he-IL" dirty="0"/>
          </a:p>
        </p:txBody>
      </p:sp>
    </p:spTree>
    <p:extLst>
      <p:ext uri="{BB962C8B-B14F-4D97-AF65-F5344CB8AC3E}">
        <p14:creationId xmlns:p14="http://schemas.microsoft.com/office/powerpoint/2010/main" val="243506959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5636028" y="642594"/>
            <a:ext cx="5489171" cy="1371600"/>
          </a:xfrm>
        </p:spPr>
        <p:txBody>
          <a:bodyPr>
            <a:normAutofit fontScale="90000"/>
          </a:bodyPr>
          <a:lstStyle/>
          <a:p>
            <a:r>
              <a:rPr lang="he-IL" dirty="0" smtClean="0"/>
              <a:t>3. סיכוך </a:t>
            </a:r>
            <a:r>
              <a:rPr lang="he-IL" dirty="0"/>
              <a:t>מבוסס תעבורה</a:t>
            </a:r>
          </a:p>
        </p:txBody>
      </p:sp>
      <p:sp>
        <p:nvSpPr>
          <p:cNvPr id="3" name="מציין מיקום תוכן 2"/>
          <p:cNvSpPr>
            <a:spLocks noGrp="1"/>
          </p:cNvSpPr>
          <p:nvPr>
            <p:ph idx="1"/>
          </p:nvPr>
        </p:nvSpPr>
        <p:spPr/>
        <p:txBody>
          <a:bodyPr/>
          <a:lstStyle/>
          <a:p>
            <a:r>
              <a:rPr lang="he-IL" b="1" dirty="0" smtClean="0"/>
              <a:t>טכניקות </a:t>
            </a:r>
            <a:r>
              <a:rPr lang="he-IL" b="1" dirty="0"/>
              <a:t>להחבאת מידע בתעבורת </a:t>
            </a:r>
            <a:r>
              <a:rPr lang="he-IL" b="1" dirty="0" smtClean="0"/>
              <a:t>רשת:</a:t>
            </a:r>
            <a:endParaRPr lang="he-IL" dirty="0" smtClean="0"/>
          </a:p>
          <a:p>
            <a:r>
              <a:rPr lang="he-IL" b="1" dirty="0" smtClean="0"/>
              <a:t>שימוש </a:t>
            </a:r>
            <a:r>
              <a:rPr lang="he-IL" b="1" dirty="0"/>
              <a:t>בכותרות פרוטוקול </a:t>
            </a:r>
            <a:r>
              <a:rPr lang="en-US" b="1" dirty="0" smtClean="0"/>
              <a:t>Protocol Headers</a:t>
            </a:r>
            <a:r>
              <a:rPr lang="he-IL" b="1" dirty="0" smtClean="0"/>
              <a:t>:</a:t>
            </a:r>
            <a:r>
              <a:rPr lang="en-US" dirty="0"/>
              <a:t/>
            </a:r>
            <a:br>
              <a:rPr lang="en-US" dirty="0"/>
            </a:br>
            <a:r>
              <a:rPr lang="he-IL" dirty="0"/>
              <a:t>ניתן לשלב מידע מוסתר בכותרות של פרוטוקולים, כמו </a:t>
            </a:r>
            <a:r>
              <a:rPr lang="en-US" dirty="0" smtClean="0"/>
              <a:t> HTTP</a:t>
            </a:r>
            <a:r>
              <a:rPr lang="he-IL" dirty="0" smtClean="0"/>
              <a:t>או </a:t>
            </a:r>
            <a:r>
              <a:rPr lang="en-US" dirty="0" smtClean="0"/>
              <a:t>TCP</a:t>
            </a:r>
            <a:r>
              <a:rPr lang="he-IL" dirty="0" smtClean="0"/>
              <a:t>.</a:t>
            </a:r>
            <a:r>
              <a:rPr lang="en-US" dirty="0"/>
              <a:t/>
            </a:r>
            <a:br>
              <a:rPr lang="en-US" dirty="0"/>
            </a:br>
            <a:r>
              <a:rPr lang="he-IL" dirty="0"/>
              <a:t>לדוגמה: הכנסת מידע שולי </a:t>
            </a:r>
            <a:r>
              <a:rPr lang="he-IL" dirty="0" smtClean="0"/>
              <a:t>לכותרת </a:t>
            </a:r>
            <a:r>
              <a:rPr lang="en-US" dirty="0" smtClean="0"/>
              <a:t>User-Agent</a:t>
            </a:r>
            <a:endParaRPr lang="he-IL" dirty="0" smtClean="0"/>
          </a:p>
          <a:p>
            <a:r>
              <a:rPr lang="he-IL" b="1" dirty="0"/>
              <a:t>הטמעה בתוך נתונים רגילים:</a:t>
            </a:r>
            <a:r>
              <a:rPr lang="he-IL" dirty="0"/>
              <a:t/>
            </a:r>
            <a:br>
              <a:rPr lang="he-IL" dirty="0"/>
            </a:br>
            <a:r>
              <a:rPr lang="he-IL" dirty="0"/>
              <a:t>ניתן להוסיף מידע מוסתר למידע שמועבר בתעבורה שגרתית, כמו תעבורת דוא"ל, צ'אט, או נתוני וידאו זורמים</a:t>
            </a:r>
            <a:r>
              <a:rPr lang="he-IL" dirty="0" smtClean="0"/>
              <a:t>.</a:t>
            </a:r>
          </a:p>
          <a:p>
            <a:r>
              <a:rPr lang="he-IL" b="1" dirty="0"/>
              <a:t>שימוש במידע </a:t>
            </a:r>
            <a:r>
              <a:rPr lang="he-IL" b="1" dirty="0" smtClean="0"/>
              <a:t>מיותר</a:t>
            </a:r>
            <a:r>
              <a:rPr lang="en-US" b="1" dirty="0" smtClean="0"/>
              <a:t>Padding </a:t>
            </a:r>
            <a:r>
              <a:rPr lang="he-IL" b="1" dirty="0" smtClean="0"/>
              <a:t>:</a:t>
            </a:r>
            <a:r>
              <a:rPr lang="en-US" dirty="0"/>
              <a:t/>
            </a:r>
            <a:br>
              <a:rPr lang="en-US" dirty="0"/>
            </a:br>
            <a:r>
              <a:rPr lang="he-IL" dirty="0"/>
              <a:t>חלק מהפרוטוקולים מוסיפים מידע מיותר לנתונים </a:t>
            </a:r>
            <a:r>
              <a:rPr lang="en-US" dirty="0" smtClean="0"/>
              <a:t> Padding</a:t>
            </a:r>
            <a:r>
              <a:rPr lang="he-IL" dirty="0" smtClean="0"/>
              <a:t>ניתן </a:t>
            </a:r>
            <a:r>
              <a:rPr lang="he-IL" dirty="0"/>
              <a:t>לנצל את האזורים הללו להטמעת מידע סודי.</a:t>
            </a:r>
            <a:endParaRPr lang="en-US" dirty="0"/>
          </a:p>
          <a:p>
            <a:pPr marL="274320" lvl="1" indent="0">
              <a:buNone/>
            </a:pPr>
            <a:endParaRPr lang="he-IL" dirty="0"/>
          </a:p>
          <a:p>
            <a:endParaRPr lang="he-IL" dirty="0"/>
          </a:p>
        </p:txBody>
      </p:sp>
    </p:spTree>
    <p:extLst>
      <p:ext uri="{BB962C8B-B14F-4D97-AF65-F5344CB8AC3E}">
        <p14:creationId xmlns:p14="http://schemas.microsoft.com/office/powerpoint/2010/main" val="201256821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155470" y="642594"/>
            <a:ext cx="9969730" cy="1371600"/>
          </a:xfrm>
        </p:spPr>
        <p:txBody>
          <a:bodyPr>
            <a:normAutofit fontScale="90000"/>
          </a:bodyPr>
          <a:lstStyle/>
          <a:p>
            <a:r>
              <a:rPr lang="he-IL" dirty="0" smtClean="0"/>
              <a:t>4. דינמיקה </a:t>
            </a:r>
            <a:r>
              <a:rPr lang="he-IL" dirty="0"/>
              <a:t>של אבטחה באמצעות סיכוך מידע</a:t>
            </a:r>
          </a:p>
        </p:txBody>
      </p:sp>
      <p:sp>
        <p:nvSpPr>
          <p:cNvPr id="3" name="מציין מיקום תוכן 2"/>
          <p:cNvSpPr>
            <a:spLocks noGrp="1"/>
          </p:cNvSpPr>
          <p:nvPr>
            <p:ph idx="1"/>
          </p:nvPr>
        </p:nvSpPr>
        <p:spPr/>
        <p:txBody>
          <a:bodyPr/>
          <a:lstStyle/>
          <a:p>
            <a:r>
              <a:rPr lang="he-IL" b="1" dirty="0" smtClean="0"/>
              <a:t>הגנת </a:t>
            </a:r>
            <a:r>
              <a:rPr lang="he-IL" b="1" dirty="0"/>
              <a:t>עומק </a:t>
            </a:r>
            <a:r>
              <a:rPr lang="en-US" b="1" dirty="0" smtClean="0"/>
              <a:t>Defense </a:t>
            </a:r>
            <a:r>
              <a:rPr lang="en-US" b="1" dirty="0"/>
              <a:t>in </a:t>
            </a:r>
            <a:r>
              <a:rPr lang="en-US" b="1" dirty="0" smtClean="0"/>
              <a:t>Depth</a:t>
            </a:r>
            <a:r>
              <a:rPr lang="he-IL" b="1" dirty="0" smtClean="0"/>
              <a:t>:</a:t>
            </a:r>
            <a:r>
              <a:rPr lang="en-US" dirty="0"/>
              <a:t/>
            </a:r>
            <a:br>
              <a:rPr lang="en-US" dirty="0"/>
            </a:br>
            <a:r>
              <a:rPr lang="he-IL" dirty="0"/>
              <a:t>סיכוך מידע משמש כחלק ממערך אבטחה רחב יותר, שבו מספר שכבות הגנה מגנות על המידע.</a:t>
            </a:r>
            <a:br>
              <a:rPr lang="he-IL" dirty="0"/>
            </a:br>
            <a:r>
              <a:rPr lang="he-IL" dirty="0"/>
              <a:t>לדוגמה: גם אם פורצים את שכבת ההצפנה, המידע עדיין מוגן על ידי הסיכוך</a:t>
            </a:r>
            <a:r>
              <a:rPr lang="he-IL" dirty="0" smtClean="0"/>
              <a:t>.</a:t>
            </a:r>
          </a:p>
          <a:p>
            <a:endParaRPr lang="he-IL" dirty="0"/>
          </a:p>
          <a:p>
            <a:r>
              <a:rPr lang="he-IL" b="1" dirty="0"/>
              <a:t>טכניקות להטעיה אקטיבית:</a:t>
            </a:r>
            <a:r>
              <a:rPr lang="he-IL" dirty="0"/>
              <a:t/>
            </a:r>
            <a:br>
              <a:rPr lang="he-IL" dirty="0"/>
            </a:br>
            <a:r>
              <a:rPr lang="he-IL" dirty="0"/>
              <a:t>יצירת מערכות שמכילות מידע מטעה המכוון את התוקפים למידע שאינו </a:t>
            </a:r>
            <a:r>
              <a:rPr lang="he-IL" dirty="0" smtClean="0"/>
              <a:t>רלוונטי.</a:t>
            </a:r>
          </a:p>
          <a:p>
            <a:r>
              <a:rPr lang="he-IL" dirty="0" smtClean="0"/>
              <a:t>דוגמה</a:t>
            </a:r>
            <a:r>
              <a:rPr lang="he-IL" dirty="0"/>
              <a:t>: הטמעת קבצים שנראים רגישים אך למעשה מכילים "פיתיונות" </a:t>
            </a:r>
            <a:r>
              <a:rPr lang="en-US" dirty="0" smtClean="0"/>
              <a:t>Decoys</a:t>
            </a:r>
            <a:endParaRPr lang="en-US" dirty="0"/>
          </a:p>
          <a:p>
            <a:endParaRPr lang="he-IL" dirty="0"/>
          </a:p>
        </p:txBody>
      </p:sp>
    </p:spTree>
    <p:extLst>
      <p:ext uri="{BB962C8B-B14F-4D97-AF65-F5344CB8AC3E}">
        <p14:creationId xmlns:p14="http://schemas.microsoft.com/office/powerpoint/2010/main" val="380410997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549534" y="642594"/>
            <a:ext cx="7575665" cy="1371600"/>
          </a:xfrm>
        </p:spPr>
        <p:txBody>
          <a:bodyPr/>
          <a:lstStyle/>
          <a:p>
            <a:r>
              <a:rPr lang="he-IL" dirty="0"/>
              <a:t>דוגמאות מעשיות לסיכוך מידע</a:t>
            </a:r>
          </a:p>
        </p:txBody>
      </p:sp>
      <p:sp>
        <p:nvSpPr>
          <p:cNvPr id="3" name="מציין מיקום תוכן 2"/>
          <p:cNvSpPr>
            <a:spLocks noGrp="1"/>
          </p:cNvSpPr>
          <p:nvPr>
            <p:ph idx="1"/>
          </p:nvPr>
        </p:nvSpPr>
        <p:spPr/>
        <p:txBody>
          <a:bodyPr/>
          <a:lstStyle/>
          <a:p>
            <a:r>
              <a:rPr lang="he-IL" dirty="0" smtClean="0"/>
              <a:t>1. </a:t>
            </a:r>
            <a:r>
              <a:rPr lang="he-IL" b="1" dirty="0"/>
              <a:t>קובץ תמונה:</a:t>
            </a:r>
            <a:endParaRPr lang="he-IL" dirty="0"/>
          </a:p>
          <a:p>
            <a:r>
              <a:rPr lang="he-IL" dirty="0"/>
              <a:t>הקובץ מכיל מטא-נתונים עם פרטים כמו מיקום צילום, אבל בפועל, המידע הסודי מוטמן במטא-נתונים במקום בפיקסלים עצמם.</a:t>
            </a:r>
          </a:p>
          <a:p>
            <a:endParaRPr lang="he-IL" dirty="0" smtClean="0"/>
          </a:p>
          <a:p>
            <a:r>
              <a:rPr lang="he-IL" dirty="0" smtClean="0"/>
              <a:t>2. </a:t>
            </a:r>
            <a:r>
              <a:rPr lang="he-IL" b="1" dirty="0"/>
              <a:t>מסמך טקסט:</a:t>
            </a:r>
            <a:endParaRPr lang="he-IL" dirty="0"/>
          </a:p>
          <a:p>
            <a:r>
              <a:rPr lang="he-IL" dirty="0"/>
              <a:t>שימוש ברווחים מיותרים או תווים נסתרים כדי לאחסן מידע.</a:t>
            </a:r>
          </a:p>
          <a:p>
            <a:endParaRPr lang="he-IL" dirty="0" smtClean="0"/>
          </a:p>
          <a:p>
            <a:r>
              <a:rPr lang="he-IL" dirty="0" smtClean="0"/>
              <a:t>3. </a:t>
            </a:r>
            <a:r>
              <a:rPr lang="he-IL" b="1" dirty="0"/>
              <a:t>תעבורת רשת:</a:t>
            </a:r>
            <a:endParaRPr lang="he-IL" dirty="0"/>
          </a:p>
          <a:p>
            <a:r>
              <a:rPr lang="he-IL" dirty="0"/>
              <a:t>סיכוך המידע באמצעות תעבורת רקע בלתי מזיקה, למשל על ידי שילוב נתונים מוסתרים בתוך בקשות </a:t>
            </a:r>
            <a:r>
              <a:rPr lang="en-US" dirty="0"/>
              <a:t>HTTP </a:t>
            </a:r>
            <a:r>
              <a:rPr lang="he-IL" dirty="0"/>
              <a:t>תמימות.</a:t>
            </a:r>
          </a:p>
          <a:p>
            <a:endParaRPr lang="he-IL" dirty="0" smtClean="0"/>
          </a:p>
          <a:p>
            <a:endParaRPr lang="he-IL" dirty="0"/>
          </a:p>
        </p:txBody>
      </p:sp>
    </p:spTree>
    <p:extLst>
      <p:ext uri="{BB962C8B-B14F-4D97-AF65-F5344CB8AC3E}">
        <p14:creationId xmlns:p14="http://schemas.microsoft.com/office/powerpoint/2010/main" val="91329434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5486400" y="642594"/>
            <a:ext cx="5638800" cy="1371600"/>
          </a:xfrm>
        </p:spPr>
        <p:txBody>
          <a:bodyPr/>
          <a:lstStyle/>
          <a:p>
            <a:r>
              <a:rPr lang="he-IL" dirty="0"/>
              <a:t>האתגרים בסיכוך מידע</a:t>
            </a:r>
          </a:p>
        </p:txBody>
      </p:sp>
      <p:sp>
        <p:nvSpPr>
          <p:cNvPr id="3" name="מציין מיקום תוכן 2"/>
          <p:cNvSpPr>
            <a:spLocks noGrp="1"/>
          </p:cNvSpPr>
          <p:nvPr>
            <p:ph idx="1"/>
          </p:nvPr>
        </p:nvSpPr>
        <p:spPr/>
        <p:txBody>
          <a:bodyPr/>
          <a:lstStyle/>
          <a:p>
            <a:r>
              <a:rPr lang="he-IL" dirty="0" smtClean="0"/>
              <a:t>1. </a:t>
            </a:r>
            <a:r>
              <a:rPr lang="he-IL" b="1" dirty="0"/>
              <a:t>זיהוי אוטומטי:</a:t>
            </a:r>
            <a:endParaRPr lang="he-IL" dirty="0"/>
          </a:p>
          <a:p>
            <a:r>
              <a:rPr lang="he-IL" dirty="0"/>
              <a:t>תוכנות אבטחה מתקדמות יכולות לזהות פעילות חשודה באזורים לא מנוצלים.</a:t>
            </a:r>
          </a:p>
          <a:p>
            <a:endParaRPr lang="he-IL" dirty="0" smtClean="0"/>
          </a:p>
          <a:p>
            <a:r>
              <a:rPr lang="he-IL" dirty="0" smtClean="0"/>
              <a:t>2. </a:t>
            </a:r>
            <a:r>
              <a:rPr lang="he-IL" b="1" dirty="0"/>
              <a:t>נפח מידע מוגבל:</a:t>
            </a:r>
            <a:endParaRPr lang="he-IL" dirty="0"/>
          </a:p>
          <a:p>
            <a:r>
              <a:rPr lang="he-IL" dirty="0"/>
              <a:t>הטמעת מידע באזורים קטנים, כמו מטא-נתונים או </a:t>
            </a:r>
            <a:r>
              <a:rPr lang="en-US" dirty="0" smtClean="0"/>
              <a:t> Slack Space</a:t>
            </a:r>
            <a:r>
              <a:rPr lang="he-IL" dirty="0" smtClean="0"/>
              <a:t>מגבילה </a:t>
            </a:r>
            <a:r>
              <a:rPr lang="he-IL" dirty="0"/>
              <a:t>את כמות המידע שאפשר לסכך.</a:t>
            </a:r>
          </a:p>
          <a:p>
            <a:endParaRPr lang="he-IL" dirty="0" smtClean="0"/>
          </a:p>
          <a:p>
            <a:r>
              <a:rPr lang="he-IL" dirty="0" smtClean="0"/>
              <a:t>3. </a:t>
            </a:r>
            <a:r>
              <a:rPr lang="he-IL" b="1" dirty="0"/>
              <a:t>סיכון לגילוי עקיף:</a:t>
            </a:r>
            <a:endParaRPr lang="he-IL" dirty="0"/>
          </a:p>
          <a:p>
            <a:r>
              <a:rPr lang="he-IL" dirty="0"/>
              <a:t>אם הסיכוך אינו מושלם, ניתן לגלות את המידע בעזרת ניתוח מעמיק של המערכת.</a:t>
            </a:r>
          </a:p>
          <a:p>
            <a:endParaRPr lang="he-IL" dirty="0" smtClean="0"/>
          </a:p>
          <a:p>
            <a:endParaRPr lang="he-IL" dirty="0"/>
          </a:p>
        </p:txBody>
      </p:sp>
    </p:spTree>
    <p:extLst>
      <p:ext uri="{BB962C8B-B14F-4D97-AF65-F5344CB8AC3E}">
        <p14:creationId xmlns:p14="http://schemas.microsoft.com/office/powerpoint/2010/main" val="227247176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498080" y="642594"/>
            <a:ext cx="3627120" cy="1371600"/>
          </a:xfrm>
        </p:spPr>
        <p:txBody>
          <a:bodyPr/>
          <a:lstStyle/>
          <a:p>
            <a:r>
              <a:rPr lang="he-IL" dirty="0" smtClean="0"/>
              <a:t>שאלה מעשית</a:t>
            </a:r>
            <a:endParaRPr lang="he-IL" dirty="0"/>
          </a:p>
        </p:txBody>
      </p:sp>
      <p:sp>
        <p:nvSpPr>
          <p:cNvPr id="3" name="מציין מיקום תוכן 2"/>
          <p:cNvSpPr>
            <a:spLocks noGrp="1"/>
          </p:cNvSpPr>
          <p:nvPr>
            <p:ph idx="1"/>
          </p:nvPr>
        </p:nvSpPr>
        <p:spPr/>
        <p:txBody>
          <a:bodyPr/>
          <a:lstStyle/>
          <a:p>
            <a:r>
              <a:rPr lang="he-IL" dirty="0"/>
              <a:t>נניח שאתה מתכנת מערכת לניהול מסמכים, וברצונך להוסיף תכונה שמאפשרת הטמעת מידע סודי בקובץ </a:t>
            </a:r>
            <a:r>
              <a:rPr lang="en-US" dirty="0" smtClean="0"/>
              <a:t>  PDF</a:t>
            </a:r>
            <a:r>
              <a:rPr lang="he-IL" dirty="0" smtClean="0"/>
              <a:t> מבלי </a:t>
            </a:r>
            <a:r>
              <a:rPr lang="he-IL" dirty="0"/>
              <a:t>לשנות את הטקסט או העיצוב הגלוי במסמך. המידע הסודי צריך להיות מוסתר בצורה כזו שרק מי שמכיר את המפתח לקריאת המידע יוכל לגשת אליו</a:t>
            </a:r>
            <a:r>
              <a:rPr lang="he-IL" dirty="0" smtClean="0"/>
              <a:t>.</a:t>
            </a:r>
          </a:p>
          <a:p>
            <a:r>
              <a:rPr lang="he-IL" dirty="0" smtClean="0"/>
              <a:t>1</a:t>
            </a:r>
            <a:r>
              <a:rPr lang="he-IL" dirty="0"/>
              <a:t>. כיצד תבצע את הפעולה הזו מבחינה טכנית?</a:t>
            </a:r>
            <a:endParaRPr lang="he-IL" dirty="0" smtClean="0"/>
          </a:p>
          <a:p>
            <a:r>
              <a:rPr lang="he-IL" dirty="0" smtClean="0"/>
              <a:t>2</a:t>
            </a:r>
            <a:r>
              <a:rPr lang="he-IL" dirty="0"/>
              <a:t>. אילו טכניקות היית משתמש כדי לוודא שהמידע לא יתגלה בבדיקה רגילה של המסמך?</a:t>
            </a:r>
            <a:endParaRPr lang="he-IL" dirty="0" smtClean="0"/>
          </a:p>
          <a:p>
            <a:r>
              <a:rPr lang="he-IL" dirty="0" smtClean="0"/>
              <a:t>3</a:t>
            </a:r>
            <a:r>
              <a:rPr lang="he-IL" dirty="0"/>
              <a:t>. כתוב תיאור טכני של התהליך שבו תשתמש, כולל אילו שדות או מבנים בקובץ </a:t>
            </a:r>
            <a:r>
              <a:rPr lang="en-US" dirty="0"/>
              <a:t>PDF </a:t>
            </a:r>
            <a:r>
              <a:rPr lang="he-IL" dirty="0"/>
              <a:t>ישמשו להסתרת המידע.</a:t>
            </a:r>
            <a:endParaRPr lang="he-IL" dirty="0" smtClean="0"/>
          </a:p>
          <a:p>
            <a:endParaRPr lang="he-IL" dirty="0"/>
          </a:p>
        </p:txBody>
      </p:sp>
    </p:spTree>
    <p:extLst>
      <p:ext uri="{BB962C8B-B14F-4D97-AF65-F5344CB8AC3E}">
        <p14:creationId xmlns:p14="http://schemas.microsoft.com/office/powerpoint/2010/main" val="98169876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177251" y="-97238"/>
            <a:ext cx="1947949" cy="1371600"/>
          </a:xfrm>
        </p:spPr>
        <p:txBody>
          <a:bodyPr/>
          <a:lstStyle/>
          <a:p>
            <a:r>
              <a:rPr lang="he-IL" dirty="0" smtClean="0"/>
              <a:t>תשובה</a:t>
            </a:r>
            <a:endParaRPr lang="he-IL" dirty="0"/>
          </a:p>
        </p:txBody>
      </p:sp>
      <p:sp>
        <p:nvSpPr>
          <p:cNvPr id="3" name="מציין מיקום תוכן 2"/>
          <p:cNvSpPr>
            <a:spLocks noGrp="1"/>
          </p:cNvSpPr>
          <p:nvPr>
            <p:ph idx="1"/>
          </p:nvPr>
        </p:nvSpPr>
        <p:spPr>
          <a:xfrm>
            <a:off x="1066800" y="931025"/>
            <a:ext cx="10058400" cy="5544590"/>
          </a:xfrm>
        </p:spPr>
        <p:txBody>
          <a:bodyPr>
            <a:normAutofit fontScale="92500" lnSpcReduction="10000"/>
          </a:bodyPr>
          <a:lstStyle/>
          <a:p>
            <a:r>
              <a:rPr lang="he-IL" dirty="0" smtClean="0"/>
              <a:t>1. </a:t>
            </a:r>
            <a:r>
              <a:rPr lang="he-IL" b="1" dirty="0"/>
              <a:t>תהליך הטמעת המידע:</a:t>
            </a:r>
            <a:endParaRPr lang="he-IL" dirty="0"/>
          </a:p>
          <a:p>
            <a:r>
              <a:rPr lang="he-IL" dirty="0"/>
              <a:t>המידע יוטמע בשדות מטא-נתונים של המסמך, כגון</a:t>
            </a:r>
            <a:r>
              <a:rPr lang="he-IL" dirty="0" smtClean="0"/>
              <a:t>:</a:t>
            </a:r>
          </a:p>
          <a:p>
            <a:r>
              <a:rPr lang="he-IL" dirty="0" smtClean="0"/>
              <a:t>שדה </a:t>
            </a:r>
            <a:r>
              <a:rPr lang="en-US" dirty="0" smtClean="0"/>
              <a:t>Author</a:t>
            </a:r>
            <a:r>
              <a:rPr lang="he-IL" dirty="0"/>
              <a:t> (מחבר המסמך). [</a:t>
            </a:r>
            <a:r>
              <a:rPr lang="he-IL" dirty="0" smtClean="0"/>
              <a:t>קובצי</a:t>
            </a:r>
            <a:r>
              <a:rPr lang="en-US" dirty="0" smtClean="0"/>
              <a:t>PDF </a:t>
            </a:r>
            <a:r>
              <a:rPr lang="he-IL" dirty="0" smtClean="0"/>
              <a:t> מכילים </a:t>
            </a:r>
            <a:r>
              <a:rPr lang="he-IL" dirty="0"/>
              <a:t>שדות מטא-נתונים כמו </a:t>
            </a:r>
            <a:r>
              <a:rPr lang="en-US" dirty="0" smtClean="0"/>
              <a:t>Keywords</a:t>
            </a:r>
            <a:r>
              <a:rPr lang="he-IL" dirty="0" smtClean="0"/>
              <a:t>, </a:t>
            </a:r>
            <a:r>
              <a:rPr lang="en-US" dirty="0" smtClean="0"/>
              <a:t>Title</a:t>
            </a:r>
            <a:r>
              <a:rPr lang="he-IL" dirty="0" smtClean="0"/>
              <a:t>, </a:t>
            </a:r>
            <a:r>
              <a:rPr lang="en-US" dirty="0" smtClean="0"/>
              <a:t>Author</a:t>
            </a:r>
            <a:r>
              <a:rPr lang="he-IL" dirty="0" smtClean="0"/>
              <a:t>, </a:t>
            </a:r>
            <a:r>
              <a:rPr lang="en-US" dirty="0" smtClean="0"/>
              <a:t>Subject</a:t>
            </a:r>
            <a:r>
              <a:rPr lang="he-IL" dirty="0"/>
              <a:t> ניתן לשלב את המידע בשדות אלה, במיוחד בשדות פחות בולטים כמו </a:t>
            </a:r>
            <a:r>
              <a:rPr lang="en-US" dirty="0" smtClean="0"/>
              <a:t>Keywords</a:t>
            </a:r>
            <a:r>
              <a:rPr lang="he-IL" dirty="0" smtClean="0"/>
              <a:t> ]</a:t>
            </a:r>
          </a:p>
          <a:p>
            <a:r>
              <a:rPr lang="he-IL" dirty="0" smtClean="0"/>
              <a:t>שדה </a:t>
            </a:r>
            <a:r>
              <a:rPr lang="en-US" dirty="0" smtClean="0"/>
              <a:t>Keywords</a:t>
            </a:r>
            <a:r>
              <a:rPr lang="he-IL" dirty="0"/>
              <a:t> (מילות מפתח</a:t>
            </a:r>
            <a:r>
              <a:rPr lang="he-IL" dirty="0" smtClean="0"/>
              <a:t>).</a:t>
            </a:r>
          </a:p>
          <a:p>
            <a:r>
              <a:rPr lang="he-IL" dirty="0"/>
              <a:t>ניתן להטמיע את המידע גם כשכבה בלתי </a:t>
            </a:r>
            <a:r>
              <a:rPr lang="he-IL" dirty="0" smtClean="0"/>
              <a:t>נראית</a:t>
            </a:r>
            <a:r>
              <a:rPr lang="en-US" dirty="0" smtClean="0"/>
              <a:t>Invisible Layer </a:t>
            </a:r>
            <a:r>
              <a:rPr lang="he-IL" dirty="0" smtClean="0"/>
              <a:t> במסמך </a:t>
            </a:r>
            <a:r>
              <a:rPr lang="en-US" dirty="0" smtClean="0"/>
              <a:t>PDF</a:t>
            </a:r>
            <a:r>
              <a:rPr lang="he-IL" dirty="0"/>
              <a:t> משום </a:t>
            </a:r>
            <a:r>
              <a:rPr lang="he-IL" dirty="0" smtClean="0"/>
              <a:t>שמסמכי </a:t>
            </a:r>
            <a:r>
              <a:rPr lang="en-US" dirty="0"/>
              <a:t>PDF </a:t>
            </a:r>
            <a:r>
              <a:rPr lang="he-IL" dirty="0"/>
              <a:t>תומכים בשכבות תוכן שניתן להציג או </a:t>
            </a:r>
            <a:r>
              <a:rPr lang="he-IL" dirty="0" smtClean="0"/>
              <a:t>להסתיר</a:t>
            </a:r>
            <a:r>
              <a:rPr lang="he-IL" dirty="0"/>
              <a:t>, בנוסף ניתן להטמיע טקסט בלתי נראה על ידי שימוש בצבע לבן או בגופן בגודל 0.</a:t>
            </a:r>
            <a:endParaRPr lang="en-US" dirty="0" smtClean="0"/>
          </a:p>
          <a:p>
            <a:r>
              <a:rPr lang="he-IL" dirty="0" smtClean="0"/>
              <a:t>2. </a:t>
            </a:r>
            <a:r>
              <a:rPr lang="he-IL" b="1" dirty="0"/>
              <a:t>שיטות למניעת גילוי:</a:t>
            </a:r>
            <a:endParaRPr lang="he-IL" dirty="0"/>
          </a:p>
          <a:p>
            <a:r>
              <a:rPr lang="he-IL" b="1" dirty="0"/>
              <a:t>הצפנת המידע לפני הטמעתו:</a:t>
            </a:r>
            <a:r>
              <a:rPr lang="he-IL" dirty="0"/>
              <a:t> יש להצפין את המידע באמצעות אלגוריתם הצפנה </a:t>
            </a:r>
            <a:r>
              <a:rPr lang="he-IL" dirty="0" smtClean="0"/>
              <a:t>כמו</a:t>
            </a:r>
            <a:r>
              <a:rPr lang="en-US" dirty="0" smtClean="0"/>
              <a:t> AES </a:t>
            </a:r>
            <a:r>
              <a:rPr lang="he-IL" dirty="0"/>
              <a:t>כך שגם אם יתגלה, לא יהיה קריא.</a:t>
            </a:r>
          </a:p>
          <a:p>
            <a:r>
              <a:rPr lang="he-IL" b="1" dirty="0"/>
              <a:t>שימוש במבנה רגיל של מטא-נתונים:</a:t>
            </a:r>
            <a:r>
              <a:rPr lang="he-IL" dirty="0"/>
              <a:t> המטא-נתונים ייראו כחלק תקני של המסמך ולא יעוררו חשד</a:t>
            </a:r>
            <a:r>
              <a:rPr lang="he-IL" dirty="0" smtClean="0"/>
              <a:t>.</a:t>
            </a:r>
          </a:p>
          <a:p>
            <a:r>
              <a:rPr lang="he-IL" dirty="0" smtClean="0"/>
              <a:t>3. </a:t>
            </a:r>
            <a:r>
              <a:rPr lang="he-IL" b="1" dirty="0"/>
              <a:t>תיאור טכני של התהליך:</a:t>
            </a:r>
            <a:endParaRPr lang="he-IL" dirty="0"/>
          </a:p>
          <a:p>
            <a:r>
              <a:rPr lang="he-IL" dirty="0"/>
              <a:t>טוענים את קובץ </a:t>
            </a:r>
            <a:r>
              <a:rPr lang="he-IL" dirty="0" smtClean="0"/>
              <a:t>ה-</a:t>
            </a:r>
            <a:r>
              <a:rPr lang="en-US" dirty="0" smtClean="0"/>
              <a:t> PDF </a:t>
            </a:r>
            <a:r>
              <a:rPr lang="he-IL" dirty="0"/>
              <a:t>באמצעות ספרייה מתאימה (</a:t>
            </a:r>
            <a:r>
              <a:rPr lang="he-IL" dirty="0" smtClean="0"/>
              <a:t>למשל </a:t>
            </a:r>
            <a:r>
              <a:rPr lang="en-US" dirty="0" smtClean="0"/>
              <a:t>PyPDF2</a:t>
            </a:r>
            <a:r>
              <a:rPr lang="he-IL" dirty="0" smtClean="0"/>
              <a:t> </a:t>
            </a:r>
            <a:r>
              <a:rPr lang="he-IL" dirty="0" err="1" smtClean="0"/>
              <a:t>בפייתון</a:t>
            </a:r>
            <a:r>
              <a:rPr lang="he-IL" dirty="0" smtClean="0"/>
              <a:t> או</a:t>
            </a:r>
            <a:r>
              <a:rPr lang="en-US" dirty="0" err="1" smtClean="0"/>
              <a:t>iText</a:t>
            </a:r>
            <a:r>
              <a:rPr lang="en-US" dirty="0" smtClean="0"/>
              <a:t> </a:t>
            </a:r>
            <a:r>
              <a:rPr lang="he-IL" dirty="0" smtClean="0"/>
              <a:t> בג'אווה</a:t>
            </a:r>
            <a:r>
              <a:rPr lang="he-IL" dirty="0"/>
              <a:t>).</a:t>
            </a:r>
          </a:p>
          <a:p>
            <a:r>
              <a:rPr lang="he-IL" dirty="0"/>
              <a:t>מוסיפים את המידע המוצפן לשדה מטא-נתונים </a:t>
            </a:r>
            <a:r>
              <a:rPr lang="he-IL" dirty="0" smtClean="0"/>
              <a:t>כמו </a:t>
            </a:r>
            <a:r>
              <a:rPr lang="en-US" dirty="0" smtClean="0"/>
              <a:t>Keywords</a:t>
            </a:r>
            <a:r>
              <a:rPr lang="he-IL" dirty="0" smtClean="0"/>
              <a:t>.</a:t>
            </a:r>
          </a:p>
          <a:p>
            <a:r>
              <a:rPr lang="he-IL" dirty="0"/>
              <a:t>שומרים את המסמך עם השינויים</a:t>
            </a:r>
            <a:r>
              <a:rPr lang="he-IL" dirty="0" smtClean="0"/>
              <a:t>.</a:t>
            </a:r>
          </a:p>
          <a:p>
            <a:r>
              <a:rPr lang="he-IL" dirty="0"/>
              <a:t>לצורך קריאת המידע, משתמשים באותו מפתח הצפנה כדי לפענח את המידע המוסתר.</a:t>
            </a:r>
          </a:p>
          <a:p>
            <a:endParaRPr lang="he-IL" dirty="0"/>
          </a:p>
          <a:p>
            <a:endParaRPr lang="he-IL" dirty="0"/>
          </a:p>
        </p:txBody>
      </p:sp>
    </p:spTree>
    <p:extLst>
      <p:ext uri="{BB962C8B-B14F-4D97-AF65-F5344CB8AC3E}">
        <p14:creationId xmlns:p14="http://schemas.microsoft.com/office/powerpoint/2010/main" val="63785005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218814" y="642594"/>
            <a:ext cx="1906385" cy="1371600"/>
          </a:xfrm>
        </p:spPr>
        <p:txBody>
          <a:bodyPr/>
          <a:lstStyle/>
          <a:p>
            <a:r>
              <a:rPr lang="he-IL" dirty="0" smtClean="0"/>
              <a:t>שאלות</a:t>
            </a:r>
            <a:endParaRPr lang="he-IL" dirty="0"/>
          </a:p>
        </p:txBody>
      </p:sp>
      <p:sp>
        <p:nvSpPr>
          <p:cNvPr id="3" name="מציין מיקום תוכן 2"/>
          <p:cNvSpPr>
            <a:spLocks noGrp="1"/>
          </p:cNvSpPr>
          <p:nvPr>
            <p:ph idx="1"/>
          </p:nvPr>
        </p:nvSpPr>
        <p:spPr/>
        <p:txBody>
          <a:bodyPr/>
          <a:lstStyle/>
          <a:p>
            <a:r>
              <a:rPr lang="he-IL" dirty="0" smtClean="0"/>
              <a:t>1</a:t>
            </a:r>
            <a:r>
              <a:rPr lang="he-IL" dirty="0"/>
              <a:t>. מהו </a:t>
            </a:r>
            <a:r>
              <a:rPr lang="en-US" dirty="0"/>
              <a:t>Slack </a:t>
            </a:r>
            <a:r>
              <a:rPr lang="en-US" dirty="0" smtClean="0"/>
              <a:t>Space</a:t>
            </a:r>
            <a:r>
              <a:rPr lang="he-IL" dirty="0" smtClean="0"/>
              <a:t> וכיצד </a:t>
            </a:r>
            <a:r>
              <a:rPr lang="he-IL" dirty="0"/>
              <a:t>ניתן לנצל אותו לסיכוך מידע?</a:t>
            </a:r>
            <a:endParaRPr lang="he-IL" dirty="0" smtClean="0"/>
          </a:p>
          <a:p>
            <a:r>
              <a:rPr lang="he-IL" dirty="0" smtClean="0"/>
              <a:t>2</a:t>
            </a:r>
            <a:r>
              <a:rPr lang="he-IL" dirty="0"/>
              <a:t>. כיצד מטא-נתונים יכולים לשמש לסיכוך מידע?</a:t>
            </a:r>
            <a:endParaRPr lang="he-IL" dirty="0" smtClean="0"/>
          </a:p>
          <a:p>
            <a:r>
              <a:rPr lang="he-IL" dirty="0" smtClean="0"/>
              <a:t>3</a:t>
            </a:r>
            <a:r>
              <a:rPr lang="he-IL" dirty="0"/>
              <a:t>. איך היית מסתיר מידע רגיש בתוך תעבורת רשת, כך שיהיה קשה לזהות אותו?</a:t>
            </a:r>
            <a:endParaRPr lang="he-IL" dirty="0" smtClean="0"/>
          </a:p>
          <a:p>
            <a:r>
              <a:rPr lang="he-IL" dirty="0" smtClean="0"/>
              <a:t>4</a:t>
            </a:r>
            <a:r>
              <a:rPr lang="he-IL" dirty="0"/>
              <a:t>. אילו אתגרים קיימים בסיכוך מידע בקבצים גדולים, כמו סרטוני וידאו?</a:t>
            </a:r>
            <a:endParaRPr lang="he-IL" dirty="0" smtClean="0"/>
          </a:p>
          <a:p>
            <a:r>
              <a:rPr lang="he-IL" dirty="0" smtClean="0"/>
              <a:t>5</a:t>
            </a:r>
            <a:r>
              <a:rPr lang="he-IL" dirty="0"/>
              <a:t>. נניח שיש לך מסמך טקסט ואתה רוצה לסכך מידע סודי מבלי לשנות את תוכן המסמך בצורה נראית לעין. כיצד תבצע זאת?</a:t>
            </a:r>
            <a:endParaRPr lang="he-IL" dirty="0" smtClean="0"/>
          </a:p>
          <a:p>
            <a:endParaRPr lang="he-IL" dirty="0"/>
          </a:p>
        </p:txBody>
      </p:sp>
    </p:spTree>
    <p:extLst>
      <p:ext uri="{BB962C8B-B14F-4D97-AF65-F5344CB8AC3E}">
        <p14:creationId xmlns:p14="http://schemas.microsoft.com/office/powerpoint/2010/main" val="61220471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069185" y="301773"/>
            <a:ext cx="2056015" cy="1371600"/>
          </a:xfrm>
        </p:spPr>
        <p:txBody>
          <a:bodyPr/>
          <a:lstStyle/>
          <a:p>
            <a:r>
              <a:rPr lang="he-IL" dirty="0" smtClean="0"/>
              <a:t>תשובות</a:t>
            </a:r>
            <a:endParaRPr lang="he-IL" dirty="0"/>
          </a:p>
        </p:txBody>
      </p:sp>
      <p:sp>
        <p:nvSpPr>
          <p:cNvPr id="3" name="מציין מיקום תוכן 2"/>
          <p:cNvSpPr>
            <a:spLocks noGrp="1"/>
          </p:cNvSpPr>
          <p:nvPr>
            <p:ph idx="1"/>
          </p:nvPr>
        </p:nvSpPr>
        <p:spPr>
          <a:xfrm>
            <a:off x="1066800" y="1562793"/>
            <a:ext cx="10058400" cy="5212080"/>
          </a:xfrm>
        </p:spPr>
        <p:txBody>
          <a:bodyPr>
            <a:normAutofit/>
          </a:bodyPr>
          <a:lstStyle/>
          <a:p>
            <a:r>
              <a:rPr lang="he-IL" dirty="0" smtClean="0"/>
              <a:t>1. </a:t>
            </a:r>
            <a:r>
              <a:rPr lang="en-US" dirty="0" smtClean="0"/>
              <a:t> Slack Space</a:t>
            </a:r>
            <a:r>
              <a:rPr lang="he-IL" dirty="0" smtClean="0"/>
              <a:t>הוא </a:t>
            </a:r>
            <a:r>
              <a:rPr lang="he-IL" dirty="0"/>
              <a:t>השטח הריק שנותר לאחר כתיבת קובץ לדיסק. ניתן לנצל שטח זה לאחסון מידע מוסתר, מכיוון שהוא אינו נגיש ישירות למשתמשים רגילים.</a:t>
            </a:r>
            <a:endParaRPr lang="he-IL" dirty="0" smtClean="0"/>
          </a:p>
          <a:p>
            <a:r>
              <a:rPr lang="he-IL" dirty="0" smtClean="0"/>
              <a:t>2</a:t>
            </a:r>
            <a:r>
              <a:rPr lang="he-IL" dirty="0"/>
              <a:t>. מטא-נתונים הם נתונים שמספקים מידע על תוכן הקובץ (כמו מחבר הקובץ, מיקום צילום תמונה וכו'). ניתן להטמיע נתונים מוסתרים בשדות המטא-נתונים מבלי להשפיע על תוכן הקובץ.</a:t>
            </a:r>
            <a:endParaRPr lang="he-IL" dirty="0" smtClean="0"/>
          </a:p>
          <a:p>
            <a:r>
              <a:rPr lang="he-IL" dirty="0" smtClean="0"/>
              <a:t>3</a:t>
            </a:r>
            <a:r>
              <a:rPr lang="he-IL" dirty="0"/>
              <a:t>. ניתן להטמיע את המידע הרגיש בתוך בקשות </a:t>
            </a:r>
            <a:r>
              <a:rPr lang="en-US" dirty="0" smtClean="0"/>
              <a:t> HTTP</a:t>
            </a:r>
            <a:r>
              <a:rPr lang="he-IL" dirty="0" smtClean="0"/>
              <a:t>רגילות</a:t>
            </a:r>
            <a:r>
              <a:rPr lang="he-IL" dirty="0"/>
              <a:t>, למשל על ידי שימוש </a:t>
            </a:r>
            <a:r>
              <a:rPr lang="he-IL" dirty="0" smtClean="0"/>
              <a:t>בשדות</a:t>
            </a:r>
            <a:r>
              <a:rPr lang="en-US" dirty="0" smtClean="0"/>
              <a:t> User-Agent </a:t>
            </a:r>
            <a:r>
              <a:rPr lang="he-IL" dirty="0"/>
              <a:t>או </a:t>
            </a:r>
            <a:r>
              <a:rPr lang="en-US" dirty="0" smtClean="0"/>
              <a:t>Cookie</a:t>
            </a:r>
            <a:r>
              <a:rPr lang="he-IL" dirty="0" smtClean="0"/>
              <a:t> לחלופין</a:t>
            </a:r>
            <a:r>
              <a:rPr lang="he-IL" dirty="0"/>
              <a:t>, ניתן להשתמש בשגיאות מכוונות בהודעות פרוטוקול.</a:t>
            </a:r>
            <a:endParaRPr lang="he-IL" dirty="0" smtClean="0"/>
          </a:p>
          <a:p>
            <a:r>
              <a:rPr lang="he-IL" dirty="0" smtClean="0"/>
              <a:t>4</a:t>
            </a:r>
            <a:r>
              <a:rPr lang="he-IL" dirty="0"/>
              <a:t>. אתגרים כוללים:</a:t>
            </a:r>
          </a:p>
          <a:p>
            <a:r>
              <a:rPr lang="he-IL" dirty="0"/>
              <a:t>גילוי המידע המוסתר על ידי ניתוח דחיסה.</a:t>
            </a:r>
          </a:p>
          <a:p>
            <a:r>
              <a:rPr lang="he-IL" dirty="0"/>
              <a:t>צורך בשמירה על איכות הווידאו מבלי שהשינויים ייראו.</a:t>
            </a:r>
          </a:p>
          <a:p>
            <a:r>
              <a:rPr lang="he-IL" dirty="0"/>
              <a:t>סיכון שסריקות אבטחה יזהו פעילות חריגה בתוך קבצים גדולים</a:t>
            </a:r>
            <a:r>
              <a:rPr lang="he-IL" dirty="0" smtClean="0"/>
              <a:t>.</a:t>
            </a:r>
          </a:p>
          <a:p>
            <a:r>
              <a:rPr lang="he-IL" dirty="0" smtClean="0"/>
              <a:t>5</a:t>
            </a:r>
            <a:r>
              <a:rPr lang="he-IL" dirty="0"/>
              <a:t>. ניתן להשתמש ברווחים מיותרים בסוף שורות הטקסט כדי להטמיע מידע בינארי (0 עבור היעדר רווח, 1 עבור רווח נוסף</a:t>
            </a:r>
            <a:r>
              <a:rPr lang="he-IL" dirty="0" smtClean="0"/>
              <a:t>).</a:t>
            </a:r>
          </a:p>
          <a:p>
            <a:r>
              <a:rPr lang="he-IL" dirty="0"/>
              <a:t>התהליך כולל כתיבת סקריפט שמנתח את הרווחים הללו ומשחזר את המידע המוסתר.</a:t>
            </a:r>
            <a:endParaRPr lang="he-IL" dirty="0" smtClean="0"/>
          </a:p>
          <a:p>
            <a:endParaRPr lang="he-IL" dirty="0"/>
          </a:p>
        </p:txBody>
      </p:sp>
    </p:spTree>
    <p:extLst>
      <p:ext uri="{BB962C8B-B14F-4D97-AF65-F5344CB8AC3E}">
        <p14:creationId xmlns:p14="http://schemas.microsoft.com/office/powerpoint/2010/main" val="54058411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1066800" y="2302626"/>
            <a:ext cx="10058400" cy="3931920"/>
          </a:xfrm>
        </p:spPr>
        <p:txBody>
          <a:bodyPr>
            <a:normAutofit/>
          </a:bodyPr>
          <a:lstStyle/>
          <a:p>
            <a:pPr algn="ctr"/>
            <a:r>
              <a:rPr lang="he-IL" sz="6000" dirty="0" smtClean="0"/>
              <a:t>האפלת מידע</a:t>
            </a:r>
            <a:endParaRPr lang="he-IL" sz="6000" dirty="0"/>
          </a:p>
        </p:txBody>
      </p:sp>
    </p:spTree>
    <p:extLst>
      <p:ext uri="{BB962C8B-B14F-4D97-AF65-F5344CB8AC3E}">
        <p14:creationId xmlns:p14="http://schemas.microsoft.com/office/powerpoint/2010/main" val="395971745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405744" y="642594"/>
            <a:ext cx="6719455" cy="1371600"/>
          </a:xfrm>
        </p:spPr>
        <p:txBody>
          <a:bodyPr>
            <a:normAutofit/>
          </a:bodyPr>
          <a:lstStyle/>
          <a:p>
            <a:r>
              <a:rPr lang="he-IL" dirty="0"/>
              <a:t>האפלת מידע </a:t>
            </a:r>
            <a:r>
              <a:rPr lang="he-IL" dirty="0" err="1" smtClean="0"/>
              <a:t>בסטגנוגרפיה</a:t>
            </a:r>
            <a:endParaRPr lang="he-IL" dirty="0"/>
          </a:p>
        </p:txBody>
      </p:sp>
      <p:sp>
        <p:nvSpPr>
          <p:cNvPr id="3" name="מציין מיקום תוכן 2"/>
          <p:cNvSpPr>
            <a:spLocks noGrp="1"/>
          </p:cNvSpPr>
          <p:nvPr>
            <p:ph idx="1"/>
          </p:nvPr>
        </p:nvSpPr>
        <p:spPr/>
        <p:txBody>
          <a:bodyPr/>
          <a:lstStyle/>
          <a:p>
            <a:r>
              <a:rPr lang="he-IL" dirty="0"/>
              <a:t>האפלת מידע היא טכניקה שבה אנו מסווים את המשמעות </a:t>
            </a:r>
            <a:r>
              <a:rPr lang="he-IL" dirty="0" err="1"/>
              <a:t>האמיתית</a:t>
            </a:r>
            <a:r>
              <a:rPr lang="he-IL" dirty="0"/>
              <a:t> של המידע או משנים את המבנה שלו כך שהוא ייראה כמידע לא רלוונטי, חסר ערך, או חסר משמעות, ובכך מקטינים את הסיכוי שמישהו יזהה את המידע או יבין אותו. זהו כלי נפוץ בעולם </a:t>
            </a:r>
            <a:r>
              <a:rPr lang="he-IL" dirty="0" err="1"/>
              <a:t>הסטגנוגרפיה</a:t>
            </a:r>
            <a:r>
              <a:rPr lang="he-IL" dirty="0"/>
              <a:t> </a:t>
            </a:r>
            <a:r>
              <a:rPr lang="he-IL" dirty="0" err="1"/>
              <a:t>והאבטחת</a:t>
            </a:r>
            <a:r>
              <a:rPr lang="he-IL" dirty="0"/>
              <a:t> מידע, והוא מאפשר להחביא מידע רגיש בצורה יצירתית.</a:t>
            </a:r>
          </a:p>
        </p:txBody>
      </p:sp>
    </p:spTree>
    <p:extLst>
      <p:ext uri="{BB962C8B-B14F-4D97-AF65-F5344CB8AC3E}">
        <p14:creationId xmlns:p14="http://schemas.microsoft.com/office/powerpoint/2010/main" val="366374034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668384" y="642594"/>
            <a:ext cx="8456815" cy="1371600"/>
          </a:xfrm>
        </p:spPr>
        <p:txBody>
          <a:bodyPr/>
          <a:lstStyle/>
          <a:p>
            <a:r>
              <a:rPr lang="he-IL" dirty="0"/>
              <a:t>עקרונות ההאפלה </a:t>
            </a:r>
            <a:r>
              <a:rPr lang="en-US" dirty="0" smtClean="0"/>
              <a:t>Obfuscation</a:t>
            </a:r>
            <a:endParaRPr lang="he-IL" dirty="0"/>
          </a:p>
        </p:txBody>
      </p:sp>
      <p:sp>
        <p:nvSpPr>
          <p:cNvPr id="3" name="מציין מיקום תוכן 2"/>
          <p:cNvSpPr>
            <a:spLocks noGrp="1"/>
          </p:cNvSpPr>
          <p:nvPr>
            <p:ph idx="1"/>
          </p:nvPr>
        </p:nvSpPr>
        <p:spPr/>
        <p:txBody>
          <a:bodyPr/>
          <a:lstStyle/>
          <a:p>
            <a:r>
              <a:rPr lang="he-IL" b="1" dirty="0" smtClean="0"/>
              <a:t>1. שינוי </a:t>
            </a:r>
            <a:r>
              <a:rPr lang="he-IL" b="1" dirty="0"/>
              <a:t>מבנה המידע:</a:t>
            </a:r>
            <a:r>
              <a:rPr lang="he-IL" dirty="0"/>
              <a:t> המידע הרגיש מקודד או מוצפן כך שהוא נראה חסר משמעות לעין בלתי מזוינת</a:t>
            </a:r>
            <a:r>
              <a:rPr lang="he-IL" dirty="0" smtClean="0"/>
              <a:t>.</a:t>
            </a:r>
            <a:endParaRPr lang="he-IL" dirty="0"/>
          </a:p>
          <a:p>
            <a:r>
              <a:rPr lang="he-IL" b="1" dirty="0" smtClean="0"/>
              <a:t>2. הסוואה </a:t>
            </a:r>
            <a:r>
              <a:rPr lang="he-IL" b="1" dirty="0"/>
              <a:t>במידע זמין:</a:t>
            </a:r>
            <a:r>
              <a:rPr lang="he-IL" dirty="0"/>
              <a:t> הטמעת המידע בתוך תוכן קיים, כגון קבצים, נתונים סטטיסטיים, או טקסטים נפוצים</a:t>
            </a:r>
            <a:r>
              <a:rPr lang="he-IL" dirty="0" smtClean="0"/>
              <a:t>.</a:t>
            </a:r>
            <a:endParaRPr lang="he-IL" dirty="0"/>
          </a:p>
          <a:p>
            <a:r>
              <a:rPr lang="he-IL" b="1" dirty="0" smtClean="0"/>
              <a:t>3. שימוש </a:t>
            </a:r>
            <a:r>
              <a:rPr lang="he-IL" b="1" dirty="0"/>
              <a:t>באלגוריתמים מתקדמים:</a:t>
            </a:r>
            <a:r>
              <a:rPr lang="he-IL" dirty="0"/>
              <a:t> לדוגמה, הצפנה או שינוי סדרי ביטים בצורה שמסתירה את המידע</a:t>
            </a:r>
            <a:r>
              <a:rPr lang="he-IL" dirty="0" smtClean="0"/>
              <a:t>.</a:t>
            </a:r>
          </a:p>
          <a:p>
            <a:r>
              <a:rPr lang="he-IL" sz="2400" b="1" dirty="0"/>
              <a:t>מטרות ההאפלה</a:t>
            </a:r>
            <a:r>
              <a:rPr lang="he-IL" sz="2400" b="1" dirty="0" smtClean="0"/>
              <a:t>:</a:t>
            </a:r>
          </a:p>
          <a:p>
            <a:r>
              <a:rPr lang="he-IL" dirty="0" smtClean="0"/>
              <a:t>1. </a:t>
            </a:r>
            <a:r>
              <a:rPr lang="he-IL" b="1" dirty="0"/>
              <a:t>הסוואת קיום המידע:</a:t>
            </a:r>
            <a:r>
              <a:rPr lang="he-IL" dirty="0"/>
              <a:t> כך שהגורם התוקף לא יחשוד בקיומו של מידע בעל ערך.</a:t>
            </a:r>
            <a:endParaRPr lang="he-IL" dirty="0" smtClean="0"/>
          </a:p>
          <a:p>
            <a:r>
              <a:rPr lang="he-IL" dirty="0" smtClean="0"/>
              <a:t>2. </a:t>
            </a:r>
            <a:r>
              <a:rPr lang="he-IL" b="1" dirty="0"/>
              <a:t>מניעת הבנה:</a:t>
            </a:r>
            <a:r>
              <a:rPr lang="he-IL" dirty="0"/>
              <a:t> גם אם המידע מתגלה, הוא לא יהיה קריא או שמיש.</a:t>
            </a:r>
            <a:endParaRPr lang="he-IL" dirty="0" smtClean="0"/>
          </a:p>
          <a:p>
            <a:r>
              <a:rPr lang="he-IL" dirty="0" smtClean="0"/>
              <a:t>3. </a:t>
            </a:r>
            <a:r>
              <a:rPr lang="he-IL" b="1" dirty="0"/>
              <a:t>הגנה על פרטיות:</a:t>
            </a:r>
            <a:r>
              <a:rPr lang="he-IL" dirty="0"/>
              <a:t> מניעת גישה למידע רגיש מבלי לסכן את שלמותו.</a:t>
            </a:r>
            <a:endParaRPr lang="he-IL" dirty="0" smtClean="0"/>
          </a:p>
          <a:p>
            <a:endParaRPr lang="he-IL" dirty="0"/>
          </a:p>
          <a:p>
            <a:endParaRPr lang="he-IL" dirty="0"/>
          </a:p>
        </p:txBody>
      </p:sp>
    </p:spTree>
    <p:extLst>
      <p:ext uri="{BB962C8B-B14F-4D97-AF65-F5344CB8AC3E}">
        <p14:creationId xmlns:p14="http://schemas.microsoft.com/office/powerpoint/2010/main" val="299678658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871258" y="642594"/>
            <a:ext cx="6253942" cy="1371600"/>
          </a:xfrm>
        </p:spPr>
        <p:txBody>
          <a:bodyPr/>
          <a:lstStyle/>
          <a:p>
            <a:r>
              <a:rPr lang="he-IL" dirty="0"/>
              <a:t>כיצד ניתן להאפיל מידע?</a:t>
            </a:r>
          </a:p>
        </p:txBody>
      </p:sp>
      <p:sp>
        <p:nvSpPr>
          <p:cNvPr id="3" name="מציין מיקום תוכן 2"/>
          <p:cNvSpPr>
            <a:spLocks noGrp="1"/>
          </p:cNvSpPr>
          <p:nvPr>
            <p:ph idx="1"/>
          </p:nvPr>
        </p:nvSpPr>
        <p:spPr/>
        <p:txBody>
          <a:bodyPr>
            <a:normAutofit/>
          </a:bodyPr>
          <a:lstStyle/>
          <a:p>
            <a:r>
              <a:rPr lang="he-IL" dirty="0"/>
              <a:t>דוגמאות לטכניקות אפלה</a:t>
            </a:r>
            <a:r>
              <a:rPr lang="he-IL" dirty="0" smtClean="0"/>
              <a:t>:</a:t>
            </a:r>
          </a:p>
          <a:p>
            <a:r>
              <a:rPr lang="he-IL" dirty="0" smtClean="0"/>
              <a:t>1. </a:t>
            </a:r>
            <a:r>
              <a:rPr lang="he-IL" b="1" dirty="0"/>
              <a:t>הסוואה בקובצי </a:t>
            </a:r>
            <a:r>
              <a:rPr lang="he-IL" b="1" dirty="0" smtClean="0"/>
              <a:t>טקסט:</a:t>
            </a:r>
            <a:r>
              <a:rPr lang="he-IL" dirty="0" smtClean="0"/>
              <a:t> כתיבת </a:t>
            </a:r>
            <a:r>
              <a:rPr lang="he-IL" dirty="0"/>
              <a:t>מידע בצורה של טקסט נורמלי, אך הסתרת המסר </a:t>
            </a:r>
            <a:r>
              <a:rPr lang="he-IL" dirty="0" err="1"/>
              <a:t>האמיתי</a:t>
            </a:r>
            <a:r>
              <a:rPr lang="he-IL" dirty="0"/>
              <a:t> באמצעות דילוגים, קודים, או החלפות.</a:t>
            </a:r>
          </a:p>
          <a:p>
            <a:r>
              <a:rPr lang="he-IL" b="1" dirty="0"/>
              <a:t>לדוגמה:</a:t>
            </a:r>
            <a:r>
              <a:rPr lang="he-IL" dirty="0"/>
              <a:t> המידע יכול להיות בקוד </a:t>
            </a:r>
            <a:r>
              <a:rPr lang="en-US" dirty="0" smtClean="0"/>
              <a:t> ASCII</a:t>
            </a:r>
            <a:r>
              <a:rPr lang="he-IL" dirty="0" smtClean="0"/>
              <a:t>שבו </a:t>
            </a:r>
            <a:r>
              <a:rPr lang="he-IL" dirty="0"/>
              <a:t>המסר מופיע רק באותיות ראשונות של כל שורה</a:t>
            </a:r>
            <a:r>
              <a:rPr lang="he-IL" dirty="0" smtClean="0"/>
              <a:t>.</a:t>
            </a:r>
          </a:p>
          <a:p>
            <a:r>
              <a:rPr lang="he-IL" dirty="0" smtClean="0"/>
              <a:t>2. </a:t>
            </a:r>
            <a:r>
              <a:rPr lang="he-IL" b="1" dirty="0"/>
              <a:t>שימוש בפורמטים דיגיטליים </a:t>
            </a:r>
            <a:r>
              <a:rPr lang="he-IL" b="1" dirty="0" smtClean="0"/>
              <a:t>כגון </a:t>
            </a:r>
            <a:r>
              <a:rPr lang="en-US" b="1" dirty="0" smtClean="0"/>
              <a:t> PDF</a:t>
            </a:r>
            <a:r>
              <a:rPr lang="he-IL" b="1" dirty="0" smtClean="0"/>
              <a:t>או </a:t>
            </a:r>
            <a:r>
              <a:rPr lang="en-US" b="1" dirty="0" smtClean="0"/>
              <a:t> :EXE</a:t>
            </a:r>
            <a:r>
              <a:rPr lang="he-IL" dirty="0" smtClean="0"/>
              <a:t>הטמעת </a:t>
            </a:r>
            <a:r>
              <a:rPr lang="he-IL" dirty="0"/>
              <a:t>המידע בשדות מטא-נתונים, תגים מוסתרים, או חלקי קוד שאינם בשימוש</a:t>
            </a:r>
            <a:r>
              <a:rPr lang="he-IL" dirty="0" smtClean="0"/>
              <a:t>.</a:t>
            </a:r>
          </a:p>
          <a:p>
            <a:r>
              <a:rPr lang="he-IL" dirty="0" smtClean="0"/>
              <a:t>3. </a:t>
            </a:r>
            <a:r>
              <a:rPr lang="he-IL" b="1" dirty="0"/>
              <a:t>שינוי סדרי ביטים </a:t>
            </a:r>
            <a:r>
              <a:rPr lang="en-US" b="1" dirty="0" smtClean="0"/>
              <a:t>LSB</a:t>
            </a:r>
            <a:r>
              <a:rPr lang="he-IL" b="1" dirty="0" smtClean="0"/>
              <a:t>:</a:t>
            </a:r>
            <a:endParaRPr lang="en-US" dirty="0"/>
          </a:p>
          <a:p>
            <a:r>
              <a:rPr lang="he-IL" dirty="0"/>
              <a:t>שינוי הביטים הפחות </a:t>
            </a:r>
            <a:r>
              <a:rPr lang="he-IL" dirty="0" smtClean="0"/>
              <a:t>משמעותיים</a:t>
            </a:r>
            <a:r>
              <a:rPr lang="en-US" dirty="0" smtClean="0"/>
              <a:t>LSB </a:t>
            </a:r>
            <a:r>
              <a:rPr lang="he-IL" dirty="0" smtClean="0"/>
              <a:t> של </a:t>
            </a:r>
            <a:r>
              <a:rPr lang="he-IL" dirty="0"/>
              <a:t>קובצי מדיה (תמונות, וידאו, או אודיו) כדי להחביא את המידע.</a:t>
            </a:r>
          </a:p>
          <a:p>
            <a:r>
              <a:rPr lang="he-IL" b="1" dirty="0"/>
              <a:t>לדוגמה:</a:t>
            </a:r>
            <a:r>
              <a:rPr lang="he-IL" dirty="0"/>
              <a:t> המרה של פיקסל </a:t>
            </a:r>
            <a:r>
              <a:rPr lang="en-US" dirty="0" smtClean="0"/>
              <a:t> RGB</a:t>
            </a:r>
            <a:r>
              <a:rPr lang="he-IL" dirty="0" smtClean="0"/>
              <a:t>כך </a:t>
            </a:r>
            <a:r>
              <a:rPr lang="he-IL" dirty="0"/>
              <a:t>שיכלול את המידע</a:t>
            </a:r>
            <a:r>
              <a:rPr lang="he-IL" dirty="0" smtClean="0"/>
              <a:t>.</a:t>
            </a:r>
          </a:p>
          <a:p>
            <a:r>
              <a:rPr lang="he-IL" dirty="0" smtClean="0"/>
              <a:t>4. </a:t>
            </a:r>
            <a:r>
              <a:rPr lang="he-IL" b="1" dirty="0"/>
              <a:t>הטמעה בקבצים </a:t>
            </a:r>
            <a:r>
              <a:rPr lang="he-IL" b="1" dirty="0" smtClean="0"/>
              <a:t>בינאריים:</a:t>
            </a:r>
            <a:r>
              <a:rPr lang="he-IL" dirty="0" smtClean="0"/>
              <a:t> ניצול </a:t>
            </a:r>
            <a:r>
              <a:rPr lang="he-IL" dirty="0"/>
              <a:t>אזורים "לא פעילים" או אזורי </a:t>
            </a:r>
            <a:r>
              <a:rPr lang="en-US" dirty="0" smtClean="0"/>
              <a:t> Padding</a:t>
            </a:r>
            <a:r>
              <a:rPr lang="he-IL" dirty="0" smtClean="0"/>
              <a:t>בקובץ </a:t>
            </a:r>
            <a:r>
              <a:rPr lang="he-IL" dirty="0"/>
              <a:t>בינארי להטמעת מידע.</a:t>
            </a:r>
          </a:p>
          <a:p>
            <a:endParaRPr lang="he-IL" dirty="0" smtClean="0"/>
          </a:p>
          <a:p>
            <a:endParaRPr lang="he-IL" dirty="0" smtClean="0"/>
          </a:p>
          <a:p>
            <a:endParaRPr lang="he-IL" dirty="0"/>
          </a:p>
        </p:txBody>
      </p:sp>
    </p:spTree>
    <p:extLst>
      <p:ext uri="{BB962C8B-B14F-4D97-AF65-F5344CB8AC3E}">
        <p14:creationId xmlns:p14="http://schemas.microsoft.com/office/powerpoint/2010/main" val="302243227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522124" y="318398"/>
            <a:ext cx="6603076" cy="1371600"/>
          </a:xfrm>
        </p:spPr>
        <p:txBody>
          <a:bodyPr/>
          <a:lstStyle/>
          <a:p>
            <a:r>
              <a:rPr lang="he-IL" dirty="0"/>
              <a:t>סוגים מרכזיים של האפלה</a:t>
            </a:r>
          </a:p>
        </p:txBody>
      </p:sp>
      <p:sp>
        <p:nvSpPr>
          <p:cNvPr id="3" name="מציין מיקום תוכן 2"/>
          <p:cNvSpPr>
            <a:spLocks noGrp="1"/>
          </p:cNvSpPr>
          <p:nvPr>
            <p:ph idx="1"/>
          </p:nvPr>
        </p:nvSpPr>
        <p:spPr>
          <a:xfrm>
            <a:off x="1066800" y="1620982"/>
            <a:ext cx="10058400" cy="5029200"/>
          </a:xfrm>
        </p:spPr>
        <p:txBody>
          <a:bodyPr>
            <a:normAutofit/>
          </a:bodyPr>
          <a:lstStyle/>
          <a:p>
            <a:r>
              <a:rPr lang="he-IL" b="1" dirty="0"/>
              <a:t>א. האפלת תוכן </a:t>
            </a:r>
            <a:r>
              <a:rPr lang="en-US" b="1" dirty="0" smtClean="0"/>
              <a:t>Content Obfuscation</a:t>
            </a:r>
            <a:r>
              <a:rPr lang="he-IL" b="1" dirty="0" smtClean="0"/>
              <a:t>:</a:t>
            </a:r>
            <a:endParaRPr lang="en-US" b="1" dirty="0"/>
          </a:p>
          <a:p>
            <a:r>
              <a:rPr lang="he-IL" dirty="0"/>
              <a:t>שינוי המידע עצמו כך שהוא ייראה חסר </a:t>
            </a:r>
            <a:r>
              <a:rPr lang="he-IL" dirty="0" smtClean="0"/>
              <a:t>משמעות:</a:t>
            </a:r>
          </a:p>
          <a:p>
            <a:r>
              <a:rPr lang="he-IL" b="1" dirty="0" smtClean="0"/>
              <a:t>דוגמה</a:t>
            </a:r>
            <a:r>
              <a:rPr lang="he-IL" b="1" dirty="0"/>
              <a:t>:</a:t>
            </a:r>
            <a:r>
              <a:rPr lang="he-IL" dirty="0"/>
              <a:t> הצפנה בסיסית, שבה כל אות מוחלפת בערך מספרי, או בשיטות </a:t>
            </a:r>
            <a:r>
              <a:rPr lang="he-IL" dirty="0" smtClean="0"/>
              <a:t>כמו</a:t>
            </a:r>
            <a:r>
              <a:rPr lang="en-US" dirty="0" smtClean="0"/>
              <a:t> Caesar </a:t>
            </a:r>
            <a:r>
              <a:rPr lang="en-US" dirty="0"/>
              <a:t>Cipher </a:t>
            </a:r>
            <a:r>
              <a:rPr lang="he-IL" dirty="0"/>
              <a:t>או </a:t>
            </a:r>
            <a:r>
              <a:rPr lang="en-US" dirty="0" smtClean="0"/>
              <a:t>Base64</a:t>
            </a:r>
          </a:p>
          <a:p>
            <a:r>
              <a:rPr lang="he-IL" b="1" dirty="0"/>
              <a:t>שימושים נפוצים:</a:t>
            </a:r>
            <a:r>
              <a:rPr lang="he-IL" dirty="0"/>
              <a:t> הטמעת מסרים בשדות נתונים או שדות </a:t>
            </a:r>
            <a:r>
              <a:rPr lang="he-IL" dirty="0" smtClean="0"/>
              <a:t>מטא-נתונים.</a:t>
            </a:r>
          </a:p>
          <a:p>
            <a:r>
              <a:rPr lang="he-IL" b="1" dirty="0"/>
              <a:t>ב. האפלת מבנה </a:t>
            </a:r>
            <a:r>
              <a:rPr lang="en-US" b="1" dirty="0" smtClean="0"/>
              <a:t>Structural Obfuscation</a:t>
            </a:r>
            <a:endParaRPr lang="en-US" b="1" dirty="0"/>
          </a:p>
          <a:p>
            <a:r>
              <a:rPr lang="he-IL" dirty="0"/>
              <a:t>שינוי המבנה הפיזי או הלוגי שבו המידע מאורגן, מבלי לשנות את </a:t>
            </a:r>
            <a:r>
              <a:rPr lang="he-IL" dirty="0" smtClean="0"/>
              <a:t>תוכנו:</a:t>
            </a:r>
          </a:p>
          <a:p>
            <a:r>
              <a:rPr lang="he-IL" b="1" dirty="0" smtClean="0"/>
              <a:t>דוגמה</a:t>
            </a:r>
            <a:r>
              <a:rPr lang="he-IL" b="1" dirty="0"/>
              <a:t>:</a:t>
            </a:r>
            <a:r>
              <a:rPr lang="he-IL" dirty="0"/>
              <a:t> הטמעת המידע במיקומים בלתי צפויים בקובץ, כמו </a:t>
            </a:r>
            <a:r>
              <a:rPr lang="he-IL" dirty="0" smtClean="0"/>
              <a:t>אזורי</a:t>
            </a:r>
            <a:r>
              <a:rPr lang="en-US" dirty="0" smtClean="0"/>
              <a:t> Padding </a:t>
            </a:r>
            <a:r>
              <a:rPr lang="he-IL" dirty="0"/>
              <a:t>בקובץ בינארי או בתגים מוסתרים </a:t>
            </a:r>
            <a:r>
              <a:rPr lang="he-IL" dirty="0" smtClean="0"/>
              <a:t>בקובצי </a:t>
            </a:r>
            <a:r>
              <a:rPr lang="en-US" dirty="0" smtClean="0"/>
              <a:t> HTML</a:t>
            </a:r>
            <a:r>
              <a:rPr lang="he-IL" dirty="0" smtClean="0"/>
              <a:t> או </a:t>
            </a:r>
            <a:r>
              <a:rPr lang="en-US" dirty="0" smtClean="0"/>
              <a:t>XML</a:t>
            </a:r>
          </a:p>
          <a:p>
            <a:r>
              <a:rPr lang="he-IL" b="1" dirty="0" smtClean="0"/>
              <a:t>שימושים נפוצים:</a:t>
            </a:r>
            <a:r>
              <a:rPr lang="he-IL" dirty="0" smtClean="0"/>
              <a:t> הסתרת מידע באזורים לא גלויים בקבצי </a:t>
            </a:r>
            <a:r>
              <a:rPr lang="en-US" dirty="0" smtClean="0"/>
              <a:t>PDF</a:t>
            </a:r>
            <a:r>
              <a:rPr lang="he-IL" dirty="0" smtClean="0"/>
              <a:t> או ביצוע שינויים בקוד התכנות של תוכנה.</a:t>
            </a:r>
          </a:p>
          <a:p>
            <a:r>
              <a:rPr lang="he-IL" b="1" dirty="0"/>
              <a:t>ג. האפלת תפקוד </a:t>
            </a:r>
            <a:r>
              <a:rPr lang="en-US" b="1" dirty="0" smtClean="0"/>
              <a:t>Functional Obfuscation</a:t>
            </a:r>
            <a:r>
              <a:rPr lang="he-IL" b="1" dirty="0" smtClean="0"/>
              <a:t>:</a:t>
            </a:r>
            <a:endParaRPr lang="en-US" b="1" dirty="0"/>
          </a:p>
          <a:p>
            <a:r>
              <a:rPr lang="he-IL" dirty="0"/>
              <a:t>שינוי התנהגות המערכת כך שמידע מוסתר יפעל רק בתנאים </a:t>
            </a:r>
            <a:r>
              <a:rPr lang="he-IL" dirty="0" smtClean="0"/>
              <a:t>מסוימים.</a:t>
            </a:r>
          </a:p>
          <a:p>
            <a:r>
              <a:rPr lang="he-IL" b="1" dirty="0" smtClean="0"/>
              <a:t>דוגמה</a:t>
            </a:r>
            <a:r>
              <a:rPr lang="he-IL" b="1" dirty="0"/>
              <a:t>:</a:t>
            </a:r>
            <a:r>
              <a:rPr lang="he-IL" dirty="0"/>
              <a:t> יצירת פונקציות בקוד שיפעלו רק אם הוזן פרמטר </a:t>
            </a:r>
            <a:r>
              <a:rPr lang="he-IL" dirty="0" smtClean="0"/>
              <a:t>סודי.</a:t>
            </a:r>
          </a:p>
          <a:p>
            <a:r>
              <a:rPr lang="he-IL" b="1" dirty="0" smtClean="0"/>
              <a:t>שימושים </a:t>
            </a:r>
            <a:r>
              <a:rPr lang="he-IL" b="1" dirty="0"/>
              <a:t>נפוצים:</a:t>
            </a:r>
            <a:r>
              <a:rPr lang="he-IL" dirty="0"/>
              <a:t> קובצי </a:t>
            </a:r>
            <a:r>
              <a:rPr lang="en-US" dirty="0" smtClean="0"/>
              <a:t> EXE</a:t>
            </a:r>
            <a:r>
              <a:rPr lang="he-IL" dirty="0" smtClean="0"/>
              <a:t>שנטענים </a:t>
            </a:r>
            <a:r>
              <a:rPr lang="he-IL" dirty="0"/>
              <a:t>בתנאים ספציפיים בלבד.</a:t>
            </a:r>
          </a:p>
          <a:p>
            <a:endParaRPr lang="he-IL" dirty="0" smtClean="0"/>
          </a:p>
          <a:p>
            <a:endParaRPr lang="he-IL" dirty="0"/>
          </a:p>
          <a:p>
            <a:endParaRPr lang="en-US" dirty="0" smtClean="0"/>
          </a:p>
          <a:p>
            <a:endParaRPr lang="en-US" dirty="0"/>
          </a:p>
          <a:p>
            <a:endParaRPr lang="he-IL" dirty="0"/>
          </a:p>
        </p:txBody>
      </p:sp>
    </p:spTree>
    <p:extLst>
      <p:ext uri="{BB962C8B-B14F-4D97-AF65-F5344CB8AC3E}">
        <p14:creationId xmlns:p14="http://schemas.microsoft.com/office/powerpoint/2010/main" val="98525215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660072" y="642594"/>
            <a:ext cx="8465127" cy="1371600"/>
          </a:xfrm>
        </p:spPr>
        <p:txBody>
          <a:bodyPr/>
          <a:lstStyle/>
          <a:p>
            <a:r>
              <a:rPr lang="he-IL" dirty="0"/>
              <a:t>טכניקות מתקדמות להאפלת מידע</a:t>
            </a:r>
          </a:p>
        </p:txBody>
      </p:sp>
      <p:sp>
        <p:nvSpPr>
          <p:cNvPr id="3" name="מציין מיקום תוכן 2"/>
          <p:cNvSpPr>
            <a:spLocks noGrp="1"/>
          </p:cNvSpPr>
          <p:nvPr>
            <p:ph idx="1"/>
          </p:nvPr>
        </p:nvSpPr>
        <p:spPr/>
        <p:txBody>
          <a:bodyPr/>
          <a:lstStyle/>
          <a:p>
            <a:r>
              <a:rPr lang="he-IL" sz="2400" b="1" dirty="0"/>
              <a:t>א. שיטות אפלה פשוטות</a:t>
            </a:r>
            <a:r>
              <a:rPr lang="he-IL" sz="2400" b="1" dirty="0" smtClean="0"/>
              <a:t>:</a:t>
            </a:r>
          </a:p>
          <a:p>
            <a:endParaRPr lang="he-IL" sz="2400" b="1" dirty="0"/>
          </a:p>
          <a:p>
            <a:r>
              <a:rPr lang="he-IL" b="1" dirty="0" smtClean="0"/>
              <a:t>1. שימוש </a:t>
            </a:r>
            <a:r>
              <a:rPr lang="he-IL" b="1" dirty="0"/>
              <a:t>בשיטות הצפנה קלות:</a:t>
            </a:r>
            <a:r>
              <a:rPr lang="he-IL" dirty="0"/>
              <a:t> הצפנה בעזרת </a:t>
            </a:r>
            <a:r>
              <a:rPr lang="en-US" dirty="0" smtClean="0"/>
              <a:t> XOR ,Base64</a:t>
            </a:r>
            <a:r>
              <a:rPr lang="en-US" dirty="0"/>
              <a:t>, </a:t>
            </a:r>
            <a:r>
              <a:rPr lang="he-IL" dirty="0"/>
              <a:t>או שינוי ערכי </a:t>
            </a:r>
            <a:r>
              <a:rPr lang="en-US" dirty="0" smtClean="0"/>
              <a:t>ASCII</a:t>
            </a:r>
            <a:r>
              <a:rPr lang="he-IL" dirty="0" smtClean="0"/>
              <a:t>.</a:t>
            </a:r>
            <a:endParaRPr lang="en-US" dirty="0"/>
          </a:p>
          <a:p>
            <a:r>
              <a:rPr lang="he-IL" b="1" dirty="0" smtClean="0"/>
              <a:t>2. שינוי </a:t>
            </a:r>
            <a:r>
              <a:rPr lang="he-IL" b="1" dirty="0"/>
              <a:t>ריווח </a:t>
            </a:r>
            <a:r>
              <a:rPr lang="en-US" b="1" dirty="0" smtClean="0"/>
              <a:t>Whitespace</a:t>
            </a:r>
            <a:r>
              <a:rPr lang="he-IL" b="1" dirty="0" smtClean="0"/>
              <a:t>: </a:t>
            </a:r>
            <a:r>
              <a:rPr lang="he-IL" dirty="0" smtClean="0"/>
              <a:t>הוספת </a:t>
            </a:r>
            <a:r>
              <a:rPr lang="he-IL" dirty="0"/>
              <a:t>רווחים, </a:t>
            </a:r>
            <a:r>
              <a:rPr lang="he-IL" dirty="0" err="1"/>
              <a:t>טאבים</a:t>
            </a:r>
            <a:r>
              <a:rPr lang="he-IL" dirty="0"/>
              <a:t> או שורות ריקות עם משמעות נסתרת.</a:t>
            </a:r>
          </a:p>
          <a:p>
            <a:r>
              <a:rPr lang="he-IL" b="1" dirty="0" smtClean="0"/>
              <a:t>3. החלפת </a:t>
            </a:r>
            <a:r>
              <a:rPr lang="he-IL" b="1" dirty="0"/>
              <a:t>תווים </a:t>
            </a:r>
            <a:r>
              <a:rPr lang="en-US" b="1" dirty="0" smtClean="0"/>
              <a:t>Character Substitution</a:t>
            </a:r>
            <a:r>
              <a:rPr lang="he-IL" b="1" dirty="0" smtClean="0"/>
              <a:t>:</a:t>
            </a:r>
            <a:r>
              <a:rPr lang="he-IL" dirty="0" smtClean="0"/>
              <a:t> החלפת </a:t>
            </a:r>
            <a:r>
              <a:rPr lang="he-IL" dirty="0"/>
              <a:t>תווים בטקסט באותיות או סמלים דומים </a:t>
            </a:r>
            <a:r>
              <a:rPr lang="he-IL" dirty="0" smtClean="0"/>
              <a:t>(כמו       </a:t>
            </a:r>
            <a:r>
              <a:rPr lang="en-US" dirty="0" smtClean="0"/>
              <a:t>O</a:t>
            </a:r>
            <a:r>
              <a:rPr lang="en-US" dirty="0"/>
              <a:t>" → "0", "l" → "1</a:t>
            </a:r>
            <a:r>
              <a:rPr lang="en-US" dirty="0" smtClean="0"/>
              <a:t>"</a:t>
            </a:r>
            <a:r>
              <a:rPr lang="he-IL" dirty="0" smtClean="0"/>
              <a:t>")</a:t>
            </a:r>
          </a:p>
          <a:p>
            <a:endParaRPr lang="he-IL" dirty="0"/>
          </a:p>
          <a:p>
            <a:endParaRPr lang="en-US" dirty="0"/>
          </a:p>
          <a:p>
            <a:endParaRPr lang="he-IL" dirty="0"/>
          </a:p>
        </p:txBody>
      </p:sp>
    </p:spTree>
    <p:extLst>
      <p:ext uri="{BB962C8B-B14F-4D97-AF65-F5344CB8AC3E}">
        <p14:creationId xmlns:p14="http://schemas.microsoft.com/office/powerpoint/2010/main" val="356509375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778924" y="210332"/>
            <a:ext cx="9346276" cy="1371600"/>
          </a:xfrm>
        </p:spPr>
        <p:txBody>
          <a:bodyPr>
            <a:normAutofit fontScale="90000"/>
          </a:bodyPr>
          <a:lstStyle/>
          <a:p>
            <a:r>
              <a:rPr lang="he-IL" dirty="0" smtClean="0"/>
              <a:t>המשך - </a:t>
            </a:r>
            <a:r>
              <a:rPr lang="he-IL" dirty="0"/>
              <a:t>טכניקות מתקדמות להאפלת מידע</a:t>
            </a:r>
          </a:p>
        </p:txBody>
      </p:sp>
      <p:sp>
        <p:nvSpPr>
          <p:cNvPr id="3" name="מציין מיקום תוכן 2"/>
          <p:cNvSpPr>
            <a:spLocks noGrp="1"/>
          </p:cNvSpPr>
          <p:nvPr>
            <p:ph idx="1"/>
          </p:nvPr>
        </p:nvSpPr>
        <p:spPr>
          <a:xfrm>
            <a:off x="1066800" y="1487978"/>
            <a:ext cx="10058400" cy="5004262"/>
          </a:xfrm>
        </p:spPr>
        <p:txBody>
          <a:bodyPr>
            <a:normAutofit fontScale="92500" lnSpcReduction="10000"/>
          </a:bodyPr>
          <a:lstStyle/>
          <a:p>
            <a:r>
              <a:rPr lang="he-IL" sz="3100" b="1" dirty="0"/>
              <a:t>ב. שיטות אפלה מורכבות:</a:t>
            </a:r>
          </a:p>
          <a:p>
            <a:r>
              <a:rPr lang="he-IL" b="1" dirty="0"/>
              <a:t>1. הטמעה במדיה דיגיטלית:</a:t>
            </a:r>
            <a:endParaRPr lang="he-IL" dirty="0"/>
          </a:p>
          <a:p>
            <a:r>
              <a:rPr lang="he-IL" dirty="0"/>
              <a:t>בקובצי תמונה: שינוי פיקסלים פחות משמעותיים </a:t>
            </a:r>
            <a:r>
              <a:rPr lang="en-US" dirty="0"/>
              <a:t>LSB</a:t>
            </a:r>
          </a:p>
          <a:p>
            <a:r>
              <a:rPr lang="he-IL" dirty="0"/>
              <a:t>בקובצי אודיו: הוספת מידע בתדרים שאינם נשמעים לאוזן האנושית.</a:t>
            </a:r>
          </a:p>
          <a:p>
            <a:r>
              <a:rPr lang="he-IL" dirty="0"/>
              <a:t>בקובצי וידאו: שימוש בשינויים עדינים </a:t>
            </a:r>
            <a:r>
              <a:rPr lang="he-IL" dirty="0" err="1"/>
              <a:t>בפריימים</a:t>
            </a:r>
            <a:r>
              <a:rPr lang="he-IL" dirty="0"/>
              <a:t> בודדים</a:t>
            </a:r>
            <a:r>
              <a:rPr lang="he-IL" dirty="0" smtClean="0"/>
              <a:t>.</a:t>
            </a:r>
          </a:p>
          <a:p>
            <a:r>
              <a:rPr lang="he-IL" b="1" dirty="0" smtClean="0"/>
              <a:t>2. שימוש </a:t>
            </a:r>
            <a:r>
              <a:rPr lang="he-IL" b="1" dirty="0"/>
              <a:t>בשכבות מידע מוסתרות:</a:t>
            </a:r>
            <a:endParaRPr lang="he-IL" dirty="0"/>
          </a:p>
          <a:p>
            <a:r>
              <a:rPr lang="he-IL" dirty="0" smtClean="0"/>
              <a:t>בקובצי</a:t>
            </a:r>
            <a:r>
              <a:rPr lang="en-US" dirty="0" smtClean="0"/>
              <a:t>PDF </a:t>
            </a:r>
            <a:r>
              <a:rPr lang="he-IL" dirty="0" smtClean="0"/>
              <a:t>:</a:t>
            </a:r>
            <a:r>
              <a:rPr lang="en-US" dirty="0" smtClean="0"/>
              <a:t> </a:t>
            </a:r>
            <a:r>
              <a:rPr lang="he-IL" dirty="0"/>
              <a:t>הוספת מידע בשכבות בלתי נראות או בתגים מוסתרים.</a:t>
            </a:r>
          </a:p>
          <a:p>
            <a:r>
              <a:rPr lang="he-IL" dirty="0" smtClean="0"/>
              <a:t>בקובצי</a:t>
            </a:r>
            <a:r>
              <a:rPr lang="en-US" dirty="0" smtClean="0"/>
              <a:t>Word </a:t>
            </a:r>
            <a:r>
              <a:rPr lang="he-IL" dirty="0" smtClean="0"/>
              <a:t>:</a:t>
            </a:r>
            <a:r>
              <a:rPr lang="en-US" dirty="0" smtClean="0"/>
              <a:t> </a:t>
            </a:r>
            <a:r>
              <a:rPr lang="he-IL" dirty="0"/>
              <a:t>שימוש בגרסאות קודמות של המסמך </a:t>
            </a:r>
            <a:r>
              <a:rPr lang="en-US" dirty="0" smtClean="0"/>
              <a:t>Revision History</a:t>
            </a:r>
            <a:endParaRPr lang="en-US" dirty="0"/>
          </a:p>
          <a:p>
            <a:r>
              <a:rPr lang="he-IL" b="1" dirty="0" smtClean="0"/>
              <a:t>3. קידוד </a:t>
            </a:r>
            <a:r>
              <a:rPr lang="he-IL" b="1" dirty="0"/>
              <a:t>נתונים בצורה דינמית:</a:t>
            </a:r>
            <a:endParaRPr lang="he-IL" dirty="0"/>
          </a:p>
          <a:p>
            <a:r>
              <a:rPr lang="he-IL" dirty="0"/>
              <a:t>המידע משתנה בהתאם למפתח סודי או למצב דינמי כלשהו</a:t>
            </a:r>
            <a:r>
              <a:rPr lang="he-IL" dirty="0" smtClean="0"/>
              <a:t>.</a:t>
            </a:r>
          </a:p>
          <a:p>
            <a:r>
              <a:rPr lang="he-IL" sz="2800" b="1" dirty="0"/>
              <a:t>ג. טכניקות התקדמות בהנדסה לאחור:</a:t>
            </a:r>
          </a:p>
          <a:p>
            <a:r>
              <a:rPr lang="he-IL" b="1" dirty="0"/>
              <a:t>שינוי סדר פעולות בקוד:</a:t>
            </a:r>
            <a:r>
              <a:rPr lang="he-IL" dirty="0"/>
              <a:t> הסתרת לוגיקה מרכזית של קוד על ידי שינוי סדר הפעולות.</a:t>
            </a:r>
          </a:p>
          <a:p>
            <a:r>
              <a:rPr lang="he-IL" b="1" dirty="0"/>
              <a:t>השמטת חלקי קוד פעילים:</a:t>
            </a:r>
            <a:r>
              <a:rPr lang="he-IL" dirty="0"/>
              <a:t> החבאת קוד בקטעים שאינם נגישים ישירות.</a:t>
            </a:r>
          </a:p>
          <a:p>
            <a:endParaRPr lang="he-IL" dirty="0"/>
          </a:p>
          <a:p>
            <a:endParaRPr lang="he-IL" dirty="0"/>
          </a:p>
          <a:p>
            <a:endParaRPr lang="he-IL" dirty="0"/>
          </a:p>
        </p:txBody>
      </p:sp>
    </p:spTree>
    <p:extLst>
      <p:ext uri="{BB962C8B-B14F-4D97-AF65-F5344CB8AC3E}">
        <p14:creationId xmlns:p14="http://schemas.microsoft.com/office/powerpoint/2010/main" val="89346080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890356" y="642594"/>
            <a:ext cx="7234844" cy="1371600"/>
          </a:xfrm>
        </p:spPr>
        <p:txBody>
          <a:bodyPr/>
          <a:lstStyle/>
          <a:p>
            <a:r>
              <a:rPr lang="he-IL" dirty="0"/>
              <a:t>יתרונות וחסרונות של האפלה</a:t>
            </a:r>
          </a:p>
        </p:txBody>
      </p:sp>
      <p:sp>
        <p:nvSpPr>
          <p:cNvPr id="3" name="מציין מיקום תוכן 2"/>
          <p:cNvSpPr>
            <a:spLocks noGrp="1"/>
          </p:cNvSpPr>
          <p:nvPr>
            <p:ph idx="1"/>
          </p:nvPr>
        </p:nvSpPr>
        <p:spPr/>
        <p:txBody>
          <a:bodyPr>
            <a:normAutofit/>
          </a:bodyPr>
          <a:lstStyle/>
          <a:p>
            <a:r>
              <a:rPr lang="he-IL" sz="2400" dirty="0" smtClean="0"/>
              <a:t>יתרונות:</a:t>
            </a:r>
          </a:p>
          <a:p>
            <a:r>
              <a:rPr lang="he-IL" dirty="0" smtClean="0"/>
              <a:t>1. </a:t>
            </a:r>
            <a:r>
              <a:rPr lang="he-IL" b="1" dirty="0"/>
              <a:t>הגנה על המידע:</a:t>
            </a:r>
            <a:r>
              <a:rPr lang="he-IL" dirty="0"/>
              <a:t> מונעת הבנה או גישה למידע רגיש.</a:t>
            </a:r>
            <a:endParaRPr lang="he-IL" dirty="0" smtClean="0"/>
          </a:p>
          <a:p>
            <a:r>
              <a:rPr lang="he-IL" dirty="0" smtClean="0"/>
              <a:t>2. </a:t>
            </a:r>
            <a:r>
              <a:rPr lang="he-IL" b="1" dirty="0"/>
              <a:t>הסתרה פשוטה:</a:t>
            </a:r>
            <a:r>
              <a:rPr lang="he-IL" dirty="0"/>
              <a:t> מתבצעת לעיתים ללא צורך בשינויים גדולים בקובץ.</a:t>
            </a:r>
            <a:endParaRPr lang="he-IL" dirty="0" smtClean="0"/>
          </a:p>
          <a:p>
            <a:r>
              <a:rPr lang="he-IL" dirty="0" smtClean="0"/>
              <a:t>3. </a:t>
            </a:r>
            <a:r>
              <a:rPr lang="he-IL" b="1" dirty="0"/>
              <a:t>עמידות בפני ניתוחים פשוטים:</a:t>
            </a:r>
            <a:r>
              <a:rPr lang="he-IL" dirty="0"/>
              <a:t> קשה לזהות מידע מוסתר ללא כלים מתקדמים</a:t>
            </a:r>
            <a:r>
              <a:rPr lang="he-IL" dirty="0" smtClean="0"/>
              <a:t>.</a:t>
            </a:r>
          </a:p>
          <a:p>
            <a:endParaRPr lang="he-IL" dirty="0"/>
          </a:p>
          <a:p>
            <a:r>
              <a:rPr lang="he-IL" sz="2400" dirty="0" smtClean="0"/>
              <a:t>חסרונות:</a:t>
            </a:r>
          </a:p>
          <a:p>
            <a:r>
              <a:rPr lang="he-IL" dirty="0" smtClean="0"/>
              <a:t>1. </a:t>
            </a:r>
            <a:r>
              <a:rPr lang="he-IL" b="1" dirty="0" smtClean="0"/>
              <a:t>עמידות </a:t>
            </a:r>
            <a:r>
              <a:rPr lang="he-IL" b="1" dirty="0"/>
              <a:t>נמוכה מול </a:t>
            </a:r>
            <a:r>
              <a:rPr lang="he-IL" b="1" dirty="0" err="1"/>
              <a:t>פורנזיקה</a:t>
            </a:r>
            <a:r>
              <a:rPr lang="he-IL" b="1" dirty="0"/>
              <a:t> מתקדמת:</a:t>
            </a:r>
            <a:r>
              <a:rPr lang="he-IL" dirty="0"/>
              <a:t> כלים מתקדמים יכולים לחשוף את ההסתרה</a:t>
            </a:r>
            <a:r>
              <a:rPr lang="he-IL" dirty="0" smtClean="0"/>
              <a:t>.</a:t>
            </a:r>
          </a:p>
          <a:p>
            <a:r>
              <a:rPr lang="he-IL" dirty="0" smtClean="0"/>
              <a:t>2. </a:t>
            </a:r>
            <a:r>
              <a:rPr lang="he-IL" b="1" dirty="0"/>
              <a:t>רגישות לשינויים בקובץ:</a:t>
            </a:r>
            <a:r>
              <a:rPr lang="he-IL" dirty="0"/>
              <a:t> שינוי קל בקובץ (כמו דחיסה או עריכה) עלול לפגוע במידע המוסתר</a:t>
            </a:r>
            <a:endParaRPr lang="he-IL" dirty="0" smtClean="0"/>
          </a:p>
          <a:p>
            <a:r>
              <a:rPr lang="he-IL" dirty="0" smtClean="0"/>
              <a:t>3. </a:t>
            </a:r>
            <a:r>
              <a:rPr lang="he-IL" b="1" dirty="0"/>
              <a:t>בולטות </a:t>
            </a:r>
            <a:r>
              <a:rPr lang="he-IL" b="1" dirty="0" err="1"/>
              <a:t>בהצפנות</a:t>
            </a:r>
            <a:r>
              <a:rPr lang="he-IL" b="1" dirty="0"/>
              <a:t> לא סטנדרטיות:</a:t>
            </a:r>
            <a:r>
              <a:rPr lang="he-IL" dirty="0"/>
              <a:t> שימוש בשיטות לא מוכרות יכול לעורר חשד.</a:t>
            </a:r>
            <a:endParaRPr lang="he-IL" dirty="0" smtClean="0"/>
          </a:p>
          <a:p>
            <a:endParaRPr lang="he-IL" dirty="0" smtClean="0"/>
          </a:p>
          <a:p>
            <a:endParaRPr lang="he-IL" dirty="0"/>
          </a:p>
        </p:txBody>
      </p:sp>
    </p:spTree>
    <p:extLst>
      <p:ext uri="{BB962C8B-B14F-4D97-AF65-F5344CB8AC3E}">
        <p14:creationId xmlns:p14="http://schemas.microsoft.com/office/powerpoint/2010/main" val="364306833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479664" y="642594"/>
            <a:ext cx="9645535" cy="1371600"/>
          </a:xfrm>
        </p:spPr>
        <p:txBody>
          <a:bodyPr/>
          <a:lstStyle/>
          <a:p>
            <a:r>
              <a:rPr lang="he-IL" dirty="0"/>
              <a:t>דוגמאות מעשיות להאפלה בקובצי </a:t>
            </a:r>
            <a:r>
              <a:rPr lang="en-US" dirty="0"/>
              <a:t>PDF</a:t>
            </a:r>
            <a:endParaRPr lang="he-IL" dirty="0"/>
          </a:p>
        </p:txBody>
      </p:sp>
      <p:sp>
        <p:nvSpPr>
          <p:cNvPr id="3" name="מציין מיקום תוכן 2"/>
          <p:cNvSpPr>
            <a:spLocks noGrp="1"/>
          </p:cNvSpPr>
          <p:nvPr>
            <p:ph idx="1"/>
          </p:nvPr>
        </p:nvSpPr>
        <p:spPr/>
        <p:txBody>
          <a:bodyPr/>
          <a:lstStyle/>
          <a:p>
            <a:r>
              <a:rPr lang="he-IL" b="1" dirty="0"/>
              <a:t>שימוש במטא-נתונים:</a:t>
            </a:r>
          </a:p>
          <a:p>
            <a:r>
              <a:rPr lang="he-IL" dirty="0"/>
              <a:t>מידע מוסתר בשדות </a:t>
            </a:r>
            <a:r>
              <a:rPr lang="he-IL" dirty="0" smtClean="0"/>
              <a:t>כמו </a:t>
            </a:r>
            <a:r>
              <a:rPr lang="en-US" dirty="0"/>
              <a:t>/</a:t>
            </a:r>
            <a:r>
              <a:rPr lang="en-US" dirty="0" smtClean="0"/>
              <a:t>Title</a:t>
            </a:r>
            <a:r>
              <a:rPr lang="he-IL" dirty="0" smtClean="0"/>
              <a:t> , </a:t>
            </a:r>
            <a:r>
              <a:rPr lang="en-US" dirty="0" smtClean="0"/>
              <a:t>Author</a:t>
            </a:r>
            <a:r>
              <a:rPr lang="he-IL" dirty="0" smtClean="0"/>
              <a:t> , </a:t>
            </a:r>
            <a:r>
              <a:rPr lang="en-US" dirty="0"/>
              <a:t>/</a:t>
            </a:r>
            <a:r>
              <a:rPr lang="en-US" dirty="0" smtClean="0"/>
              <a:t>Keywords</a:t>
            </a:r>
            <a:endParaRPr lang="he-IL" dirty="0" smtClean="0"/>
          </a:p>
          <a:p>
            <a:r>
              <a:rPr lang="he-IL" b="1" dirty="0"/>
              <a:t>דוגמה:</a:t>
            </a:r>
            <a:r>
              <a:rPr lang="he-IL" dirty="0"/>
              <a:t> הטמעת ההודעה "12345" במטא-נתונים</a:t>
            </a:r>
            <a:r>
              <a:rPr lang="he-IL" dirty="0" smtClean="0"/>
              <a:t>:</a:t>
            </a:r>
          </a:p>
          <a:p>
            <a:pPr algn="l"/>
            <a:r>
              <a:rPr lang="en-US" dirty="0"/>
              <a:t>metadata["/Keywords"] = "12345</a:t>
            </a:r>
            <a:r>
              <a:rPr lang="en-US" dirty="0" smtClean="0"/>
              <a:t>"</a:t>
            </a:r>
            <a:endParaRPr lang="he-IL" dirty="0" smtClean="0"/>
          </a:p>
          <a:p>
            <a:pPr algn="l"/>
            <a:endParaRPr lang="en-US" dirty="0"/>
          </a:p>
          <a:p>
            <a:r>
              <a:rPr lang="he-IL" b="1" dirty="0"/>
              <a:t>שימוש בשכבות בלתי </a:t>
            </a:r>
            <a:r>
              <a:rPr lang="he-IL" b="1" dirty="0" smtClean="0"/>
              <a:t>נראות: </a:t>
            </a:r>
            <a:r>
              <a:rPr lang="he-IL" dirty="0" smtClean="0"/>
              <a:t>הוספת </a:t>
            </a:r>
            <a:r>
              <a:rPr lang="he-IL" dirty="0"/>
              <a:t>טקסט בצבע לבן על רקע לבן, כך שהוא לא נראה לעין</a:t>
            </a:r>
            <a:r>
              <a:rPr lang="he-IL" dirty="0" smtClean="0"/>
              <a:t>.</a:t>
            </a:r>
          </a:p>
          <a:p>
            <a:endParaRPr lang="he-IL" dirty="0"/>
          </a:p>
          <a:p>
            <a:r>
              <a:rPr lang="he-IL" b="1" dirty="0"/>
              <a:t>הטמעה בתוכן לא </a:t>
            </a:r>
            <a:r>
              <a:rPr lang="he-IL" b="1" dirty="0" smtClean="0"/>
              <a:t>קריא: </a:t>
            </a:r>
            <a:r>
              <a:rPr lang="he-IL" dirty="0" smtClean="0"/>
              <a:t>שימוש בקידוד</a:t>
            </a:r>
            <a:r>
              <a:rPr lang="en-US" dirty="0" smtClean="0"/>
              <a:t>Base64 </a:t>
            </a:r>
            <a:r>
              <a:rPr lang="he-IL" dirty="0" smtClean="0"/>
              <a:t> לטקסט </a:t>
            </a:r>
            <a:r>
              <a:rPr lang="he-IL" dirty="0"/>
              <a:t>מוסתר והטמעתו בתוך התוכן.</a:t>
            </a:r>
          </a:p>
          <a:p>
            <a:endParaRPr lang="he-IL" dirty="0"/>
          </a:p>
          <a:p>
            <a:endParaRPr lang="he-IL" dirty="0"/>
          </a:p>
          <a:p>
            <a:endParaRPr lang="he-IL" dirty="0"/>
          </a:p>
        </p:txBody>
      </p:sp>
    </p:spTree>
    <p:extLst>
      <p:ext uri="{BB962C8B-B14F-4D97-AF65-F5344CB8AC3E}">
        <p14:creationId xmlns:p14="http://schemas.microsoft.com/office/powerpoint/2010/main" val="142657411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227126" y="642594"/>
            <a:ext cx="1898073" cy="1371600"/>
          </a:xfrm>
        </p:spPr>
        <p:txBody>
          <a:bodyPr/>
          <a:lstStyle/>
          <a:p>
            <a:r>
              <a:rPr lang="he-IL" dirty="0" smtClean="0"/>
              <a:t>שאלות</a:t>
            </a:r>
            <a:endParaRPr lang="he-IL" dirty="0"/>
          </a:p>
        </p:txBody>
      </p:sp>
      <p:sp>
        <p:nvSpPr>
          <p:cNvPr id="3" name="מציין מיקום תוכן 2"/>
          <p:cNvSpPr>
            <a:spLocks noGrp="1"/>
          </p:cNvSpPr>
          <p:nvPr>
            <p:ph idx="1"/>
          </p:nvPr>
        </p:nvSpPr>
        <p:spPr/>
        <p:txBody>
          <a:bodyPr/>
          <a:lstStyle/>
          <a:p>
            <a:r>
              <a:rPr lang="he-IL" dirty="0" smtClean="0"/>
              <a:t>1</a:t>
            </a:r>
            <a:r>
              <a:rPr lang="he-IL" dirty="0"/>
              <a:t>. מהי המטרה של האפלת מידע?</a:t>
            </a:r>
            <a:endParaRPr lang="he-IL" dirty="0" smtClean="0"/>
          </a:p>
          <a:p>
            <a:r>
              <a:rPr lang="he-IL" dirty="0" smtClean="0"/>
              <a:t>2</a:t>
            </a:r>
            <a:r>
              <a:rPr lang="he-IL" dirty="0"/>
              <a:t>. ציין שתי דוגמאות לשיטות האפלה פשוטות</a:t>
            </a:r>
            <a:endParaRPr lang="he-IL" dirty="0" smtClean="0"/>
          </a:p>
          <a:p>
            <a:r>
              <a:rPr lang="he-IL" dirty="0" smtClean="0"/>
              <a:t>3</a:t>
            </a:r>
            <a:r>
              <a:rPr lang="he-IL" dirty="0"/>
              <a:t>. כיצד ניתן להשתמש בטכניקת שינוי ריווח </a:t>
            </a:r>
            <a:r>
              <a:rPr lang="en-US" dirty="0" smtClean="0"/>
              <a:t> Whitespace</a:t>
            </a:r>
            <a:r>
              <a:rPr lang="he-IL" dirty="0" smtClean="0"/>
              <a:t>להאפלת </a:t>
            </a:r>
            <a:r>
              <a:rPr lang="he-IL" dirty="0"/>
              <a:t>מידע?</a:t>
            </a:r>
            <a:endParaRPr lang="he-IL" dirty="0" smtClean="0"/>
          </a:p>
          <a:p>
            <a:r>
              <a:rPr lang="he-IL" dirty="0" smtClean="0"/>
              <a:t>4</a:t>
            </a:r>
            <a:r>
              <a:rPr lang="he-IL" dirty="0"/>
              <a:t>. מה היתרון של הטמעת מידע בתגים מוסתרים בקובץ </a:t>
            </a:r>
            <a:r>
              <a:rPr lang="en-US" dirty="0" smtClean="0"/>
              <a:t>PDF</a:t>
            </a:r>
            <a:r>
              <a:rPr lang="he-IL" dirty="0" smtClean="0"/>
              <a:t>?</a:t>
            </a:r>
          </a:p>
          <a:p>
            <a:r>
              <a:rPr lang="he-IL" dirty="0" smtClean="0"/>
              <a:t>5</a:t>
            </a:r>
            <a:r>
              <a:rPr lang="he-IL" dirty="0"/>
              <a:t>. כתוב קוד שמאפיל את </a:t>
            </a:r>
            <a:r>
              <a:rPr lang="he-IL" dirty="0" smtClean="0"/>
              <a:t>ההודעה</a:t>
            </a:r>
            <a:r>
              <a:rPr lang="en-US" dirty="0" smtClean="0"/>
              <a:t>Hidden </a:t>
            </a:r>
            <a:r>
              <a:rPr lang="he-IL" dirty="0" smtClean="0"/>
              <a:t> בקובץ</a:t>
            </a:r>
            <a:r>
              <a:rPr lang="en-US" dirty="0" smtClean="0"/>
              <a:t> PDF </a:t>
            </a:r>
            <a:r>
              <a:rPr lang="he-IL" dirty="0"/>
              <a:t>בתוך </a:t>
            </a:r>
            <a:r>
              <a:rPr lang="he-IL" dirty="0" smtClean="0"/>
              <a:t>שדה </a:t>
            </a:r>
            <a:r>
              <a:rPr lang="en-US" dirty="0"/>
              <a:t>/</a:t>
            </a:r>
            <a:r>
              <a:rPr lang="en-US" dirty="0" smtClean="0"/>
              <a:t>Author</a:t>
            </a:r>
            <a:endParaRPr lang="he-IL" dirty="0" smtClean="0"/>
          </a:p>
          <a:p>
            <a:endParaRPr lang="he-IL" dirty="0" smtClean="0"/>
          </a:p>
          <a:p>
            <a:endParaRPr lang="he-IL" dirty="0"/>
          </a:p>
        </p:txBody>
      </p:sp>
    </p:spTree>
    <p:extLst>
      <p:ext uri="{BB962C8B-B14F-4D97-AF65-F5344CB8AC3E}">
        <p14:creationId xmlns:p14="http://schemas.microsoft.com/office/powerpoint/2010/main" val="187933205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052560" y="642594"/>
            <a:ext cx="2072640" cy="1371600"/>
          </a:xfrm>
        </p:spPr>
        <p:txBody>
          <a:bodyPr/>
          <a:lstStyle/>
          <a:p>
            <a:r>
              <a:rPr lang="he-IL" dirty="0" smtClean="0"/>
              <a:t>תשובות</a:t>
            </a:r>
            <a:endParaRPr lang="he-IL" dirty="0"/>
          </a:p>
        </p:txBody>
      </p:sp>
      <p:sp>
        <p:nvSpPr>
          <p:cNvPr id="3" name="מציין מיקום תוכן 2"/>
          <p:cNvSpPr>
            <a:spLocks noGrp="1"/>
          </p:cNvSpPr>
          <p:nvPr>
            <p:ph idx="1"/>
          </p:nvPr>
        </p:nvSpPr>
        <p:spPr/>
        <p:txBody>
          <a:bodyPr/>
          <a:lstStyle/>
          <a:p>
            <a:r>
              <a:rPr lang="he-IL" dirty="0" smtClean="0"/>
              <a:t>1</a:t>
            </a:r>
            <a:r>
              <a:rPr lang="he-IL" dirty="0"/>
              <a:t>. להסתיר מידע בצורה שתמנע הבנה או זיהוי של תוכנו.</a:t>
            </a:r>
            <a:endParaRPr lang="he-IL" dirty="0" smtClean="0"/>
          </a:p>
          <a:p>
            <a:r>
              <a:rPr lang="he-IL" dirty="0" smtClean="0"/>
              <a:t>2</a:t>
            </a:r>
            <a:r>
              <a:rPr lang="he-IL" dirty="0"/>
              <a:t>. הצפנת </a:t>
            </a:r>
            <a:r>
              <a:rPr lang="en-US" dirty="0" smtClean="0"/>
              <a:t> XOR</a:t>
            </a:r>
            <a:r>
              <a:rPr lang="he-IL" dirty="0" smtClean="0"/>
              <a:t>ושימוש </a:t>
            </a:r>
            <a:r>
              <a:rPr lang="he-IL" dirty="0"/>
              <a:t>ברווחים מוסתרים בטקסט.</a:t>
            </a:r>
            <a:endParaRPr lang="he-IL" dirty="0" smtClean="0"/>
          </a:p>
          <a:p>
            <a:r>
              <a:rPr lang="he-IL" dirty="0" smtClean="0"/>
              <a:t>3</a:t>
            </a:r>
            <a:r>
              <a:rPr lang="he-IL" dirty="0"/>
              <a:t>. ניתן להוסיף רווחים או </a:t>
            </a:r>
            <a:r>
              <a:rPr lang="he-IL" dirty="0" err="1"/>
              <a:t>טאבים</a:t>
            </a:r>
            <a:r>
              <a:rPr lang="he-IL" dirty="0"/>
              <a:t> בקובץ טקסט כדי להציג מידע בינארי מוסתר.</a:t>
            </a:r>
            <a:endParaRPr lang="he-IL" dirty="0" smtClean="0"/>
          </a:p>
          <a:p>
            <a:r>
              <a:rPr lang="he-IL" dirty="0" smtClean="0"/>
              <a:t>4</a:t>
            </a:r>
            <a:r>
              <a:rPr lang="he-IL" dirty="0"/>
              <a:t>. התגים אינם מוצגים למשתמש רגיל, והמידע מוסתר אך זמין לניתוח ממוחשב.</a:t>
            </a:r>
            <a:endParaRPr lang="he-IL" dirty="0" smtClean="0"/>
          </a:p>
          <a:p>
            <a:r>
              <a:rPr lang="he-IL" dirty="0" smtClean="0"/>
              <a:t>5. </a:t>
            </a:r>
          </a:p>
          <a:p>
            <a:pPr algn="l"/>
            <a:r>
              <a:rPr lang="en-US" dirty="0"/>
              <a:t>metadata["/Author"] = "Hidden"</a:t>
            </a:r>
          </a:p>
          <a:p>
            <a:pPr algn="l"/>
            <a:endParaRPr lang="he-IL" dirty="0" smtClean="0"/>
          </a:p>
          <a:p>
            <a:endParaRPr lang="he-IL" dirty="0"/>
          </a:p>
        </p:txBody>
      </p:sp>
    </p:spTree>
    <p:extLst>
      <p:ext uri="{BB962C8B-B14F-4D97-AF65-F5344CB8AC3E}">
        <p14:creationId xmlns:p14="http://schemas.microsoft.com/office/powerpoint/2010/main" val="370439742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סבון">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סבון</Template>
  <TotalTime>403</TotalTime>
  <Words>8731</Words>
  <Application>Microsoft Office PowerPoint</Application>
  <PresentationFormat>מסך רחב</PresentationFormat>
  <Paragraphs>892</Paragraphs>
  <Slides>124</Slides>
  <Notes>0</Notes>
  <HiddenSlides>0</HiddenSlides>
  <MMClips>0</MMClips>
  <ScaleCrop>false</ScaleCrop>
  <HeadingPairs>
    <vt:vector size="6" baseType="variant">
      <vt:variant>
        <vt:lpstr>גופנים בשימוש</vt:lpstr>
      </vt:variant>
      <vt:variant>
        <vt:i4>4</vt:i4>
      </vt:variant>
      <vt:variant>
        <vt:lpstr>ערכת נושא</vt:lpstr>
      </vt:variant>
      <vt:variant>
        <vt:i4>1</vt:i4>
      </vt:variant>
      <vt:variant>
        <vt:lpstr>כותרות שקופיות</vt:lpstr>
      </vt:variant>
      <vt:variant>
        <vt:i4>124</vt:i4>
      </vt:variant>
    </vt:vector>
  </HeadingPairs>
  <TitlesOfParts>
    <vt:vector size="129" baseType="lpstr">
      <vt:lpstr>Arial</vt:lpstr>
      <vt:lpstr>Century Gothic</vt:lpstr>
      <vt:lpstr>Garamond</vt:lpstr>
      <vt:lpstr>Gisha</vt:lpstr>
      <vt:lpstr>סבון</vt:lpstr>
      <vt:lpstr>הרצאה מס' 8 </vt:lpstr>
      <vt:lpstr>מצגת של PowerPoint‏</vt:lpstr>
      <vt:lpstr>מצגת של PowerPoint‏</vt:lpstr>
      <vt:lpstr>מהי סטגנוגרפיה?</vt:lpstr>
      <vt:lpstr>הבדל בין סטגנוגרפיה לקריפטוגרפיה:</vt:lpstr>
      <vt:lpstr>טכניקות עיקריות בסטגנוגרפיה:</vt:lpstr>
      <vt:lpstr>הגדרה מורחבת של סטגנוגרפיה</vt:lpstr>
      <vt:lpstr>טכניקות מתקדמות בסטגנוגרפיה</vt:lpstr>
      <vt:lpstr>המשך - טכניקות מתקדמות בסטגנוגרפיה</vt:lpstr>
      <vt:lpstr>שיטות מתקדמות לאיתור סטגנוגרפיה</vt:lpstr>
      <vt:lpstr>המשך - שיטות מתקדמות לאיתור סטגנוגרפיה</vt:lpstr>
      <vt:lpstr>דגשים חשובים:</vt:lpstr>
      <vt:lpstr>דוגמאות מעשיות:</vt:lpstr>
      <vt:lpstr>איתור סטגנוגרפיה:</vt:lpstr>
      <vt:lpstr>שאלות</vt:lpstr>
      <vt:lpstr>תשובות</vt:lpstr>
      <vt:lpstr>שאלות מעשיות:</vt:lpstr>
      <vt:lpstr>תשובות</vt:lpstr>
      <vt:lpstr>מצגת של PowerPoint‏</vt:lpstr>
      <vt:lpstr>מהי הסוואה בקבצי מדיה?</vt:lpstr>
      <vt:lpstr>העקרונות המרכזיים:</vt:lpstr>
      <vt:lpstr>סוגי מדיה וטכניקות להסוואה</vt:lpstr>
      <vt:lpstr>המשך - סוגי מדיה וטכניקות להסוואה</vt:lpstr>
      <vt:lpstr>עקרונות יסוד</vt:lpstr>
      <vt:lpstr>סוגי טכניקות להסוואה מעבר ל-LSB </vt:lpstr>
      <vt:lpstr>מאפייני קבצים שונים וההתאמה שלהם להסוואה</vt:lpstr>
      <vt:lpstr>יתרונות וחסרונות של טכניקות הסוואה</vt:lpstr>
      <vt:lpstr>שימושים בסטגנוגרפיה בקבצי מדיה</vt:lpstr>
      <vt:lpstr>גילוי וניתוח סטגנוגרפיה</vt:lpstr>
      <vt:lpstr>המשך - סוגי מדיה וטכניקות להסוואה</vt:lpstr>
      <vt:lpstr>שלבים בתהליך ההסוואה:</vt:lpstr>
      <vt:lpstr>שיטות זיהוי ואיתור</vt:lpstr>
      <vt:lpstr>שאלות</vt:lpstr>
      <vt:lpstr>שאלות קצת יותר קשות</vt:lpstr>
      <vt:lpstr>תשובה</vt:lpstr>
      <vt:lpstr>שאלה נוספת</vt:lpstr>
      <vt:lpstr>מצגת של PowerPoint‏</vt:lpstr>
      <vt:lpstr>מהו Chaffing and Winnowing?</vt:lpstr>
      <vt:lpstr>כיצד השיטה מממשת אבטחת מידע?</vt:lpstr>
      <vt:lpstr>עקרונות הפעולה</vt:lpstr>
      <vt:lpstr>יתרונות</vt:lpstr>
      <vt:lpstr>חסרונות</vt:lpstr>
      <vt:lpstr>השוואה בין Chaffing and Winnowing להצפנה:</vt:lpstr>
      <vt:lpstr>יישומים מעשיים מתקדמים</vt:lpstr>
      <vt:lpstr>ניתוח אבטחה מתקדם</vt:lpstr>
      <vt:lpstr>תובנות מתמטיות על יצירת רעש</vt:lpstr>
      <vt:lpstr>קשר בין Chaffing and Winnowing לסטגנוגרפיה</vt:lpstr>
      <vt:lpstr>שאלות</vt:lpstr>
      <vt:lpstr>תשובות</vt:lpstr>
      <vt:lpstr>מצגת של PowerPoint‏</vt:lpstr>
      <vt:lpstr>מהו Null Cipher</vt:lpstr>
      <vt:lpstr>דוגמאות לשימוש בטכניקה</vt:lpstr>
      <vt:lpstr>יתרונות השיטה</vt:lpstr>
      <vt:lpstr>יתרונות טקטיים של Null Cipher</vt:lpstr>
      <vt:lpstr>חסרונות השיטה</vt:lpstr>
      <vt:lpstr>שימושים עכשוויים של Null Cipher</vt:lpstr>
      <vt:lpstr>אתגרים והגבלות</vt:lpstr>
      <vt:lpstr>השוואה לסטגנוגרפיה מסוגים אחרים</vt:lpstr>
      <vt:lpstr>שילוב עם טכניקות אחרות</vt:lpstr>
      <vt:lpstr>טכניקות נגדיות לזיהוי Null Cipher</vt:lpstr>
      <vt:lpstr>דוגמאות לשימוש מתקדם</vt:lpstr>
      <vt:lpstr>תהליך מעשי ליצירת מסר באמצעות Null Cipher</vt:lpstr>
      <vt:lpstr>שאלות</vt:lpstr>
      <vt:lpstr>תשובות</vt:lpstr>
      <vt:lpstr>מצגת של PowerPoint‏</vt:lpstr>
      <vt:lpstr>ניצול יתרות בקובצי הרצה וספריות בסטגנוגרפיה</vt:lpstr>
      <vt:lpstr>מהן יתרות בקובצי הרצה וספריות?</vt:lpstr>
      <vt:lpstr>כיצד מנצלים יתרות אלו להחבאת מידע?</vt:lpstr>
      <vt:lpstr>מבנה קובצי PE (Portable Executable)</vt:lpstr>
      <vt:lpstr>המשך - מבנה קובצי PE (Portable Executable)</vt:lpstr>
      <vt:lpstr>שיטות חדשניות להחבאת מידע בקובצי הרצה וספריות</vt:lpstr>
      <vt:lpstr>אתגרים ושיקולים טכניים</vt:lpstr>
      <vt:lpstr>כלים וטכניקות לזיהוי מידע מוסתר</vt:lpstr>
      <vt:lpstr>יתרונות וחסרונות של ניצול יתרות בקובצי הרצה</vt:lpstr>
      <vt:lpstr>אתגרים בניצול יתרות בקובצי הרצה</vt:lpstr>
      <vt:lpstr>שאלה מעשית בכדי לשכך את האוזן</vt:lpstr>
      <vt:lpstr>תשובה</vt:lpstr>
      <vt:lpstr>המשך - תשובה</vt:lpstr>
      <vt:lpstr>המשך - תשובה</vt:lpstr>
      <vt:lpstr>שאלות</vt:lpstr>
      <vt:lpstr>תשובות</vt:lpstr>
      <vt:lpstr>מצגת של PowerPoint‏</vt:lpstr>
      <vt:lpstr>מהי הסוואה בציוד היקפי</vt:lpstr>
      <vt:lpstr>מטרות השיטה</vt:lpstr>
      <vt:lpstr>שיטות להסוואה בציוד היקפי</vt:lpstr>
      <vt:lpstr>המשך - שיטות להסוואה בציוד היקפי</vt:lpstr>
      <vt:lpstr>1. ניצול רכיבים אלקטרוניים להעברת מידע</vt:lpstr>
      <vt:lpstr>2. שימוש במיקרופונים ורמקולים להעברת מידע</vt:lpstr>
      <vt:lpstr>3. שימוש במצלמות חכמות</vt:lpstr>
      <vt:lpstr>4. הדפסה נסתרת במדפסות</vt:lpstr>
      <vt:lpstr>5. שימוש בכונני USB</vt:lpstr>
      <vt:lpstr>יתרונות וחסרונות של הסוואה בציוד היקפי</vt:lpstr>
      <vt:lpstr>אתגרים</vt:lpstr>
      <vt:lpstr>פתרונות</vt:lpstr>
      <vt:lpstr>שאלה מעשית</vt:lpstr>
      <vt:lpstr>תשובה</vt:lpstr>
      <vt:lpstr>שאלות</vt:lpstr>
      <vt:lpstr>תשובות</vt:lpstr>
      <vt:lpstr>מצגת של PowerPoint‏</vt:lpstr>
      <vt:lpstr>סיכוך מידע בסטגנוגרפיה</vt:lpstr>
      <vt:lpstr>השימושים המרכזיים בסיכוך מידע</vt:lpstr>
      <vt:lpstr>שיטות מרכזיות לסיכוך מידע</vt:lpstr>
      <vt:lpstr>המשך - שיטות מרכזיות לסיכוך מידע</vt:lpstr>
      <vt:lpstr>1 .שילוב סיכוך עם הצפנה</vt:lpstr>
      <vt:lpstr>2. סיכוך במבני קבצים מורכבים</vt:lpstr>
      <vt:lpstr>3. סיכוך מבוסס תעבורה</vt:lpstr>
      <vt:lpstr>4. דינמיקה של אבטחה באמצעות סיכוך מידע</vt:lpstr>
      <vt:lpstr>דוגמאות מעשיות לסיכוך מידע</vt:lpstr>
      <vt:lpstr>האתגרים בסיכוך מידע</vt:lpstr>
      <vt:lpstr>שאלה מעשית</vt:lpstr>
      <vt:lpstr>תשובה</vt:lpstr>
      <vt:lpstr>שאלות</vt:lpstr>
      <vt:lpstr>תשובות</vt:lpstr>
      <vt:lpstr>מצגת של PowerPoint‏</vt:lpstr>
      <vt:lpstr>האפלת מידע בסטגנוגרפיה</vt:lpstr>
      <vt:lpstr>עקרונות ההאפלה Obfuscation</vt:lpstr>
      <vt:lpstr>כיצד ניתן להאפיל מידע?</vt:lpstr>
      <vt:lpstr>סוגים מרכזיים של האפלה</vt:lpstr>
      <vt:lpstr>טכניקות מתקדמות להאפלת מידע</vt:lpstr>
      <vt:lpstr>המשך - טכניקות מתקדמות להאפלת מידע</vt:lpstr>
      <vt:lpstr>יתרונות וחסרונות של האפלה</vt:lpstr>
      <vt:lpstr>דוגמאות מעשיות להאפלה בקובצי PDF</vt:lpstr>
      <vt:lpstr>שאלות</vt:lpstr>
      <vt:lpstr>תשובות</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הרצאה מס' 8</dc:title>
  <dc:creator>user</dc:creator>
  <cp:lastModifiedBy>user</cp:lastModifiedBy>
  <cp:revision>33</cp:revision>
  <dcterms:created xsi:type="dcterms:W3CDTF">2025-01-16T10:02:56Z</dcterms:created>
  <dcterms:modified xsi:type="dcterms:W3CDTF">2025-01-26T12:52:13Z</dcterms:modified>
</cp:coreProperties>
</file>