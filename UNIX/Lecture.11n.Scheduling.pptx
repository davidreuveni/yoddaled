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11.png" ContentType="image/png"/>
  <Override PartName="/ppt/media/image10.jpeg" ContentType="image/jpeg"/>
  <Override PartName="/ppt/media/image18.png" ContentType="image/png"/>
  <Override PartName="/ppt/media/image20.png" ContentType="image/png"/>
  <Override PartName="/ppt/media/image17.png" ContentType="image/png"/>
  <Override PartName="/ppt/media/image7.wmf" ContentType="image/x-wmf"/>
  <Override PartName="/ppt/media/image22.png" ContentType="image/png"/>
  <Override PartName="/ppt/media/image12.png" ContentType="image/png"/>
  <Override PartName="/ppt/media/image21.png" ContentType="image/png"/>
  <Override PartName="/ppt/media/image1.wmf" ContentType="image/x-wmf"/>
  <Override PartName="/ppt/media/image13.wmf" ContentType="image/x-wmf"/>
  <Override PartName="/ppt/media/image24.png" ContentType="image/png"/>
  <Override PartName="/ppt/media/image5.wmf" ContentType="image/x-wmf"/>
  <Override PartName="/ppt/media/image16.png" ContentType="image/png"/>
  <Override PartName="/ppt/media/image8.png" ContentType="image/png"/>
  <Override PartName="/ppt/media/image9.jpeg" ContentType="image/jpeg"/>
  <Override PartName="/ppt/media/image19.png" ContentType="image/png"/>
  <Override PartName="/ppt/media/image15.wmf" ContentType="image/x-wmf"/>
  <Override PartName="/ppt/media/image14.png" ContentType="image/png"/>
  <Override PartName="/ppt/media/image2.png" ContentType="image/png"/>
  <Override PartName="/ppt/media/image3.png" ContentType="image/png"/>
  <Override PartName="/ppt/media/image23.png" ContentType="image/png"/>
  <Override PartName="/ppt/media/image25.png" ContentType="image/png"/>
  <Override PartName="/ppt/media/image4.wmf" ContentType="image/x-wmf"/>
  <Override PartName="/ppt/media/image6.png" ContentType="image/png"/>
  <Override PartName="/ppt/presentation.xml" ContentType="application/vnd.openxmlformats-officedocument.presentationml.presentation.main+xml"/>
  <Override PartName="/ppt/embeddings/oleObject1.bin" ContentType="application/vnd.openxmlformats-officedocument.oleObject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15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.xml.rels" ContentType="application/vnd.openxmlformats-package.relationships+xml"/>
  <Override PartName="/ppt/slides/_rels/slide27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21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28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17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26.xml.rels" ContentType="application/vnd.openxmlformats-package.relationships+xml"/>
  <Override PartName="/ppt/slides/_rels/slide16.xml.rels" ContentType="application/vnd.openxmlformats-package.relationships+xml"/>
  <Override PartName="/ppt/slides/_rels/slide5.xml.rels" ContentType="application/vnd.openxmlformats-package.relationships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notesSlides/_rels/notesSlide14.xml.rels" ContentType="application/vnd.openxmlformats-package.relationships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L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L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01F0A63-7A30-4C94-A47D-F69D49B9B5A5}" type="slidenum"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IL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72BEAE-A661-4C01-9D73-1EB6B028563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0D0D2A-D6A5-42BC-BAEC-442F962F1A9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905DDA-58C3-45CA-A046-D5ED7106BA1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31EEC8-8756-4DCC-9ACE-9DB5D3D8508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38B233-5AB8-4B03-8772-6A5BA04DB13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90A088-E051-4BC2-BC8F-09ACABF4786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F602FD-82FF-4804-96C1-6C15B8A5BD9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16BA57-F61F-44B3-9764-8906CE32D5F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2DB2C4-6563-4637-B907-106B2557E81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E07D0C-86A9-40FD-95F2-F5FB7C3F598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BEAEAE-EBF1-4492-8CBA-27E22AF6079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L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A6396D-8E16-4868-9731-342A39541B7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L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wmf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wmf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3.wmf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5.wmf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IL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עקרונות בסיסיים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קריטריונים לזימון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אלגוריתמים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he-IL" sz="36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עקרונות בסיסיים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833360" y="1825560"/>
            <a:ext cx="65203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ניצול המעבד בצורה מקסימאלית מושג ע"י תכנות מקבילי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ריצת תהליך בדרך כלל מורכבת ממחזוריות של ריצת מעבד והמתנה לקלט/פלט, ריצה על המעבד שלאחריה קלט/פלט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המטרה שלנו היא חלוקת המעבד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Picture 3" descr=""/>
          <p:cNvPicPr/>
          <p:nvPr/>
        </p:nvPicPr>
        <p:blipFill>
          <a:blip r:embed="rId1"/>
          <a:stretch/>
        </p:blipFill>
        <p:spPr>
          <a:xfrm>
            <a:off x="388080" y="581760"/>
            <a:ext cx="2920680" cy="614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2" descr=""/>
          <p:cNvPicPr/>
          <p:nvPr/>
        </p:nvPicPr>
        <p:blipFill>
          <a:blip r:embed="rId1"/>
          <a:stretch/>
        </p:blipFill>
        <p:spPr>
          <a:xfrm>
            <a:off x="838080" y="1906200"/>
            <a:ext cx="10515240" cy="419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 rtl="1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he-IL" sz="36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סדרן המעבד – </a:t>
            </a: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CPU Scheduler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סדרן לטווח קצר, בוחר מבין התהליכים שנמצאים ב 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Ready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Queue</a:t>
            </a: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ומקצה את המעבד לאחד מהם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התור יכול להיות ממוין במספר דרכים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החלטות זימון המעבד יכולות לקרות כאשר תהליך: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14400" indent="-4572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מחליף ממצב ריצה למצב המתנה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14400" indent="-4572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מחליף ממצב ריצה למצב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Ready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14400" indent="-4572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מחליף ממצב המתנה למצב ריצה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14400" indent="-4572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alibri Light"/>
              <a:buAutoNum type="arabicPeriod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מסיים את פעולתו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במקרים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ו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מתבצעת לא מתבצעת </a:t>
            </a: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חטיפה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במקרים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2,3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מתבצעת </a:t>
            </a: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חטיפה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הסדרן הוא בעצמו מוציא את התהליך מהמעבד ומכניס תהליך אחר במקומו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he-IL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קריטריונים לזימון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זמן תגובה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– הזמן מקבלת בקשה עד להתחלת ביצועה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CPU utilization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– ניצול המעבד, כמה אחוז מהזמן המעבד היה מנוצל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Throughput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– תפוקה – מספר התהליכים שסיימו את פעולתם ביחידת זמן מסויימת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Turnaround time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– זמן אספקה – הזמן שלוקח לבצע תהליך ספציפי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Waiting time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– זמן המתנה – כמות הזמן </a:t>
            </a:r>
            <a:r>
              <a:rPr b="1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הכוללת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שהתהליך המתין ב </a:t>
            </a: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Ready Queue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(לא להתבלבל עם מצב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waiting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של תהליך)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Average waiting time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– ממוצע זמן ההמתנה של כל התהליכים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קריטריונים לזימון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המטרה: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CPU utilization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מקסימלי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Throughput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מקסימלי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Turnaround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מינימלי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Waiting time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מינימלי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First Comes First Served (FCFS)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נתונים שלושה תהליכים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נניח שהתהליכים הגיעו בסדר (משמאל לימין):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b="0" lang="en-US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,P</a:t>
            </a:r>
            <a:r>
              <a:rPr b="0" lang="en-US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,P</a:t>
            </a:r>
            <a:r>
              <a:rPr b="0" lang="en-US" sz="2800" strike="noStrike" u="none" baseline="-25000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טבלת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Gannt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של הסידור: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זמן המתנה: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i="1" lang="en-US" sz="2800" strike="noStrike" u="none" baseline="-25000">
                <a:solidFill>
                  <a:schemeClr val="dk1"/>
                </a:solidFill>
                <a:effectLst/>
                <a:uFillTx/>
                <a:latin typeface="Arial"/>
              </a:rPr>
              <a:t>1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 = 0;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i="1" lang="en-US" sz="2800" strike="noStrike" u="none" baseline="-25000">
                <a:solidFill>
                  <a:schemeClr val="dk1"/>
                </a:solidFill>
                <a:effectLst/>
                <a:uFillTx/>
                <a:latin typeface="Arial"/>
              </a:rPr>
              <a:t>2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 = 24;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i="1" lang="en-US" sz="2800" strike="noStrike" u="none" baseline="-25000">
                <a:solidFill>
                  <a:schemeClr val="dk1"/>
                </a:solidFill>
                <a:effectLst/>
                <a:uFillTx/>
                <a:latin typeface="Arial"/>
              </a:rPr>
              <a:t>3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= 27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זמן המתנה ממוצע:  (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0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+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24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+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27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)/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3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=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17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Picture 3" descr=""/>
          <p:cNvPicPr/>
          <p:nvPr/>
        </p:nvPicPr>
        <p:blipFill>
          <a:blip r:embed="rId1"/>
          <a:stretch/>
        </p:blipFill>
        <p:spPr>
          <a:xfrm>
            <a:off x="4704840" y="1825560"/>
            <a:ext cx="2768040" cy="130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Picture 3" descr=""/>
          <p:cNvPicPr/>
          <p:nvPr/>
        </p:nvPicPr>
        <p:blipFill>
          <a:blip r:embed="rId2"/>
          <a:stretch/>
        </p:blipFill>
        <p:spPr>
          <a:xfrm>
            <a:off x="575280" y="3854160"/>
            <a:ext cx="6954480" cy="801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First Comes First Served (FCFS)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נניח והתהליכים הגיעו בסדר (משמאל לימין):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i="1" lang="en-US" sz="2800" strike="noStrike" u="none" baseline="-25000">
                <a:solidFill>
                  <a:schemeClr val="dk1"/>
                </a:solidFill>
                <a:effectLst/>
                <a:uFillTx/>
                <a:latin typeface="Arial"/>
              </a:rPr>
              <a:t>2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,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i="1" lang="en-US" sz="2800" strike="noStrike" u="none" baseline="-25000">
                <a:solidFill>
                  <a:schemeClr val="dk1"/>
                </a:solidFill>
                <a:effectLst/>
                <a:uFillTx/>
                <a:latin typeface="Arial"/>
              </a:rPr>
              <a:t>3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,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i="1" lang="en-US" sz="2800" strike="noStrike" u="none" baseline="-25000">
                <a:solidFill>
                  <a:schemeClr val="dk1"/>
                </a:solidFill>
                <a:effectLst/>
                <a:uFillTx/>
                <a:latin typeface="Arial"/>
              </a:rPr>
              <a:t>1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טבלת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Gannt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לסידור תהיה: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זמן המתנה: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i="1" lang="en-US" sz="2800" strike="noStrike" u="none" baseline="-25000">
                <a:solidFill>
                  <a:schemeClr val="dk1"/>
                </a:solidFill>
                <a:effectLst/>
                <a:uFillTx/>
                <a:latin typeface="Arial"/>
              </a:rPr>
              <a:t>1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=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6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;</a:t>
            </a:r>
            <a:r>
              <a:rPr b="0" i="1" lang="en-US" sz="2800" strike="noStrike" u="none" baseline="-25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i="1" lang="en-US" sz="2800" strike="noStrike" u="none" baseline="-25000">
                <a:solidFill>
                  <a:schemeClr val="dk1"/>
                </a:solidFill>
                <a:effectLst/>
                <a:uFillTx/>
                <a:latin typeface="Arial"/>
              </a:rPr>
              <a:t>2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= 0</a:t>
            </a:r>
            <a:r>
              <a:rPr b="0" i="1" lang="en-US" sz="2800" strike="noStrike" u="none" baseline="-25000">
                <a:solidFill>
                  <a:schemeClr val="dk1"/>
                </a:solidFill>
                <a:effectLst/>
                <a:uFillTx/>
                <a:latin typeface="Arial"/>
              </a:rPr>
              <a:t>;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i="1" lang="en-US" sz="2800" strike="noStrike" u="none" baseline="-25000">
                <a:solidFill>
                  <a:schemeClr val="dk1"/>
                </a:solidFill>
                <a:effectLst/>
                <a:uFillTx/>
                <a:latin typeface="Arial"/>
              </a:rPr>
              <a:t>3 </a:t>
            </a:r>
            <a:r>
              <a:rPr b="0" i="1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=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3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זמן המתנה ממוצע: 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6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+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0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+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3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)/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3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=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3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הרבה יותר טוב מאשר התרחיש הקודם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7" name="Picture 3" descr=""/>
          <p:cNvPicPr/>
          <p:nvPr/>
        </p:nvPicPr>
        <p:blipFill>
          <a:blip r:embed="rId1"/>
          <a:stretch/>
        </p:blipFill>
        <p:spPr>
          <a:xfrm>
            <a:off x="838080" y="2791800"/>
            <a:ext cx="7122600" cy="80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Shortest Job First (SJF)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לכל תהליך, שמור זמן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CPU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הבא שלו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בעזרת הזמנים האלה מעדיפים את התהליכים עם הזמן הקצר יותר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SJF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נותן לנו את הזמן המתנה הממוצע הנמוך ביותר עבור קבוצת תהליכים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הקושי הוא כיצד ניתן לחזות מראש את זמן העיבוד הבא של התהליך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Shortest Job First (SJF)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טבלת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Gannt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: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זמן המתנה ממוצע: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3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+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+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9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+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0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) /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4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=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7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2" name="Picture 5" descr=""/>
          <p:cNvPicPr/>
          <p:nvPr/>
        </p:nvPicPr>
        <p:blipFill>
          <a:blip r:embed="rId1"/>
          <a:stretch/>
        </p:blipFill>
        <p:spPr>
          <a:xfrm>
            <a:off x="4106520" y="1825560"/>
            <a:ext cx="4338720" cy="199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Picture 3" descr=""/>
          <p:cNvPicPr/>
          <p:nvPr/>
        </p:nvPicPr>
        <p:blipFill>
          <a:blip r:embed="rId2"/>
          <a:stretch/>
        </p:blipFill>
        <p:spPr>
          <a:xfrm>
            <a:off x="1649160" y="3817080"/>
            <a:ext cx="6795720" cy="894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Round Robin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כל תהליך מקבל יחידת זמן עיבוד קטנה (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time quantum / time slice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), בד"כ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10-100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מילישניות. לאחר שהזמן נגמר, התהליך "</a:t>
            </a:r>
            <a:r>
              <a:rPr b="1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נחטף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" ומתווסף לסוף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ready queue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(אלא אם כן יצא לקלט פלט)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ביצועים: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Quantum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גבוה –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FIFO/FCFS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Quantum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נמוך – גורם ליותר מידי ביצועי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context switch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ותהליך לא מספיק לרוץ זמן סביר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Round Robin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Time quantum = 4 ms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זמן המתנה ממוצע?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8" name="Picture 3" descr=""/>
          <p:cNvPicPr/>
          <p:nvPr/>
        </p:nvPicPr>
        <p:blipFill>
          <a:blip r:embed="rId1"/>
          <a:stretch/>
        </p:blipFill>
        <p:spPr>
          <a:xfrm>
            <a:off x="4743000" y="1690560"/>
            <a:ext cx="2705760" cy="130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מלבן 4"/>
          <p:cNvSpPr/>
          <p:nvPr/>
        </p:nvSpPr>
        <p:spPr>
          <a:xfrm>
            <a:off x="6783120" y="2743200"/>
            <a:ext cx="273960" cy="20448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L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Rectangle 7"/>
          <p:cNvSpPr/>
          <p:nvPr/>
        </p:nvSpPr>
        <p:spPr>
          <a:xfrm>
            <a:off x="838080" y="3213360"/>
            <a:ext cx="10515240" cy="1619280"/>
          </a:xfrm>
          <a:prstGeom prst="rect">
            <a:avLst/>
          </a:prstGeom>
          <a:solidFill>
            <a:schemeClr val="bg1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L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Multi-Level-Queue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he-IL" sz="3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תור מרובה רמות: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Ready queue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מחולק למספר תורים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תהליכי חזית (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foreground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) (משתמש)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תהליכי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background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(תהליכי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batch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תהליכי מערכת)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תהליך נשאר קבוע בתור שלו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לכל תור יש אלגוריתם משלו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Foreground – Round robin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Background – FCFS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הסידור צריך לעבור בין התורים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Multi-Level-Queue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4" name="Picture 2" descr=""/>
          <p:cNvPicPr/>
          <p:nvPr/>
        </p:nvPicPr>
        <p:blipFill>
          <a:blip r:embed="rId1"/>
          <a:stretch/>
        </p:blipFill>
        <p:spPr>
          <a:xfrm>
            <a:off x="2495880" y="1690560"/>
            <a:ext cx="7200000" cy="476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Multi-Level-Feedback-Queue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התור מחולק למספר תורים ותהליכים יכולים לעבור בין התורים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הסדרן עבור תורים אלו מוגדר ע"י הפרמטרים הבאים: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מספר התורים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לכל תור אלגוריתם סידור משל עצמו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מתי "להעלות"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תהליך לתור בעדיפות גבוהה יותר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מתי להוריד תהליך לתור בעדיפות נמוכה יותר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לאיזה תור תהליך ייכנס אחרי מצב המתנה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סדר התורים שמהם מעבירים למעבד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Multi-Level-Feedback-Queue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83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שלושה תורים: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612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r>
              <a:rPr b="0" lang="en-US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– RR with time quantum 8 milliseconds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612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r>
              <a:rPr b="0" lang="en-US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– RR time quantum 16 milliseconds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612"/>
              </a:spcBef>
              <a:buClr>
                <a:srgbClr val="000000"/>
              </a:buClr>
              <a:buSzPct val="80000"/>
              <a:buFont typeface="Arial"/>
              <a:buChar char="•"/>
            </a:pPr>
            <a:r>
              <a:rPr b="0" i="1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r>
              <a:rPr b="0" lang="en-US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– FCFS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612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612"/>
              </a:spcBef>
              <a:buNone/>
              <a:tabLst>
                <a:tab algn="l" pos="0"/>
              </a:tabLst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סדרן: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612"/>
              </a:spcBef>
              <a:buClr>
                <a:srgbClr val="000000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תהליך </a:t>
            </a:r>
            <a:r>
              <a:rPr b="1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חדש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נכנס לתור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Q0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שמנוהל כ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FCFS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612"/>
              </a:spcBef>
              <a:buClr>
                <a:srgbClr val="000000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כשמגיע תורו להיכנס למעבד הוא רץ עם זמן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8ms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612"/>
              </a:spcBef>
              <a:buClr>
                <a:srgbClr val="000000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אם לא סיים את פעולתו התהליך נכנס לתור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Q1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612"/>
              </a:spcBef>
              <a:buClr>
                <a:srgbClr val="000000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כשתהליך מגיע מתור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Q1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למעבד הוא מקבל זמן של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16ms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612"/>
              </a:spcBef>
              <a:buClr>
                <a:srgbClr val="000000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אם לא סיים את פעולתו גם לאחר זמן זה, הוא עובר לתור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Q2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המנוהל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FCFS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ללא הגבלת זמן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612"/>
              </a:spcBef>
              <a:buClr>
                <a:srgbClr val="000000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he-IL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העדיפות לתורים הוא 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Q0,Q1,Q2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(משמאל לימין)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9" name="Picture 3" descr=""/>
          <p:cNvPicPr/>
          <p:nvPr/>
        </p:nvPicPr>
        <p:blipFill>
          <a:blip r:embed="rId1"/>
          <a:stretch/>
        </p:blipFill>
        <p:spPr>
          <a:xfrm>
            <a:off x="392040" y="1966320"/>
            <a:ext cx="3862080" cy="2574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Shortest Remaining Time First (SRTF)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67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בדומה 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SJF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רק עם חטיפה – תהליך חדש שמגיע 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ready queue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ובעל זמן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CPU burst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קטן יותר מהתהליך שנמצא במעבד, נכנס למעבד במקומו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זמן המתנה ממוצע: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[(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10-1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)+(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1-1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)+(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17-2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)+(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5-3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)]/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4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=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26/4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=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6.5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msec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2" name="Picture 3" descr=""/>
          <p:cNvPicPr/>
          <p:nvPr/>
        </p:nvPicPr>
        <p:blipFill>
          <a:blip r:embed="rId1"/>
          <a:stretch/>
        </p:blipFill>
        <p:spPr>
          <a:xfrm>
            <a:off x="4024800" y="2635920"/>
            <a:ext cx="4142160" cy="1729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Picture 4" descr=""/>
          <p:cNvPicPr/>
          <p:nvPr/>
        </p:nvPicPr>
        <p:blipFill>
          <a:blip r:embed="rId2"/>
          <a:stretch/>
        </p:blipFill>
        <p:spPr>
          <a:xfrm>
            <a:off x="1775160" y="4368240"/>
            <a:ext cx="8641440" cy="108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Shortest Remaining Time First (SRTF)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כיצד נעריך את זמן הריצה הבא של התהליך – סטטיסטיקה – מבוסס על זמני הריצה הקודמים של התהליך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לאחר מכן, נבחר את התהליך עם זמן העיבוד החזוי הקצר ביותר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בדרך כלל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Lucida Grande"/>
              </a:rPr>
              <a:t>α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Lucida Grande"/>
              </a:rPr>
              <a:t> =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½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16" name="Object 3"/>
          <p:cNvGraphicFramePr/>
          <p:nvPr/>
        </p:nvGraphicFramePr>
        <p:xfrm>
          <a:off x="838080" y="3089160"/>
          <a:ext cx="5388840" cy="1526040"/>
        </p:xfrm>
        <a:graphic>
          <a:graphicData uri="http://schemas.openxmlformats.org/presentationml/2006/ole">
            <p:oleObj progId="Equation.3" r:id="rId1" spid="">
              <p:embed/>
              <p:pic>
                <p:nvPicPr>
                  <p:cNvPr id="117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838080" y="3089160"/>
                    <a:ext cx="5388840" cy="15260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18" name="Content Placeholder 3" descr=""/>
          <p:cNvPicPr/>
          <p:nvPr/>
        </p:nvPicPr>
        <p:blipFill>
          <a:blip r:embed="rId3"/>
          <a:srcRect l="0" t="78138" r="55068" b="10924"/>
          <a:stretch/>
        </p:blipFill>
        <p:spPr>
          <a:xfrm>
            <a:off x="2307600" y="4229280"/>
            <a:ext cx="4179600" cy="750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" dur="indefinite" restart="never" nodeType="tmRoot">
          <p:childTnLst>
            <p:seq>
              <p:cTn id="38" dur="indefinite" nodeType="mainSeq">
                <p:childTnLst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Shortest Remaining Time First (SRTF)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0" name="Picture 2" descr=""/>
          <p:cNvPicPr/>
          <p:nvPr/>
        </p:nvPicPr>
        <p:blipFill>
          <a:blip r:embed="rId1"/>
          <a:stretch/>
        </p:blipFill>
        <p:spPr>
          <a:xfrm>
            <a:off x="3997800" y="1690560"/>
            <a:ext cx="6589800" cy="477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Content Placeholder 3" descr=""/>
          <p:cNvPicPr/>
          <p:nvPr/>
        </p:nvPicPr>
        <p:blipFill>
          <a:blip r:embed="rId2"/>
          <a:srcRect l="0" t="78138" r="55068" b="10924"/>
          <a:stretch/>
        </p:blipFill>
        <p:spPr>
          <a:xfrm>
            <a:off x="204480" y="4932720"/>
            <a:ext cx="3684960" cy="661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Content Placeholder 3" descr=""/>
          <p:cNvPicPr/>
          <p:nvPr/>
        </p:nvPicPr>
        <p:blipFill>
          <a:blip r:embed="rId1"/>
          <a:stretch/>
        </p:blipFill>
        <p:spPr>
          <a:xfrm>
            <a:off x="1378800" y="-14760"/>
            <a:ext cx="9303120" cy="6872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5" descr=""/>
          <p:cNvPicPr/>
          <p:nvPr/>
        </p:nvPicPr>
        <p:blipFill>
          <a:blip r:embed="rId1"/>
          <a:stretch/>
        </p:blipFill>
        <p:spPr>
          <a:xfrm>
            <a:off x="1523880" y="54000"/>
            <a:ext cx="9572040" cy="680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תמונה 3" descr=""/>
          <p:cNvPicPr/>
          <p:nvPr/>
        </p:nvPicPr>
        <p:blipFill>
          <a:blip r:embed="rId2"/>
          <a:stretch/>
        </p:blipFill>
        <p:spPr>
          <a:xfrm>
            <a:off x="96120" y="880920"/>
            <a:ext cx="3437640" cy="143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Priority Scheduling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ישנה אפשרות לבצע זימון לפי עדיפות, כך שתהליכים בעדיפות גבוהה יותר יועדפו על פני תהליכים בעדיפות נמוכה יותר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algn="r" defTabSz="914400" rtl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מבין התהליכים בעדיפות גבוהה אפשר להוסיף שיטה נוספת כגון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SJF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, כך שייבחרו התהליכים הקצרים יותר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לכל תהליך מוסיפים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integer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שמציין את העדיפות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3" descr=""/>
          <p:cNvPicPr/>
          <p:nvPr/>
        </p:nvPicPr>
        <p:blipFill>
          <a:blip r:embed="rId1"/>
          <a:stretch/>
        </p:blipFill>
        <p:spPr>
          <a:xfrm>
            <a:off x="309960" y="2989800"/>
            <a:ext cx="4479480" cy="362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Priority Scheduling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השדה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מציין את 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priority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של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process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במערכת הפעלה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Solaris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המתשמש יכול לציין עדיפות של -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60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עד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60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עדיפות של תהליך עוברת בירושה מתהליך האב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499"/>
              </a:spcBef>
              <a:buNone/>
            </a:pP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he-IL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זימון תהליכים</a:t>
            </a:r>
            <a:br>
              <a:rPr sz="4400"/>
            </a:b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Priority Scheduling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r" defTabSz="914400" rtl="1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" indent="-228600" algn="r" defTabSz="914400" rtl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he-IL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זמן המתנה ממוצע: </a:t>
            </a: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8.2msec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2" name="Picture 7" descr=""/>
          <p:cNvPicPr/>
          <p:nvPr/>
        </p:nvPicPr>
        <p:blipFill>
          <a:blip r:embed="rId1"/>
          <a:stretch/>
        </p:blipFill>
        <p:spPr>
          <a:xfrm>
            <a:off x="3961080" y="1825560"/>
            <a:ext cx="4269240" cy="220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Picture 8" descr=""/>
          <p:cNvPicPr/>
          <p:nvPr/>
        </p:nvPicPr>
        <p:blipFill>
          <a:blip r:embed="rId2"/>
          <a:stretch/>
        </p:blipFill>
        <p:spPr>
          <a:xfrm>
            <a:off x="2876400" y="4063320"/>
            <a:ext cx="6438600" cy="103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מלבן 4"/>
          <p:cNvSpPr/>
          <p:nvPr/>
        </p:nvSpPr>
        <p:spPr>
          <a:xfrm>
            <a:off x="2876400" y="4063320"/>
            <a:ext cx="388800" cy="754920"/>
          </a:xfrm>
          <a:prstGeom prst="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P2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מלבן 9"/>
          <p:cNvSpPr/>
          <p:nvPr/>
        </p:nvSpPr>
        <p:spPr>
          <a:xfrm>
            <a:off x="3265560" y="4063320"/>
            <a:ext cx="1639800" cy="754920"/>
          </a:xfrm>
          <a:prstGeom prst="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P5</a:t>
            </a:r>
            <a:endParaRPr b="0" lang="en-IL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Content Placeholder 3" descr=""/>
          <p:cNvPicPr/>
          <p:nvPr/>
        </p:nvPicPr>
        <p:blipFill>
          <a:blip r:embed="rId1"/>
          <a:stretch/>
        </p:blipFill>
        <p:spPr>
          <a:xfrm>
            <a:off x="4383360" y="0"/>
            <a:ext cx="7808400" cy="558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Picture 7" descr=""/>
          <p:cNvPicPr/>
          <p:nvPr/>
        </p:nvPicPr>
        <p:blipFill>
          <a:blip r:embed="rId2"/>
          <a:stretch/>
        </p:blipFill>
        <p:spPr>
          <a:xfrm>
            <a:off x="927360" y="3841920"/>
            <a:ext cx="7896960" cy="3015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Picture 5" descr=""/>
          <p:cNvPicPr/>
          <p:nvPr/>
        </p:nvPicPr>
        <p:blipFill>
          <a:blip r:embed="rId1"/>
          <a:stretch/>
        </p:blipFill>
        <p:spPr>
          <a:xfrm>
            <a:off x="2235240" y="19440"/>
            <a:ext cx="7982640" cy="6838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Content Placeholder 3" descr=""/>
          <p:cNvPicPr/>
          <p:nvPr/>
        </p:nvPicPr>
        <p:blipFill>
          <a:blip r:embed="rId1"/>
          <a:stretch/>
        </p:blipFill>
        <p:spPr>
          <a:xfrm>
            <a:off x="4277880" y="0"/>
            <a:ext cx="7913520" cy="261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Picture 6" descr=""/>
          <p:cNvPicPr/>
          <p:nvPr/>
        </p:nvPicPr>
        <p:blipFill>
          <a:blip r:embed="rId2"/>
          <a:stretch/>
        </p:blipFill>
        <p:spPr>
          <a:xfrm>
            <a:off x="2974680" y="2612520"/>
            <a:ext cx="9217080" cy="424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1304</TotalTime>
  <Application>LibreOffice/25.8.1.1$Linux_X86_64 LibreOffice_project/580$Build-1</Application>
  <AppVersion>15.0000</AppVersion>
  <Words>925</Words>
  <Paragraphs>149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2017-11-14T15:15:15Z</dcterms:created>
  <dc:creator>Yechezkel</dc:creator>
  <dc:description/>
  <dc:language>en-IL</dc:language>
  <cp:lastModifiedBy>גיא יחזקאל</cp:lastModifiedBy>
  <dcterms:modified xsi:type="dcterms:W3CDTF">2025-12-29T09:44:02Z</dcterms:modified>
  <cp:revision>53</cp:revision>
  <dc:subject/>
  <dc:title>זימון תהליכים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28</vt:i4>
  </property>
</Properties>
</file>