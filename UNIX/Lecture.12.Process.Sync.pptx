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2" r:id="rId6"/>
    <p:sldId id="261" r:id="rId7"/>
    <p:sldId id="263" r:id="rId8"/>
    <p:sldId id="264" r:id="rId9"/>
    <p:sldId id="265" r:id="rId10"/>
    <p:sldId id="268" r:id="rId11"/>
    <p:sldId id="267" r:id="rId12"/>
    <p:sldId id="269" r:id="rId13"/>
    <p:sldId id="270" r:id="rId14"/>
    <p:sldId id="275" r:id="rId15"/>
    <p:sldId id="277" r:id="rId16"/>
    <p:sldId id="278" r:id="rId17"/>
    <p:sldId id="271" r:id="rId18"/>
    <p:sldId id="272" r:id="rId19"/>
    <p:sldId id="273" r:id="rId20"/>
    <p:sldId id="274" r:id="rId21"/>
    <p:sldId id="276" r:id="rId22"/>
    <p:sldId id="279" r:id="rId23"/>
    <p:sldId id="280" r:id="rId24"/>
    <p:sldId id="281" r:id="rId25"/>
    <p:sldId id="282" r:id="rId26"/>
    <p:sldId id="294" r:id="rId27"/>
    <p:sldId id="295" r:id="rId28"/>
    <p:sldId id="296" r:id="rId29"/>
    <p:sldId id="293" r:id="rId30"/>
    <p:sldId id="283" r:id="rId31"/>
    <p:sldId id="285" r:id="rId32"/>
    <p:sldId id="284" r:id="rId33"/>
    <p:sldId id="286" r:id="rId34"/>
    <p:sldId id="288" r:id="rId35"/>
    <p:sldId id="287" r:id="rId36"/>
    <p:sldId id="297" r:id="rId37"/>
    <p:sldId id="299" r:id="rId38"/>
    <p:sldId id="298" r:id="rId39"/>
    <p:sldId id="301" r:id="rId40"/>
    <p:sldId id="302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9" autoAdjust="0"/>
    <p:restoredTop sz="94660"/>
  </p:normalViewPr>
  <p:slideViewPr>
    <p:cSldViewPr snapToGrid="0">
      <p:cViewPr varScale="1">
        <p:scale>
          <a:sx n="92" d="100"/>
          <a:sy n="92" d="100"/>
        </p:scale>
        <p:origin x="374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F420D-A87F-459A-9FDC-F643DA34A780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DBBFDC-1E76-44B9-B9D0-141620A97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171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DBBFDC-1E76-44B9-B9D0-141620A9740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839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F2327-8F89-4917-87EB-B8B841A1C7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A9D5BE-ECAD-4FB6-96A8-5A80310150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AE880-334A-4AB2-89E0-D7B4B2973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5D5AB-AAAA-42F8-BD3D-0454E5CFC43F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02206-FC24-45FE-9088-18D255FE9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931B1B-C6C5-43B0-821A-05C7054B2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8849-3A7D-40C1-A9F9-4BAC07132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137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5107F-A202-4E98-ACD2-B9153E82B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B4581-11F3-40B5-959A-4804645BD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58564A-7FB3-4DF9-ACA8-B6A579C0F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5D5AB-AAAA-42F8-BD3D-0454E5CFC43F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205CBB-2E1A-4D94-AD96-46905587F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FEFBE-2C25-4E6F-AA09-6BC3FFDFA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8849-3A7D-40C1-A9F9-4BAC07132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581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A8B60-D082-45C6-9DDD-390618D77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9CE38-9A55-4F49-A305-A0FF576E9E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C5F54-911B-49CE-88A3-E43B157BE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5D5AB-AAAA-42F8-BD3D-0454E5CFC43F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6A57C-9BED-4D25-9C21-60BB2C23F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93FC3-BB2C-4AA8-BE94-03FA9A38E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8849-3A7D-40C1-A9F9-4BAC07132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780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C3B83-1B12-4CC4-BDF4-895729499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708CA-D005-4B7A-BB29-BAC009AB3F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9C3BED-1680-407B-8272-EEEB21ADEF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E1F19E-CE34-4669-B6F8-E00F43BC0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5D5AB-AAAA-42F8-BD3D-0454E5CFC43F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0EBC84-B52E-4344-84FC-C53AE437E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1C98C9-ACBD-42AB-A506-61C76300B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8849-3A7D-40C1-A9F9-4BAC07132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642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69649-5982-4512-9E69-24A62D4CB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72BB04-E8FD-4DC7-A040-94357220A8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837684-E8D6-4E7A-B53C-9054795DF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C9E25B-DC34-4911-8470-F15808E99A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1180A9-AC8B-41AA-A276-ED9CBD5CEB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CB17FD-04D1-4843-9B8C-FD5F67597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5D5AB-AAAA-42F8-BD3D-0454E5CFC43F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C6797E-BBCE-4BF7-8329-433149DA6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BA8535-AFD7-4D5B-9954-7FDE8B3A5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8849-3A7D-40C1-A9F9-4BAC07132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713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74FC6-A215-46F4-A356-996049B9F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2D606C-D490-429A-9177-7CA67F546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5D5AB-AAAA-42F8-BD3D-0454E5CFC43F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6128F-F306-43A5-8787-F6C41DA6B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0C0C7F-7A09-48C9-BDF8-3AE8D16CB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8849-3A7D-40C1-A9F9-4BAC07132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436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B8E136-CF83-4B82-9906-054DA2B8D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5D5AB-AAAA-42F8-BD3D-0454E5CFC43F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6860B2-2BA6-47F3-A790-06B00403A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2BD4B6-5A1A-4A15-8FB6-EB46D4DE5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8849-3A7D-40C1-A9F9-4BAC07132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077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EEDF9-2B8A-4F50-ABEA-1F7395981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A390A-FB45-4FF0-AEEA-83FB72018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AEAB19-61C7-4321-8249-EF929C4F2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DC0AA9-0415-4428-A5E4-C2CAB38ED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5D5AB-AAAA-42F8-BD3D-0454E5CFC43F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CE7B9D-FC45-46A6-9C6D-69FEFECD7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5EA204-8B38-4E58-8748-4EEA05552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8849-3A7D-40C1-A9F9-4BAC07132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75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A7F67-2295-4961-A22F-E98D7584E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2A95A8-46D5-4C41-8537-E212A49EB1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C0D913-CC4C-496B-9F7F-4B44D2F72B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EC2E92-4BAF-4BBC-B258-1B1447C87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5D5AB-AAAA-42F8-BD3D-0454E5CFC43F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FE64A5-EC79-48F8-A59A-3C8602AF6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BA5742-CEAC-4AC5-95B3-EDC659F8F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8849-3A7D-40C1-A9F9-4BAC07132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871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898EA-8381-48FF-9942-D3BA9D323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DFCCB-5EC0-4C38-BBDB-B02BCF5F3D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ABCAA-9182-4A48-A648-986D7F254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5D5AB-AAAA-42F8-BD3D-0454E5CFC43F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A92B7-E318-448F-9179-F56415CC8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00DAA-1955-4CF2-859F-AD3E9700C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8849-3A7D-40C1-A9F9-4BAC07132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879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C6A0C8-A295-4802-8979-578CDBA848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6B28CC-1098-4C39-8440-D1F94F6FA5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DBE5C-1E15-49A8-801B-2EAC97106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5D5AB-AAAA-42F8-BD3D-0454E5CFC43F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726B4-B118-46AE-9ACD-75B38EF01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55D2F-9F32-42AE-ABD7-1118A7C5C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68849-3A7D-40C1-A9F9-4BAC07132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519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5827B6-0A83-4B38-AE3A-3C78FC55A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22AE4-37FC-4516-A737-0C003782E3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D68DC-3371-4ADE-8E79-2ABD5E0897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5D5AB-AAAA-42F8-BD3D-0454E5CFC43F}" type="datetimeFigureOut">
              <a:rPr lang="en-US" smtClean="0"/>
              <a:t>10/18/2023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DF247-2508-46B8-8A1E-22C8DCFE5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14CCE-DA6C-4D7F-A67D-BAACE93F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368849-3A7D-40C1-A9F9-4BAC07132D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77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10E26-39E6-49B0-A65A-6D2A027798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 dirty="0"/>
              <a:t>סינכרון תהליכים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EF155E-FB33-4BD8-A529-2438DB3149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Process Synchronization</a:t>
            </a:r>
          </a:p>
        </p:txBody>
      </p:sp>
    </p:spTree>
    <p:extLst>
      <p:ext uri="{BB962C8B-B14F-4D97-AF65-F5344CB8AC3E}">
        <p14:creationId xmlns:p14="http://schemas.microsoft.com/office/powerpoint/2010/main" val="161721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C4073-A430-4C2D-920F-D58C8930F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Process Synchronization</a:t>
            </a:r>
            <a:br>
              <a:rPr lang="he-IL" dirty="0"/>
            </a:br>
            <a:r>
              <a:rPr lang="he-IL" sz="2800" dirty="0"/>
              <a:t>מטרות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092AD-2A66-48C2-B2FF-51C0C6234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להציג את עקרונות סנכון תהליכים</a:t>
            </a:r>
          </a:p>
          <a:p>
            <a:pPr algn="r" rtl="1"/>
            <a:r>
              <a:rPr lang="he-IL" dirty="0"/>
              <a:t>להציג את בעיית הקטע הקריטי, שפתרונותיה מאפשרים שיתוף מידע</a:t>
            </a:r>
          </a:p>
          <a:p>
            <a:pPr algn="r" rtl="1"/>
            <a:r>
              <a:rPr lang="he-IL" dirty="0"/>
              <a:t>להציג פתרונות תוכנה וחומרה לבעיית הקטע הקריטי</a:t>
            </a:r>
          </a:p>
          <a:p>
            <a:pPr algn="r" rtl="1"/>
            <a:r>
              <a:rPr lang="he-IL" dirty="0"/>
              <a:t>להציג את פתרונות המנעולים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504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C4073-A430-4C2D-920F-D58C8930F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Process Synchronization</a:t>
            </a:r>
            <a:br>
              <a:rPr lang="he-IL" dirty="0"/>
            </a:br>
            <a:r>
              <a:rPr lang="he-IL" dirty="0"/>
              <a:t>רקע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092AD-2A66-48C2-B2FF-51C0C6234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תהליכים יכולים להתבצע בו זמנית, יכולים להיות מופסקים בכל זמן נתון</a:t>
            </a:r>
          </a:p>
          <a:p>
            <a:pPr lvl="1" algn="r" rtl="1"/>
            <a:r>
              <a:rPr lang="he-IL" dirty="0"/>
              <a:t>חלק מהזמן אפילו באמצע פעולה חישובית</a:t>
            </a:r>
          </a:p>
          <a:p>
            <a:pPr algn="r" rtl="1"/>
            <a:r>
              <a:rPr lang="he-IL" dirty="0"/>
              <a:t>גישה בו זמנית למידע משותף עלולה לגרום לחוסר עקביות</a:t>
            </a:r>
          </a:p>
          <a:p>
            <a:pPr algn="r" rtl="1"/>
            <a:r>
              <a:rPr lang="he-IL" dirty="0"/>
              <a:t>שמירה על עקביות ואמינות המידע דורשת שיטות להבטיח ביצוע פעולות מסודרת</a:t>
            </a:r>
          </a:p>
        </p:txBody>
      </p:sp>
    </p:spTree>
    <p:extLst>
      <p:ext uri="{BB962C8B-B14F-4D97-AF65-F5344CB8AC3E}">
        <p14:creationId xmlns:p14="http://schemas.microsoft.com/office/powerpoint/2010/main" val="430785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C4073-A430-4C2D-920F-D58C8930F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Process Synchronization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092AD-2A66-48C2-B2FF-51C0C6234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algn="r" rtl="1"/>
            <a:r>
              <a:rPr lang="he-IL" dirty="0"/>
              <a:t>בעיית יצרן-צרכן: שני תהליכים (או יותר) חולקים חוצץ </a:t>
            </a:r>
            <a:r>
              <a:rPr lang="en-US" dirty="0"/>
              <a:t>(Buffer)</a:t>
            </a:r>
            <a:r>
              <a:rPr lang="he-IL" dirty="0"/>
              <a:t> המוגבל בגודלו.</a:t>
            </a:r>
          </a:p>
          <a:p>
            <a:pPr algn="r" rtl="1"/>
            <a:r>
              <a:rPr lang="he-IL" dirty="0"/>
              <a:t>היצרן – אחראי להכניס מידע לחוצץ</a:t>
            </a:r>
          </a:p>
          <a:p>
            <a:pPr algn="r" rtl="1"/>
            <a:r>
              <a:rPr lang="he-IL" dirty="0"/>
              <a:t>הצרכן – אחראי לשלוף מידע מהחוצץ</a:t>
            </a:r>
          </a:p>
          <a:p>
            <a:pPr algn="r" rtl="1"/>
            <a:r>
              <a:rPr lang="he-IL" dirty="0"/>
              <a:t>דרוש מנגנון שימנע משני התהליכים לעדכן את אותה רשומה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281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C4073-A430-4C2D-920F-D58C8930F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Process Synchronization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092AD-2A66-48C2-B2FF-51C0C6234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r" rtl="1"/>
            <a:r>
              <a:rPr lang="he-IL" b="1" dirty="0"/>
              <a:t>יצרן:</a:t>
            </a:r>
            <a:endParaRPr lang="he-IL" dirty="0"/>
          </a:p>
          <a:p>
            <a:pPr>
              <a:spcBef>
                <a:spcPts val="738"/>
              </a:spcBef>
              <a:buClrTx/>
              <a:buSzPct val="90000"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(true) {</a:t>
            </a:r>
            <a:b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/* produce an item in next produced */ </a:t>
            </a:r>
          </a:p>
          <a:p>
            <a:pPr>
              <a:spcBef>
                <a:spcPts val="738"/>
              </a:spcBef>
              <a:buClrTx/>
              <a:buSzPct val="90000"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>
              <a:spcBef>
                <a:spcPts val="738"/>
              </a:spcBef>
              <a:buClrTx/>
              <a:buSzPct val="90000"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while (counter == BUFFER_SIZE) </a:t>
            </a:r>
          </a:p>
          <a:p>
            <a:pPr>
              <a:spcBef>
                <a:spcPts val="738"/>
              </a:spcBef>
              <a:buClrTx/>
              <a:buSzPct val="90000"/>
              <a:buFontTx/>
              <a:buNone/>
            </a:pPr>
            <a:r>
              <a:rPr lang="en-US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;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/* do nothing */ </a:t>
            </a:r>
          </a:p>
          <a:p>
            <a:pPr>
              <a:spcBef>
                <a:spcPts val="738"/>
              </a:spcBef>
              <a:buClrTx/>
              <a:buSzPct val="90000"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buffer[in] = 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next_produced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>
              <a:spcBef>
                <a:spcPts val="738"/>
              </a:spcBef>
              <a:buClrTx/>
              <a:buSzPct val="90000"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in = (in + 1) % BUFFER_SIZE; </a:t>
            </a:r>
          </a:p>
          <a:p>
            <a:pPr>
              <a:spcBef>
                <a:spcPts val="738"/>
              </a:spcBef>
              <a:buClrTx/>
              <a:buSzPct val="90000"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counter++; </a:t>
            </a:r>
          </a:p>
          <a:p>
            <a:pPr>
              <a:spcBef>
                <a:spcPts val="738"/>
              </a:spcBef>
              <a:buClrTx/>
              <a:buSzPct val="90000"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 algn="r" rtl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81863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C4073-A430-4C2D-920F-D58C8930F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Process Synchronization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092AD-2A66-48C2-B2FF-51C0C6234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b="1" dirty="0"/>
              <a:t>צרכן:</a:t>
            </a:r>
          </a:p>
          <a:p>
            <a:pPr>
              <a:spcBef>
                <a:spcPts val="700"/>
              </a:spcBef>
              <a:buClrTx/>
              <a:buSzPct val="90000"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(true) {</a:t>
            </a:r>
          </a:p>
          <a:p>
            <a:pPr>
              <a:spcBef>
                <a:spcPts val="700"/>
              </a:spcBef>
              <a:buClrTx/>
              <a:buSzPct val="90000"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while (counter == 0) </a:t>
            </a:r>
          </a:p>
          <a:p>
            <a:pPr>
              <a:spcBef>
                <a:spcPts val="700"/>
              </a:spcBef>
              <a:buClrTx/>
              <a:buSzPct val="90000"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/* do nothing */ </a:t>
            </a:r>
          </a:p>
          <a:p>
            <a:pPr>
              <a:spcBef>
                <a:spcPts val="700"/>
              </a:spcBef>
              <a:buClrTx/>
              <a:buSzPct val="90000"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next_consumed</a:t>
            </a: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buffer[out]; </a:t>
            </a:r>
          </a:p>
          <a:p>
            <a:pPr>
              <a:spcBef>
                <a:spcPts val="700"/>
              </a:spcBef>
              <a:buClrTx/>
              <a:buSzPct val="90000"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out = (out + 1) % BUFFER_SIZE; 	</a:t>
            </a:r>
          </a:p>
          <a:p>
            <a:pPr>
              <a:spcBef>
                <a:spcPts val="700"/>
              </a:spcBef>
              <a:buClrTx/>
              <a:buSzPct val="90000"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counter--; </a:t>
            </a:r>
          </a:p>
          <a:p>
            <a:pPr>
              <a:spcBef>
                <a:spcPts val="700"/>
              </a:spcBef>
              <a:buClrTx/>
              <a:buSzPct val="90000"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/* consume the item in next consumed */ </a:t>
            </a:r>
          </a:p>
          <a:p>
            <a:pPr>
              <a:spcBef>
                <a:spcPts val="700"/>
              </a:spcBef>
              <a:buClrTx/>
              <a:buSzPct val="90000"/>
              <a:buFontTx/>
              <a:buNone/>
            </a:pPr>
            <a:r>
              <a:rPr lang="en-US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 algn="r" rtl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1004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C4073-A430-4C2D-920F-D58C8930F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Process Synchronization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092AD-2A66-48C2-B2FF-51C0C6234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700"/>
              </a:spcBef>
              <a:buClr>
                <a:srgbClr val="993300"/>
              </a:buClr>
              <a:buSzPct val="90000"/>
              <a:buFont typeface="Monotype Sorts" charset="2"/>
              <a:buChar char=""/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counter++ </a:t>
            </a:r>
            <a:r>
              <a:rPr lang="en-US" sz="1600" dirty="0">
                <a:latin typeface="Arial" pitchFamily="34" charset="0"/>
              </a:rPr>
              <a:t>could be implemented as</a:t>
            </a:r>
            <a:br>
              <a:rPr lang="en-US" sz="1600" dirty="0">
                <a:latin typeface="Arial" pitchFamily="34" charset="0"/>
              </a:rPr>
            </a:br>
            <a:br>
              <a:rPr lang="en-US" sz="1600" dirty="0">
                <a:latin typeface="Arial" pitchFamily="34" charset="0"/>
              </a:rPr>
            </a:b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register1 = counter</a:t>
            </a:r>
            <a:b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 register1 = register1 + 1</a:t>
            </a:r>
            <a:b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 counter = register1</a:t>
            </a:r>
          </a:p>
          <a:p>
            <a:pPr>
              <a:spcBef>
                <a:spcPts val="700"/>
              </a:spcBef>
              <a:buClr>
                <a:srgbClr val="993300"/>
              </a:buClr>
              <a:buSzPct val="90000"/>
              <a:buFont typeface="Monotype Sorts" charset="2"/>
              <a:buChar char=""/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counter--</a:t>
            </a:r>
            <a:r>
              <a:rPr lang="en-US" sz="1600" b="1" dirty="0">
                <a:solidFill>
                  <a:srgbClr val="9999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>
                <a:latin typeface="Arial" pitchFamily="34" charset="0"/>
              </a:rPr>
              <a:t>could be implemented as</a:t>
            </a:r>
            <a:br>
              <a:rPr lang="en-US" sz="1600" dirty="0">
                <a:latin typeface="Arial" pitchFamily="34" charset="0"/>
              </a:rPr>
            </a:br>
            <a:br>
              <a:rPr lang="en-US" sz="1600" dirty="0">
                <a:latin typeface="Arial" pitchFamily="34" charset="0"/>
              </a:rPr>
            </a:br>
            <a:r>
              <a:rPr lang="en-US" sz="1600" b="1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sz="1600" b="1" dirty="0">
                <a:solidFill>
                  <a:srgbClr val="999900"/>
                </a:solidFill>
                <a:latin typeface="Courier New" pitchFamily="49" charset="0"/>
                <a:cs typeface="Courier New" pitchFamily="49" charset="0"/>
              </a:rPr>
              <a:t>register2 = counter</a:t>
            </a:r>
            <a:br>
              <a:rPr lang="en-US" sz="1600" b="1" dirty="0">
                <a:solidFill>
                  <a:srgbClr val="9999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1600" b="1" dirty="0">
                <a:solidFill>
                  <a:srgbClr val="999900"/>
                </a:solidFill>
                <a:latin typeface="Courier New" pitchFamily="49" charset="0"/>
                <a:cs typeface="Courier New" pitchFamily="49" charset="0"/>
              </a:rPr>
              <a:t>     register2 = register2 - 1</a:t>
            </a:r>
            <a:br>
              <a:rPr lang="en-US" sz="1600" b="1" dirty="0">
                <a:solidFill>
                  <a:srgbClr val="99990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sz="1600" b="1" dirty="0">
                <a:solidFill>
                  <a:srgbClr val="999900"/>
                </a:solidFill>
                <a:latin typeface="Courier New" pitchFamily="49" charset="0"/>
                <a:cs typeface="Courier New" pitchFamily="49" charset="0"/>
              </a:rPr>
              <a:t>     counter = register2</a:t>
            </a:r>
          </a:p>
          <a:p>
            <a:pPr marL="341313">
              <a:spcBef>
                <a:spcPts val="350"/>
              </a:spcBef>
              <a:buSzPct val="90000"/>
              <a:buNone/>
              <a:defRPr/>
            </a:pPr>
            <a:endParaRPr lang="en-US" sz="800" dirty="0">
              <a:solidFill>
                <a:srgbClr val="999900"/>
              </a:solidFill>
              <a:latin typeface="Arial" pitchFamily="34" charset="0"/>
            </a:endParaRPr>
          </a:p>
          <a:p>
            <a:pPr>
              <a:spcBef>
                <a:spcPts val="700"/>
              </a:spcBef>
              <a:buClr>
                <a:srgbClr val="993300"/>
              </a:buClr>
              <a:buSzPct val="90000"/>
              <a:buFont typeface="Monotype Sorts" charset="2"/>
              <a:buChar char=""/>
              <a:defRPr/>
            </a:pPr>
            <a:r>
              <a:rPr lang="en-US" sz="1600" dirty="0">
                <a:latin typeface="Arial" pitchFamily="34" charset="0"/>
              </a:rPr>
              <a:t>Consider this execution interleaving with </a:t>
            </a:r>
            <a:r>
              <a:rPr lang="ja-JP" altLang="en-US" sz="1600" dirty="0">
                <a:latin typeface="Arial" pitchFamily="34" charset="0"/>
              </a:rPr>
              <a:t>“</a:t>
            </a:r>
            <a:r>
              <a:rPr lang="en-US" sz="1600" dirty="0">
                <a:latin typeface="Arial" pitchFamily="34" charset="0"/>
              </a:rPr>
              <a:t>count = 5</a:t>
            </a:r>
            <a:r>
              <a:rPr lang="ja-JP" altLang="en-US" sz="1600" dirty="0">
                <a:latin typeface="Arial" pitchFamily="34" charset="0"/>
              </a:rPr>
              <a:t>”</a:t>
            </a:r>
            <a:r>
              <a:rPr lang="en-US" sz="1600" dirty="0">
                <a:latin typeface="Arial" pitchFamily="34" charset="0"/>
              </a:rPr>
              <a:t> initially:</a:t>
            </a:r>
          </a:p>
          <a:p>
            <a:pPr lvl="1">
              <a:spcBef>
                <a:spcPts val="700"/>
              </a:spcBef>
              <a:buSzPct val="80000"/>
              <a:buNone/>
              <a:defRPr/>
            </a:pPr>
            <a:r>
              <a:rPr lang="en-US" sz="1600" dirty="0">
                <a:latin typeface="Arial" pitchFamily="34" charset="0"/>
              </a:rPr>
              <a:t>	S0: producer execute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</a:rPr>
              <a:t>register1 = counter</a:t>
            </a:r>
            <a:r>
              <a:rPr lang="en-US" sz="1600" b="1" dirty="0">
                <a:latin typeface="Courier New" pitchFamily="49" charset="0"/>
              </a:rPr>
              <a:t>         </a:t>
            </a:r>
            <a:r>
              <a:rPr lang="en-US" sz="1600" dirty="0">
                <a:latin typeface="Arial" pitchFamily="34" charset="0"/>
              </a:rPr>
              <a:t>{register1 = 5}</a:t>
            </a:r>
            <a:br>
              <a:rPr lang="en-US" sz="1600" dirty="0">
                <a:latin typeface="Arial" pitchFamily="34" charset="0"/>
              </a:rPr>
            </a:br>
            <a:r>
              <a:rPr lang="en-US" sz="1600" dirty="0">
                <a:latin typeface="Arial" pitchFamily="34" charset="0"/>
              </a:rPr>
              <a:t>S1: producer execute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</a:rPr>
              <a:t>register1 = register1 + 1   </a:t>
            </a:r>
            <a:r>
              <a:rPr lang="en-US" sz="1600" dirty="0">
                <a:latin typeface="Arial" pitchFamily="34" charset="0"/>
              </a:rPr>
              <a:t>{register1 = 6} </a:t>
            </a:r>
            <a:br>
              <a:rPr lang="en-US" sz="1600" dirty="0">
                <a:latin typeface="Arial" pitchFamily="34" charset="0"/>
              </a:rPr>
            </a:br>
            <a:r>
              <a:rPr lang="en-US" sz="1600" dirty="0">
                <a:latin typeface="Arial" pitchFamily="34" charset="0"/>
              </a:rPr>
              <a:t>S2: consumer execute </a:t>
            </a:r>
            <a:r>
              <a:rPr lang="en-US" sz="1600" b="1" dirty="0">
                <a:solidFill>
                  <a:srgbClr val="999900"/>
                </a:solidFill>
                <a:latin typeface="Courier New" pitchFamily="49" charset="0"/>
              </a:rPr>
              <a:t>register2 = counter</a:t>
            </a:r>
            <a:r>
              <a:rPr lang="en-US" sz="1600" b="1" dirty="0">
                <a:latin typeface="Courier New" pitchFamily="49" charset="0"/>
              </a:rPr>
              <a:t>        </a:t>
            </a:r>
            <a:r>
              <a:rPr lang="en-US" sz="1600" dirty="0">
                <a:latin typeface="Arial" pitchFamily="34" charset="0"/>
              </a:rPr>
              <a:t>{register2 = 5} </a:t>
            </a:r>
            <a:br>
              <a:rPr lang="en-US" sz="1600" dirty="0">
                <a:latin typeface="Arial" pitchFamily="34" charset="0"/>
              </a:rPr>
            </a:br>
            <a:r>
              <a:rPr lang="en-US" sz="1600" dirty="0">
                <a:latin typeface="Arial" pitchFamily="34" charset="0"/>
              </a:rPr>
              <a:t>S3: consumer execute </a:t>
            </a:r>
            <a:r>
              <a:rPr lang="en-US" sz="1600" b="1" dirty="0">
                <a:solidFill>
                  <a:srgbClr val="999900"/>
                </a:solidFill>
                <a:latin typeface="Courier New" pitchFamily="49" charset="0"/>
              </a:rPr>
              <a:t>register2 = register2 – 1  </a:t>
            </a:r>
            <a:r>
              <a:rPr lang="en-US" sz="1600" dirty="0">
                <a:latin typeface="Arial" pitchFamily="34" charset="0"/>
              </a:rPr>
              <a:t>{register2 = 4} </a:t>
            </a:r>
            <a:br>
              <a:rPr lang="en-US" sz="1600" dirty="0">
                <a:latin typeface="Arial" pitchFamily="34" charset="0"/>
              </a:rPr>
            </a:br>
            <a:r>
              <a:rPr lang="en-US" sz="1600" dirty="0">
                <a:latin typeface="Arial" pitchFamily="34" charset="0"/>
              </a:rPr>
              <a:t>S4: producer execute </a:t>
            </a:r>
            <a:r>
              <a:rPr lang="en-US" sz="1600" b="1" dirty="0">
                <a:solidFill>
                  <a:srgbClr val="0000FF"/>
                </a:solidFill>
                <a:latin typeface="Courier New" pitchFamily="49" charset="0"/>
              </a:rPr>
              <a:t>counter = register1         </a:t>
            </a:r>
            <a:r>
              <a:rPr lang="en-US" sz="1600" dirty="0">
                <a:latin typeface="Arial" pitchFamily="34" charset="0"/>
              </a:rPr>
              <a:t>{counter = 6 } </a:t>
            </a:r>
            <a:br>
              <a:rPr lang="en-US" sz="1600" dirty="0">
                <a:latin typeface="Arial" pitchFamily="34" charset="0"/>
              </a:rPr>
            </a:br>
            <a:r>
              <a:rPr lang="en-US" sz="1600" dirty="0">
                <a:latin typeface="Arial" pitchFamily="34" charset="0"/>
              </a:rPr>
              <a:t>S5: consumer execute </a:t>
            </a:r>
            <a:r>
              <a:rPr lang="en-US" sz="1600" b="1" dirty="0">
                <a:solidFill>
                  <a:srgbClr val="999900"/>
                </a:solidFill>
                <a:latin typeface="Courier New" pitchFamily="49" charset="0"/>
              </a:rPr>
              <a:t>counter = register2        </a:t>
            </a:r>
            <a:r>
              <a:rPr lang="en-US" sz="1600" dirty="0">
                <a:latin typeface="Arial" pitchFamily="34" charset="0"/>
              </a:rPr>
              <a:t>{counter = 4}</a:t>
            </a:r>
          </a:p>
        </p:txBody>
      </p:sp>
    </p:spTree>
    <p:extLst>
      <p:ext uri="{BB962C8B-B14F-4D97-AF65-F5344CB8AC3E}">
        <p14:creationId xmlns:p14="http://schemas.microsoft.com/office/powerpoint/2010/main" val="183052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C4073-A430-4C2D-920F-D58C8930F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Critical Section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092AD-2A66-48C2-B2FF-51C0C6234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נניח רשימה של </a:t>
            </a:r>
            <a:r>
              <a:rPr lang="en-US" dirty="0"/>
              <a:t>n</a:t>
            </a:r>
            <a:r>
              <a:rPr lang="he-IL" dirty="0"/>
              <a:t> תהליכים: </a:t>
            </a:r>
            <a:r>
              <a:rPr lang="en-US" dirty="0">
                <a:latin typeface="Arial" pitchFamily="34" charset="0"/>
              </a:rPr>
              <a:t>{</a:t>
            </a:r>
            <a:r>
              <a:rPr lang="en-US" b="1" i="1" dirty="0">
                <a:latin typeface="Arial" pitchFamily="34" charset="0"/>
              </a:rPr>
              <a:t>p</a:t>
            </a:r>
            <a:r>
              <a:rPr lang="en-US" b="1" i="1" baseline="-25000" dirty="0">
                <a:latin typeface="Arial" pitchFamily="34" charset="0"/>
              </a:rPr>
              <a:t>0</a:t>
            </a:r>
            <a:r>
              <a:rPr lang="en-US" b="1" i="1" dirty="0">
                <a:latin typeface="Arial" pitchFamily="34" charset="0"/>
              </a:rPr>
              <a:t>, p</a:t>
            </a:r>
            <a:r>
              <a:rPr lang="en-US" b="1" i="1" baseline="-25000" dirty="0">
                <a:latin typeface="Arial" pitchFamily="34" charset="0"/>
              </a:rPr>
              <a:t>1</a:t>
            </a:r>
            <a:r>
              <a:rPr lang="en-US" b="1" i="1" dirty="0">
                <a:latin typeface="Arial" pitchFamily="34" charset="0"/>
              </a:rPr>
              <a:t>, … p</a:t>
            </a:r>
            <a:r>
              <a:rPr lang="en-US" b="1" i="1" baseline="-25000" dirty="0">
                <a:latin typeface="Arial" pitchFamily="34" charset="0"/>
              </a:rPr>
              <a:t>n-1</a:t>
            </a:r>
            <a:r>
              <a:rPr lang="en-US" dirty="0">
                <a:latin typeface="Arial" pitchFamily="34" charset="0"/>
              </a:rPr>
              <a:t>}</a:t>
            </a:r>
          </a:p>
          <a:p>
            <a:pPr algn="r" rtl="1"/>
            <a:r>
              <a:rPr lang="he-IL" dirty="0"/>
              <a:t>לכל תהליך ישנו חלק בקוד שהוא </a:t>
            </a:r>
            <a:r>
              <a:rPr lang="he-IL" b="1" dirty="0"/>
              <a:t>קטע קריטי</a:t>
            </a:r>
            <a:endParaRPr lang="he-IL" dirty="0"/>
          </a:p>
          <a:p>
            <a:pPr lvl="1" algn="r" rtl="1"/>
            <a:r>
              <a:rPr lang="he-IL" dirty="0"/>
              <a:t>תהליכים יכולים לשנות משתנים משותפים, עדכון טבלאות, כתיבה לקובץ וכד'</a:t>
            </a:r>
          </a:p>
          <a:p>
            <a:pPr lvl="1" algn="r" rtl="1"/>
            <a:r>
              <a:rPr lang="he-IL" b="1" dirty="0"/>
              <a:t>כאשר תהליך אחד נמצא בקטע הקריטי, לשום תהליך אחר אסור להיכנס לקטע הקריטי שלו</a:t>
            </a:r>
          </a:p>
          <a:p>
            <a:pPr algn="r" rtl="1"/>
            <a:r>
              <a:rPr lang="he-IL" dirty="0"/>
              <a:t>בעיית הקטע הקריטי היא לתכנן מנגנון לפתרון זה</a:t>
            </a:r>
          </a:p>
          <a:p>
            <a:pPr algn="r" rtl="1"/>
            <a:r>
              <a:rPr lang="he-IL" dirty="0"/>
              <a:t>כל תהליך חייב לבקש אישור על מנת להיכנס לקטע הקריטי</a:t>
            </a:r>
          </a:p>
          <a:p>
            <a:pPr lvl="1" algn="r" rtl="1"/>
            <a:r>
              <a:rPr lang="he-IL" dirty="0"/>
              <a:t>ייתכן ולאחר הקטע הקריטי יהיה איזור יציאה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8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C4073-A430-4C2D-920F-D58C8930F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Critical Section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092AD-2A66-48C2-B2FF-51C0C6234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מבנה כללי של תהליך </a:t>
            </a:r>
            <a:r>
              <a:rPr lang="en-US" altLang="en-US" b="1" i="1" dirty="0">
                <a:solidFill>
                  <a:srgbClr val="000000"/>
                </a:solidFill>
                <a:latin typeface="Arial" panose="020B0604020202020204" pitchFamily="34" charset="0"/>
              </a:rPr>
              <a:t>P</a:t>
            </a:r>
            <a:r>
              <a:rPr lang="en-US" altLang="en-US" b="1" i="1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i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BE841D-6F1F-47EC-9077-1A0DBF83A8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6990" y="2385060"/>
            <a:ext cx="4678019" cy="32324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28197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C4073-A430-4C2D-920F-D58C8930F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Critical Section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092AD-2A66-48C2-B2FF-51C0C6234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dirty="0"/>
              <a:t>ישנם שלושה תנאים עבור הקטע הקריטי שפתרון לבעייה חייב לספק</a:t>
            </a:r>
            <a:r>
              <a:rPr lang="en-US" dirty="0"/>
              <a:t> </a:t>
            </a:r>
            <a:r>
              <a:rPr lang="he-IL" dirty="0"/>
              <a:t>(לעיתים נסתפק בשניים מתוכם)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en-US" b="1" u="sng" dirty="0"/>
              <a:t>Mutual Exclusion</a:t>
            </a:r>
            <a:r>
              <a:rPr lang="he-IL" b="1" u="sng" dirty="0"/>
              <a:t> - מניעה הדדית:</a:t>
            </a:r>
            <a:r>
              <a:rPr lang="he-IL" b="1" dirty="0"/>
              <a:t> </a:t>
            </a:r>
            <a:r>
              <a:rPr lang="he-IL" dirty="0"/>
              <a:t>אם תהליך </a:t>
            </a:r>
            <a:r>
              <a:rPr lang="en-US" altLang="en-US" b="1" i="1" dirty="0">
                <a:solidFill>
                  <a:srgbClr val="000000"/>
                </a:solidFill>
                <a:latin typeface="Arial" panose="020B0604020202020204" pitchFamily="34" charset="0"/>
              </a:rPr>
              <a:t>P</a:t>
            </a:r>
            <a:r>
              <a:rPr lang="en-US" altLang="en-US" b="1" i="1" baseline="-25000" dirty="0">
                <a:solidFill>
                  <a:srgbClr val="000000"/>
                </a:solidFill>
                <a:latin typeface="Arial" panose="020B0604020202020204" pitchFamily="34" charset="0"/>
              </a:rPr>
              <a:t>i</a:t>
            </a:r>
            <a:r>
              <a:rPr lang="he-IL" dirty="0"/>
              <a:t> מתבצע באיזור הקטע הקריטי, שום תהליך אחר לא יכול להתבצע באותו קטע קריטי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en-US" b="1" u="sng" dirty="0"/>
              <a:t>Progress</a:t>
            </a:r>
            <a:r>
              <a:rPr lang="he-IL" b="1" u="sng" dirty="0"/>
              <a:t> - התקדמות:</a:t>
            </a:r>
            <a:r>
              <a:rPr lang="he-IL" dirty="0"/>
              <a:t> אם אין אף תהליך שמתבצע בקטע הקריטי, וישנם תהליכים שמעוניינים להיכנס לקטע הקריטי, אז הכניסה של אחד מהתהליכים האלו לקטע הקריטי לא תידחה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en-US" b="1" u="sng" dirty="0"/>
              <a:t>Bounded-waiting</a:t>
            </a:r>
            <a:r>
              <a:rPr lang="he-IL" b="1" u="sng" dirty="0"/>
              <a:t> - חסם המתנה:</a:t>
            </a:r>
            <a:r>
              <a:rPr lang="he-IL" dirty="0"/>
              <a:t> חייב להיות חסם על מספר הפעמים שתהליכים אחרים מורשים להיכנס לאיזור הקריטי שלהם אחרי שתהליך מסויים ביצע בקשה להיכנס לקטע הקריטי</a:t>
            </a:r>
            <a:endParaRPr lang="he-IL" b="1" u="sng" dirty="0"/>
          </a:p>
        </p:txBody>
      </p:sp>
    </p:spTree>
    <p:extLst>
      <p:ext uri="{BB962C8B-B14F-4D97-AF65-F5344CB8AC3E}">
        <p14:creationId xmlns:p14="http://schemas.microsoft.com/office/powerpoint/2010/main" val="1878895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C4073-A430-4C2D-920F-D58C8930F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Critical Section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092AD-2A66-48C2-B2FF-51C0C6234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en-US" dirty="0"/>
              <a:t>Shared Variables:</a:t>
            </a:r>
          </a:p>
          <a:p>
            <a:pPr lvl="2"/>
            <a:r>
              <a:rPr lang="en-US" altLang="en-US" b="1" dirty="0" err="1"/>
              <a:t>var</a:t>
            </a:r>
            <a:r>
              <a:rPr lang="en-US" altLang="en-US" dirty="0"/>
              <a:t> </a:t>
            </a:r>
            <a:r>
              <a:rPr lang="en-US" altLang="en-US" i="1" dirty="0"/>
              <a:t>turn</a:t>
            </a:r>
            <a:r>
              <a:rPr lang="en-US" altLang="en-US" dirty="0"/>
              <a:t>: (0..1);</a:t>
            </a:r>
          </a:p>
          <a:p>
            <a:pPr lvl="2">
              <a:buNone/>
            </a:pPr>
            <a:r>
              <a:rPr lang="en-US" altLang="en-US" dirty="0"/>
              <a:t>   initially </a:t>
            </a:r>
            <a:r>
              <a:rPr lang="en-US" altLang="en-US" i="1" dirty="0"/>
              <a:t>turn</a:t>
            </a:r>
            <a:r>
              <a:rPr lang="en-US" altLang="en-US" dirty="0"/>
              <a:t> = 0;</a:t>
            </a:r>
          </a:p>
          <a:p>
            <a:pPr lvl="2"/>
            <a:r>
              <a:rPr lang="en-US" altLang="en-US" i="1" dirty="0"/>
              <a:t>turn</a:t>
            </a:r>
            <a:r>
              <a:rPr lang="en-US" altLang="en-US" dirty="0"/>
              <a:t> = </a:t>
            </a:r>
            <a:r>
              <a:rPr lang="en-US" altLang="en-US" i="1" dirty="0" err="1"/>
              <a:t>i</a:t>
            </a:r>
            <a:r>
              <a:rPr lang="en-US" altLang="en-US" i="1" dirty="0"/>
              <a:t> </a:t>
            </a:r>
            <a:r>
              <a:rPr lang="en-US" altLang="en-US" dirty="0">
                <a:sym typeface="Monotype Sorts" charset="2"/>
              </a:rPr>
              <a:t> P</a:t>
            </a:r>
            <a:r>
              <a:rPr lang="en-US" altLang="en-US" sz="1500" i="1" dirty="0">
                <a:sym typeface="Monotype Sorts" charset="2"/>
              </a:rPr>
              <a:t>i</a:t>
            </a:r>
            <a:r>
              <a:rPr lang="en-US" altLang="en-US" dirty="0">
                <a:sym typeface="Monotype Sorts" charset="2"/>
              </a:rPr>
              <a:t> can enter its critical section</a:t>
            </a:r>
          </a:p>
          <a:p>
            <a:pPr lvl="1"/>
            <a:r>
              <a:rPr lang="en-US" altLang="en-US" dirty="0"/>
              <a:t>Process </a:t>
            </a:r>
            <a:r>
              <a:rPr lang="en-US" altLang="en-US" i="1" dirty="0"/>
              <a:t>P</a:t>
            </a:r>
            <a:r>
              <a:rPr lang="en-US" altLang="en-US" sz="1500" i="1" dirty="0"/>
              <a:t>i</a:t>
            </a:r>
            <a:endParaRPr lang="en-US" altLang="en-US" dirty="0"/>
          </a:p>
          <a:p>
            <a:pPr lvl="2">
              <a:lnSpc>
                <a:spcPct val="70000"/>
              </a:lnSpc>
              <a:buNone/>
            </a:pPr>
            <a:r>
              <a:rPr lang="en-US" altLang="en-US" b="1" dirty="0">
                <a:solidFill>
                  <a:schemeClr val="accent1"/>
                </a:solidFill>
              </a:rPr>
              <a:t>		repeat</a:t>
            </a:r>
            <a:endParaRPr lang="en-US" altLang="en-US" dirty="0">
              <a:solidFill>
                <a:schemeClr val="accent1"/>
              </a:solidFill>
            </a:endParaRPr>
          </a:p>
          <a:p>
            <a:pPr lvl="2">
              <a:lnSpc>
                <a:spcPct val="70000"/>
              </a:lnSpc>
              <a:buNone/>
            </a:pPr>
            <a:r>
              <a:rPr lang="en-US" altLang="en-US" dirty="0">
                <a:solidFill>
                  <a:schemeClr val="accent1"/>
                </a:solidFill>
              </a:rPr>
              <a:t>		           </a:t>
            </a:r>
            <a:r>
              <a:rPr lang="en-US" altLang="en-US" b="1" dirty="0">
                <a:solidFill>
                  <a:srgbClr val="6600FF"/>
                </a:solidFill>
              </a:rPr>
              <a:t>while </a:t>
            </a:r>
            <a:r>
              <a:rPr lang="en-US" altLang="en-US" i="1" dirty="0">
                <a:solidFill>
                  <a:srgbClr val="6600FF"/>
                </a:solidFill>
              </a:rPr>
              <a:t>turn </a:t>
            </a:r>
            <a:r>
              <a:rPr lang="en-US" altLang="en-US" dirty="0">
                <a:solidFill>
                  <a:srgbClr val="6600FF"/>
                </a:solidFill>
              </a:rPr>
              <a:t>&lt;&gt; </a:t>
            </a:r>
            <a:r>
              <a:rPr lang="en-US" altLang="en-US" dirty="0" err="1">
                <a:solidFill>
                  <a:srgbClr val="6600FF"/>
                </a:solidFill>
              </a:rPr>
              <a:t>i</a:t>
            </a:r>
            <a:r>
              <a:rPr lang="en-US" altLang="en-US" dirty="0">
                <a:solidFill>
                  <a:srgbClr val="6600FF"/>
                </a:solidFill>
              </a:rPr>
              <a:t> </a:t>
            </a:r>
            <a:r>
              <a:rPr lang="en-US" altLang="en-US" b="1" dirty="0">
                <a:solidFill>
                  <a:srgbClr val="6600FF"/>
                </a:solidFill>
              </a:rPr>
              <a:t>do </a:t>
            </a:r>
            <a:r>
              <a:rPr lang="en-US" altLang="en-US" i="1" dirty="0">
                <a:solidFill>
                  <a:srgbClr val="6600FF"/>
                </a:solidFill>
              </a:rPr>
              <a:t>no-op;</a:t>
            </a:r>
            <a:endParaRPr lang="en-US" altLang="en-US" i="1" dirty="0">
              <a:solidFill>
                <a:schemeClr val="hlink"/>
              </a:solidFill>
            </a:endParaRPr>
          </a:p>
          <a:p>
            <a:pPr lvl="2">
              <a:lnSpc>
                <a:spcPct val="70000"/>
              </a:lnSpc>
              <a:buNone/>
            </a:pPr>
            <a:r>
              <a:rPr lang="en-US" altLang="en-US" dirty="0">
                <a:solidFill>
                  <a:schemeClr val="accent1"/>
                </a:solidFill>
              </a:rPr>
              <a:t>				critical section</a:t>
            </a:r>
          </a:p>
          <a:p>
            <a:pPr lvl="2">
              <a:lnSpc>
                <a:spcPct val="70000"/>
              </a:lnSpc>
              <a:buNone/>
            </a:pPr>
            <a:r>
              <a:rPr lang="en-US" altLang="en-US" dirty="0">
                <a:solidFill>
                  <a:schemeClr val="accent1"/>
                </a:solidFill>
              </a:rPr>
              <a:t>   		           </a:t>
            </a:r>
            <a:r>
              <a:rPr lang="en-US" altLang="en-US" i="1" dirty="0">
                <a:solidFill>
                  <a:srgbClr val="6600FF"/>
                </a:solidFill>
              </a:rPr>
              <a:t>turn </a:t>
            </a:r>
            <a:r>
              <a:rPr lang="en-US" altLang="en-US" dirty="0">
                <a:solidFill>
                  <a:srgbClr val="6600FF"/>
                </a:solidFill>
              </a:rPr>
              <a:t>:=</a:t>
            </a:r>
            <a:r>
              <a:rPr lang="en-US" altLang="en-US" i="1" dirty="0">
                <a:solidFill>
                  <a:srgbClr val="6600FF"/>
                </a:solidFill>
              </a:rPr>
              <a:t> j;</a:t>
            </a:r>
          </a:p>
          <a:p>
            <a:pPr lvl="2">
              <a:lnSpc>
                <a:spcPct val="70000"/>
              </a:lnSpc>
              <a:buNone/>
            </a:pPr>
            <a:r>
              <a:rPr lang="en-US" altLang="en-US" dirty="0">
                <a:solidFill>
                  <a:schemeClr val="accent1"/>
                </a:solidFill>
              </a:rPr>
              <a:t>            			remainder section</a:t>
            </a:r>
          </a:p>
          <a:p>
            <a:pPr lvl="2">
              <a:lnSpc>
                <a:spcPct val="70000"/>
              </a:lnSpc>
              <a:buNone/>
            </a:pPr>
            <a:r>
              <a:rPr lang="en-US" altLang="en-US" b="1" dirty="0">
                <a:solidFill>
                  <a:schemeClr val="accent1"/>
                </a:solidFill>
              </a:rPr>
              <a:t>		until</a:t>
            </a:r>
            <a:r>
              <a:rPr lang="en-US" altLang="en-US" dirty="0">
                <a:solidFill>
                  <a:schemeClr val="accent1"/>
                </a:solidFill>
              </a:rPr>
              <a:t> false</a:t>
            </a:r>
          </a:p>
          <a:p>
            <a:pPr lvl="2">
              <a:buNone/>
            </a:pPr>
            <a:r>
              <a:rPr lang="en-US" altLang="en-US" dirty="0"/>
              <a:t>Satisfies mutual exclusion, but </a:t>
            </a:r>
            <a:r>
              <a:rPr lang="en-US" altLang="en-US" dirty="0">
                <a:solidFill>
                  <a:srgbClr val="FF0000"/>
                </a:solidFill>
              </a:rPr>
              <a:t>not</a:t>
            </a:r>
            <a:r>
              <a:rPr lang="en-US" altLang="en-US" dirty="0"/>
              <a:t> progress.</a:t>
            </a:r>
          </a:p>
          <a:p>
            <a:pPr lvl="2">
              <a:lnSpc>
                <a:spcPct val="80000"/>
              </a:lnSpc>
              <a:buNone/>
            </a:pPr>
            <a:endParaRPr lang="en-US" altLang="en-US" dirty="0">
              <a:solidFill>
                <a:schemeClr val="accent1"/>
              </a:solidFill>
            </a:endParaRPr>
          </a:p>
        </p:txBody>
      </p:sp>
      <p:graphicFrame>
        <p:nvGraphicFramePr>
          <p:cNvPr id="4" name="טבלה 4">
            <a:extLst>
              <a:ext uri="{FF2B5EF4-FFF2-40B4-BE49-F238E27FC236}">
                <a16:creationId xmlns:a16="http://schemas.microsoft.com/office/drawing/2014/main" id="{D5DFB26D-236C-46AB-966E-6E5799AAF4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206696"/>
              </p:ext>
            </p:extLst>
          </p:nvPr>
        </p:nvGraphicFramePr>
        <p:xfrm>
          <a:off x="7039006" y="1825625"/>
          <a:ext cx="1248410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1997265733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34424314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/>
                      <a:r>
                        <a:rPr lang="en-US" dirty="0"/>
                        <a:t>P0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P1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3930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r>
                        <a:rPr lang="en-US" dirty="0"/>
                        <a:t> = 0</a:t>
                      </a:r>
                    </a:p>
                    <a:p>
                      <a:r>
                        <a:rPr lang="en-US" dirty="0"/>
                        <a:t>j = 1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</a:t>
                      </a:r>
                      <a:r>
                        <a:rPr lang="en-US" dirty="0"/>
                        <a:t> = 1</a:t>
                      </a:r>
                    </a:p>
                    <a:p>
                      <a:r>
                        <a:rPr lang="en-US" dirty="0"/>
                        <a:t>j = 0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95980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4938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C4073-A430-4C2D-920F-D58C8930F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Critical Section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092AD-2A66-48C2-B2FF-51C0C6234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altLang="en-US" dirty="0"/>
              <a:t>Shared Variables</a:t>
            </a:r>
          </a:p>
          <a:p>
            <a:pPr marL="914400" lvl="2" indent="0">
              <a:buNone/>
            </a:pPr>
            <a:r>
              <a:rPr lang="en-US" altLang="en-US" b="1" dirty="0" err="1"/>
              <a:t>var</a:t>
            </a:r>
            <a:r>
              <a:rPr lang="en-US" altLang="en-US" dirty="0"/>
              <a:t> </a:t>
            </a:r>
            <a:r>
              <a:rPr lang="en-US" altLang="en-US" i="1" dirty="0"/>
              <a:t>flag</a:t>
            </a:r>
            <a:r>
              <a:rPr lang="en-US" altLang="en-US" dirty="0"/>
              <a:t>: </a:t>
            </a:r>
            <a:r>
              <a:rPr lang="en-US" altLang="en-US" b="1" dirty="0"/>
              <a:t>array</a:t>
            </a:r>
            <a:r>
              <a:rPr lang="en-US" altLang="en-US" dirty="0"/>
              <a:t> (0..1) </a:t>
            </a:r>
            <a:r>
              <a:rPr lang="en-US" altLang="en-US" b="1" dirty="0"/>
              <a:t>of</a:t>
            </a:r>
            <a:r>
              <a:rPr lang="en-US" altLang="en-US" dirty="0"/>
              <a:t> </a:t>
            </a:r>
            <a:r>
              <a:rPr lang="en-US" altLang="en-US" dirty="0" err="1"/>
              <a:t>boolean</a:t>
            </a:r>
            <a:r>
              <a:rPr lang="en-US" altLang="en-US" dirty="0"/>
              <a:t>;</a:t>
            </a:r>
          </a:p>
          <a:p>
            <a:pPr lvl="2">
              <a:buNone/>
            </a:pPr>
            <a:r>
              <a:rPr lang="en-US" altLang="en-US" dirty="0"/>
              <a:t>   initially </a:t>
            </a:r>
            <a:r>
              <a:rPr lang="en-US" altLang="en-US" i="1" dirty="0"/>
              <a:t>flag[0] = flag[1]</a:t>
            </a:r>
            <a:r>
              <a:rPr lang="en-US" altLang="en-US" dirty="0"/>
              <a:t> = false;</a:t>
            </a:r>
          </a:p>
          <a:p>
            <a:pPr marL="914400" lvl="2" indent="0">
              <a:buNone/>
            </a:pPr>
            <a:r>
              <a:rPr lang="en-US" altLang="en-US" i="1" dirty="0"/>
              <a:t>flag[</a:t>
            </a:r>
            <a:r>
              <a:rPr lang="en-US" altLang="en-US" i="1" dirty="0" err="1"/>
              <a:t>i</a:t>
            </a:r>
            <a:r>
              <a:rPr lang="en-US" altLang="en-US" i="1" dirty="0"/>
              <a:t>]</a:t>
            </a:r>
            <a:r>
              <a:rPr lang="en-US" altLang="en-US" dirty="0"/>
              <a:t> = </a:t>
            </a:r>
            <a:r>
              <a:rPr lang="en-US" altLang="en-US" i="1" dirty="0"/>
              <a:t>true </a:t>
            </a:r>
            <a:r>
              <a:rPr lang="en-US" altLang="en-US" dirty="0">
                <a:sym typeface="Monotype Sorts" charset="2"/>
              </a:rPr>
              <a:t> Pi ready to enter its critical section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en-US" dirty="0"/>
              <a:t>Process </a:t>
            </a:r>
            <a:r>
              <a:rPr lang="en-US" altLang="en-US" i="1" dirty="0"/>
              <a:t>P</a:t>
            </a:r>
            <a:r>
              <a:rPr lang="en-US" altLang="en-US" sz="1500" i="1" dirty="0"/>
              <a:t>i</a:t>
            </a:r>
            <a:endParaRPr lang="en-US" altLang="en-US" dirty="0"/>
          </a:p>
          <a:p>
            <a:pPr lvl="2">
              <a:lnSpc>
                <a:spcPct val="70000"/>
              </a:lnSpc>
              <a:buNone/>
            </a:pPr>
            <a:r>
              <a:rPr lang="en-US" altLang="en-US" b="1" dirty="0">
                <a:solidFill>
                  <a:schemeClr val="accent1"/>
                </a:solidFill>
              </a:rPr>
              <a:t>	repeat</a:t>
            </a:r>
          </a:p>
          <a:p>
            <a:pPr lvl="2">
              <a:lnSpc>
                <a:spcPct val="70000"/>
              </a:lnSpc>
              <a:buNone/>
            </a:pPr>
            <a:r>
              <a:rPr lang="en-US" altLang="en-US" b="1" dirty="0">
                <a:solidFill>
                  <a:schemeClr val="accent1"/>
                </a:solidFill>
              </a:rPr>
              <a:t>	          </a:t>
            </a:r>
            <a:r>
              <a:rPr lang="en-US" altLang="en-US" i="1" dirty="0">
                <a:solidFill>
                  <a:schemeClr val="accent1"/>
                </a:solidFill>
              </a:rPr>
              <a:t> </a:t>
            </a:r>
            <a:r>
              <a:rPr lang="en-US" altLang="en-US" i="1" dirty="0">
                <a:solidFill>
                  <a:srgbClr val="6600FF"/>
                </a:solidFill>
              </a:rPr>
              <a:t>flag</a:t>
            </a:r>
            <a:r>
              <a:rPr lang="en-US" altLang="en-US" b="1" dirty="0">
                <a:solidFill>
                  <a:srgbClr val="6600FF"/>
                </a:solidFill>
              </a:rPr>
              <a:t>[</a:t>
            </a:r>
            <a:r>
              <a:rPr lang="en-US" altLang="en-US" i="1" dirty="0" err="1">
                <a:solidFill>
                  <a:srgbClr val="6600FF"/>
                </a:solidFill>
              </a:rPr>
              <a:t>i</a:t>
            </a:r>
            <a:r>
              <a:rPr lang="en-US" altLang="en-US" b="1" dirty="0">
                <a:solidFill>
                  <a:srgbClr val="6600FF"/>
                </a:solidFill>
              </a:rPr>
              <a:t>] </a:t>
            </a:r>
            <a:r>
              <a:rPr lang="en-US" altLang="en-US" dirty="0">
                <a:solidFill>
                  <a:srgbClr val="6600FF"/>
                </a:solidFill>
              </a:rPr>
              <a:t>:=</a:t>
            </a:r>
            <a:r>
              <a:rPr lang="en-US" altLang="en-US" b="1" dirty="0">
                <a:solidFill>
                  <a:srgbClr val="6600FF"/>
                </a:solidFill>
              </a:rPr>
              <a:t> </a:t>
            </a:r>
            <a:r>
              <a:rPr lang="en-US" altLang="en-US" i="1" dirty="0">
                <a:solidFill>
                  <a:srgbClr val="6600FF"/>
                </a:solidFill>
              </a:rPr>
              <a:t>true</a:t>
            </a:r>
            <a:r>
              <a:rPr lang="en-US" altLang="en-US" dirty="0">
                <a:solidFill>
                  <a:srgbClr val="6600FF"/>
                </a:solidFill>
              </a:rPr>
              <a:t>;</a:t>
            </a:r>
            <a:r>
              <a:rPr lang="en-US" altLang="en-US" dirty="0">
                <a:solidFill>
                  <a:schemeClr val="accent1"/>
                </a:solidFill>
              </a:rPr>
              <a:t> </a:t>
            </a:r>
          </a:p>
          <a:p>
            <a:pPr lvl="2">
              <a:lnSpc>
                <a:spcPct val="70000"/>
              </a:lnSpc>
              <a:buNone/>
            </a:pPr>
            <a:r>
              <a:rPr lang="en-US" altLang="en-US" dirty="0">
                <a:solidFill>
                  <a:schemeClr val="accent1"/>
                </a:solidFill>
              </a:rPr>
              <a:t>	           </a:t>
            </a:r>
            <a:r>
              <a:rPr lang="en-US" altLang="en-US" b="1" dirty="0">
                <a:solidFill>
                  <a:srgbClr val="6600FF"/>
                </a:solidFill>
              </a:rPr>
              <a:t>while </a:t>
            </a:r>
            <a:r>
              <a:rPr lang="en-US" altLang="en-US" i="1" dirty="0">
                <a:solidFill>
                  <a:srgbClr val="6600FF"/>
                </a:solidFill>
              </a:rPr>
              <a:t>flag[j] </a:t>
            </a:r>
            <a:r>
              <a:rPr lang="en-US" altLang="en-US" b="1" dirty="0">
                <a:solidFill>
                  <a:srgbClr val="6600FF"/>
                </a:solidFill>
              </a:rPr>
              <a:t>do </a:t>
            </a:r>
            <a:r>
              <a:rPr lang="en-US" altLang="en-US" i="1" dirty="0">
                <a:solidFill>
                  <a:srgbClr val="6600FF"/>
                </a:solidFill>
              </a:rPr>
              <a:t>no-op;</a:t>
            </a:r>
            <a:endParaRPr lang="en-US" altLang="en-US" i="1" dirty="0">
              <a:solidFill>
                <a:schemeClr val="hlink"/>
              </a:solidFill>
            </a:endParaRPr>
          </a:p>
          <a:p>
            <a:pPr lvl="2">
              <a:lnSpc>
                <a:spcPct val="70000"/>
              </a:lnSpc>
              <a:buNone/>
            </a:pPr>
            <a:r>
              <a:rPr lang="en-US" altLang="en-US" dirty="0">
                <a:solidFill>
                  <a:schemeClr val="accent1"/>
                </a:solidFill>
              </a:rPr>
              <a:t>			critical section</a:t>
            </a:r>
          </a:p>
          <a:p>
            <a:pPr lvl="2">
              <a:lnSpc>
                <a:spcPct val="70000"/>
              </a:lnSpc>
              <a:buNone/>
            </a:pPr>
            <a:r>
              <a:rPr lang="en-US" altLang="en-US" dirty="0">
                <a:solidFill>
                  <a:schemeClr val="accent1"/>
                </a:solidFill>
              </a:rPr>
              <a:t>	           </a:t>
            </a:r>
            <a:r>
              <a:rPr lang="en-US" altLang="en-US" i="1" dirty="0">
                <a:solidFill>
                  <a:srgbClr val="6600FF"/>
                </a:solidFill>
              </a:rPr>
              <a:t>flag[</a:t>
            </a:r>
            <a:r>
              <a:rPr lang="en-US" altLang="en-US" i="1" dirty="0" err="1">
                <a:solidFill>
                  <a:srgbClr val="6600FF"/>
                </a:solidFill>
              </a:rPr>
              <a:t>i</a:t>
            </a:r>
            <a:r>
              <a:rPr lang="en-US" altLang="en-US" i="1" dirty="0">
                <a:solidFill>
                  <a:srgbClr val="6600FF"/>
                </a:solidFill>
              </a:rPr>
              <a:t>]</a:t>
            </a:r>
            <a:r>
              <a:rPr lang="en-US" altLang="en-US" dirty="0">
                <a:solidFill>
                  <a:srgbClr val="6600FF"/>
                </a:solidFill>
              </a:rPr>
              <a:t>:=</a:t>
            </a:r>
            <a:r>
              <a:rPr lang="en-US" altLang="en-US" i="1" dirty="0">
                <a:solidFill>
                  <a:srgbClr val="6600FF"/>
                </a:solidFill>
              </a:rPr>
              <a:t> false;</a:t>
            </a:r>
          </a:p>
          <a:p>
            <a:pPr lvl="2">
              <a:lnSpc>
                <a:spcPct val="70000"/>
              </a:lnSpc>
              <a:buNone/>
            </a:pPr>
            <a:r>
              <a:rPr lang="en-US" altLang="en-US" dirty="0">
                <a:solidFill>
                  <a:schemeClr val="accent1"/>
                </a:solidFill>
              </a:rPr>
              <a:t>		remainder section</a:t>
            </a:r>
          </a:p>
          <a:p>
            <a:pPr lvl="2">
              <a:lnSpc>
                <a:spcPct val="70000"/>
              </a:lnSpc>
              <a:buNone/>
            </a:pPr>
            <a:r>
              <a:rPr lang="en-US" altLang="en-US" b="1" dirty="0">
                <a:solidFill>
                  <a:schemeClr val="accent1"/>
                </a:solidFill>
              </a:rPr>
              <a:t>	until</a:t>
            </a:r>
            <a:r>
              <a:rPr lang="en-US" altLang="en-US" dirty="0">
                <a:solidFill>
                  <a:schemeClr val="accent1"/>
                </a:solidFill>
              </a:rPr>
              <a:t> false</a:t>
            </a:r>
          </a:p>
          <a:p>
            <a:pPr lvl="2">
              <a:buNone/>
            </a:pPr>
            <a:r>
              <a:rPr lang="en-US" altLang="en-US" dirty="0"/>
              <a:t>Can block indefinitely…. Progress requirement </a:t>
            </a:r>
            <a:r>
              <a:rPr lang="en-US" altLang="en-US" dirty="0">
                <a:solidFill>
                  <a:srgbClr val="FF0000"/>
                </a:solidFill>
              </a:rPr>
              <a:t>not</a:t>
            </a:r>
            <a:r>
              <a:rPr lang="en-US" altLang="en-US" dirty="0"/>
              <a:t> met.</a:t>
            </a:r>
          </a:p>
          <a:p>
            <a:pPr lvl="2">
              <a:lnSpc>
                <a:spcPct val="80000"/>
              </a:lnSpc>
              <a:buNone/>
            </a:pPr>
            <a:endParaRPr lang="en-US" alt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202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C4073-A430-4C2D-920F-D58C8930F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Critical Section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092AD-2A66-48C2-B2FF-51C0C6234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US" altLang="en-US" dirty="0"/>
              <a:t>Shared Variables</a:t>
            </a:r>
          </a:p>
          <a:p>
            <a:pPr marL="914400" lvl="2" indent="0">
              <a:buNone/>
            </a:pPr>
            <a:r>
              <a:rPr lang="en-US" altLang="en-US" b="1" dirty="0" err="1"/>
              <a:t>var</a:t>
            </a:r>
            <a:r>
              <a:rPr lang="en-US" altLang="en-US" dirty="0"/>
              <a:t> </a:t>
            </a:r>
            <a:r>
              <a:rPr lang="en-US" altLang="en-US" i="1" dirty="0"/>
              <a:t>flag</a:t>
            </a:r>
            <a:r>
              <a:rPr lang="en-US" altLang="en-US" dirty="0"/>
              <a:t>: </a:t>
            </a:r>
            <a:r>
              <a:rPr lang="en-US" altLang="en-US" b="1" dirty="0"/>
              <a:t>array</a:t>
            </a:r>
            <a:r>
              <a:rPr lang="en-US" altLang="en-US" dirty="0"/>
              <a:t> (0..1) </a:t>
            </a:r>
            <a:r>
              <a:rPr lang="en-US" altLang="en-US" b="1" dirty="0"/>
              <a:t>of</a:t>
            </a:r>
            <a:r>
              <a:rPr lang="en-US" altLang="en-US" dirty="0"/>
              <a:t> </a:t>
            </a:r>
            <a:r>
              <a:rPr lang="en-US" altLang="en-US" dirty="0" err="1"/>
              <a:t>boolean</a:t>
            </a:r>
            <a:r>
              <a:rPr lang="en-US" altLang="en-US" dirty="0"/>
              <a:t>;</a:t>
            </a:r>
          </a:p>
          <a:p>
            <a:pPr lvl="2">
              <a:buNone/>
            </a:pPr>
            <a:r>
              <a:rPr lang="en-US" altLang="en-US" dirty="0"/>
              <a:t>   initially </a:t>
            </a:r>
            <a:r>
              <a:rPr lang="en-US" altLang="en-US" i="1" dirty="0"/>
              <a:t>flag[0] = flag[1]</a:t>
            </a:r>
            <a:r>
              <a:rPr lang="en-US" altLang="en-US" dirty="0"/>
              <a:t> = false;</a:t>
            </a:r>
          </a:p>
          <a:p>
            <a:pPr marL="914400" lvl="2" indent="0">
              <a:buNone/>
            </a:pPr>
            <a:r>
              <a:rPr lang="en-US" altLang="en-US" i="1" dirty="0"/>
              <a:t>flag[</a:t>
            </a:r>
            <a:r>
              <a:rPr lang="en-US" altLang="en-US" i="1" dirty="0" err="1"/>
              <a:t>i</a:t>
            </a:r>
            <a:r>
              <a:rPr lang="en-US" altLang="en-US" i="1" dirty="0"/>
              <a:t>]</a:t>
            </a:r>
            <a:r>
              <a:rPr lang="en-US" altLang="en-US" dirty="0"/>
              <a:t> = </a:t>
            </a:r>
            <a:r>
              <a:rPr lang="en-US" altLang="en-US" i="1" dirty="0"/>
              <a:t>true </a:t>
            </a:r>
            <a:r>
              <a:rPr lang="en-US" altLang="en-US" dirty="0">
                <a:sym typeface="Monotype Sorts" charset="2"/>
              </a:rPr>
              <a:t> Pi ready to enter its critical section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en-US" altLang="en-US" dirty="0"/>
              <a:t>Process </a:t>
            </a:r>
            <a:r>
              <a:rPr lang="en-US" altLang="en-US" i="1" dirty="0"/>
              <a:t>P</a:t>
            </a:r>
            <a:r>
              <a:rPr lang="en-US" altLang="en-US" sz="1500" i="1" dirty="0"/>
              <a:t>i</a:t>
            </a:r>
            <a:endParaRPr lang="en-US" altLang="en-US" dirty="0"/>
          </a:p>
          <a:p>
            <a:pPr lvl="2">
              <a:lnSpc>
                <a:spcPct val="70000"/>
              </a:lnSpc>
              <a:buNone/>
            </a:pPr>
            <a:r>
              <a:rPr lang="en-US" altLang="en-US" b="1" dirty="0">
                <a:solidFill>
                  <a:schemeClr val="accent1"/>
                </a:solidFill>
              </a:rPr>
              <a:t>	repeat  </a:t>
            </a:r>
          </a:p>
          <a:p>
            <a:pPr lvl="2">
              <a:lnSpc>
                <a:spcPct val="70000"/>
              </a:lnSpc>
              <a:buNone/>
            </a:pPr>
            <a:r>
              <a:rPr lang="en-US" altLang="en-US" b="1" dirty="0">
                <a:solidFill>
                  <a:srgbClr val="6600FF"/>
                </a:solidFill>
              </a:rPr>
              <a:t>	    while </a:t>
            </a:r>
            <a:r>
              <a:rPr lang="en-US" altLang="en-US" i="1" dirty="0">
                <a:solidFill>
                  <a:srgbClr val="6600FF"/>
                </a:solidFill>
              </a:rPr>
              <a:t>flag[j] </a:t>
            </a:r>
            <a:r>
              <a:rPr lang="en-US" altLang="en-US" b="1" dirty="0">
                <a:solidFill>
                  <a:srgbClr val="6600FF"/>
                </a:solidFill>
              </a:rPr>
              <a:t>do </a:t>
            </a:r>
            <a:r>
              <a:rPr lang="en-US" altLang="en-US" i="1" dirty="0">
                <a:solidFill>
                  <a:srgbClr val="6600FF"/>
                </a:solidFill>
              </a:rPr>
              <a:t>no-op ; </a:t>
            </a:r>
          </a:p>
          <a:p>
            <a:pPr lvl="2">
              <a:lnSpc>
                <a:spcPct val="70000"/>
              </a:lnSpc>
              <a:buNone/>
            </a:pPr>
            <a:r>
              <a:rPr lang="en-US" altLang="en-US" i="1" dirty="0">
                <a:solidFill>
                  <a:srgbClr val="6600FF"/>
                </a:solidFill>
              </a:rPr>
              <a:t>        flag</a:t>
            </a:r>
            <a:r>
              <a:rPr lang="en-US" altLang="en-US" b="1" dirty="0">
                <a:solidFill>
                  <a:srgbClr val="6600FF"/>
                </a:solidFill>
              </a:rPr>
              <a:t>[</a:t>
            </a:r>
            <a:r>
              <a:rPr lang="en-US" altLang="en-US" i="1" dirty="0" err="1">
                <a:solidFill>
                  <a:srgbClr val="6600FF"/>
                </a:solidFill>
              </a:rPr>
              <a:t>i</a:t>
            </a:r>
            <a:r>
              <a:rPr lang="en-US" altLang="en-US" b="1" dirty="0">
                <a:solidFill>
                  <a:srgbClr val="6600FF"/>
                </a:solidFill>
              </a:rPr>
              <a:t>] </a:t>
            </a:r>
            <a:r>
              <a:rPr lang="en-US" altLang="en-US" dirty="0">
                <a:solidFill>
                  <a:srgbClr val="6600FF"/>
                </a:solidFill>
              </a:rPr>
              <a:t>:=</a:t>
            </a:r>
            <a:r>
              <a:rPr lang="en-US" altLang="en-US" b="1" dirty="0">
                <a:solidFill>
                  <a:srgbClr val="6600FF"/>
                </a:solidFill>
              </a:rPr>
              <a:t> </a:t>
            </a:r>
            <a:r>
              <a:rPr lang="en-US" altLang="en-US" i="1" dirty="0">
                <a:solidFill>
                  <a:srgbClr val="6600FF"/>
                </a:solidFill>
              </a:rPr>
              <a:t>true</a:t>
            </a:r>
            <a:r>
              <a:rPr lang="en-US" altLang="en-US" dirty="0">
                <a:solidFill>
                  <a:srgbClr val="6600FF"/>
                </a:solidFill>
              </a:rPr>
              <a:t>;</a:t>
            </a:r>
            <a:r>
              <a:rPr lang="en-US" altLang="en-US" dirty="0">
                <a:solidFill>
                  <a:schemeClr val="accent1"/>
                </a:solidFill>
              </a:rPr>
              <a:t> </a:t>
            </a:r>
            <a:endParaRPr lang="en-US" altLang="en-US" i="1" dirty="0">
              <a:solidFill>
                <a:schemeClr val="hlink"/>
              </a:solidFill>
            </a:endParaRPr>
          </a:p>
          <a:p>
            <a:pPr lvl="2">
              <a:lnSpc>
                <a:spcPct val="70000"/>
              </a:lnSpc>
              <a:buNone/>
            </a:pPr>
            <a:r>
              <a:rPr lang="en-US" altLang="en-US" dirty="0">
                <a:solidFill>
                  <a:schemeClr val="accent1"/>
                </a:solidFill>
              </a:rPr>
              <a:t>		critical section</a:t>
            </a:r>
          </a:p>
          <a:p>
            <a:pPr lvl="2">
              <a:lnSpc>
                <a:spcPct val="70000"/>
              </a:lnSpc>
              <a:buNone/>
            </a:pPr>
            <a:r>
              <a:rPr lang="en-US" altLang="en-US" dirty="0">
                <a:solidFill>
                  <a:schemeClr val="accent1"/>
                </a:solidFill>
              </a:rPr>
              <a:t>   	   </a:t>
            </a:r>
            <a:r>
              <a:rPr lang="en-US" altLang="en-US" i="1" dirty="0">
                <a:solidFill>
                  <a:srgbClr val="6600FF"/>
                </a:solidFill>
              </a:rPr>
              <a:t>flag[</a:t>
            </a:r>
            <a:r>
              <a:rPr lang="en-US" altLang="en-US" i="1" dirty="0" err="1">
                <a:solidFill>
                  <a:srgbClr val="6600FF"/>
                </a:solidFill>
              </a:rPr>
              <a:t>i</a:t>
            </a:r>
            <a:r>
              <a:rPr lang="en-US" altLang="en-US" i="1" dirty="0">
                <a:solidFill>
                  <a:srgbClr val="6600FF"/>
                </a:solidFill>
              </a:rPr>
              <a:t>]</a:t>
            </a:r>
            <a:r>
              <a:rPr lang="en-US" altLang="en-US" dirty="0">
                <a:solidFill>
                  <a:srgbClr val="6600FF"/>
                </a:solidFill>
              </a:rPr>
              <a:t>:=</a:t>
            </a:r>
            <a:r>
              <a:rPr lang="en-US" altLang="en-US" i="1" dirty="0">
                <a:solidFill>
                  <a:srgbClr val="6600FF"/>
                </a:solidFill>
              </a:rPr>
              <a:t> false;</a:t>
            </a:r>
          </a:p>
          <a:p>
            <a:pPr lvl="2">
              <a:lnSpc>
                <a:spcPct val="70000"/>
              </a:lnSpc>
              <a:buNone/>
            </a:pPr>
            <a:r>
              <a:rPr lang="en-US" altLang="en-US" dirty="0">
                <a:solidFill>
                  <a:schemeClr val="accent1"/>
                </a:solidFill>
              </a:rPr>
              <a:t>			remainder section</a:t>
            </a:r>
          </a:p>
          <a:p>
            <a:pPr lvl="2">
              <a:lnSpc>
                <a:spcPct val="70000"/>
              </a:lnSpc>
              <a:buNone/>
            </a:pPr>
            <a:r>
              <a:rPr lang="en-US" altLang="en-US" b="1" dirty="0">
                <a:solidFill>
                  <a:schemeClr val="accent1"/>
                </a:solidFill>
              </a:rPr>
              <a:t>	until</a:t>
            </a:r>
            <a:r>
              <a:rPr lang="en-US" altLang="en-US" dirty="0">
                <a:solidFill>
                  <a:schemeClr val="accent1"/>
                </a:solidFill>
              </a:rPr>
              <a:t> false</a:t>
            </a:r>
          </a:p>
          <a:p>
            <a:pPr lvl="2">
              <a:buNone/>
            </a:pPr>
            <a:r>
              <a:rPr lang="en-US" altLang="en-US" dirty="0"/>
              <a:t>Does </a:t>
            </a:r>
            <a:r>
              <a:rPr lang="en-US" altLang="en-US" dirty="0">
                <a:solidFill>
                  <a:srgbClr val="FF0000"/>
                </a:solidFill>
              </a:rPr>
              <a:t>not</a:t>
            </a:r>
            <a:r>
              <a:rPr lang="en-US" altLang="en-US" dirty="0"/>
              <a:t> satisfy mutual exclusion requirement ….</a:t>
            </a:r>
            <a:endParaRPr lang="en-US" altLang="en-US" dirty="0">
              <a:solidFill>
                <a:schemeClr val="accent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346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C4073-A430-4C2D-920F-D58C8930F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Peterson</a:t>
            </a:r>
            <a:r>
              <a:rPr lang="ja-JP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’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s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092AD-2A66-48C2-B2FF-51C0C6234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אלגוריתם שמיועד לשני תהליכים</a:t>
            </a:r>
          </a:p>
          <a:p>
            <a:pPr algn="r" rtl="1"/>
            <a:r>
              <a:rPr lang="he-IL"/>
              <a:t>שני </a:t>
            </a:r>
            <a:r>
              <a:rPr lang="he-IL" dirty="0"/>
              <a:t>התהליכים משתפים שני משתנים:</a:t>
            </a:r>
          </a:p>
          <a:p>
            <a:pPr algn="l"/>
            <a:r>
              <a:rPr lang="en-US" i="1" dirty="0" err="1"/>
              <a:t>Int</a:t>
            </a:r>
            <a:r>
              <a:rPr lang="en-US" i="1" dirty="0"/>
              <a:t> turn;</a:t>
            </a:r>
          </a:p>
          <a:p>
            <a:pPr algn="l"/>
            <a:r>
              <a:rPr lang="en-US" i="1" dirty="0"/>
              <a:t>Boolean flag[2];</a:t>
            </a:r>
            <a:endParaRPr lang="he-IL" i="1" dirty="0"/>
          </a:p>
          <a:p>
            <a:pPr algn="r" rtl="1"/>
            <a:r>
              <a:rPr lang="he-IL" dirty="0"/>
              <a:t>המשתנה </a:t>
            </a:r>
            <a:r>
              <a:rPr lang="en-US" i="1" dirty="0"/>
              <a:t>turn</a:t>
            </a:r>
            <a:r>
              <a:rPr lang="he-IL" dirty="0"/>
              <a:t> מציין את התור של התהליך שתורו להכנס לקטע הקריטי</a:t>
            </a:r>
          </a:p>
          <a:p>
            <a:pPr algn="r" rtl="1"/>
            <a:r>
              <a:rPr lang="he-IL" dirty="0"/>
              <a:t>המערך</a:t>
            </a:r>
            <a:r>
              <a:rPr lang="he-IL" i="1" dirty="0"/>
              <a:t> </a:t>
            </a:r>
            <a:r>
              <a:rPr lang="en-US" i="1" dirty="0"/>
              <a:t>flag</a:t>
            </a:r>
            <a:r>
              <a:rPr lang="he-IL" dirty="0"/>
              <a:t> משמש לאידיקציה האם תהליך מוכן להכנס לקטע הקריטי. </a:t>
            </a:r>
            <a:r>
              <a:rPr lang="en-US" i="1" dirty="0"/>
              <a:t>flag[</a:t>
            </a:r>
            <a:r>
              <a:rPr lang="en-US" i="1" dirty="0" err="1"/>
              <a:t>i</a:t>
            </a:r>
            <a:r>
              <a:rPr lang="en-US" i="1" dirty="0"/>
              <a:t>] = true</a:t>
            </a:r>
            <a:r>
              <a:rPr lang="he-IL" dirty="0"/>
              <a:t> מציין שתהליך </a:t>
            </a:r>
            <a:r>
              <a:rPr lang="en-US" dirty="0" err="1"/>
              <a:t>i</a:t>
            </a:r>
            <a:r>
              <a:rPr lang="he-IL" dirty="0"/>
              <a:t> מוכן</a:t>
            </a:r>
            <a:endParaRPr lang="en-US" dirty="0"/>
          </a:p>
          <a:p>
            <a:pPr algn="r" rt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1331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C4073-A430-4C2D-920F-D58C8930F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Peterson</a:t>
            </a:r>
            <a:r>
              <a:rPr lang="ja-JP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’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s Solution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BED4A26-FD5E-46A1-B81F-514979B866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4459" y="1536078"/>
            <a:ext cx="11843081" cy="4794384"/>
          </a:xfrm>
          <a:prstGeom prst="rect">
            <a:avLst/>
          </a:prstGeom>
        </p:spPr>
      </p:pic>
      <p:cxnSp>
        <p:nvCxnSpPr>
          <p:cNvPr id="4" name="מחבר ישר 3">
            <a:extLst>
              <a:ext uri="{FF2B5EF4-FFF2-40B4-BE49-F238E27FC236}">
                <a16:creationId xmlns:a16="http://schemas.microsoft.com/office/drawing/2014/main" id="{3873D310-BB25-438E-9D7D-6A6AFCC85341}"/>
              </a:ext>
            </a:extLst>
          </p:cNvPr>
          <p:cNvCxnSpPr/>
          <p:nvPr/>
        </p:nvCxnSpPr>
        <p:spPr>
          <a:xfrm>
            <a:off x="5993296" y="3160643"/>
            <a:ext cx="0" cy="316981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50574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C4073-A430-4C2D-920F-D58C8930F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Peterson</a:t>
            </a:r>
            <a:r>
              <a:rPr lang="ja-JP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’</a:t>
            </a:r>
            <a:r>
              <a:rPr lang="en-US" altLang="en-US" b="1" dirty="0">
                <a:solidFill>
                  <a:srgbClr val="FF0000"/>
                </a:solidFill>
                <a:latin typeface="Arial" panose="020B0604020202020204" pitchFamily="34" charset="0"/>
              </a:rPr>
              <a:t>s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092AD-2A66-48C2-B2FF-51C0C6234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r" rtl="1">
              <a:buNone/>
            </a:pPr>
            <a:r>
              <a:rPr lang="he-IL" dirty="0"/>
              <a:t>שלושת התנאים לקטע הקריטי מתקיימים:-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en-US" dirty="0"/>
              <a:t>Mutual </a:t>
            </a:r>
            <a:r>
              <a:rPr lang="en-US" dirty="0" err="1"/>
              <a:t>Exclution</a:t>
            </a:r>
            <a:r>
              <a:rPr lang="he-IL" dirty="0"/>
              <a:t> – מניעה הדדית -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P</a:t>
            </a:r>
            <a:r>
              <a:rPr lang="en-US" b="1" baseline="-25000" dirty="0">
                <a:latin typeface="Courier New" pitchFamily="49" charset="0"/>
                <a:cs typeface="Courier New" pitchFamily="49" charset="0"/>
              </a:rPr>
              <a:t>i </a:t>
            </a:r>
            <a:r>
              <a:rPr lang="he-IL" b="1" baseline="-25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he-IL" dirty="0"/>
              <a:t>נכנס לקטע הקריטי אם </a:t>
            </a:r>
          </a:p>
          <a:p>
            <a:pPr marL="0" indent="0" algn="r" rtl="1">
              <a:buNone/>
            </a:pPr>
            <a:r>
              <a:rPr lang="en-US" dirty="0"/>
              <a:t>flag[j] = false</a:t>
            </a:r>
            <a:r>
              <a:rPr lang="he-IL" dirty="0"/>
              <a:t> או </a:t>
            </a:r>
            <a:r>
              <a:rPr lang="en-US" dirty="0"/>
              <a:t>turn = </a:t>
            </a:r>
            <a:r>
              <a:rPr lang="en-US" dirty="0" err="1"/>
              <a:t>i</a:t>
            </a:r>
            <a:endParaRPr lang="he-IL" dirty="0"/>
          </a:p>
          <a:p>
            <a:pPr marL="514350" indent="-514350" algn="r" rtl="1">
              <a:buFont typeface="+mj-lt"/>
              <a:buAutoNum type="arabicPeriod" startAt="2"/>
            </a:pPr>
            <a:r>
              <a:rPr lang="en-US" dirty="0"/>
              <a:t>Progress</a:t>
            </a:r>
            <a:r>
              <a:rPr lang="he-IL" dirty="0"/>
              <a:t> – התקדמות – מתקיים</a:t>
            </a:r>
          </a:p>
          <a:p>
            <a:pPr marL="514350" indent="-514350" algn="r" rtl="1">
              <a:buFont typeface="+mj-lt"/>
              <a:buAutoNum type="arabicPeriod" startAt="2"/>
            </a:pPr>
            <a:r>
              <a:rPr lang="en-US" dirty="0"/>
              <a:t>Bounded-waiting</a:t>
            </a:r>
            <a:r>
              <a:rPr lang="he-IL" dirty="0"/>
              <a:t> – חסם המתנה - מתקיים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5050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C4073-A430-4C2D-920F-D58C8930F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Critical Section</a:t>
            </a:r>
            <a:br>
              <a:rPr lang="he-IL" dirty="0"/>
            </a:br>
            <a:r>
              <a:rPr lang="he-IL" dirty="0"/>
              <a:t>סנכרון חומרה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092AD-2A66-48C2-B2FF-51C0C6234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הרבה מערכות מספקות פתרון חומרתי למימוש פתרונות לקטע הקריטי</a:t>
            </a:r>
          </a:p>
          <a:p>
            <a:pPr algn="r" rtl="1"/>
            <a:r>
              <a:rPr lang="he-IL" dirty="0"/>
              <a:t>מבוסס על רעיון של </a:t>
            </a:r>
            <a:r>
              <a:rPr lang="en-US" dirty="0"/>
              <a:t>lock</a:t>
            </a:r>
            <a:r>
              <a:rPr lang="he-IL" dirty="0"/>
              <a:t> – מגנים על הקטע הקריטי בעזרת מנעולים</a:t>
            </a:r>
          </a:p>
          <a:p>
            <a:pPr algn="r" rtl="1"/>
            <a:r>
              <a:rPr lang="he-IL" dirty="0"/>
              <a:t>מערכות עם מעבד אחד יכולות למנוע פסיקות</a:t>
            </a:r>
          </a:p>
          <a:p>
            <a:pPr lvl="1" algn="r" rtl="1"/>
            <a:r>
              <a:rPr lang="he-IL" dirty="0"/>
              <a:t>הקוד הרץ כרגע מתבצע ללא חטיפה</a:t>
            </a:r>
          </a:p>
          <a:p>
            <a:pPr lvl="1" algn="r" rtl="1"/>
            <a:r>
              <a:rPr lang="he-IL" dirty="0"/>
              <a:t>לא יעיל במקרה של מספר מעבדים</a:t>
            </a:r>
          </a:p>
          <a:p>
            <a:pPr algn="r" rtl="1"/>
            <a:r>
              <a:rPr lang="he-IL" dirty="0"/>
              <a:t>מערכות מתקדמות יותר מספקות פעולת חומרה </a:t>
            </a:r>
            <a:r>
              <a:rPr lang="he-IL" b="1" dirty="0"/>
              <a:t>אטומית – פעולה שלא מקבלת פסיקות</a:t>
            </a:r>
          </a:p>
          <a:p>
            <a:pPr lvl="1" algn="r" rtl="1"/>
            <a:r>
              <a:rPr lang="he-IL" dirty="0"/>
              <a:t>פעולת חומרה ברמה של זיכרון כך שגם אם ישנם מספר מעבדים לא ניתן לבצע פסיקה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7222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776586F3-C7CF-46F7-94B9-75E50A075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5146" y="2229838"/>
            <a:ext cx="2696208" cy="587306"/>
          </a:xfrm>
          <a:prstGeom prst="rect">
            <a:avLst/>
          </a:prstGeom>
          <a:solidFill>
            <a:srgbClr val="FFFFFF"/>
          </a:solidFill>
          <a:ln w="25560" cap="sq">
            <a:solidFill>
              <a:srgbClr val="BCBC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B6DBB3E-8B44-4947-9DDC-F3FA54C275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5146" y="3201125"/>
            <a:ext cx="2696210" cy="525055"/>
          </a:xfrm>
          <a:prstGeom prst="rect">
            <a:avLst/>
          </a:prstGeom>
          <a:solidFill>
            <a:srgbClr val="FFFFFF"/>
          </a:solidFill>
          <a:ln w="25560" cap="sq">
            <a:solidFill>
              <a:srgbClr val="BCBCB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he-IL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5C4073-A430-4C2D-920F-D58C8930F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Critical Section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092AD-2A66-48C2-B2FF-51C0C6234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700"/>
              </a:spcBef>
              <a:buClrTx/>
              <a:buSzPct val="90000"/>
              <a:buFontTx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 { </a:t>
            </a:r>
          </a:p>
          <a:p>
            <a:pPr>
              <a:spcBef>
                <a:spcPts val="700"/>
              </a:spcBef>
              <a:buClrTx/>
              <a:buSzPct val="90000"/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acquire lock </a:t>
            </a:r>
          </a:p>
          <a:p>
            <a:pPr>
              <a:spcBef>
                <a:spcPts val="700"/>
              </a:spcBef>
              <a:buClrTx/>
              <a:buSzPct val="90000"/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critical section </a:t>
            </a:r>
          </a:p>
          <a:p>
            <a:pPr>
              <a:spcBef>
                <a:spcPts val="700"/>
              </a:spcBef>
              <a:buClrTx/>
              <a:buSzPct val="90000"/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release lock </a:t>
            </a:r>
          </a:p>
          <a:p>
            <a:pPr>
              <a:spcBef>
                <a:spcPts val="700"/>
              </a:spcBef>
              <a:buClrTx/>
              <a:buSzPct val="90000"/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remainder section </a:t>
            </a:r>
          </a:p>
          <a:p>
            <a:pPr>
              <a:spcBef>
                <a:spcPts val="700"/>
              </a:spcBef>
              <a:buClrTx/>
              <a:buSzPct val="90000"/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 while (TRUE);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9225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C4073-A430-4C2D-920F-D58C8930F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 dirty="0" err="1">
                <a:latin typeface="Arial" panose="020B0604020202020204" pitchFamily="34" charset="0"/>
              </a:rPr>
              <a:t>test_and_set</a:t>
            </a:r>
            <a:r>
              <a:rPr lang="en-US" altLang="en-US" b="1" dirty="0">
                <a:latin typeface="Arial" panose="020B0604020202020204" pitchFamily="34" charset="0"/>
              </a:rPr>
              <a:t>  Instruction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092AD-2A66-48C2-B2FF-51C0C6234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Bef>
                <a:spcPts val="788"/>
              </a:spcBef>
              <a:buSzPct val="90000"/>
              <a:buNone/>
              <a:defRPr/>
            </a:pPr>
            <a:endParaRPr lang="en-US" dirty="0">
              <a:latin typeface="Arial" pitchFamily="34" charset="0"/>
            </a:endParaRPr>
          </a:p>
          <a:p>
            <a:pPr>
              <a:spcBef>
                <a:spcPts val="788"/>
              </a:spcBef>
              <a:buSzPct val="90000"/>
              <a:buNone/>
              <a:defRPr/>
            </a:pPr>
            <a:r>
              <a:rPr lang="en-US" dirty="0">
                <a:latin typeface="Arial" pitchFamily="34" charset="0"/>
              </a:rPr>
              <a:t>   Definition:</a:t>
            </a:r>
          </a:p>
          <a:p>
            <a:pPr>
              <a:spcBef>
                <a:spcPts val="700"/>
              </a:spcBef>
              <a:buSzPct val="90000"/>
              <a:buNone/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test_and_set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*target)</a:t>
            </a:r>
          </a:p>
          <a:p>
            <a:pPr>
              <a:spcBef>
                <a:spcPts val="700"/>
              </a:spcBef>
              <a:buSzPct val="90000"/>
              <a:buNone/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  {</a:t>
            </a:r>
          </a:p>
          <a:p>
            <a:pPr>
              <a:spcBef>
                <a:spcPts val="700"/>
              </a:spcBef>
              <a:buSzPct val="90000"/>
              <a:buNone/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      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rv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= *target;</a:t>
            </a:r>
          </a:p>
          <a:p>
            <a:pPr>
              <a:spcBef>
                <a:spcPts val="700"/>
              </a:spcBef>
              <a:buSzPct val="90000"/>
              <a:buNone/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       *target = TRUE;</a:t>
            </a:r>
          </a:p>
          <a:p>
            <a:pPr>
              <a:spcBef>
                <a:spcPts val="700"/>
              </a:spcBef>
              <a:buSzPct val="90000"/>
              <a:buNone/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       return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rv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:</a:t>
            </a:r>
          </a:p>
          <a:p>
            <a:pPr>
              <a:spcBef>
                <a:spcPts val="700"/>
              </a:spcBef>
              <a:buSzPct val="90000"/>
              <a:buNone/>
              <a:defRPr/>
            </a:pPr>
            <a:r>
              <a:rPr lang="en-US" b="1" dirty="0">
                <a:latin typeface="Courier New" pitchFamily="49" charset="0"/>
                <a:cs typeface="Courier New" pitchFamily="49" charset="0"/>
              </a:rPr>
              <a:t>          }</a:t>
            </a:r>
          </a:p>
          <a:p>
            <a:pPr marL="339725" indent="-338138" algn="r" rtl="1">
              <a:spcBef>
                <a:spcPts val="788"/>
              </a:spcBef>
              <a:buClr>
                <a:srgbClr val="993300"/>
              </a:buClr>
              <a:buSzPct val="90000"/>
              <a:buFont typeface="Times New Roman" panose="02020603050405020304" pitchFamily="18" charset="0"/>
              <a:buAutoNum type="arabicPeriod"/>
              <a:defRPr/>
            </a:pPr>
            <a:r>
              <a:rPr lang="he-IL" dirty="0">
                <a:latin typeface="Arial" pitchFamily="34" charset="0"/>
              </a:rPr>
              <a:t>מתבצעת כפעולה אטומית</a:t>
            </a:r>
            <a:endParaRPr lang="en-US" dirty="0">
              <a:latin typeface="Arial" pitchFamily="34" charset="0"/>
            </a:endParaRPr>
          </a:p>
          <a:p>
            <a:pPr marL="339725" indent="-338138" algn="r" rtl="1">
              <a:spcBef>
                <a:spcPts val="788"/>
              </a:spcBef>
              <a:buClr>
                <a:srgbClr val="993300"/>
              </a:buClr>
              <a:buSzPct val="90000"/>
              <a:buFont typeface="Times New Roman" panose="02020603050405020304" pitchFamily="18" charset="0"/>
              <a:buAutoNum type="arabicPeriod"/>
              <a:defRPr/>
            </a:pPr>
            <a:r>
              <a:rPr lang="he-IL" dirty="0">
                <a:latin typeface="Arial" pitchFamily="34" charset="0"/>
              </a:rPr>
              <a:t>מחזירה את הערך המקורי שהגיע כפרמטר</a:t>
            </a:r>
            <a:endParaRPr lang="en-US" dirty="0">
              <a:latin typeface="Arial" pitchFamily="34" charset="0"/>
            </a:endParaRPr>
          </a:p>
          <a:p>
            <a:pPr marL="339725" indent="-338138" algn="r" rtl="1">
              <a:spcBef>
                <a:spcPts val="788"/>
              </a:spcBef>
              <a:buClr>
                <a:srgbClr val="993300"/>
              </a:buClr>
              <a:buSzPct val="90000"/>
              <a:buFont typeface="Times New Roman" panose="02020603050405020304" pitchFamily="18" charset="0"/>
              <a:buAutoNum type="arabicPeriod"/>
              <a:defRPr/>
            </a:pPr>
            <a:r>
              <a:rPr lang="he-IL" dirty="0">
                <a:latin typeface="Arial" pitchFamily="34" charset="0"/>
              </a:rPr>
              <a:t>משנה את הערך של הפרמטר ל </a:t>
            </a:r>
            <a:r>
              <a:rPr lang="en-US" dirty="0">
                <a:latin typeface="Arial" pitchFamily="34" charset="0"/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29177521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C4073-A430-4C2D-920F-D58C8930F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699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Critical Section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092AD-2A66-48C2-B2FF-51C0C6234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>
              <a:spcBef>
                <a:spcPts val="700"/>
              </a:spcBef>
              <a:buSzPct val="90000"/>
              <a:buNone/>
              <a:defRPr/>
            </a:pPr>
            <a:r>
              <a:rPr lang="he-IL" sz="2000" dirty="0">
                <a:latin typeface="Arial" pitchFamily="34" charset="0"/>
              </a:rPr>
              <a:t>המשתנה המשותף </a:t>
            </a:r>
            <a:r>
              <a:rPr lang="en-US" sz="2000" dirty="0">
                <a:latin typeface="Arial" pitchFamily="34" charset="0"/>
              </a:rPr>
              <a:t>lock</a:t>
            </a:r>
            <a:r>
              <a:rPr lang="he-IL" sz="2000" dirty="0">
                <a:latin typeface="Arial" pitchFamily="34" charset="0"/>
              </a:rPr>
              <a:t> מאותחל ל </a:t>
            </a:r>
            <a:r>
              <a:rPr lang="en-US" sz="2000" dirty="0">
                <a:latin typeface="Arial" pitchFamily="34" charset="0"/>
              </a:rPr>
              <a:t>FALSE</a:t>
            </a:r>
          </a:p>
          <a:p>
            <a:pPr algn="r" rtl="1">
              <a:spcBef>
                <a:spcPts val="700"/>
              </a:spcBef>
              <a:buSzPct val="90000"/>
              <a:buNone/>
              <a:defRPr/>
            </a:pPr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700"/>
              </a:spcBef>
              <a:buSzPct val="90000"/>
              <a:buNone/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do {</a:t>
            </a:r>
          </a:p>
          <a:p>
            <a:pPr>
              <a:spcBef>
                <a:spcPts val="700"/>
              </a:spcBef>
              <a:buSzPct val="90000"/>
              <a:buNone/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    while (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test_and_set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(&amp;lock)) </a:t>
            </a:r>
          </a:p>
          <a:p>
            <a:pPr marL="341313">
              <a:spcBef>
                <a:spcPts val="700"/>
              </a:spcBef>
              <a:buClrTx/>
              <a:buSzPct val="90000"/>
              <a:buFontTx/>
              <a:buNone/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        ; /* do nothing */ </a:t>
            </a:r>
          </a:p>
          <a:p>
            <a:pPr marL="341313">
              <a:spcBef>
                <a:spcPts val="700"/>
              </a:spcBef>
              <a:buClrTx/>
              <a:buSzPct val="90000"/>
              <a:buFontTx/>
              <a:buNone/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          /* critical section */ </a:t>
            </a:r>
          </a:p>
          <a:p>
            <a:pPr marL="341313">
              <a:spcBef>
                <a:spcPts val="700"/>
              </a:spcBef>
              <a:buClrTx/>
              <a:buSzPct val="90000"/>
              <a:buFontTx/>
              <a:buNone/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     lock = false; </a:t>
            </a:r>
          </a:p>
          <a:p>
            <a:pPr marL="341313">
              <a:spcBef>
                <a:spcPts val="700"/>
              </a:spcBef>
              <a:buClrTx/>
              <a:buSzPct val="90000"/>
              <a:buFontTx/>
              <a:buNone/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          /* remainder section */ </a:t>
            </a:r>
          </a:p>
          <a:p>
            <a:pPr marL="341313">
              <a:spcBef>
                <a:spcPts val="788"/>
              </a:spcBef>
              <a:buClrTx/>
              <a:buSzPct val="90000"/>
              <a:buFontTx/>
              <a:buNone/>
              <a:defRPr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   } while (true); </a:t>
            </a:r>
            <a:endParaRPr lang="en-US" sz="20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6774FCA-5AFF-4FC0-937C-120CB8DC1559}"/>
              </a:ext>
            </a:extLst>
          </p:cNvPr>
          <p:cNvSpPr/>
          <p:nvPr/>
        </p:nvSpPr>
        <p:spPr>
          <a:xfrm>
            <a:off x="5880295" y="4222872"/>
            <a:ext cx="5809957" cy="243114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ts val="700"/>
              </a:spcBef>
              <a:buSzPct val="90000"/>
              <a:buNone/>
              <a:defRPr/>
            </a:pPr>
            <a:r>
              <a:rPr lang="en-US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test_and_set</a:t>
            </a:r>
            <a:r>
              <a:rPr lang="en-US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*target)</a:t>
            </a:r>
          </a:p>
          <a:p>
            <a:pPr>
              <a:spcBef>
                <a:spcPts val="700"/>
              </a:spcBef>
              <a:buSzPct val="90000"/>
              <a:buNone/>
              <a:defRPr/>
            </a:pPr>
            <a:r>
              <a:rPr lang="en-US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{</a:t>
            </a:r>
          </a:p>
          <a:p>
            <a:pPr>
              <a:spcBef>
                <a:spcPts val="700"/>
              </a:spcBef>
              <a:buSzPct val="90000"/>
              <a:buNone/>
              <a:defRPr/>
            </a:pPr>
            <a:r>
              <a:rPr lang="en-US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   </a:t>
            </a:r>
            <a:r>
              <a:rPr lang="en-US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en-US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rv</a:t>
            </a:r>
            <a:r>
              <a:rPr lang="en-US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= *target;</a:t>
            </a:r>
          </a:p>
          <a:p>
            <a:pPr>
              <a:spcBef>
                <a:spcPts val="700"/>
              </a:spcBef>
              <a:buSzPct val="90000"/>
              <a:buNone/>
              <a:defRPr/>
            </a:pPr>
            <a:r>
              <a:rPr lang="en-US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   *target = TRUE;</a:t>
            </a:r>
          </a:p>
          <a:p>
            <a:pPr>
              <a:spcBef>
                <a:spcPts val="700"/>
              </a:spcBef>
              <a:buSzPct val="90000"/>
              <a:buNone/>
              <a:defRPr/>
            </a:pPr>
            <a:r>
              <a:rPr lang="en-US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      return </a:t>
            </a:r>
            <a:r>
              <a:rPr lang="en-US" b="1" dirty="0" err="1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rv</a:t>
            </a:r>
            <a:r>
              <a:rPr lang="en-US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:</a:t>
            </a:r>
          </a:p>
          <a:p>
            <a:pPr>
              <a:spcBef>
                <a:spcPts val="700"/>
              </a:spcBef>
              <a:buSzPct val="90000"/>
              <a:buNone/>
              <a:defRPr/>
            </a:pPr>
            <a:r>
              <a:rPr lang="en-US" b="1" dirty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 }</a:t>
            </a:r>
            <a:endParaRPr lang="en-US" dirty="0">
              <a:solidFill>
                <a:schemeClr val="accent1"/>
              </a:solidFill>
            </a:endParaRP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4791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C4073-A430-4C2D-920F-D58C8930F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Semaphore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092AD-2A66-48C2-B2FF-51C0C6234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r" rtl="1"/>
            <a:r>
              <a:rPr lang="he-IL" dirty="0"/>
              <a:t>כלי סינכרון שמספק דרכים יותר מתוחכמות (מאשר </a:t>
            </a:r>
            <a:r>
              <a:rPr lang="en-US" dirty="0"/>
              <a:t>Mutex locks</a:t>
            </a:r>
            <a:r>
              <a:rPr lang="he-IL" dirty="0"/>
              <a:t>) עבור תהליכים לסנכרון פעולותיהם</a:t>
            </a:r>
          </a:p>
          <a:p>
            <a:pPr algn="r" rtl="1"/>
            <a:r>
              <a:rPr lang="he-IL" dirty="0"/>
              <a:t>סמפור </a:t>
            </a:r>
            <a:r>
              <a:rPr lang="en-US" dirty="0"/>
              <a:t>S</a:t>
            </a:r>
            <a:r>
              <a:rPr lang="he-IL" dirty="0"/>
              <a:t> – משתנה </a:t>
            </a:r>
            <a:r>
              <a:rPr lang="en-US" dirty="0"/>
              <a:t>integer</a:t>
            </a:r>
            <a:r>
              <a:rPr lang="he-IL" dirty="0"/>
              <a:t>, ניתן לגישה באמצעות שתי פעולות </a:t>
            </a:r>
            <a:r>
              <a:rPr lang="he-IL" b="1" dirty="0"/>
              <a:t>אטומיות</a:t>
            </a:r>
            <a:r>
              <a:rPr lang="he-IL" dirty="0"/>
              <a:t> – </a:t>
            </a:r>
            <a:r>
              <a:rPr lang="en-US" dirty="0"/>
              <a:t>wait()</a:t>
            </a:r>
            <a:r>
              <a:rPr lang="he-IL" dirty="0"/>
              <a:t> ו </a:t>
            </a:r>
            <a:r>
              <a:rPr lang="en-US" dirty="0"/>
              <a:t>signal()</a:t>
            </a:r>
            <a:endParaRPr lang="he-IL" b="1" dirty="0"/>
          </a:p>
          <a:p>
            <a:pPr marL="512763" lvl="1" indent="0">
              <a:spcBef>
                <a:spcPts val="700"/>
              </a:spcBef>
              <a:buSzPct val="80000"/>
              <a:buNone/>
              <a:defRPr/>
            </a:pPr>
            <a:r>
              <a:rPr lang="en-US" b="1" dirty="0">
                <a:latin typeface="Courier New" pitchFamily="49" charset="0"/>
              </a:rPr>
              <a:t>wait(S)</a:t>
            </a:r>
            <a:r>
              <a:rPr lang="en-US" sz="1600" b="1" dirty="0">
                <a:latin typeface="Courier New" pitchFamily="49" charset="0"/>
              </a:rPr>
              <a:t> { </a:t>
            </a:r>
          </a:p>
          <a:p>
            <a:pPr marL="512763" lvl="1" indent="0">
              <a:spcBef>
                <a:spcPts val="700"/>
              </a:spcBef>
              <a:buSzPct val="80000"/>
              <a:buNone/>
              <a:defRPr/>
            </a:pPr>
            <a:r>
              <a:rPr lang="en-US" sz="1600" b="1" dirty="0">
                <a:latin typeface="Courier New" pitchFamily="49" charset="0"/>
              </a:rPr>
              <a:t>    while (S &lt;= 0)</a:t>
            </a:r>
          </a:p>
          <a:p>
            <a:pPr marL="512763" lvl="1" indent="0">
              <a:spcBef>
                <a:spcPts val="700"/>
              </a:spcBef>
              <a:buSzPct val="80000"/>
              <a:buNone/>
              <a:defRPr/>
            </a:pPr>
            <a:r>
              <a:rPr lang="en-US" sz="1600" b="1" dirty="0">
                <a:latin typeface="Courier New" pitchFamily="49" charset="0"/>
              </a:rPr>
              <a:t>       ; // busy wait</a:t>
            </a:r>
          </a:p>
          <a:p>
            <a:pPr marL="512763" lvl="1" indent="0">
              <a:spcBef>
                <a:spcPts val="700"/>
              </a:spcBef>
              <a:buSzPct val="80000"/>
              <a:buNone/>
              <a:defRPr/>
            </a:pPr>
            <a:r>
              <a:rPr lang="en-US" sz="1600" b="1" dirty="0">
                <a:latin typeface="Courier New" pitchFamily="49" charset="0"/>
              </a:rPr>
              <a:t>    S--;</a:t>
            </a:r>
          </a:p>
          <a:p>
            <a:pPr marL="512763" lvl="1" indent="0">
              <a:spcBef>
                <a:spcPts val="700"/>
              </a:spcBef>
              <a:buSzPct val="80000"/>
              <a:buNone/>
              <a:defRPr/>
            </a:pPr>
            <a:r>
              <a:rPr lang="en-US" sz="1600" b="1" dirty="0">
                <a:latin typeface="Courier New" pitchFamily="49" charset="0"/>
              </a:rPr>
              <a:t>}</a:t>
            </a:r>
          </a:p>
          <a:p>
            <a:pPr marL="512763" lvl="1" indent="0">
              <a:spcBef>
                <a:spcPts val="700"/>
              </a:spcBef>
              <a:buSzPct val="80000"/>
              <a:buNone/>
              <a:defRPr/>
            </a:pPr>
            <a:endParaRPr lang="en-US" b="1" dirty="0">
              <a:latin typeface="Courier New" pitchFamily="49" charset="0"/>
            </a:endParaRPr>
          </a:p>
          <a:p>
            <a:pPr marL="512763" lvl="1" indent="0">
              <a:spcBef>
                <a:spcPts val="700"/>
              </a:spcBef>
              <a:buSzPct val="80000"/>
              <a:buNone/>
              <a:defRPr/>
            </a:pPr>
            <a:r>
              <a:rPr lang="en-US" b="1" dirty="0">
                <a:latin typeface="Courier New" pitchFamily="49" charset="0"/>
              </a:rPr>
              <a:t>signal(S)</a:t>
            </a:r>
            <a:r>
              <a:rPr lang="en-US" sz="1600" b="1" dirty="0">
                <a:latin typeface="Courier New" pitchFamily="49" charset="0"/>
              </a:rPr>
              <a:t> { </a:t>
            </a:r>
          </a:p>
          <a:p>
            <a:pPr marL="512763" lvl="1" indent="0">
              <a:spcBef>
                <a:spcPts val="700"/>
              </a:spcBef>
              <a:buSzPct val="80000"/>
              <a:buNone/>
              <a:defRPr/>
            </a:pPr>
            <a:r>
              <a:rPr lang="en-US" sz="1600" b="1" dirty="0">
                <a:latin typeface="Courier New" pitchFamily="49" charset="0"/>
              </a:rPr>
              <a:t>    S++;</a:t>
            </a:r>
          </a:p>
          <a:p>
            <a:pPr marL="512763" lvl="1" indent="0">
              <a:spcBef>
                <a:spcPts val="700"/>
              </a:spcBef>
              <a:buSzPct val="80000"/>
              <a:buNone/>
              <a:defRPr/>
            </a:pPr>
            <a:r>
              <a:rPr lang="en-US" sz="1600" b="1" dirty="0">
                <a:latin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779734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C4073-A430-4C2D-920F-D58C8930F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Semaphore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092AD-2A66-48C2-B2FF-51C0C6234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r" rtl="1"/>
            <a:r>
              <a:rPr lang="he-IL" dirty="0"/>
              <a:t>מבחינים בין שני סוגי סמפור</a:t>
            </a:r>
          </a:p>
          <a:p>
            <a:pPr lvl="1" algn="r" rtl="1"/>
            <a:r>
              <a:rPr lang="he-IL" dirty="0"/>
              <a:t>סמפור מנייה – משנה </a:t>
            </a:r>
            <a:r>
              <a:rPr lang="en-US" dirty="0"/>
              <a:t>integer</a:t>
            </a:r>
            <a:r>
              <a:rPr lang="he-IL" dirty="0"/>
              <a:t> עם טווח לא מוגבל</a:t>
            </a:r>
          </a:p>
          <a:p>
            <a:pPr lvl="1" algn="r" rtl="1"/>
            <a:r>
              <a:rPr lang="he-IL" dirty="0"/>
              <a:t>סמפור בינארי – משתנה </a:t>
            </a:r>
            <a:r>
              <a:rPr lang="en-US" dirty="0"/>
              <a:t>integer </a:t>
            </a:r>
            <a:r>
              <a:rPr lang="he-IL" dirty="0"/>
              <a:t> עם ערך 0 או 1</a:t>
            </a:r>
          </a:p>
          <a:p>
            <a:pPr lvl="2" algn="r" rtl="1"/>
            <a:r>
              <a:rPr lang="he-IL" dirty="0"/>
              <a:t>בדומה ל </a:t>
            </a:r>
            <a:r>
              <a:rPr lang="en-US" dirty="0"/>
              <a:t>Mutex lock</a:t>
            </a:r>
            <a:endParaRPr lang="he-IL" dirty="0"/>
          </a:p>
          <a:p>
            <a:pPr algn="r" rtl="1"/>
            <a:r>
              <a:rPr lang="he-IL" dirty="0"/>
              <a:t>ניתן לפתור בעיות סנכרון מגוונות</a:t>
            </a:r>
          </a:p>
          <a:p>
            <a:pPr algn="r" rtl="1"/>
            <a:r>
              <a:rPr lang="he-IL" dirty="0"/>
              <a:t>נניח שני תהליכים, </a:t>
            </a:r>
            <a:r>
              <a:rPr lang="en-US" b="1" i="1" dirty="0">
                <a:latin typeface="Arial" pitchFamily="34" charset="0"/>
              </a:rPr>
              <a:t>P</a:t>
            </a:r>
            <a:r>
              <a:rPr lang="en-US" b="1" i="1" baseline="-25000" dirty="0">
                <a:latin typeface="Arial" pitchFamily="34" charset="0"/>
              </a:rPr>
              <a:t>1</a:t>
            </a:r>
            <a:r>
              <a:rPr lang="en-US" b="1" i="1" dirty="0">
                <a:latin typeface="Arial" pitchFamily="34" charset="0"/>
              </a:rPr>
              <a:t> </a:t>
            </a:r>
            <a:r>
              <a:rPr lang="en-US" dirty="0">
                <a:latin typeface="Arial" pitchFamily="34" charset="0"/>
              </a:rPr>
              <a:t> </a:t>
            </a:r>
            <a:r>
              <a:rPr lang="he-IL" dirty="0">
                <a:latin typeface="Arial" pitchFamily="34" charset="0"/>
              </a:rPr>
              <a:t> ו- </a:t>
            </a:r>
            <a:r>
              <a:rPr lang="en-US" dirty="0">
                <a:latin typeface="Arial" pitchFamily="34" charset="0"/>
              </a:rPr>
              <a:t> </a:t>
            </a:r>
            <a:r>
              <a:rPr lang="en-US" b="1" i="1" dirty="0">
                <a:latin typeface="Arial" pitchFamily="34" charset="0"/>
              </a:rPr>
              <a:t>P</a:t>
            </a:r>
            <a:r>
              <a:rPr lang="en-US" b="1" i="1" baseline="-25000" dirty="0">
                <a:latin typeface="Arial" pitchFamily="34" charset="0"/>
              </a:rPr>
              <a:t>2</a:t>
            </a:r>
            <a:r>
              <a:rPr lang="he-IL" dirty="0"/>
              <a:t> ,כך ש </a:t>
            </a:r>
            <a:r>
              <a:rPr lang="en-US" b="1" i="1" dirty="0">
                <a:latin typeface="Arial" pitchFamily="34" charset="0"/>
              </a:rPr>
              <a:t>S</a:t>
            </a:r>
            <a:r>
              <a:rPr lang="en-US" b="1" i="1" baseline="-25000" dirty="0">
                <a:latin typeface="Arial" pitchFamily="34" charset="0"/>
              </a:rPr>
              <a:t>1</a:t>
            </a:r>
            <a:r>
              <a:rPr lang="he-IL" dirty="0"/>
              <a:t> צריך להתרחש לפני </a:t>
            </a:r>
            <a:r>
              <a:rPr lang="en-US" b="1" i="1" dirty="0">
                <a:latin typeface="Arial" pitchFamily="34" charset="0"/>
              </a:rPr>
              <a:t>S</a:t>
            </a:r>
            <a:r>
              <a:rPr lang="en-US" b="1" i="1" baseline="-25000" dirty="0">
                <a:latin typeface="Arial" pitchFamily="34" charset="0"/>
              </a:rPr>
              <a:t>2</a:t>
            </a:r>
            <a:endParaRPr lang="he-IL" b="1" i="1" baseline="-25000" dirty="0">
              <a:latin typeface="Arial" pitchFamily="34" charset="0"/>
            </a:endParaRPr>
          </a:p>
          <a:p>
            <a:pPr marL="0" indent="0" algn="r" rtl="1">
              <a:buNone/>
            </a:pPr>
            <a:r>
              <a:rPr lang="he-IL" dirty="0"/>
              <a:t>ניצור סמפור </a:t>
            </a:r>
            <a:r>
              <a:rPr lang="en-US" dirty="0"/>
              <a:t>“synch”</a:t>
            </a:r>
            <a:r>
              <a:rPr lang="he-IL" dirty="0"/>
              <a:t> מאותחל לערך 0</a:t>
            </a:r>
            <a:endParaRPr lang="en-US" dirty="0"/>
          </a:p>
          <a:p>
            <a:pPr marL="512763" lvl="1" indent="0">
              <a:spcBef>
                <a:spcPts val="700"/>
              </a:spcBef>
              <a:buSzPct val="80000"/>
              <a:buNone/>
              <a:defRPr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P1:</a:t>
            </a:r>
          </a:p>
          <a:p>
            <a:pPr marL="512763" lvl="1" indent="0">
              <a:spcBef>
                <a:spcPts val="700"/>
              </a:spcBef>
              <a:buSzPct val="80000"/>
              <a:buNone/>
              <a:defRPr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  S</a:t>
            </a:r>
            <a:r>
              <a:rPr lang="en-US" sz="2200" b="1" baseline="-25000" dirty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512763" lvl="1" indent="0">
              <a:spcBef>
                <a:spcPts val="700"/>
              </a:spcBef>
              <a:buSzPct val="80000"/>
              <a:buNone/>
              <a:defRPr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  signal(synch);</a:t>
            </a:r>
          </a:p>
          <a:p>
            <a:pPr marL="512763" lvl="1" indent="0">
              <a:spcBef>
                <a:spcPts val="700"/>
              </a:spcBef>
              <a:buSzPct val="80000"/>
              <a:buNone/>
              <a:defRPr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P2:</a:t>
            </a:r>
          </a:p>
          <a:p>
            <a:pPr marL="512763" lvl="1" indent="0">
              <a:spcBef>
                <a:spcPts val="613"/>
              </a:spcBef>
              <a:buSzPct val="80000"/>
              <a:buNone/>
              <a:defRPr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  wait(synch)</a:t>
            </a:r>
            <a:r>
              <a:rPr lang="en-US" sz="1900" dirty="0">
                <a:solidFill>
                  <a:srgbClr val="0000FF"/>
                </a:solidFill>
                <a:latin typeface="Arial" pitchFamily="34" charset="0"/>
              </a:rPr>
              <a:t>;</a:t>
            </a:r>
          </a:p>
          <a:p>
            <a:pPr marL="512763" lvl="1" indent="0">
              <a:spcBef>
                <a:spcPts val="700"/>
              </a:spcBef>
              <a:buSzPct val="80000"/>
              <a:buNone/>
              <a:defRPr/>
            </a:pPr>
            <a:r>
              <a:rPr lang="en-US" sz="2200" b="1" dirty="0">
                <a:latin typeface="Courier New" pitchFamily="49" charset="0"/>
                <a:cs typeface="Courier New" pitchFamily="49" charset="0"/>
              </a:rPr>
              <a:t>   S</a:t>
            </a:r>
            <a:r>
              <a:rPr lang="en-US" sz="2200" b="1" baseline="-25000" dirty="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200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 indent="0" algn="l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4037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C4073-A430-4C2D-920F-D58C8930F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Semaphore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092AD-2A66-48C2-B2FF-51C0C6234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</a:pPr>
            <a:r>
              <a:rPr lang="en-US" altLang="en-US" sz="1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  <a: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</a:pPr>
            <a: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en-US" sz="2000" dirty="0">
                <a:latin typeface="Arial" panose="020B0604020202020204" pitchFamily="34" charset="0"/>
              </a:rPr>
              <a:t>wait</a:t>
            </a:r>
            <a: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dirty="0">
                <a:latin typeface="Arial" panose="020B0604020202020204" pitchFamily="34" charset="0"/>
              </a:rPr>
              <a:t>s</a:t>
            </a:r>
            <a: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</a:pPr>
            <a:r>
              <a:rPr lang="en-US" altLang="en-US" sz="1400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en-US" sz="1400" i="1" dirty="0">
                <a:solidFill>
                  <a:srgbClr val="4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critical section</a:t>
            </a:r>
            <a: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</a:pPr>
            <a: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en-US" sz="2000" dirty="0">
                <a:latin typeface="Arial" panose="020B0604020202020204" pitchFamily="34" charset="0"/>
              </a:rPr>
              <a:t>signal</a:t>
            </a:r>
            <a: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dirty="0">
                <a:latin typeface="Arial" panose="020B0604020202020204" pitchFamily="34" charset="0"/>
              </a:rPr>
              <a:t>s</a:t>
            </a:r>
            <a: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</a:pPr>
            <a:r>
              <a:rPr lang="en-US" altLang="en-US" sz="1400" i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altLang="en-US" sz="1400" i="1" dirty="0">
                <a:solidFill>
                  <a:srgbClr val="4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remainder section</a:t>
            </a:r>
            <a: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</a:pPr>
            <a: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altLang="en-US" sz="1400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400" dirty="0">
                <a:solidFill>
                  <a:srgbClr val="66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en-US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r>
              <a:rPr lang="en-US" altLang="en-US" sz="1800" dirty="0"/>
              <a:t> </a:t>
            </a:r>
            <a:endParaRPr lang="en-US" altLang="en-US" sz="3200" dirty="0">
              <a:latin typeface="Arial" panose="020B0604020202020204" pitchFamily="34" charset="0"/>
            </a:endParaRPr>
          </a:p>
          <a:p>
            <a:pPr algn="r" rtl="1"/>
            <a:endParaRPr lang="en-US" dirty="0"/>
          </a:p>
          <a:p>
            <a:pPr algn="r" rtl="1"/>
            <a:r>
              <a:rPr lang="he-IL" dirty="0"/>
              <a:t>תהליך שמחכה לסמפור חייב כל הזמן לבצע את פקודת </a:t>
            </a:r>
            <a:r>
              <a:rPr lang="en-US" dirty="0"/>
              <a:t>wait()</a:t>
            </a:r>
            <a:r>
              <a:rPr lang="he-IL" dirty="0"/>
              <a:t> שבודקת אם הסמפור הוא לא 0</a:t>
            </a:r>
          </a:p>
          <a:p>
            <a:pPr algn="r" rtl="1"/>
            <a:r>
              <a:rPr lang="he-IL" dirty="0"/>
              <a:t>הלולאה הזו תופסת זמן עיבוד מיותר, ולוקחת מחזורי מעבד (</a:t>
            </a:r>
            <a:r>
              <a:rPr lang="en-US" dirty="0"/>
              <a:t>Busy waiting</a:t>
            </a:r>
            <a:r>
              <a:rPr lang="he-IL" dirty="0"/>
              <a:t>)</a:t>
            </a: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0DF73168-B77F-4B3F-9CF7-BD98A2A07477}"/>
              </a:ext>
            </a:extLst>
          </p:cNvPr>
          <p:cNvSpPr/>
          <p:nvPr/>
        </p:nvSpPr>
        <p:spPr>
          <a:xfrm>
            <a:off x="4621695" y="1690688"/>
            <a:ext cx="3518453" cy="240065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512763" lvl="1" indent="0">
              <a:buSzPct val="80000"/>
              <a:buNone/>
              <a:defRPr/>
            </a:pPr>
            <a:r>
              <a:rPr lang="en-US" b="1" dirty="0">
                <a:latin typeface="Courier New" pitchFamily="49" charset="0"/>
              </a:rPr>
              <a:t>wait(S)</a:t>
            </a:r>
            <a:r>
              <a:rPr lang="en-US" sz="1600" b="1" dirty="0">
                <a:latin typeface="Courier New" pitchFamily="49" charset="0"/>
              </a:rPr>
              <a:t> { </a:t>
            </a:r>
          </a:p>
          <a:p>
            <a:pPr marL="512763" lvl="1" indent="0">
              <a:buSzPct val="80000"/>
              <a:buNone/>
              <a:defRPr/>
            </a:pPr>
            <a:r>
              <a:rPr lang="en-US" sz="1600" b="1" dirty="0">
                <a:latin typeface="Courier New" pitchFamily="49" charset="0"/>
              </a:rPr>
              <a:t>    while (S &lt;= 0)</a:t>
            </a:r>
          </a:p>
          <a:p>
            <a:pPr marL="512763" lvl="1" indent="0">
              <a:buSzPct val="80000"/>
              <a:buNone/>
              <a:defRPr/>
            </a:pPr>
            <a:r>
              <a:rPr lang="en-US" sz="1600" b="1" dirty="0">
                <a:latin typeface="Courier New" pitchFamily="49" charset="0"/>
              </a:rPr>
              <a:t>       ; // busy wait</a:t>
            </a:r>
          </a:p>
          <a:p>
            <a:pPr marL="512763" lvl="1" indent="0">
              <a:buSzPct val="80000"/>
              <a:buNone/>
              <a:defRPr/>
            </a:pPr>
            <a:r>
              <a:rPr lang="en-US" sz="1600" b="1" dirty="0">
                <a:latin typeface="Courier New" pitchFamily="49" charset="0"/>
              </a:rPr>
              <a:t>    S--;</a:t>
            </a:r>
          </a:p>
          <a:p>
            <a:pPr marL="512763" lvl="1" indent="0">
              <a:buSzPct val="80000"/>
              <a:buNone/>
              <a:defRPr/>
            </a:pPr>
            <a:r>
              <a:rPr lang="en-US" sz="1600" b="1" dirty="0">
                <a:latin typeface="Courier New" pitchFamily="49" charset="0"/>
              </a:rPr>
              <a:t>}</a:t>
            </a:r>
          </a:p>
          <a:p>
            <a:pPr marL="512763" lvl="1" indent="0">
              <a:buSzPct val="80000"/>
              <a:buNone/>
              <a:defRPr/>
            </a:pPr>
            <a:endParaRPr lang="en-US" b="1" dirty="0">
              <a:latin typeface="Courier New" pitchFamily="49" charset="0"/>
            </a:endParaRPr>
          </a:p>
          <a:p>
            <a:pPr marL="512763" lvl="1" indent="0">
              <a:buSzPct val="80000"/>
              <a:buNone/>
              <a:defRPr/>
            </a:pPr>
            <a:r>
              <a:rPr lang="en-US" b="1" dirty="0">
                <a:latin typeface="Courier New" pitchFamily="49" charset="0"/>
              </a:rPr>
              <a:t>signal(S)</a:t>
            </a:r>
            <a:r>
              <a:rPr lang="en-US" sz="1600" b="1" dirty="0">
                <a:latin typeface="Courier New" pitchFamily="49" charset="0"/>
              </a:rPr>
              <a:t> { </a:t>
            </a:r>
          </a:p>
          <a:p>
            <a:pPr marL="512763" lvl="1" indent="0">
              <a:buSzPct val="80000"/>
              <a:buNone/>
              <a:defRPr/>
            </a:pPr>
            <a:r>
              <a:rPr lang="en-US" sz="1600" b="1" dirty="0">
                <a:latin typeface="Courier New" pitchFamily="49" charset="0"/>
              </a:rPr>
              <a:t>    S++;</a:t>
            </a:r>
          </a:p>
          <a:p>
            <a:pPr marL="512763" lvl="1" indent="0">
              <a:buSzPct val="80000"/>
              <a:buNone/>
              <a:defRPr/>
            </a:pPr>
            <a:r>
              <a:rPr lang="en-US" sz="1600" b="1" dirty="0">
                <a:latin typeface="Courier New" pitchFamily="49" charset="0"/>
              </a:rPr>
              <a:t>}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2659709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C4073-A430-4C2D-920F-D58C8930F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Semaphore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092AD-2A66-48C2-B2FF-51C0C6234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dirty="0"/>
              <a:t>כדי למנוע </a:t>
            </a:r>
            <a:r>
              <a:rPr lang="en-US" dirty="0"/>
              <a:t>Busy waiting</a:t>
            </a:r>
            <a:r>
              <a:rPr lang="he-IL" dirty="0"/>
              <a:t>, לכל סמפור מצורף תור ממתינים</a:t>
            </a:r>
          </a:p>
          <a:p>
            <a:pPr algn="r" rtl="1"/>
            <a:r>
              <a:rPr lang="he-IL" dirty="0"/>
              <a:t>כל רשומה בתור מכילה שני ערכים</a:t>
            </a:r>
          </a:p>
          <a:p>
            <a:pPr lvl="1" algn="r" rtl="1"/>
            <a:r>
              <a:rPr lang="en-US" dirty="0" err="1"/>
              <a:t>Int</a:t>
            </a:r>
            <a:r>
              <a:rPr lang="en-US" dirty="0"/>
              <a:t> value</a:t>
            </a:r>
            <a:r>
              <a:rPr lang="he-IL" dirty="0"/>
              <a:t> – ערכו של הסמפור</a:t>
            </a:r>
            <a:endParaRPr lang="en-US" dirty="0"/>
          </a:p>
          <a:p>
            <a:pPr lvl="1" algn="r" rtl="1"/>
            <a:r>
              <a:rPr lang="he-IL" dirty="0"/>
              <a:t>מצביע לרשומה הבאה</a:t>
            </a:r>
          </a:p>
          <a:p>
            <a:pPr marL="0" indent="0" algn="r" rtl="1">
              <a:buNone/>
            </a:pPr>
            <a:r>
              <a:rPr lang="he-IL" dirty="0"/>
              <a:t>שתי פעולות</a:t>
            </a:r>
            <a:endParaRPr lang="en-US" dirty="0"/>
          </a:p>
          <a:p>
            <a:pPr algn="r" rtl="1"/>
            <a:r>
              <a:rPr lang="en-US" dirty="0"/>
              <a:t>Sleep/block</a:t>
            </a:r>
            <a:r>
              <a:rPr lang="he-IL" dirty="0"/>
              <a:t> – ממקמת את התהליך שביצע את הפעולה בתור הממתינים</a:t>
            </a:r>
          </a:p>
          <a:p>
            <a:pPr algn="r" rtl="1"/>
            <a:r>
              <a:rPr lang="en-US" dirty="0"/>
              <a:t>Wakeup</a:t>
            </a:r>
            <a:r>
              <a:rPr lang="he-IL" dirty="0"/>
              <a:t> – מסירה את אחד התהליכים מתור הממתינים ומציבה אותו בתור </a:t>
            </a:r>
            <a:r>
              <a:rPr lang="en-US" dirty="0"/>
              <a:t>Ready</a:t>
            </a:r>
          </a:p>
        </p:txBody>
      </p:sp>
      <p:pic>
        <p:nvPicPr>
          <p:cNvPr id="1026" name="Picture 2" descr="http://denninginstitute.com/modules/ipc/pink/semaph1.gif">
            <a:extLst>
              <a:ext uri="{FF2B5EF4-FFF2-40B4-BE49-F238E27FC236}">
                <a16:creationId xmlns:a16="http://schemas.microsoft.com/office/drawing/2014/main" id="{8A5EB6E4-C82C-424D-A33F-68D7BA874D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63" b="14753"/>
          <a:stretch/>
        </p:blipFill>
        <p:spPr bwMode="auto">
          <a:xfrm>
            <a:off x="1260232" y="2297638"/>
            <a:ext cx="3705664" cy="1880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3447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C4073-A430-4C2D-920F-D58C8930F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Semaphore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092AD-2A66-48C2-B2FF-51C0C6234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spcBef>
                <a:spcPts val="700"/>
              </a:spcBef>
              <a:buClrTx/>
              <a:buSzPct val="90000"/>
              <a:buFontTx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wait(semaphore *S) { </a:t>
            </a:r>
          </a:p>
          <a:p>
            <a:pPr>
              <a:spcBef>
                <a:spcPts val="700"/>
              </a:spcBef>
              <a:buClrTx/>
              <a:buSzPct val="90000"/>
              <a:buFontTx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S-&gt;value--; </a:t>
            </a:r>
          </a:p>
          <a:p>
            <a:pPr>
              <a:spcBef>
                <a:spcPts val="700"/>
              </a:spcBef>
              <a:buClrTx/>
              <a:buSzPct val="90000"/>
              <a:buFontTx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if (S-&gt;value &lt; 0) {</a:t>
            </a:r>
            <a:b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add this process to S-&gt;list; </a:t>
            </a:r>
          </a:p>
          <a:p>
            <a:pPr>
              <a:spcBef>
                <a:spcPts val="700"/>
              </a:spcBef>
              <a:buClrTx/>
              <a:buSzPct val="90000"/>
              <a:buFontTx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block(); </a:t>
            </a:r>
          </a:p>
          <a:p>
            <a:pPr>
              <a:spcBef>
                <a:spcPts val="700"/>
              </a:spcBef>
              <a:buClrTx/>
              <a:buSzPct val="90000"/>
              <a:buFontTx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} </a:t>
            </a:r>
          </a:p>
          <a:p>
            <a:pPr>
              <a:spcBef>
                <a:spcPts val="700"/>
              </a:spcBef>
              <a:buClrTx/>
              <a:buSzPct val="90000"/>
              <a:buFontTx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spcBef>
                <a:spcPts val="700"/>
              </a:spcBef>
              <a:buClrTx/>
              <a:buSzPct val="90000"/>
              <a:buFontTx/>
              <a:buNone/>
            </a:pPr>
            <a:endParaRPr lang="en-US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700"/>
              </a:spcBef>
              <a:buClrTx/>
              <a:buSzPct val="90000"/>
              <a:buFontTx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signal(semaphore *S) { </a:t>
            </a:r>
          </a:p>
          <a:p>
            <a:pPr>
              <a:spcBef>
                <a:spcPts val="700"/>
              </a:spcBef>
              <a:buClrTx/>
              <a:buSzPct val="90000"/>
              <a:buFontTx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S-&gt;value++; </a:t>
            </a:r>
          </a:p>
          <a:p>
            <a:pPr>
              <a:spcBef>
                <a:spcPts val="700"/>
              </a:spcBef>
              <a:buClrTx/>
              <a:buSzPct val="90000"/>
              <a:buFontTx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if (S-&gt;value &lt;= 0) {</a:t>
            </a:r>
            <a:b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remove a process P from S-&gt;list; </a:t>
            </a:r>
          </a:p>
          <a:p>
            <a:pPr>
              <a:spcBef>
                <a:spcPts val="700"/>
              </a:spcBef>
              <a:buClrTx/>
              <a:buSzPct val="90000"/>
              <a:buFontTx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wakeup(P); </a:t>
            </a:r>
          </a:p>
          <a:p>
            <a:pPr>
              <a:spcBef>
                <a:spcPts val="700"/>
              </a:spcBef>
              <a:buClrTx/>
              <a:buSzPct val="90000"/>
              <a:buFontTx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} </a:t>
            </a:r>
          </a:p>
          <a:p>
            <a:pPr>
              <a:spcBef>
                <a:spcPts val="700"/>
              </a:spcBef>
              <a:buClrTx/>
              <a:buSzPct val="90000"/>
              <a:buFontTx/>
              <a:buNone/>
            </a:pPr>
            <a:r>
              <a:rPr lang="en-US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3459110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C4073-A430-4C2D-920F-D58C8930F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Semaphore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092AD-2A66-48C2-B2FF-51C0C6234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r" rtl="1">
              <a:buNone/>
            </a:pPr>
            <a:r>
              <a:rPr lang="he-IL" dirty="0"/>
              <a:t>מידע משותף עם מספר תהליכים</a:t>
            </a:r>
          </a:p>
          <a:p>
            <a:pPr algn="r" rtl="1"/>
            <a:r>
              <a:rPr lang="he-IL" dirty="0"/>
              <a:t>קורא – רק קורא את המידע, לא מבצע שום עדכון</a:t>
            </a:r>
          </a:p>
          <a:p>
            <a:pPr algn="r" rtl="1"/>
            <a:r>
              <a:rPr lang="he-IL" dirty="0"/>
              <a:t>כותב – יכול גם לקרוא וגם לכתוב</a:t>
            </a:r>
          </a:p>
          <a:p>
            <a:pPr algn="r" rtl="1"/>
            <a:r>
              <a:rPr lang="he-IL" dirty="0"/>
              <a:t>הבעייה – לאפשר לכמות לא מוגבלת של קוראים</a:t>
            </a:r>
          </a:p>
          <a:p>
            <a:pPr lvl="1" algn="r" rtl="1"/>
            <a:r>
              <a:rPr lang="he-IL" dirty="0"/>
              <a:t>רק כותב אחד יכול להיכנס למידע המשותף בזמן נתון, בתנאי שאין גם קוראים</a:t>
            </a:r>
          </a:p>
          <a:p>
            <a:pPr algn="r" rtl="1"/>
            <a:r>
              <a:rPr lang="he-IL" dirty="0"/>
              <a:t>מידע משותף:</a:t>
            </a:r>
          </a:p>
          <a:p>
            <a:pPr lvl="1" algn="r" rtl="1"/>
            <a:r>
              <a:rPr lang="en-US" dirty="0"/>
              <a:t>Data</a:t>
            </a:r>
            <a:endParaRPr lang="he-IL" dirty="0"/>
          </a:p>
          <a:p>
            <a:pPr lvl="1" algn="r" rtl="1"/>
            <a:r>
              <a:rPr lang="he-IL" dirty="0"/>
              <a:t>סמפור </a:t>
            </a:r>
            <a:r>
              <a:rPr lang="en-US" dirty="0" err="1"/>
              <a:t>rw_mutex</a:t>
            </a:r>
            <a:r>
              <a:rPr lang="he-IL" dirty="0"/>
              <a:t> מאותחל ל 1</a:t>
            </a:r>
          </a:p>
          <a:p>
            <a:pPr lvl="1" algn="r" rtl="1"/>
            <a:r>
              <a:rPr lang="he-IL" dirty="0"/>
              <a:t>סמפור </a:t>
            </a:r>
            <a:r>
              <a:rPr lang="en-US" dirty="0"/>
              <a:t>mutex</a:t>
            </a:r>
            <a:r>
              <a:rPr lang="he-IL" dirty="0"/>
              <a:t> מאותחל ל 1</a:t>
            </a:r>
          </a:p>
          <a:p>
            <a:pPr lvl="1" algn="r" rtl="1"/>
            <a:r>
              <a:rPr lang="en-US" dirty="0" err="1"/>
              <a:t>Read_count</a:t>
            </a:r>
            <a:r>
              <a:rPr lang="he-IL" dirty="0"/>
              <a:t> מאותחל ל 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6108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C4073-A430-4C2D-920F-D58C8930F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Semaphore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092AD-2A66-48C2-B2FF-51C0C6234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dirty="0"/>
              <a:t>Writer:</a:t>
            </a:r>
          </a:p>
          <a:p>
            <a:pPr marL="0" indent="0">
              <a:buNone/>
            </a:pPr>
            <a:r>
              <a:rPr lang="en-US" b="1" dirty="0"/>
              <a:t>do { </a:t>
            </a:r>
          </a:p>
          <a:p>
            <a:pPr marL="0" indent="0">
              <a:buNone/>
            </a:pPr>
            <a:r>
              <a:rPr lang="en-US" b="1" dirty="0"/>
              <a:t>	wait(</a:t>
            </a:r>
            <a:r>
              <a:rPr lang="en-US" b="1" dirty="0" err="1"/>
              <a:t>rw_mutex</a:t>
            </a:r>
            <a:r>
              <a:rPr lang="en-US" b="1" dirty="0"/>
              <a:t>); 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	... /* writing is performed */ ... 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	signal(</a:t>
            </a:r>
            <a:r>
              <a:rPr lang="en-US" b="1" dirty="0" err="1"/>
              <a:t>rw_mutex</a:t>
            </a:r>
            <a:r>
              <a:rPr lang="en-US" b="1" dirty="0"/>
              <a:t>); 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} while (true);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2277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C4073-A430-4C2D-920F-D58C8930F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Semaphore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092AD-2A66-48C2-B2FF-51C0C6234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515600" cy="5197659"/>
          </a:xfrm>
        </p:spPr>
        <p:txBody>
          <a:bodyPr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dirty="0"/>
              <a:t>Reader:</a:t>
            </a:r>
          </a:p>
          <a:p>
            <a:pPr marL="0" indent="0">
              <a:buNone/>
            </a:pPr>
            <a:r>
              <a:rPr lang="en-US" b="1" dirty="0"/>
              <a:t>do { </a:t>
            </a:r>
          </a:p>
          <a:p>
            <a:pPr marL="0" indent="0">
              <a:buNone/>
            </a:pPr>
            <a:r>
              <a:rPr lang="en-US" b="1" dirty="0"/>
              <a:t>	wait(mutex); 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b="1" dirty="0" err="1"/>
              <a:t>read_count</a:t>
            </a:r>
            <a:r>
              <a:rPr lang="en-US" b="1" dirty="0"/>
              <a:t>++; </a:t>
            </a:r>
          </a:p>
          <a:p>
            <a:pPr marL="0" indent="0">
              <a:buNone/>
            </a:pPr>
            <a:r>
              <a:rPr lang="en-US" b="1" dirty="0"/>
              <a:t>	if (</a:t>
            </a:r>
            <a:r>
              <a:rPr lang="en-US" b="1" dirty="0" err="1"/>
              <a:t>read_count</a:t>
            </a:r>
            <a:r>
              <a:rPr lang="en-US" b="1" dirty="0"/>
              <a:t> == 1) 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		wait(</a:t>
            </a:r>
            <a:r>
              <a:rPr lang="en-US" b="1" dirty="0" err="1"/>
              <a:t>rw_mutex</a:t>
            </a:r>
            <a:r>
              <a:rPr lang="en-US" b="1" dirty="0"/>
              <a:t>); 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	signal(mutex); 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	... /* reading is performed */  ... 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	wait(mutex); </a:t>
            </a:r>
          </a:p>
          <a:p>
            <a:pPr marL="0" indent="0">
              <a:buNone/>
            </a:pPr>
            <a:r>
              <a:rPr lang="en-US" b="1" dirty="0"/>
              <a:t>	read count--; </a:t>
            </a:r>
          </a:p>
          <a:p>
            <a:pPr marL="0" indent="0">
              <a:buNone/>
            </a:pPr>
            <a:r>
              <a:rPr lang="en-US" b="1" dirty="0"/>
              <a:t>	if (</a:t>
            </a:r>
            <a:r>
              <a:rPr lang="en-US" b="1" dirty="0" err="1"/>
              <a:t>read_count</a:t>
            </a:r>
            <a:r>
              <a:rPr lang="en-US" b="1" dirty="0"/>
              <a:t> == 0) 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		signal(</a:t>
            </a:r>
            <a:r>
              <a:rPr lang="en-US" b="1" dirty="0" err="1"/>
              <a:t>rw_mutex</a:t>
            </a:r>
            <a:r>
              <a:rPr lang="en-US" b="1" dirty="0"/>
              <a:t>); </a:t>
            </a:r>
          </a:p>
          <a:p>
            <a:pPr marL="0" indent="0">
              <a:buNone/>
            </a:pPr>
            <a:r>
              <a:rPr lang="en-US" b="1" dirty="0"/>
              <a:t>	signal(mutex); 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} while (true);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85900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30B63-D589-4817-9005-813D1DF5B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Deadlock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A0F69-9043-4D06-9822-9BE8AE2D6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en-US" sz="2400" dirty="0"/>
              <a:t>Deadlock</a:t>
            </a:r>
            <a:r>
              <a:rPr lang="he-IL" sz="2400" dirty="0"/>
              <a:t> – קיפאון – שניים או יותר תהליכים מחכים בצורה אינסופית לאירוע היכול להתרחש רק ע"י אחד התהליכים הממתינים</a:t>
            </a:r>
          </a:p>
          <a:p>
            <a:pPr algn="r" rtl="1"/>
            <a:r>
              <a:rPr lang="he-IL" sz="2400" dirty="0"/>
              <a:t>יהיו </a:t>
            </a:r>
            <a:r>
              <a:rPr lang="en-US" sz="2400" dirty="0"/>
              <a:t>S</a:t>
            </a:r>
            <a:r>
              <a:rPr lang="he-IL" sz="2400" dirty="0"/>
              <a:t> ו </a:t>
            </a:r>
            <a:r>
              <a:rPr lang="en-US" sz="2400" dirty="0"/>
              <a:t>Q</a:t>
            </a:r>
            <a:r>
              <a:rPr lang="he-IL" sz="2400" dirty="0"/>
              <a:t> שני סמפורים מאתוחלים ל 1</a:t>
            </a:r>
          </a:p>
          <a:p>
            <a:pPr marL="112713" indent="0">
              <a:spcBef>
                <a:spcPts val="788"/>
              </a:spcBef>
              <a:buSzPct val="90000"/>
              <a:buNone/>
              <a:defRPr/>
            </a:pPr>
            <a:r>
              <a:rPr lang="en-US" sz="2400" i="1" dirty="0">
                <a:latin typeface="Arial" pitchFamily="34" charset="0"/>
              </a:rPr>
              <a:t>		 P</a:t>
            </a:r>
            <a:r>
              <a:rPr lang="en-US" sz="2400" baseline="-25000" dirty="0">
                <a:latin typeface="Arial" pitchFamily="34" charset="0"/>
              </a:rPr>
              <a:t>0</a:t>
            </a:r>
            <a:r>
              <a:rPr lang="en-US" sz="2400" dirty="0">
                <a:latin typeface="Arial" pitchFamily="34" charset="0"/>
              </a:rPr>
              <a:t>	                            		</a:t>
            </a:r>
            <a:r>
              <a:rPr lang="en-US" sz="2400" i="1" dirty="0">
                <a:latin typeface="Arial" pitchFamily="34" charset="0"/>
              </a:rPr>
              <a:t>P</a:t>
            </a:r>
            <a:r>
              <a:rPr lang="en-US" sz="2400" baseline="-25000" dirty="0">
                <a:latin typeface="Arial" pitchFamily="34" charset="0"/>
              </a:rPr>
              <a:t>1</a:t>
            </a:r>
          </a:p>
          <a:p>
            <a:pPr marL="112713" indent="0">
              <a:spcBef>
                <a:spcPts val="700"/>
              </a:spcBef>
              <a:buSzPct val="90000"/>
              <a:buNone/>
              <a:defRPr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wait(S); 	              wait(Q);</a:t>
            </a:r>
          </a:p>
          <a:p>
            <a:pPr marL="112713" indent="0">
              <a:spcBef>
                <a:spcPts val="700"/>
              </a:spcBef>
              <a:buSzPct val="90000"/>
              <a:buNone/>
              <a:defRPr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wait(Q); 	              wait(S);</a:t>
            </a:r>
          </a:p>
          <a:p>
            <a:pPr marL="112713" indent="0">
              <a:spcBef>
                <a:spcPts val="700"/>
              </a:spcBef>
              <a:buSzPct val="90000"/>
              <a:buNone/>
              <a:defRPr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...		     </a:t>
            </a:r>
            <a:r>
              <a:rPr lang="he-IL" sz="24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    ...</a:t>
            </a:r>
          </a:p>
          <a:p>
            <a:pPr marL="112713" indent="0">
              <a:spcBef>
                <a:spcPts val="700"/>
              </a:spcBef>
              <a:buSzPct val="90000"/>
              <a:buNone/>
              <a:defRPr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signal(S);              signal(Q);</a:t>
            </a:r>
          </a:p>
          <a:p>
            <a:pPr marL="112713" indent="0">
              <a:spcBef>
                <a:spcPts val="700"/>
              </a:spcBef>
              <a:buSzPct val="90000"/>
              <a:buNone/>
              <a:defRPr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	signal(Q);              signal(S);</a:t>
            </a:r>
          </a:p>
          <a:p>
            <a:pPr marL="112713" indent="0" algn="r" rtl="1">
              <a:spcBef>
                <a:spcPts val="700"/>
              </a:spcBef>
              <a:buSzPct val="90000"/>
              <a:buNone/>
              <a:defRPr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0401659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C4073-A430-4C2D-920F-D58C8930F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Critical Section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B8ADDA-6AB6-45F4-A549-C48AD2D33A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5690" y="2630658"/>
            <a:ext cx="2049194" cy="3961775"/>
          </a:xfrm>
          <a:prstGeom prst="rect">
            <a:avLst/>
          </a:prstGeom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BE43AC57-E260-4D5A-AC1E-E0AA26E81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901745"/>
          </a:xfrm>
        </p:spPr>
        <p:txBody>
          <a:bodyPr>
            <a:normAutofit lnSpcReduction="10000"/>
          </a:bodyPr>
          <a:lstStyle/>
          <a:p>
            <a:pPr marL="0" indent="0" algn="r" rtl="1">
              <a:buNone/>
            </a:pPr>
            <a:r>
              <a:rPr lang="he-IL" sz="2000" dirty="0"/>
              <a:t>לפניך שני תהליכים </a:t>
            </a:r>
            <a:r>
              <a:rPr lang="en-US" sz="2000" dirty="0"/>
              <a:t>A</a:t>
            </a:r>
            <a:r>
              <a:rPr lang="he-IL" sz="2000" dirty="0"/>
              <a:t> ו- </a:t>
            </a:r>
            <a:r>
              <a:rPr lang="en-US" sz="2000" dirty="0"/>
              <a:t>B</a:t>
            </a:r>
            <a:r>
              <a:rPr lang="he-IL" sz="2000" dirty="0"/>
              <a:t>, שרצים במקביל במחשב ומשתמשים באותו משתנה </a:t>
            </a:r>
            <a:r>
              <a:rPr lang="en-US" sz="2000" dirty="0"/>
              <a:t>X</a:t>
            </a:r>
            <a:r>
              <a:rPr lang="he-IL" sz="2000" dirty="0"/>
              <a:t> המאותחל לערך 5</a:t>
            </a:r>
          </a:p>
          <a:p>
            <a:pPr marL="0" indent="0" algn="r" rtl="1">
              <a:buNone/>
            </a:pPr>
            <a:r>
              <a:rPr lang="he-IL" sz="2000" u="sng" dirty="0"/>
              <a:t>הערה:</a:t>
            </a:r>
            <a:r>
              <a:rPr lang="he-IL" sz="2000" dirty="0"/>
              <a:t> בתוך כל תהליך – הפקודות יתבצעו לפי הסדר הרשום בתהליך (למשל, בתהליך </a:t>
            </a:r>
            <a:r>
              <a:rPr lang="en-US" sz="2000" dirty="0"/>
              <a:t>A</a:t>
            </a:r>
            <a:r>
              <a:rPr lang="he-IL" sz="2000" dirty="0"/>
              <a:t> יש לבצע תחילה את הפקודה </a:t>
            </a:r>
            <a:r>
              <a:rPr lang="en-US" sz="2000" dirty="0"/>
              <a:t>A1</a:t>
            </a:r>
            <a:r>
              <a:rPr lang="he-IL" sz="2000" dirty="0"/>
              <a:t> ורק לאחר מכן את הפקודה </a:t>
            </a:r>
            <a:r>
              <a:rPr lang="en-US" sz="2000" dirty="0"/>
              <a:t>A2</a:t>
            </a:r>
            <a:r>
              <a:rPr lang="he-IL" sz="2000" dirty="0"/>
              <a:t>).</a:t>
            </a:r>
          </a:p>
          <a:p>
            <a:pPr marL="0" indent="0" algn="r" rtl="1">
              <a:buNone/>
            </a:pPr>
            <a:r>
              <a:rPr lang="he-IL" sz="2000" b="1" dirty="0"/>
              <a:t>בין שתי פקודות סמוכות של תהליך מסוים עשויות להתבצע פקודות של תהליך אחר </a:t>
            </a:r>
          </a:p>
          <a:p>
            <a:pPr marL="0" indent="0" algn="r" rtl="1">
              <a:buNone/>
            </a:pPr>
            <a:r>
              <a:rPr lang="he-IL" sz="2000" b="1" dirty="0"/>
              <a:t>שמתבצע במקביל.</a:t>
            </a:r>
          </a:p>
          <a:p>
            <a:pPr marL="0" indent="0" algn="r" rtl="1">
              <a:buNone/>
            </a:pPr>
            <a:r>
              <a:rPr lang="he-IL" sz="2000" dirty="0"/>
              <a:t>למשל, אחת האפשרויות לביצוע הפקודות היא</a:t>
            </a:r>
            <a:r>
              <a:rPr lang="en-US" sz="2000" dirty="0"/>
              <a:t> </a:t>
            </a:r>
            <a:r>
              <a:rPr lang="he-IL" sz="2000" dirty="0"/>
              <a:t>(משמאל לימין)</a:t>
            </a:r>
            <a:r>
              <a:rPr lang="en-US" sz="2000" dirty="0"/>
              <a:t> </a:t>
            </a:r>
            <a:r>
              <a:rPr lang="he-IL" sz="2000" dirty="0"/>
              <a:t>: </a:t>
            </a:r>
            <a:r>
              <a:rPr lang="en-US" sz="2000" dirty="0"/>
              <a:t>B1 A1 B2 A2</a:t>
            </a:r>
            <a:endParaRPr lang="he-IL" sz="2000" dirty="0"/>
          </a:p>
          <a:p>
            <a:pPr marL="0" indent="0" algn="r" rtl="1">
              <a:buNone/>
            </a:pPr>
            <a:r>
              <a:rPr lang="he-IL" sz="2000" dirty="0"/>
              <a:t>קיימים צירופים אפשריים נוספים.</a:t>
            </a:r>
          </a:p>
          <a:p>
            <a:pPr marL="0" indent="0" algn="r" rtl="1">
              <a:buNone/>
            </a:pPr>
            <a:r>
              <a:rPr lang="he-IL" sz="2000" dirty="0">
                <a:latin typeface="DavidMFO"/>
              </a:rPr>
              <a:t>מהו מספר הערכים האפשריים השונים שיכול לקבל המשתנה </a:t>
            </a:r>
            <a:r>
              <a:rPr lang="en-US" sz="2000" dirty="0">
                <a:latin typeface="DavidMFO"/>
              </a:rPr>
              <a:t>x</a:t>
            </a:r>
            <a:r>
              <a:rPr lang="he-IL" sz="2000" dirty="0">
                <a:latin typeface="DavidMFO"/>
              </a:rPr>
              <a:t> (לא כולל ערך האתחול 5)</a:t>
            </a:r>
            <a:endParaRPr lang="he-IL" sz="2000" dirty="0">
              <a:latin typeface="MinionPro-Regular"/>
            </a:endParaRPr>
          </a:p>
          <a:p>
            <a:pPr marL="0" indent="0" algn="r" rtl="1">
              <a:buNone/>
            </a:pPr>
            <a:r>
              <a:rPr lang="he-IL" sz="2000" dirty="0">
                <a:latin typeface="DavidMFO"/>
              </a:rPr>
              <a:t>בתום ביצוע שני התהליכים </a:t>
            </a:r>
            <a:r>
              <a:rPr lang="en-US" sz="2000" dirty="0">
                <a:latin typeface="DavidMFO"/>
              </a:rPr>
              <a:t>A</a:t>
            </a:r>
            <a:r>
              <a:rPr lang="he-IL" sz="2000" dirty="0">
                <a:latin typeface="DavidMFO"/>
              </a:rPr>
              <a:t> ו- </a:t>
            </a:r>
            <a:r>
              <a:rPr lang="en-US" sz="2000" dirty="0">
                <a:latin typeface="DavidMFO"/>
              </a:rPr>
              <a:t>B</a:t>
            </a:r>
            <a:r>
              <a:rPr lang="he-IL" sz="2000" dirty="0">
                <a:latin typeface="DavidMFO"/>
              </a:rPr>
              <a:t> </a:t>
            </a:r>
            <a:r>
              <a:rPr lang="en-US" sz="1400" dirty="0">
                <a:latin typeface="Times-Roman"/>
              </a:rPr>
              <a:t> </a:t>
            </a:r>
            <a:r>
              <a:rPr lang="he-IL" sz="2000" dirty="0">
                <a:latin typeface="DavidMFO"/>
              </a:rPr>
              <a:t>בכל הצירופים האפשריים</a:t>
            </a:r>
            <a:r>
              <a:rPr lang="he-IL" sz="2000" dirty="0">
                <a:latin typeface="MinionPro-Regular"/>
              </a:rPr>
              <a:t>?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he-IL" sz="2000" dirty="0">
                <a:latin typeface="MinionPro-Regular"/>
              </a:rPr>
              <a:t>2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he-IL" sz="2000" dirty="0">
                <a:latin typeface="MinionPro-Regular"/>
              </a:rPr>
              <a:t>3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he-IL" sz="2000" dirty="0">
                <a:latin typeface="MinionPro-Regular"/>
              </a:rPr>
              <a:t>4</a:t>
            </a:r>
          </a:p>
          <a:p>
            <a:pPr marL="457200" indent="-457200" algn="r" rtl="1">
              <a:buFont typeface="+mj-lt"/>
              <a:buAutoNum type="arabicPeriod"/>
            </a:pPr>
            <a:r>
              <a:rPr lang="he-IL" sz="2000" dirty="0">
                <a:latin typeface="MinionPro-Regular"/>
              </a:rPr>
              <a:t>8</a:t>
            </a:r>
            <a:endParaRPr lang="he-IL" sz="2000" dirty="0"/>
          </a:p>
        </p:txBody>
      </p:sp>
    </p:spTree>
    <p:extLst>
      <p:ext uri="{BB962C8B-B14F-4D97-AF65-F5344CB8AC3E}">
        <p14:creationId xmlns:p14="http://schemas.microsoft.com/office/powerpoint/2010/main" val="18267129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C4073-A430-4C2D-920F-D58C8930F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Critical Section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507E2D05-DC8C-4EC2-A09A-1559AC8FD9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35358" y="1690688"/>
            <a:ext cx="7921283" cy="4889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0537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C4073-A430-4C2D-920F-D58C8930F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Critical Section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3CAAFFD-E07E-4540-9E1B-37BB835FE2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56075" y="1690688"/>
            <a:ext cx="7597726" cy="3978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8210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C4073-A430-4C2D-920F-D58C8930F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Critical Section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C1E14D1D-A5D3-4671-B61A-F70FCED4A2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68954" y="1690688"/>
            <a:ext cx="6084846" cy="2865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1055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C4073-A430-4C2D-920F-D58C8930F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Critical Section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9934ED6B-78B7-4DE6-8EB6-0C8116317F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8158" y="1690688"/>
            <a:ext cx="8835683" cy="4381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6037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C4073-A430-4C2D-920F-D58C8930F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2583"/>
            <a:ext cx="10515600" cy="957239"/>
          </a:xfrm>
        </p:spPr>
        <p:txBody>
          <a:bodyPr/>
          <a:lstStyle/>
          <a:p>
            <a:pPr algn="ctr"/>
            <a:r>
              <a:rPr lang="en-US" dirty="0"/>
              <a:t>Critical Section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94EBC8-1C50-4CA7-AA0A-4A923E9C0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9822"/>
            <a:ext cx="10515600" cy="5261315"/>
          </a:xfrm>
        </p:spPr>
        <p:txBody>
          <a:bodyPr>
            <a:normAutofit fontScale="92500" lnSpcReduction="10000"/>
          </a:bodyPr>
          <a:lstStyle/>
          <a:p>
            <a:pPr marL="0" indent="0" algn="r" rtl="1">
              <a:buNone/>
            </a:pPr>
            <a:r>
              <a:rPr lang="he-IL" sz="2000" dirty="0"/>
              <a:t>אפליקציית "בית חכם" מאפשרת ללקוח ולחברה המעניקה שירותי מחשוב לבית החכם לשלוט במערכות האזעקה ובאביזרי החשמל הביתיים. במרכז המחשוב של החברה מותקנת מערכת הפעלה שמטרותיה הן אלה:</a:t>
            </a:r>
          </a:p>
          <a:p>
            <a:pPr algn="r" rtl="1"/>
            <a:r>
              <a:rPr lang="he-IL" sz="2000" dirty="0"/>
              <a:t>לתמוך באפליקציית הבית החכם דרך האינטרנט ודרך קווי חיוג טלפוני ואלחוטי</a:t>
            </a:r>
          </a:p>
          <a:p>
            <a:pPr algn="r" rtl="1"/>
            <a:r>
              <a:rPr lang="he-IL" sz="2000" dirty="0"/>
              <a:t>לסייע לצוות שירות הלקוחות במתן שירות שוטף ויומיומי של מענה לפניות של לקוחות בטלפון או בדואר האלקטרוני</a:t>
            </a:r>
          </a:p>
          <a:p>
            <a:pPr algn="r" rtl="1"/>
            <a:r>
              <a:rPr lang="he-IL" sz="2000" dirty="0"/>
              <a:t>לערוך עיבודים תקופתיים כבדים בעת ובעונה אחת לשם הוצאת חיובים ללקוחות</a:t>
            </a:r>
          </a:p>
          <a:p>
            <a:pPr marL="0" indent="0" algn="r" rtl="1">
              <a:buNone/>
            </a:pPr>
            <a:r>
              <a:rPr lang="he-IL" sz="2000" dirty="0"/>
              <a:t>תזמון המערכת מבוסס על עדיפויות.</a:t>
            </a:r>
          </a:p>
          <a:p>
            <a:pPr marL="0" indent="0" algn="r" rtl="1">
              <a:buNone/>
            </a:pPr>
            <a:r>
              <a:rPr lang="he-IL" sz="2000" dirty="0"/>
              <a:t>המערכת מטפלת בתהליכים אינטראקטיביים </a:t>
            </a:r>
            <a:r>
              <a:rPr lang="en-US" sz="2000" dirty="0"/>
              <a:t>(on-line)</a:t>
            </a:r>
            <a:r>
              <a:rPr lang="he-IL" sz="2000" dirty="0"/>
              <a:t> הקשורים בבית החכם ובשירות הלקוחות ובתהליכי אצווה </a:t>
            </a:r>
            <a:r>
              <a:rPr lang="en-US" sz="2000" dirty="0"/>
              <a:t>(batch)</a:t>
            </a:r>
            <a:r>
              <a:rPr lang="he-IL" sz="2000" dirty="0"/>
              <a:t>,</a:t>
            </a:r>
            <a:r>
              <a:rPr lang="en-US" sz="2000" dirty="0"/>
              <a:t> </a:t>
            </a:r>
            <a:r>
              <a:rPr lang="he-IL" sz="2000" dirty="0"/>
              <a:t>שהם תהליכים הצורכים כוח עיבוד רב </a:t>
            </a:r>
            <a:r>
              <a:rPr lang="en-US" sz="2000" dirty="0"/>
              <a:t>(CPU bound)</a:t>
            </a:r>
            <a:r>
              <a:rPr lang="he-IL" sz="2000" dirty="0"/>
              <a:t> לפיכך, לאורך כל שעות היממה מערכת ההפעלה הזאת:</a:t>
            </a:r>
          </a:p>
          <a:p>
            <a:pPr marL="0" indent="0" algn="r" rtl="1">
              <a:buNone/>
            </a:pPr>
            <a:r>
              <a:rPr lang="he-IL" sz="2000" dirty="0"/>
              <a:t>1 . תיתן לתהליכים מסוג אצווה </a:t>
            </a:r>
            <a:r>
              <a:rPr lang="en-US" sz="2000" dirty="0"/>
              <a:t>(batch)</a:t>
            </a:r>
            <a:r>
              <a:rPr lang="he-IL" sz="2000" dirty="0"/>
              <a:t> עדיפות על–פני תהליכים אינטראקטיביים</a:t>
            </a:r>
          </a:p>
          <a:p>
            <a:pPr marL="0" indent="0" algn="r" rtl="1">
              <a:buNone/>
            </a:pPr>
            <a:r>
              <a:rPr lang="he-IL" sz="2000" dirty="0"/>
              <a:t>2 . לא תיתן לתהליכים מסוימים עדיפות על–פני האחרים</a:t>
            </a:r>
          </a:p>
          <a:p>
            <a:pPr marL="0" indent="0" algn="r" rtl="1">
              <a:buNone/>
            </a:pPr>
            <a:r>
              <a:rPr lang="he-IL" sz="2000" dirty="0"/>
              <a:t>3 . תיתן עדיפות ראשונה לכל התהליכים האינטראקטיביים היזומים על–ידי הבית החכם וצוות העובדים בשירות לקוחות ועדיפות שנייה לכל יתר התהליכים</a:t>
            </a:r>
          </a:p>
          <a:p>
            <a:pPr marL="0" indent="0" algn="r" rtl="1">
              <a:buNone/>
            </a:pPr>
            <a:r>
              <a:rPr lang="he-IL" sz="2000" dirty="0"/>
              <a:t>4 . תיתן עדיפות ראשונה לתהליכים אינטראקטיביים היזומים על–ידי אירועי הבית החכם, עדיפות שנייה לפעילויות צוות שירות הלקוחות ועדיפות אחרונה לעיבודי האצווה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737962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37DEA-5D79-4DF2-B4C8-C366ED342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Unix Mutex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8CE6F-A37C-4874-BEF3-DFED73D72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pthread.h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algn="r" rtl="1"/>
            <a:r>
              <a:rPr lang="he-IL" altLang="en-US" sz="3600" u="sng" dirty="0"/>
              <a:t>אתחול</a:t>
            </a:r>
            <a:r>
              <a:rPr lang="he-IL" altLang="en-US" sz="3600" dirty="0"/>
              <a:t> </a:t>
            </a:r>
            <a:r>
              <a:rPr lang="en-US" altLang="en-US" sz="3600" dirty="0"/>
              <a:t>mutex</a:t>
            </a:r>
            <a:r>
              <a:rPr lang="he-IL" altLang="en-US" sz="3600" dirty="0"/>
              <a:t> לפני השימוש:</a:t>
            </a:r>
          </a:p>
          <a:p>
            <a:pPr algn="l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 pthread_mutex_init(pthread_mutex_t *mutex, </a:t>
            </a:r>
            <a:endParaRPr lang="ru-RU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buNone/>
            </a:pPr>
            <a:r>
              <a:rPr lang="ru-RU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const pthread_mutex_attr_t *mutexattr);</a:t>
            </a:r>
          </a:p>
          <a:p>
            <a:pPr algn="r" rtl="1">
              <a:buNone/>
            </a:pPr>
            <a:endParaRPr lang="en-US" altLang="en-US" sz="2000" dirty="0"/>
          </a:p>
          <a:p>
            <a:pPr marL="342900" lvl="0" indent="-342900" algn="r" rtl="1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he-IL" altLang="en-US" u="sng" kern="0" dirty="0">
                <a:solidFill>
                  <a:srgbClr val="000000"/>
                </a:solidFill>
                <a:latin typeface="Arial"/>
                <a:cs typeface="Arial"/>
              </a:rPr>
              <a:t>פרמטרים:</a:t>
            </a:r>
          </a:p>
          <a:p>
            <a:pPr marL="742950" lvl="1" indent="-285750" algn="r" rtl="1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altLang="en-US" sz="2800" kern="0" dirty="0">
                <a:solidFill>
                  <a:srgbClr val="0000FF"/>
                </a:solidFill>
                <a:latin typeface="Arial"/>
                <a:cs typeface="Arial"/>
              </a:rPr>
              <a:t>mutex</a:t>
            </a:r>
            <a:r>
              <a:rPr lang="he-IL" altLang="en-US" sz="2800" kern="0" dirty="0">
                <a:solidFill>
                  <a:srgbClr val="000000"/>
                </a:solidFill>
                <a:latin typeface="Arial"/>
                <a:cs typeface="Arial"/>
              </a:rPr>
              <a:t> – המנעול עליו מבוצעת הפעולה</a:t>
            </a:r>
          </a:p>
          <a:p>
            <a:pPr marL="742950" lvl="1" indent="-285750" algn="r" rtl="1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en-US" altLang="en-US" sz="2800" kern="0" dirty="0">
                <a:solidFill>
                  <a:srgbClr val="0000FF"/>
                </a:solidFill>
                <a:latin typeface="Arial"/>
                <a:cs typeface="Arial"/>
              </a:rPr>
              <a:t>mutexattr</a:t>
            </a:r>
            <a:r>
              <a:rPr lang="he-IL" altLang="en-US" sz="2800" kern="0" dirty="0">
                <a:solidFill>
                  <a:srgbClr val="000000"/>
                </a:solidFill>
                <a:latin typeface="Arial"/>
                <a:cs typeface="Arial"/>
              </a:rPr>
              <a:t> – מגדיר את תכונות ה-</a:t>
            </a:r>
            <a:r>
              <a:rPr lang="en-US" altLang="en-US" sz="2800" kern="0" dirty="0">
                <a:solidFill>
                  <a:srgbClr val="000000"/>
                </a:solidFill>
                <a:latin typeface="Arial"/>
                <a:cs typeface="Arial"/>
              </a:rPr>
              <a:t>mutex</a:t>
            </a:r>
            <a:r>
              <a:rPr lang="he-IL" altLang="en-US" sz="2800" kern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</a:p>
          <a:p>
            <a:pPr marL="342900" lvl="0" indent="-342900" algn="r" rtl="1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he-IL" altLang="en-US" u="sng" kern="0" dirty="0">
                <a:solidFill>
                  <a:srgbClr val="000000"/>
                </a:solidFill>
                <a:latin typeface="Arial"/>
                <a:cs typeface="Arial"/>
              </a:rPr>
              <a:t>ערך מוחזר:</a:t>
            </a:r>
            <a:r>
              <a:rPr lang="he-IL" altLang="en-US" sz="3200" kern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he-IL" altLang="en-US" kern="0" dirty="0">
                <a:solidFill>
                  <a:srgbClr val="000000"/>
                </a:solidFill>
                <a:latin typeface="Arial"/>
                <a:cs typeface="Arial"/>
              </a:rPr>
              <a:t>0 בהצלחה, ערך אחר בכישלון</a:t>
            </a:r>
            <a:endParaRPr lang="en-US" altLang="en-US" kern="0" dirty="0">
              <a:solidFill>
                <a:srgbClr val="000000"/>
              </a:solidFill>
              <a:latin typeface="Arial"/>
              <a:cs typeface="Arial"/>
            </a:endParaRPr>
          </a:p>
          <a:p>
            <a:pPr algn="r" rt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80817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37DEA-5D79-4DF2-B4C8-C366ED342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Unix Mutex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8CE6F-A37C-4874-BEF3-DFED73D72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altLang="en-US" sz="2000" dirty="0" err="1"/>
              <a:t>pthread_mutex_t</a:t>
            </a:r>
            <a:r>
              <a:rPr lang="en-US" altLang="en-US" sz="2000" dirty="0"/>
              <a:t>    mutex = PTHREAD_MUTEX_INITIALIZER; //</a:t>
            </a:r>
            <a:r>
              <a:rPr lang="he-IL" altLang="en-US" sz="2000" dirty="0"/>
              <a:t>ערך התחלתי שמור</a:t>
            </a:r>
            <a:endParaRPr lang="en-US" altLang="en-US" sz="2000" dirty="0"/>
          </a:p>
          <a:p>
            <a:pPr>
              <a:buNone/>
            </a:pPr>
            <a:r>
              <a:rPr lang="en-US" altLang="en-US" sz="2000" dirty="0" err="1"/>
              <a:t>pthread_mutexattr_t</a:t>
            </a:r>
            <a:r>
              <a:rPr lang="en-US" altLang="en-US" sz="2000" dirty="0"/>
              <a:t>    </a:t>
            </a:r>
            <a:r>
              <a:rPr lang="en-US" altLang="en-US" sz="2000" dirty="0" err="1"/>
              <a:t>mattr</a:t>
            </a:r>
            <a:r>
              <a:rPr lang="en-US" altLang="en-US" sz="2000" dirty="0"/>
              <a:t>;</a:t>
            </a:r>
          </a:p>
          <a:p>
            <a:pPr>
              <a:buNone/>
            </a:pPr>
            <a:r>
              <a:rPr lang="en-US" altLang="en-US" sz="2000" dirty="0"/>
              <a:t>int    ret;</a:t>
            </a:r>
          </a:p>
          <a:p>
            <a:pPr>
              <a:buNone/>
            </a:pPr>
            <a:r>
              <a:rPr lang="en-US" altLang="en-US" sz="2000" dirty="0"/>
              <a:t>/* initialize a mutex to its default value */</a:t>
            </a:r>
          </a:p>
          <a:p>
            <a:pPr>
              <a:buNone/>
            </a:pPr>
            <a:r>
              <a:rPr lang="en-US" altLang="en-US" sz="2000" dirty="0"/>
              <a:t>ret = pthread_mutex_init(&amp;mutex, NULL);</a:t>
            </a:r>
            <a:endParaRPr lang="en-US" alt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 rtl="1"/>
            <a:r>
              <a:rPr lang="he-IL" altLang="en-US" sz="3600" u="sng" dirty="0"/>
              <a:t>פינוי</a:t>
            </a:r>
            <a:r>
              <a:rPr lang="he-IL" altLang="en-US" sz="3600" dirty="0"/>
              <a:t> </a:t>
            </a:r>
            <a:r>
              <a:rPr lang="en-US" altLang="en-US" sz="3600" dirty="0"/>
              <a:t>mutex</a:t>
            </a:r>
            <a:r>
              <a:rPr lang="he-IL" altLang="en-US" sz="3600" dirty="0"/>
              <a:t> בתום השימוש</a:t>
            </a:r>
          </a:p>
          <a:p>
            <a:pPr algn="r" rtl="1">
              <a:buNone/>
            </a:pP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pthread_mutex_destroy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pthread_mutex_t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*mutex);</a:t>
            </a:r>
          </a:p>
          <a:p>
            <a:pPr lvl="1" algn="r" rtl="1"/>
            <a:r>
              <a:rPr lang="he-IL" altLang="en-US" sz="3200" dirty="0"/>
              <a:t>הפעולה נכשלת אם ה-</a:t>
            </a:r>
            <a:r>
              <a:rPr lang="en-US" altLang="en-US" sz="3200" dirty="0"/>
              <a:t>mutex</a:t>
            </a:r>
            <a:r>
              <a:rPr lang="he-IL" altLang="en-US" sz="3200" dirty="0"/>
              <a:t> מאותחל, אבל נעול</a:t>
            </a:r>
            <a:endParaRPr lang="en-US" altLang="en-US" sz="3200" dirty="0"/>
          </a:p>
          <a:p>
            <a:pPr algn="r" rt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351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37DEA-5D79-4DF2-B4C8-C366ED342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Unix Mutex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8CE6F-A37C-4874-BEF3-DFED73D72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 algn="r" rtl="1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he-IL" altLang="en-US" u="sng" kern="0" dirty="0">
                <a:solidFill>
                  <a:srgbClr val="000000"/>
                </a:solidFill>
                <a:latin typeface="Arial"/>
                <a:cs typeface="Arial"/>
              </a:rPr>
              <a:t>נעילת</a:t>
            </a:r>
            <a:r>
              <a:rPr lang="he-IL" altLang="en-US" kern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en-US" kern="0" dirty="0">
                <a:solidFill>
                  <a:srgbClr val="000000"/>
                </a:solidFill>
                <a:latin typeface="Arial"/>
                <a:cs typeface="Arial"/>
              </a:rPr>
              <a:t>mutex</a:t>
            </a:r>
            <a:r>
              <a:rPr lang="he-IL" altLang="en-US" kern="0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</a:p>
          <a:p>
            <a:pPr marL="342900" lvl="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en-US" sz="2000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pthread_mutex_lock(pthread_mutex_t *mutex);</a:t>
            </a:r>
          </a:p>
          <a:p>
            <a:pPr marL="742950" lvl="1" indent="-285750" algn="r" rtl="1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he-IL" altLang="en-US" kern="0" dirty="0">
                <a:solidFill>
                  <a:srgbClr val="000000"/>
                </a:solidFill>
                <a:latin typeface="Arial"/>
                <a:cs typeface="Arial"/>
              </a:rPr>
              <a:t>הפעולה ממתינה עד שה-</a:t>
            </a:r>
            <a:r>
              <a:rPr lang="en-US" altLang="en-US" kern="0" dirty="0">
                <a:solidFill>
                  <a:srgbClr val="000000"/>
                </a:solidFill>
                <a:latin typeface="Arial"/>
                <a:cs typeface="Arial"/>
              </a:rPr>
              <a:t>mutex</a:t>
            </a:r>
            <a:r>
              <a:rPr lang="he-IL" altLang="en-US" kern="0" dirty="0">
                <a:solidFill>
                  <a:srgbClr val="000000"/>
                </a:solidFill>
                <a:latin typeface="Arial"/>
                <a:cs typeface="Arial"/>
              </a:rPr>
              <a:t> מתפנה ואז נועלת אותו</a:t>
            </a:r>
            <a:endParaRPr lang="en-US" altLang="en-US" kern="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342900" lvl="0" indent="-342900" algn="r" rtl="1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he-IL" altLang="en-US" u="sng" kern="0" dirty="0">
                <a:solidFill>
                  <a:srgbClr val="000000"/>
                </a:solidFill>
                <a:latin typeface="Arial"/>
                <a:cs typeface="Arial"/>
              </a:rPr>
              <a:t>נסיון לנעילת</a:t>
            </a:r>
            <a:r>
              <a:rPr lang="he-IL" altLang="en-US" kern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en-US" kern="0" dirty="0">
                <a:solidFill>
                  <a:srgbClr val="000000"/>
                </a:solidFill>
                <a:latin typeface="Arial"/>
                <a:cs typeface="Arial"/>
              </a:rPr>
              <a:t>mutex</a:t>
            </a:r>
            <a:r>
              <a:rPr lang="he-IL" altLang="en-US" kern="0" dirty="0">
                <a:solidFill>
                  <a:srgbClr val="000000"/>
                </a:solidFill>
                <a:latin typeface="Arial"/>
                <a:cs typeface="Arial"/>
              </a:rPr>
              <a:t>:</a:t>
            </a:r>
          </a:p>
          <a:p>
            <a:pPr marL="342900" lvl="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en-US" sz="2000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pthread_mutex_trylock(pthread_mutex_t *mutex);</a:t>
            </a:r>
          </a:p>
          <a:p>
            <a:pPr marL="742950" lvl="1" indent="-285750" algn="r" rtl="1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Tx/>
              <a:buChar char="–"/>
            </a:pPr>
            <a:r>
              <a:rPr lang="he-IL" altLang="en-US" kern="0" dirty="0">
                <a:solidFill>
                  <a:srgbClr val="000000"/>
                </a:solidFill>
                <a:latin typeface="Arial"/>
                <a:cs typeface="Arial"/>
              </a:rPr>
              <a:t>אם ה-</a:t>
            </a:r>
            <a:r>
              <a:rPr lang="en-US" altLang="en-US" kern="0" dirty="0">
                <a:solidFill>
                  <a:srgbClr val="000000"/>
                </a:solidFill>
                <a:latin typeface="Arial"/>
                <a:cs typeface="Arial"/>
              </a:rPr>
              <a:t>mutex</a:t>
            </a:r>
            <a:r>
              <a:rPr lang="he-IL" altLang="en-US" kern="0" dirty="0">
                <a:solidFill>
                  <a:srgbClr val="000000"/>
                </a:solidFill>
                <a:latin typeface="Arial"/>
                <a:cs typeface="Arial"/>
              </a:rPr>
              <a:t> כבר נעול הפעולה נכשלת והתכנית ממשיכה, אחרת נועלת אותו.</a:t>
            </a:r>
            <a:endParaRPr lang="en-US" altLang="en-US" kern="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342900" lvl="0" indent="-342900" algn="r" rtl="1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he-IL" altLang="en-US" u="sng" kern="0" dirty="0">
                <a:solidFill>
                  <a:srgbClr val="000000"/>
                </a:solidFill>
                <a:latin typeface="Arial"/>
                <a:cs typeface="Arial"/>
              </a:rPr>
              <a:t>שחרור</a:t>
            </a:r>
            <a:r>
              <a:rPr lang="he-IL" altLang="en-US" kern="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altLang="en-US" kern="0" dirty="0">
                <a:solidFill>
                  <a:srgbClr val="000000"/>
                </a:solidFill>
                <a:latin typeface="Arial"/>
                <a:cs typeface="Arial"/>
              </a:rPr>
              <a:t>mutex</a:t>
            </a:r>
            <a:r>
              <a:rPr lang="he-IL" altLang="en-US" kern="0" dirty="0">
                <a:solidFill>
                  <a:srgbClr val="000000"/>
                </a:solidFill>
                <a:latin typeface="Arial"/>
                <a:cs typeface="Arial"/>
              </a:rPr>
              <a:t> נעול:</a:t>
            </a:r>
          </a:p>
          <a:p>
            <a:pPr marL="342900" lvl="0" indent="-342900" fontAlgn="base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en-US" altLang="en-US" sz="2000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pthread_mutex_unlock(pthread_mutex_t *mutex);</a:t>
            </a:r>
          </a:p>
          <a:p>
            <a:pPr algn="r" rt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4911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1FB4447-D8E4-41FA-AAC7-63D00003D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53453" cy="39281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77A806-0EBB-4E6D-98CA-23BB8EB5E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3453" y="995582"/>
            <a:ext cx="6862269" cy="42657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4F54A41-5A46-43B4-9679-6B2E2E2018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923" y="3987875"/>
            <a:ext cx="2457157" cy="287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4426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37DEA-5D79-4DF2-B4C8-C366ED342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Unix Mutex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8CE6F-A37C-4874-BEF3-DFED73D72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pPr algn="r" rtl="1"/>
            <a:r>
              <a:rPr lang="he-IL" dirty="0"/>
              <a:t>תרגיל:</a:t>
            </a:r>
            <a:r>
              <a:rPr lang="en-US" dirty="0"/>
              <a:t> </a:t>
            </a:r>
            <a:r>
              <a:rPr lang="he-IL" dirty="0"/>
              <a:t>כתוב תוכנית שיוצרת 2 תהליכונים עם שני משתנים משותפים </a:t>
            </a:r>
            <a:r>
              <a:rPr lang="en-US" dirty="0"/>
              <a:t>unsigned long count1=0,count2=0</a:t>
            </a:r>
            <a:endParaRPr lang="he-IL" dirty="0"/>
          </a:p>
          <a:p>
            <a:pPr algn="r" rtl="1"/>
            <a:r>
              <a:rPr lang="he-IL" dirty="0"/>
              <a:t>שני </a:t>
            </a:r>
            <a:r>
              <a:rPr lang="he-IL" dirty="0" err="1"/>
              <a:t>התהליכונים</a:t>
            </a:r>
            <a:r>
              <a:rPr lang="he-IL" dirty="0"/>
              <a:t> יפעילו את אותה הפונקציה כפרמטר, הפונקציה מוסיפה בלולאה מ 1 עד 1000000000 (9 אפסים) ל </a:t>
            </a:r>
            <a:r>
              <a:rPr lang="en-US" dirty="0"/>
              <a:t>count1++</a:t>
            </a:r>
            <a:r>
              <a:rPr lang="he-IL" dirty="0"/>
              <a:t> ולולאה נוספת אחרי כן ל </a:t>
            </a:r>
            <a:r>
              <a:rPr lang="en-US" dirty="0"/>
              <a:t>count2++</a:t>
            </a:r>
            <a:r>
              <a:rPr lang="he-IL" dirty="0"/>
              <a:t>.</a:t>
            </a:r>
          </a:p>
          <a:p>
            <a:pPr algn="r" rtl="1"/>
            <a:r>
              <a:rPr lang="he-IL" dirty="0"/>
              <a:t> הלולאה שמעלה את </a:t>
            </a:r>
            <a:r>
              <a:rPr lang="en-US" dirty="0"/>
              <a:t>count1</a:t>
            </a:r>
            <a:r>
              <a:rPr lang="he-IL" dirty="0"/>
              <a:t> תהיה עם </a:t>
            </a:r>
            <a:r>
              <a:rPr lang="en-US" dirty="0"/>
              <a:t>Mutex</a:t>
            </a:r>
            <a:r>
              <a:rPr lang="he-IL" dirty="0"/>
              <a:t> לפני ואחרי</a:t>
            </a:r>
          </a:p>
          <a:p>
            <a:pPr algn="r" rtl="1"/>
            <a:r>
              <a:rPr lang="he-IL" dirty="0"/>
              <a:t>הלולאה שמעלה את </a:t>
            </a:r>
            <a:r>
              <a:rPr lang="en-US" dirty="0"/>
              <a:t>count2</a:t>
            </a:r>
            <a:r>
              <a:rPr lang="he-IL" dirty="0"/>
              <a:t> תהיה בלי </a:t>
            </a:r>
            <a:r>
              <a:rPr lang="en-US" dirty="0"/>
              <a:t>mutex</a:t>
            </a:r>
            <a:endParaRPr lang="he-IL" dirty="0"/>
          </a:p>
          <a:p>
            <a:pPr algn="r" rtl="1"/>
            <a:r>
              <a:rPr lang="he-IL" dirty="0"/>
              <a:t>לאחר סיום התהליכונים, הדפס את שני הערכים </a:t>
            </a:r>
            <a:r>
              <a:rPr lang="en-US" dirty="0"/>
              <a:t>count1, count2</a:t>
            </a:r>
          </a:p>
          <a:p>
            <a:pPr algn="r" rtl="1"/>
            <a:endParaRPr lang="en-US" dirty="0"/>
          </a:p>
          <a:p>
            <a:pPr marL="0" indent="0" algn="r" rtl="1">
              <a:buNone/>
            </a:pPr>
            <a:r>
              <a:rPr lang="he-IL" dirty="0">
                <a:solidFill>
                  <a:srgbClr val="FF0000"/>
                </a:solidFill>
              </a:rPr>
              <a:t>במידה ומתקבלת שגיאה </a:t>
            </a:r>
            <a:r>
              <a:rPr lang="en-US" dirty="0" err="1">
                <a:solidFill>
                  <a:srgbClr val="FF0000"/>
                </a:solidFill>
              </a:rPr>
              <a:t>pthread.h</a:t>
            </a:r>
            <a:r>
              <a:rPr lang="en-US" dirty="0">
                <a:solidFill>
                  <a:srgbClr val="FF0000"/>
                </a:solidFill>
              </a:rPr>
              <a:t> not found</a:t>
            </a:r>
            <a:r>
              <a:rPr lang="he-IL" dirty="0">
                <a:solidFill>
                  <a:srgbClr val="FF0000"/>
                </a:solidFill>
              </a:rPr>
              <a:t> יש להתקין</a:t>
            </a:r>
          </a:p>
          <a:p>
            <a:pPr marL="0" indent="0" algn="r" rtl="1">
              <a:buNone/>
            </a:pPr>
            <a:r>
              <a:rPr lang="en-US" dirty="0" err="1">
                <a:solidFill>
                  <a:srgbClr val="FF0000"/>
                </a:solidFill>
              </a:rPr>
              <a:t>sudo</a:t>
            </a:r>
            <a:r>
              <a:rPr lang="en-US" dirty="0">
                <a:solidFill>
                  <a:srgbClr val="FF0000"/>
                </a:solidFill>
              </a:rPr>
              <a:t> apt-get install build-essentials</a:t>
            </a:r>
          </a:p>
        </p:txBody>
      </p:sp>
    </p:spTree>
    <p:extLst>
      <p:ext uri="{BB962C8B-B14F-4D97-AF65-F5344CB8AC3E}">
        <p14:creationId xmlns:p14="http://schemas.microsoft.com/office/powerpoint/2010/main" val="1349766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1326</TotalTime>
  <Words>2444</Words>
  <Application>Microsoft Office PowerPoint</Application>
  <PresentationFormat>מסך רחב</PresentationFormat>
  <Paragraphs>337</Paragraphs>
  <Slides>40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9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40</vt:i4>
      </vt:variant>
    </vt:vector>
  </HeadingPairs>
  <TitlesOfParts>
    <vt:vector size="50" baseType="lpstr">
      <vt:lpstr>Arial</vt:lpstr>
      <vt:lpstr>Calibri</vt:lpstr>
      <vt:lpstr>Calibri Light</vt:lpstr>
      <vt:lpstr>Courier New</vt:lpstr>
      <vt:lpstr>DavidMFO</vt:lpstr>
      <vt:lpstr>MinionPro-Regular</vt:lpstr>
      <vt:lpstr>Monotype Sorts</vt:lpstr>
      <vt:lpstr>Times New Roman</vt:lpstr>
      <vt:lpstr>Times-Roman</vt:lpstr>
      <vt:lpstr>Office Theme</vt:lpstr>
      <vt:lpstr>סינכרון תהליכים</vt:lpstr>
      <vt:lpstr>Process Synchronization מטרות</vt:lpstr>
      <vt:lpstr>Process Synchronization רקע</vt:lpstr>
      <vt:lpstr>Process Synchronization</vt:lpstr>
      <vt:lpstr>Process Synchronization</vt:lpstr>
      <vt:lpstr>Process Synchronization</vt:lpstr>
      <vt:lpstr>Process Synchronization</vt:lpstr>
      <vt:lpstr>Critical Section</vt:lpstr>
      <vt:lpstr>Critical Section</vt:lpstr>
      <vt:lpstr>Critical Section</vt:lpstr>
      <vt:lpstr>Critical Section</vt:lpstr>
      <vt:lpstr>Critical Section</vt:lpstr>
      <vt:lpstr>Critical Section</vt:lpstr>
      <vt:lpstr>Peterson’s Solution</vt:lpstr>
      <vt:lpstr>Peterson’s Solution</vt:lpstr>
      <vt:lpstr>Peterson’s Solution</vt:lpstr>
      <vt:lpstr>Critical Section סנכרון חומרה</vt:lpstr>
      <vt:lpstr>Critical Section</vt:lpstr>
      <vt:lpstr>test_and_set  Instruction</vt:lpstr>
      <vt:lpstr>Critical Section</vt:lpstr>
      <vt:lpstr>Semaphore</vt:lpstr>
      <vt:lpstr>Semaphore</vt:lpstr>
      <vt:lpstr>Semaphore Implementation</vt:lpstr>
      <vt:lpstr>Semaphore Implementation</vt:lpstr>
      <vt:lpstr>Semaphore Implementation</vt:lpstr>
      <vt:lpstr>Semaphore</vt:lpstr>
      <vt:lpstr>Semaphore</vt:lpstr>
      <vt:lpstr>Semaphore</vt:lpstr>
      <vt:lpstr>Deadlock</vt:lpstr>
      <vt:lpstr>Critical Section</vt:lpstr>
      <vt:lpstr>Critical Section</vt:lpstr>
      <vt:lpstr>Critical Section</vt:lpstr>
      <vt:lpstr>Critical Section</vt:lpstr>
      <vt:lpstr>Critical Section</vt:lpstr>
      <vt:lpstr>Critical Section</vt:lpstr>
      <vt:lpstr>Unix Mutex</vt:lpstr>
      <vt:lpstr>Unix Mutex</vt:lpstr>
      <vt:lpstr>Unix Mutex</vt:lpstr>
      <vt:lpstr>מצגת של PowerPoint‏</vt:lpstr>
      <vt:lpstr>Unix Mutex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הקטע הקריטי</dc:title>
  <dc:creator>Yechezkel</dc:creator>
  <cp:lastModifiedBy>גיא יחזקאל</cp:lastModifiedBy>
  <cp:revision>104</cp:revision>
  <dcterms:created xsi:type="dcterms:W3CDTF">2017-11-21T14:59:51Z</dcterms:created>
  <dcterms:modified xsi:type="dcterms:W3CDTF">2023-10-18T08:56:48Z</dcterms:modified>
</cp:coreProperties>
</file>